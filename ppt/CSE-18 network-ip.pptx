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9"/>
  </p:handoutMasterIdLst>
  <p:sldIdLst>
    <p:sldId id="2241" r:id="rId3"/>
    <p:sldId id="2725" r:id="rId5"/>
    <p:sldId id="2477" r:id="rId6"/>
    <p:sldId id="2478" r:id="rId7"/>
    <p:sldId id="2726" r:id="rId8"/>
    <p:sldId id="273" r:id="rId9"/>
    <p:sldId id="274" r:id="rId10"/>
    <p:sldId id="275" r:id="rId11"/>
    <p:sldId id="276" r:id="rId12"/>
    <p:sldId id="277" r:id="rId13"/>
    <p:sldId id="278" r:id="rId14"/>
    <p:sldId id="282" r:id="rId15"/>
    <p:sldId id="283" r:id="rId16"/>
    <p:sldId id="284" r:id="rId17"/>
    <p:sldId id="2728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2788" r:id="rId40"/>
    <p:sldId id="2740" r:id="rId41"/>
    <p:sldId id="2741" r:id="rId42"/>
    <p:sldId id="315" r:id="rId43"/>
    <p:sldId id="316" r:id="rId44"/>
    <p:sldId id="318" r:id="rId45"/>
    <p:sldId id="319" r:id="rId46"/>
    <p:sldId id="320" r:id="rId47"/>
    <p:sldId id="321" r:id="rId48"/>
    <p:sldId id="322" r:id="rId49"/>
    <p:sldId id="323" r:id="rId50"/>
    <p:sldId id="325" r:id="rId51"/>
    <p:sldId id="326" r:id="rId52"/>
    <p:sldId id="2789" r:id="rId53"/>
    <p:sldId id="331" r:id="rId54"/>
    <p:sldId id="332" r:id="rId55"/>
    <p:sldId id="333" r:id="rId56"/>
    <p:sldId id="334" r:id="rId57"/>
    <p:sldId id="335" r:id="rId58"/>
    <p:sldId id="336" r:id="rId59"/>
    <p:sldId id="2746" r:id="rId60"/>
    <p:sldId id="2747" r:id="rId61"/>
    <p:sldId id="2790" r:id="rId62"/>
    <p:sldId id="417" r:id="rId63"/>
    <p:sldId id="2748" r:id="rId64"/>
    <p:sldId id="2749" r:id="rId65"/>
    <p:sldId id="2791" r:id="rId66"/>
    <p:sldId id="2750" r:id="rId67"/>
    <p:sldId id="2751" r:id="rId68"/>
    <p:sldId id="2752" r:id="rId69"/>
    <p:sldId id="2481" r:id="rId70"/>
    <p:sldId id="2754" r:id="rId71"/>
    <p:sldId id="330" r:id="rId72"/>
    <p:sldId id="2758" r:id="rId73"/>
    <p:sldId id="2482" r:id="rId74"/>
    <p:sldId id="2755" r:id="rId75"/>
    <p:sldId id="2756" r:id="rId76"/>
    <p:sldId id="2757" r:id="rId77"/>
    <p:sldId id="2759" r:id="rId78"/>
    <p:sldId id="2760" r:id="rId79"/>
    <p:sldId id="2761" r:id="rId80"/>
    <p:sldId id="2762" r:id="rId81"/>
    <p:sldId id="2763" r:id="rId82"/>
    <p:sldId id="2764" r:id="rId83"/>
    <p:sldId id="2796" r:id="rId84"/>
    <p:sldId id="2765" r:id="rId85"/>
    <p:sldId id="2766" r:id="rId86"/>
    <p:sldId id="2767" r:id="rId87"/>
    <p:sldId id="2768" r:id="rId88"/>
    <p:sldId id="2769" r:id="rId89"/>
    <p:sldId id="2770" r:id="rId90"/>
    <p:sldId id="2771" r:id="rId91"/>
    <p:sldId id="2772" r:id="rId92"/>
    <p:sldId id="2773" r:id="rId93"/>
    <p:sldId id="364" r:id="rId94"/>
    <p:sldId id="365" r:id="rId95"/>
    <p:sldId id="367" r:id="rId96"/>
    <p:sldId id="2774" r:id="rId97"/>
    <p:sldId id="2775" r:id="rId98"/>
    <p:sldId id="370" r:id="rId99"/>
    <p:sldId id="371" r:id="rId100"/>
    <p:sldId id="372" r:id="rId101"/>
    <p:sldId id="2776" r:id="rId102"/>
    <p:sldId id="2777" r:id="rId103"/>
    <p:sldId id="2778" r:id="rId104"/>
    <p:sldId id="2779" r:id="rId105"/>
    <p:sldId id="2780" r:id="rId106"/>
    <p:sldId id="378" r:id="rId107"/>
    <p:sldId id="379" r:id="rId108"/>
    <p:sldId id="2781" r:id="rId109"/>
    <p:sldId id="2782" r:id="rId110"/>
    <p:sldId id="2783" r:id="rId111"/>
    <p:sldId id="383" r:id="rId112"/>
    <p:sldId id="384" r:id="rId113"/>
    <p:sldId id="385" r:id="rId114"/>
    <p:sldId id="386" r:id="rId115"/>
    <p:sldId id="387" r:id="rId116"/>
    <p:sldId id="388" r:id="rId117"/>
    <p:sldId id="2784" r:id="rId118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63" userDrawn="1">
          <p15:clr>
            <a:srgbClr val="A4A3A4"/>
          </p15:clr>
        </p15:guide>
        <p15:guide id="3" pos="5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37FF"/>
    <a:srgbClr val="F6F6F6"/>
    <a:srgbClr val="0432FF"/>
    <a:srgbClr val="0066B8"/>
    <a:srgbClr val="BD374B"/>
    <a:srgbClr val="BE374B"/>
    <a:srgbClr val="EACBA3"/>
    <a:srgbClr val="E2EAF7"/>
    <a:srgbClr val="FF5F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6" autoAdjust="0"/>
    <p:restoredTop sz="88760" autoAdjust="0"/>
  </p:normalViewPr>
  <p:slideViewPr>
    <p:cSldViewPr showGuides="1">
      <p:cViewPr varScale="1">
        <p:scale>
          <a:sx n="163" d="100"/>
          <a:sy n="163" d="100"/>
        </p:scale>
        <p:origin x="560" y="184"/>
      </p:cViewPr>
      <p:guideLst>
        <p:guide orient="horz" pos="2963"/>
        <p:guide pos="5268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2" Type="http://schemas.openxmlformats.org/officeDocument/2006/relationships/slide" Target="slides/slide9.xml"/><Relationship Id="rId119" Type="http://schemas.openxmlformats.org/officeDocument/2006/relationships/handoutMaster" Target="handoutMasters/handoutMaster1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从一端收到的路由信息，不能再从原路被发送回去。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7380" indent="-228600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A40B-EA42-4A59-BDB5-85EFA65BC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141" y="231849"/>
            <a:ext cx="469330" cy="181909"/>
          </a:xfrm>
        </p:spPr>
        <p:txBody>
          <a:bodyPr lIns="0" tIns="0" rIns="0" bIns="0"/>
          <a:lstStyle>
            <a:lvl1pPr>
              <a:defRPr sz="118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31445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31445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e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31048" y="1492992"/>
            <a:ext cx="9358808" cy="158053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b="0" dirty="0"/>
              <a:t>Network Layer</a:t>
            </a:r>
            <a:br>
              <a:rPr kumimoji="1" lang="en-US" altLang="zh-CN" sz="3200" b="0" dirty="0"/>
            </a:br>
            <a:r>
              <a:rPr kumimoji="1" lang="en-US" altLang="zh-CN" sz="3200" b="0" dirty="0"/>
              <a:t>All about routing</a:t>
            </a:r>
            <a:endParaRPr kumimoji="1" lang="zh-CN" altLang="en-US" sz="3200" b="0" dirty="0">
              <a:latin typeface="+mn-lt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9512" y="5210411"/>
            <a:ext cx="470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Credits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Katrina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LaCurts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MIT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Routing</a:t>
            </a:r>
            <a:endParaRPr lang="en-US" altLang="zh-CN" dirty="0">
              <a:solidFill>
                <a:srgbClr val="BD374B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b="0" dirty="0">
                <a:solidFill>
                  <a:srgbClr val="BD374B"/>
                </a:solidFill>
              </a:rPr>
              <a:t>How to generate the routing table?</a:t>
            </a: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Goal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Routing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Protocol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600" dirty="0"/>
              <a:t>Allow each switch to know, for every node </a:t>
            </a:r>
            <a:r>
              <a:rPr kumimoji="1" lang="en-US" altLang="zh-CN" sz="1600" dirty="0">
                <a:solidFill>
                  <a:srgbClr val="0096FF"/>
                </a:solidFill>
              </a:rPr>
              <a:t>dst</a:t>
            </a:r>
            <a:r>
              <a:rPr kumimoji="1" lang="en-US" altLang="zh-CN" sz="1600" dirty="0">
                <a:solidFill>
                  <a:schemeClr val="accent2"/>
                </a:solidFill>
              </a:rPr>
              <a:t> </a:t>
            </a:r>
            <a:r>
              <a:rPr kumimoji="1" lang="en-US" altLang="zh-CN" sz="1600" dirty="0"/>
              <a:t>in the network, a route to </a:t>
            </a:r>
            <a:r>
              <a:rPr kumimoji="1" lang="en-US" altLang="zh-CN" sz="1600" dirty="0">
                <a:solidFill>
                  <a:srgbClr val="0096FF"/>
                </a:solidFill>
              </a:rPr>
              <a:t>dst</a:t>
            </a:r>
            <a:r>
              <a:rPr kumimoji="1" lang="en-US" altLang="zh-CN" sz="1600" dirty="0">
                <a:solidFill>
                  <a:schemeClr val="accent2"/>
                </a:solidFill>
              </a:rPr>
              <a:t> </a:t>
            </a:r>
            <a:endParaRPr kumimoji="1" lang="en-US" altLang="zh-CN" sz="1600" dirty="0">
              <a:solidFill>
                <a:schemeClr val="accent2"/>
              </a:solidFill>
            </a:endParaRPr>
          </a:p>
          <a:p>
            <a:endParaRPr kumimoji="1" lang="zh-CN" altLang="en-US" sz="1600" dirty="0">
              <a:solidFill>
                <a:schemeClr val="accent2"/>
              </a:solidFill>
            </a:endParaRPr>
          </a:p>
          <a:p>
            <a:r>
              <a:rPr kumimoji="1" lang="en-US" altLang="zh-CN" sz="1600" dirty="0"/>
              <a:t>Allow each switch to know, for every node </a:t>
            </a:r>
            <a:r>
              <a:rPr kumimoji="1" lang="en-US" altLang="zh-CN" sz="1600" dirty="0">
                <a:solidFill>
                  <a:srgbClr val="0096FF"/>
                </a:solidFill>
              </a:rPr>
              <a:t>dst</a:t>
            </a:r>
            <a:r>
              <a:rPr kumimoji="1" lang="en-US" altLang="zh-CN" sz="1600" dirty="0">
                <a:solidFill>
                  <a:schemeClr val="accent2"/>
                </a:solidFill>
              </a:rPr>
              <a:t> </a:t>
            </a:r>
            <a:r>
              <a:rPr kumimoji="1" lang="en-US" altLang="zh-CN" sz="1600" dirty="0"/>
              <a:t>in the network, a minimum-cost route to </a:t>
            </a:r>
            <a:r>
              <a:rPr kumimoji="1" lang="en-US" altLang="zh-CN" sz="1600" dirty="0">
                <a:solidFill>
                  <a:srgbClr val="0096FF"/>
                </a:solidFill>
              </a:rPr>
              <a:t>dst </a:t>
            </a:r>
            <a:endParaRPr kumimoji="1" lang="en-US" altLang="zh-CN" sz="1600" dirty="0">
              <a:solidFill>
                <a:srgbClr val="0096FF"/>
              </a:solidFill>
            </a:endParaRPr>
          </a:p>
          <a:p>
            <a:endParaRPr kumimoji="1" lang="zh-CN" altLang="en-US" sz="1600" dirty="0">
              <a:solidFill>
                <a:srgbClr val="0096FF"/>
              </a:solidFill>
            </a:endParaRPr>
          </a:p>
          <a:p>
            <a:r>
              <a:rPr lang="en-US" altLang="zh-CN" sz="1600" dirty="0"/>
              <a:t>Build a </a:t>
            </a:r>
            <a:r>
              <a:rPr lang="en-US" altLang="zh-CN" sz="1600" dirty="0">
                <a:solidFill>
                  <a:schemeClr val="accent1"/>
                </a:solidFill>
              </a:rPr>
              <a:t>routing table</a:t>
            </a:r>
            <a:r>
              <a:rPr lang="en-US" altLang="zh-CN" sz="1600" dirty="0"/>
              <a:t> at each switch, such that </a:t>
            </a:r>
            <a:r>
              <a:rPr lang="en-US" altLang="zh-CN" sz="1600" dirty="0" err="1"/>
              <a:t>routing_table</a:t>
            </a:r>
            <a:r>
              <a:rPr lang="en-US" altLang="zh-CN" sz="1600" dirty="0"/>
              <a:t>[</a:t>
            </a:r>
            <a:r>
              <a:rPr kumimoji="1" lang="en-US" altLang="zh-CN" sz="1600" dirty="0">
                <a:solidFill>
                  <a:srgbClr val="0096FF"/>
                </a:solidFill>
              </a:rPr>
              <a:t>dst</a:t>
            </a:r>
            <a:r>
              <a:rPr lang="en-US" altLang="zh-CN" sz="1600" dirty="0"/>
              <a:t>] contains a minimum-cost route to </a:t>
            </a:r>
            <a:r>
              <a:rPr kumimoji="1" lang="en-US" altLang="zh-CN" sz="1600" dirty="0">
                <a:solidFill>
                  <a:srgbClr val="0096FF"/>
                </a:solidFill>
              </a:rPr>
              <a:t>dst </a:t>
            </a:r>
            <a:endParaRPr lang="en-US" altLang="zh-CN" sz="1600" dirty="0"/>
          </a:p>
          <a:p>
            <a:pPr lvl="1"/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850" y="1561356"/>
            <a:ext cx="368300" cy="144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Distributed Routing: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5842992" cy="3771636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kumimoji="1" lang="en-US" altLang="zh-CN" dirty="0"/>
              <a:t>Nodes learn about their neighbors via the </a:t>
            </a:r>
            <a:r>
              <a:rPr kumimoji="1" lang="en-US" altLang="zh-CN" dirty="0">
                <a:solidFill>
                  <a:schemeClr val="accent1"/>
                </a:solidFill>
              </a:rPr>
              <a:t>HELLO protocol 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endParaRPr kumimoji="1" lang="zh-CN" altLang="en-US" dirty="0">
              <a:solidFill>
                <a:srgbClr val="0096FF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kumimoji="1" lang="en-US" altLang="zh-CN" dirty="0"/>
              <a:t>Nodes learn about other reachable nodes via </a:t>
            </a:r>
            <a:r>
              <a:rPr kumimoji="1" lang="en-US" altLang="zh-CN" dirty="0">
                <a:solidFill>
                  <a:schemeClr val="accent1"/>
                </a:solidFill>
              </a:rPr>
              <a:t>advertisements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marL="342900" indent="-342900">
              <a:buFontTx/>
              <a:buAutoNum type="arabicPeriod"/>
            </a:pPr>
            <a:endParaRPr kumimoji="1" lang="en-US" altLang="zh-CN" dirty="0"/>
          </a:p>
          <a:p>
            <a:pPr marL="342900" indent="-342900">
              <a:buFontTx/>
              <a:buAutoNum type="arabicPeriod"/>
            </a:pPr>
            <a:r>
              <a:rPr kumimoji="1" lang="en-US" altLang="zh-CN" dirty="0"/>
              <a:t>Nodes determine the </a:t>
            </a:r>
            <a:r>
              <a:rPr kumimoji="1" lang="en-US" altLang="zh-CN" dirty="0">
                <a:solidFill>
                  <a:schemeClr val="accent1"/>
                </a:solidFill>
              </a:rPr>
              <a:t>minimum-cost</a:t>
            </a:r>
            <a:r>
              <a:rPr kumimoji="1" lang="en-US" altLang="zh-CN" dirty="0"/>
              <a:t> routes (of the routes they know about)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8220" y="841276"/>
            <a:ext cx="1744399" cy="113935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7" y="2281436"/>
            <a:ext cx="1776402" cy="11895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20" y="3797609"/>
            <a:ext cx="1696188" cy="1138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Routing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Protocol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3771636"/>
          </a:xfrm>
        </p:spPr>
        <p:txBody>
          <a:bodyPr>
            <a:normAutofit/>
          </a:bodyPr>
          <a:lstStyle/>
          <a:p>
            <a:r>
              <a:rPr kumimoji="1" lang="en-US" altLang="zh-CN" sz="1600" dirty="0"/>
              <a:t>Protocol 1: </a:t>
            </a:r>
            <a:r>
              <a:rPr kumimoji="1" lang="en-US" altLang="zh-CN" sz="1600" dirty="0">
                <a:solidFill>
                  <a:srgbClr val="0096FF"/>
                </a:solidFill>
              </a:rPr>
              <a:t>Link-state</a:t>
            </a:r>
            <a:endParaRPr kumimoji="1" lang="en-US" altLang="zh-CN" sz="1600" dirty="0">
              <a:solidFill>
                <a:srgbClr val="0096FF"/>
              </a:solidFill>
            </a:endParaRPr>
          </a:p>
          <a:p>
            <a:pPr lvl="1"/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node's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advertisements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contain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list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neighbors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link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costs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those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nodes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Nodes advertise to </a:t>
            </a:r>
            <a:r>
              <a:rPr kumimoji="1" lang="en-US" altLang="zh-CN" sz="1600" u="sng" dirty="0"/>
              <a:t>everyone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their </a:t>
            </a:r>
            <a:r>
              <a:rPr kumimoji="1" lang="en-US" altLang="zh-CN" sz="1600" u="sng" dirty="0"/>
              <a:t>costs to their neighbors</a:t>
            </a:r>
            <a:endParaRPr kumimoji="1" lang="zh-CN" altLang="en-US" sz="1600" u="sng" dirty="0"/>
          </a:p>
          <a:p>
            <a:pPr lvl="2"/>
            <a:r>
              <a:rPr kumimoji="1" lang="en-US" altLang="zh-CN" sz="1600" dirty="0"/>
              <a:t>via </a:t>
            </a:r>
            <a:r>
              <a:rPr kumimoji="1" lang="en-US" altLang="zh-CN" sz="1600" i="1" dirty="0">
                <a:solidFill>
                  <a:srgbClr val="C00000"/>
                </a:solidFill>
              </a:rPr>
              <a:t>flooding</a:t>
            </a:r>
            <a:endParaRPr kumimoji="1" lang="zh-CN" altLang="en-US" sz="1600" i="1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sz="1600" dirty="0"/>
              <a:t>Integrate using </a:t>
            </a:r>
            <a:r>
              <a:rPr kumimoji="1" lang="en-US" altLang="zh-CN" sz="1600" b="1" dirty="0"/>
              <a:t>Dijkstra's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shortest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path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algorithm</a:t>
            </a:r>
            <a:endParaRPr kumimoji="1" lang="en-US" altLang="zh-CN" sz="1600" b="1" dirty="0"/>
          </a:p>
          <a:p>
            <a:pPr lvl="1"/>
            <a:endParaRPr kumimoji="1" lang="en-US" altLang="zh-CN" sz="1600" b="1" dirty="0"/>
          </a:p>
          <a:p>
            <a:r>
              <a:rPr kumimoji="1" lang="en-US" altLang="zh-CN" sz="1600" dirty="0"/>
              <a:t>Protocol 2: </a:t>
            </a:r>
            <a:r>
              <a:rPr kumimoji="1" lang="en-US" altLang="zh-CN" sz="1600" dirty="0">
                <a:solidFill>
                  <a:srgbClr val="0096FF"/>
                </a:solidFill>
              </a:rPr>
              <a:t>Distance-vector</a:t>
            </a:r>
            <a:endParaRPr kumimoji="1" lang="en-US" altLang="zh-CN" sz="1600" dirty="0">
              <a:solidFill>
                <a:srgbClr val="0096FF"/>
              </a:solidFill>
            </a:endParaRPr>
          </a:p>
          <a:p>
            <a:pPr lvl="1"/>
            <a:r>
              <a:rPr kumimoji="1" lang="en-US" altLang="zh-CN" sz="1600" dirty="0"/>
              <a:t>Nodes advertise to </a:t>
            </a:r>
            <a:r>
              <a:rPr kumimoji="1" lang="en-US" altLang="zh-CN" sz="1600" u="sng" dirty="0"/>
              <a:t>neighbors</a:t>
            </a:r>
            <a:r>
              <a:rPr kumimoji="1" lang="en-US" altLang="zh-CN" sz="1600" dirty="0"/>
              <a:t> with their </a:t>
            </a:r>
            <a:r>
              <a:rPr kumimoji="1" lang="en-US" altLang="zh-CN" sz="1600" u="sng" dirty="0"/>
              <a:t>cost to all known nodes</a:t>
            </a:r>
            <a:endParaRPr kumimoji="1" lang="zh-CN" altLang="en-US" sz="1600" u="sng" dirty="0"/>
          </a:p>
          <a:p>
            <a:pPr lvl="1"/>
            <a:r>
              <a:rPr kumimoji="1" lang="en-US" altLang="zh-CN" sz="1600" dirty="0"/>
              <a:t>Update routes via </a:t>
            </a:r>
            <a:r>
              <a:rPr kumimoji="1" lang="en-US" altLang="zh-CN" sz="1600" b="1" dirty="0"/>
              <a:t>Bellman-Ford</a:t>
            </a:r>
            <a:r>
              <a:rPr kumimoji="1" lang="zh-CN" altLang="en-US" sz="1600" b="1" dirty="0"/>
              <a:t> </a:t>
            </a:r>
            <a:r>
              <a:rPr kumimoji="1" lang="en-US" altLang="zh-CN" sz="1600" dirty="0"/>
              <a:t>integration</a:t>
            </a:r>
            <a:endParaRPr kumimoji="1" lang="zh-CN" altLang="en-US" sz="1600" dirty="0"/>
          </a:p>
          <a:p>
            <a:endParaRPr kumimoji="1" lang="zh-CN" altLang="en-US" sz="1600" dirty="0">
              <a:solidFill>
                <a:srgbClr val="0096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4" y="525981"/>
            <a:ext cx="4421681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1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8" name="object 8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83756" y="1273777"/>
            <a:ext cx="1951837" cy="2409037"/>
          </a:xfrm>
          <a:custGeom>
            <a:avLst/>
            <a:gdLst/>
            <a:ahLst/>
            <a:cxnLst/>
            <a:rect l="l" t="t" r="r" b="b"/>
            <a:pathLst>
              <a:path w="4291330" h="5296534">
                <a:moveTo>
                  <a:pt x="553847" y="5028565"/>
                </a:moveTo>
                <a:lnTo>
                  <a:pt x="545807" y="4986845"/>
                </a:lnTo>
                <a:lnTo>
                  <a:pt x="529729" y="4946624"/>
                </a:lnTo>
                <a:lnTo>
                  <a:pt x="505612" y="4908867"/>
                </a:lnTo>
                <a:lnTo>
                  <a:pt x="473456" y="4874577"/>
                </a:lnTo>
                <a:lnTo>
                  <a:pt x="434962" y="4845913"/>
                </a:lnTo>
                <a:lnTo>
                  <a:pt x="392582" y="4824425"/>
                </a:lnTo>
                <a:lnTo>
                  <a:pt x="347433" y="4810099"/>
                </a:lnTo>
                <a:lnTo>
                  <a:pt x="300609" y="4802937"/>
                </a:lnTo>
                <a:lnTo>
                  <a:pt x="253238" y="4802937"/>
                </a:lnTo>
                <a:lnTo>
                  <a:pt x="206413" y="4810099"/>
                </a:lnTo>
                <a:lnTo>
                  <a:pt x="161264" y="4824425"/>
                </a:lnTo>
                <a:lnTo>
                  <a:pt x="118884" y="4845913"/>
                </a:lnTo>
                <a:lnTo>
                  <a:pt x="80391" y="4874577"/>
                </a:lnTo>
                <a:lnTo>
                  <a:pt x="48234" y="4908867"/>
                </a:lnTo>
                <a:lnTo>
                  <a:pt x="24117" y="4946624"/>
                </a:lnTo>
                <a:lnTo>
                  <a:pt x="8039" y="4986845"/>
                </a:lnTo>
                <a:lnTo>
                  <a:pt x="0" y="5028565"/>
                </a:lnTo>
                <a:lnTo>
                  <a:pt x="0" y="5070767"/>
                </a:lnTo>
                <a:lnTo>
                  <a:pt x="8039" y="5112486"/>
                </a:lnTo>
                <a:lnTo>
                  <a:pt x="24117" y="5152707"/>
                </a:lnTo>
                <a:lnTo>
                  <a:pt x="48234" y="5190464"/>
                </a:lnTo>
                <a:lnTo>
                  <a:pt x="80391" y="5224767"/>
                </a:lnTo>
                <a:lnTo>
                  <a:pt x="118884" y="5253418"/>
                </a:lnTo>
                <a:lnTo>
                  <a:pt x="161264" y="5274907"/>
                </a:lnTo>
                <a:lnTo>
                  <a:pt x="206413" y="5289232"/>
                </a:lnTo>
                <a:lnTo>
                  <a:pt x="253238" y="5296395"/>
                </a:lnTo>
                <a:lnTo>
                  <a:pt x="300609" y="5296395"/>
                </a:lnTo>
                <a:lnTo>
                  <a:pt x="347433" y="5289232"/>
                </a:lnTo>
                <a:lnTo>
                  <a:pt x="392582" y="5274907"/>
                </a:lnTo>
                <a:lnTo>
                  <a:pt x="434962" y="5253418"/>
                </a:lnTo>
                <a:lnTo>
                  <a:pt x="473456" y="5224767"/>
                </a:lnTo>
                <a:lnTo>
                  <a:pt x="505612" y="5190464"/>
                </a:lnTo>
                <a:lnTo>
                  <a:pt x="529729" y="5152707"/>
                </a:lnTo>
                <a:lnTo>
                  <a:pt x="545807" y="5112486"/>
                </a:lnTo>
                <a:lnTo>
                  <a:pt x="553847" y="5070767"/>
                </a:lnTo>
                <a:lnTo>
                  <a:pt x="553847" y="5028565"/>
                </a:lnTo>
                <a:close/>
              </a:path>
              <a:path w="4291330" h="5296534">
                <a:moveTo>
                  <a:pt x="4290796" y="225628"/>
                </a:moveTo>
                <a:lnTo>
                  <a:pt x="4282757" y="183908"/>
                </a:lnTo>
                <a:lnTo>
                  <a:pt x="4266679" y="143687"/>
                </a:lnTo>
                <a:lnTo>
                  <a:pt x="4242562" y="105930"/>
                </a:lnTo>
                <a:lnTo>
                  <a:pt x="4210393" y="71628"/>
                </a:lnTo>
                <a:lnTo>
                  <a:pt x="4171899" y="42976"/>
                </a:lnTo>
                <a:lnTo>
                  <a:pt x="4129519" y="21488"/>
                </a:lnTo>
                <a:lnTo>
                  <a:pt x="4084370" y="7162"/>
                </a:lnTo>
                <a:lnTo>
                  <a:pt x="4037558" y="0"/>
                </a:lnTo>
                <a:lnTo>
                  <a:pt x="3990175" y="0"/>
                </a:lnTo>
                <a:lnTo>
                  <a:pt x="3943362" y="7162"/>
                </a:lnTo>
                <a:lnTo>
                  <a:pt x="3898214" y="21488"/>
                </a:lnTo>
                <a:lnTo>
                  <a:pt x="3855834" y="42976"/>
                </a:lnTo>
                <a:lnTo>
                  <a:pt x="3817340" y="71628"/>
                </a:lnTo>
                <a:lnTo>
                  <a:pt x="3785171" y="105930"/>
                </a:lnTo>
                <a:lnTo>
                  <a:pt x="3761054" y="143687"/>
                </a:lnTo>
                <a:lnTo>
                  <a:pt x="3744976" y="183908"/>
                </a:lnTo>
                <a:lnTo>
                  <a:pt x="3736937" y="225628"/>
                </a:lnTo>
                <a:lnTo>
                  <a:pt x="3736937" y="267830"/>
                </a:lnTo>
                <a:lnTo>
                  <a:pt x="3744976" y="309549"/>
                </a:lnTo>
                <a:lnTo>
                  <a:pt x="3761054" y="349770"/>
                </a:lnTo>
                <a:lnTo>
                  <a:pt x="3785171" y="387527"/>
                </a:lnTo>
                <a:lnTo>
                  <a:pt x="3817340" y="421830"/>
                </a:lnTo>
                <a:lnTo>
                  <a:pt x="3855834" y="450481"/>
                </a:lnTo>
                <a:lnTo>
                  <a:pt x="3898214" y="471970"/>
                </a:lnTo>
                <a:lnTo>
                  <a:pt x="3943362" y="486295"/>
                </a:lnTo>
                <a:lnTo>
                  <a:pt x="3990175" y="493458"/>
                </a:lnTo>
                <a:lnTo>
                  <a:pt x="4037558" y="493458"/>
                </a:lnTo>
                <a:lnTo>
                  <a:pt x="4084370" y="486295"/>
                </a:lnTo>
                <a:lnTo>
                  <a:pt x="4129519" y="471970"/>
                </a:lnTo>
                <a:lnTo>
                  <a:pt x="4171899" y="450481"/>
                </a:lnTo>
                <a:lnTo>
                  <a:pt x="4210393" y="421830"/>
                </a:lnTo>
                <a:lnTo>
                  <a:pt x="4242562" y="387527"/>
                </a:lnTo>
                <a:lnTo>
                  <a:pt x="4266679" y="349770"/>
                </a:lnTo>
                <a:lnTo>
                  <a:pt x="4282757" y="309549"/>
                </a:lnTo>
                <a:lnTo>
                  <a:pt x="4290796" y="267830"/>
                </a:lnTo>
                <a:lnTo>
                  <a:pt x="4290796" y="225628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29" name="object 29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1" y="0"/>
                  </a:moveTo>
                  <a:lnTo>
                    <a:pt x="253246" y="0"/>
                  </a:lnTo>
                  <a:lnTo>
                    <a:pt x="206427" y="7162"/>
                  </a:lnTo>
                  <a:lnTo>
                    <a:pt x="161273" y="21488"/>
                  </a:lnTo>
                  <a:lnTo>
                    <a:pt x="118894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4" y="450478"/>
                  </a:lnTo>
                  <a:lnTo>
                    <a:pt x="161273" y="471967"/>
                  </a:lnTo>
                  <a:lnTo>
                    <a:pt x="206427" y="486293"/>
                  </a:lnTo>
                  <a:lnTo>
                    <a:pt x="253246" y="493455"/>
                  </a:lnTo>
                  <a:lnTo>
                    <a:pt x="300621" y="493455"/>
                  </a:lnTo>
                  <a:lnTo>
                    <a:pt x="347441" y="486293"/>
                  </a:lnTo>
                  <a:lnTo>
                    <a:pt x="392595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5" y="21488"/>
                  </a:lnTo>
                  <a:lnTo>
                    <a:pt x="347441" y="7162"/>
                  </a:lnTo>
                  <a:lnTo>
                    <a:pt x="300621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8701" y="3979437"/>
            <a:ext cx="279807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139890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66822" y="2209619"/>
            <a:ext cx="300660" cy="531715"/>
          </a:xfrm>
          <a:custGeom>
            <a:avLst/>
            <a:gdLst/>
            <a:ahLst/>
            <a:cxnLst/>
            <a:rect l="l" t="t" r="r" b="b"/>
            <a:pathLst>
              <a:path w="661035" h="1169035">
                <a:moveTo>
                  <a:pt x="325716" y="1006119"/>
                </a:moveTo>
                <a:lnTo>
                  <a:pt x="320408" y="964806"/>
                </a:lnTo>
                <a:lnTo>
                  <a:pt x="304507" y="925690"/>
                </a:lnTo>
                <a:lnTo>
                  <a:pt x="278015" y="890968"/>
                </a:lnTo>
                <a:lnTo>
                  <a:pt x="243281" y="864463"/>
                </a:lnTo>
                <a:lnTo>
                  <a:pt x="204165" y="848563"/>
                </a:lnTo>
                <a:lnTo>
                  <a:pt x="162852" y="843267"/>
                </a:lnTo>
                <a:lnTo>
                  <a:pt x="121539" y="848563"/>
                </a:lnTo>
                <a:lnTo>
                  <a:pt x="82423" y="864463"/>
                </a:lnTo>
                <a:lnTo>
                  <a:pt x="47688" y="890968"/>
                </a:lnTo>
                <a:lnTo>
                  <a:pt x="21196" y="925690"/>
                </a:lnTo>
                <a:lnTo>
                  <a:pt x="5295" y="964806"/>
                </a:lnTo>
                <a:lnTo>
                  <a:pt x="0" y="1006119"/>
                </a:lnTo>
                <a:lnTo>
                  <a:pt x="5295" y="1047432"/>
                </a:lnTo>
                <a:lnTo>
                  <a:pt x="21196" y="1086548"/>
                </a:lnTo>
                <a:lnTo>
                  <a:pt x="47688" y="1121270"/>
                </a:lnTo>
                <a:lnTo>
                  <a:pt x="82423" y="1147775"/>
                </a:lnTo>
                <a:lnTo>
                  <a:pt x="121539" y="1163675"/>
                </a:lnTo>
                <a:lnTo>
                  <a:pt x="162852" y="1168971"/>
                </a:lnTo>
                <a:lnTo>
                  <a:pt x="204165" y="1163675"/>
                </a:lnTo>
                <a:lnTo>
                  <a:pt x="243281" y="1147775"/>
                </a:lnTo>
                <a:lnTo>
                  <a:pt x="278015" y="1121270"/>
                </a:lnTo>
                <a:lnTo>
                  <a:pt x="304507" y="1086548"/>
                </a:lnTo>
                <a:lnTo>
                  <a:pt x="320408" y="1047432"/>
                </a:lnTo>
                <a:lnTo>
                  <a:pt x="325716" y="1006119"/>
                </a:lnTo>
                <a:close/>
              </a:path>
              <a:path w="661035" h="1169035">
                <a:moveTo>
                  <a:pt x="409473" y="162864"/>
                </a:moveTo>
                <a:lnTo>
                  <a:pt x="404177" y="121551"/>
                </a:lnTo>
                <a:lnTo>
                  <a:pt x="388277" y="82435"/>
                </a:lnTo>
                <a:lnTo>
                  <a:pt x="361784" y="47701"/>
                </a:lnTo>
                <a:lnTo>
                  <a:pt x="327050" y="21196"/>
                </a:lnTo>
                <a:lnTo>
                  <a:pt x="287934" y="5295"/>
                </a:lnTo>
                <a:lnTo>
                  <a:pt x="246621" y="0"/>
                </a:lnTo>
                <a:lnTo>
                  <a:pt x="205308" y="5295"/>
                </a:lnTo>
                <a:lnTo>
                  <a:pt x="166192" y="21196"/>
                </a:lnTo>
                <a:lnTo>
                  <a:pt x="131457" y="47701"/>
                </a:lnTo>
                <a:lnTo>
                  <a:pt x="104965" y="82435"/>
                </a:lnTo>
                <a:lnTo>
                  <a:pt x="89065" y="121551"/>
                </a:lnTo>
                <a:lnTo>
                  <a:pt x="83756" y="162864"/>
                </a:lnTo>
                <a:lnTo>
                  <a:pt x="89065" y="204177"/>
                </a:lnTo>
                <a:lnTo>
                  <a:pt x="104965" y="243293"/>
                </a:lnTo>
                <a:lnTo>
                  <a:pt x="131457" y="278015"/>
                </a:lnTo>
                <a:lnTo>
                  <a:pt x="166192" y="304520"/>
                </a:lnTo>
                <a:lnTo>
                  <a:pt x="205308" y="320421"/>
                </a:lnTo>
                <a:lnTo>
                  <a:pt x="246621" y="325716"/>
                </a:lnTo>
                <a:lnTo>
                  <a:pt x="287934" y="320421"/>
                </a:lnTo>
                <a:lnTo>
                  <a:pt x="327050" y="304520"/>
                </a:lnTo>
                <a:lnTo>
                  <a:pt x="361784" y="278015"/>
                </a:lnTo>
                <a:lnTo>
                  <a:pt x="388277" y="243293"/>
                </a:lnTo>
                <a:lnTo>
                  <a:pt x="404177" y="204177"/>
                </a:lnTo>
                <a:lnTo>
                  <a:pt x="409473" y="162864"/>
                </a:lnTo>
                <a:close/>
              </a:path>
              <a:path w="661035" h="1169035">
                <a:moveTo>
                  <a:pt x="660781" y="586371"/>
                </a:moveTo>
                <a:lnTo>
                  <a:pt x="655485" y="545058"/>
                </a:lnTo>
                <a:lnTo>
                  <a:pt x="639584" y="505942"/>
                </a:lnTo>
                <a:lnTo>
                  <a:pt x="613079" y="471220"/>
                </a:lnTo>
                <a:lnTo>
                  <a:pt x="578358" y="444715"/>
                </a:lnTo>
                <a:lnTo>
                  <a:pt x="539229" y="428815"/>
                </a:lnTo>
                <a:lnTo>
                  <a:pt x="497916" y="423519"/>
                </a:lnTo>
                <a:lnTo>
                  <a:pt x="456603" y="428815"/>
                </a:lnTo>
                <a:lnTo>
                  <a:pt x="417487" y="444715"/>
                </a:lnTo>
                <a:lnTo>
                  <a:pt x="382765" y="471220"/>
                </a:lnTo>
                <a:lnTo>
                  <a:pt x="356260" y="505942"/>
                </a:lnTo>
                <a:lnTo>
                  <a:pt x="340360" y="545058"/>
                </a:lnTo>
                <a:lnTo>
                  <a:pt x="335064" y="586371"/>
                </a:lnTo>
                <a:lnTo>
                  <a:pt x="340360" y="627684"/>
                </a:lnTo>
                <a:lnTo>
                  <a:pt x="356260" y="666813"/>
                </a:lnTo>
                <a:lnTo>
                  <a:pt x="382765" y="701535"/>
                </a:lnTo>
                <a:lnTo>
                  <a:pt x="417487" y="728040"/>
                </a:lnTo>
                <a:lnTo>
                  <a:pt x="456603" y="743940"/>
                </a:lnTo>
                <a:lnTo>
                  <a:pt x="497916" y="749236"/>
                </a:lnTo>
                <a:lnTo>
                  <a:pt x="539229" y="743940"/>
                </a:lnTo>
                <a:lnTo>
                  <a:pt x="578358" y="728040"/>
                </a:lnTo>
                <a:lnTo>
                  <a:pt x="613079" y="701535"/>
                </a:lnTo>
                <a:lnTo>
                  <a:pt x="639584" y="666813"/>
                </a:lnTo>
                <a:lnTo>
                  <a:pt x="655485" y="627684"/>
                </a:lnTo>
                <a:lnTo>
                  <a:pt x="660781" y="586371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4216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1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8" name="object 8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83756" y="1273777"/>
            <a:ext cx="1951837" cy="2409037"/>
          </a:xfrm>
          <a:custGeom>
            <a:avLst/>
            <a:gdLst/>
            <a:ahLst/>
            <a:cxnLst/>
            <a:rect l="l" t="t" r="r" b="b"/>
            <a:pathLst>
              <a:path w="4291330" h="5296534">
                <a:moveTo>
                  <a:pt x="553847" y="5028565"/>
                </a:moveTo>
                <a:lnTo>
                  <a:pt x="545807" y="4986845"/>
                </a:lnTo>
                <a:lnTo>
                  <a:pt x="529729" y="4946624"/>
                </a:lnTo>
                <a:lnTo>
                  <a:pt x="505612" y="4908867"/>
                </a:lnTo>
                <a:lnTo>
                  <a:pt x="473456" y="4874577"/>
                </a:lnTo>
                <a:lnTo>
                  <a:pt x="434962" y="4845913"/>
                </a:lnTo>
                <a:lnTo>
                  <a:pt x="392582" y="4824425"/>
                </a:lnTo>
                <a:lnTo>
                  <a:pt x="347433" y="4810099"/>
                </a:lnTo>
                <a:lnTo>
                  <a:pt x="300609" y="4802937"/>
                </a:lnTo>
                <a:lnTo>
                  <a:pt x="253238" y="4802937"/>
                </a:lnTo>
                <a:lnTo>
                  <a:pt x="206413" y="4810099"/>
                </a:lnTo>
                <a:lnTo>
                  <a:pt x="161264" y="4824425"/>
                </a:lnTo>
                <a:lnTo>
                  <a:pt x="118884" y="4845913"/>
                </a:lnTo>
                <a:lnTo>
                  <a:pt x="80391" y="4874577"/>
                </a:lnTo>
                <a:lnTo>
                  <a:pt x="48234" y="4908867"/>
                </a:lnTo>
                <a:lnTo>
                  <a:pt x="24117" y="4946624"/>
                </a:lnTo>
                <a:lnTo>
                  <a:pt x="8039" y="4986845"/>
                </a:lnTo>
                <a:lnTo>
                  <a:pt x="0" y="5028565"/>
                </a:lnTo>
                <a:lnTo>
                  <a:pt x="0" y="5070767"/>
                </a:lnTo>
                <a:lnTo>
                  <a:pt x="8039" y="5112486"/>
                </a:lnTo>
                <a:lnTo>
                  <a:pt x="24117" y="5152707"/>
                </a:lnTo>
                <a:lnTo>
                  <a:pt x="48234" y="5190464"/>
                </a:lnTo>
                <a:lnTo>
                  <a:pt x="80391" y="5224767"/>
                </a:lnTo>
                <a:lnTo>
                  <a:pt x="118884" y="5253418"/>
                </a:lnTo>
                <a:lnTo>
                  <a:pt x="161264" y="5274907"/>
                </a:lnTo>
                <a:lnTo>
                  <a:pt x="206413" y="5289232"/>
                </a:lnTo>
                <a:lnTo>
                  <a:pt x="253238" y="5296395"/>
                </a:lnTo>
                <a:lnTo>
                  <a:pt x="300609" y="5296395"/>
                </a:lnTo>
                <a:lnTo>
                  <a:pt x="347433" y="5289232"/>
                </a:lnTo>
                <a:lnTo>
                  <a:pt x="392582" y="5274907"/>
                </a:lnTo>
                <a:lnTo>
                  <a:pt x="434962" y="5253418"/>
                </a:lnTo>
                <a:lnTo>
                  <a:pt x="473456" y="5224767"/>
                </a:lnTo>
                <a:lnTo>
                  <a:pt x="505612" y="5190464"/>
                </a:lnTo>
                <a:lnTo>
                  <a:pt x="529729" y="5152707"/>
                </a:lnTo>
                <a:lnTo>
                  <a:pt x="545807" y="5112486"/>
                </a:lnTo>
                <a:lnTo>
                  <a:pt x="553847" y="5070767"/>
                </a:lnTo>
                <a:lnTo>
                  <a:pt x="553847" y="5028565"/>
                </a:lnTo>
                <a:close/>
              </a:path>
              <a:path w="4291330" h="5296534">
                <a:moveTo>
                  <a:pt x="4290796" y="225628"/>
                </a:moveTo>
                <a:lnTo>
                  <a:pt x="4282757" y="183908"/>
                </a:lnTo>
                <a:lnTo>
                  <a:pt x="4266679" y="143687"/>
                </a:lnTo>
                <a:lnTo>
                  <a:pt x="4242562" y="105930"/>
                </a:lnTo>
                <a:lnTo>
                  <a:pt x="4210393" y="71628"/>
                </a:lnTo>
                <a:lnTo>
                  <a:pt x="4171899" y="42976"/>
                </a:lnTo>
                <a:lnTo>
                  <a:pt x="4129519" y="21488"/>
                </a:lnTo>
                <a:lnTo>
                  <a:pt x="4084370" y="7162"/>
                </a:lnTo>
                <a:lnTo>
                  <a:pt x="4037558" y="0"/>
                </a:lnTo>
                <a:lnTo>
                  <a:pt x="3990175" y="0"/>
                </a:lnTo>
                <a:lnTo>
                  <a:pt x="3943362" y="7162"/>
                </a:lnTo>
                <a:lnTo>
                  <a:pt x="3898214" y="21488"/>
                </a:lnTo>
                <a:lnTo>
                  <a:pt x="3855834" y="42976"/>
                </a:lnTo>
                <a:lnTo>
                  <a:pt x="3817340" y="71628"/>
                </a:lnTo>
                <a:lnTo>
                  <a:pt x="3785171" y="105930"/>
                </a:lnTo>
                <a:lnTo>
                  <a:pt x="3761054" y="143687"/>
                </a:lnTo>
                <a:lnTo>
                  <a:pt x="3744976" y="183908"/>
                </a:lnTo>
                <a:lnTo>
                  <a:pt x="3736937" y="225628"/>
                </a:lnTo>
                <a:lnTo>
                  <a:pt x="3736937" y="267830"/>
                </a:lnTo>
                <a:lnTo>
                  <a:pt x="3744976" y="309549"/>
                </a:lnTo>
                <a:lnTo>
                  <a:pt x="3761054" y="349770"/>
                </a:lnTo>
                <a:lnTo>
                  <a:pt x="3785171" y="387527"/>
                </a:lnTo>
                <a:lnTo>
                  <a:pt x="3817340" y="421830"/>
                </a:lnTo>
                <a:lnTo>
                  <a:pt x="3855834" y="450481"/>
                </a:lnTo>
                <a:lnTo>
                  <a:pt x="3898214" y="471970"/>
                </a:lnTo>
                <a:lnTo>
                  <a:pt x="3943362" y="486295"/>
                </a:lnTo>
                <a:lnTo>
                  <a:pt x="3990175" y="493458"/>
                </a:lnTo>
                <a:lnTo>
                  <a:pt x="4037558" y="493458"/>
                </a:lnTo>
                <a:lnTo>
                  <a:pt x="4084370" y="486295"/>
                </a:lnTo>
                <a:lnTo>
                  <a:pt x="4129519" y="471970"/>
                </a:lnTo>
                <a:lnTo>
                  <a:pt x="4171899" y="450481"/>
                </a:lnTo>
                <a:lnTo>
                  <a:pt x="4210393" y="421830"/>
                </a:lnTo>
                <a:lnTo>
                  <a:pt x="4242562" y="387527"/>
                </a:lnTo>
                <a:lnTo>
                  <a:pt x="4266679" y="349770"/>
                </a:lnTo>
                <a:lnTo>
                  <a:pt x="4282757" y="309549"/>
                </a:lnTo>
                <a:lnTo>
                  <a:pt x="4290796" y="267830"/>
                </a:lnTo>
                <a:lnTo>
                  <a:pt x="4290796" y="225628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29" name="object 29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1" y="0"/>
                  </a:moveTo>
                  <a:lnTo>
                    <a:pt x="253246" y="0"/>
                  </a:lnTo>
                  <a:lnTo>
                    <a:pt x="206427" y="7162"/>
                  </a:lnTo>
                  <a:lnTo>
                    <a:pt x="161273" y="21488"/>
                  </a:lnTo>
                  <a:lnTo>
                    <a:pt x="118894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4" y="450478"/>
                  </a:lnTo>
                  <a:lnTo>
                    <a:pt x="161273" y="471967"/>
                  </a:lnTo>
                  <a:lnTo>
                    <a:pt x="206427" y="486293"/>
                  </a:lnTo>
                  <a:lnTo>
                    <a:pt x="253246" y="493455"/>
                  </a:lnTo>
                  <a:lnTo>
                    <a:pt x="300621" y="493455"/>
                  </a:lnTo>
                  <a:lnTo>
                    <a:pt x="347441" y="486293"/>
                  </a:lnTo>
                  <a:lnTo>
                    <a:pt x="392595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5" y="21488"/>
                  </a:lnTo>
                  <a:lnTo>
                    <a:pt x="347441" y="7162"/>
                  </a:lnTo>
                  <a:lnTo>
                    <a:pt x="300621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8701" y="3979437"/>
            <a:ext cx="279807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139890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901564" y="132308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3" y="0"/>
                </a:moveTo>
                <a:lnTo>
                  <a:pt x="121542" y="5300"/>
                </a:lnTo>
                <a:lnTo>
                  <a:pt x="82426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6" y="304513"/>
                </a:lnTo>
                <a:lnTo>
                  <a:pt x="121542" y="320410"/>
                </a:lnTo>
                <a:lnTo>
                  <a:pt x="162853" y="325709"/>
                </a:lnTo>
                <a:lnTo>
                  <a:pt x="204164" y="320410"/>
                </a:lnTo>
                <a:lnTo>
                  <a:pt x="243280" y="304513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0" y="21200"/>
                </a:lnTo>
                <a:lnTo>
                  <a:pt x="204164" y="5300"/>
                </a:lnTo>
                <a:lnTo>
                  <a:pt x="16285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635485" y="2392278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3" y="0"/>
                </a:moveTo>
                <a:lnTo>
                  <a:pt x="121542" y="5300"/>
                </a:lnTo>
                <a:lnTo>
                  <a:pt x="82426" y="21200"/>
                </a:lnTo>
                <a:lnTo>
                  <a:pt x="47700" y="47700"/>
                </a:lnTo>
                <a:lnTo>
                  <a:pt x="21200" y="82422"/>
                </a:lnTo>
                <a:lnTo>
                  <a:pt x="5300" y="121538"/>
                </a:lnTo>
                <a:lnTo>
                  <a:pt x="0" y="162849"/>
                </a:lnTo>
                <a:lnTo>
                  <a:pt x="5300" y="204162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6" y="304507"/>
                </a:lnTo>
                <a:lnTo>
                  <a:pt x="121542" y="320407"/>
                </a:lnTo>
                <a:lnTo>
                  <a:pt x="162853" y="325707"/>
                </a:lnTo>
                <a:lnTo>
                  <a:pt x="204164" y="320407"/>
                </a:lnTo>
                <a:lnTo>
                  <a:pt x="243280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2"/>
                </a:lnTo>
                <a:lnTo>
                  <a:pt x="325707" y="162849"/>
                </a:lnTo>
                <a:lnTo>
                  <a:pt x="320407" y="121538"/>
                </a:lnTo>
                <a:lnTo>
                  <a:pt x="304507" y="82422"/>
                </a:lnTo>
                <a:lnTo>
                  <a:pt x="278007" y="47700"/>
                </a:lnTo>
                <a:lnTo>
                  <a:pt x="243280" y="21200"/>
                </a:lnTo>
                <a:lnTo>
                  <a:pt x="204164" y="5300"/>
                </a:lnTo>
                <a:lnTo>
                  <a:pt x="16285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2202" y="346852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1" y="0"/>
                </a:moveTo>
                <a:lnTo>
                  <a:pt x="121537" y="5300"/>
                </a:lnTo>
                <a:lnTo>
                  <a:pt x="82419" y="21200"/>
                </a:lnTo>
                <a:lnTo>
                  <a:pt x="47692" y="47700"/>
                </a:lnTo>
                <a:lnTo>
                  <a:pt x="21196" y="82427"/>
                </a:lnTo>
                <a:lnTo>
                  <a:pt x="5299" y="121545"/>
                </a:lnTo>
                <a:lnTo>
                  <a:pt x="0" y="162858"/>
                </a:lnTo>
                <a:lnTo>
                  <a:pt x="5299" y="204172"/>
                </a:lnTo>
                <a:lnTo>
                  <a:pt x="21196" y="243290"/>
                </a:lnTo>
                <a:lnTo>
                  <a:pt x="47692" y="278017"/>
                </a:lnTo>
                <a:lnTo>
                  <a:pt x="82419" y="304517"/>
                </a:lnTo>
                <a:lnTo>
                  <a:pt x="121537" y="320417"/>
                </a:lnTo>
                <a:lnTo>
                  <a:pt x="162851" y="325717"/>
                </a:lnTo>
                <a:lnTo>
                  <a:pt x="204164" y="320417"/>
                </a:lnTo>
                <a:lnTo>
                  <a:pt x="243282" y="304517"/>
                </a:lnTo>
                <a:lnTo>
                  <a:pt x="278009" y="278017"/>
                </a:lnTo>
                <a:lnTo>
                  <a:pt x="304509" y="243290"/>
                </a:lnTo>
                <a:lnTo>
                  <a:pt x="320409" y="204172"/>
                </a:lnTo>
                <a:lnTo>
                  <a:pt x="325709" y="162858"/>
                </a:lnTo>
                <a:lnTo>
                  <a:pt x="320409" y="121545"/>
                </a:lnTo>
                <a:lnTo>
                  <a:pt x="304509" y="82427"/>
                </a:lnTo>
                <a:lnTo>
                  <a:pt x="278009" y="47700"/>
                </a:lnTo>
                <a:lnTo>
                  <a:pt x="243282" y="21200"/>
                </a:lnTo>
                <a:lnTo>
                  <a:pt x="204164" y="5300"/>
                </a:lnTo>
                <a:lnTo>
                  <a:pt x="16285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4" y="525981"/>
            <a:ext cx="4479867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1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8" name="object 8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883756" y="1273775"/>
            <a:ext cx="1951837" cy="2409037"/>
            <a:chOff x="4141648" y="2172679"/>
            <a:chExt cx="4291330" cy="5296535"/>
          </a:xfrm>
        </p:grpSpPr>
        <p:sp>
          <p:nvSpPr>
            <p:cNvPr id="25" name="object 25"/>
            <p:cNvSpPr/>
            <p:nvPr/>
          </p:nvSpPr>
          <p:spPr>
            <a:xfrm>
              <a:off x="4141648" y="6975615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15" y="0"/>
                  </a:moveTo>
                  <a:lnTo>
                    <a:pt x="253242" y="0"/>
                  </a:lnTo>
                  <a:lnTo>
                    <a:pt x="206424" y="7163"/>
                  </a:lnTo>
                  <a:lnTo>
                    <a:pt x="161271" y="21490"/>
                  </a:lnTo>
                  <a:lnTo>
                    <a:pt x="118893" y="42981"/>
                  </a:lnTo>
                  <a:lnTo>
                    <a:pt x="80400" y="71636"/>
                  </a:lnTo>
                  <a:lnTo>
                    <a:pt x="48240" y="105930"/>
                  </a:lnTo>
                  <a:lnTo>
                    <a:pt x="24120" y="143685"/>
                  </a:lnTo>
                  <a:lnTo>
                    <a:pt x="8040" y="183914"/>
                  </a:lnTo>
                  <a:lnTo>
                    <a:pt x="0" y="225626"/>
                  </a:lnTo>
                  <a:lnTo>
                    <a:pt x="0" y="267834"/>
                  </a:lnTo>
                  <a:lnTo>
                    <a:pt x="8040" y="309546"/>
                  </a:lnTo>
                  <a:lnTo>
                    <a:pt x="24120" y="349775"/>
                  </a:lnTo>
                  <a:lnTo>
                    <a:pt x="48240" y="387531"/>
                  </a:lnTo>
                  <a:lnTo>
                    <a:pt x="80400" y="421824"/>
                  </a:lnTo>
                  <a:lnTo>
                    <a:pt x="118893" y="450476"/>
                  </a:lnTo>
                  <a:lnTo>
                    <a:pt x="161271" y="471964"/>
                  </a:lnTo>
                  <a:lnTo>
                    <a:pt x="206424" y="486290"/>
                  </a:lnTo>
                  <a:lnTo>
                    <a:pt x="253242" y="493453"/>
                  </a:lnTo>
                  <a:lnTo>
                    <a:pt x="300615" y="493453"/>
                  </a:lnTo>
                  <a:lnTo>
                    <a:pt x="347433" y="486290"/>
                  </a:lnTo>
                  <a:lnTo>
                    <a:pt x="392586" y="471964"/>
                  </a:lnTo>
                  <a:lnTo>
                    <a:pt x="434964" y="450476"/>
                  </a:lnTo>
                  <a:lnTo>
                    <a:pt x="473456" y="421824"/>
                  </a:lnTo>
                  <a:lnTo>
                    <a:pt x="505617" y="387531"/>
                  </a:lnTo>
                  <a:lnTo>
                    <a:pt x="529737" y="349775"/>
                  </a:lnTo>
                  <a:lnTo>
                    <a:pt x="545817" y="309546"/>
                  </a:lnTo>
                  <a:lnTo>
                    <a:pt x="553857" y="267834"/>
                  </a:lnTo>
                  <a:lnTo>
                    <a:pt x="553857" y="225626"/>
                  </a:lnTo>
                  <a:lnTo>
                    <a:pt x="545817" y="183914"/>
                  </a:lnTo>
                  <a:lnTo>
                    <a:pt x="529737" y="143685"/>
                  </a:lnTo>
                  <a:lnTo>
                    <a:pt x="505617" y="105930"/>
                  </a:lnTo>
                  <a:lnTo>
                    <a:pt x="473456" y="71636"/>
                  </a:lnTo>
                  <a:lnTo>
                    <a:pt x="434964" y="42981"/>
                  </a:lnTo>
                  <a:lnTo>
                    <a:pt x="392586" y="21490"/>
                  </a:lnTo>
                  <a:lnTo>
                    <a:pt x="347433" y="7163"/>
                  </a:lnTo>
                  <a:lnTo>
                    <a:pt x="300615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878584" y="2172679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30">
                  <a:moveTo>
                    <a:pt x="300623" y="0"/>
                  </a:moveTo>
                  <a:lnTo>
                    <a:pt x="253250" y="0"/>
                  </a:lnTo>
                  <a:lnTo>
                    <a:pt x="206432" y="7162"/>
                  </a:lnTo>
                  <a:lnTo>
                    <a:pt x="161279" y="21488"/>
                  </a:lnTo>
                  <a:lnTo>
                    <a:pt x="118901" y="42977"/>
                  </a:lnTo>
                  <a:lnTo>
                    <a:pt x="80408" y="71628"/>
                  </a:lnTo>
                  <a:lnTo>
                    <a:pt x="48245" y="105925"/>
                  </a:lnTo>
                  <a:lnTo>
                    <a:pt x="24122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2" y="349773"/>
                  </a:lnTo>
                  <a:lnTo>
                    <a:pt x="48245" y="387530"/>
                  </a:lnTo>
                  <a:lnTo>
                    <a:pt x="80408" y="421827"/>
                  </a:lnTo>
                  <a:lnTo>
                    <a:pt x="118901" y="450478"/>
                  </a:lnTo>
                  <a:lnTo>
                    <a:pt x="161279" y="471967"/>
                  </a:lnTo>
                  <a:lnTo>
                    <a:pt x="206432" y="486293"/>
                  </a:lnTo>
                  <a:lnTo>
                    <a:pt x="253250" y="493455"/>
                  </a:lnTo>
                  <a:lnTo>
                    <a:pt x="300623" y="493455"/>
                  </a:lnTo>
                  <a:lnTo>
                    <a:pt x="347441" y="486293"/>
                  </a:lnTo>
                  <a:lnTo>
                    <a:pt x="392593" y="471967"/>
                  </a:lnTo>
                  <a:lnTo>
                    <a:pt x="434971" y="450478"/>
                  </a:lnTo>
                  <a:lnTo>
                    <a:pt x="473464" y="421827"/>
                  </a:lnTo>
                  <a:lnTo>
                    <a:pt x="505625" y="387530"/>
                  </a:lnTo>
                  <a:lnTo>
                    <a:pt x="529745" y="349773"/>
                  </a:lnTo>
                  <a:lnTo>
                    <a:pt x="545825" y="309544"/>
                  </a:lnTo>
                  <a:lnTo>
                    <a:pt x="553865" y="267831"/>
                  </a:lnTo>
                  <a:lnTo>
                    <a:pt x="553865" y="225624"/>
                  </a:lnTo>
                  <a:lnTo>
                    <a:pt x="545825" y="183911"/>
                  </a:lnTo>
                  <a:lnTo>
                    <a:pt x="529745" y="143682"/>
                  </a:lnTo>
                  <a:lnTo>
                    <a:pt x="505625" y="105925"/>
                  </a:lnTo>
                  <a:lnTo>
                    <a:pt x="473464" y="71628"/>
                  </a:lnTo>
                  <a:lnTo>
                    <a:pt x="434971" y="42977"/>
                  </a:lnTo>
                  <a:lnTo>
                    <a:pt x="392593" y="21488"/>
                  </a:lnTo>
                  <a:lnTo>
                    <a:pt x="347441" y="7162"/>
                  </a:lnTo>
                  <a:lnTo>
                    <a:pt x="300623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1" name="object 31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48701" y="3979437"/>
            <a:ext cx="279807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139890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4" y="525981"/>
            <a:ext cx="4421681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1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8" name="object 8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883756" y="1273775"/>
            <a:ext cx="1951837" cy="2409037"/>
            <a:chOff x="4141648" y="2172679"/>
            <a:chExt cx="4291330" cy="5296535"/>
          </a:xfrm>
        </p:grpSpPr>
        <p:sp>
          <p:nvSpPr>
            <p:cNvPr id="25" name="object 25"/>
            <p:cNvSpPr/>
            <p:nvPr/>
          </p:nvSpPr>
          <p:spPr>
            <a:xfrm>
              <a:off x="4141648" y="6975615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15" y="0"/>
                  </a:moveTo>
                  <a:lnTo>
                    <a:pt x="253242" y="0"/>
                  </a:lnTo>
                  <a:lnTo>
                    <a:pt x="206424" y="7163"/>
                  </a:lnTo>
                  <a:lnTo>
                    <a:pt x="161271" y="21490"/>
                  </a:lnTo>
                  <a:lnTo>
                    <a:pt x="118893" y="42981"/>
                  </a:lnTo>
                  <a:lnTo>
                    <a:pt x="80400" y="71636"/>
                  </a:lnTo>
                  <a:lnTo>
                    <a:pt x="48240" y="105930"/>
                  </a:lnTo>
                  <a:lnTo>
                    <a:pt x="24120" y="143685"/>
                  </a:lnTo>
                  <a:lnTo>
                    <a:pt x="8040" y="183914"/>
                  </a:lnTo>
                  <a:lnTo>
                    <a:pt x="0" y="225626"/>
                  </a:lnTo>
                  <a:lnTo>
                    <a:pt x="0" y="267834"/>
                  </a:lnTo>
                  <a:lnTo>
                    <a:pt x="8040" y="309546"/>
                  </a:lnTo>
                  <a:lnTo>
                    <a:pt x="24120" y="349775"/>
                  </a:lnTo>
                  <a:lnTo>
                    <a:pt x="48240" y="387531"/>
                  </a:lnTo>
                  <a:lnTo>
                    <a:pt x="80400" y="421824"/>
                  </a:lnTo>
                  <a:lnTo>
                    <a:pt x="118893" y="450476"/>
                  </a:lnTo>
                  <a:lnTo>
                    <a:pt x="161271" y="471964"/>
                  </a:lnTo>
                  <a:lnTo>
                    <a:pt x="206424" y="486290"/>
                  </a:lnTo>
                  <a:lnTo>
                    <a:pt x="253242" y="493453"/>
                  </a:lnTo>
                  <a:lnTo>
                    <a:pt x="300615" y="493453"/>
                  </a:lnTo>
                  <a:lnTo>
                    <a:pt x="347433" y="486290"/>
                  </a:lnTo>
                  <a:lnTo>
                    <a:pt x="392586" y="471964"/>
                  </a:lnTo>
                  <a:lnTo>
                    <a:pt x="434964" y="450476"/>
                  </a:lnTo>
                  <a:lnTo>
                    <a:pt x="473456" y="421824"/>
                  </a:lnTo>
                  <a:lnTo>
                    <a:pt x="505617" y="387531"/>
                  </a:lnTo>
                  <a:lnTo>
                    <a:pt x="529737" y="349775"/>
                  </a:lnTo>
                  <a:lnTo>
                    <a:pt x="545817" y="309546"/>
                  </a:lnTo>
                  <a:lnTo>
                    <a:pt x="553857" y="267834"/>
                  </a:lnTo>
                  <a:lnTo>
                    <a:pt x="553857" y="225626"/>
                  </a:lnTo>
                  <a:lnTo>
                    <a:pt x="545817" y="183914"/>
                  </a:lnTo>
                  <a:lnTo>
                    <a:pt x="529737" y="143685"/>
                  </a:lnTo>
                  <a:lnTo>
                    <a:pt x="505617" y="105930"/>
                  </a:lnTo>
                  <a:lnTo>
                    <a:pt x="473456" y="71636"/>
                  </a:lnTo>
                  <a:lnTo>
                    <a:pt x="434964" y="42981"/>
                  </a:lnTo>
                  <a:lnTo>
                    <a:pt x="392586" y="21490"/>
                  </a:lnTo>
                  <a:lnTo>
                    <a:pt x="347433" y="7163"/>
                  </a:lnTo>
                  <a:lnTo>
                    <a:pt x="300615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878584" y="2172679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30">
                  <a:moveTo>
                    <a:pt x="300623" y="0"/>
                  </a:moveTo>
                  <a:lnTo>
                    <a:pt x="253250" y="0"/>
                  </a:lnTo>
                  <a:lnTo>
                    <a:pt x="206432" y="7162"/>
                  </a:lnTo>
                  <a:lnTo>
                    <a:pt x="161279" y="21488"/>
                  </a:lnTo>
                  <a:lnTo>
                    <a:pt x="118901" y="42977"/>
                  </a:lnTo>
                  <a:lnTo>
                    <a:pt x="80408" y="71628"/>
                  </a:lnTo>
                  <a:lnTo>
                    <a:pt x="48245" y="105925"/>
                  </a:lnTo>
                  <a:lnTo>
                    <a:pt x="24122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2" y="349773"/>
                  </a:lnTo>
                  <a:lnTo>
                    <a:pt x="48245" y="387530"/>
                  </a:lnTo>
                  <a:lnTo>
                    <a:pt x="80408" y="421827"/>
                  </a:lnTo>
                  <a:lnTo>
                    <a:pt x="118901" y="450478"/>
                  </a:lnTo>
                  <a:lnTo>
                    <a:pt x="161279" y="471967"/>
                  </a:lnTo>
                  <a:lnTo>
                    <a:pt x="206432" y="486293"/>
                  </a:lnTo>
                  <a:lnTo>
                    <a:pt x="253250" y="493455"/>
                  </a:lnTo>
                  <a:lnTo>
                    <a:pt x="300623" y="493455"/>
                  </a:lnTo>
                  <a:lnTo>
                    <a:pt x="347441" y="486293"/>
                  </a:lnTo>
                  <a:lnTo>
                    <a:pt x="392593" y="471967"/>
                  </a:lnTo>
                  <a:lnTo>
                    <a:pt x="434971" y="450478"/>
                  </a:lnTo>
                  <a:lnTo>
                    <a:pt x="473464" y="421827"/>
                  </a:lnTo>
                  <a:lnTo>
                    <a:pt x="505625" y="387530"/>
                  </a:lnTo>
                  <a:lnTo>
                    <a:pt x="529745" y="349773"/>
                  </a:lnTo>
                  <a:lnTo>
                    <a:pt x="545825" y="309544"/>
                  </a:lnTo>
                  <a:lnTo>
                    <a:pt x="553865" y="267831"/>
                  </a:lnTo>
                  <a:lnTo>
                    <a:pt x="553865" y="225624"/>
                  </a:lnTo>
                  <a:lnTo>
                    <a:pt x="545825" y="183911"/>
                  </a:lnTo>
                  <a:lnTo>
                    <a:pt x="529745" y="143682"/>
                  </a:lnTo>
                  <a:lnTo>
                    <a:pt x="505625" y="105925"/>
                  </a:lnTo>
                  <a:lnTo>
                    <a:pt x="473464" y="71628"/>
                  </a:lnTo>
                  <a:lnTo>
                    <a:pt x="434971" y="42977"/>
                  </a:lnTo>
                  <a:lnTo>
                    <a:pt x="392593" y="21488"/>
                  </a:lnTo>
                  <a:lnTo>
                    <a:pt x="347441" y="7162"/>
                  </a:lnTo>
                  <a:lnTo>
                    <a:pt x="300623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1" name="object 31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48701" y="3979437"/>
            <a:ext cx="279807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139890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785287" y="1285699"/>
            <a:ext cx="1998337" cy="2359071"/>
          </a:xfrm>
          <a:custGeom>
            <a:avLst/>
            <a:gdLst/>
            <a:ahLst/>
            <a:cxnLst/>
            <a:rect l="l" t="t" r="r" b="b"/>
            <a:pathLst>
              <a:path w="4393565" h="5186680">
                <a:moveTo>
                  <a:pt x="325704" y="4546295"/>
                </a:moveTo>
                <a:lnTo>
                  <a:pt x="320408" y="4504982"/>
                </a:lnTo>
                <a:lnTo>
                  <a:pt x="304507" y="4465866"/>
                </a:lnTo>
                <a:lnTo>
                  <a:pt x="278003" y="4431131"/>
                </a:lnTo>
                <a:lnTo>
                  <a:pt x="243281" y="4404639"/>
                </a:lnTo>
                <a:lnTo>
                  <a:pt x="204165" y="4388739"/>
                </a:lnTo>
                <a:lnTo>
                  <a:pt x="162852" y="4383443"/>
                </a:lnTo>
                <a:lnTo>
                  <a:pt x="121539" y="4388739"/>
                </a:lnTo>
                <a:lnTo>
                  <a:pt x="82423" y="4404639"/>
                </a:lnTo>
                <a:lnTo>
                  <a:pt x="47701" y="4431131"/>
                </a:lnTo>
                <a:lnTo>
                  <a:pt x="21196" y="4465866"/>
                </a:lnTo>
                <a:lnTo>
                  <a:pt x="5295" y="4504982"/>
                </a:lnTo>
                <a:lnTo>
                  <a:pt x="0" y="4546295"/>
                </a:lnTo>
                <a:lnTo>
                  <a:pt x="5295" y="4587608"/>
                </a:lnTo>
                <a:lnTo>
                  <a:pt x="21196" y="4626724"/>
                </a:lnTo>
                <a:lnTo>
                  <a:pt x="47701" y="4661459"/>
                </a:lnTo>
                <a:lnTo>
                  <a:pt x="82423" y="4687951"/>
                </a:lnTo>
                <a:lnTo>
                  <a:pt x="121539" y="4703851"/>
                </a:lnTo>
                <a:lnTo>
                  <a:pt x="162852" y="4709160"/>
                </a:lnTo>
                <a:lnTo>
                  <a:pt x="204165" y="4703851"/>
                </a:lnTo>
                <a:lnTo>
                  <a:pt x="243281" y="4687951"/>
                </a:lnTo>
                <a:lnTo>
                  <a:pt x="278003" y="4661459"/>
                </a:lnTo>
                <a:lnTo>
                  <a:pt x="304507" y="4626724"/>
                </a:lnTo>
                <a:lnTo>
                  <a:pt x="320408" y="4587608"/>
                </a:lnTo>
                <a:lnTo>
                  <a:pt x="325704" y="4546295"/>
                </a:lnTo>
                <a:close/>
              </a:path>
              <a:path w="4393565" h="5186680">
                <a:moveTo>
                  <a:pt x="409473" y="588302"/>
                </a:moveTo>
                <a:lnTo>
                  <a:pt x="404164" y="546989"/>
                </a:lnTo>
                <a:lnTo>
                  <a:pt x="388264" y="507873"/>
                </a:lnTo>
                <a:lnTo>
                  <a:pt x="361772" y="473138"/>
                </a:lnTo>
                <a:lnTo>
                  <a:pt x="327050" y="446646"/>
                </a:lnTo>
                <a:lnTo>
                  <a:pt x="287934" y="430745"/>
                </a:lnTo>
                <a:lnTo>
                  <a:pt x="246621" y="425450"/>
                </a:lnTo>
                <a:lnTo>
                  <a:pt x="205308" y="430745"/>
                </a:lnTo>
                <a:lnTo>
                  <a:pt x="166192" y="446646"/>
                </a:lnTo>
                <a:lnTo>
                  <a:pt x="131457" y="473138"/>
                </a:lnTo>
                <a:lnTo>
                  <a:pt x="104965" y="507873"/>
                </a:lnTo>
                <a:lnTo>
                  <a:pt x="89065" y="546989"/>
                </a:lnTo>
                <a:lnTo>
                  <a:pt x="83756" y="588302"/>
                </a:lnTo>
                <a:lnTo>
                  <a:pt x="89065" y="629615"/>
                </a:lnTo>
                <a:lnTo>
                  <a:pt x="104965" y="668731"/>
                </a:lnTo>
                <a:lnTo>
                  <a:pt x="131457" y="703465"/>
                </a:lnTo>
                <a:lnTo>
                  <a:pt x="166192" y="729957"/>
                </a:lnTo>
                <a:lnTo>
                  <a:pt x="205308" y="745858"/>
                </a:lnTo>
                <a:lnTo>
                  <a:pt x="246621" y="751166"/>
                </a:lnTo>
                <a:lnTo>
                  <a:pt x="287934" y="745858"/>
                </a:lnTo>
                <a:lnTo>
                  <a:pt x="327050" y="729957"/>
                </a:lnTo>
                <a:lnTo>
                  <a:pt x="361772" y="703465"/>
                </a:lnTo>
                <a:lnTo>
                  <a:pt x="388264" y="668731"/>
                </a:lnTo>
                <a:lnTo>
                  <a:pt x="404164" y="629615"/>
                </a:lnTo>
                <a:lnTo>
                  <a:pt x="409473" y="588302"/>
                </a:lnTo>
                <a:close/>
              </a:path>
              <a:path w="4393565" h="5186680">
                <a:moveTo>
                  <a:pt x="1175283" y="162852"/>
                </a:moveTo>
                <a:lnTo>
                  <a:pt x="1169974" y="121539"/>
                </a:lnTo>
                <a:lnTo>
                  <a:pt x="1154074" y="82423"/>
                </a:lnTo>
                <a:lnTo>
                  <a:pt x="1127582" y="47688"/>
                </a:lnTo>
                <a:lnTo>
                  <a:pt x="1092847" y="21196"/>
                </a:lnTo>
                <a:lnTo>
                  <a:pt x="1053731" y="5295"/>
                </a:lnTo>
                <a:lnTo>
                  <a:pt x="1012418" y="0"/>
                </a:lnTo>
                <a:lnTo>
                  <a:pt x="971105" y="5295"/>
                </a:lnTo>
                <a:lnTo>
                  <a:pt x="931989" y="21196"/>
                </a:lnTo>
                <a:lnTo>
                  <a:pt x="897267" y="47688"/>
                </a:lnTo>
                <a:lnTo>
                  <a:pt x="870762" y="82423"/>
                </a:lnTo>
                <a:lnTo>
                  <a:pt x="854862" y="121539"/>
                </a:lnTo>
                <a:lnTo>
                  <a:pt x="849566" y="162852"/>
                </a:lnTo>
                <a:lnTo>
                  <a:pt x="854862" y="204165"/>
                </a:lnTo>
                <a:lnTo>
                  <a:pt x="870762" y="243281"/>
                </a:lnTo>
                <a:lnTo>
                  <a:pt x="897267" y="278003"/>
                </a:lnTo>
                <a:lnTo>
                  <a:pt x="931989" y="304507"/>
                </a:lnTo>
                <a:lnTo>
                  <a:pt x="971105" y="320408"/>
                </a:lnTo>
                <a:lnTo>
                  <a:pt x="1012418" y="325704"/>
                </a:lnTo>
                <a:lnTo>
                  <a:pt x="1053731" y="320408"/>
                </a:lnTo>
                <a:lnTo>
                  <a:pt x="1092847" y="304507"/>
                </a:lnTo>
                <a:lnTo>
                  <a:pt x="1127582" y="278003"/>
                </a:lnTo>
                <a:lnTo>
                  <a:pt x="1154074" y="243281"/>
                </a:lnTo>
                <a:lnTo>
                  <a:pt x="1169974" y="204165"/>
                </a:lnTo>
                <a:lnTo>
                  <a:pt x="1175283" y="162852"/>
                </a:lnTo>
                <a:close/>
              </a:path>
              <a:path w="4393565" h="5186680">
                <a:moveTo>
                  <a:pt x="1217168" y="5023459"/>
                </a:moveTo>
                <a:lnTo>
                  <a:pt x="1211859" y="4982146"/>
                </a:lnTo>
                <a:lnTo>
                  <a:pt x="1195959" y="4943018"/>
                </a:lnTo>
                <a:lnTo>
                  <a:pt x="1169466" y="4908296"/>
                </a:lnTo>
                <a:lnTo>
                  <a:pt x="1134732" y="4881791"/>
                </a:lnTo>
                <a:lnTo>
                  <a:pt x="1095616" y="4865890"/>
                </a:lnTo>
                <a:lnTo>
                  <a:pt x="1086993" y="4864798"/>
                </a:lnTo>
                <a:lnTo>
                  <a:pt x="1092847" y="4862411"/>
                </a:lnTo>
                <a:lnTo>
                  <a:pt x="1127582" y="4835918"/>
                </a:lnTo>
                <a:lnTo>
                  <a:pt x="1154074" y="4801197"/>
                </a:lnTo>
                <a:lnTo>
                  <a:pt x="1169974" y="4762081"/>
                </a:lnTo>
                <a:lnTo>
                  <a:pt x="1175283" y="4720768"/>
                </a:lnTo>
                <a:lnTo>
                  <a:pt x="1169974" y="4679454"/>
                </a:lnTo>
                <a:lnTo>
                  <a:pt x="1154074" y="4640326"/>
                </a:lnTo>
                <a:lnTo>
                  <a:pt x="1127582" y="4605604"/>
                </a:lnTo>
                <a:lnTo>
                  <a:pt x="1092847" y="4579099"/>
                </a:lnTo>
                <a:lnTo>
                  <a:pt x="1053731" y="4563199"/>
                </a:lnTo>
                <a:lnTo>
                  <a:pt x="1012418" y="4557903"/>
                </a:lnTo>
                <a:lnTo>
                  <a:pt x="971105" y="4563199"/>
                </a:lnTo>
                <a:lnTo>
                  <a:pt x="931989" y="4579099"/>
                </a:lnTo>
                <a:lnTo>
                  <a:pt x="897267" y="4605604"/>
                </a:lnTo>
                <a:lnTo>
                  <a:pt x="870762" y="4640326"/>
                </a:lnTo>
                <a:lnTo>
                  <a:pt x="854862" y="4679454"/>
                </a:lnTo>
                <a:lnTo>
                  <a:pt x="849566" y="4720768"/>
                </a:lnTo>
                <a:lnTo>
                  <a:pt x="854862" y="4762081"/>
                </a:lnTo>
                <a:lnTo>
                  <a:pt x="870762" y="4801197"/>
                </a:lnTo>
                <a:lnTo>
                  <a:pt x="897267" y="4835918"/>
                </a:lnTo>
                <a:lnTo>
                  <a:pt x="931989" y="4862411"/>
                </a:lnTo>
                <a:lnTo>
                  <a:pt x="971105" y="4878311"/>
                </a:lnTo>
                <a:lnTo>
                  <a:pt x="979716" y="4879416"/>
                </a:lnTo>
                <a:lnTo>
                  <a:pt x="973874" y="4881791"/>
                </a:lnTo>
                <a:lnTo>
                  <a:pt x="939139" y="4908296"/>
                </a:lnTo>
                <a:lnTo>
                  <a:pt x="912647" y="4943018"/>
                </a:lnTo>
                <a:lnTo>
                  <a:pt x="896747" y="4982146"/>
                </a:lnTo>
                <a:lnTo>
                  <a:pt x="891451" y="5023459"/>
                </a:lnTo>
                <a:lnTo>
                  <a:pt x="896747" y="5064772"/>
                </a:lnTo>
                <a:lnTo>
                  <a:pt x="912647" y="5103888"/>
                </a:lnTo>
                <a:lnTo>
                  <a:pt x="939139" y="5138610"/>
                </a:lnTo>
                <a:lnTo>
                  <a:pt x="973874" y="5165115"/>
                </a:lnTo>
                <a:lnTo>
                  <a:pt x="1012990" y="5181003"/>
                </a:lnTo>
                <a:lnTo>
                  <a:pt x="1054303" y="5186311"/>
                </a:lnTo>
                <a:lnTo>
                  <a:pt x="1095616" y="5181003"/>
                </a:lnTo>
                <a:lnTo>
                  <a:pt x="1134732" y="5165115"/>
                </a:lnTo>
                <a:lnTo>
                  <a:pt x="1169466" y="5138610"/>
                </a:lnTo>
                <a:lnTo>
                  <a:pt x="1195959" y="5103888"/>
                </a:lnTo>
                <a:lnTo>
                  <a:pt x="1211859" y="5064772"/>
                </a:lnTo>
                <a:lnTo>
                  <a:pt x="1217168" y="5023459"/>
                </a:lnTo>
                <a:close/>
              </a:path>
              <a:path w="4393565" h="5186680">
                <a:moveTo>
                  <a:pt x="1217168" y="544487"/>
                </a:moveTo>
                <a:lnTo>
                  <a:pt x="1211859" y="503161"/>
                </a:lnTo>
                <a:lnTo>
                  <a:pt x="1195959" y="464045"/>
                </a:lnTo>
                <a:lnTo>
                  <a:pt x="1169466" y="429323"/>
                </a:lnTo>
                <a:lnTo>
                  <a:pt x="1134732" y="402818"/>
                </a:lnTo>
                <a:lnTo>
                  <a:pt x="1095616" y="386918"/>
                </a:lnTo>
                <a:lnTo>
                  <a:pt x="1054303" y="381622"/>
                </a:lnTo>
                <a:lnTo>
                  <a:pt x="1012990" y="386918"/>
                </a:lnTo>
                <a:lnTo>
                  <a:pt x="973874" y="402818"/>
                </a:lnTo>
                <a:lnTo>
                  <a:pt x="939139" y="429323"/>
                </a:lnTo>
                <a:lnTo>
                  <a:pt x="912647" y="464045"/>
                </a:lnTo>
                <a:lnTo>
                  <a:pt x="896747" y="503161"/>
                </a:lnTo>
                <a:lnTo>
                  <a:pt x="891451" y="544487"/>
                </a:lnTo>
                <a:lnTo>
                  <a:pt x="896747" y="585800"/>
                </a:lnTo>
                <a:lnTo>
                  <a:pt x="912647" y="624916"/>
                </a:lnTo>
                <a:lnTo>
                  <a:pt x="939139" y="659638"/>
                </a:lnTo>
                <a:lnTo>
                  <a:pt x="973874" y="686142"/>
                </a:lnTo>
                <a:lnTo>
                  <a:pt x="1012990" y="702043"/>
                </a:lnTo>
                <a:lnTo>
                  <a:pt x="1054303" y="707339"/>
                </a:lnTo>
                <a:lnTo>
                  <a:pt x="1095616" y="702043"/>
                </a:lnTo>
                <a:lnTo>
                  <a:pt x="1134732" y="686142"/>
                </a:lnTo>
                <a:lnTo>
                  <a:pt x="1169466" y="659638"/>
                </a:lnTo>
                <a:lnTo>
                  <a:pt x="1195959" y="624916"/>
                </a:lnTo>
                <a:lnTo>
                  <a:pt x="1211859" y="585800"/>
                </a:lnTo>
                <a:lnTo>
                  <a:pt x="1217168" y="544487"/>
                </a:lnTo>
                <a:close/>
              </a:path>
              <a:path w="4393565" h="5186680">
                <a:moveTo>
                  <a:pt x="3575621" y="2597683"/>
                </a:moveTo>
                <a:lnTo>
                  <a:pt x="3570325" y="2556370"/>
                </a:lnTo>
                <a:lnTo>
                  <a:pt x="3554425" y="2517254"/>
                </a:lnTo>
                <a:lnTo>
                  <a:pt x="3527920" y="2482532"/>
                </a:lnTo>
                <a:lnTo>
                  <a:pt x="3493198" y="2456027"/>
                </a:lnTo>
                <a:lnTo>
                  <a:pt x="3454082" y="2440127"/>
                </a:lnTo>
                <a:lnTo>
                  <a:pt x="3412769" y="2434831"/>
                </a:lnTo>
                <a:lnTo>
                  <a:pt x="3371456" y="2440127"/>
                </a:lnTo>
                <a:lnTo>
                  <a:pt x="3332340" y="2456027"/>
                </a:lnTo>
                <a:lnTo>
                  <a:pt x="3297618" y="2482532"/>
                </a:lnTo>
                <a:lnTo>
                  <a:pt x="3271113" y="2517254"/>
                </a:lnTo>
                <a:lnTo>
                  <a:pt x="3255213" y="2556370"/>
                </a:lnTo>
                <a:lnTo>
                  <a:pt x="3249917" y="2597683"/>
                </a:lnTo>
                <a:lnTo>
                  <a:pt x="3255213" y="2638996"/>
                </a:lnTo>
                <a:lnTo>
                  <a:pt x="3271113" y="2678112"/>
                </a:lnTo>
                <a:lnTo>
                  <a:pt x="3297618" y="2712834"/>
                </a:lnTo>
                <a:lnTo>
                  <a:pt x="3332340" y="2739339"/>
                </a:lnTo>
                <a:lnTo>
                  <a:pt x="3371456" y="2755239"/>
                </a:lnTo>
                <a:lnTo>
                  <a:pt x="3412769" y="2760535"/>
                </a:lnTo>
                <a:lnTo>
                  <a:pt x="3454082" y="2755239"/>
                </a:lnTo>
                <a:lnTo>
                  <a:pt x="3493198" y="2739339"/>
                </a:lnTo>
                <a:lnTo>
                  <a:pt x="3527920" y="2712834"/>
                </a:lnTo>
                <a:lnTo>
                  <a:pt x="3554425" y="2678112"/>
                </a:lnTo>
                <a:lnTo>
                  <a:pt x="3570325" y="2638996"/>
                </a:lnTo>
                <a:lnTo>
                  <a:pt x="3575621" y="2597683"/>
                </a:lnTo>
                <a:close/>
              </a:path>
              <a:path w="4393565" h="5186680">
                <a:moveTo>
                  <a:pt x="3855135" y="2257031"/>
                </a:moveTo>
                <a:lnTo>
                  <a:pt x="3849840" y="2215718"/>
                </a:lnTo>
                <a:lnTo>
                  <a:pt x="3833939" y="2176589"/>
                </a:lnTo>
                <a:lnTo>
                  <a:pt x="3807434" y="2141867"/>
                </a:lnTo>
                <a:lnTo>
                  <a:pt x="3772712" y="2115375"/>
                </a:lnTo>
                <a:lnTo>
                  <a:pt x="3733584" y="2099475"/>
                </a:lnTo>
                <a:lnTo>
                  <a:pt x="3692271" y="2094179"/>
                </a:lnTo>
                <a:lnTo>
                  <a:pt x="3650958" y="2099475"/>
                </a:lnTo>
                <a:lnTo>
                  <a:pt x="3611842" y="2115375"/>
                </a:lnTo>
                <a:lnTo>
                  <a:pt x="3577120" y="2141867"/>
                </a:lnTo>
                <a:lnTo>
                  <a:pt x="3550615" y="2176589"/>
                </a:lnTo>
                <a:lnTo>
                  <a:pt x="3534714" y="2215718"/>
                </a:lnTo>
                <a:lnTo>
                  <a:pt x="3529419" y="2257031"/>
                </a:lnTo>
                <a:lnTo>
                  <a:pt x="3534714" y="2298344"/>
                </a:lnTo>
                <a:lnTo>
                  <a:pt x="3550615" y="2337460"/>
                </a:lnTo>
                <a:lnTo>
                  <a:pt x="3577120" y="2372182"/>
                </a:lnTo>
                <a:lnTo>
                  <a:pt x="3611842" y="2398687"/>
                </a:lnTo>
                <a:lnTo>
                  <a:pt x="3650958" y="2414587"/>
                </a:lnTo>
                <a:lnTo>
                  <a:pt x="3692271" y="2419883"/>
                </a:lnTo>
                <a:lnTo>
                  <a:pt x="3733584" y="2414587"/>
                </a:lnTo>
                <a:lnTo>
                  <a:pt x="3772712" y="2398687"/>
                </a:lnTo>
                <a:lnTo>
                  <a:pt x="3807434" y="2372182"/>
                </a:lnTo>
                <a:lnTo>
                  <a:pt x="3833939" y="2337460"/>
                </a:lnTo>
                <a:lnTo>
                  <a:pt x="3849840" y="2298344"/>
                </a:lnTo>
                <a:lnTo>
                  <a:pt x="3855135" y="2257031"/>
                </a:lnTo>
                <a:close/>
              </a:path>
              <a:path w="4393565" h="5186680">
                <a:moveTo>
                  <a:pt x="3868813" y="2932747"/>
                </a:moveTo>
                <a:lnTo>
                  <a:pt x="3863505" y="2891434"/>
                </a:lnTo>
                <a:lnTo>
                  <a:pt x="3847604" y="2852318"/>
                </a:lnTo>
                <a:lnTo>
                  <a:pt x="3821112" y="2817596"/>
                </a:lnTo>
                <a:lnTo>
                  <a:pt x="3786378" y="2791091"/>
                </a:lnTo>
                <a:lnTo>
                  <a:pt x="3747262" y="2775191"/>
                </a:lnTo>
                <a:lnTo>
                  <a:pt x="3705961" y="2769895"/>
                </a:lnTo>
                <a:lnTo>
                  <a:pt x="3664648" y="2775191"/>
                </a:lnTo>
                <a:lnTo>
                  <a:pt x="3625532" y="2791091"/>
                </a:lnTo>
                <a:lnTo>
                  <a:pt x="3590798" y="2817596"/>
                </a:lnTo>
                <a:lnTo>
                  <a:pt x="3564305" y="2852318"/>
                </a:lnTo>
                <a:lnTo>
                  <a:pt x="3548405" y="2891434"/>
                </a:lnTo>
                <a:lnTo>
                  <a:pt x="3543096" y="2932747"/>
                </a:lnTo>
                <a:lnTo>
                  <a:pt x="3548405" y="2974060"/>
                </a:lnTo>
                <a:lnTo>
                  <a:pt x="3564305" y="3013176"/>
                </a:lnTo>
                <a:lnTo>
                  <a:pt x="3590798" y="3047898"/>
                </a:lnTo>
                <a:lnTo>
                  <a:pt x="3625532" y="3074403"/>
                </a:lnTo>
                <a:lnTo>
                  <a:pt x="3664648" y="3090303"/>
                </a:lnTo>
                <a:lnTo>
                  <a:pt x="3705961" y="3095599"/>
                </a:lnTo>
                <a:lnTo>
                  <a:pt x="3747262" y="3090303"/>
                </a:lnTo>
                <a:lnTo>
                  <a:pt x="3786378" y="3074403"/>
                </a:lnTo>
                <a:lnTo>
                  <a:pt x="3821112" y="3047898"/>
                </a:lnTo>
                <a:lnTo>
                  <a:pt x="3847604" y="3013176"/>
                </a:lnTo>
                <a:lnTo>
                  <a:pt x="3863505" y="2974060"/>
                </a:lnTo>
                <a:lnTo>
                  <a:pt x="3868813" y="2932747"/>
                </a:lnTo>
                <a:close/>
              </a:path>
              <a:path w="4393565" h="5186680">
                <a:moveTo>
                  <a:pt x="4393209" y="3178479"/>
                </a:moveTo>
                <a:lnTo>
                  <a:pt x="4387913" y="3137166"/>
                </a:lnTo>
                <a:lnTo>
                  <a:pt x="4372013" y="3098038"/>
                </a:lnTo>
                <a:lnTo>
                  <a:pt x="4345521" y="3063316"/>
                </a:lnTo>
                <a:lnTo>
                  <a:pt x="4310799" y="3036811"/>
                </a:lnTo>
                <a:lnTo>
                  <a:pt x="4271683" y="3020911"/>
                </a:lnTo>
                <a:lnTo>
                  <a:pt x="4230370" y="3015615"/>
                </a:lnTo>
                <a:lnTo>
                  <a:pt x="4189057" y="3020911"/>
                </a:lnTo>
                <a:lnTo>
                  <a:pt x="4149928" y="3036811"/>
                </a:lnTo>
                <a:lnTo>
                  <a:pt x="4115206" y="3063316"/>
                </a:lnTo>
                <a:lnTo>
                  <a:pt x="4088701" y="3098038"/>
                </a:lnTo>
                <a:lnTo>
                  <a:pt x="4072801" y="3137166"/>
                </a:lnTo>
                <a:lnTo>
                  <a:pt x="4067505" y="3178479"/>
                </a:lnTo>
                <a:lnTo>
                  <a:pt x="4072801" y="3219793"/>
                </a:lnTo>
                <a:lnTo>
                  <a:pt x="4088701" y="3258909"/>
                </a:lnTo>
                <a:lnTo>
                  <a:pt x="4115206" y="3293630"/>
                </a:lnTo>
                <a:lnTo>
                  <a:pt x="4149928" y="3320123"/>
                </a:lnTo>
                <a:lnTo>
                  <a:pt x="4189057" y="3336023"/>
                </a:lnTo>
                <a:lnTo>
                  <a:pt x="4230370" y="3341319"/>
                </a:lnTo>
                <a:lnTo>
                  <a:pt x="4271683" y="3336023"/>
                </a:lnTo>
                <a:lnTo>
                  <a:pt x="4310799" y="3320123"/>
                </a:lnTo>
                <a:lnTo>
                  <a:pt x="4345521" y="3293630"/>
                </a:lnTo>
                <a:lnTo>
                  <a:pt x="4372013" y="3258909"/>
                </a:lnTo>
                <a:lnTo>
                  <a:pt x="4387913" y="3219793"/>
                </a:lnTo>
                <a:lnTo>
                  <a:pt x="4393209" y="3178479"/>
                </a:lnTo>
                <a:close/>
              </a:path>
              <a:path w="4393565" h="5186680">
                <a:moveTo>
                  <a:pt x="4393209" y="1994966"/>
                </a:moveTo>
                <a:lnTo>
                  <a:pt x="4387913" y="1953641"/>
                </a:lnTo>
                <a:lnTo>
                  <a:pt x="4372013" y="1914525"/>
                </a:lnTo>
                <a:lnTo>
                  <a:pt x="4345521" y="1879803"/>
                </a:lnTo>
                <a:lnTo>
                  <a:pt x="4310799" y="1853298"/>
                </a:lnTo>
                <a:lnTo>
                  <a:pt x="4271683" y="1837397"/>
                </a:lnTo>
                <a:lnTo>
                  <a:pt x="4230370" y="1832102"/>
                </a:lnTo>
                <a:lnTo>
                  <a:pt x="4189057" y="1837397"/>
                </a:lnTo>
                <a:lnTo>
                  <a:pt x="4149928" y="1853298"/>
                </a:lnTo>
                <a:lnTo>
                  <a:pt x="4115206" y="1879803"/>
                </a:lnTo>
                <a:lnTo>
                  <a:pt x="4088701" y="1914525"/>
                </a:lnTo>
                <a:lnTo>
                  <a:pt x="4072801" y="1953641"/>
                </a:lnTo>
                <a:lnTo>
                  <a:pt x="4067505" y="1994966"/>
                </a:lnTo>
                <a:lnTo>
                  <a:pt x="4072801" y="2036279"/>
                </a:lnTo>
                <a:lnTo>
                  <a:pt x="4088701" y="2075395"/>
                </a:lnTo>
                <a:lnTo>
                  <a:pt x="4115206" y="2110117"/>
                </a:lnTo>
                <a:lnTo>
                  <a:pt x="4149928" y="2136622"/>
                </a:lnTo>
                <a:lnTo>
                  <a:pt x="4189057" y="2152523"/>
                </a:lnTo>
                <a:lnTo>
                  <a:pt x="4230370" y="2157819"/>
                </a:lnTo>
                <a:lnTo>
                  <a:pt x="4271683" y="2152523"/>
                </a:lnTo>
                <a:lnTo>
                  <a:pt x="4310799" y="2136622"/>
                </a:lnTo>
                <a:lnTo>
                  <a:pt x="4345521" y="2110117"/>
                </a:lnTo>
                <a:lnTo>
                  <a:pt x="4372013" y="2075395"/>
                </a:lnTo>
                <a:lnTo>
                  <a:pt x="4387913" y="2036279"/>
                </a:lnTo>
                <a:lnTo>
                  <a:pt x="4393209" y="1994966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4" y="525981"/>
            <a:ext cx="4407865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1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8" name="object 8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883756" y="1273775"/>
            <a:ext cx="1951837" cy="2409037"/>
            <a:chOff x="4141648" y="2172679"/>
            <a:chExt cx="4291330" cy="5296535"/>
          </a:xfrm>
        </p:grpSpPr>
        <p:sp>
          <p:nvSpPr>
            <p:cNvPr id="25" name="object 25"/>
            <p:cNvSpPr/>
            <p:nvPr/>
          </p:nvSpPr>
          <p:spPr>
            <a:xfrm>
              <a:off x="4141648" y="6975615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15" y="0"/>
                  </a:moveTo>
                  <a:lnTo>
                    <a:pt x="253242" y="0"/>
                  </a:lnTo>
                  <a:lnTo>
                    <a:pt x="206424" y="7163"/>
                  </a:lnTo>
                  <a:lnTo>
                    <a:pt x="161271" y="21490"/>
                  </a:lnTo>
                  <a:lnTo>
                    <a:pt x="118893" y="42981"/>
                  </a:lnTo>
                  <a:lnTo>
                    <a:pt x="80400" y="71636"/>
                  </a:lnTo>
                  <a:lnTo>
                    <a:pt x="48240" y="105930"/>
                  </a:lnTo>
                  <a:lnTo>
                    <a:pt x="24120" y="143685"/>
                  </a:lnTo>
                  <a:lnTo>
                    <a:pt x="8040" y="183914"/>
                  </a:lnTo>
                  <a:lnTo>
                    <a:pt x="0" y="225626"/>
                  </a:lnTo>
                  <a:lnTo>
                    <a:pt x="0" y="267834"/>
                  </a:lnTo>
                  <a:lnTo>
                    <a:pt x="8040" y="309546"/>
                  </a:lnTo>
                  <a:lnTo>
                    <a:pt x="24120" y="349775"/>
                  </a:lnTo>
                  <a:lnTo>
                    <a:pt x="48240" y="387531"/>
                  </a:lnTo>
                  <a:lnTo>
                    <a:pt x="80400" y="421824"/>
                  </a:lnTo>
                  <a:lnTo>
                    <a:pt x="118893" y="450476"/>
                  </a:lnTo>
                  <a:lnTo>
                    <a:pt x="161271" y="471964"/>
                  </a:lnTo>
                  <a:lnTo>
                    <a:pt x="206424" y="486290"/>
                  </a:lnTo>
                  <a:lnTo>
                    <a:pt x="253242" y="493453"/>
                  </a:lnTo>
                  <a:lnTo>
                    <a:pt x="300615" y="493453"/>
                  </a:lnTo>
                  <a:lnTo>
                    <a:pt x="347433" y="486290"/>
                  </a:lnTo>
                  <a:lnTo>
                    <a:pt x="392586" y="471964"/>
                  </a:lnTo>
                  <a:lnTo>
                    <a:pt x="434964" y="450476"/>
                  </a:lnTo>
                  <a:lnTo>
                    <a:pt x="473456" y="421824"/>
                  </a:lnTo>
                  <a:lnTo>
                    <a:pt x="505617" y="387531"/>
                  </a:lnTo>
                  <a:lnTo>
                    <a:pt x="529737" y="349775"/>
                  </a:lnTo>
                  <a:lnTo>
                    <a:pt x="545817" y="309546"/>
                  </a:lnTo>
                  <a:lnTo>
                    <a:pt x="553857" y="267834"/>
                  </a:lnTo>
                  <a:lnTo>
                    <a:pt x="553857" y="225626"/>
                  </a:lnTo>
                  <a:lnTo>
                    <a:pt x="545817" y="183914"/>
                  </a:lnTo>
                  <a:lnTo>
                    <a:pt x="529737" y="143685"/>
                  </a:lnTo>
                  <a:lnTo>
                    <a:pt x="505617" y="105930"/>
                  </a:lnTo>
                  <a:lnTo>
                    <a:pt x="473456" y="71636"/>
                  </a:lnTo>
                  <a:lnTo>
                    <a:pt x="434964" y="42981"/>
                  </a:lnTo>
                  <a:lnTo>
                    <a:pt x="392586" y="21490"/>
                  </a:lnTo>
                  <a:lnTo>
                    <a:pt x="347433" y="7163"/>
                  </a:lnTo>
                  <a:lnTo>
                    <a:pt x="300615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878584" y="2172679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30">
                  <a:moveTo>
                    <a:pt x="300623" y="0"/>
                  </a:moveTo>
                  <a:lnTo>
                    <a:pt x="253250" y="0"/>
                  </a:lnTo>
                  <a:lnTo>
                    <a:pt x="206432" y="7162"/>
                  </a:lnTo>
                  <a:lnTo>
                    <a:pt x="161279" y="21488"/>
                  </a:lnTo>
                  <a:lnTo>
                    <a:pt x="118901" y="42977"/>
                  </a:lnTo>
                  <a:lnTo>
                    <a:pt x="80408" y="71628"/>
                  </a:lnTo>
                  <a:lnTo>
                    <a:pt x="48245" y="105925"/>
                  </a:lnTo>
                  <a:lnTo>
                    <a:pt x="24122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2" y="349773"/>
                  </a:lnTo>
                  <a:lnTo>
                    <a:pt x="48245" y="387530"/>
                  </a:lnTo>
                  <a:lnTo>
                    <a:pt x="80408" y="421827"/>
                  </a:lnTo>
                  <a:lnTo>
                    <a:pt x="118901" y="450478"/>
                  </a:lnTo>
                  <a:lnTo>
                    <a:pt x="161279" y="471967"/>
                  </a:lnTo>
                  <a:lnTo>
                    <a:pt x="206432" y="486293"/>
                  </a:lnTo>
                  <a:lnTo>
                    <a:pt x="253250" y="493455"/>
                  </a:lnTo>
                  <a:lnTo>
                    <a:pt x="300623" y="493455"/>
                  </a:lnTo>
                  <a:lnTo>
                    <a:pt x="347441" y="486293"/>
                  </a:lnTo>
                  <a:lnTo>
                    <a:pt x="392593" y="471967"/>
                  </a:lnTo>
                  <a:lnTo>
                    <a:pt x="434971" y="450478"/>
                  </a:lnTo>
                  <a:lnTo>
                    <a:pt x="473464" y="421827"/>
                  </a:lnTo>
                  <a:lnTo>
                    <a:pt x="505625" y="387530"/>
                  </a:lnTo>
                  <a:lnTo>
                    <a:pt x="529745" y="349773"/>
                  </a:lnTo>
                  <a:lnTo>
                    <a:pt x="545825" y="309544"/>
                  </a:lnTo>
                  <a:lnTo>
                    <a:pt x="553865" y="267831"/>
                  </a:lnTo>
                  <a:lnTo>
                    <a:pt x="553865" y="225624"/>
                  </a:lnTo>
                  <a:lnTo>
                    <a:pt x="545825" y="183911"/>
                  </a:lnTo>
                  <a:lnTo>
                    <a:pt x="529745" y="143682"/>
                  </a:lnTo>
                  <a:lnTo>
                    <a:pt x="505625" y="105925"/>
                  </a:lnTo>
                  <a:lnTo>
                    <a:pt x="473464" y="71628"/>
                  </a:lnTo>
                  <a:lnTo>
                    <a:pt x="434971" y="42977"/>
                  </a:lnTo>
                  <a:lnTo>
                    <a:pt x="392593" y="21488"/>
                  </a:lnTo>
                  <a:lnTo>
                    <a:pt x="347441" y="7162"/>
                  </a:lnTo>
                  <a:lnTo>
                    <a:pt x="300623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1" name="object 31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48701" y="3979437"/>
            <a:ext cx="279807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139890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635523" y="2394376"/>
            <a:ext cx="173580" cy="164627"/>
          </a:xfrm>
          <a:custGeom>
            <a:avLst/>
            <a:gdLst/>
            <a:ahLst/>
            <a:cxnLst/>
            <a:rect l="l" t="t" r="r" b="b"/>
            <a:pathLst>
              <a:path w="381634" h="361950">
                <a:moveTo>
                  <a:pt x="381254" y="198577"/>
                </a:moveTo>
                <a:lnTo>
                  <a:pt x="375945" y="157264"/>
                </a:lnTo>
                <a:lnTo>
                  <a:pt x="360045" y="118148"/>
                </a:lnTo>
                <a:lnTo>
                  <a:pt x="333552" y="83413"/>
                </a:lnTo>
                <a:lnTo>
                  <a:pt x="298818" y="56921"/>
                </a:lnTo>
                <a:lnTo>
                  <a:pt x="278841" y="48806"/>
                </a:lnTo>
                <a:lnTo>
                  <a:pt x="278003" y="47701"/>
                </a:lnTo>
                <a:lnTo>
                  <a:pt x="243281" y="21196"/>
                </a:lnTo>
                <a:lnTo>
                  <a:pt x="204152" y="5295"/>
                </a:lnTo>
                <a:lnTo>
                  <a:pt x="162839" y="0"/>
                </a:lnTo>
                <a:lnTo>
                  <a:pt x="121539" y="5295"/>
                </a:lnTo>
                <a:lnTo>
                  <a:pt x="82423" y="21196"/>
                </a:lnTo>
                <a:lnTo>
                  <a:pt x="47701" y="47701"/>
                </a:lnTo>
                <a:lnTo>
                  <a:pt x="21196" y="82423"/>
                </a:lnTo>
                <a:lnTo>
                  <a:pt x="5295" y="121551"/>
                </a:lnTo>
                <a:lnTo>
                  <a:pt x="0" y="162864"/>
                </a:lnTo>
                <a:lnTo>
                  <a:pt x="5295" y="204177"/>
                </a:lnTo>
                <a:lnTo>
                  <a:pt x="21196" y="243293"/>
                </a:lnTo>
                <a:lnTo>
                  <a:pt x="47701" y="278015"/>
                </a:lnTo>
                <a:lnTo>
                  <a:pt x="82423" y="304507"/>
                </a:lnTo>
                <a:lnTo>
                  <a:pt x="102387" y="312635"/>
                </a:lnTo>
                <a:lnTo>
                  <a:pt x="103238" y="313728"/>
                </a:lnTo>
                <a:lnTo>
                  <a:pt x="137960" y="340233"/>
                </a:lnTo>
                <a:lnTo>
                  <a:pt x="177076" y="356133"/>
                </a:lnTo>
                <a:lnTo>
                  <a:pt x="218389" y="361429"/>
                </a:lnTo>
                <a:lnTo>
                  <a:pt x="259702" y="356133"/>
                </a:lnTo>
                <a:lnTo>
                  <a:pt x="298818" y="340233"/>
                </a:lnTo>
                <a:lnTo>
                  <a:pt x="333552" y="313728"/>
                </a:lnTo>
                <a:lnTo>
                  <a:pt x="360045" y="279006"/>
                </a:lnTo>
                <a:lnTo>
                  <a:pt x="375945" y="239890"/>
                </a:lnTo>
                <a:lnTo>
                  <a:pt x="381254" y="198577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31589" y="1301856"/>
            <a:ext cx="169537" cy="155384"/>
          </a:xfrm>
          <a:custGeom>
            <a:avLst/>
            <a:gdLst/>
            <a:ahLst/>
            <a:cxnLst/>
            <a:rect l="l" t="t" r="r" b="b"/>
            <a:pathLst>
              <a:path w="372745" h="341630">
                <a:moveTo>
                  <a:pt x="372630" y="178536"/>
                </a:moveTo>
                <a:lnTo>
                  <a:pt x="367334" y="137223"/>
                </a:lnTo>
                <a:lnTo>
                  <a:pt x="351434" y="98107"/>
                </a:lnTo>
                <a:lnTo>
                  <a:pt x="324929" y="63385"/>
                </a:lnTo>
                <a:lnTo>
                  <a:pt x="290207" y="36880"/>
                </a:lnTo>
                <a:lnTo>
                  <a:pt x="251091" y="20980"/>
                </a:lnTo>
                <a:lnTo>
                  <a:pt x="238861" y="19418"/>
                </a:lnTo>
                <a:lnTo>
                  <a:pt x="204165" y="5308"/>
                </a:lnTo>
                <a:lnTo>
                  <a:pt x="162852" y="0"/>
                </a:lnTo>
                <a:lnTo>
                  <a:pt x="121539" y="5308"/>
                </a:lnTo>
                <a:lnTo>
                  <a:pt x="82423" y="21209"/>
                </a:lnTo>
                <a:lnTo>
                  <a:pt x="47701" y="47701"/>
                </a:lnTo>
                <a:lnTo>
                  <a:pt x="21196" y="82435"/>
                </a:lnTo>
                <a:lnTo>
                  <a:pt x="5295" y="121551"/>
                </a:lnTo>
                <a:lnTo>
                  <a:pt x="0" y="162864"/>
                </a:lnTo>
                <a:lnTo>
                  <a:pt x="5295" y="204177"/>
                </a:lnTo>
                <a:lnTo>
                  <a:pt x="21196" y="243293"/>
                </a:lnTo>
                <a:lnTo>
                  <a:pt x="47701" y="278028"/>
                </a:lnTo>
                <a:lnTo>
                  <a:pt x="82423" y="304520"/>
                </a:lnTo>
                <a:lnTo>
                  <a:pt x="121539" y="320421"/>
                </a:lnTo>
                <a:lnTo>
                  <a:pt x="133731" y="321995"/>
                </a:lnTo>
                <a:lnTo>
                  <a:pt x="168465" y="336092"/>
                </a:lnTo>
                <a:lnTo>
                  <a:pt x="209778" y="341401"/>
                </a:lnTo>
                <a:lnTo>
                  <a:pt x="251091" y="336092"/>
                </a:lnTo>
                <a:lnTo>
                  <a:pt x="290207" y="320205"/>
                </a:lnTo>
                <a:lnTo>
                  <a:pt x="324929" y="293700"/>
                </a:lnTo>
                <a:lnTo>
                  <a:pt x="351434" y="258965"/>
                </a:lnTo>
                <a:lnTo>
                  <a:pt x="367334" y="219849"/>
                </a:lnTo>
                <a:lnTo>
                  <a:pt x="372630" y="178536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964686" y="1309395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3" y="0"/>
                </a:moveTo>
                <a:lnTo>
                  <a:pt x="121542" y="5300"/>
                </a:lnTo>
                <a:lnTo>
                  <a:pt x="82426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6" y="304513"/>
                </a:lnTo>
                <a:lnTo>
                  <a:pt x="121542" y="320410"/>
                </a:lnTo>
                <a:lnTo>
                  <a:pt x="162853" y="325709"/>
                </a:lnTo>
                <a:lnTo>
                  <a:pt x="204164" y="320410"/>
                </a:lnTo>
                <a:lnTo>
                  <a:pt x="243280" y="304513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0" y="21200"/>
                </a:lnTo>
                <a:lnTo>
                  <a:pt x="204164" y="5300"/>
                </a:lnTo>
                <a:lnTo>
                  <a:pt x="16285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58590" y="2385422"/>
            <a:ext cx="202173" cy="241164"/>
          </a:xfrm>
          <a:custGeom>
            <a:avLst/>
            <a:gdLst/>
            <a:ahLst/>
            <a:cxnLst/>
            <a:rect l="l" t="t" r="r" b="b"/>
            <a:pathLst>
              <a:path w="444500" h="530225">
                <a:moveTo>
                  <a:pt x="444246" y="366877"/>
                </a:moveTo>
                <a:lnTo>
                  <a:pt x="438950" y="325564"/>
                </a:lnTo>
                <a:lnTo>
                  <a:pt x="423049" y="286435"/>
                </a:lnTo>
                <a:lnTo>
                  <a:pt x="396557" y="251714"/>
                </a:lnTo>
                <a:lnTo>
                  <a:pt x="361823" y="225209"/>
                </a:lnTo>
                <a:lnTo>
                  <a:pt x="355473" y="222643"/>
                </a:lnTo>
                <a:lnTo>
                  <a:pt x="357314" y="208368"/>
                </a:lnTo>
                <a:lnTo>
                  <a:pt x="352005" y="167055"/>
                </a:lnTo>
                <a:lnTo>
                  <a:pt x="336105" y="127939"/>
                </a:lnTo>
                <a:lnTo>
                  <a:pt x="309613" y="93205"/>
                </a:lnTo>
                <a:lnTo>
                  <a:pt x="308559" y="92417"/>
                </a:lnTo>
                <a:lnTo>
                  <a:pt x="304507" y="82423"/>
                </a:lnTo>
                <a:lnTo>
                  <a:pt x="278015" y="47701"/>
                </a:lnTo>
                <a:lnTo>
                  <a:pt x="243293" y="21196"/>
                </a:lnTo>
                <a:lnTo>
                  <a:pt x="204177" y="5295"/>
                </a:lnTo>
                <a:lnTo>
                  <a:pt x="162864" y="0"/>
                </a:lnTo>
                <a:lnTo>
                  <a:pt x="121551" y="5295"/>
                </a:lnTo>
                <a:lnTo>
                  <a:pt x="82435" y="21196"/>
                </a:lnTo>
                <a:lnTo>
                  <a:pt x="47701" y="47701"/>
                </a:lnTo>
                <a:lnTo>
                  <a:pt x="21209" y="82423"/>
                </a:lnTo>
                <a:lnTo>
                  <a:pt x="5308" y="121539"/>
                </a:lnTo>
                <a:lnTo>
                  <a:pt x="0" y="162852"/>
                </a:lnTo>
                <a:lnTo>
                  <a:pt x="5308" y="204165"/>
                </a:lnTo>
                <a:lnTo>
                  <a:pt x="21209" y="243281"/>
                </a:lnTo>
                <a:lnTo>
                  <a:pt x="47701" y="278003"/>
                </a:lnTo>
                <a:lnTo>
                  <a:pt x="48717" y="278790"/>
                </a:lnTo>
                <a:lnTo>
                  <a:pt x="52793" y="288798"/>
                </a:lnTo>
                <a:lnTo>
                  <a:pt x="79298" y="323519"/>
                </a:lnTo>
                <a:lnTo>
                  <a:pt x="114020" y="350024"/>
                </a:lnTo>
                <a:lnTo>
                  <a:pt x="120357" y="352615"/>
                </a:lnTo>
                <a:lnTo>
                  <a:pt x="118529" y="366877"/>
                </a:lnTo>
                <a:lnTo>
                  <a:pt x="123837" y="408190"/>
                </a:lnTo>
                <a:lnTo>
                  <a:pt x="139738" y="447306"/>
                </a:lnTo>
                <a:lnTo>
                  <a:pt x="166230" y="482028"/>
                </a:lnTo>
                <a:lnTo>
                  <a:pt x="200964" y="508533"/>
                </a:lnTo>
                <a:lnTo>
                  <a:pt x="240080" y="524421"/>
                </a:lnTo>
                <a:lnTo>
                  <a:pt x="281393" y="529729"/>
                </a:lnTo>
                <a:lnTo>
                  <a:pt x="322707" y="524421"/>
                </a:lnTo>
                <a:lnTo>
                  <a:pt x="361823" y="508533"/>
                </a:lnTo>
                <a:lnTo>
                  <a:pt x="396557" y="482028"/>
                </a:lnTo>
                <a:lnTo>
                  <a:pt x="423049" y="447306"/>
                </a:lnTo>
                <a:lnTo>
                  <a:pt x="438950" y="408190"/>
                </a:lnTo>
                <a:lnTo>
                  <a:pt x="444246" y="366877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946241" y="350253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3" y="0"/>
                </a:moveTo>
                <a:lnTo>
                  <a:pt x="121542" y="5300"/>
                </a:lnTo>
                <a:lnTo>
                  <a:pt x="82426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6" y="304513"/>
                </a:lnTo>
                <a:lnTo>
                  <a:pt x="121542" y="320410"/>
                </a:lnTo>
                <a:lnTo>
                  <a:pt x="162853" y="325709"/>
                </a:lnTo>
                <a:lnTo>
                  <a:pt x="204164" y="320410"/>
                </a:lnTo>
                <a:lnTo>
                  <a:pt x="243280" y="304513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0" y="21200"/>
                </a:lnTo>
                <a:lnTo>
                  <a:pt x="204164" y="5300"/>
                </a:lnTo>
                <a:lnTo>
                  <a:pt x="16285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632918" y="3467892"/>
            <a:ext cx="149319" cy="166071"/>
          </a:xfrm>
          <a:custGeom>
            <a:avLst/>
            <a:gdLst/>
            <a:ahLst/>
            <a:cxnLst/>
            <a:rect l="l" t="t" r="r" b="b"/>
            <a:pathLst>
              <a:path w="328295" h="365125">
                <a:moveTo>
                  <a:pt x="328269" y="162852"/>
                </a:moveTo>
                <a:lnTo>
                  <a:pt x="322973" y="121539"/>
                </a:lnTo>
                <a:lnTo>
                  <a:pt x="307073" y="82423"/>
                </a:lnTo>
                <a:lnTo>
                  <a:pt x="280568" y="47701"/>
                </a:lnTo>
                <a:lnTo>
                  <a:pt x="245846" y="21196"/>
                </a:lnTo>
                <a:lnTo>
                  <a:pt x="206717" y="5295"/>
                </a:lnTo>
                <a:lnTo>
                  <a:pt x="165404" y="0"/>
                </a:lnTo>
                <a:lnTo>
                  <a:pt x="124091" y="5295"/>
                </a:lnTo>
                <a:lnTo>
                  <a:pt x="84975" y="21196"/>
                </a:lnTo>
                <a:lnTo>
                  <a:pt x="50253" y="47701"/>
                </a:lnTo>
                <a:lnTo>
                  <a:pt x="23749" y="82423"/>
                </a:lnTo>
                <a:lnTo>
                  <a:pt x="7848" y="121539"/>
                </a:lnTo>
                <a:lnTo>
                  <a:pt x="2552" y="162852"/>
                </a:lnTo>
                <a:lnTo>
                  <a:pt x="3784" y="172491"/>
                </a:lnTo>
                <a:lnTo>
                  <a:pt x="0" y="202018"/>
                </a:lnTo>
                <a:lnTo>
                  <a:pt x="5295" y="243332"/>
                </a:lnTo>
                <a:lnTo>
                  <a:pt x="21196" y="282448"/>
                </a:lnTo>
                <a:lnTo>
                  <a:pt x="47701" y="317182"/>
                </a:lnTo>
                <a:lnTo>
                  <a:pt x="82423" y="343674"/>
                </a:lnTo>
                <a:lnTo>
                  <a:pt x="121539" y="359575"/>
                </a:lnTo>
                <a:lnTo>
                  <a:pt x="162852" y="364871"/>
                </a:lnTo>
                <a:lnTo>
                  <a:pt x="204165" y="359575"/>
                </a:lnTo>
                <a:lnTo>
                  <a:pt x="243281" y="343674"/>
                </a:lnTo>
                <a:lnTo>
                  <a:pt x="278003" y="317182"/>
                </a:lnTo>
                <a:lnTo>
                  <a:pt x="304507" y="282448"/>
                </a:lnTo>
                <a:lnTo>
                  <a:pt x="320408" y="243332"/>
                </a:lnTo>
                <a:lnTo>
                  <a:pt x="325704" y="202018"/>
                </a:lnTo>
                <a:lnTo>
                  <a:pt x="324472" y="192443"/>
                </a:lnTo>
                <a:lnTo>
                  <a:pt x="328269" y="162852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4" y="525981"/>
            <a:ext cx="4421685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1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8" name="object 8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83756" y="1273777"/>
            <a:ext cx="1951837" cy="2409037"/>
          </a:xfrm>
          <a:custGeom>
            <a:avLst/>
            <a:gdLst/>
            <a:ahLst/>
            <a:cxnLst/>
            <a:rect l="l" t="t" r="r" b="b"/>
            <a:pathLst>
              <a:path w="4291330" h="5296534">
                <a:moveTo>
                  <a:pt x="553847" y="5028565"/>
                </a:moveTo>
                <a:lnTo>
                  <a:pt x="545807" y="4986845"/>
                </a:lnTo>
                <a:lnTo>
                  <a:pt x="529729" y="4946624"/>
                </a:lnTo>
                <a:lnTo>
                  <a:pt x="505612" y="4908867"/>
                </a:lnTo>
                <a:lnTo>
                  <a:pt x="473456" y="4874577"/>
                </a:lnTo>
                <a:lnTo>
                  <a:pt x="434962" y="4845913"/>
                </a:lnTo>
                <a:lnTo>
                  <a:pt x="392582" y="4824425"/>
                </a:lnTo>
                <a:lnTo>
                  <a:pt x="347433" y="4810099"/>
                </a:lnTo>
                <a:lnTo>
                  <a:pt x="300609" y="4802937"/>
                </a:lnTo>
                <a:lnTo>
                  <a:pt x="253238" y="4802937"/>
                </a:lnTo>
                <a:lnTo>
                  <a:pt x="206413" y="4810099"/>
                </a:lnTo>
                <a:lnTo>
                  <a:pt x="161264" y="4824425"/>
                </a:lnTo>
                <a:lnTo>
                  <a:pt x="118884" y="4845913"/>
                </a:lnTo>
                <a:lnTo>
                  <a:pt x="80391" y="4874577"/>
                </a:lnTo>
                <a:lnTo>
                  <a:pt x="48234" y="4908867"/>
                </a:lnTo>
                <a:lnTo>
                  <a:pt x="24117" y="4946624"/>
                </a:lnTo>
                <a:lnTo>
                  <a:pt x="8039" y="4986845"/>
                </a:lnTo>
                <a:lnTo>
                  <a:pt x="0" y="5028565"/>
                </a:lnTo>
                <a:lnTo>
                  <a:pt x="0" y="5070767"/>
                </a:lnTo>
                <a:lnTo>
                  <a:pt x="8039" y="5112486"/>
                </a:lnTo>
                <a:lnTo>
                  <a:pt x="24117" y="5152707"/>
                </a:lnTo>
                <a:lnTo>
                  <a:pt x="48234" y="5190464"/>
                </a:lnTo>
                <a:lnTo>
                  <a:pt x="80391" y="5224767"/>
                </a:lnTo>
                <a:lnTo>
                  <a:pt x="118884" y="5253418"/>
                </a:lnTo>
                <a:lnTo>
                  <a:pt x="161264" y="5274907"/>
                </a:lnTo>
                <a:lnTo>
                  <a:pt x="206413" y="5289232"/>
                </a:lnTo>
                <a:lnTo>
                  <a:pt x="253238" y="5296395"/>
                </a:lnTo>
                <a:lnTo>
                  <a:pt x="300609" y="5296395"/>
                </a:lnTo>
                <a:lnTo>
                  <a:pt x="347433" y="5289232"/>
                </a:lnTo>
                <a:lnTo>
                  <a:pt x="392582" y="5274907"/>
                </a:lnTo>
                <a:lnTo>
                  <a:pt x="434962" y="5253418"/>
                </a:lnTo>
                <a:lnTo>
                  <a:pt x="473456" y="5224767"/>
                </a:lnTo>
                <a:lnTo>
                  <a:pt x="505612" y="5190464"/>
                </a:lnTo>
                <a:lnTo>
                  <a:pt x="529729" y="5152707"/>
                </a:lnTo>
                <a:lnTo>
                  <a:pt x="545807" y="5112486"/>
                </a:lnTo>
                <a:lnTo>
                  <a:pt x="553847" y="5070767"/>
                </a:lnTo>
                <a:lnTo>
                  <a:pt x="553847" y="5028565"/>
                </a:lnTo>
                <a:close/>
              </a:path>
              <a:path w="4291330" h="5296534">
                <a:moveTo>
                  <a:pt x="4290796" y="225628"/>
                </a:moveTo>
                <a:lnTo>
                  <a:pt x="4282757" y="183908"/>
                </a:lnTo>
                <a:lnTo>
                  <a:pt x="4266679" y="143687"/>
                </a:lnTo>
                <a:lnTo>
                  <a:pt x="4242562" y="105930"/>
                </a:lnTo>
                <a:lnTo>
                  <a:pt x="4210393" y="71628"/>
                </a:lnTo>
                <a:lnTo>
                  <a:pt x="4171899" y="42976"/>
                </a:lnTo>
                <a:lnTo>
                  <a:pt x="4129519" y="21488"/>
                </a:lnTo>
                <a:lnTo>
                  <a:pt x="4084370" y="7162"/>
                </a:lnTo>
                <a:lnTo>
                  <a:pt x="4037558" y="0"/>
                </a:lnTo>
                <a:lnTo>
                  <a:pt x="3990175" y="0"/>
                </a:lnTo>
                <a:lnTo>
                  <a:pt x="3943362" y="7162"/>
                </a:lnTo>
                <a:lnTo>
                  <a:pt x="3898214" y="21488"/>
                </a:lnTo>
                <a:lnTo>
                  <a:pt x="3855834" y="42976"/>
                </a:lnTo>
                <a:lnTo>
                  <a:pt x="3817340" y="71628"/>
                </a:lnTo>
                <a:lnTo>
                  <a:pt x="3785171" y="105930"/>
                </a:lnTo>
                <a:lnTo>
                  <a:pt x="3761054" y="143687"/>
                </a:lnTo>
                <a:lnTo>
                  <a:pt x="3744976" y="183908"/>
                </a:lnTo>
                <a:lnTo>
                  <a:pt x="3736937" y="225628"/>
                </a:lnTo>
                <a:lnTo>
                  <a:pt x="3736937" y="267830"/>
                </a:lnTo>
                <a:lnTo>
                  <a:pt x="3744976" y="309549"/>
                </a:lnTo>
                <a:lnTo>
                  <a:pt x="3761054" y="349770"/>
                </a:lnTo>
                <a:lnTo>
                  <a:pt x="3785171" y="387527"/>
                </a:lnTo>
                <a:lnTo>
                  <a:pt x="3817340" y="421830"/>
                </a:lnTo>
                <a:lnTo>
                  <a:pt x="3855834" y="450481"/>
                </a:lnTo>
                <a:lnTo>
                  <a:pt x="3898214" y="471970"/>
                </a:lnTo>
                <a:lnTo>
                  <a:pt x="3943362" y="486295"/>
                </a:lnTo>
                <a:lnTo>
                  <a:pt x="3990175" y="493458"/>
                </a:lnTo>
                <a:lnTo>
                  <a:pt x="4037558" y="493458"/>
                </a:lnTo>
                <a:lnTo>
                  <a:pt x="4084370" y="486295"/>
                </a:lnTo>
                <a:lnTo>
                  <a:pt x="4129519" y="471970"/>
                </a:lnTo>
                <a:lnTo>
                  <a:pt x="4171899" y="450481"/>
                </a:lnTo>
                <a:lnTo>
                  <a:pt x="4210393" y="421830"/>
                </a:lnTo>
                <a:lnTo>
                  <a:pt x="4242562" y="387527"/>
                </a:lnTo>
                <a:lnTo>
                  <a:pt x="4266679" y="349770"/>
                </a:lnTo>
                <a:lnTo>
                  <a:pt x="4282757" y="309549"/>
                </a:lnTo>
                <a:lnTo>
                  <a:pt x="4290796" y="267830"/>
                </a:lnTo>
                <a:lnTo>
                  <a:pt x="4290796" y="225628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29" name="object 29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8701" y="3979437"/>
            <a:ext cx="279807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139890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6" y="1273777"/>
            <a:ext cx="1951837" cy="2409037"/>
          </a:xfrm>
          <a:custGeom>
            <a:avLst/>
            <a:gdLst/>
            <a:ahLst/>
            <a:cxnLst/>
            <a:rect l="l" t="t" r="r" b="b"/>
            <a:pathLst>
              <a:path w="4291330" h="5296534">
                <a:moveTo>
                  <a:pt x="553847" y="5028565"/>
                </a:moveTo>
                <a:lnTo>
                  <a:pt x="545807" y="4986845"/>
                </a:lnTo>
                <a:lnTo>
                  <a:pt x="529729" y="4946624"/>
                </a:lnTo>
                <a:lnTo>
                  <a:pt x="505612" y="4908867"/>
                </a:lnTo>
                <a:lnTo>
                  <a:pt x="473456" y="4874577"/>
                </a:lnTo>
                <a:lnTo>
                  <a:pt x="434962" y="4845913"/>
                </a:lnTo>
                <a:lnTo>
                  <a:pt x="392582" y="4824425"/>
                </a:lnTo>
                <a:lnTo>
                  <a:pt x="347433" y="4810099"/>
                </a:lnTo>
                <a:lnTo>
                  <a:pt x="300609" y="4802937"/>
                </a:lnTo>
                <a:lnTo>
                  <a:pt x="253238" y="4802937"/>
                </a:lnTo>
                <a:lnTo>
                  <a:pt x="206413" y="4810099"/>
                </a:lnTo>
                <a:lnTo>
                  <a:pt x="161264" y="4824425"/>
                </a:lnTo>
                <a:lnTo>
                  <a:pt x="118884" y="4845913"/>
                </a:lnTo>
                <a:lnTo>
                  <a:pt x="80391" y="4874577"/>
                </a:lnTo>
                <a:lnTo>
                  <a:pt x="48234" y="4908867"/>
                </a:lnTo>
                <a:lnTo>
                  <a:pt x="24117" y="4946624"/>
                </a:lnTo>
                <a:lnTo>
                  <a:pt x="8039" y="4986845"/>
                </a:lnTo>
                <a:lnTo>
                  <a:pt x="0" y="5028565"/>
                </a:lnTo>
                <a:lnTo>
                  <a:pt x="0" y="5070767"/>
                </a:lnTo>
                <a:lnTo>
                  <a:pt x="8039" y="5112486"/>
                </a:lnTo>
                <a:lnTo>
                  <a:pt x="24117" y="5152707"/>
                </a:lnTo>
                <a:lnTo>
                  <a:pt x="48234" y="5190464"/>
                </a:lnTo>
                <a:lnTo>
                  <a:pt x="80391" y="5224767"/>
                </a:lnTo>
                <a:lnTo>
                  <a:pt x="118884" y="5253418"/>
                </a:lnTo>
                <a:lnTo>
                  <a:pt x="161264" y="5274907"/>
                </a:lnTo>
                <a:lnTo>
                  <a:pt x="206413" y="5289232"/>
                </a:lnTo>
                <a:lnTo>
                  <a:pt x="253238" y="5296395"/>
                </a:lnTo>
                <a:lnTo>
                  <a:pt x="300609" y="5296395"/>
                </a:lnTo>
                <a:lnTo>
                  <a:pt x="347433" y="5289232"/>
                </a:lnTo>
                <a:lnTo>
                  <a:pt x="392582" y="5274907"/>
                </a:lnTo>
                <a:lnTo>
                  <a:pt x="434962" y="5253418"/>
                </a:lnTo>
                <a:lnTo>
                  <a:pt x="473456" y="5224767"/>
                </a:lnTo>
                <a:lnTo>
                  <a:pt x="505612" y="5190464"/>
                </a:lnTo>
                <a:lnTo>
                  <a:pt x="529729" y="5152707"/>
                </a:lnTo>
                <a:lnTo>
                  <a:pt x="545807" y="5112486"/>
                </a:lnTo>
                <a:lnTo>
                  <a:pt x="553847" y="5070767"/>
                </a:lnTo>
                <a:lnTo>
                  <a:pt x="553847" y="5028565"/>
                </a:lnTo>
                <a:close/>
              </a:path>
              <a:path w="4291330" h="5296534">
                <a:moveTo>
                  <a:pt x="4290796" y="225628"/>
                </a:moveTo>
                <a:lnTo>
                  <a:pt x="4282757" y="183908"/>
                </a:lnTo>
                <a:lnTo>
                  <a:pt x="4266679" y="143687"/>
                </a:lnTo>
                <a:lnTo>
                  <a:pt x="4242562" y="105930"/>
                </a:lnTo>
                <a:lnTo>
                  <a:pt x="4210393" y="71628"/>
                </a:lnTo>
                <a:lnTo>
                  <a:pt x="4171899" y="42976"/>
                </a:lnTo>
                <a:lnTo>
                  <a:pt x="4129519" y="21488"/>
                </a:lnTo>
                <a:lnTo>
                  <a:pt x="4084370" y="7162"/>
                </a:lnTo>
                <a:lnTo>
                  <a:pt x="4037558" y="0"/>
                </a:lnTo>
                <a:lnTo>
                  <a:pt x="3990175" y="0"/>
                </a:lnTo>
                <a:lnTo>
                  <a:pt x="3943362" y="7162"/>
                </a:lnTo>
                <a:lnTo>
                  <a:pt x="3898214" y="21488"/>
                </a:lnTo>
                <a:lnTo>
                  <a:pt x="3855834" y="42976"/>
                </a:lnTo>
                <a:lnTo>
                  <a:pt x="3817340" y="71628"/>
                </a:lnTo>
                <a:lnTo>
                  <a:pt x="3785171" y="105930"/>
                </a:lnTo>
                <a:lnTo>
                  <a:pt x="3761054" y="143687"/>
                </a:lnTo>
                <a:lnTo>
                  <a:pt x="3744976" y="183908"/>
                </a:lnTo>
                <a:lnTo>
                  <a:pt x="3736937" y="225628"/>
                </a:lnTo>
                <a:lnTo>
                  <a:pt x="3736937" y="267830"/>
                </a:lnTo>
                <a:lnTo>
                  <a:pt x="3744976" y="309549"/>
                </a:lnTo>
                <a:lnTo>
                  <a:pt x="3761054" y="349770"/>
                </a:lnTo>
                <a:lnTo>
                  <a:pt x="3785171" y="387527"/>
                </a:lnTo>
                <a:lnTo>
                  <a:pt x="3817340" y="421830"/>
                </a:lnTo>
                <a:lnTo>
                  <a:pt x="3855834" y="450481"/>
                </a:lnTo>
                <a:lnTo>
                  <a:pt x="3898214" y="471970"/>
                </a:lnTo>
                <a:lnTo>
                  <a:pt x="3943362" y="486295"/>
                </a:lnTo>
                <a:lnTo>
                  <a:pt x="3990175" y="493458"/>
                </a:lnTo>
                <a:lnTo>
                  <a:pt x="4037558" y="493458"/>
                </a:lnTo>
                <a:lnTo>
                  <a:pt x="4084370" y="486295"/>
                </a:lnTo>
                <a:lnTo>
                  <a:pt x="4129519" y="471970"/>
                </a:lnTo>
                <a:lnTo>
                  <a:pt x="4171899" y="450481"/>
                </a:lnTo>
                <a:lnTo>
                  <a:pt x="4210393" y="421830"/>
                </a:lnTo>
                <a:lnTo>
                  <a:pt x="4242562" y="387527"/>
                </a:lnTo>
                <a:lnTo>
                  <a:pt x="4266679" y="349770"/>
                </a:lnTo>
                <a:lnTo>
                  <a:pt x="4282757" y="309549"/>
                </a:lnTo>
                <a:lnTo>
                  <a:pt x="4290796" y="267830"/>
                </a:lnTo>
                <a:lnTo>
                  <a:pt x="4290796" y="225628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3" name="object 33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6395" y="3979436"/>
            <a:ext cx="4363184" cy="1161953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39370" algn="ctr" defTabSz="415925">
              <a:spcBef>
                <a:spcPts val="50"/>
              </a:spcBef>
              <a:tabLst>
                <a:tab pos="332105" algn="l"/>
                <a:tab pos="1432560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1343660" marR="2540" indent="-1337945" defTabSz="415925">
              <a:lnSpc>
                <a:spcPct val="101000"/>
              </a:lnSpc>
              <a:spcBef>
                <a:spcPts val="865"/>
              </a:spcBef>
            </a:pPr>
            <a:r>
              <a:rPr sz="1115" spc="1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nodes </a:t>
            </a:r>
            <a:r>
              <a:rPr sz="1115" spc="20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keep </a:t>
            </a:r>
            <a:r>
              <a:rPr sz="1115" spc="1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track </a:t>
            </a:r>
            <a:r>
              <a:rPr sz="1115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115" spc="1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which </a:t>
            </a:r>
            <a:r>
              <a:rPr sz="1115" spc="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advertisements </a:t>
            </a:r>
            <a:r>
              <a:rPr sz="1115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they’ve </a:t>
            </a:r>
            <a:r>
              <a:rPr sz="1115" spc="1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forwarded </a:t>
            </a:r>
            <a:r>
              <a:rPr sz="1115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so</a:t>
            </a:r>
            <a:r>
              <a:rPr sz="1115" spc="-50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that  </a:t>
            </a:r>
            <a:r>
              <a:rPr sz="1115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they </a:t>
            </a:r>
            <a:r>
              <a:rPr sz="1115" spc="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don’t </a:t>
            </a:r>
            <a:r>
              <a:rPr sz="1115" spc="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re-forward</a:t>
            </a:r>
            <a:r>
              <a:rPr sz="1115" spc="-14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them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41020" marR="502920" algn="ctr" defTabSz="415925">
              <a:lnSpc>
                <a:spcPct val="102000"/>
              </a:lnSpc>
              <a:spcBef>
                <a:spcPts val="815"/>
              </a:spcBef>
            </a:pPr>
            <a:r>
              <a:rPr sz="885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they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can 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also </a:t>
            </a:r>
            <a:r>
              <a:rPr sz="885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be </a:t>
            </a:r>
            <a:r>
              <a:rPr sz="885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885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bit </a:t>
            </a:r>
            <a:r>
              <a:rPr sz="885" spc="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smarter </a:t>
            </a:r>
            <a:r>
              <a:rPr sz="88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about </a:t>
            </a:r>
            <a:r>
              <a:rPr sz="885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flooding,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885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not </a:t>
            </a:r>
            <a:r>
              <a:rPr sz="885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forward</a:t>
            </a:r>
            <a:r>
              <a:rPr sz="885" spc="-7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an  </a:t>
            </a:r>
            <a:r>
              <a:rPr sz="885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 </a:t>
            </a:r>
            <a:r>
              <a:rPr sz="885" spc="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back </a:t>
            </a:r>
            <a:r>
              <a:rPr sz="885" spc="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885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node </a:t>
            </a:r>
            <a:r>
              <a:rPr sz="885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that </a:t>
            </a:r>
            <a:r>
              <a:rPr sz="885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sent</a:t>
            </a:r>
            <a:r>
              <a:rPr sz="885" spc="-8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it</a:t>
            </a:r>
            <a:endParaRPr sz="88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944963" y="1284319"/>
            <a:ext cx="1841508" cy="2347807"/>
          </a:xfrm>
          <a:custGeom>
            <a:avLst/>
            <a:gdLst/>
            <a:ahLst/>
            <a:cxnLst/>
            <a:rect l="l" t="t" r="r" b="b"/>
            <a:pathLst>
              <a:path w="4048759" h="5161915">
                <a:moveTo>
                  <a:pt x="325704" y="162852"/>
                </a:moveTo>
                <a:lnTo>
                  <a:pt x="320408" y="121539"/>
                </a:lnTo>
                <a:lnTo>
                  <a:pt x="304507" y="82423"/>
                </a:lnTo>
                <a:lnTo>
                  <a:pt x="278015" y="47701"/>
                </a:lnTo>
                <a:lnTo>
                  <a:pt x="243293" y="21196"/>
                </a:lnTo>
                <a:lnTo>
                  <a:pt x="204165" y="5295"/>
                </a:lnTo>
                <a:lnTo>
                  <a:pt x="162852" y="0"/>
                </a:lnTo>
                <a:lnTo>
                  <a:pt x="121539" y="5295"/>
                </a:lnTo>
                <a:lnTo>
                  <a:pt x="82423" y="21196"/>
                </a:lnTo>
                <a:lnTo>
                  <a:pt x="47701" y="47701"/>
                </a:lnTo>
                <a:lnTo>
                  <a:pt x="21196" y="82423"/>
                </a:lnTo>
                <a:lnTo>
                  <a:pt x="5295" y="121539"/>
                </a:lnTo>
                <a:lnTo>
                  <a:pt x="0" y="162852"/>
                </a:lnTo>
                <a:lnTo>
                  <a:pt x="5295" y="204165"/>
                </a:lnTo>
                <a:lnTo>
                  <a:pt x="21196" y="243281"/>
                </a:lnTo>
                <a:lnTo>
                  <a:pt x="47701" y="278003"/>
                </a:lnTo>
                <a:lnTo>
                  <a:pt x="82423" y="304507"/>
                </a:lnTo>
                <a:lnTo>
                  <a:pt x="121539" y="320408"/>
                </a:lnTo>
                <a:lnTo>
                  <a:pt x="162852" y="325704"/>
                </a:lnTo>
                <a:lnTo>
                  <a:pt x="204165" y="320408"/>
                </a:lnTo>
                <a:lnTo>
                  <a:pt x="243293" y="304507"/>
                </a:lnTo>
                <a:lnTo>
                  <a:pt x="278015" y="278003"/>
                </a:lnTo>
                <a:lnTo>
                  <a:pt x="304507" y="243281"/>
                </a:lnTo>
                <a:lnTo>
                  <a:pt x="320408" y="204165"/>
                </a:lnTo>
                <a:lnTo>
                  <a:pt x="325704" y="162852"/>
                </a:lnTo>
                <a:close/>
              </a:path>
              <a:path w="4048759" h="5161915">
                <a:moveTo>
                  <a:pt x="361048" y="4998593"/>
                </a:moveTo>
                <a:lnTo>
                  <a:pt x="355752" y="4957280"/>
                </a:lnTo>
                <a:lnTo>
                  <a:pt x="339852" y="4918164"/>
                </a:lnTo>
                <a:lnTo>
                  <a:pt x="313359" y="4883442"/>
                </a:lnTo>
                <a:lnTo>
                  <a:pt x="278625" y="4856937"/>
                </a:lnTo>
                <a:lnTo>
                  <a:pt x="239509" y="4841037"/>
                </a:lnTo>
                <a:lnTo>
                  <a:pt x="198196" y="4835741"/>
                </a:lnTo>
                <a:lnTo>
                  <a:pt x="156883" y="4841037"/>
                </a:lnTo>
                <a:lnTo>
                  <a:pt x="117767" y="4856937"/>
                </a:lnTo>
                <a:lnTo>
                  <a:pt x="83032" y="4883442"/>
                </a:lnTo>
                <a:lnTo>
                  <a:pt x="56540" y="4918164"/>
                </a:lnTo>
                <a:lnTo>
                  <a:pt x="40640" y="4957280"/>
                </a:lnTo>
                <a:lnTo>
                  <a:pt x="35331" y="4998593"/>
                </a:lnTo>
                <a:lnTo>
                  <a:pt x="40640" y="5039906"/>
                </a:lnTo>
                <a:lnTo>
                  <a:pt x="56540" y="5079022"/>
                </a:lnTo>
                <a:lnTo>
                  <a:pt x="83032" y="5113756"/>
                </a:lnTo>
                <a:lnTo>
                  <a:pt x="117767" y="5140249"/>
                </a:lnTo>
                <a:lnTo>
                  <a:pt x="156883" y="5156149"/>
                </a:lnTo>
                <a:lnTo>
                  <a:pt x="198196" y="5161445"/>
                </a:lnTo>
                <a:lnTo>
                  <a:pt x="239509" y="5156149"/>
                </a:lnTo>
                <a:lnTo>
                  <a:pt x="278625" y="5140249"/>
                </a:lnTo>
                <a:lnTo>
                  <a:pt x="313359" y="5113756"/>
                </a:lnTo>
                <a:lnTo>
                  <a:pt x="339852" y="5079022"/>
                </a:lnTo>
                <a:lnTo>
                  <a:pt x="355752" y="5039906"/>
                </a:lnTo>
                <a:lnTo>
                  <a:pt x="361048" y="4998593"/>
                </a:lnTo>
                <a:close/>
              </a:path>
              <a:path w="4048759" h="5161915">
                <a:moveTo>
                  <a:pt x="4048582" y="2664307"/>
                </a:moveTo>
                <a:lnTo>
                  <a:pt x="4043286" y="2622994"/>
                </a:lnTo>
                <a:lnTo>
                  <a:pt x="4042092" y="2620099"/>
                </a:lnTo>
                <a:lnTo>
                  <a:pt x="4037063" y="2580856"/>
                </a:lnTo>
                <a:lnTo>
                  <a:pt x="4021163" y="2541740"/>
                </a:lnTo>
                <a:lnTo>
                  <a:pt x="3994670" y="2507018"/>
                </a:lnTo>
                <a:lnTo>
                  <a:pt x="3959936" y="2480513"/>
                </a:lnTo>
                <a:lnTo>
                  <a:pt x="3920820" y="2464612"/>
                </a:lnTo>
                <a:lnTo>
                  <a:pt x="3879507" y="2459317"/>
                </a:lnTo>
                <a:lnTo>
                  <a:pt x="3838194" y="2464612"/>
                </a:lnTo>
                <a:lnTo>
                  <a:pt x="3799078" y="2480513"/>
                </a:lnTo>
                <a:lnTo>
                  <a:pt x="3764343" y="2507018"/>
                </a:lnTo>
                <a:lnTo>
                  <a:pt x="3737851" y="2541740"/>
                </a:lnTo>
                <a:lnTo>
                  <a:pt x="3721951" y="2580856"/>
                </a:lnTo>
                <a:lnTo>
                  <a:pt x="3716655" y="2622169"/>
                </a:lnTo>
                <a:lnTo>
                  <a:pt x="3721951" y="2663482"/>
                </a:lnTo>
                <a:lnTo>
                  <a:pt x="3723132" y="2666390"/>
                </a:lnTo>
                <a:lnTo>
                  <a:pt x="3728174" y="2705620"/>
                </a:lnTo>
                <a:lnTo>
                  <a:pt x="3744074" y="2744736"/>
                </a:lnTo>
                <a:lnTo>
                  <a:pt x="3770566" y="2779471"/>
                </a:lnTo>
                <a:lnTo>
                  <a:pt x="3805301" y="2805963"/>
                </a:lnTo>
                <a:lnTo>
                  <a:pt x="3844417" y="2821863"/>
                </a:lnTo>
                <a:lnTo>
                  <a:pt x="3885730" y="2827172"/>
                </a:lnTo>
                <a:lnTo>
                  <a:pt x="3927043" y="2821863"/>
                </a:lnTo>
                <a:lnTo>
                  <a:pt x="3966159" y="2805963"/>
                </a:lnTo>
                <a:lnTo>
                  <a:pt x="4000881" y="2779471"/>
                </a:lnTo>
                <a:lnTo>
                  <a:pt x="4027386" y="2744736"/>
                </a:lnTo>
                <a:lnTo>
                  <a:pt x="4043286" y="2705620"/>
                </a:lnTo>
                <a:lnTo>
                  <a:pt x="4048582" y="2664307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88262" y="4264958"/>
            <a:ext cx="3527054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955040" marR="2540" indent="-949325" defTabSz="415925">
              <a:spcBef>
                <a:spcPts val="50"/>
              </a:spcBef>
            </a:pPr>
            <a:r>
              <a:rPr sz="1340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nodes </a:t>
            </a:r>
            <a:r>
              <a:rPr sz="1340" b="1" i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integrate </a:t>
            </a:r>
            <a:r>
              <a:rPr sz="1340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advertisements by running  </a:t>
            </a:r>
            <a:r>
              <a:rPr sz="1340" b="1" spc="-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Dijkstra’s</a:t>
            </a:r>
            <a:r>
              <a:rPr sz="1340" b="1" spc="-50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40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Algorithm</a:t>
            </a:r>
            <a:endParaRPr sz="134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1" y="0"/>
                  </a:moveTo>
                  <a:lnTo>
                    <a:pt x="253246" y="0"/>
                  </a:lnTo>
                  <a:lnTo>
                    <a:pt x="206427" y="7162"/>
                  </a:lnTo>
                  <a:lnTo>
                    <a:pt x="161273" y="21488"/>
                  </a:lnTo>
                  <a:lnTo>
                    <a:pt x="118894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4" y="450478"/>
                  </a:lnTo>
                  <a:lnTo>
                    <a:pt x="161273" y="471967"/>
                  </a:lnTo>
                  <a:lnTo>
                    <a:pt x="206427" y="486293"/>
                  </a:lnTo>
                  <a:lnTo>
                    <a:pt x="253246" y="493455"/>
                  </a:lnTo>
                  <a:lnTo>
                    <a:pt x="300621" y="493455"/>
                  </a:lnTo>
                  <a:lnTo>
                    <a:pt x="347441" y="486293"/>
                  </a:lnTo>
                  <a:lnTo>
                    <a:pt x="392595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5" y="21488"/>
                  </a:lnTo>
                  <a:lnTo>
                    <a:pt x="347441" y="7162"/>
                  </a:lnTo>
                  <a:lnTo>
                    <a:pt x="300621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4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Link-state Routing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kumimoji="1" lang="en-US" altLang="zh-CN" dirty="0"/>
              <a:t>K</a:t>
            </a:r>
            <a:r>
              <a:rPr kumimoji="1" lang="en-GB" altLang="zh-CN" dirty="0" err="1"/>
              <a:t>eep</a:t>
            </a:r>
            <a:r>
              <a:rPr kumimoji="1" lang="en-GB" altLang="zh-CN" dirty="0"/>
              <a:t> track of W, the set of nodes haven't processed yet</a:t>
            </a:r>
            <a:endParaRPr kumimoji="1" lang="en-GB" altLang="zh-CN" dirty="0"/>
          </a:p>
          <a:p>
            <a:pPr lvl="1">
              <a:lnSpc>
                <a:spcPct val="140000"/>
              </a:lnSpc>
            </a:pPr>
            <a:r>
              <a:rPr kumimoji="1" lang="en-GB" altLang="zh-CN" dirty="0"/>
              <a:t>Initially, W is all nodes in the network</a:t>
            </a:r>
            <a:endParaRPr kumimoji="1" lang="en-GB" altLang="zh-CN" dirty="0"/>
          </a:p>
          <a:p>
            <a:pPr>
              <a:lnSpc>
                <a:spcPct val="140000"/>
              </a:lnSpc>
            </a:pPr>
            <a:r>
              <a:rPr kumimoji="1" lang="en-US" altLang="zh-CN" dirty="0"/>
              <a:t>K</a:t>
            </a:r>
            <a:r>
              <a:rPr kumimoji="1" lang="en-GB" altLang="zh-CN" dirty="0" err="1"/>
              <a:t>eep</a:t>
            </a:r>
            <a:r>
              <a:rPr kumimoji="1" lang="en-GB" altLang="zh-CN" dirty="0"/>
              <a:t> track of the current costs and routes to all of the nodes. Initially:</a:t>
            </a:r>
            <a:endParaRPr kumimoji="1" lang="en-GB" altLang="zh-CN" dirty="0"/>
          </a:p>
          <a:p>
            <a:pPr lvl="1">
              <a:lnSpc>
                <a:spcPct val="140000"/>
              </a:lnSpc>
            </a:pPr>
            <a:r>
              <a:rPr kumimoji="1" lang="en-GB" altLang="zh-CN" dirty="0" err="1"/>
              <a:t>routing_table</a:t>
            </a:r>
            <a:r>
              <a:rPr kumimoji="1" lang="en-GB" altLang="zh-CN" dirty="0"/>
              <a:t>[self] = Self; </a:t>
            </a:r>
            <a:r>
              <a:rPr kumimoji="1" lang="en-GB" altLang="zh-CN" dirty="0" err="1"/>
              <a:t>routing_table</a:t>
            </a:r>
            <a:r>
              <a:rPr kumimoji="1" lang="en-GB" altLang="zh-CN" dirty="0"/>
              <a:t>[anyone else] = ? </a:t>
            </a:r>
            <a:endParaRPr kumimoji="1" lang="en-GB" altLang="zh-CN" dirty="0"/>
          </a:p>
          <a:p>
            <a:pPr lvl="1">
              <a:lnSpc>
                <a:spcPct val="140000"/>
              </a:lnSpc>
            </a:pPr>
            <a:r>
              <a:rPr kumimoji="1" lang="en-GB" altLang="zh-CN" dirty="0" err="1"/>
              <a:t>cost_table</a:t>
            </a:r>
            <a:r>
              <a:rPr kumimoji="1" lang="en-GB" altLang="zh-CN" dirty="0"/>
              <a:t>[self] = 0; </a:t>
            </a:r>
            <a:r>
              <a:rPr kumimoji="1" lang="en-GB" altLang="zh-CN" dirty="0" err="1"/>
              <a:t>cost_table</a:t>
            </a:r>
            <a:r>
              <a:rPr kumimoji="1" lang="en-GB" altLang="zh-CN" dirty="0"/>
              <a:t>[anyone else] = infinity</a:t>
            </a:r>
            <a:endParaRPr kumimoji="1" lang="en-GB" altLang="zh-CN" dirty="0"/>
          </a:p>
          <a:p>
            <a:pPr>
              <a:lnSpc>
                <a:spcPct val="140000"/>
              </a:lnSpc>
            </a:pPr>
            <a:r>
              <a:rPr kumimoji="1" lang="en-GB" altLang="zh-CN" dirty="0"/>
              <a:t>While W is not empty:</a:t>
            </a:r>
            <a:endParaRPr kumimoji="1" lang="en-US" altLang="zh-CN" dirty="0">
              <a:solidFill>
                <a:srgbClr val="0096FF"/>
              </a:solidFill>
            </a:endParaRPr>
          </a:p>
          <a:p>
            <a:pPr lvl="1">
              <a:lnSpc>
                <a:spcPct val="140000"/>
              </a:lnSpc>
            </a:pPr>
            <a:r>
              <a:rPr kumimoji="1" lang="en-GB" altLang="zh-CN" dirty="0"/>
              <a:t>1. u = the node in W we have the minimum cost to so far </a:t>
            </a:r>
            <a:endParaRPr kumimoji="1" lang="en-GB" altLang="zh-CN" dirty="0"/>
          </a:p>
          <a:p>
            <a:pPr lvl="1">
              <a:lnSpc>
                <a:spcPct val="140000"/>
              </a:lnSpc>
            </a:pPr>
            <a:r>
              <a:rPr kumimoji="1" lang="en-GB" altLang="zh-CN" dirty="0"/>
              <a:t>2. Remove u from W</a:t>
            </a:r>
            <a:endParaRPr kumimoji="1" lang="en-GB" altLang="zh-CN" dirty="0"/>
          </a:p>
          <a:p>
            <a:pPr lvl="1">
              <a:lnSpc>
                <a:spcPct val="140000"/>
              </a:lnSpc>
            </a:pPr>
            <a:r>
              <a:rPr kumimoji="1" lang="en-GB" altLang="zh-CN" dirty="0"/>
              <a:t>3. For every neighbor v of u: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	</a:t>
            </a:r>
            <a:r>
              <a:rPr kumimoji="1" lang="en-GB" altLang="zh-CN" dirty="0"/>
              <a:t>d = </a:t>
            </a:r>
            <a:r>
              <a:rPr kumimoji="1" lang="en-GB" altLang="zh-CN" dirty="0" err="1"/>
              <a:t>cost_table</a:t>
            </a:r>
            <a:r>
              <a:rPr kumimoji="1" lang="en-GB" altLang="zh-CN" dirty="0"/>
              <a:t>[u] + cost(u, v) </a:t>
            </a:r>
            <a:br>
              <a:rPr kumimoji="1" lang="en-GB" altLang="zh-CN" dirty="0"/>
            </a:br>
            <a:r>
              <a:rPr kumimoji="1" lang="en-US" altLang="zh-CN" dirty="0"/>
              <a:t>	</a:t>
            </a:r>
            <a:r>
              <a:rPr kumimoji="1" lang="en-GB" altLang="zh-CN" dirty="0"/>
              <a:t>if d &lt; </a:t>
            </a:r>
            <a:r>
              <a:rPr kumimoji="1" lang="en-GB" altLang="zh-CN" dirty="0" err="1"/>
              <a:t>cost_table</a:t>
            </a:r>
            <a:r>
              <a:rPr kumimoji="1" lang="en-GB" altLang="zh-CN" dirty="0"/>
              <a:t>[v]</a:t>
            </a:r>
            <a:br>
              <a:rPr kumimoji="1" lang="en-GB" altLang="zh-CN" dirty="0"/>
            </a:br>
            <a:r>
              <a:rPr kumimoji="1" lang="en-GB" altLang="zh-CN" dirty="0"/>
              <a:t>	</a:t>
            </a:r>
            <a:r>
              <a:rPr kumimoji="1" lang="zh-CN" altLang="en-US" dirty="0"/>
              <a:t>    </a:t>
            </a:r>
            <a:r>
              <a:rPr kumimoji="1" lang="en-GB" altLang="zh-CN" dirty="0" err="1"/>
              <a:t>cost_table</a:t>
            </a:r>
            <a:r>
              <a:rPr kumimoji="1" lang="en-GB" altLang="zh-CN" dirty="0"/>
              <a:t>[v] = d</a:t>
            </a:r>
            <a:br>
              <a:rPr kumimoji="1" lang="en-GB" altLang="zh-CN" dirty="0"/>
            </a:br>
            <a:r>
              <a:rPr kumimoji="1" lang="en-US" altLang="zh-CN" dirty="0"/>
              <a:t>	</a:t>
            </a:r>
            <a:r>
              <a:rPr kumimoji="1" lang="zh-CN" altLang="en-US" dirty="0"/>
              <a:t>    </a:t>
            </a:r>
            <a:r>
              <a:rPr kumimoji="1" lang="en-GB" altLang="zh-CN" dirty="0" err="1"/>
              <a:t>routing_table</a:t>
            </a:r>
            <a:r>
              <a:rPr kumimoji="1" lang="en-GB" altLang="zh-CN" dirty="0"/>
              <a:t>[v] = </a:t>
            </a:r>
            <a:r>
              <a:rPr kumimoji="1" lang="en-GB" altLang="zh-CN" dirty="0" err="1"/>
              <a:t>routing_table</a:t>
            </a:r>
            <a:r>
              <a:rPr kumimoji="1" lang="en-GB" altLang="zh-CN" dirty="0"/>
              <a:t>[u]</a:t>
            </a:r>
            <a:endParaRPr kumimoji="1" lang="en-GB" altLang="zh-CN" dirty="0"/>
          </a:p>
          <a:p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1" y="0"/>
                  </a:moveTo>
                  <a:lnTo>
                    <a:pt x="253246" y="0"/>
                  </a:lnTo>
                  <a:lnTo>
                    <a:pt x="206427" y="7162"/>
                  </a:lnTo>
                  <a:lnTo>
                    <a:pt x="161273" y="21488"/>
                  </a:lnTo>
                  <a:lnTo>
                    <a:pt x="118894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4" y="450478"/>
                  </a:lnTo>
                  <a:lnTo>
                    <a:pt x="161273" y="471967"/>
                  </a:lnTo>
                  <a:lnTo>
                    <a:pt x="206427" y="486293"/>
                  </a:lnTo>
                  <a:lnTo>
                    <a:pt x="253246" y="493455"/>
                  </a:lnTo>
                  <a:lnTo>
                    <a:pt x="300621" y="493455"/>
                  </a:lnTo>
                  <a:lnTo>
                    <a:pt x="347441" y="486293"/>
                  </a:lnTo>
                  <a:lnTo>
                    <a:pt x="392595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5" y="21488"/>
                  </a:lnTo>
                  <a:lnTo>
                    <a:pt x="347441" y="7162"/>
                  </a:lnTo>
                  <a:lnTo>
                    <a:pt x="300621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79391" y="1363460"/>
            <a:ext cx="2538428" cy="2231702"/>
            <a:chOff x="2593023" y="2369862"/>
            <a:chExt cx="5581015" cy="4906645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79391" y="1363460"/>
            <a:ext cx="2538428" cy="2231702"/>
            <a:chOff x="2593023" y="2369862"/>
            <a:chExt cx="5581015" cy="4906645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93084" y="4365223"/>
            <a:ext cx="1580994" cy="371108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marR="2540" indent="74295" defTabSz="415925">
              <a:lnSpc>
                <a:spcPct val="100000"/>
              </a:lnSpc>
              <a:spcBef>
                <a:spcPts val="55"/>
              </a:spcBef>
            </a:pPr>
            <a:r>
              <a:rPr sz="1180" spc="-3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does </a:t>
            </a:r>
            <a:r>
              <a:rPr sz="1180" spc="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not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provide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 </a:t>
            </a:r>
            <a:r>
              <a:rPr sz="1180" spc="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1180" spc="-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better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route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5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4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5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9872" cy="2231702"/>
            <a:chOff x="2593023" y="2369862"/>
            <a:chExt cx="5584190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9872" cy="2231702"/>
            <a:chOff x="2593023" y="2369862"/>
            <a:chExt cx="5584190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91669" y="4971973"/>
            <a:ext cx="3020466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27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180" spc="3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cost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from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180" spc="-3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 </a:t>
            </a:r>
            <a:r>
              <a:rPr sz="1180" b="1" spc="27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180" spc="3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cost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from </a:t>
            </a:r>
            <a:r>
              <a:rPr sz="1180" spc="-3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-5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E</a:t>
            </a:r>
            <a:endParaRPr sz="1180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4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5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1147" y="1358744"/>
            <a:ext cx="1824468" cy="1222281"/>
            <a:chOff x="4421730" y="2359494"/>
            <a:chExt cx="4011295" cy="268732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1147" y="1358744"/>
            <a:ext cx="1824468" cy="1222281"/>
            <a:chOff x="4421730" y="2359494"/>
            <a:chExt cx="4011295" cy="268732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5E5E5E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b="1" dirty="0">
                        <a:solidFill>
                          <a:srgbClr val="5E5E5E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dirty="0">
                        <a:solidFill>
                          <a:srgbClr val="5E5E5E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∞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dirty="0">
                        <a:solidFill>
                          <a:srgbClr val="5E5E5E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2" y="1363460"/>
            <a:ext cx="2539583" cy="2231702"/>
            <a:chOff x="2593023" y="2369862"/>
            <a:chExt cx="558355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dirty="0">
                        <a:solidFill>
                          <a:srgbClr val="5E5E5E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2" y="1363460"/>
            <a:ext cx="2539583" cy="2231702"/>
            <a:chOff x="2593023" y="2369862"/>
            <a:chExt cx="558355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dirty="0">
                        <a:solidFill>
                          <a:srgbClr val="5E5E5E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highlight>
                          <a:srgbClr val="FFFF00"/>
                        </a:highlight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dirty="0">
                        <a:highlight>
                          <a:srgbClr val="FFFF00"/>
                        </a:highlight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1" name="object 31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74248" y="4365223"/>
            <a:ext cx="2416835" cy="371108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marR="2540" indent="201930" defTabSz="415925">
              <a:lnSpc>
                <a:spcPct val="100000"/>
              </a:lnSpc>
              <a:spcBef>
                <a:spcPts val="55"/>
              </a:spcBef>
            </a:pP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we </a:t>
            </a:r>
            <a:r>
              <a:rPr sz="1180" spc="3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don’t </a:t>
            </a:r>
            <a:r>
              <a:rPr sz="1180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need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180" spc="4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“visit” </a:t>
            </a:r>
            <a:r>
              <a:rPr sz="1180" spc="-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F; </a:t>
            </a: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we  </a:t>
            </a:r>
            <a:r>
              <a:rPr sz="118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already </a:t>
            </a:r>
            <a:r>
              <a:rPr sz="1180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know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shortest </a:t>
            </a:r>
            <a:r>
              <a:rPr sz="1180" spc="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path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7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it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0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spc="-5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dirty="0">
                        <a:solidFill>
                          <a:srgbClr val="5E5E5E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1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01616" y="1349213"/>
            <a:ext cx="1833999" cy="1231812"/>
            <a:chOff x="4400775" y="2338539"/>
            <a:chExt cx="4032250" cy="2708275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32"/>
            <a:ext cx="2539872" cy="2231702"/>
            <a:chOff x="2593023" y="2369799"/>
            <a:chExt cx="5584190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9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01616" y="1349213"/>
            <a:ext cx="1833999" cy="1231812"/>
            <a:chOff x="4400775" y="2338539"/>
            <a:chExt cx="4032250" cy="2708275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32"/>
            <a:ext cx="2539872" cy="2231702"/>
            <a:chOff x="2593023" y="2369799"/>
            <a:chExt cx="5584190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9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41883">
              <a:solidFill>
                <a:srgbClr val="FF006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spc="2" dirty="0"/>
              <a:t>link-state routing: </a:t>
            </a:r>
            <a:r>
              <a:rPr sz="1340" spc="9" dirty="0"/>
              <a:t>disseminate </a:t>
            </a:r>
            <a:r>
              <a:rPr sz="1340" spc="2" dirty="0"/>
              <a:t>full </a:t>
            </a:r>
            <a:r>
              <a:rPr sz="1340" spc="20" dirty="0"/>
              <a:t>topology </a:t>
            </a:r>
            <a:r>
              <a:rPr sz="1340" spc="5" dirty="0"/>
              <a:t>information  </a:t>
            </a:r>
            <a:r>
              <a:rPr sz="1340" spc="2" dirty="0"/>
              <a:t>so that </a:t>
            </a:r>
            <a:r>
              <a:rPr sz="1340" spc="18" dirty="0"/>
              <a:t>nodes </a:t>
            </a:r>
            <a:r>
              <a:rPr sz="1340" spc="27" dirty="0"/>
              <a:t>can </a:t>
            </a:r>
            <a:r>
              <a:rPr sz="1340" spc="2" dirty="0"/>
              <a:t>run a </a:t>
            </a:r>
            <a:r>
              <a:rPr sz="1340" spc="9" dirty="0"/>
              <a:t>shortest-path</a:t>
            </a:r>
            <a:r>
              <a:rPr sz="1340" spc="-34" dirty="0"/>
              <a:t> </a:t>
            </a:r>
            <a:r>
              <a:rPr sz="1340" spc="11" dirty="0"/>
              <a:t>algorithm</a:t>
            </a:r>
            <a:endParaRPr sz="134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900094"/>
            <a:ext cx="2725293" cy="185741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1294130" algn="ctr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299845" algn="ctr" defTabSz="415925">
              <a:lnSpc>
                <a:spcPct val="102000"/>
              </a:lnSpc>
              <a:spcBef>
                <a:spcPts val="8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/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471805" algn="ctr" defTabSz="415925">
              <a:spcBef>
                <a:spcPts val="900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5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130" marR="1318260" algn="ctr" defTabSz="415925">
              <a:lnSpc>
                <a:spcPct val="102000"/>
              </a:lnSpc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01616" y="1349213"/>
            <a:ext cx="1833999" cy="1231812"/>
            <a:chOff x="4400775" y="2338539"/>
            <a:chExt cx="4032250" cy="2708275"/>
          </a:xfrm>
        </p:grpSpPr>
        <p:sp>
          <p:nvSpPr>
            <p:cNvPr id="31" name="object 31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41141" y="4281355"/>
            <a:ext cx="2606011" cy="668305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785" marR="54610" algn="ctr" defTabSz="415925">
              <a:lnSpc>
                <a:spcPct val="100000"/>
              </a:lnSpc>
              <a:spcBef>
                <a:spcPts val="55"/>
              </a:spcBef>
            </a:pP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notice </a:t>
            </a:r>
            <a:r>
              <a:rPr sz="1180" spc="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that </a:t>
            </a: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i="1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route </a:t>
            </a:r>
            <a:r>
              <a:rPr sz="1180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doesn’t</a:t>
            </a:r>
            <a:r>
              <a:rPr sz="1180" spc="-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change,  </a:t>
            </a:r>
            <a:r>
              <a:rPr sz="1180" spc="3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but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180" spc="3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cost </a:t>
            </a:r>
            <a:r>
              <a:rPr sz="1180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needs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8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update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2540" algn="ctr" defTabSz="415925">
              <a:lnSpc>
                <a:spcPct val="102000"/>
              </a:lnSpc>
              <a:spcBef>
                <a:spcPts val="15"/>
              </a:spcBef>
            </a:pPr>
            <a:r>
              <a:rPr sz="980" spc="-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(and </a:t>
            </a:r>
            <a:r>
              <a:rPr sz="980" spc="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actual </a:t>
            </a:r>
            <a:r>
              <a:rPr sz="9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path </a:t>
            </a:r>
            <a:r>
              <a:rPr sz="9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980" spc="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9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packets </a:t>
            </a:r>
            <a:r>
              <a:rPr sz="980" spc="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from </a:t>
            </a:r>
            <a:r>
              <a:rPr sz="980" spc="-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980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980" spc="-4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80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  </a:t>
            </a:r>
            <a:r>
              <a:rPr sz="980" spc="-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has</a:t>
            </a:r>
            <a:r>
              <a:rPr sz="980" spc="-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changed)</a:t>
            </a:r>
            <a:endParaRPr sz="9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0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5E5E5E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b="1" dirty="0">
                        <a:highlight>
                          <a:srgbClr val="FFFF00"/>
                        </a:highlight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1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34962" cy="2231702"/>
            <a:chOff x="2593023" y="2369862"/>
            <a:chExt cx="5573395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01616" y="1349213"/>
            <a:ext cx="1833999" cy="1231812"/>
            <a:chOff x="4400775" y="2338539"/>
            <a:chExt cx="4032250" cy="2708275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3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4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63460"/>
            <a:ext cx="2549114" cy="2231702"/>
            <a:chOff x="2593023" y="2369862"/>
            <a:chExt cx="5604510" cy="4906645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83767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01616" y="1349213"/>
            <a:ext cx="1833999" cy="1231812"/>
            <a:chOff x="4400775" y="2338539"/>
            <a:chExt cx="4032250" cy="2708275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48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dirty="0">
                          <a:solidFill>
                            <a:srgbClr val="5E5E5E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9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9391" y="1353900"/>
            <a:ext cx="2549403" cy="2241233"/>
            <a:chOff x="2593023" y="2348844"/>
            <a:chExt cx="5605145" cy="4927600"/>
          </a:xfrm>
        </p:grpSpPr>
        <p:sp>
          <p:nvSpPr>
            <p:cNvPr id="3" name="object 3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83767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175" y="525981"/>
            <a:ext cx="4311486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11" name="object 11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3"/>
                </a:lnTo>
                <a:lnTo>
                  <a:pt x="161279" y="21490"/>
                </a:lnTo>
                <a:lnTo>
                  <a:pt x="118901" y="42981"/>
                </a:lnTo>
                <a:lnTo>
                  <a:pt x="80408" y="71636"/>
                </a:lnTo>
                <a:lnTo>
                  <a:pt x="48245" y="105930"/>
                </a:lnTo>
                <a:lnTo>
                  <a:pt x="24122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2" y="349775"/>
                </a:lnTo>
                <a:lnTo>
                  <a:pt x="48245" y="387531"/>
                </a:lnTo>
                <a:lnTo>
                  <a:pt x="80408" y="421824"/>
                </a:lnTo>
                <a:lnTo>
                  <a:pt x="118901" y="450476"/>
                </a:lnTo>
                <a:lnTo>
                  <a:pt x="161279" y="471964"/>
                </a:lnTo>
                <a:lnTo>
                  <a:pt x="206432" y="486290"/>
                </a:lnTo>
                <a:lnTo>
                  <a:pt x="253250" y="493453"/>
                </a:lnTo>
                <a:lnTo>
                  <a:pt x="300623" y="493453"/>
                </a:lnTo>
                <a:lnTo>
                  <a:pt x="347441" y="486290"/>
                </a:lnTo>
                <a:lnTo>
                  <a:pt x="392593" y="471964"/>
                </a:lnTo>
                <a:lnTo>
                  <a:pt x="434971" y="450476"/>
                </a:lnTo>
                <a:lnTo>
                  <a:pt x="473464" y="421824"/>
                </a:lnTo>
                <a:lnTo>
                  <a:pt x="505625" y="387531"/>
                </a:lnTo>
                <a:lnTo>
                  <a:pt x="529745" y="349775"/>
                </a:lnTo>
                <a:lnTo>
                  <a:pt x="545825" y="309546"/>
                </a:lnTo>
                <a:lnTo>
                  <a:pt x="553865" y="267834"/>
                </a:lnTo>
                <a:lnTo>
                  <a:pt x="553865" y="225626"/>
                </a:lnTo>
                <a:lnTo>
                  <a:pt x="545825" y="183914"/>
                </a:lnTo>
                <a:lnTo>
                  <a:pt x="529745" y="143685"/>
                </a:lnTo>
                <a:lnTo>
                  <a:pt x="505625" y="105930"/>
                </a:lnTo>
                <a:lnTo>
                  <a:pt x="473464" y="71636"/>
                </a:lnTo>
                <a:lnTo>
                  <a:pt x="434971" y="42981"/>
                </a:lnTo>
                <a:lnTo>
                  <a:pt x="392593" y="21490"/>
                </a:lnTo>
                <a:lnTo>
                  <a:pt x="347441" y="7163"/>
                </a:lnTo>
                <a:lnTo>
                  <a:pt x="300623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01616" y="1349213"/>
            <a:ext cx="1833999" cy="1231812"/>
            <a:chOff x="4400775" y="2338539"/>
            <a:chExt cx="4032250" cy="2708275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3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48" name="object 44"/>
          <p:cNvGraphicFramePr>
            <a:graphicFrameLocks noGrp="1"/>
          </p:cNvGraphicFramePr>
          <p:nvPr/>
        </p:nvGraphicFramePr>
        <p:xfrm>
          <a:off x="325091" y="3767730"/>
          <a:ext cx="1366578" cy="1648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8"/>
                <a:gridCol w="252806"/>
                <a:gridCol w="421344"/>
                <a:gridCol w="252806"/>
                <a:gridCol w="255594"/>
              </a:tblGrid>
              <a:tr h="18010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  <a:tabLst>
                          <a:tab pos="549275" algn="l"/>
                          <a:tab pos="894715" algn="l"/>
                          <a:tab pos="1931035" algn="l"/>
                          <a:tab pos="2276475" algn="l"/>
                        </a:tabLst>
                      </a:pP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dst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route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   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|</a:t>
                      </a:r>
                      <a:r>
                        <a:rPr lang="zh-CN" altLang="en-US" sz="1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altLang="zh-CN" sz="1100" dirty="0">
                          <a:latin typeface="Trebuchet MS" panose="020B0603020202020204"/>
                          <a:cs typeface="Trebuchet MS" panose="020B0603020202020204"/>
                        </a:rPr>
                        <a:t>cost</a:t>
                      </a:r>
                      <a:endParaRPr sz="11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6685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A-B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ea typeface="+mn-ea"/>
                          <a:cs typeface="Arial" panose="020B0604020202020204"/>
                        </a:rPr>
                        <a:t>3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ea typeface="+mn-ea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7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-5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66686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A-D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lang="en-US" altLang="zh-CN"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154782">
                <a:tc>
                  <a:txBody>
                    <a:bodyPr/>
                    <a:lstStyle/>
                    <a:p>
                      <a:pPr marL="3175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1100" b="1" spc="40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A-F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|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2535"/>
                        </a:lnSpc>
                      </a:pPr>
                      <a:r>
                        <a:rPr sz="1100" b="1" dirty="0">
                          <a:solidFill>
                            <a:srgbClr val="9437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100" b="1" dirty="0">
                        <a:solidFill>
                          <a:srgbClr val="9437FF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9" name="object 46"/>
          <p:cNvSpPr txBox="1"/>
          <p:nvPr/>
        </p:nvSpPr>
        <p:spPr>
          <a:xfrm>
            <a:off x="547626" y="3646386"/>
            <a:ext cx="828910" cy="14380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174" y="422716"/>
            <a:ext cx="4407865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338455" marR="2540" indent="-332740">
              <a:spcBef>
                <a:spcPts val="50"/>
              </a:spcBef>
            </a:pPr>
            <a:r>
              <a:rPr sz="1340" b="0" spc="2" dirty="0"/>
              <a:t>link-state routing: </a:t>
            </a:r>
            <a:r>
              <a:rPr sz="1340" b="0" spc="9" dirty="0"/>
              <a:t>disseminate </a:t>
            </a:r>
            <a:r>
              <a:rPr sz="1340" b="0" spc="2" dirty="0"/>
              <a:t>full </a:t>
            </a:r>
            <a:r>
              <a:rPr sz="1340" b="0" spc="20" dirty="0"/>
              <a:t>topology </a:t>
            </a:r>
            <a:r>
              <a:rPr sz="1340" b="0" spc="5" dirty="0"/>
              <a:t>information  </a:t>
            </a:r>
            <a:r>
              <a:rPr sz="1340" b="0" spc="2" dirty="0"/>
              <a:t>so that </a:t>
            </a:r>
            <a:r>
              <a:rPr sz="1340" b="0" spc="18" dirty="0"/>
              <a:t>nodes </a:t>
            </a:r>
            <a:r>
              <a:rPr sz="1340" b="0" spc="27" dirty="0"/>
              <a:t>can </a:t>
            </a:r>
            <a:r>
              <a:rPr sz="1340" b="0" spc="2" dirty="0"/>
              <a:t>run a </a:t>
            </a:r>
            <a:r>
              <a:rPr sz="1340" b="0" spc="9" dirty="0"/>
              <a:t>shortest-path</a:t>
            </a:r>
            <a:r>
              <a:rPr sz="1340" b="0" spc="-34" dirty="0"/>
              <a:t> </a:t>
            </a:r>
            <a:r>
              <a:rPr sz="1340" b="0" spc="11" dirty="0"/>
              <a:t>algorithm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4"/>
            <a:ext cx="672370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-2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258" y="1218653"/>
            <a:ext cx="1832555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-1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3"/>
                </a:lnTo>
                <a:lnTo>
                  <a:pt x="8040" y="183914"/>
                </a:lnTo>
                <a:lnTo>
                  <a:pt x="0" y="225627"/>
                </a:lnTo>
                <a:lnTo>
                  <a:pt x="0" y="267835"/>
                </a:lnTo>
                <a:lnTo>
                  <a:pt x="8040" y="309548"/>
                </a:lnTo>
                <a:lnTo>
                  <a:pt x="24122" y="349777"/>
                </a:lnTo>
                <a:lnTo>
                  <a:pt x="48245" y="387533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3"/>
                </a:lnTo>
                <a:lnTo>
                  <a:pt x="529745" y="349777"/>
                </a:lnTo>
                <a:lnTo>
                  <a:pt x="545825" y="309548"/>
                </a:lnTo>
                <a:lnTo>
                  <a:pt x="553865" y="267835"/>
                </a:lnTo>
                <a:lnTo>
                  <a:pt x="553865" y="225627"/>
                </a:lnTo>
                <a:lnTo>
                  <a:pt x="545825" y="183914"/>
                </a:lnTo>
                <a:lnTo>
                  <a:pt x="529745" y="143683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1" y="0"/>
                  </a:moveTo>
                  <a:lnTo>
                    <a:pt x="253246" y="0"/>
                  </a:lnTo>
                  <a:lnTo>
                    <a:pt x="206427" y="7162"/>
                  </a:lnTo>
                  <a:lnTo>
                    <a:pt x="161273" y="21488"/>
                  </a:lnTo>
                  <a:lnTo>
                    <a:pt x="118894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4" y="450478"/>
                  </a:lnTo>
                  <a:lnTo>
                    <a:pt x="161273" y="471967"/>
                  </a:lnTo>
                  <a:lnTo>
                    <a:pt x="206427" y="486293"/>
                  </a:lnTo>
                  <a:lnTo>
                    <a:pt x="253246" y="493455"/>
                  </a:lnTo>
                  <a:lnTo>
                    <a:pt x="300621" y="493455"/>
                  </a:lnTo>
                  <a:lnTo>
                    <a:pt x="347441" y="486293"/>
                  </a:lnTo>
                  <a:lnTo>
                    <a:pt x="392595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5" y="21488"/>
                  </a:lnTo>
                  <a:lnTo>
                    <a:pt x="347441" y="7162"/>
                  </a:lnTo>
                  <a:lnTo>
                    <a:pt x="300621" y="0"/>
                  </a:lnTo>
                  <a:close/>
                </a:path>
              </a:pathLst>
            </a:custGeom>
            <a:solidFill>
              <a:srgbClr val="FF7E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7E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06010" y="4057489"/>
            <a:ext cx="1989961" cy="598828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760730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6380" marR="1016635" indent="-241300" defTabSz="415925">
              <a:lnSpc>
                <a:spcPct val="102000"/>
              </a:lnSpc>
              <a:spcBef>
                <a:spcPts val="7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Distance-vector Routing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GB" altLang="zh-CN" sz="1600" b="0" dirty="0"/>
              <a:t>In link-state, nodes calculate full shortest paths. </a:t>
            </a:r>
            <a:r>
              <a:rPr kumimoji="1" lang="en-US" altLang="zh-CN" sz="1600" b="0" dirty="0"/>
              <a:t>But</a:t>
            </a:r>
            <a:r>
              <a:rPr kumimoji="1" lang="zh-CN" altLang="en-US" sz="1600" b="0" dirty="0"/>
              <a:t> </a:t>
            </a:r>
            <a:r>
              <a:rPr kumimoji="1" lang="en-US" altLang="zh-CN" sz="1600" b="0" dirty="0"/>
              <a:t>actually</a:t>
            </a:r>
            <a:r>
              <a:rPr kumimoji="1" lang="zh-CN" altLang="en-US" sz="1600" b="0" dirty="0"/>
              <a:t> </a:t>
            </a:r>
            <a:r>
              <a:rPr kumimoji="1" lang="en-US" altLang="zh-CN" sz="1600" b="0" dirty="0"/>
              <a:t>t</a:t>
            </a:r>
            <a:r>
              <a:rPr kumimoji="1" lang="en-GB" altLang="zh-CN" sz="1600" b="0" dirty="0"/>
              <a:t>hey only need the route (first-hop) to a destination</a:t>
            </a:r>
            <a:endParaRPr kumimoji="1" lang="en-GB" altLang="zh-CN" sz="1600" b="0" dirty="0"/>
          </a:p>
          <a:p>
            <a:r>
              <a:rPr kumimoji="1" lang="en-GB" altLang="zh-CN" sz="1600" b="0" dirty="0"/>
              <a:t>Advertisement format: Each node's advertisement is a list of all</a:t>
            </a:r>
            <a:r>
              <a:rPr kumimoji="1" lang="zh-CN" altLang="en-US" sz="1600" b="0" dirty="0"/>
              <a:t> </a:t>
            </a:r>
            <a:r>
              <a:rPr kumimoji="1" lang="en-GB" altLang="zh-CN" sz="1600" b="0" dirty="0"/>
              <a:t>the nodes it knows about, and its current costs to those nodes</a:t>
            </a:r>
            <a:endParaRPr kumimoji="1" lang="en-GB" altLang="zh-CN" sz="1600" b="0" dirty="0"/>
          </a:p>
          <a:p>
            <a:pPr lvl="1"/>
            <a:r>
              <a:rPr kumimoji="1" lang="en-GB" altLang="zh-CN" sz="1600" dirty="0"/>
              <a:t>Initially, this advertisement is just [(self, 0)].</a:t>
            </a:r>
            <a:endParaRPr kumimoji="1" lang="en-GB" altLang="zh-CN" sz="1600" dirty="0"/>
          </a:p>
          <a:p>
            <a:r>
              <a:rPr kumimoji="1" lang="en-GB" altLang="zh-CN" sz="1600" b="0" dirty="0"/>
              <a:t>Nodes who receive an advertisement: Node X's advertisement will</a:t>
            </a:r>
            <a:r>
              <a:rPr kumimoji="1" lang="zh-CN" altLang="en-US" sz="1600" b="0" dirty="0"/>
              <a:t> </a:t>
            </a:r>
            <a:r>
              <a:rPr kumimoji="1" lang="en-GB" altLang="zh-CN" sz="1600" b="0" dirty="0"/>
              <a:t>be received only by its neighbors</a:t>
            </a:r>
            <a:endParaRPr kumimoji="1" lang="en-GB" altLang="zh-CN" sz="1600" b="0" dirty="0"/>
          </a:p>
          <a:p>
            <a:r>
              <a:rPr kumimoji="1" lang="en-GB" altLang="zh-CN" sz="1600" b="0" dirty="0"/>
              <a:t>Integrate step: When node X receives an advertisement from its</a:t>
            </a:r>
            <a:r>
              <a:rPr kumimoji="1" lang="zh-CN" altLang="en-US" sz="1600" b="0" dirty="0"/>
              <a:t> </a:t>
            </a:r>
            <a:r>
              <a:rPr kumimoji="1" lang="en-GB" altLang="zh-CN" sz="1600" b="0" dirty="0"/>
              <a:t>neighbor Y, this advertisement will be a list of [(</a:t>
            </a:r>
            <a:r>
              <a:rPr kumimoji="1" lang="en-GB" altLang="zh-CN" sz="1600" b="0" dirty="0" err="1"/>
              <a:t>dst</a:t>
            </a:r>
            <a:r>
              <a:rPr kumimoji="1" lang="en-GB" altLang="zh-CN" sz="1600" b="0" dirty="0"/>
              <a:t>, cost)] pairs. Each cost represents Y's cost to </a:t>
            </a:r>
            <a:r>
              <a:rPr kumimoji="1" lang="en-GB" altLang="zh-CN" sz="1600" b="0" dirty="0" err="1"/>
              <a:t>dst</a:t>
            </a:r>
            <a:endParaRPr kumimoji="1" lang="en-GB" altLang="zh-CN" sz="1600" b="0" dirty="0"/>
          </a:p>
          <a:p>
            <a:endParaRPr kumimoji="1" lang="en-GB" altLang="zh-CN" sz="16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Distance-vector Routing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GB" altLang="zh-CN" dirty="0"/>
              <a:t>For each (</a:t>
            </a:r>
            <a:r>
              <a:rPr lang="en-GB" altLang="zh-CN" dirty="0" err="1"/>
              <a:t>dst</a:t>
            </a:r>
            <a:r>
              <a:rPr lang="en-GB" altLang="zh-CN" dirty="0"/>
              <a:t>, cost) in the advertisement, X needs to check for two things: </a:t>
            </a:r>
            <a:endParaRPr lang="en-GB" altLang="zh-CN" dirty="0"/>
          </a:p>
          <a:p>
            <a:pPr lvl="1"/>
            <a:r>
              <a:rPr lang="en-GB" altLang="zh-CN" dirty="0"/>
              <a:t>If X is already using Y to get to </a:t>
            </a:r>
            <a:r>
              <a:rPr lang="en-GB" altLang="zh-CN" dirty="0" err="1"/>
              <a:t>dst</a:t>
            </a:r>
            <a:r>
              <a:rPr lang="en-GB" altLang="zh-CN" dirty="0"/>
              <a:t>, update the cost information (remember, costs can change!) </a:t>
            </a:r>
            <a:endParaRPr lang="en-GB" altLang="zh-CN" dirty="0"/>
          </a:p>
          <a:p>
            <a:pPr lvl="1"/>
            <a:r>
              <a:rPr lang="en-GB" altLang="zh-CN" dirty="0"/>
              <a:t>If X is not using Y to get to dst, see if Y could provide a better path; if so, update the routing and cost information </a:t>
            </a:r>
            <a:endParaRPr lang="en-GB" altLang="zh-CN" dirty="0"/>
          </a:p>
          <a:p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83756" y="1273777"/>
            <a:ext cx="1951837" cy="2409037"/>
          </a:xfrm>
          <a:custGeom>
            <a:avLst/>
            <a:gdLst/>
            <a:ahLst/>
            <a:cxnLst/>
            <a:rect l="l" t="t" r="r" b="b"/>
            <a:pathLst>
              <a:path w="4291330" h="5296534">
                <a:moveTo>
                  <a:pt x="553847" y="5028565"/>
                </a:moveTo>
                <a:lnTo>
                  <a:pt x="545807" y="4986845"/>
                </a:lnTo>
                <a:lnTo>
                  <a:pt x="529729" y="4946624"/>
                </a:lnTo>
                <a:lnTo>
                  <a:pt x="505612" y="4908867"/>
                </a:lnTo>
                <a:lnTo>
                  <a:pt x="473456" y="4874577"/>
                </a:lnTo>
                <a:lnTo>
                  <a:pt x="434962" y="4845913"/>
                </a:lnTo>
                <a:lnTo>
                  <a:pt x="392582" y="4824425"/>
                </a:lnTo>
                <a:lnTo>
                  <a:pt x="347433" y="4810099"/>
                </a:lnTo>
                <a:lnTo>
                  <a:pt x="300609" y="4802937"/>
                </a:lnTo>
                <a:lnTo>
                  <a:pt x="253238" y="4802937"/>
                </a:lnTo>
                <a:lnTo>
                  <a:pt x="206413" y="4810099"/>
                </a:lnTo>
                <a:lnTo>
                  <a:pt x="161264" y="4824425"/>
                </a:lnTo>
                <a:lnTo>
                  <a:pt x="118884" y="4845913"/>
                </a:lnTo>
                <a:lnTo>
                  <a:pt x="80391" y="4874577"/>
                </a:lnTo>
                <a:lnTo>
                  <a:pt x="48234" y="4908867"/>
                </a:lnTo>
                <a:lnTo>
                  <a:pt x="24117" y="4946624"/>
                </a:lnTo>
                <a:lnTo>
                  <a:pt x="8039" y="4986845"/>
                </a:lnTo>
                <a:lnTo>
                  <a:pt x="0" y="5028565"/>
                </a:lnTo>
                <a:lnTo>
                  <a:pt x="0" y="5070767"/>
                </a:lnTo>
                <a:lnTo>
                  <a:pt x="8039" y="5112486"/>
                </a:lnTo>
                <a:lnTo>
                  <a:pt x="24117" y="5152707"/>
                </a:lnTo>
                <a:lnTo>
                  <a:pt x="48234" y="5190464"/>
                </a:lnTo>
                <a:lnTo>
                  <a:pt x="80391" y="5224767"/>
                </a:lnTo>
                <a:lnTo>
                  <a:pt x="118884" y="5253418"/>
                </a:lnTo>
                <a:lnTo>
                  <a:pt x="161264" y="5274907"/>
                </a:lnTo>
                <a:lnTo>
                  <a:pt x="206413" y="5289232"/>
                </a:lnTo>
                <a:lnTo>
                  <a:pt x="253238" y="5296395"/>
                </a:lnTo>
                <a:lnTo>
                  <a:pt x="300609" y="5296395"/>
                </a:lnTo>
                <a:lnTo>
                  <a:pt x="347433" y="5289232"/>
                </a:lnTo>
                <a:lnTo>
                  <a:pt x="392582" y="5274907"/>
                </a:lnTo>
                <a:lnTo>
                  <a:pt x="434962" y="5253418"/>
                </a:lnTo>
                <a:lnTo>
                  <a:pt x="473456" y="5224767"/>
                </a:lnTo>
                <a:lnTo>
                  <a:pt x="505612" y="5190464"/>
                </a:lnTo>
                <a:lnTo>
                  <a:pt x="529729" y="5152707"/>
                </a:lnTo>
                <a:lnTo>
                  <a:pt x="545807" y="5112486"/>
                </a:lnTo>
                <a:lnTo>
                  <a:pt x="553847" y="5070767"/>
                </a:lnTo>
                <a:lnTo>
                  <a:pt x="553847" y="5028565"/>
                </a:lnTo>
                <a:close/>
              </a:path>
              <a:path w="4291330" h="5296534">
                <a:moveTo>
                  <a:pt x="4290796" y="225628"/>
                </a:moveTo>
                <a:lnTo>
                  <a:pt x="4282757" y="183908"/>
                </a:lnTo>
                <a:lnTo>
                  <a:pt x="4266679" y="143687"/>
                </a:lnTo>
                <a:lnTo>
                  <a:pt x="4242562" y="105930"/>
                </a:lnTo>
                <a:lnTo>
                  <a:pt x="4210393" y="71628"/>
                </a:lnTo>
                <a:lnTo>
                  <a:pt x="4171899" y="42976"/>
                </a:lnTo>
                <a:lnTo>
                  <a:pt x="4129519" y="21488"/>
                </a:lnTo>
                <a:lnTo>
                  <a:pt x="4084370" y="7162"/>
                </a:lnTo>
                <a:lnTo>
                  <a:pt x="4037558" y="0"/>
                </a:lnTo>
                <a:lnTo>
                  <a:pt x="3990175" y="0"/>
                </a:lnTo>
                <a:lnTo>
                  <a:pt x="3943362" y="7162"/>
                </a:lnTo>
                <a:lnTo>
                  <a:pt x="3898214" y="21488"/>
                </a:lnTo>
                <a:lnTo>
                  <a:pt x="3855834" y="42976"/>
                </a:lnTo>
                <a:lnTo>
                  <a:pt x="3817340" y="71628"/>
                </a:lnTo>
                <a:lnTo>
                  <a:pt x="3785171" y="105930"/>
                </a:lnTo>
                <a:lnTo>
                  <a:pt x="3761054" y="143687"/>
                </a:lnTo>
                <a:lnTo>
                  <a:pt x="3744976" y="183908"/>
                </a:lnTo>
                <a:lnTo>
                  <a:pt x="3736937" y="225628"/>
                </a:lnTo>
                <a:lnTo>
                  <a:pt x="3736937" y="267830"/>
                </a:lnTo>
                <a:lnTo>
                  <a:pt x="3744976" y="309549"/>
                </a:lnTo>
                <a:lnTo>
                  <a:pt x="3761054" y="349770"/>
                </a:lnTo>
                <a:lnTo>
                  <a:pt x="3785171" y="387527"/>
                </a:lnTo>
                <a:lnTo>
                  <a:pt x="3817340" y="421830"/>
                </a:lnTo>
                <a:lnTo>
                  <a:pt x="3855834" y="450481"/>
                </a:lnTo>
                <a:lnTo>
                  <a:pt x="3898214" y="471970"/>
                </a:lnTo>
                <a:lnTo>
                  <a:pt x="3943362" y="486295"/>
                </a:lnTo>
                <a:lnTo>
                  <a:pt x="3990175" y="493458"/>
                </a:lnTo>
                <a:lnTo>
                  <a:pt x="4037558" y="493458"/>
                </a:lnTo>
                <a:lnTo>
                  <a:pt x="4084370" y="486295"/>
                </a:lnTo>
                <a:lnTo>
                  <a:pt x="4129519" y="471970"/>
                </a:lnTo>
                <a:lnTo>
                  <a:pt x="4171899" y="450481"/>
                </a:lnTo>
                <a:lnTo>
                  <a:pt x="4210393" y="421830"/>
                </a:lnTo>
                <a:lnTo>
                  <a:pt x="4242562" y="387527"/>
                </a:lnTo>
                <a:lnTo>
                  <a:pt x="4266679" y="349770"/>
                </a:lnTo>
                <a:lnTo>
                  <a:pt x="4282757" y="309549"/>
                </a:lnTo>
                <a:lnTo>
                  <a:pt x="4290796" y="267830"/>
                </a:lnTo>
                <a:lnTo>
                  <a:pt x="4290796" y="225628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2" name="object 32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8722" y="3941222"/>
            <a:ext cx="3850242" cy="526138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617855" defTabSz="415925">
              <a:spcBef>
                <a:spcPts val="50"/>
              </a:spcBef>
              <a:tabLst>
                <a:tab pos="910590" algn="l"/>
                <a:tab pos="1350645" algn="l"/>
                <a:tab pos="245046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23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first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1436370" defTabSz="415925">
              <a:lnSpc>
                <a:spcPts val="990"/>
              </a:lnSpc>
              <a:spcBef>
                <a:spcPts val="770"/>
              </a:spcBef>
            </a:pPr>
            <a:r>
              <a:rPr sz="885" spc="-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885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could 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also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include </a:t>
            </a:r>
            <a:r>
              <a:rPr sz="885" spc="10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(A,0)</a:t>
            </a:r>
            <a:r>
              <a:rPr sz="885" spc="-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-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here</a:t>
            </a:r>
            <a:endParaRPr sz="88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lnSpc>
                <a:spcPts val="990"/>
              </a:lnSpc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266822" y="2209619"/>
            <a:ext cx="300660" cy="531715"/>
          </a:xfrm>
          <a:custGeom>
            <a:avLst/>
            <a:gdLst/>
            <a:ahLst/>
            <a:cxnLst/>
            <a:rect l="l" t="t" r="r" b="b"/>
            <a:pathLst>
              <a:path w="661035" h="1169035">
                <a:moveTo>
                  <a:pt x="325716" y="1006119"/>
                </a:moveTo>
                <a:lnTo>
                  <a:pt x="320408" y="964806"/>
                </a:lnTo>
                <a:lnTo>
                  <a:pt x="304507" y="925690"/>
                </a:lnTo>
                <a:lnTo>
                  <a:pt x="278015" y="890968"/>
                </a:lnTo>
                <a:lnTo>
                  <a:pt x="243281" y="864463"/>
                </a:lnTo>
                <a:lnTo>
                  <a:pt x="204165" y="848563"/>
                </a:lnTo>
                <a:lnTo>
                  <a:pt x="162852" y="843267"/>
                </a:lnTo>
                <a:lnTo>
                  <a:pt x="121539" y="848563"/>
                </a:lnTo>
                <a:lnTo>
                  <a:pt x="82423" y="864463"/>
                </a:lnTo>
                <a:lnTo>
                  <a:pt x="47688" y="890968"/>
                </a:lnTo>
                <a:lnTo>
                  <a:pt x="21196" y="925690"/>
                </a:lnTo>
                <a:lnTo>
                  <a:pt x="5295" y="964806"/>
                </a:lnTo>
                <a:lnTo>
                  <a:pt x="0" y="1006119"/>
                </a:lnTo>
                <a:lnTo>
                  <a:pt x="5295" y="1047432"/>
                </a:lnTo>
                <a:lnTo>
                  <a:pt x="21196" y="1086548"/>
                </a:lnTo>
                <a:lnTo>
                  <a:pt x="47688" y="1121270"/>
                </a:lnTo>
                <a:lnTo>
                  <a:pt x="82423" y="1147775"/>
                </a:lnTo>
                <a:lnTo>
                  <a:pt x="121539" y="1163675"/>
                </a:lnTo>
                <a:lnTo>
                  <a:pt x="162852" y="1168971"/>
                </a:lnTo>
                <a:lnTo>
                  <a:pt x="204165" y="1163675"/>
                </a:lnTo>
                <a:lnTo>
                  <a:pt x="243281" y="1147775"/>
                </a:lnTo>
                <a:lnTo>
                  <a:pt x="278015" y="1121270"/>
                </a:lnTo>
                <a:lnTo>
                  <a:pt x="304507" y="1086548"/>
                </a:lnTo>
                <a:lnTo>
                  <a:pt x="320408" y="1047432"/>
                </a:lnTo>
                <a:lnTo>
                  <a:pt x="325716" y="1006119"/>
                </a:lnTo>
                <a:close/>
              </a:path>
              <a:path w="661035" h="1169035">
                <a:moveTo>
                  <a:pt x="409473" y="162864"/>
                </a:moveTo>
                <a:lnTo>
                  <a:pt x="404177" y="121551"/>
                </a:lnTo>
                <a:lnTo>
                  <a:pt x="388277" y="82435"/>
                </a:lnTo>
                <a:lnTo>
                  <a:pt x="361784" y="47701"/>
                </a:lnTo>
                <a:lnTo>
                  <a:pt x="327050" y="21196"/>
                </a:lnTo>
                <a:lnTo>
                  <a:pt x="287934" y="5295"/>
                </a:lnTo>
                <a:lnTo>
                  <a:pt x="246621" y="0"/>
                </a:lnTo>
                <a:lnTo>
                  <a:pt x="205308" y="5295"/>
                </a:lnTo>
                <a:lnTo>
                  <a:pt x="166192" y="21196"/>
                </a:lnTo>
                <a:lnTo>
                  <a:pt x="131457" y="47701"/>
                </a:lnTo>
                <a:lnTo>
                  <a:pt x="104965" y="82435"/>
                </a:lnTo>
                <a:lnTo>
                  <a:pt x="89065" y="121551"/>
                </a:lnTo>
                <a:lnTo>
                  <a:pt x="83756" y="162864"/>
                </a:lnTo>
                <a:lnTo>
                  <a:pt x="89065" y="204177"/>
                </a:lnTo>
                <a:lnTo>
                  <a:pt x="104965" y="243293"/>
                </a:lnTo>
                <a:lnTo>
                  <a:pt x="131457" y="278015"/>
                </a:lnTo>
                <a:lnTo>
                  <a:pt x="166192" y="304520"/>
                </a:lnTo>
                <a:lnTo>
                  <a:pt x="205308" y="320421"/>
                </a:lnTo>
                <a:lnTo>
                  <a:pt x="246621" y="325716"/>
                </a:lnTo>
                <a:lnTo>
                  <a:pt x="287934" y="320421"/>
                </a:lnTo>
                <a:lnTo>
                  <a:pt x="327050" y="304520"/>
                </a:lnTo>
                <a:lnTo>
                  <a:pt x="361784" y="278015"/>
                </a:lnTo>
                <a:lnTo>
                  <a:pt x="388277" y="243293"/>
                </a:lnTo>
                <a:lnTo>
                  <a:pt x="404177" y="204177"/>
                </a:lnTo>
                <a:lnTo>
                  <a:pt x="409473" y="162864"/>
                </a:lnTo>
                <a:close/>
              </a:path>
              <a:path w="661035" h="1169035">
                <a:moveTo>
                  <a:pt x="660781" y="586371"/>
                </a:moveTo>
                <a:lnTo>
                  <a:pt x="655485" y="545058"/>
                </a:lnTo>
                <a:lnTo>
                  <a:pt x="639584" y="505942"/>
                </a:lnTo>
                <a:lnTo>
                  <a:pt x="613079" y="471220"/>
                </a:lnTo>
                <a:lnTo>
                  <a:pt x="578358" y="444715"/>
                </a:lnTo>
                <a:lnTo>
                  <a:pt x="539229" y="428815"/>
                </a:lnTo>
                <a:lnTo>
                  <a:pt x="497916" y="423519"/>
                </a:lnTo>
                <a:lnTo>
                  <a:pt x="456603" y="428815"/>
                </a:lnTo>
                <a:lnTo>
                  <a:pt x="417487" y="444715"/>
                </a:lnTo>
                <a:lnTo>
                  <a:pt x="382765" y="471220"/>
                </a:lnTo>
                <a:lnTo>
                  <a:pt x="356260" y="505942"/>
                </a:lnTo>
                <a:lnTo>
                  <a:pt x="340360" y="545058"/>
                </a:lnTo>
                <a:lnTo>
                  <a:pt x="335064" y="586371"/>
                </a:lnTo>
                <a:lnTo>
                  <a:pt x="340360" y="627684"/>
                </a:lnTo>
                <a:lnTo>
                  <a:pt x="356260" y="666813"/>
                </a:lnTo>
                <a:lnTo>
                  <a:pt x="382765" y="701535"/>
                </a:lnTo>
                <a:lnTo>
                  <a:pt x="417487" y="728040"/>
                </a:lnTo>
                <a:lnTo>
                  <a:pt x="456603" y="743940"/>
                </a:lnTo>
                <a:lnTo>
                  <a:pt x="497916" y="749236"/>
                </a:lnTo>
                <a:lnTo>
                  <a:pt x="539229" y="743940"/>
                </a:lnTo>
                <a:lnTo>
                  <a:pt x="578358" y="728040"/>
                </a:lnTo>
                <a:lnTo>
                  <a:pt x="613079" y="701535"/>
                </a:lnTo>
                <a:lnTo>
                  <a:pt x="639584" y="666813"/>
                </a:lnTo>
                <a:lnTo>
                  <a:pt x="655485" y="627684"/>
                </a:lnTo>
                <a:lnTo>
                  <a:pt x="660781" y="586371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9154" y="4536877"/>
            <a:ext cx="1425609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408935" y="4577726"/>
            <a:ext cx="2470266" cy="553017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marR="2540" algn="ctr" defTabSz="415925">
              <a:lnSpc>
                <a:spcPct val="100000"/>
              </a:lnSpc>
              <a:spcBef>
                <a:spcPts val="55"/>
              </a:spcBef>
            </a:pP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 reflects </a:t>
            </a: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 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table,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right </a:t>
            </a:r>
            <a:r>
              <a:rPr sz="1180" spc="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now,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only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knows  </a:t>
            </a:r>
            <a:r>
              <a:rPr sz="1180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about </a:t>
            </a: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its</a:t>
            </a:r>
            <a:r>
              <a:rPr sz="1180" spc="-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83756" y="1273777"/>
            <a:ext cx="1951837" cy="2409037"/>
          </a:xfrm>
          <a:custGeom>
            <a:avLst/>
            <a:gdLst/>
            <a:ahLst/>
            <a:cxnLst/>
            <a:rect l="l" t="t" r="r" b="b"/>
            <a:pathLst>
              <a:path w="4291330" h="5296534">
                <a:moveTo>
                  <a:pt x="553847" y="5028565"/>
                </a:moveTo>
                <a:lnTo>
                  <a:pt x="545807" y="4986845"/>
                </a:lnTo>
                <a:lnTo>
                  <a:pt x="529729" y="4946624"/>
                </a:lnTo>
                <a:lnTo>
                  <a:pt x="505612" y="4908867"/>
                </a:lnTo>
                <a:lnTo>
                  <a:pt x="473456" y="4874577"/>
                </a:lnTo>
                <a:lnTo>
                  <a:pt x="434962" y="4845913"/>
                </a:lnTo>
                <a:lnTo>
                  <a:pt x="392582" y="4824425"/>
                </a:lnTo>
                <a:lnTo>
                  <a:pt x="347433" y="4810099"/>
                </a:lnTo>
                <a:lnTo>
                  <a:pt x="300609" y="4802937"/>
                </a:lnTo>
                <a:lnTo>
                  <a:pt x="253238" y="4802937"/>
                </a:lnTo>
                <a:lnTo>
                  <a:pt x="206413" y="4810099"/>
                </a:lnTo>
                <a:lnTo>
                  <a:pt x="161264" y="4824425"/>
                </a:lnTo>
                <a:lnTo>
                  <a:pt x="118884" y="4845913"/>
                </a:lnTo>
                <a:lnTo>
                  <a:pt x="80391" y="4874577"/>
                </a:lnTo>
                <a:lnTo>
                  <a:pt x="48234" y="4908867"/>
                </a:lnTo>
                <a:lnTo>
                  <a:pt x="24117" y="4946624"/>
                </a:lnTo>
                <a:lnTo>
                  <a:pt x="8039" y="4986845"/>
                </a:lnTo>
                <a:lnTo>
                  <a:pt x="0" y="5028565"/>
                </a:lnTo>
                <a:lnTo>
                  <a:pt x="0" y="5070767"/>
                </a:lnTo>
                <a:lnTo>
                  <a:pt x="8039" y="5112486"/>
                </a:lnTo>
                <a:lnTo>
                  <a:pt x="24117" y="5152707"/>
                </a:lnTo>
                <a:lnTo>
                  <a:pt x="48234" y="5190464"/>
                </a:lnTo>
                <a:lnTo>
                  <a:pt x="80391" y="5224767"/>
                </a:lnTo>
                <a:lnTo>
                  <a:pt x="118884" y="5253418"/>
                </a:lnTo>
                <a:lnTo>
                  <a:pt x="161264" y="5274907"/>
                </a:lnTo>
                <a:lnTo>
                  <a:pt x="206413" y="5289232"/>
                </a:lnTo>
                <a:lnTo>
                  <a:pt x="253238" y="5296395"/>
                </a:lnTo>
                <a:lnTo>
                  <a:pt x="300609" y="5296395"/>
                </a:lnTo>
                <a:lnTo>
                  <a:pt x="347433" y="5289232"/>
                </a:lnTo>
                <a:lnTo>
                  <a:pt x="392582" y="5274907"/>
                </a:lnTo>
                <a:lnTo>
                  <a:pt x="434962" y="5253418"/>
                </a:lnTo>
                <a:lnTo>
                  <a:pt x="473456" y="5224767"/>
                </a:lnTo>
                <a:lnTo>
                  <a:pt x="505612" y="5190464"/>
                </a:lnTo>
                <a:lnTo>
                  <a:pt x="529729" y="5152707"/>
                </a:lnTo>
                <a:lnTo>
                  <a:pt x="545807" y="5112486"/>
                </a:lnTo>
                <a:lnTo>
                  <a:pt x="553847" y="5070767"/>
                </a:lnTo>
                <a:lnTo>
                  <a:pt x="553847" y="5028565"/>
                </a:lnTo>
                <a:close/>
              </a:path>
              <a:path w="4291330" h="5296534">
                <a:moveTo>
                  <a:pt x="4290796" y="225628"/>
                </a:moveTo>
                <a:lnTo>
                  <a:pt x="4282757" y="183908"/>
                </a:lnTo>
                <a:lnTo>
                  <a:pt x="4266679" y="143687"/>
                </a:lnTo>
                <a:lnTo>
                  <a:pt x="4242562" y="105930"/>
                </a:lnTo>
                <a:lnTo>
                  <a:pt x="4210393" y="71628"/>
                </a:lnTo>
                <a:lnTo>
                  <a:pt x="4171899" y="42976"/>
                </a:lnTo>
                <a:lnTo>
                  <a:pt x="4129519" y="21488"/>
                </a:lnTo>
                <a:lnTo>
                  <a:pt x="4084370" y="7162"/>
                </a:lnTo>
                <a:lnTo>
                  <a:pt x="4037558" y="0"/>
                </a:lnTo>
                <a:lnTo>
                  <a:pt x="3990175" y="0"/>
                </a:lnTo>
                <a:lnTo>
                  <a:pt x="3943362" y="7162"/>
                </a:lnTo>
                <a:lnTo>
                  <a:pt x="3898214" y="21488"/>
                </a:lnTo>
                <a:lnTo>
                  <a:pt x="3855834" y="42976"/>
                </a:lnTo>
                <a:lnTo>
                  <a:pt x="3817340" y="71628"/>
                </a:lnTo>
                <a:lnTo>
                  <a:pt x="3785171" y="105930"/>
                </a:lnTo>
                <a:lnTo>
                  <a:pt x="3761054" y="143687"/>
                </a:lnTo>
                <a:lnTo>
                  <a:pt x="3744976" y="183908"/>
                </a:lnTo>
                <a:lnTo>
                  <a:pt x="3736937" y="225628"/>
                </a:lnTo>
                <a:lnTo>
                  <a:pt x="3736937" y="267830"/>
                </a:lnTo>
                <a:lnTo>
                  <a:pt x="3744976" y="309549"/>
                </a:lnTo>
                <a:lnTo>
                  <a:pt x="3761054" y="349770"/>
                </a:lnTo>
                <a:lnTo>
                  <a:pt x="3785171" y="387527"/>
                </a:lnTo>
                <a:lnTo>
                  <a:pt x="3817340" y="421830"/>
                </a:lnTo>
                <a:lnTo>
                  <a:pt x="3855834" y="450481"/>
                </a:lnTo>
                <a:lnTo>
                  <a:pt x="3898214" y="471970"/>
                </a:lnTo>
                <a:lnTo>
                  <a:pt x="3943362" y="486295"/>
                </a:lnTo>
                <a:lnTo>
                  <a:pt x="3990175" y="493458"/>
                </a:lnTo>
                <a:lnTo>
                  <a:pt x="4037558" y="493458"/>
                </a:lnTo>
                <a:lnTo>
                  <a:pt x="4084370" y="486295"/>
                </a:lnTo>
                <a:lnTo>
                  <a:pt x="4129519" y="471970"/>
                </a:lnTo>
                <a:lnTo>
                  <a:pt x="4171899" y="450481"/>
                </a:lnTo>
                <a:lnTo>
                  <a:pt x="4210393" y="421830"/>
                </a:lnTo>
                <a:lnTo>
                  <a:pt x="4242562" y="387527"/>
                </a:lnTo>
                <a:lnTo>
                  <a:pt x="4266679" y="349770"/>
                </a:lnTo>
                <a:lnTo>
                  <a:pt x="4282757" y="309549"/>
                </a:lnTo>
                <a:lnTo>
                  <a:pt x="4290796" y="267830"/>
                </a:lnTo>
                <a:lnTo>
                  <a:pt x="4290796" y="225628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2" name="object 32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8722" y="3941222"/>
            <a:ext cx="3850242" cy="526138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617855" defTabSz="415925">
              <a:spcBef>
                <a:spcPts val="50"/>
              </a:spcBef>
              <a:tabLst>
                <a:tab pos="910590" algn="l"/>
                <a:tab pos="1350645" algn="l"/>
                <a:tab pos="245046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23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first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1436370" defTabSz="415925">
              <a:lnSpc>
                <a:spcPts val="990"/>
              </a:lnSpc>
              <a:spcBef>
                <a:spcPts val="770"/>
              </a:spcBef>
            </a:pPr>
            <a:r>
              <a:rPr sz="885" spc="-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885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could 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also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include </a:t>
            </a:r>
            <a:r>
              <a:rPr sz="885" spc="10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(A,0)</a:t>
            </a:r>
            <a:r>
              <a:rPr sz="885" spc="-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-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here</a:t>
            </a:r>
            <a:endParaRPr sz="88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lnSpc>
                <a:spcPts val="990"/>
              </a:lnSpc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01560" y="1323090"/>
            <a:ext cx="1882231" cy="2293798"/>
          </a:xfrm>
          <a:custGeom>
            <a:avLst/>
            <a:gdLst/>
            <a:ahLst/>
            <a:cxnLst/>
            <a:rect l="l" t="t" r="r" b="b"/>
            <a:pathLst>
              <a:path w="4138295" h="5043170">
                <a:moveTo>
                  <a:pt x="325716" y="162864"/>
                </a:moveTo>
                <a:lnTo>
                  <a:pt x="320408" y="121551"/>
                </a:lnTo>
                <a:lnTo>
                  <a:pt x="304507" y="82423"/>
                </a:lnTo>
                <a:lnTo>
                  <a:pt x="278015" y="47701"/>
                </a:lnTo>
                <a:lnTo>
                  <a:pt x="243281" y="21196"/>
                </a:lnTo>
                <a:lnTo>
                  <a:pt x="204165" y="5295"/>
                </a:lnTo>
                <a:lnTo>
                  <a:pt x="162852" y="0"/>
                </a:lnTo>
                <a:lnTo>
                  <a:pt x="121551" y="5295"/>
                </a:lnTo>
                <a:lnTo>
                  <a:pt x="82435" y="21196"/>
                </a:lnTo>
                <a:lnTo>
                  <a:pt x="47701" y="47701"/>
                </a:lnTo>
                <a:lnTo>
                  <a:pt x="21209" y="82423"/>
                </a:lnTo>
                <a:lnTo>
                  <a:pt x="5308" y="121551"/>
                </a:lnTo>
                <a:lnTo>
                  <a:pt x="0" y="162864"/>
                </a:lnTo>
                <a:lnTo>
                  <a:pt x="5308" y="204177"/>
                </a:lnTo>
                <a:lnTo>
                  <a:pt x="21209" y="243293"/>
                </a:lnTo>
                <a:lnTo>
                  <a:pt x="47701" y="278015"/>
                </a:lnTo>
                <a:lnTo>
                  <a:pt x="82435" y="304507"/>
                </a:lnTo>
                <a:lnTo>
                  <a:pt x="121551" y="320408"/>
                </a:lnTo>
                <a:lnTo>
                  <a:pt x="162852" y="325704"/>
                </a:lnTo>
                <a:lnTo>
                  <a:pt x="204165" y="320408"/>
                </a:lnTo>
                <a:lnTo>
                  <a:pt x="243281" y="304507"/>
                </a:lnTo>
                <a:lnTo>
                  <a:pt x="278015" y="278015"/>
                </a:lnTo>
                <a:lnTo>
                  <a:pt x="304507" y="243293"/>
                </a:lnTo>
                <a:lnTo>
                  <a:pt x="320408" y="204177"/>
                </a:lnTo>
                <a:lnTo>
                  <a:pt x="325716" y="162864"/>
                </a:lnTo>
                <a:close/>
              </a:path>
              <a:path w="4138295" h="5043170">
                <a:moveTo>
                  <a:pt x="437045" y="4879848"/>
                </a:moveTo>
                <a:lnTo>
                  <a:pt x="431749" y="4838535"/>
                </a:lnTo>
                <a:lnTo>
                  <a:pt x="415848" y="4799419"/>
                </a:lnTo>
                <a:lnTo>
                  <a:pt x="389343" y="4764684"/>
                </a:lnTo>
                <a:lnTo>
                  <a:pt x="354622" y="4738192"/>
                </a:lnTo>
                <a:lnTo>
                  <a:pt x="315506" y="4722292"/>
                </a:lnTo>
                <a:lnTo>
                  <a:pt x="274193" y="4716983"/>
                </a:lnTo>
                <a:lnTo>
                  <a:pt x="232879" y="4722292"/>
                </a:lnTo>
                <a:lnTo>
                  <a:pt x="193763" y="4738192"/>
                </a:lnTo>
                <a:lnTo>
                  <a:pt x="159029" y="4764684"/>
                </a:lnTo>
                <a:lnTo>
                  <a:pt x="132537" y="4799419"/>
                </a:lnTo>
                <a:lnTo>
                  <a:pt x="116636" y="4838535"/>
                </a:lnTo>
                <a:lnTo>
                  <a:pt x="111340" y="4879848"/>
                </a:lnTo>
                <a:lnTo>
                  <a:pt x="116636" y="4921161"/>
                </a:lnTo>
                <a:lnTo>
                  <a:pt x="132537" y="4960277"/>
                </a:lnTo>
                <a:lnTo>
                  <a:pt x="159029" y="4994999"/>
                </a:lnTo>
                <a:lnTo>
                  <a:pt x="193763" y="5021504"/>
                </a:lnTo>
                <a:lnTo>
                  <a:pt x="232879" y="5037404"/>
                </a:lnTo>
                <a:lnTo>
                  <a:pt x="274193" y="5042700"/>
                </a:lnTo>
                <a:lnTo>
                  <a:pt x="315506" y="5037404"/>
                </a:lnTo>
                <a:lnTo>
                  <a:pt x="354622" y="5021504"/>
                </a:lnTo>
                <a:lnTo>
                  <a:pt x="389343" y="4994999"/>
                </a:lnTo>
                <a:lnTo>
                  <a:pt x="415848" y="4960277"/>
                </a:lnTo>
                <a:lnTo>
                  <a:pt x="431749" y="4921161"/>
                </a:lnTo>
                <a:lnTo>
                  <a:pt x="437045" y="4879848"/>
                </a:lnTo>
                <a:close/>
              </a:path>
              <a:path w="4138295" h="5043170">
                <a:moveTo>
                  <a:pt x="4137926" y="2513584"/>
                </a:moveTo>
                <a:lnTo>
                  <a:pt x="4132630" y="2472271"/>
                </a:lnTo>
                <a:lnTo>
                  <a:pt x="4116730" y="2433155"/>
                </a:lnTo>
                <a:lnTo>
                  <a:pt x="4090225" y="2398433"/>
                </a:lnTo>
                <a:lnTo>
                  <a:pt x="4055503" y="2371941"/>
                </a:lnTo>
                <a:lnTo>
                  <a:pt x="4016387" y="2356040"/>
                </a:lnTo>
                <a:lnTo>
                  <a:pt x="3975074" y="2350732"/>
                </a:lnTo>
                <a:lnTo>
                  <a:pt x="3933761" y="2356040"/>
                </a:lnTo>
                <a:lnTo>
                  <a:pt x="3894645" y="2371941"/>
                </a:lnTo>
                <a:lnTo>
                  <a:pt x="3859923" y="2398433"/>
                </a:lnTo>
                <a:lnTo>
                  <a:pt x="3833418" y="2433155"/>
                </a:lnTo>
                <a:lnTo>
                  <a:pt x="3817518" y="2472271"/>
                </a:lnTo>
                <a:lnTo>
                  <a:pt x="3812222" y="2513584"/>
                </a:lnTo>
                <a:lnTo>
                  <a:pt x="3817518" y="2554897"/>
                </a:lnTo>
                <a:lnTo>
                  <a:pt x="3833418" y="2594013"/>
                </a:lnTo>
                <a:lnTo>
                  <a:pt x="3859923" y="2628747"/>
                </a:lnTo>
                <a:lnTo>
                  <a:pt x="3894645" y="2655239"/>
                </a:lnTo>
                <a:lnTo>
                  <a:pt x="3933761" y="2671140"/>
                </a:lnTo>
                <a:lnTo>
                  <a:pt x="3975074" y="2676436"/>
                </a:lnTo>
                <a:lnTo>
                  <a:pt x="4016387" y="2671140"/>
                </a:lnTo>
                <a:lnTo>
                  <a:pt x="4055503" y="2655239"/>
                </a:lnTo>
                <a:lnTo>
                  <a:pt x="4090225" y="2628747"/>
                </a:lnTo>
                <a:lnTo>
                  <a:pt x="4116730" y="2594013"/>
                </a:lnTo>
                <a:lnTo>
                  <a:pt x="4132630" y="2554897"/>
                </a:lnTo>
                <a:lnTo>
                  <a:pt x="4137926" y="2513584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9154" y="4536877"/>
            <a:ext cx="1425609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408935" y="4577726"/>
            <a:ext cx="2470266" cy="553017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marR="2540" algn="ctr" defTabSz="415925">
              <a:lnSpc>
                <a:spcPct val="100000"/>
              </a:lnSpc>
              <a:spcBef>
                <a:spcPts val="55"/>
              </a:spcBef>
            </a:pP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 reflects </a:t>
            </a: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 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table,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right </a:t>
            </a:r>
            <a:r>
              <a:rPr sz="1180" spc="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now,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only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knows  </a:t>
            </a:r>
            <a:r>
              <a:rPr sz="1180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about </a:t>
            </a: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its</a:t>
            </a:r>
            <a:r>
              <a:rPr sz="1180" spc="-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83756" y="1273775"/>
            <a:ext cx="1951837" cy="2409037"/>
            <a:chOff x="4141648" y="2172679"/>
            <a:chExt cx="4291330" cy="5296535"/>
          </a:xfrm>
        </p:grpSpPr>
        <p:sp>
          <p:nvSpPr>
            <p:cNvPr id="28" name="object 28"/>
            <p:cNvSpPr/>
            <p:nvPr/>
          </p:nvSpPr>
          <p:spPr>
            <a:xfrm>
              <a:off x="4141648" y="6975615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15" y="0"/>
                  </a:moveTo>
                  <a:lnTo>
                    <a:pt x="253242" y="0"/>
                  </a:lnTo>
                  <a:lnTo>
                    <a:pt x="206424" y="7163"/>
                  </a:lnTo>
                  <a:lnTo>
                    <a:pt x="161271" y="21490"/>
                  </a:lnTo>
                  <a:lnTo>
                    <a:pt x="118893" y="42981"/>
                  </a:lnTo>
                  <a:lnTo>
                    <a:pt x="80400" y="71636"/>
                  </a:lnTo>
                  <a:lnTo>
                    <a:pt x="48240" y="105930"/>
                  </a:lnTo>
                  <a:lnTo>
                    <a:pt x="24120" y="143685"/>
                  </a:lnTo>
                  <a:lnTo>
                    <a:pt x="8040" y="183914"/>
                  </a:lnTo>
                  <a:lnTo>
                    <a:pt x="0" y="225626"/>
                  </a:lnTo>
                  <a:lnTo>
                    <a:pt x="0" y="267834"/>
                  </a:lnTo>
                  <a:lnTo>
                    <a:pt x="8040" y="309546"/>
                  </a:lnTo>
                  <a:lnTo>
                    <a:pt x="24120" y="349775"/>
                  </a:lnTo>
                  <a:lnTo>
                    <a:pt x="48240" y="387531"/>
                  </a:lnTo>
                  <a:lnTo>
                    <a:pt x="80400" y="421824"/>
                  </a:lnTo>
                  <a:lnTo>
                    <a:pt x="118893" y="450476"/>
                  </a:lnTo>
                  <a:lnTo>
                    <a:pt x="161271" y="471964"/>
                  </a:lnTo>
                  <a:lnTo>
                    <a:pt x="206424" y="486290"/>
                  </a:lnTo>
                  <a:lnTo>
                    <a:pt x="253242" y="493453"/>
                  </a:lnTo>
                  <a:lnTo>
                    <a:pt x="300615" y="493453"/>
                  </a:lnTo>
                  <a:lnTo>
                    <a:pt x="347433" y="486290"/>
                  </a:lnTo>
                  <a:lnTo>
                    <a:pt x="392586" y="471964"/>
                  </a:lnTo>
                  <a:lnTo>
                    <a:pt x="434964" y="450476"/>
                  </a:lnTo>
                  <a:lnTo>
                    <a:pt x="473456" y="421824"/>
                  </a:lnTo>
                  <a:lnTo>
                    <a:pt x="505617" y="387531"/>
                  </a:lnTo>
                  <a:lnTo>
                    <a:pt x="529737" y="349775"/>
                  </a:lnTo>
                  <a:lnTo>
                    <a:pt x="545817" y="309546"/>
                  </a:lnTo>
                  <a:lnTo>
                    <a:pt x="553857" y="267834"/>
                  </a:lnTo>
                  <a:lnTo>
                    <a:pt x="553857" y="225626"/>
                  </a:lnTo>
                  <a:lnTo>
                    <a:pt x="545817" y="183914"/>
                  </a:lnTo>
                  <a:lnTo>
                    <a:pt x="529737" y="143685"/>
                  </a:lnTo>
                  <a:lnTo>
                    <a:pt x="505617" y="105930"/>
                  </a:lnTo>
                  <a:lnTo>
                    <a:pt x="473456" y="71636"/>
                  </a:lnTo>
                  <a:lnTo>
                    <a:pt x="434964" y="42981"/>
                  </a:lnTo>
                  <a:lnTo>
                    <a:pt x="392586" y="21490"/>
                  </a:lnTo>
                  <a:lnTo>
                    <a:pt x="347433" y="7163"/>
                  </a:lnTo>
                  <a:lnTo>
                    <a:pt x="300615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878584" y="2172679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30">
                  <a:moveTo>
                    <a:pt x="300623" y="0"/>
                  </a:moveTo>
                  <a:lnTo>
                    <a:pt x="253250" y="0"/>
                  </a:lnTo>
                  <a:lnTo>
                    <a:pt x="206432" y="7162"/>
                  </a:lnTo>
                  <a:lnTo>
                    <a:pt x="161279" y="21488"/>
                  </a:lnTo>
                  <a:lnTo>
                    <a:pt x="118901" y="42977"/>
                  </a:lnTo>
                  <a:lnTo>
                    <a:pt x="80408" y="71628"/>
                  </a:lnTo>
                  <a:lnTo>
                    <a:pt x="48245" y="105925"/>
                  </a:lnTo>
                  <a:lnTo>
                    <a:pt x="24122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2" y="349773"/>
                  </a:lnTo>
                  <a:lnTo>
                    <a:pt x="48245" y="387530"/>
                  </a:lnTo>
                  <a:lnTo>
                    <a:pt x="80408" y="421827"/>
                  </a:lnTo>
                  <a:lnTo>
                    <a:pt x="118901" y="450478"/>
                  </a:lnTo>
                  <a:lnTo>
                    <a:pt x="161279" y="471967"/>
                  </a:lnTo>
                  <a:lnTo>
                    <a:pt x="206432" y="486293"/>
                  </a:lnTo>
                  <a:lnTo>
                    <a:pt x="253250" y="493455"/>
                  </a:lnTo>
                  <a:lnTo>
                    <a:pt x="300623" y="493455"/>
                  </a:lnTo>
                  <a:lnTo>
                    <a:pt x="347441" y="486293"/>
                  </a:lnTo>
                  <a:lnTo>
                    <a:pt x="392593" y="471967"/>
                  </a:lnTo>
                  <a:lnTo>
                    <a:pt x="434971" y="450478"/>
                  </a:lnTo>
                  <a:lnTo>
                    <a:pt x="473464" y="421827"/>
                  </a:lnTo>
                  <a:lnTo>
                    <a:pt x="505625" y="387530"/>
                  </a:lnTo>
                  <a:lnTo>
                    <a:pt x="529745" y="349773"/>
                  </a:lnTo>
                  <a:lnTo>
                    <a:pt x="545825" y="309544"/>
                  </a:lnTo>
                  <a:lnTo>
                    <a:pt x="553865" y="267831"/>
                  </a:lnTo>
                  <a:lnTo>
                    <a:pt x="553865" y="225624"/>
                  </a:lnTo>
                  <a:lnTo>
                    <a:pt x="545825" y="183911"/>
                  </a:lnTo>
                  <a:lnTo>
                    <a:pt x="529745" y="143682"/>
                  </a:lnTo>
                  <a:lnTo>
                    <a:pt x="505625" y="105925"/>
                  </a:lnTo>
                  <a:lnTo>
                    <a:pt x="473464" y="71628"/>
                  </a:lnTo>
                  <a:lnTo>
                    <a:pt x="434971" y="42977"/>
                  </a:lnTo>
                  <a:lnTo>
                    <a:pt x="392593" y="21488"/>
                  </a:lnTo>
                  <a:lnTo>
                    <a:pt x="347441" y="7162"/>
                  </a:lnTo>
                  <a:lnTo>
                    <a:pt x="300623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4" name="object 34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91122" y="3941223"/>
            <a:ext cx="323794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738505" algn="l"/>
                <a:tab pos="183832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23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first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46755" y="4535054"/>
            <a:ext cx="2232857" cy="549139"/>
          </a:xfrm>
          <a:prstGeom prst="rect">
            <a:avLst/>
          </a:prstGeom>
        </p:spPr>
        <p:txBody>
          <a:bodyPr vert="horz" wrap="square" lIns="0" tIns="4332" rIns="0" bIns="0" rtlCol="0">
            <a:spAutoFit/>
          </a:bodyPr>
          <a:lstStyle/>
          <a:p>
            <a:pPr marL="5715" marR="2540" algn="ctr" defTabSz="415925">
              <a:lnSpc>
                <a:spcPct val="102000"/>
              </a:lnSpc>
              <a:spcBef>
                <a:spcPts val="35"/>
              </a:spcBef>
            </a:pP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neighbors </a:t>
            </a:r>
            <a:r>
              <a:rPr sz="1180" b="1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not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forward </a:t>
            </a: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advertisements; they </a:t>
            </a:r>
            <a:r>
              <a:rPr sz="1180" i="1" spc="4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send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180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their </a:t>
            </a:r>
            <a:r>
              <a:rPr sz="1180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own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6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740485" y="1126312"/>
            <a:ext cx="150763" cy="2700455"/>
          </a:xfrm>
          <a:custGeom>
            <a:avLst/>
            <a:gdLst/>
            <a:ahLst/>
            <a:cxnLst/>
            <a:rect l="l" t="t" r="r" b="b"/>
            <a:pathLst>
              <a:path w="331470" h="5937250">
                <a:moveTo>
                  <a:pt x="325716" y="5774334"/>
                </a:moveTo>
                <a:lnTo>
                  <a:pt x="320421" y="5733021"/>
                </a:lnTo>
                <a:lnTo>
                  <a:pt x="304520" y="5693905"/>
                </a:lnTo>
                <a:lnTo>
                  <a:pt x="278015" y="5659183"/>
                </a:lnTo>
                <a:lnTo>
                  <a:pt x="243293" y="5632691"/>
                </a:lnTo>
                <a:lnTo>
                  <a:pt x="204165" y="5616791"/>
                </a:lnTo>
                <a:lnTo>
                  <a:pt x="162852" y="5611482"/>
                </a:lnTo>
                <a:lnTo>
                  <a:pt x="121539" y="5616791"/>
                </a:lnTo>
                <a:lnTo>
                  <a:pt x="82423" y="5632691"/>
                </a:lnTo>
                <a:lnTo>
                  <a:pt x="47701" y="5659183"/>
                </a:lnTo>
                <a:lnTo>
                  <a:pt x="21196" y="5693905"/>
                </a:lnTo>
                <a:lnTo>
                  <a:pt x="5295" y="5733021"/>
                </a:lnTo>
                <a:lnTo>
                  <a:pt x="0" y="5774334"/>
                </a:lnTo>
                <a:lnTo>
                  <a:pt x="5295" y="5815647"/>
                </a:lnTo>
                <a:lnTo>
                  <a:pt x="21196" y="5854763"/>
                </a:lnTo>
                <a:lnTo>
                  <a:pt x="47701" y="5889498"/>
                </a:lnTo>
                <a:lnTo>
                  <a:pt x="82423" y="5915990"/>
                </a:lnTo>
                <a:lnTo>
                  <a:pt x="121539" y="5931890"/>
                </a:lnTo>
                <a:lnTo>
                  <a:pt x="162852" y="5937199"/>
                </a:lnTo>
                <a:lnTo>
                  <a:pt x="204165" y="5931890"/>
                </a:lnTo>
                <a:lnTo>
                  <a:pt x="243293" y="5915990"/>
                </a:lnTo>
                <a:lnTo>
                  <a:pt x="278015" y="5889498"/>
                </a:lnTo>
                <a:lnTo>
                  <a:pt x="304520" y="5854763"/>
                </a:lnTo>
                <a:lnTo>
                  <a:pt x="320421" y="5815647"/>
                </a:lnTo>
                <a:lnTo>
                  <a:pt x="325716" y="5774334"/>
                </a:lnTo>
                <a:close/>
              </a:path>
              <a:path w="331470" h="5937250">
                <a:moveTo>
                  <a:pt x="331406" y="162852"/>
                </a:moveTo>
                <a:lnTo>
                  <a:pt x="326097" y="121539"/>
                </a:lnTo>
                <a:lnTo>
                  <a:pt x="310197" y="82423"/>
                </a:lnTo>
                <a:lnTo>
                  <a:pt x="283705" y="47701"/>
                </a:lnTo>
                <a:lnTo>
                  <a:pt x="248970" y="21196"/>
                </a:lnTo>
                <a:lnTo>
                  <a:pt x="209854" y="5295"/>
                </a:lnTo>
                <a:lnTo>
                  <a:pt x="168541" y="0"/>
                </a:lnTo>
                <a:lnTo>
                  <a:pt x="127228" y="5295"/>
                </a:lnTo>
                <a:lnTo>
                  <a:pt x="88112" y="21196"/>
                </a:lnTo>
                <a:lnTo>
                  <a:pt x="53378" y="47701"/>
                </a:lnTo>
                <a:lnTo>
                  <a:pt x="26885" y="82423"/>
                </a:lnTo>
                <a:lnTo>
                  <a:pt x="10985" y="121539"/>
                </a:lnTo>
                <a:lnTo>
                  <a:pt x="5676" y="162852"/>
                </a:lnTo>
                <a:lnTo>
                  <a:pt x="10985" y="204165"/>
                </a:lnTo>
                <a:lnTo>
                  <a:pt x="26885" y="243281"/>
                </a:lnTo>
                <a:lnTo>
                  <a:pt x="53378" y="278015"/>
                </a:lnTo>
                <a:lnTo>
                  <a:pt x="88112" y="304507"/>
                </a:lnTo>
                <a:lnTo>
                  <a:pt x="127228" y="320408"/>
                </a:lnTo>
                <a:lnTo>
                  <a:pt x="168541" y="325704"/>
                </a:lnTo>
                <a:lnTo>
                  <a:pt x="209854" y="320408"/>
                </a:lnTo>
                <a:lnTo>
                  <a:pt x="248970" y="304507"/>
                </a:lnTo>
                <a:lnTo>
                  <a:pt x="283705" y="278015"/>
                </a:lnTo>
                <a:lnTo>
                  <a:pt x="310197" y="243281"/>
                </a:lnTo>
                <a:lnTo>
                  <a:pt x="326097" y="204165"/>
                </a:lnTo>
                <a:lnTo>
                  <a:pt x="331406" y="162852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891022" y="240224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7" y="304517"/>
                </a:lnTo>
                <a:lnTo>
                  <a:pt x="121545" y="320417"/>
                </a:lnTo>
                <a:lnTo>
                  <a:pt x="162857" y="325717"/>
                </a:lnTo>
                <a:lnTo>
                  <a:pt x="204169" y="320417"/>
                </a:lnTo>
                <a:lnTo>
                  <a:pt x="243284" y="304517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83756" y="1273775"/>
            <a:ext cx="1951837" cy="2409037"/>
            <a:chOff x="4141648" y="2172679"/>
            <a:chExt cx="4291330" cy="5296535"/>
          </a:xfrm>
        </p:grpSpPr>
        <p:sp>
          <p:nvSpPr>
            <p:cNvPr id="28" name="object 28"/>
            <p:cNvSpPr/>
            <p:nvPr/>
          </p:nvSpPr>
          <p:spPr>
            <a:xfrm>
              <a:off x="4141648" y="6975615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15" y="0"/>
                  </a:moveTo>
                  <a:lnTo>
                    <a:pt x="253242" y="0"/>
                  </a:lnTo>
                  <a:lnTo>
                    <a:pt x="206424" y="7163"/>
                  </a:lnTo>
                  <a:lnTo>
                    <a:pt x="161271" y="21490"/>
                  </a:lnTo>
                  <a:lnTo>
                    <a:pt x="118893" y="42981"/>
                  </a:lnTo>
                  <a:lnTo>
                    <a:pt x="80400" y="71636"/>
                  </a:lnTo>
                  <a:lnTo>
                    <a:pt x="48240" y="105930"/>
                  </a:lnTo>
                  <a:lnTo>
                    <a:pt x="24120" y="143685"/>
                  </a:lnTo>
                  <a:lnTo>
                    <a:pt x="8040" y="183914"/>
                  </a:lnTo>
                  <a:lnTo>
                    <a:pt x="0" y="225626"/>
                  </a:lnTo>
                  <a:lnTo>
                    <a:pt x="0" y="267834"/>
                  </a:lnTo>
                  <a:lnTo>
                    <a:pt x="8040" y="309546"/>
                  </a:lnTo>
                  <a:lnTo>
                    <a:pt x="24120" y="349775"/>
                  </a:lnTo>
                  <a:lnTo>
                    <a:pt x="48240" y="387531"/>
                  </a:lnTo>
                  <a:lnTo>
                    <a:pt x="80400" y="421824"/>
                  </a:lnTo>
                  <a:lnTo>
                    <a:pt x="118893" y="450476"/>
                  </a:lnTo>
                  <a:lnTo>
                    <a:pt x="161271" y="471964"/>
                  </a:lnTo>
                  <a:lnTo>
                    <a:pt x="206424" y="486290"/>
                  </a:lnTo>
                  <a:lnTo>
                    <a:pt x="253242" y="493453"/>
                  </a:lnTo>
                  <a:lnTo>
                    <a:pt x="300615" y="493453"/>
                  </a:lnTo>
                  <a:lnTo>
                    <a:pt x="347433" y="486290"/>
                  </a:lnTo>
                  <a:lnTo>
                    <a:pt x="392586" y="471964"/>
                  </a:lnTo>
                  <a:lnTo>
                    <a:pt x="434964" y="450476"/>
                  </a:lnTo>
                  <a:lnTo>
                    <a:pt x="473456" y="421824"/>
                  </a:lnTo>
                  <a:lnTo>
                    <a:pt x="505617" y="387531"/>
                  </a:lnTo>
                  <a:lnTo>
                    <a:pt x="529737" y="349775"/>
                  </a:lnTo>
                  <a:lnTo>
                    <a:pt x="545817" y="309546"/>
                  </a:lnTo>
                  <a:lnTo>
                    <a:pt x="553857" y="267834"/>
                  </a:lnTo>
                  <a:lnTo>
                    <a:pt x="553857" y="225626"/>
                  </a:lnTo>
                  <a:lnTo>
                    <a:pt x="545817" y="183914"/>
                  </a:lnTo>
                  <a:lnTo>
                    <a:pt x="529737" y="143685"/>
                  </a:lnTo>
                  <a:lnTo>
                    <a:pt x="505617" y="105930"/>
                  </a:lnTo>
                  <a:lnTo>
                    <a:pt x="473456" y="71636"/>
                  </a:lnTo>
                  <a:lnTo>
                    <a:pt x="434964" y="42981"/>
                  </a:lnTo>
                  <a:lnTo>
                    <a:pt x="392586" y="21490"/>
                  </a:lnTo>
                  <a:lnTo>
                    <a:pt x="347433" y="7163"/>
                  </a:lnTo>
                  <a:lnTo>
                    <a:pt x="300615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878584" y="2172679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30">
                  <a:moveTo>
                    <a:pt x="300623" y="0"/>
                  </a:moveTo>
                  <a:lnTo>
                    <a:pt x="253250" y="0"/>
                  </a:lnTo>
                  <a:lnTo>
                    <a:pt x="206432" y="7162"/>
                  </a:lnTo>
                  <a:lnTo>
                    <a:pt x="161279" y="21488"/>
                  </a:lnTo>
                  <a:lnTo>
                    <a:pt x="118901" y="42977"/>
                  </a:lnTo>
                  <a:lnTo>
                    <a:pt x="80408" y="71628"/>
                  </a:lnTo>
                  <a:lnTo>
                    <a:pt x="48245" y="105925"/>
                  </a:lnTo>
                  <a:lnTo>
                    <a:pt x="24122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2" y="349773"/>
                  </a:lnTo>
                  <a:lnTo>
                    <a:pt x="48245" y="387530"/>
                  </a:lnTo>
                  <a:lnTo>
                    <a:pt x="80408" y="421827"/>
                  </a:lnTo>
                  <a:lnTo>
                    <a:pt x="118901" y="450478"/>
                  </a:lnTo>
                  <a:lnTo>
                    <a:pt x="161279" y="471967"/>
                  </a:lnTo>
                  <a:lnTo>
                    <a:pt x="206432" y="486293"/>
                  </a:lnTo>
                  <a:lnTo>
                    <a:pt x="253250" y="493455"/>
                  </a:lnTo>
                  <a:lnTo>
                    <a:pt x="300623" y="493455"/>
                  </a:lnTo>
                  <a:lnTo>
                    <a:pt x="347441" y="486293"/>
                  </a:lnTo>
                  <a:lnTo>
                    <a:pt x="392593" y="471967"/>
                  </a:lnTo>
                  <a:lnTo>
                    <a:pt x="434971" y="450478"/>
                  </a:lnTo>
                  <a:lnTo>
                    <a:pt x="473464" y="421827"/>
                  </a:lnTo>
                  <a:lnTo>
                    <a:pt x="505625" y="387530"/>
                  </a:lnTo>
                  <a:lnTo>
                    <a:pt x="529745" y="349773"/>
                  </a:lnTo>
                  <a:lnTo>
                    <a:pt x="545825" y="309544"/>
                  </a:lnTo>
                  <a:lnTo>
                    <a:pt x="553865" y="267831"/>
                  </a:lnTo>
                  <a:lnTo>
                    <a:pt x="553865" y="225624"/>
                  </a:lnTo>
                  <a:lnTo>
                    <a:pt x="545825" y="183911"/>
                  </a:lnTo>
                  <a:lnTo>
                    <a:pt x="529745" y="143682"/>
                  </a:lnTo>
                  <a:lnTo>
                    <a:pt x="505625" y="105925"/>
                  </a:lnTo>
                  <a:lnTo>
                    <a:pt x="473464" y="71628"/>
                  </a:lnTo>
                  <a:lnTo>
                    <a:pt x="434971" y="42977"/>
                  </a:lnTo>
                  <a:lnTo>
                    <a:pt x="392593" y="21488"/>
                  </a:lnTo>
                  <a:lnTo>
                    <a:pt x="347441" y="7162"/>
                  </a:lnTo>
                  <a:lnTo>
                    <a:pt x="300623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4" name="object 34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91122" y="3941223"/>
            <a:ext cx="323794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738505" algn="l"/>
                <a:tab pos="183832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23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first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46755" y="4535054"/>
            <a:ext cx="2232857" cy="549139"/>
          </a:xfrm>
          <a:prstGeom prst="rect">
            <a:avLst/>
          </a:prstGeom>
        </p:spPr>
        <p:txBody>
          <a:bodyPr vert="horz" wrap="square" lIns="0" tIns="4332" rIns="0" bIns="0" rtlCol="0">
            <a:spAutoFit/>
          </a:bodyPr>
          <a:lstStyle/>
          <a:p>
            <a:pPr marL="5715" marR="2540" algn="ctr" defTabSz="415925">
              <a:lnSpc>
                <a:spcPct val="102000"/>
              </a:lnSpc>
              <a:spcBef>
                <a:spcPts val="35"/>
              </a:spcBef>
            </a:pP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neighbors </a:t>
            </a:r>
            <a:r>
              <a:rPr sz="1180" b="1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not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forward </a:t>
            </a: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advertisements; they </a:t>
            </a:r>
            <a:r>
              <a:rPr sz="1180" i="1" spc="4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send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180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their </a:t>
            </a:r>
            <a:r>
              <a:rPr sz="1180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own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6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740487" y="1126310"/>
            <a:ext cx="2046280" cy="2700455"/>
            <a:chOff x="3826653" y="1848462"/>
            <a:chExt cx="4498975" cy="5937250"/>
          </a:xfrm>
        </p:grpSpPr>
        <p:sp>
          <p:nvSpPr>
            <p:cNvPr id="51" name="object 51"/>
            <p:cNvSpPr/>
            <p:nvPr/>
          </p:nvSpPr>
          <p:spPr>
            <a:xfrm>
              <a:off x="3919956" y="2225414"/>
              <a:ext cx="1390015" cy="768985"/>
            </a:xfrm>
            <a:custGeom>
              <a:avLst/>
              <a:gdLst/>
              <a:ahLst/>
              <a:cxnLst/>
              <a:rect l="l" t="t" r="r" b="b"/>
              <a:pathLst>
                <a:path w="1390014" h="768985">
                  <a:moveTo>
                    <a:pt x="325704" y="605904"/>
                  </a:moveTo>
                  <a:lnTo>
                    <a:pt x="320408" y="564591"/>
                  </a:lnTo>
                  <a:lnTo>
                    <a:pt x="304507" y="525475"/>
                  </a:lnTo>
                  <a:lnTo>
                    <a:pt x="278003" y="490753"/>
                  </a:lnTo>
                  <a:lnTo>
                    <a:pt x="243281" y="464248"/>
                  </a:lnTo>
                  <a:lnTo>
                    <a:pt x="204152" y="448348"/>
                  </a:lnTo>
                  <a:lnTo>
                    <a:pt x="162852" y="443052"/>
                  </a:lnTo>
                  <a:lnTo>
                    <a:pt x="121539" y="448348"/>
                  </a:lnTo>
                  <a:lnTo>
                    <a:pt x="82423" y="464248"/>
                  </a:lnTo>
                  <a:lnTo>
                    <a:pt x="47701" y="490753"/>
                  </a:lnTo>
                  <a:lnTo>
                    <a:pt x="21196" y="525475"/>
                  </a:lnTo>
                  <a:lnTo>
                    <a:pt x="5295" y="564591"/>
                  </a:lnTo>
                  <a:lnTo>
                    <a:pt x="0" y="605904"/>
                  </a:lnTo>
                  <a:lnTo>
                    <a:pt x="5295" y="647217"/>
                  </a:lnTo>
                  <a:lnTo>
                    <a:pt x="21196" y="686346"/>
                  </a:lnTo>
                  <a:lnTo>
                    <a:pt x="47701" y="721067"/>
                  </a:lnTo>
                  <a:lnTo>
                    <a:pt x="82423" y="747560"/>
                  </a:lnTo>
                  <a:lnTo>
                    <a:pt x="121539" y="763460"/>
                  </a:lnTo>
                  <a:lnTo>
                    <a:pt x="162852" y="768756"/>
                  </a:lnTo>
                  <a:lnTo>
                    <a:pt x="204152" y="763460"/>
                  </a:lnTo>
                  <a:lnTo>
                    <a:pt x="243281" y="747560"/>
                  </a:lnTo>
                  <a:lnTo>
                    <a:pt x="278003" y="721067"/>
                  </a:lnTo>
                  <a:lnTo>
                    <a:pt x="304507" y="686346"/>
                  </a:lnTo>
                  <a:lnTo>
                    <a:pt x="320408" y="647217"/>
                  </a:lnTo>
                  <a:lnTo>
                    <a:pt x="325704" y="605904"/>
                  </a:lnTo>
                  <a:close/>
                </a:path>
                <a:path w="1390014" h="768985">
                  <a:moveTo>
                    <a:pt x="1201420" y="518871"/>
                  </a:moveTo>
                  <a:lnTo>
                    <a:pt x="1196111" y="477558"/>
                  </a:lnTo>
                  <a:lnTo>
                    <a:pt x="1180211" y="438442"/>
                  </a:lnTo>
                  <a:lnTo>
                    <a:pt x="1153718" y="403720"/>
                  </a:lnTo>
                  <a:lnTo>
                    <a:pt x="1118984" y="377215"/>
                  </a:lnTo>
                  <a:lnTo>
                    <a:pt x="1079868" y="361315"/>
                  </a:lnTo>
                  <a:lnTo>
                    <a:pt x="1038555" y="356019"/>
                  </a:lnTo>
                  <a:lnTo>
                    <a:pt x="997242" y="361315"/>
                  </a:lnTo>
                  <a:lnTo>
                    <a:pt x="958126" y="377215"/>
                  </a:lnTo>
                  <a:lnTo>
                    <a:pt x="923391" y="403720"/>
                  </a:lnTo>
                  <a:lnTo>
                    <a:pt x="896899" y="438442"/>
                  </a:lnTo>
                  <a:lnTo>
                    <a:pt x="880999" y="477558"/>
                  </a:lnTo>
                  <a:lnTo>
                    <a:pt x="875703" y="518871"/>
                  </a:lnTo>
                  <a:lnTo>
                    <a:pt x="880999" y="560184"/>
                  </a:lnTo>
                  <a:lnTo>
                    <a:pt x="896899" y="599300"/>
                  </a:lnTo>
                  <a:lnTo>
                    <a:pt x="923391" y="634022"/>
                  </a:lnTo>
                  <a:lnTo>
                    <a:pt x="958126" y="660527"/>
                  </a:lnTo>
                  <a:lnTo>
                    <a:pt x="997242" y="676427"/>
                  </a:lnTo>
                  <a:lnTo>
                    <a:pt x="1038555" y="681723"/>
                  </a:lnTo>
                  <a:lnTo>
                    <a:pt x="1079868" y="676427"/>
                  </a:lnTo>
                  <a:lnTo>
                    <a:pt x="1118984" y="660527"/>
                  </a:lnTo>
                  <a:lnTo>
                    <a:pt x="1153718" y="634022"/>
                  </a:lnTo>
                  <a:lnTo>
                    <a:pt x="1180211" y="599300"/>
                  </a:lnTo>
                  <a:lnTo>
                    <a:pt x="1196111" y="560184"/>
                  </a:lnTo>
                  <a:lnTo>
                    <a:pt x="1201420" y="518871"/>
                  </a:lnTo>
                  <a:close/>
                </a:path>
                <a:path w="1390014" h="768985">
                  <a:moveTo>
                    <a:pt x="1389888" y="162864"/>
                  </a:moveTo>
                  <a:lnTo>
                    <a:pt x="1384592" y="121551"/>
                  </a:lnTo>
                  <a:lnTo>
                    <a:pt x="1368691" y="82435"/>
                  </a:lnTo>
                  <a:lnTo>
                    <a:pt x="1342186" y="47701"/>
                  </a:lnTo>
                  <a:lnTo>
                    <a:pt x="1307465" y="21209"/>
                  </a:lnTo>
                  <a:lnTo>
                    <a:pt x="1268349" y="5308"/>
                  </a:lnTo>
                  <a:lnTo>
                    <a:pt x="1227035" y="0"/>
                  </a:lnTo>
                  <a:lnTo>
                    <a:pt x="1185722" y="5308"/>
                  </a:lnTo>
                  <a:lnTo>
                    <a:pt x="1146606" y="21209"/>
                  </a:lnTo>
                  <a:lnTo>
                    <a:pt x="1111872" y="47701"/>
                  </a:lnTo>
                  <a:lnTo>
                    <a:pt x="1085367" y="82435"/>
                  </a:lnTo>
                  <a:lnTo>
                    <a:pt x="1069479" y="121551"/>
                  </a:lnTo>
                  <a:lnTo>
                    <a:pt x="1064171" y="162864"/>
                  </a:lnTo>
                  <a:lnTo>
                    <a:pt x="1069479" y="204165"/>
                  </a:lnTo>
                  <a:lnTo>
                    <a:pt x="1085367" y="243281"/>
                  </a:lnTo>
                  <a:lnTo>
                    <a:pt x="1111872" y="278015"/>
                  </a:lnTo>
                  <a:lnTo>
                    <a:pt x="1146606" y="304507"/>
                  </a:lnTo>
                  <a:lnTo>
                    <a:pt x="1185722" y="320408"/>
                  </a:lnTo>
                  <a:lnTo>
                    <a:pt x="1227035" y="325716"/>
                  </a:lnTo>
                  <a:lnTo>
                    <a:pt x="1268349" y="320408"/>
                  </a:lnTo>
                  <a:lnTo>
                    <a:pt x="1307465" y="304507"/>
                  </a:lnTo>
                  <a:lnTo>
                    <a:pt x="1342186" y="278015"/>
                  </a:lnTo>
                  <a:lnTo>
                    <a:pt x="1368691" y="243281"/>
                  </a:lnTo>
                  <a:lnTo>
                    <a:pt x="1384592" y="204165"/>
                  </a:lnTo>
                  <a:lnTo>
                    <a:pt x="1389888" y="162864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7224903" y="4026414"/>
              <a:ext cx="1101090" cy="1519555"/>
            </a:xfrm>
            <a:custGeom>
              <a:avLst/>
              <a:gdLst/>
              <a:ahLst/>
              <a:cxnLst/>
              <a:rect l="l" t="t" r="r" b="b"/>
              <a:pathLst>
                <a:path w="1101090" h="1519554">
                  <a:moveTo>
                    <a:pt x="325716" y="770166"/>
                  </a:moveTo>
                  <a:lnTo>
                    <a:pt x="320408" y="728853"/>
                  </a:lnTo>
                  <a:lnTo>
                    <a:pt x="304520" y="689737"/>
                  </a:lnTo>
                  <a:lnTo>
                    <a:pt x="278015" y="655015"/>
                  </a:lnTo>
                  <a:lnTo>
                    <a:pt x="243281" y="628510"/>
                  </a:lnTo>
                  <a:lnTo>
                    <a:pt x="204165" y="612609"/>
                  </a:lnTo>
                  <a:lnTo>
                    <a:pt x="162852" y="607314"/>
                  </a:lnTo>
                  <a:lnTo>
                    <a:pt x="121539" y="612609"/>
                  </a:lnTo>
                  <a:lnTo>
                    <a:pt x="82423" y="628510"/>
                  </a:lnTo>
                  <a:lnTo>
                    <a:pt x="47701" y="655015"/>
                  </a:lnTo>
                  <a:lnTo>
                    <a:pt x="21196" y="689737"/>
                  </a:lnTo>
                  <a:lnTo>
                    <a:pt x="5295" y="728853"/>
                  </a:lnTo>
                  <a:lnTo>
                    <a:pt x="0" y="770166"/>
                  </a:lnTo>
                  <a:lnTo>
                    <a:pt x="5295" y="811479"/>
                  </a:lnTo>
                  <a:lnTo>
                    <a:pt x="21196" y="850595"/>
                  </a:lnTo>
                  <a:lnTo>
                    <a:pt x="47701" y="885317"/>
                  </a:lnTo>
                  <a:lnTo>
                    <a:pt x="82423" y="911821"/>
                  </a:lnTo>
                  <a:lnTo>
                    <a:pt x="121539" y="927722"/>
                  </a:lnTo>
                  <a:lnTo>
                    <a:pt x="162852" y="933018"/>
                  </a:lnTo>
                  <a:lnTo>
                    <a:pt x="204165" y="927722"/>
                  </a:lnTo>
                  <a:lnTo>
                    <a:pt x="243281" y="911821"/>
                  </a:lnTo>
                  <a:lnTo>
                    <a:pt x="278015" y="885317"/>
                  </a:lnTo>
                  <a:lnTo>
                    <a:pt x="304520" y="850595"/>
                  </a:lnTo>
                  <a:lnTo>
                    <a:pt x="320408" y="811479"/>
                  </a:lnTo>
                  <a:lnTo>
                    <a:pt x="325716" y="770166"/>
                  </a:lnTo>
                  <a:close/>
                </a:path>
                <a:path w="1101090" h="1519554">
                  <a:moveTo>
                    <a:pt x="535127" y="1147114"/>
                  </a:moveTo>
                  <a:lnTo>
                    <a:pt x="529831" y="1105801"/>
                  </a:lnTo>
                  <a:lnTo>
                    <a:pt x="513930" y="1066685"/>
                  </a:lnTo>
                  <a:lnTo>
                    <a:pt x="487426" y="1031963"/>
                  </a:lnTo>
                  <a:lnTo>
                    <a:pt x="452704" y="1005459"/>
                  </a:lnTo>
                  <a:lnTo>
                    <a:pt x="413588" y="989558"/>
                  </a:lnTo>
                  <a:lnTo>
                    <a:pt x="372275" y="984262"/>
                  </a:lnTo>
                  <a:lnTo>
                    <a:pt x="330962" y="989558"/>
                  </a:lnTo>
                  <a:lnTo>
                    <a:pt x="291846" y="1005459"/>
                  </a:lnTo>
                  <a:lnTo>
                    <a:pt x="257111" y="1031963"/>
                  </a:lnTo>
                  <a:lnTo>
                    <a:pt x="230619" y="1066685"/>
                  </a:lnTo>
                  <a:lnTo>
                    <a:pt x="214718" y="1105801"/>
                  </a:lnTo>
                  <a:lnTo>
                    <a:pt x="209410" y="1147114"/>
                  </a:lnTo>
                  <a:lnTo>
                    <a:pt x="214718" y="1188427"/>
                  </a:lnTo>
                  <a:lnTo>
                    <a:pt x="230619" y="1227543"/>
                  </a:lnTo>
                  <a:lnTo>
                    <a:pt x="257111" y="1262265"/>
                  </a:lnTo>
                  <a:lnTo>
                    <a:pt x="291846" y="1288770"/>
                  </a:lnTo>
                  <a:lnTo>
                    <a:pt x="330962" y="1304671"/>
                  </a:lnTo>
                  <a:lnTo>
                    <a:pt x="372275" y="1309966"/>
                  </a:lnTo>
                  <a:lnTo>
                    <a:pt x="413588" y="1304671"/>
                  </a:lnTo>
                  <a:lnTo>
                    <a:pt x="452704" y="1288770"/>
                  </a:lnTo>
                  <a:lnTo>
                    <a:pt x="487426" y="1262265"/>
                  </a:lnTo>
                  <a:lnTo>
                    <a:pt x="513930" y="1227543"/>
                  </a:lnTo>
                  <a:lnTo>
                    <a:pt x="529831" y="1188427"/>
                  </a:lnTo>
                  <a:lnTo>
                    <a:pt x="535127" y="1147114"/>
                  </a:lnTo>
                  <a:close/>
                </a:path>
                <a:path w="1101090" h="1519554">
                  <a:moveTo>
                    <a:pt x="577011" y="414147"/>
                  </a:moveTo>
                  <a:lnTo>
                    <a:pt x="571715" y="372846"/>
                  </a:lnTo>
                  <a:lnTo>
                    <a:pt x="555815" y="333730"/>
                  </a:lnTo>
                  <a:lnTo>
                    <a:pt x="529310" y="298996"/>
                  </a:lnTo>
                  <a:lnTo>
                    <a:pt x="494588" y="272503"/>
                  </a:lnTo>
                  <a:lnTo>
                    <a:pt x="455472" y="256603"/>
                  </a:lnTo>
                  <a:lnTo>
                    <a:pt x="414159" y="251294"/>
                  </a:lnTo>
                  <a:lnTo>
                    <a:pt x="372846" y="256603"/>
                  </a:lnTo>
                  <a:lnTo>
                    <a:pt x="333730" y="272503"/>
                  </a:lnTo>
                  <a:lnTo>
                    <a:pt x="298996" y="298996"/>
                  </a:lnTo>
                  <a:lnTo>
                    <a:pt x="272503" y="333730"/>
                  </a:lnTo>
                  <a:lnTo>
                    <a:pt x="256603" y="372846"/>
                  </a:lnTo>
                  <a:lnTo>
                    <a:pt x="251294" y="414147"/>
                  </a:lnTo>
                  <a:lnTo>
                    <a:pt x="256603" y="455460"/>
                  </a:lnTo>
                  <a:lnTo>
                    <a:pt x="272503" y="494576"/>
                  </a:lnTo>
                  <a:lnTo>
                    <a:pt x="298996" y="529310"/>
                  </a:lnTo>
                  <a:lnTo>
                    <a:pt x="333730" y="555802"/>
                  </a:lnTo>
                  <a:lnTo>
                    <a:pt x="372846" y="571703"/>
                  </a:lnTo>
                  <a:lnTo>
                    <a:pt x="414159" y="577011"/>
                  </a:lnTo>
                  <a:lnTo>
                    <a:pt x="455472" y="571703"/>
                  </a:lnTo>
                  <a:lnTo>
                    <a:pt x="494588" y="555802"/>
                  </a:lnTo>
                  <a:lnTo>
                    <a:pt x="529310" y="529310"/>
                  </a:lnTo>
                  <a:lnTo>
                    <a:pt x="555815" y="494576"/>
                  </a:lnTo>
                  <a:lnTo>
                    <a:pt x="571715" y="455460"/>
                  </a:lnTo>
                  <a:lnTo>
                    <a:pt x="577011" y="414147"/>
                  </a:lnTo>
                  <a:close/>
                </a:path>
                <a:path w="1101090" h="1519554">
                  <a:moveTo>
                    <a:pt x="1079614" y="162852"/>
                  </a:moveTo>
                  <a:lnTo>
                    <a:pt x="1074318" y="121539"/>
                  </a:lnTo>
                  <a:lnTo>
                    <a:pt x="1058418" y="82423"/>
                  </a:lnTo>
                  <a:lnTo>
                    <a:pt x="1031913" y="47701"/>
                  </a:lnTo>
                  <a:lnTo>
                    <a:pt x="997191" y="21196"/>
                  </a:lnTo>
                  <a:lnTo>
                    <a:pt x="958075" y="5295"/>
                  </a:lnTo>
                  <a:lnTo>
                    <a:pt x="916762" y="0"/>
                  </a:lnTo>
                  <a:lnTo>
                    <a:pt x="875449" y="5295"/>
                  </a:lnTo>
                  <a:lnTo>
                    <a:pt x="836333" y="21196"/>
                  </a:lnTo>
                  <a:lnTo>
                    <a:pt x="801598" y="47701"/>
                  </a:lnTo>
                  <a:lnTo>
                    <a:pt x="775106" y="82423"/>
                  </a:lnTo>
                  <a:lnTo>
                    <a:pt x="759206" y="121539"/>
                  </a:lnTo>
                  <a:lnTo>
                    <a:pt x="753897" y="162852"/>
                  </a:lnTo>
                  <a:lnTo>
                    <a:pt x="759206" y="204165"/>
                  </a:lnTo>
                  <a:lnTo>
                    <a:pt x="775106" y="243281"/>
                  </a:lnTo>
                  <a:lnTo>
                    <a:pt x="801598" y="278003"/>
                  </a:lnTo>
                  <a:lnTo>
                    <a:pt x="836333" y="304507"/>
                  </a:lnTo>
                  <a:lnTo>
                    <a:pt x="875449" y="320408"/>
                  </a:lnTo>
                  <a:lnTo>
                    <a:pt x="916762" y="325704"/>
                  </a:lnTo>
                  <a:lnTo>
                    <a:pt x="958075" y="320408"/>
                  </a:lnTo>
                  <a:lnTo>
                    <a:pt x="997191" y="304507"/>
                  </a:lnTo>
                  <a:lnTo>
                    <a:pt x="1031913" y="278003"/>
                  </a:lnTo>
                  <a:lnTo>
                    <a:pt x="1058418" y="243281"/>
                  </a:lnTo>
                  <a:lnTo>
                    <a:pt x="1074318" y="204165"/>
                  </a:lnTo>
                  <a:lnTo>
                    <a:pt x="1079614" y="162852"/>
                  </a:lnTo>
                  <a:close/>
                </a:path>
                <a:path w="1101090" h="1519554">
                  <a:moveTo>
                    <a:pt x="1100556" y="1356537"/>
                  </a:moveTo>
                  <a:lnTo>
                    <a:pt x="1095260" y="1315224"/>
                  </a:lnTo>
                  <a:lnTo>
                    <a:pt x="1079360" y="1276108"/>
                  </a:lnTo>
                  <a:lnTo>
                    <a:pt x="1052855" y="1241374"/>
                  </a:lnTo>
                  <a:lnTo>
                    <a:pt x="1018133" y="1214882"/>
                  </a:lnTo>
                  <a:lnTo>
                    <a:pt x="979017" y="1198981"/>
                  </a:lnTo>
                  <a:lnTo>
                    <a:pt x="937704" y="1193673"/>
                  </a:lnTo>
                  <a:lnTo>
                    <a:pt x="896391" y="1198981"/>
                  </a:lnTo>
                  <a:lnTo>
                    <a:pt x="857275" y="1214882"/>
                  </a:lnTo>
                  <a:lnTo>
                    <a:pt x="822540" y="1241374"/>
                  </a:lnTo>
                  <a:lnTo>
                    <a:pt x="796036" y="1276108"/>
                  </a:lnTo>
                  <a:lnTo>
                    <a:pt x="780148" y="1315224"/>
                  </a:lnTo>
                  <a:lnTo>
                    <a:pt x="774839" y="1356537"/>
                  </a:lnTo>
                  <a:lnTo>
                    <a:pt x="780148" y="1397838"/>
                  </a:lnTo>
                  <a:lnTo>
                    <a:pt x="796036" y="1436954"/>
                  </a:lnTo>
                  <a:lnTo>
                    <a:pt x="822540" y="1471688"/>
                  </a:lnTo>
                  <a:lnTo>
                    <a:pt x="857275" y="1498180"/>
                  </a:lnTo>
                  <a:lnTo>
                    <a:pt x="896391" y="1514081"/>
                  </a:lnTo>
                  <a:lnTo>
                    <a:pt x="937704" y="1519389"/>
                  </a:lnTo>
                  <a:lnTo>
                    <a:pt x="979017" y="1514081"/>
                  </a:lnTo>
                  <a:lnTo>
                    <a:pt x="1018133" y="1498180"/>
                  </a:lnTo>
                  <a:lnTo>
                    <a:pt x="1052855" y="1471688"/>
                  </a:lnTo>
                  <a:lnTo>
                    <a:pt x="1079360" y="1436954"/>
                  </a:lnTo>
                  <a:lnTo>
                    <a:pt x="1095260" y="1397838"/>
                  </a:lnTo>
                  <a:lnTo>
                    <a:pt x="1100556" y="1356537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978923" y="6623195"/>
              <a:ext cx="1205865" cy="802005"/>
            </a:xfrm>
            <a:custGeom>
              <a:avLst/>
              <a:gdLst/>
              <a:ahLst/>
              <a:cxnLst/>
              <a:rect l="l" t="t" r="r" b="b"/>
              <a:pathLst>
                <a:path w="1205864" h="802004">
                  <a:moveTo>
                    <a:pt x="325716" y="162852"/>
                  </a:moveTo>
                  <a:lnTo>
                    <a:pt x="320421" y="121539"/>
                  </a:lnTo>
                  <a:lnTo>
                    <a:pt x="304520" y="82423"/>
                  </a:lnTo>
                  <a:lnTo>
                    <a:pt x="278015" y="47701"/>
                  </a:lnTo>
                  <a:lnTo>
                    <a:pt x="243293" y="21196"/>
                  </a:lnTo>
                  <a:lnTo>
                    <a:pt x="204177" y="5295"/>
                  </a:lnTo>
                  <a:lnTo>
                    <a:pt x="162864" y="0"/>
                  </a:lnTo>
                  <a:lnTo>
                    <a:pt x="121551" y="5295"/>
                  </a:lnTo>
                  <a:lnTo>
                    <a:pt x="82435" y="21196"/>
                  </a:lnTo>
                  <a:lnTo>
                    <a:pt x="47701" y="47701"/>
                  </a:lnTo>
                  <a:lnTo>
                    <a:pt x="21196" y="82423"/>
                  </a:lnTo>
                  <a:lnTo>
                    <a:pt x="5308" y="121539"/>
                  </a:lnTo>
                  <a:lnTo>
                    <a:pt x="0" y="162852"/>
                  </a:lnTo>
                  <a:lnTo>
                    <a:pt x="5308" y="204165"/>
                  </a:lnTo>
                  <a:lnTo>
                    <a:pt x="21196" y="243281"/>
                  </a:lnTo>
                  <a:lnTo>
                    <a:pt x="47701" y="278003"/>
                  </a:lnTo>
                  <a:lnTo>
                    <a:pt x="82435" y="304507"/>
                  </a:lnTo>
                  <a:lnTo>
                    <a:pt x="121551" y="320408"/>
                  </a:lnTo>
                  <a:lnTo>
                    <a:pt x="162864" y="325704"/>
                  </a:lnTo>
                  <a:lnTo>
                    <a:pt x="204177" y="320408"/>
                  </a:lnTo>
                  <a:lnTo>
                    <a:pt x="243293" y="304507"/>
                  </a:lnTo>
                  <a:lnTo>
                    <a:pt x="278015" y="278003"/>
                  </a:lnTo>
                  <a:lnTo>
                    <a:pt x="304520" y="243281"/>
                  </a:lnTo>
                  <a:lnTo>
                    <a:pt x="320421" y="204165"/>
                  </a:lnTo>
                  <a:lnTo>
                    <a:pt x="325716" y="162852"/>
                  </a:lnTo>
                  <a:close/>
                </a:path>
                <a:path w="1205864" h="802004">
                  <a:moveTo>
                    <a:pt x="1142453" y="283070"/>
                  </a:moveTo>
                  <a:lnTo>
                    <a:pt x="1137145" y="241757"/>
                  </a:lnTo>
                  <a:lnTo>
                    <a:pt x="1121244" y="202641"/>
                  </a:lnTo>
                  <a:lnTo>
                    <a:pt x="1094752" y="167906"/>
                  </a:lnTo>
                  <a:lnTo>
                    <a:pt x="1060018" y="141414"/>
                  </a:lnTo>
                  <a:lnTo>
                    <a:pt x="1020902" y="125514"/>
                  </a:lnTo>
                  <a:lnTo>
                    <a:pt x="979589" y="120218"/>
                  </a:lnTo>
                  <a:lnTo>
                    <a:pt x="938276" y="125514"/>
                  </a:lnTo>
                  <a:lnTo>
                    <a:pt x="899160" y="141414"/>
                  </a:lnTo>
                  <a:lnTo>
                    <a:pt x="864425" y="167906"/>
                  </a:lnTo>
                  <a:lnTo>
                    <a:pt x="837933" y="202641"/>
                  </a:lnTo>
                  <a:lnTo>
                    <a:pt x="822032" y="241757"/>
                  </a:lnTo>
                  <a:lnTo>
                    <a:pt x="816737" y="283070"/>
                  </a:lnTo>
                  <a:lnTo>
                    <a:pt x="822032" y="324383"/>
                  </a:lnTo>
                  <a:lnTo>
                    <a:pt x="837933" y="363499"/>
                  </a:lnTo>
                  <a:lnTo>
                    <a:pt x="864425" y="398233"/>
                  </a:lnTo>
                  <a:lnTo>
                    <a:pt x="899160" y="424726"/>
                  </a:lnTo>
                  <a:lnTo>
                    <a:pt x="938276" y="440626"/>
                  </a:lnTo>
                  <a:lnTo>
                    <a:pt x="979589" y="445922"/>
                  </a:lnTo>
                  <a:lnTo>
                    <a:pt x="1020902" y="440626"/>
                  </a:lnTo>
                  <a:lnTo>
                    <a:pt x="1060018" y="424726"/>
                  </a:lnTo>
                  <a:lnTo>
                    <a:pt x="1094752" y="398233"/>
                  </a:lnTo>
                  <a:lnTo>
                    <a:pt x="1121244" y="363499"/>
                  </a:lnTo>
                  <a:lnTo>
                    <a:pt x="1137145" y="324383"/>
                  </a:lnTo>
                  <a:lnTo>
                    <a:pt x="1142453" y="283070"/>
                  </a:lnTo>
                  <a:close/>
                </a:path>
                <a:path w="1205864" h="802004">
                  <a:moveTo>
                    <a:pt x="1205280" y="639076"/>
                  </a:moveTo>
                  <a:lnTo>
                    <a:pt x="1199972" y="597763"/>
                  </a:lnTo>
                  <a:lnTo>
                    <a:pt x="1184071" y="558647"/>
                  </a:lnTo>
                  <a:lnTo>
                    <a:pt x="1157579" y="523925"/>
                  </a:lnTo>
                  <a:lnTo>
                    <a:pt x="1122845" y="497420"/>
                  </a:lnTo>
                  <a:lnTo>
                    <a:pt x="1083729" y="481520"/>
                  </a:lnTo>
                  <a:lnTo>
                    <a:pt x="1042416" y="476224"/>
                  </a:lnTo>
                  <a:lnTo>
                    <a:pt x="1001102" y="481520"/>
                  </a:lnTo>
                  <a:lnTo>
                    <a:pt x="961986" y="497420"/>
                  </a:lnTo>
                  <a:lnTo>
                    <a:pt x="927252" y="523925"/>
                  </a:lnTo>
                  <a:lnTo>
                    <a:pt x="900760" y="558647"/>
                  </a:lnTo>
                  <a:lnTo>
                    <a:pt x="884859" y="597763"/>
                  </a:lnTo>
                  <a:lnTo>
                    <a:pt x="879551" y="639076"/>
                  </a:lnTo>
                  <a:lnTo>
                    <a:pt x="884859" y="680389"/>
                  </a:lnTo>
                  <a:lnTo>
                    <a:pt x="900760" y="719518"/>
                  </a:lnTo>
                  <a:lnTo>
                    <a:pt x="927252" y="754240"/>
                  </a:lnTo>
                  <a:lnTo>
                    <a:pt x="961986" y="780732"/>
                  </a:lnTo>
                  <a:lnTo>
                    <a:pt x="1001102" y="796632"/>
                  </a:lnTo>
                  <a:lnTo>
                    <a:pt x="1042416" y="801928"/>
                  </a:lnTo>
                  <a:lnTo>
                    <a:pt x="1083729" y="796632"/>
                  </a:lnTo>
                  <a:lnTo>
                    <a:pt x="1122845" y="780732"/>
                  </a:lnTo>
                  <a:lnTo>
                    <a:pt x="1157579" y="754240"/>
                  </a:lnTo>
                  <a:lnTo>
                    <a:pt x="1184071" y="719518"/>
                  </a:lnTo>
                  <a:lnTo>
                    <a:pt x="1199972" y="680389"/>
                  </a:lnTo>
                  <a:lnTo>
                    <a:pt x="1205280" y="639076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387768" y="6529291"/>
              <a:ext cx="930910" cy="855980"/>
            </a:xfrm>
            <a:custGeom>
              <a:avLst/>
              <a:gdLst/>
              <a:ahLst/>
              <a:cxnLst/>
              <a:rect l="l" t="t" r="r" b="b"/>
              <a:pathLst>
                <a:path w="930909" h="855979">
                  <a:moveTo>
                    <a:pt x="325704" y="693064"/>
                  </a:moveTo>
                  <a:lnTo>
                    <a:pt x="320408" y="651751"/>
                  </a:lnTo>
                  <a:lnTo>
                    <a:pt x="304507" y="612622"/>
                  </a:lnTo>
                  <a:lnTo>
                    <a:pt x="278003" y="577900"/>
                  </a:lnTo>
                  <a:lnTo>
                    <a:pt x="243281" y="551395"/>
                  </a:lnTo>
                  <a:lnTo>
                    <a:pt x="204165" y="535495"/>
                  </a:lnTo>
                  <a:lnTo>
                    <a:pt x="162852" y="530199"/>
                  </a:lnTo>
                  <a:lnTo>
                    <a:pt x="121539" y="535495"/>
                  </a:lnTo>
                  <a:lnTo>
                    <a:pt x="82423" y="551395"/>
                  </a:lnTo>
                  <a:lnTo>
                    <a:pt x="47701" y="577900"/>
                  </a:lnTo>
                  <a:lnTo>
                    <a:pt x="21196" y="612622"/>
                  </a:lnTo>
                  <a:lnTo>
                    <a:pt x="5295" y="651751"/>
                  </a:lnTo>
                  <a:lnTo>
                    <a:pt x="0" y="693064"/>
                  </a:lnTo>
                  <a:lnTo>
                    <a:pt x="5295" y="734377"/>
                  </a:lnTo>
                  <a:lnTo>
                    <a:pt x="21196" y="773493"/>
                  </a:lnTo>
                  <a:lnTo>
                    <a:pt x="47701" y="808215"/>
                  </a:lnTo>
                  <a:lnTo>
                    <a:pt x="82423" y="834720"/>
                  </a:lnTo>
                  <a:lnTo>
                    <a:pt x="121539" y="850607"/>
                  </a:lnTo>
                  <a:lnTo>
                    <a:pt x="162852" y="855916"/>
                  </a:lnTo>
                  <a:lnTo>
                    <a:pt x="204165" y="850607"/>
                  </a:lnTo>
                  <a:lnTo>
                    <a:pt x="243281" y="834720"/>
                  </a:lnTo>
                  <a:lnTo>
                    <a:pt x="278003" y="808215"/>
                  </a:lnTo>
                  <a:lnTo>
                    <a:pt x="304507" y="773493"/>
                  </a:lnTo>
                  <a:lnTo>
                    <a:pt x="320408" y="734377"/>
                  </a:lnTo>
                  <a:lnTo>
                    <a:pt x="325704" y="693064"/>
                  </a:lnTo>
                  <a:close/>
                </a:path>
                <a:path w="930909" h="855979">
                  <a:moveTo>
                    <a:pt x="930592" y="162852"/>
                  </a:moveTo>
                  <a:lnTo>
                    <a:pt x="925296" y="121539"/>
                  </a:lnTo>
                  <a:lnTo>
                    <a:pt x="909396" y="82423"/>
                  </a:lnTo>
                  <a:lnTo>
                    <a:pt x="882904" y="47701"/>
                  </a:lnTo>
                  <a:lnTo>
                    <a:pt x="848182" y="21196"/>
                  </a:lnTo>
                  <a:lnTo>
                    <a:pt x="809066" y="5295"/>
                  </a:lnTo>
                  <a:lnTo>
                    <a:pt x="767753" y="0"/>
                  </a:lnTo>
                  <a:lnTo>
                    <a:pt x="726440" y="5295"/>
                  </a:lnTo>
                  <a:lnTo>
                    <a:pt x="687311" y="21196"/>
                  </a:lnTo>
                  <a:lnTo>
                    <a:pt x="652589" y="47701"/>
                  </a:lnTo>
                  <a:lnTo>
                    <a:pt x="626084" y="82423"/>
                  </a:lnTo>
                  <a:lnTo>
                    <a:pt x="610184" y="121539"/>
                  </a:lnTo>
                  <a:lnTo>
                    <a:pt x="604888" y="162852"/>
                  </a:lnTo>
                  <a:lnTo>
                    <a:pt x="610184" y="204165"/>
                  </a:lnTo>
                  <a:lnTo>
                    <a:pt x="626084" y="243281"/>
                  </a:lnTo>
                  <a:lnTo>
                    <a:pt x="652589" y="278003"/>
                  </a:lnTo>
                  <a:lnTo>
                    <a:pt x="687311" y="304507"/>
                  </a:lnTo>
                  <a:lnTo>
                    <a:pt x="726440" y="320408"/>
                  </a:lnTo>
                  <a:lnTo>
                    <a:pt x="767753" y="325704"/>
                  </a:lnTo>
                  <a:lnTo>
                    <a:pt x="809066" y="320408"/>
                  </a:lnTo>
                  <a:lnTo>
                    <a:pt x="848182" y="304507"/>
                  </a:lnTo>
                  <a:lnTo>
                    <a:pt x="882904" y="278003"/>
                  </a:lnTo>
                  <a:lnTo>
                    <a:pt x="909396" y="243281"/>
                  </a:lnTo>
                  <a:lnTo>
                    <a:pt x="925296" y="204165"/>
                  </a:lnTo>
                  <a:lnTo>
                    <a:pt x="930592" y="162852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434313" y="2227903"/>
              <a:ext cx="844550" cy="936625"/>
            </a:xfrm>
            <a:custGeom>
              <a:avLst/>
              <a:gdLst/>
              <a:ahLst/>
              <a:cxnLst/>
              <a:rect l="l" t="t" r="r" b="b"/>
              <a:pathLst>
                <a:path w="844550" h="936625">
                  <a:moveTo>
                    <a:pt x="325716" y="162852"/>
                  </a:moveTo>
                  <a:lnTo>
                    <a:pt x="320421" y="121539"/>
                  </a:lnTo>
                  <a:lnTo>
                    <a:pt x="304520" y="82423"/>
                  </a:lnTo>
                  <a:lnTo>
                    <a:pt x="278015" y="47701"/>
                  </a:lnTo>
                  <a:lnTo>
                    <a:pt x="243293" y="21196"/>
                  </a:lnTo>
                  <a:lnTo>
                    <a:pt x="204177" y="5295"/>
                  </a:lnTo>
                  <a:lnTo>
                    <a:pt x="162864" y="0"/>
                  </a:lnTo>
                  <a:lnTo>
                    <a:pt x="121551" y="5295"/>
                  </a:lnTo>
                  <a:lnTo>
                    <a:pt x="82435" y="21196"/>
                  </a:lnTo>
                  <a:lnTo>
                    <a:pt x="47701" y="47701"/>
                  </a:lnTo>
                  <a:lnTo>
                    <a:pt x="21209" y="82423"/>
                  </a:lnTo>
                  <a:lnTo>
                    <a:pt x="5308" y="121539"/>
                  </a:lnTo>
                  <a:lnTo>
                    <a:pt x="0" y="162852"/>
                  </a:lnTo>
                  <a:lnTo>
                    <a:pt x="5308" y="204165"/>
                  </a:lnTo>
                  <a:lnTo>
                    <a:pt x="21209" y="243281"/>
                  </a:lnTo>
                  <a:lnTo>
                    <a:pt x="47701" y="278003"/>
                  </a:lnTo>
                  <a:lnTo>
                    <a:pt x="82435" y="304507"/>
                  </a:lnTo>
                  <a:lnTo>
                    <a:pt x="121551" y="320408"/>
                  </a:lnTo>
                  <a:lnTo>
                    <a:pt x="162864" y="325704"/>
                  </a:lnTo>
                  <a:lnTo>
                    <a:pt x="204177" y="320408"/>
                  </a:lnTo>
                  <a:lnTo>
                    <a:pt x="243293" y="304507"/>
                  </a:lnTo>
                  <a:lnTo>
                    <a:pt x="278015" y="278003"/>
                  </a:lnTo>
                  <a:lnTo>
                    <a:pt x="304520" y="243281"/>
                  </a:lnTo>
                  <a:lnTo>
                    <a:pt x="320421" y="204165"/>
                  </a:lnTo>
                  <a:lnTo>
                    <a:pt x="325716" y="162852"/>
                  </a:lnTo>
                  <a:close/>
                </a:path>
                <a:path w="844550" h="936625">
                  <a:moveTo>
                    <a:pt x="843940" y="773620"/>
                  </a:moveTo>
                  <a:lnTo>
                    <a:pt x="838631" y="732307"/>
                  </a:lnTo>
                  <a:lnTo>
                    <a:pt x="822731" y="693191"/>
                  </a:lnTo>
                  <a:lnTo>
                    <a:pt x="796239" y="658469"/>
                  </a:lnTo>
                  <a:lnTo>
                    <a:pt x="761504" y="631964"/>
                  </a:lnTo>
                  <a:lnTo>
                    <a:pt x="722388" y="616064"/>
                  </a:lnTo>
                  <a:lnTo>
                    <a:pt x="681075" y="610768"/>
                  </a:lnTo>
                  <a:lnTo>
                    <a:pt x="639762" y="616064"/>
                  </a:lnTo>
                  <a:lnTo>
                    <a:pt x="600646" y="631964"/>
                  </a:lnTo>
                  <a:lnTo>
                    <a:pt x="565924" y="658469"/>
                  </a:lnTo>
                  <a:lnTo>
                    <a:pt x="539419" y="693191"/>
                  </a:lnTo>
                  <a:lnTo>
                    <a:pt x="523519" y="732307"/>
                  </a:lnTo>
                  <a:lnTo>
                    <a:pt x="518223" y="773620"/>
                  </a:lnTo>
                  <a:lnTo>
                    <a:pt x="523519" y="814933"/>
                  </a:lnTo>
                  <a:lnTo>
                    <a:pt x="539419" y="854049"/>
                  </a:lnTo>
                  <a:lnTo>
                    <a:pt x="565924" y="888771"/>
                  </a:lnTo>
                  <a:lnTo>
                    <a:pt x="600646" y="915276"/>
                  </a:lnTo>
                  <a:lnTo>
                    <a:pt x="639762" y="931176"/>
                  </a:lnTo>
                  <a:lnTo>
                    <a:pt x="681075" y="936472"/>
                  </a:lnTo>
                  <a:lnTo>
                    <a:pt x="722388" y="931176"/>
                  </a:lnTo>
                  <a:lnTo>
                    <a:pt x="761504" y="915276"/>
                  </a:lnTo>
                  <a:lnTo>
                    <a:pt x="796239" y="888771"/>
                  </a:lnTo>
                  <a:lnTo>
                    <a:pt x="822731" y="854049"/>
                  </a:lnTo>
                  <a:lnTo>
                    <a:pt x="838631" y="814933"/>
                  </a:lnTo>
                  <a:lnTo>
                    <a:pt x="843940" y="77362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826650" y="1848465"/>
              <a:ext cx="331470" cy="5937250"/>
            </a:xfrm>
            <a:custGeom>
              <a:avLst/>
              <a:gdLst/>
              <a:ahLst/>
              <a:cxnLst/>
              <a:rect l="l" t="t" r="r" b="b"/>
              <a:pathLst>
                <a:path w="331470" h="5937250">
                  <a:moveTo>
                    <a:pt x="325716" y="5774334"/>
                  </a:moveTo>
                  <a:lnTo>
                    <a:pt x="320421" y="5733021"/>
                  </a:lnTo>
                  <a:lnTo>
                    <a:pt x="304520" y="5693905"/>
                  </a:lnTo>
                  <a:lnTo>
                    <a:pt x="278015" y="5659183"/>
                  </a:lnTo>
                  <a:lnTo>
                    <a:pt x="243293" y="5632691"/>
                  </a:lnTo>
                  <a:lnTo>
                    <a:pt x="204165" y="5616791"/>
                  </a:lnTo>
                  <a:lnTo>
                    <a:pt x="162852" y="5611482"/>
                  </a:lnTo>
                  <a:lnTo>
                    <a:pt x="121539" y="5616791"/>
                  </a:lnTo>
                  <a:lnTo>
                    <a:pt x="82423" y="5632691"/>
                  </a:lnTo>
                  <a:lnTo>
                    <a:pt x="47701" y="5659183"/>
                  </a:lnTo>
                  <a:lnTo>
                    <a:pt x="21196" y="5693905"/>
                  </a:lnTo>
                  <a:lnTo>
                    <a:pt x="5295" y="5733021"/>
                  </a:lnTo>
                  <a:lnTo>
                    <a:pt x="0" y="5774334"/>
                  </a:lnTo>
                  <a:lnTo>
                    <a:pt x="5295" y="5815647"/>
                  </a:lnTo>
                  <a:lnTo>
                    <a:pt x="21196" y="5854763"/>
                  </a:lnTo>
                  <a:lnTo>
                    <a:pt x="47701" y="5889498"/>
                  </a:lnTo>
                  <a:lnTo>
                    <a:pt x="82423" y="5915990"/>
                  </a:lnTo>
                  <a:lnTo>
                    <a:pt x="121539" y="5931890"/>
                  </a:lnTo>
                  <a:lnTo>
                    <a:pt x="162852" y="5937199"/>
                  </a:lnTo>
                  <a:lnTo>
                    <a:pt x="204165" y="5931890"/>
                  </a:lnTo>
                  <a:lnTo>
                    <a:pt x="243293" y="5915990"/>
                  </a:lnTo>
                  <a:lnTo>
                    <a:pt x="278015" y="5889498"/>
                  </a:lnTo>
                  <a:lnTo>
                    <a:pt x="304520" y="5854763"/>
                  </a:lnTo>
                  <a:lnTo>
                    <a:pt x="320421" y="5815647"/>
                  </a:lnTo>
                  <a:lnTo>
                    <a:pt x="325716" y="5774334"/>
                  </a:lnTo>
                  <a:close/>
                </a:path>
                <a:path w="331470" h="5937250">
                  <a:moveTo>
                    <a:pt x="331406" y="162852"/>
                  </a:moveTo>
                  <a:lnTo>
                    <a:pt x="326097" y="121539"/>
                  </a:lnTo>
                  <a:lnTo>
                    <a:pt x="310197" y="82423"/>
                  </a:lnTo>
                  <a:lnTo>
                    <a:pt x="283705" y="47701"/>
                  </a:lnTo>
                  <a:lnTo>
                    <a:pt x="248970" y="21196"/>
                  </a:lnTo>
                  <a:lnTo>
                    <a:pt x="209854" y="5295"/>
                  </a:lnTo>
                  <a:lnTo>
                    <a:pt x="168541" y="0"/>
                  </a:lnTo>
                  <a:lnTo>
                    <a:pt x="127228" y="5295"/>
                  </a:lnTo>
                  <a:lnTo>
                    <a:pt x="88112" y="21196"/>
                  </a:lnTo>
                  <a:lnTo>
                    <a:pt x="53378" y="47701"/>
                  </a:lnTo>
                  <a:lnTo>
                    <a:pt x="26885" y="82423"/>
                  </a:lnTo>
                  <a:lnTo>
                    <a:pt x="10985" y="121539"/>
                  </a:lnTo>
                  <a:lnTo>
                    <a:pt x="5676" y="162852"/>
                  </a:lnTo>
                  <a:lnTo>
                    <a:pt x="10985" y="204165"/>
                  </a:lnTo>
                  <a:lnTo>
                    <a:pt x="26885" y="243281"/>
                  </a:lnTo>
                  <a:lnTo>
                    <a:pt x="53378" y="278015"/>
                  </a:lnTo>
                  <a:lnTo>
                    <a:pt x="88112" y="304507"/>
                  </a:lnTo>
                  <a:lnTo>
                    <a:pt x="127228" y="320408"/>
                  </a:lnTo>
                  <a:lnTo>
                    <a:pt x="168541" y="325704"/>
                  </a:lnTo>
                  <a:lnTo>
                    <a:pt x="209854" y="320408"/>
                  </a:lnTo>
                  <a:lnTo>
                    <a:pt x="248970" y="304507"/>
                  </a:lnTo>
                  <a:lnTo>
                    <a:pt x="283705" y="278015"/>
                  </a:lnTo>
                  <a:lnTo>
                    <a:pt x="310197" y="243281"/>
                  </a:lnTo>
                  <a:lnTo>
                    <a:pt x="326097" y="204165"/>
                  </a:lnTo>
                  <a:lnTo>
                    <a:pt x="331406" y="162852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7" name="object 57"/>
          <p:cNvSpPr/>
          <p:nvPr/>
        </p:nvSpPr>
        <p:spPr>
          <a:xfrm>
            <a:off x="3891022" y="240224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7" y="304517"/>
                </a:lnTo>
                <a:lnTo>
                  <a:pt x="121545" y="320417"/>
                </a:lnTo>
                <a:lnTo>
                  <a:pt x="162857" y="325717"/>
                </a:lnTo>
                <a:lnTo>
                  <a:pt x="204169" y="320417"/>
                </a:lnTo>
                <a:lnTo>
                  <a:pt x="243284" y="304517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83756" y="1273775"/>
            <a:ext cx="1951837" cy="2409037"/>
            <a:chOff x="4141648" y="2172679"/>
            <a:chExt cx="4291330" cy="5296535"/>
          </a:xfrm>
        </p:grpSpPr>
        <p:sp>
          <p:nvSpPr>
            <p:cNvPr id="28" name="object 28"/>
            <p:cNvSpPr/>
            <p:nvPr/>
          </p:nvSpPr>
          <p:spPr>
            <a:xfrm>
              <a:off x="4141648" y="6975615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15" y="0"/>
                  </a:moveTo>
                  <a:lnTo>
                    <a:pt x="253242" y="0"/>
                  </a:lnTo>
                  <a:lnTo>
                    <a:pt x="206424" y="7163"/>
                  </a:lnTo>
                  <a:lnTo>
                    <a:pt x="161271" y="21490"/>
                  </a:lnTo>
                  <a:lnTo>
                    <a:pt x="118893" y="42981"/>
                  </a:lnTo>
                  <a:lnTo>
                    <a:pt x="80400" y="71636"/>
                  </a:lnTo>
                  <a:lnTo>
                    <a:pt x="48240" y="105930"/>
                  </a:lnTo>
                  <a:lnTo>
                    <a:pt x="24120" y="143685"/>
                  </a:lnTo>
                  <a:lnTo>
                    <a:pt x="8040" y="183914"/>
                  </a:lnTo>
                  <a:lnTo>
                    <a:pt x="0" y="225626"/>
                  </a:lnTo>
                  <a:lnTo>
                    <a:pt x="0" y="267834"/>
                  </a:lnTo>
                  <a:lnTo>
                    <a:pt x="8040" y="309546"/>
                  </a:lnTo>
                  <a:lnTo>
                    <a:pt x="24120" y="349775"/>
                  </a:lnTo>
                  <a:lnTo>
                    <a:pt x="48240" y="387531"/>
                  </a:lnTo>
                  <a:lnTo>
                    <a:pt x="80400" y="421824"/>
                  </a:lnTo>
                  <a:lnTo>
                    <a:pt x="118893" y="450476"/>
                  </a:lnTo>
                  <a:lnTo>
                    <a:pt x="161271" y="471964"/>
                  </a:lnTo>
                  <a:lnTo>
                    <a:pt x="206424" y="486290"/>
                  </a:lnTo>
                  <a:lnTo>
                    <a:pt x="253242" y="493453"/>
                  </a:lnTo>
                  <a:lnTo>
                    <a:pt x="300615" y="493453"/>
                  </a:lnTo>
                  <a:lnTo>
                    <a:pt x="347433" y="486290"/>
                  </a:lnTo>
                  <a:lnTo>
                    <a:pt x="392586" y="471964"/>
                  </a:lnTo>
                  <a:lnTo>
                    <a:pt x="434964" y="450476"/>
                  </a:lnTo>
                  <a:lnTo>
                    <a:pt x="473456" y="421824"/>
                  </a:lnTo>
                  <a:lnTo>
                    <a:pt x="505617" y="387531"/>
                  </a:lnTo>
                  <a:lnTo>
                    <a:pt x="529737" y="349775"/>
                  </a:lnTo>
                  <a:lnTo>
                    <a:pt x="545817" y="309546"/>
                  </a:lnTo>
                  <a:lnTo>
                    <a:pt x="553857" y="267834"/>
                  </a:lnTo>
                  <a:lnTo>
                    <a:pt x="553857" y="225626"/>
                  </a:lnTo>
                  <a:lnTo>
                    <a:pt x="545817" y="183914"/>
                  </a:lnTo>
                  <a:lnTo>
                    <a:pt x="529737" y="143685"/>
                  </a:lnTo>
                  <a:lnTo>
                    <a:pt x="505617" y="105930"/>
                  </a:lnTo>
                  <a:lnTo>
                    <a:pt x="473456" y="71636"/>
                  </a:lnTo>
                  <a:lnTo>
                    <a:pt x="434964" y="42981"/>
                  </a:lnTo>
                  <a:lnTo>
                    <a:pt x="392586" y="21490"/>
                  </a:lnTo>
                  <a:lnTo>
                    <a:pt x="347433" y="7163"/>
                  </a:lnTo>
                  <a:lnTo>
                    <a:pt x="300615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878584" y="2172679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30">
                  <a:moveTo>
                    <a:pt x="300623" y="0"/>
                  </a:moveTo>
                  <a:lnTo>
                    <a:pt x="253250" y="0"/>
                  </a:lnTo>
                  <a:lnTo>
                    <a:pt x="206432" y="7162"/>
                  </a:lnTo>
                  <a:lnTo>
                    <a:pt x="161279" y="21488"/>
                  </a:lnTo>
                  <a:lnTo>
                    <a:pt x="118901" y="42977"/>
                  </a:lnTo>
                  <a:lnTo>
                    <a:pt x="80408" y="71628"/>
                  </a:lnTo>
                  <a:lnTo>
                    <a:pt x="48245" y="105925"/>
                  </a:lnTo>
                  <a:lnTo>
                    <a:pt x="24122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2" y="349773"/>
                  </a:lnTo>
                  <a:lnTo>
                    <a:pt x="48245" y="387530"/>
                  </a:lnTo>
                  <a:lnTo>
                    <a:pt x="80408" y="421827"/>
                  </a:lnTo>
                  <a:lnTo>
                    <a:pt x="118901" y="450478"/>
                  </a:lnTo>
                  <a:lnTo>
                    <a:pt x="161279" y="471967"/>
                  </a:lnTo>
                  <a:lnTo>
                    <a:pt x="206432" y="486293"/>
                  </a:lnTo>
                  <a:lnTo>
                    <a:pt x="253250" y="493455"/>
                  </a:lnTo>
                  <a:lnTo>
                    <a:pt x="300623" y="493455"/>
                  </a:lnTo>
                  <a:lnTo>
                    <a:pt x="347441" y="486293"/>
                  </a:lnTo>
                  <a:lnTo>
                    <a:pt x="392593" y="471967"/>
                  </a:lnTo>
                  <a:lnTo>
                    <a:pt x="434971" y="450478"/>
                  </a:lnTo>
                  <a:lnTo>
                    <a:pt x="473464" y="421827"/>
                  </a:lnTo>
                  <a:lnTo>
                    <a:pt x="505625" y="387530"/>
                  </a:lnTo>
                  <a:lnTo>
                    <a:pt x="529745" y="349773"/>
                  </a:lnTo>
                  <a:lnTo>
                    <a:pt x="545825" y="309544"/>
                  </a:lnTo>
                  <a:lnTo>
                    <a:pt x="553865" y="267831"/>
                  </a:lnTo>
                  <a:lnTo>
                    <a:pt x="553865" y="225624"/>
                  </a:lnTo>
                  <a:lnTo>
                    <a:pt x="545825" y="183911"/>
                  </a:lnTo>
                  <a:lnTo>
                    <a:pt x="529745" y="143682"/>
                  </a:lnTo>
                  <a:lnTo>
                    <a:pt x="505625" y="105925"/>
                  </a:lnTo>
                  <a:lnTo>
                    <a:pt x="473464" y="71628"/>
                  </a:lnTo>
                  <a:lnTo>
                    <a:pt x="434971" y="42977"/>
                  </a:lnTo>
                  <a:lnTo>
                    <a:pt x="392593" y="21488"/>
                  </a:lnTo>
                  <a:lnTo>
                    <a:pt x="347441" y="7162"/>
                  </a:lnTo>
                  <a:lnTo>
                    <a:pt x="300623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4" name="object 34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91122" y="3941223"/>
            <a:ext cx="323794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738505" algn="l"/>
                <a:tab pos="183832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23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first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46755" y="4535054"/>
            <a:ext cx="2232857" cy="549139"/>
          </a:xfrm>
          <a:prstGeom prst="rect">
            <a:avLst/>
          </a:prstGeom>
        </p:spPr>
        <p:txBody>
          <a:bodyPr vert="horz" wrap="square" lIns="0" tIns="4332" rIns="0" bIns="0" rtlCol="0">
            <a:spAutoFit/>
          </a:bodyPr>
          <a:lstStyle/>
          <a:p>
            <a:pPr marL="5715" marR="2540" algn="ctr" defTabSz="415925">
              <a:lnSpc>
                <a:spcPct val="102000"/>
              </a:lnSpc>
              <a:spcBef>
                <a:spcPts val="35"/>
              </a:spcBef>
            </a:pP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neighbors </a:t>
            </a:r>
            <a:r>
              <a:rPr sz="1180" b="1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not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forward </a:t>
            </a: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advertisements; they </a:t>
            </a:r>
            <a:r>
              <a:rPr sz="1180" i="1" spc="4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send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180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their </a:t>
            </a:r>
            <a:r>
              <a:rPr sz="1180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own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6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257359" y="1126310"/>
            <a:ext cx="2535251" cy="2700455"/>
            <a:chOff x="2764444" y="1848462"/>
            <a:chExt cx="5574030" cy="5937250"/>
          </a:xfrm>
        </p:grpSpPr>
        <p:sp>
          <p:nvSpPr>
            <p:cNvPr id="51" name="object 51"/>
            <p:cNvSpPr/>
            <p:nvPr/>
          </p:nvSpPr>
          <p:spPr>
            <a:xfrm>
              <a:off x="2860891" y="2221655"/>
              <a:ext cx="4976495" cy="2455545"/>
            </a:xfrm>
            <a:custGeom>
              <a:avLst/>
              <a:gdLst/>
              <a:ahLst/>
              <a:cxnLst/>
              <a:rect l="l" t="t" r="r" b="b"/>
              <a:pathLst>
                <a:path w="4976495" h="2455545">
                  <a:moveTo>
                    <a:pt x="325704" y="2172284"/>
                  </a:moveTo>
                  <a:lnTo>
                    <a:pt x="320408" y="2130971"/>
                  </a:lnTo>
                  <a:lnTo>
                    <a:pt x="304507" y="2091855"/>
                  </a:lnTo>
                  <a:lnTo>
                    <a:pt x="278003" y="2057133"/>
                  </a:lnTo>
                  <a:lnTo>
                    <a:pt x="243281" y="2030628"/>
                  </a:lnTo>
                  <a:lnTo>
                    <a:pt x="204165" y="2014728"/>
                  </a:lnTo>
                  <a:lnTo>
                    <a:pt x="162852" y="2009432"/>
                  </a:lnTo>
                  <a:lnTo>
                    <a:pt x="121539" y="2014728"/>
                  </a:lnTo>
                  <a:lnTo>
                    <a:pt x="82423" y="2030628"/>
                  </a:lnTo>
                  <a:lnTo>
                    <a:pt x="47701" y="2057133"/>
                  </a:lnTo>
                  <a:lnTo>
                    <a:pt x="21196" y="2091855"/>
                  </a:lnTo>
                  <a:lnTo>
                    <a:pt x="5295" y="2130971"/>
                  </a:lnTo>
                  <a:lnTo>
                    <a:pt x="0" y="2172284"/>
                  </a:lnTo>
                  <a:lnTo>
                    <a:pt x="5295" y="2213597"/>
                  </a:lnTo>
                  <a:lnTo>
                    <a:pt x="21196" y="2252713"/>
                  </a:lnTo>
                  <a:lnTo>
                    <a:pt x="47701" y="2287435"/>
                  </a:lnTo>
                  <a:lnTo>
                    <a:pt x="82423" y="2313940"/>
                  </a:lnTo>
                  <a:lnTo>
                    <a:pt x="121539" y="2329840"/>
                  </a:lnTo>
                  <a:lnTo>
                    <a:pt x="162852" y="2335136"/>
                  </a:lnTo>
                  <a:lnTo>
                    <a:pt x="204165" y="2329840"/>
                  </a:lnTo>
                  <a:lnTo>
                    <a:pt x="243281" y="2313940"/>
                  </a:lnTo>
                  <a:lnTo>
                    <a:pt x="278003" y="2287435"/>
                  </a:lnTo>
                  <a:lnTo>
                    <a:pt x="304507" y="2252713"/>
                  </a:lnTo>
                  <a:lnTo>
                    <a:pt x="320408" y="2213597"/>
                  </a:lnTo>
                  <a:lnTo>
                    <a:pt x="325704" y="2172284"/>
                  </a:lnTo>
                  <a:close/>
                </a:path>
                <a:path w="4976495" h="2455545">
                  <a:moveTo>
                    <a:pt x="4922761" y="162852"/>
                  </a:moveTo>
                  <a:lnTo>
                    <a:pt x="4917452" y="121539"/>
                  </a:lnTo>
                  <a:lnTo>
                    <a:pt x="4901552" y="82423"/>
                  </a:lnTo>
                  <a:lnTo>
                    <a:pt x="4875060" y="47701"/>
                  </a:lnTo>
                  <a:lnTo>
                    <a:pt x="4840325" y="21196"/>
                  </a:lnTo>
                  <a:lnTo>
                    <a:pt x="4801209" y="5295"/>
                  </a:lnTo>
                  <a:lnTo>
                    <a:pt x="4759896" y="0"/>
                  </a:lnTo>
                  <a:lnTo>
                    <a:pt x="4718583" y="5295"/>
                  </a:lnTo>
                  <a:lnTo>
                    <a:pt x="4679467" y="21196"/>
                  </a:lnTo>
                  <a:lnTo>
                    <a:pt x="4644733" y="47701"/>
                  </a:lnTo>
                  <a:lnTo>
                    <a:pt x="4618240" y="82423"/>
                  </a:lnTo>
                  <a:lnTo>
                    <a:pt x="4602340" y="121539"/>
                  </a:lnTo>
                  <a:lnTo>
                    <a:pt x="4597044" y="162852"/>
                  </a:lnTo>
                  <a:lnTo>
                    <a:pt x="4602340" y="204165"/>
                  </a:lnTo>
                  <a:lnTo>
                    <a:pt x="4618240" y="243281"/>
                  </a:lnTo>
                  <a:lnTo>
                    <a:pt x="4644733" y="278015"/>
                  </a:lnTo>
                  <a:lnTo>
                    <a:pt x="4679467" y="304507"/>
                  </a:lnTo>
                  <a:lnTo>
                    <a:pt x="4718583" y="320408"/>
                  </a:lnTo>
                  <a:lnTo>
                    <a:pt x="4759896" y="325716"/>
                  </a:lnTo>
                  <a:lnTo>
                    <a:pt x="4801209" y="320408"/>
                  </a:lnTo>
                  <a:lnTo>
                    <a:pt x="4840325" y="304507"/>
                  </a:lnTo>
                  <a:lnTo>
                    <a:pt x="4875060" y="278015"/>
                  </a:lnTo>
                  <a:lnTo>
                    <a:pt x="4901552" y="243281"/>
                  </a:lnTo>
                  <a:lnTo>
                    <a:pt x="4917452" y="204165"/>
                  </a:lnTo>
                  <a:lnTo>
                    <a:pt x="4922761" y="162852"/>
                  </a:lnTo>
                  <a:close/>
                </a:path>
                <a:path w="4976495" h="2455545">
                  <a:moveTo>
                    <a:pt x="4976419" y="2292286"/>
                  </a:moveTo>
                  <a:lnTo>
                    <a:pt x="4971123" y="2250973"/>
                  </a:lnTo>
                  <a:lnTo>
                    <a:pt x="4955222" y="2211857"/>
                  </a:lnTo>
                  <a:lnTo>
                    <a:pt x="4928717" y="2177123"/>
                  </a:lnTo>
                  <a:lnTo>
                    <a:pt x="4893996" y="2150630"/>
                  </a:lnTo>
                  <a:lnTo>
                    <a:pt x="4854880" y="2134730"/>
                  </a:lnTo>
                  <a:lnTo>
                    <a:pt x="4813566" y="2129434"/>
                  </a:lnTo>
                  <a:lnTo>
                    <a:pt x="4772241" y="2134730"/>
                  </a:lnTo>
                  <a:lnTo>
                    <a:pt x="4733125" y="2150630"/>
                  </a:lnTo>
                  <a:lnTo>
                    <a:pt x="4698403" y="2177123"/>
                  </a:lnTo>
                  <a:lnTo>
                    <a:pt x="4671898" y="2211857"/>
                  </a:lnTo>
                  <a:lnTo>
                    <a:pt x="4655998" y="2250973"/>
                  </a:lnTo>
                  <a:lnTo>
                    <a:pt x="4650702" y="2292286"/>
                  </a:lnTo>
                  <a:lnTo>
                    <a:pt x="4655998" y="2333599"/>
                  </a:lnTo>
                  <a:lnTo>
                    <a:pt x="4671898" y="2372715"/>
                  </a:lnTo>
                  <a:lnTo>
                    <a:pt x="4698403" y="2407450"/>
                  </a:lnTo>
                  <a:lnTo>
                    <a:pt x="4733125" y="2433942"/>
                  </a:lnTo>
                  <a:lnTo>
                    <a:pt x="4772241" y="2449842"/>
                  </a:lnTo>
                  <a:lnTo>
                    <a:pt x="4813566" y="2455151"/>
                  </a:lnTo>
                  <a:lnTo>
                    <a:pt x="4854880" y="2449842"/>
                  </a:lnTo>
                  <a:lnTo>
                    <a:pt x="4893996" y="2433942"/>
                  </a:lnTo>
                  <a:lnTo>
                    <a:pt x="4928717" y="2407450"/>
                  </a:lnTo>
                  <a:lnTo>
                    <a:pt x="4955222" y="2372715"/>
                  </a:lnTo>
                  <a:lnTo>
                    <a:pt x="4971123" y="2333599"/>
                  </a:lnTo>
                  <a:lnTo>
                    <a:pt x="4976419" y="2292286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073006" y="2599581"/>
              <a:ext cx="5236845" cy="4464050"/>
            </a:xfrm>
            <a:custGeom>
              <a:avLst/>
              <a:gdLst/>
              <a:ahLst/>
              <a:cxnLst/>
              <a:rect l="l" t="t" r="r" b="b"/>
              <a:pathLst>
                <a:path w="5236845" h="4464050">
                  <a:moveTo>
                    <a:pt x="325704" y="2201570"/>
                  </a:moveTo>
                  <a:lnTo>
                    <a:pt x="320408" y="2160257"/>
                  </a:lnTo>
                  <a:lnTo>
                    <a:pt x="304507" y="2121141"/>
                  </a:lnTo>
                  <a:lnTo>
                    <a:pt x="278003" y="2086419"/>
                  </a:lnTo>
                  <a:lnTo>
                    <a:pt x="243281" y="2059914"/>
                  </a:lnTo>
                  <a:lnTo>
                    <a:pt x="204165" y="2044014"/>
                  </a:lnTo>
                  <a:lnTo>
                    <a:pt x="162852" y="2038718"/>
                  </a:lnTo>
                  <a:lnTo>
                    <a:pt x="121539" y="2044014"/>
                  </a:lnTo>
                  <a:lnTo>
                    <a:pt x="82423" y="2059914"/>
                  </a:lnTo>
                  <a:lnTo>
                    <a:pt x="47701" y="2086419"/>
                  </a:lnTo>
                  <a:lnTo>
                    <a:pt x="21196" y="2121141"/>
                  </a:lnTo>
                  <a:lnTo>
                    <a:pt x="5295" y="2160257"/>
                  </a:lnTo>
                  <a:lnTo>
                    <a:pt x="0" y="2201570"/>
                  </a:lnTo>
                  <a:lnTo>
                    <a:pt x="5295" y="2242896"/>
                  </a:lnTo>
                  <a:lnTo>
                    <a:pt x="21196" y="2282012"/>
                  </a:lnTo>
                  <a:lnTo>
                    <a:pt x="47701" y="2316734"/>
                  </a:lnTo>
                  <a:lnTo>
                    <a:pt x="82423" y="2343239"/>
                  </a:lnTo>
                  <a:lnTo>
                    <a:pt x="121539" y="2359139"/>
                  </a:lnTo>
                  <a:lnTo>
                    <a:pt x="162852" y="2364435"/>
                  </a:lnTo>
                  <a:lnTo>
                    <a:pt x="204165" y="2359139"/>
                  </a:lnTo>
                  <a:lnTo>
                    <a:pt x="243281" y="2343239"/>
                  </a:lnTo>
                  <a:lnTo>
                    <a:pt x="278003" y="2316734"/>
                  </a:lnTo>
                  <a:lnTo>
                    <a:pt x="304507" y="2282012"/>
                  </a:lnTo>
                  <a:lnTo>
                    <a:pt x="320408" y="2242896"/>
                  </a:lnTo>
                  <a:lnTo>
                    <a:pt x="325704" y="2201570"/>
                  </a:lnTo>
                  <a:close/>
                </a:path>
                <a:path w="5236845" h="4464050">
                  <a:moveTo>
                    <a:pt x="2036381" y="4300664"/>
                  </a:moveTo>
                  <a:lnTo>
                    <a:pt x="2031085" y="4259351"/>
                  </a:lnTo>
                  <a:lnTo>
                    <a:pt x="2015185" y="4220235"/>
                  </a:lnTo>
                  <a:lnTo>
                    <a:pt x="1988693" y="4185501"/>
                  </a:lnTo>
                  <a:lnTo>
                    <a:pt x="1953958" y="4159008"/>
                  </a:lnTo>
                  <a:lnTo>
                    <a:pt x="1914842" y="4143108"/>
                  </a:lnTo>
                  <a:lnTo>
                    <a:pt x="1873529" y="4137799"/>
                  </a:lnTo>
                  <a:lnTo>
                    <a:pt x="1832216" y="4143108"/>
                  </a:lnTo>
                  <a:lnTo>
                    <a:pt x="1793100" y="4159008"/>
                  </a:lnTo>
                  <a:lnTo>
                    <a:pt x="1758378" y="4185501"/>
                  </a:lnTo>
                  <a:lnTo>
                    <a:pt x="1731873" y="4220235"/>
                  </a:lnTo>
                  <a:lnTo>
                    <a:pt x="1715973" y="4259351"/>
                  </a:lnTo>
                  <a:lnTo>
                    <a:pt x="1710677" y="4300664"/>
                  </a:lnTo>
                  <a:lnTo>
                    <a:pt x="1715973" y="4341977"/>
                  </a:lnTo>
                  <a:lnTo>
                    <a:pt x="1731873" y="4381093"/>
                  </a:lnTo>
                  <a:lnTo>
                    <a:pt x="1758378" y="4415815"/>
                  </a:lnTo>
                  <a:lnTo>
                    <a:pt x="1793100" y="4442307"/>
                  </a:lnTo>
                  <a:lnTo>
                    <a:pt x="1832216" y="4458208"/>
                  </a:lnTo>
                  <a:lnTo>
                    <a:pt x="1873529" y="4463516"/>
                  </a:lnTo>
                  <a:lnTo>
                    <a:pt x="1914842" y="4458208"/>
                  </a:lnTo>
                  <a:lnTo>
                    <a:pt x="1953958" y="4442307"/>
                  </a:lnTo>
                  <a:lnTo>
                    <a:pt x="1988693" y="4415815"/>
                  </a:lnTo>
                  <a:lnTo>
                    <a:pt x="2015185" y="4381093"/>
                  </a:lnTo>
                  <a:lnTo>
                    <a:pt x="2031085" y="4341977"/>
                  </a:lnTo>
                  <a:lnTo>
                    <a:pt x="2036381" y="4300664"/>
                  </a:lnTo>
                  <a:close/>
                </a:path>
                <a:path w="5236845" h="4464050">
                  <a:moveTo>
                    <a:pt x="2053983" y="162864"/>
                  </a:moveTo>
                  <a:lnTo>
                    <a:pt x="2048675" y="121551"/>
                  </a:lnTo>
                  <a:lnTo>
                    <a:pt x="2032774" y="82435"/>
                  </a:lnTo>
                  <a:lnTo>
                    <a:pt x="2006282" y="47701"/>
                  </a:lnTo>
                  <a:lnTo>
                    <a:pt x="1971548" y="21209"/>
                  </a:lnTo>
                  <a:lnTo>
                    <a:pt x="1932432" y="5308"/>
                  </a:lnTo>
                  <a:lnTo>
                    <a:pt x="1891118" y="0"/>
                  </a:lnTo>
                  <a:lnTo>
                    <a:pt x="1849805" y="5308"/>
                  </a:lnTo>
                  <a:lnTo>
                    <a:pt x="1810689" y="21209"/>
                  </a:lnTo>
                  <a:lnTo>
                    <a:pt x="1775955" y="47701"/>
                  </a:lnTo>
                  <a:lnTo>
                    <a:pt x="1749463" y="82435"/>
                  </a:lnTo>
                  <a:lnTo>
                    <a:pt x="1733562" y="121551"/>
                  </a:lnTo>
                  <a:lnTo>
                    <a:pt x="1728266" y="162864"/>
                  </a:lnTo>
                  <a:lnTo>
                    <a:pt x="1733562" y="204177"/>
                  </a:lnTo>
                  <a:lnTo>
                    <a:pt x="1749463" y="243293"/>
                  </a:lnTo>
                  <a:lnTo>
                    <a:pt x="1775955" y="278028"/>
                  </a:lnTo>
                  <a:lnTo>
                    <a:pt x="1810689" y="304520"/>
                  </a:lnTo>
                  <a:lnTo>
                    <a:pt x="1849805" y="320421"/>
                  </a:lnTo>
                  <a:lnTo>
                    <a:pt x="1891118" y="325716"/>
                  </a:lnTo>
                  <a:lnTo>
                    <a:pt x="1932432" y="320421"/>
                  </a:lnTo>
                  <a:lnTo>
                    <a:pt x="1971548" y="304520"/>
                  </a:lnTo>
                  <a:lnTo>
                    <a:pt x="2006282" y="278028"/>
                  </a:lnTo>
                  <a:lnTo>
                    <a:pt x="2032774" y="243293"/>
                  </a:lnTo>
                  <a:lnTo>
                    <a:pt x="2048675" y="204177"/>
                  </a:lnTo>
                  <a:lnTo>
                    <a:pt x="2053983" y="162864"/>
                  </a:lnTo>
                  <a:close/>
                </a:path>
                <a:path w="5236845" h="4464050">
                  <a:moveTo>
                    <a:pt x="5221998" y="366712"/>
                  </a:moveTo>
                  <a:lnTo>
                    <a:pt x="5216703" y="325399"/>
                  </a:lnTo>
                  <a:lnTo>
                    <a:pt x="5200802" y="286283"/>
                  </a:lnTo>
                  <a:lnTo>
                    <a:pt x="5174297" y="251561"/>
                  </a:lnTo>
                  <a:lnTo>
                    <a:pt x="5139575" y="225056"/>
                  </a:lnTo>
                  <a:lnTo>
                    <a:pt x="5100447" y="209156"/>
                  </a:lnTo>
                  <a:lnTo>
                    <a:pt x="5059134" y="203860"/>
                  </a:lnTo>
                  <a:lnTo>
                    <a:pt x="5017821" y="209156"/>
                  </a:lnTo>
                  <a:lnTo>
                    <a:pt x="4978705" y="225056"/>
                  </a:lnTo>
                  <a:lnTo>
                    <a:pt x="4943983" y="251561"/>
                  </a:lnTo>
                  <a:lnTo>
                    <a:pt x="4917478" y="286283"/>
                  </a:lnTo>
                  <a:lnTo>
                    <a:pt x="4901577" y="325399"/>
                  </a:lnTo>
                  <a:lnTo>
                    <a:pt x="4896282" y="366712"/>
                  </a:lnTo>
                  <a:lnTo>
                    <a:pt x="4901577" y="408025"/>
                  </a:lnTo>
                  <a:lnTo>
                    <a:pt x="4917478" y="447141"/>
                  </a:lnTo>
                  <a:lnTo>
                    <a:pt x="4943983" y="481863"/>
                  </a:lnTo>
                  <a:lnTo>
                    <a:pt x="4978705" y="508368"/>
                  </a:lnTo>
                  <a:lnTo>
                    <a:pt x="5017821" y="524268"/>
                  </a:lnTo>
                  <a:lnTo>
                    <a:pt x="5059134" y="529564"/>
                  </a:lnTo>
                  <a:lnTo>
                    <a:pt x="5100447" y="524268"/>
                  </a:lnTo>
                  <a:lnTo>
                    <a:pt x="5139575" y="508368"/>
                  </a:lnTo>
                  <a:lnTo>
                    <a:pt x="5174297" y="481863"/>
                  </a:lnTo>
                  <a:lnTo>
                    <a:pt x="5200802" y="447141"/>
                  </a:lnTo>
                  <a:lnTo>
                    <a:pt x="5216703" y="408025"/>
                  </a:lnTo>
                  <a:lnTo>
                    <a:pt x="5221998" y="366712"/>
                  </a:lnTo>
                  <a:close/>
                </a:path>
                <a:path w="5236845" h="4464050">
                  <a:moveTo>
                    <a:pt x="5236807" y="4092143"/>
                  </a:moveTo>
                  <a:lnTo>
                    <a:pt x="5231498" y="4050830"/>
                  </a:lnTo>
                  <a:lnTo>
                    <a:pt x="5215598" y="4011714"/>
                  </a:lnTo>
                  <a:lnTo>
                    <a:pt x="5189105" y="3976992"/>
                  </a:lnTo>
                  <a:lnTo>
                    <a:pt x="5154371" y="3950487"/>
                  </a:lnTo>
                  <a:lnTo>
                    <a:pt x="5115255" y="3934587"/>
                  </a:lnTo>
                  <a:lnTo>
                    <a:pt x="5073942" y="3929291"/>
                  </a:lnTo>
                  <a:lnTo>
                    <a:pt x="5032629" y="3934587"/>
                  </a:lnTo>
                  <a:lnTo>
                    <a:pt x="4993513" y="3950487"/>
                  </a:lnTo>
                  <a:lnTo>
                    <a:pt x="4958791" y="3976992"/>
                  </a:lnTo>
                  <a:lnTo>
                    <a:pt x="4932286" y="4011714"/>
                  </a:lnTo>
                  <a:lnTo>
                    <a:pt x="4916386" y="4050830"/>
                  </a:lnTo>
                  <a:lnTo>
                    <a:pt x="4911090" y="4092143"/>
                  </a:lnTo>
                  <a:lnTo>
                    <a:pt x="4916386" y="4133456"/>
                  </a:lnTo>
                  <a:lnTo>
                    <a:pt x="4932286" y="4172572"/>
                  </a:lnTo>
                  <a:lnTo>
                    <a:pt x="4958791" y="4207294"/>
                  </a:lnTo>
                  <a:lnTo>
                    <a:pt x="4993513" y="4233799"/>
                  </a:lnTo>
                  <a:lnTo>
                    <a:pt x="5032629" y="4249699"/>
                  </a:lnTo>
                  <a:lnTo>
                    <a:pt x="5073942" y="4254995"/>
                  </a:lnTo>
                  <a:lnTo>
                    <a:pt x="5115255" y="4249699"/>
                  </a:lnTo>
                  <a:lnTo>
                    <a:pt x="5154371" y="4233799"/>
                  </a:lnTo>
                  <a:lnTo>
                    <a:pt x="5189105" y="4207294"/>
                  </a:lnTo>
                  <a:lnTo>
                    <a:pt x="5215598" y="4172572"/>
                  </a:lnTo>
                  <a:lnTo>
                    <a:pt x="5231498" y="4133456"/>
                  </a:lnTo>
                  <a:lnTo>
                    <a:pt x="5236807" y="4092143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2764434" y="5070392"/>
              <a:ext cx="4984115" cy="2332355"/>
            </a:xfrm>
            <a:custGeom>
              <a:avLst/>
              <a:gdLst/>
              <a:ahLst/>
              <a:cxnLst/>
              <a:rect l="l" t="t" r="r" b="b"/>
              <a:pathLst>
                <a:path w="4984115" h="2332354">
                  <a:moveTo>
                    <a:pt x="325716" y="162852"/>
                  </a:moveTo>
                  <a:lnTo>
                    <a:pt x="320408" y="121539"/>
                  </a:lnTo>
                  <a:lnTo>
                    <a:pt x="304507" y="82423"/>
                  </a:lnTo>
                  <a:lnTo>
                    <a:pt x="278015" y="47701"/>
                  </a:lnTo>
                  <a:lnTo>
                    <a:pt x="243293" y="21196"/>
                  </a:lnTo>
                  <a:lnTo>
                    <a:pt x="204177" y="5295"/>
                  </a:lnTo>
                  <a:lnTo>
                    <a:pt x="162864" y="0"/>
                  </a:lnTo>
                  <a:lnTo>
                    <a:pt x="121551" y="5295"/>
                  </a:lnTo>
                  <a:lnTo>
                    <a:pt x="82435" y="21196"/>
                  </a:lnTo>
                  <a:lnTo>
                    <a:pt x="47701" y="47701"/>
                  </a:lnTo>
                  <a:lnTo>
                    <a:pt x="21209" y="82423"/>
                  </a:lnTo>
                  <a:lnTo>
                    <a:pt x="5308" y="121539"/>
                  </a:lnTo>
                  <a:lnTo>
                    <a:pt x="0" y="162852"/>
                  </a:lnTo>
                  <a:lnTo>
                    <a:pt x="5308" y="204165"/>
                  </a:lnTo>
                  <a:lnTo>
                    <a:pt x="21209" y="243281"/>
                  </a:lnTo>
                  <a:lnTo>
                    <a:pt x="47701" y="278003"/>
                  </a:lnTo>
                  <a:lnTo>
                    <a:pt x="82435" y="304507"/>
                  </a:lnTo>
                  <a:lnTo>
                    <a:pt x="121551" y="320408"/>
                  </a:lnTo>
                  <a:lnTo>
                    <a:pt x="162864" y="325704"/>
                  </a:lnTo>
                  <a:lnTo>
                    <a:pt x="204177" y="320408"/>
                  </a:lnTo>
                  <a:lnTo>
                    <a:pt x="243293" y="304507"/>
                  </a:lnTo>
                  <a:lnTo>
                    <a:pt x="278015" y="278003"/>
                  </a:lnTo>
                  <a:lnTo>
                    <a:pt x="304507" y="243281"/>
                  </a:lnTo>
                  <a:lnTo>
                    <a:pt x="320408" y="204165"/>
                  </a:lnTo>
                  <a:lnTo>
                    <a:pt x="325716" y="162852"/>
                  </a:lnTo>
                  <a:close/>
                </a:path>
                <a:path w="4984115" h="2332354">
                  <a:moveTo>
                    <a:pt x="4958423" y="165354"/>
                  </a:moveTo>
                  <a:lnTo>
                    <a:pt x="4953127" y="124040"/>
                  </a:lnTo>
                  <a:lnTo>
                    <a:pt x="4937226" y="84924"/>
                  </a:lnTo>
                  <a:lnTo>
                    <a:pt x="4910734" y="50203"/>
                  </a:lnTo>
                  <a:lnTo>
                    <a:pt x="4876000" y="23698"/>
                  </a:lnTo>
                  <a:lnTo>
                    <a:pt x="4836884" y="7797"/>
                  </a:lnTo>
                  <a:lnTo>
                    <a:pt x="4795571" y="2501"/>
                  </a:lnTo>
                  <a:lnTo>
                    <a:pt x="4754257" y="7797"/>
                  </a:lnTo>
                  <a:lnTo>
                    <a:pt x="4715141" y="23698"/>
                  </a:lnTo>
                  <a:lnTo>
                    <a:pt x="4680407" y="50203"/>
                  </a:lnTo>
                  <a:lnTo>
                    <a:pt x="4653915" y="84924"/>
                  </a:lnTo>
                  <a:lnTo>
                    <a:pt x="4638014" y="124040"/>
                  </a:lnTo>
                  <a:lnTo>
                    <a:pt x="4632718" y="165354"/>
                  </a:lnTo>
                  <a:lnTo>
                    <a:pt x="4638014" y="206667"/>
                  </a:lnTo>
                  <a:lnTo>
                    <a:pt x="4653915" y="245783"/>
                  </a:lnTo>
                  <a:lnTo>
                    <a:pt x="4680407" y="280504"/>
                  </a:lnTo>
                  <a:lnTo>
                    <a:pt x="4715141" y="307009"/>
                  </a:lnTo>
                  <a:lnTo>
                    <a:pt x="4754257" y="322910"/>
                  </a:lnTo>
                  <a:lnTo>
                    <a:pt x="4795571" y="328206"/>
                  </a:lnTo>
                  <a:lnTo>
                    <a:pt x="4836884" y="322910"/>
                  </a:lnTo>
                  <a:lnTo>
                    <a:pt x="4876000" y="307009"/>
                  </a:lnTo>
                  <a:lnTo>
                    <a:pt x="4910734" y="280504"/>
                  </a:lnTo>
                  <a:lnTo>
                    <a:pt x="4937226" y="245783"/>
                  </a:lnTo>
                  <a:lnTo>
                    <a:pt x="4953127" y="206667"/>
                  </a:lnTo>
                  <a:lnTo>
                    <a:pt x="4958423" y="165354"/>
                  </a:lnTo>
                  <a:close/>
                </a:path>
                <a:path w="4984115" h="2332354">
                  <a:moveTo>
                    <a:pt x="4983619" y="2168969"/>
                  </a:moveTo>
                  <a:lnTo>
                    <a:pt x="4978324" y="2127656"/>
                  </a:lnTo>
                  <a:lnTo>
                    <a:pt x="4962423" y="2088540"/>
                  </a:lnTo>
                  <a:lnTo>
                    <a:pt x="4935918" y="2053818"/>
                  </a:lnTo>
                  <a:lnTo>
                    <a:pt x="4901196" y="2027326"/>
                  </a:lnTo>
                  <a:lnTo>
                    <a:pt x="4862080" y="2011426"/>
                  </a:lnTo>
                  <a:lnTo>
                    <a:pt x="4820767" y="2006117"/>
                  </a:lnTo>
                  <a:lnTo>
                    <a:pt x="4779454" y="2011426"/>
                  </a:lnTo>
                  <a:lnTo>
                    <a:pt x="4740338" y="2027326"/>
                  </a:lnTo>
                  <a:lnTo>
                    <a:pt x="4705616" y="2053818"/>
                  </a:lnTo>
                  <a:lnTo>
                    <a:pt x="4679112" y="2088540"/>
                  </a:lnTo>
                  <a:lnTo>
                    <a:pt x="4663211" y="2127656"/>
                  </a:lnTo>
                  <a:lnTo>
                    <a:pt x="4657915" y="2168969"/>
                  </a:lnTo>
                  <a:lnTo>
                    <a:pt x="4663211" y="2210282"/>
                  </a:lnTo>
                  <a:lnTo>
                    <a:pt x="4679112" y="2249411"/>
                  </a:lnTo>
                  <a:lnTo>
                    <a:pt x="4705616" y="2284133"/>
                  </a:lnTo>
                  <a:lnTo>
                    <a:pt x="4740338" y="2310638"/>
                  </a:lnTo>
                  <a:lnTo>
                    <a:pt x="4779454" y="2326538"/>
                  </a:lnTo>
                  <a:lnTo>
                    <a:pt x="4820767" y="2331834"/>
                  </a:lnTo>
                  <a:lnTo>
                    <a:pt x="4862080" y="2326538"/>
                  </a:lnTo>
                  <a:lnTo>
                    <a:pt x="4901196" y="2310638"/>
                  </a:lnTo>
                  <a:lnTo>
                    <a:pt x="4935918" y="2284133"/>
                  </a:lnTo>
                  <a:lnTo>
                    <a:pt x="4962423" y="2249411"/>
                  </a:lnTo>
                  <a:lnTo>
                    <a:pt x="4978324" y="2210282"/>
                  </a:lnTo>
                  <a:lnTo>
                    <a:pt x="4983619" y="2168969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871275" y="5298141"/>
              <a:ext cx="3467735" cy="2104390"/>
            </a:xfrm>
            <a:custGeom>
              <a:avLst/>
              <a:gdLst/>
              <a:ahLst/>
              <a:cxnLst/>
              <a:rect l="l" t="t" r="r" b="b"/>
              <a:pathLst>
                <a:path w="3467734" h="2104390">
                  <a:moveTo>
                    <a:pt x="325716" y="1941144"/>
                  </a:moveTo>
                  <a:lnTo>
                    <a:pt x="320421" y="1899831"/>
                  </a:lnTo>
                  <a:lnTo>
                    <a:pt x="304520" y="1860715"/>
                  </a:lnTo>
                  <a:lnTo>
                    <a:pt x="278015" y="1825980"/>
                  </a:lnTo>
                  <a:lnTo>
                    <a:pt x="243293" y="1799488"/>
                  </a:lnTo>
                  <a:lnTo>
                    <a:pt x="204177" y="1783588"/>
                  </a:lnTo>
                  <a:lnTo>
                    <a:pt x="162852" y="1778279"/>
                  </a:lnTo>
                  <a:lnTo>
                    <a:pt x="121539" y="1783588"/>
                  </a:lnTo>
                  <a:lnTo>
                    <a:pt x="82423" y="1799488"/>
                  </a:lnTo>
                  <a:lnTo>
                    <a:pt x="47701" y="1825980"/>
                  </a:lnTo>
                  <a:lnTo>
                    <a:pt x="21196" y="1860715"/>
                  </a:lnTo>
                  <a:lnTo>
                    <a:pt x="5295" y="1899831"/>
                  </a:lnTo>
                  <a:lnTo>
                    <a:pt x="0" y="1941144"/>
                  </a:lnTo>
                  <a:lnTo>
                    <a:pt x="5295" y="1982457"/>
                  </a:lnTo>
                  <a:lnTo>
                    <a:pt x="21196" y="2021573"/>
                  </a:lnTo>
                  <a:lnTo>
                    <a:pt x="47701" y="2056295"/>
                  </a:lnTo>
                  <a:lnTo>
                    <a:pt x="82423" y="2082800"/>
                  </a:lnTo>
                  <a:lnTo>
                    <a:pt x="121539" y="2098700"/>
                  </a:lnTo>
                  <a:lnTo>
                    <a:pt x="162852" y="2103996"/>
                  </a:lnTo>
                  <a:lnTo>
                    <a:pt x="204177" y="2098700"/>
                  </a:lnTo>
                  <a:lnTo>
                    <a:pt x="243293" y="2082800"/>
                  </a:lnTo>
                  <a:lnTo>
                    <a:pt x="278015" y="2056295"/>
                  </a:lnTo>
                  <a:lnTo>
                    <a:pt x="304520" y="2021573"/>
                  </a:lnTo>
                  <a:lnTo>
                    <a:pt x="320421" y="1982457"/>
                  </a:lnTo>
                  <a:lnTo>
                    <a:pt x="325716" y="1941144"/>
                  </a:lnTo>
                  <a:close/>
                </a:path>
                <a:path w="3467734" h="2104390">
                  <a:moveTo>
                    <a:pt x="3467112" y="162852"/>
                  </a:moveTo>
                  <a:lnTo>
                    <a:pt x="3461804" y="121539"/>
                  </a:lnTo>
                  <a:lnTo>
                    <a:pt x="3445903" y="82423"/>
                  </a:lnTo>
                  <a:lnTo>
                    <a:pt x="3419411" y="47701"/>
                  </a:lnTo>
                  <a:lnTo>
                    <a:pt x="3384677" y="21196"/>
                  </a:lnTo>
                  <a:lnTo>
                    <a:pt x="3345561" y="5295"/>
                  </a:lnTo>
                  <a:lnTo>
                    <a:pt x="3304248" y="0"/>
                  </a:lnTo>
                  <a:lnTo>
                    <a:pt x="3262934" y="5295"/>
                  </a:lnTo>
                  <a:lnTo>
                    <a:pt x="3223818" y="21196"/>
                  </a:lnTo>
                  <a:lnTo>
                    <a:pt x="3189097" y="47701"/>
                  </a:lnTo>
                  <a:lnTo>
                    <a:pt x="3162592" y="82423"/>
                  </a:lnTo>
                  <a:lnTo>
                    <a:pt x="3146691" y="121539"/>
                  </a:lnTo>
                  <a:lnTo>
                    <a:pt x="3141395" y="162852"/>
                  </a:lnTo>
                  <a:lnTo>
                    <a:pt x="3146691" y="204165"/>
                  </a:lnTo>
                  <a:lnTo>
                    <a:pt x="3162592" y="243281"/>
                  </a:lnTo>
                  <a:lnTo>
                    <a:pt x="3189097" y="278003"/>
                  </a:lnTo>
                  <a:lnTo>
                    <a:pt x="3223818" y="304507"/>
                  </a:lnTo>
                  <a:lnTo>
                    <a:pt x="3262934" y="320408"/>
                  </a:lnTo>
                  <a:lnTo>
                    <a:pt x="3304248" y="325704"/>
                  </a:lnTo>
                  <a:lnTo>
                    <a:pt x="3345561" y="320408"/>
                  </a:lnTo>
                  <a:lnTo>
                    <a:pt x="3384677" y="304507"/>
                  </a:lnTo>
                  <a:lnTo>
                    <a:pt x="3419411" y="278003"/>
                  </a:lnTo>
                  <a:lnTo>
                    <a:pt x="3445903" y="243281"/>
                  </a:lnTo>
                  <a:lnTo>
                    <a:pt x="3461804" y="204165"/>
                  </a:lnTo>
                  <a:lnTo>
                    <a:pt x="3467112" y="162852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983772" y="2222912"/>
              <a:ext cx="3328670" cy="2159000"/>
            </a:xfrm>
            <a:custGeom>
              <a:avLst/>
              <a:gdLst/>
              <a:ahLst/>
              <a:cxnLst/>
              <a:rect l="l" t="t" r="r" b="b"/>
              <a:pathLst>
                <a:path w="3328670" h="2159000">
                  <a:moveTo>
                    <a:pt x="325716" y="162852"/>
                  </a:moveTo>
                  <a:lnTo>
                    <a:pt x="320421" y="121539"/>
                  </a:lnTo>
                  <a:lnTo>
                    <a:pt x="304520" y="82423"/>
                  </a:lnTo>
                  <a:lnTo>
                    <a:pt x="278015" y="47688"/>
                  </a:lnTo>
                  <a:lnTo>
                    <a:pt x="243293" y="21196"/>
                  </a:lnTo>
                  <a:lnTo>
                    <a:pt x="204177" y="5295"/>
                  </a:lnTo>
                  <a:lnTo>
                    <a:pt x="162864" y="0"/>
                  </a:lnTo>
                  <a:lnTo>
                    <a:pt x="121551" y="5295"/>
                  </a:lnTo>
                  <a:lnTo>
                    <a:pt x="82423" y="21196"/>
                  </a:lnTo>
                  <a:lnTo>
                    <a:pt x="47701" y="47688"/>
                  </a:lnTo>
                  <a:lnTo>
                    <a:pt x="21196" y="82423"/>
                  </a:lnTo>
                  <a:lnTo>
                    <a:pt x="5295" y="121539"/>
                  </a:lnTo>
                  <a:lnTo>
                    <a:pt x="0" y="162852"/>
                  </a:lnTo>
                  <a:lnTo>
                    <a:pt x="5295" y="204165"/>
                  </a:lnTo>
                  <a:lnTo>
                    <a:pt x="21196" y="243281"/>
                  </a:lnTo>
                  <a:lnTo>
                    <a:pt x="47701" y="278015"/>
                  </a:lnTo>
                  <a:lnTo>
                    <a:pt x="82423" y="304507"/>
                  </a:lnTo>
                  <a:lnTo>
                    <a:pt x="121551" y="320408"/>
                  </a:lnTo>
                  <a:lnTo>
                    <a:pt x="162864" y="325716"/>
                  </a:lnTo>
                  <a:lnTo>
                    <a:pt x="204177" y="320408"/>
                  </a:lnTo>
                  <a:lnTo>
                    <a:pt x="243293" y="304507"/>
                  </a:lnTo>
                  <a:lnTo>
                    <a:pt x="278015" y="278015"/>
                  </a:lnTo>
                  <a:lnTo>
                    <a:pt x="304520" y="243281"/>
                  </a:lnTo>
                  <a:lnTo>
                    <a:pt x="320421" y="204165"/>
                  </a:lnTo>
                  <a:lnTo>
                    <a:pt x="325716" y="162852"/>
                  </a:lnTo>
                  <a:close/>
                </a:path>
                <a:path w="3328670" h="2159000">
                  <a:moveTo>
                    <a:pt x="3328225" y="1995932"/>
                  </a:moveTo>
                  <a:lnTo>
                    <a:pt x="3322929" y="1954618"/>
                  </a:lnTo>
                  <a:lnTo>
                    <a:pt x="3307029" y="1915502"/>
                  </a:lnTo>
                  <a:lnTo>
                    <a:pt x="3280537" y="1880781"/>
                  </a:lnTo>
                  <a:lnTo>
                    <a:pt x="3245802" y="1854276"/>
                  </a:lnTo>
                  <a:lnTo>
                    <a:pt x="3206686" y="1838375"/>
                  </a:lnTo>
                  <a:lnTo>
                    <a:pt x="3165373" y="1833079"/>
                  </a:lnTo>
                  <a:lnTo>
                    <a:pt x="3124060" y="1838375"/>
                  </a:lnTo>
                  <a:lnTo>
                    <a:pt x="3084944" y="1854276"/>
                  </a:lnTo>
                  <a:lnTo>
                    <a:pt x="3050222" y="1880781"/>
                  </a:lnTo>
                  <a:lnTo>
                    <a:pt x="3023717" y="1915502"/>
                  </a:lnTo>
                  <a:lnTo>
                    <a:pt x="3007817" y="1954618"/>
                  </a:lnTo>
                  <a:lnTo>
                    <a:pt x="3002521" y="1995932"/>
                  </a:lnTo>
                  <a:lnTo>
                    <a:pt x="3007817" y="2037245"/>
                  </a:lnTo>
                  <a:lnTo>
                    <a:pt x="3023717" y="2076361"/>
                  </a:lnTo>
                  <a:lnTo>
                    <a:pt x="3050222" y="2111083"/>
                  </a:lnTo>
                  <a:lnTo>
                    <a:pt x="3084944" y="2137587"/>
                  </a:lnTo>
                  <a:lnTo>
                    <a:pt x="3124060" y="2153488"/>
                  </a:lnTo>
                  <a:lnTo>
                    <a:pt x="3165373" y="2158784"/>
                  </a:lnTo>
                  <a:lnTo>
                    <a:pt x="3206686" y="2153488"/>
                  </a:lnTo>
                  <a:lnTo>
                    <a:pt x="3245802" y="2137587"/>
                  </a:lnTo>
                  <a:lnTo>
                    <a:pt x="3280537" y="2111083"/>
                  </a:lnTo>
                  <a:lnTo>
                    <a:pt x="3307029" y="2076361"/>
                  </a:lnTo>
                  <a:lnTo>
                    <a:pt x="3322929" y="2037245"/>
                  </a:lnTo>
                  <a:lnTo>
                    <a:pt x="3328225" y="1995932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826649" y="1848465"/>
              <a:ext cx="331470" cy="5937250"/>
            </a:xfrm>
            <a:custGeom>
              <a:avLst/>
              <a:gdLst/>
              <a:ahLst/>
              <a:cxnLst/>
              <a:rect l="l" t="t" r="r" b="b"/>
              <a:pathLst>
                <a:path w="331470" h="5937250">
                  <a:moveTo>
                    <a:pt x="325716" y="5774334"/>
                  </a:moveTo>
                  <a:lnTo>
                    <a:pt x="320421" y="5733021"/>
                  </a:lnTo>
                  <a:lnTo>
                    <a:pt x="304520" y="5693905"/>
                  </a:lnTo>
                  <a:lnTo>
                    <a:pt x="278015" y="5659183"/>
                  </a:lnTo>
                  <a:lnTo>
                    <a:pt x="243293" y="5632691"/>
                  </a:lnTo>
                  <a:lnTo>
                    <a:pt x="204165" y="5616791"/>
                  </a:lnTo>
                  <a:lnTo>
                    <a:pt x="162852" y="5611482"/>
                  </a:lnTo>
                  <a:lnTo>
                    <a:pt x="121539" y="5616791"/>
                  </a:lnTo>
                  <a:lnTo>
                    <a:pt x="82423" y="5632691"/>
                  </a:lnTo>
                  <a:lnTo>
                    <a:pt x="47701" y="5659183"/>
                  </a:lnTo>
                  <a:lnTo>
                    <a:pt x="21196" y="5693905"/>
                  </a:lnTo>
                  <a:lnTo>
                    <a:pt x="5295" y="5733021"/>
                  </a:lnTo>
                  <a:lnTo>
                    <a:pt x="0" y="5774334"/>
                  </a:lnTo>
                  <a:lnTo>
                    <a:pt x="5295" y="5815647"/>
                  </a:lnTo>
                  <a:lnTo>
                    <a:pt x="21196" y="5854763"/>
                  </a:lnTo>
                  <a:lnTo>
                    <a:pt x="47701" y="5889498"/>
                  </a:lnTo>
                  <a:lnTo>
                    <a:pt x="82423" y="5915990"/>
                  </a:lnTo>
                  <a:lnTo>
                    <a:pt x="121539" y="5931890"/>
                  </a:lnTo>
                  <a:lnTo>
                    <a:pt x="162852" y="5937199"/>
                  </a:lnTo>
                  <a:lnTo>
                    <a:pt x="204165" y="5931890"/>
                  </a:lnTo>
                  <a:lnTo>
                    <a:pt x="243293" y="5915990"/>
                  </a:lnTo>
                  <a:lnTo>
                    <a:pt x="278015" y="5889498"/>
                  </a:lnTo>
                  <a:lnTo>
                    <a:pt x="304520" y="5854763"/>
                  </a:lnTo>
                  <a:lnTo>
                    <a:pt x="320421" y="5815647"/>
                  </a:lnTo>
                  <a:lnTo>
                    <a:pt x="325716" y="5774334"/>
                  </a:lnTo>
                  <a:close/>
                </a:path>
                <a:path w="331470" h="5937250">
                  <a:moveTo>
                    <a:pt x="331406" y="162852"/>
                  </a:moveTo>
                  <a:lnTo>
                    <a:pt x="326097" y="121539"/>
                  </a:lnTo>
                  <a:lnTo>
                    <a:pt x="310197" y="82423"/>
                  </a:lnTo>
                  <a:lnTo>
                    <a:pt x="283705" y="47701"/>
                  </a:lnTo>
                  <a:lnTo>
                    <a:pt x="248970" y="21196"/>
                  </a:lnTo>
                  <a:lnTo>
                    <a:pt x="209854" y="5295"/>
                  </a:lnTo>
                  <a:lnTo>
                    <a:pt x="168541" y="0"/>
                  </a:lnTo>
                  <a:lnTo>
                    <a:pt x="127228" y="5295"/>
                  </a:lnTo>
                  <a:lnTo>
                    <a:pt x="88112" y="21196"/>
                  </a:lnTo>
                  <a:lnTo>
                    <a:pt x="53378" y="47701"/>
                  </a:lnTo>
                  <a:lnTo>
                    <a:pt x="26885" y="82423"/>
                  </a:lnTo>
                  <a:lnTo>
                    <a:pt x="10985" y="121539"/>
                  </a:lnTo>
                  <a:lnTo>
                    <a:pt x="5676" y="162852"/>
                  </a:lnTo>
                  <a:lnTo>
                    <a:pt x="10985" y="204165"/>
                  </a:lnTo>
                  <a:lnTo>
                    <a:pt x="26885" y="243281"/>
                  </a:lnTo>
                  <a:lnTo>
                    <a:pt x="53378" y="278015"/>
                  </a:lnTo>
                  <a:lnTo>
                    <a:pt x="88112" y="304507"/>
                  </a:lnTo>
                  <a:lnTo>
                    <a:pt x="127228" y="320408"/>
                  </a:lnTo>
                  <a:lnTo>
                    <a:pt x="168541" y="325704"/>
                  </a:lnTo>
                  <a:lnTo>
                    <a:pt x="209854" y="320408"/>
                  </a:lnTo>
                  <a:lnTo>
                    <a:pt x="248970" y="304507"/>
                  </a:lnTo>
                  <a:lnTo>
                    <a:pt x="283705" y="278015"/>
                  </a:lnTo>
                  <a:lnTo>
                    <a:pt x="310197" y="243281"/>
                  </a:lnTo>
                  <a:lnTo>
                    <a:pt x="326097" y="204165"/>
                  </a:lnTo>
                  <a:lnTo>
                    <a:pt x="331406" y="162852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7" name="object 57"/>
          <p:cNvSpPr/>
          <p:nvPr/>
        </p:nvSpPr>
        <p:spPr>
          <a:xfrm>
            <a:off x="3891022" y="240224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7" y="304517"/>
                </a:lnTo>
                <a:lnTo>
                  <a:pt x="121545" y="320417"/>
                </a:lnTo>
                <a:lnTo>
                  <a:pt x="162857" y="325717"/>
                </a:lnTo>
                <a:lnTo>
                  <a:pt x="204169" y="320417"/>
                </a:lnTo>
                <a:lnTo>
                  <a:pt x="243284" y="304517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83756" y="1273775"/>
            <a:ext cx="1951837" cy="2409037"/>
            <a:chOff x="4141648" y="2172679"/>
            <a:chExt cx="4291330" cy="5296535"/>
          </a:xfrm>
        </p:grpSpPr>
        <p:sp>
          <p:nvSpPr>
            <p:cNvPr id="28" name="object 28"/>
            <p:cNvSpPr/>
            <p:nvPr/>
          </p:nvSpPr>
          <p:spPr>
            <a:xfrm>
              <a:off x="4141648" y="6975615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15" y="0"/>
                  </a:moveTo>
                  <a:lnTo>
                    <a:pt x="253242" y="0"/>
                  </a:lnTo>
                  <a:lnTo>
                    <a:pt x="206424" y="7163"/>
                  </a:lnTo>
                  <a:lnTo>
                    <a:pt x="161271" y="21490"/>
                  </a:lnTo>
                  <a:lnTo>
                    <a:pt x="118893" y="42981"/>
                  </a:lnTo>
                  <a:lnTo>
                    <a:pt x="80400" y="71636"/>
                  </a:lnTo>
                  <a:lnTo>
                    <a:pt x="48240" y="105930"/>
                  </a:lnTo>
                  <a:lnTo>
                    <a:pt x="24120" y="143685"/>
                  </a:lnTo>
                  <a:lnTo>
                    <a:pt x="8040" y="183914"/>
                  </a:lnTo>
                  <a:lnTo>
                    <a:pt x="0" y="225626"/>
                  </a:lnTo>
                  <a:lnTo>
                    <a:pt x="0" y="267834"/>
                  </a:lnTo>
                  <a:lnTo>
                    <a:pt x="8040" y="309546"/>
                  </a:lnTo>
                  <a:lnTo>
                    <a:pt x="24120" y="349775"/>
                  </a:lnTo>
                  <a:lnTo>
                    <a:pt x="48240" y="387531"/>
                  </a:lnTo>
                  <a:lnTo>
                    <a:pt x="80400" y="421824"/>
                  </a:lnTo>
                  <a:lnTo>
                    <a:pt x="118893" y="450476"/>
                  </a:lnTo>
                  <a:lnTo>
                    <a:pt x="161271" y="471964"/>
                  </a:lnTo>
                  <a:lnTo>
                    <a:pt x="206424" y="486290"/>
                  </a:lnTo>
                  <a:lnTo>
                    <a:pt x="253242" y="493453"/>
                  </a:lnTo>
                  <a:lnTo>
                    <a:pt x="300615" y="493453"/>
                  </a:lnTo>
                  <a:lnTo>
                    <a:pt x="347433" y="486290"/>
                  </a:lnTo>
                  <a:lnTo>
                    <a:pt x="392586" y="471964"/>
                  </a:lnTo>
                  <a:lnTo>
                    <a:pt x="434964" y="450476"/>
                  </a:lnTo>
                  <a:lnTo>
                    <a:pt x="473456" y="421824"/>
                  </a:lnTo>
                  <a:lnTo>
                    <a:pt x="505617" y="387531"/>
                  </a:lnTo>
                  <a:lnTo>
                    <a:pt x="529737" y="349775"/>
                  </a:lnTo>
                  <a:lnTo>
                    <a:pt x="545817" y="309546"/>
                  </a:lnTo>
                  <a:lnTo>
                    <a:pt x="553857" y="267834"/>
                  </a:lnTo>
                  <a:lnTo>
                    <a:pt x="553857" y="225626"/>
                  </a:lnTo>
                  <a:lnTo>
                    <a:pt x="545817" y="183914"/>
                  </a:lnTo>
                  <a:lnTo>
                    <a:pt x="529737" y="143685"/>
                  </a:lnTo>
                  <a:lnTo>
                    <a:pt x="505617" y="105930"/>
                  </a:lnTo>
                  <a:lnTo>
                    <a:pt x="473456" y="71636"/>
                  </a:lnTo>
                  <a:lnTo>
                    <a:pt x="434964" y="42981"/>
                  </a:lnTo>
                  <a:lnTo>
                    <a:pt x="392586" y="21490"/>
                  </a:lnTo>
                  <a:lnTo>
                    <a:pt x="347433" y="7163"/>
                  </a:lnTo>
                  <a:lnTo>
                    <a:pt x="300615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878584" y="2172679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30">
                  <a:moveTo>
                    <a:pt x="300623" y="0"/>
                  </a:moveTo>
                  <a:lnTo>
                    <a:pt x="253250" y="0"/>
                  </a:lnTo>
                  <a:lnTo>
                    <a:pt x="206432" y="7162"/>
                  </a:lnTo>
                  <a:lnTo>
                    <a:pt x="161279" y="21488"/>
                  </a:lnTo>
                  <a:lnTo>
                    <a:pt x="118901" y="42977"/>
                  </a:lnTo>
                  <a:lnTo>
                    <a:pt x="80408" y="71628"/>
                  </a:lnTo>
                  <a:lnTo>
                    <a:pt x="48245" y="105925"/>
                  </a:lnTo>
                  <a:lnTo>
                    <a:pt x="24122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2" y="349773"/>
                  </a:lnTo>
                  <a:lnTo>
                    <a:pt x="48245" y="387530"/>
                  </a:lnTo>
                  <a:lnTo>
                    <a:pt x="80408" y="421827"/>
                  </a:lnTo>
                  <a:lnTo>
                    <a:pt x="118901" y="450478"/>
                  </a:lnTo>
                  <a:lnTo>
                    <a:pt x="161279" y="471967"/>
                  </a:lnTo>
                  <a:lnTo>
                    <a:pt x="206432" y="486293"/>
                  </a:lnTo>
                  <a:lnTo>
                    <a:pt x="253250" y="493455"/>
                  </a:lnTo>
                  <a:lnTo>
                    <a:pt x="300623" y="493455"/>
                  </a:lnTo>
                  <a:lnTo>
                    <a:pt x="347441" y="486293"/>
                  </a:lnTo>
                  <a:lnTo>
                    <a:pt x="392593" y="471967"/>
                  </a:lnTo>
                  <a:lnTo>
                    <a:pt x="434971" y="450478"/>
                  </a:lnTo>
                  <a:lnTo>
                    <a:pt x="473464" y="421827"/>
                  </a:lnTo>
                  <a:lnTo>
                    <a:pt x="505625" y="387530"/>
                  </a:lnTo>
                  <a:lnTo>
                    <a:pt x="529745" y="349773"/>
                  </a:lnTo>
                  <a:lnTo>
                    <a:pt x="545825" y="309544"/>
                  </a:lnTo>
                  <a:lnTo>
                    <a:pt x="553865" y="267831"/>
                  </a:lnTo>
                  <a:lnTo>
                    <a:pt x="553865" y="225624"/>
                  </a:lnTo>
                  <a:lnTo>
                    <a:pt x="545825" y="183911"/>
                  </a:lnTo>
                  <a:lnTo>
                    <a:pt x="529745" y="143682"/>
                  </a:lnTo>
                  <a:lnTo>
                    <a:pt x="505625" y="105925"/>
                  </a:lnTo>
                  <a:lnTo>
                    <a:pt x="473464" y="71628"/>
                  </a:lnTo>
                  <a:lnTo>
                    <a:pt x="434971" y="42977"/>
                  </a:lnTo>
                  <a:lnTo>
                    <a:pt x="392593" y="21488"/>
                  </a:lnTo>
                  <a:lnTo>
                    <a:pt x="347441" y="7162"/>
                  </a:lnTo>
                  <a:lnTo>
                    <a:pt x="300623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52878" y="3443321"/>
            <a:ext cx="1813493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1704975" algn="l"/>
              </a:tabLst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	</a:t>
            </a: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4" name="object 34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91122" y="3941223"/>
            <a:ext cx="3237946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738505" algn="l"/>
                <a:tab pos="1838325" algn="l"/>
              </a:tabLst>
            </a:pPr>
            <a:r>
              <a:rPr sz="1045" spc="91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23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first	</a:t>
            </a:r>
            <a:r>
              <a:rPr sz="1045" spc="86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advertisement:	</a:t>
            </a:r>
            <a:r>
              <a:rPr sz="1045" spc="157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[(B,7),(D,2),(F,1)]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46755" y="4535054"/>
            <a:ext cx="2232857" cy="549139"/>
          </a:xfrm>
          <a:prstGeom prst="rect">
            <a:avLst/>
          </a:prstGeom>
        </p:spPr>
        <p:txBody>
          <a:bodyPr vert="horz" wrap="square" lIns="0" tIns="4332" rIns="0" bIns="0" rtlCol="0">
            <a:spAutoFit/>
          </a:bodyPr>
          <a:lstStyle/>
          <a:p>
            <a:pPr marL="5715" marR="2540" algn="ctr" defTabSz="415925">
              <a:lnSpc>
                <a:spcPct val="102000"/>
              </a:lnSpc>
              <a:spcBef>
                <a:spcPts val="35"/>
              </a:spcBef>
            </a:pP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neighbors </a:t>
            </a:r>
            <a:r>
              <a:rPr sz="1180" b="1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not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forward </a:t>
            </a: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advertisements; they </a:t>
            </a:r>
            <a:r>
              <a:rPr sz="1180" i="1" spc="4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send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180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their </a:t>
            </a:r>
            <a:r>
              <a:rPr sz="1180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own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180" spc="-6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094376" y="2294180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7"/>
                </a:lnTo>
                <a:lnTo>
                  <a:pt x="5300" y="204169"/>
                </a:lnTo>
                <a:lnTo>
                  <a:pt x="21200" y="243284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4"/>
                </a:lnTo>
                <a:lnTo>
                  <a:pt x="320407" y="204169"/>
                </a:lnTo>
                <a:lnTo>
                  <a:pt x="325707" y="162857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638548" y="1087591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8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7" y="304517"/>
                </a:lnTo>
                <a:lnTo>
                  <a:pt x="121545" y="320417"/>
                </a:lnTo>
                <a:lnTo>
                  <a:pt x="162858" y="325717"/>
                </a:lnTo>
                <a:lnTo>
                  <a:pt x="204172" y="320417"/>
                </a:lnTo>
                <a:lnTo>
                  <a:pt x="243290" y="304517"/>
                </a:lnTo>
                <a:lnTo>
                  <a:pt x="278017" y="278017"/>
                </a:lnTo>
                <a:lnTo>
                  <a:pt x="304517" y="243290"/>
                </a:lnTo>
                <a:lnTo>
                  <a:pt x="320417" y="204172"/>
                </a:lnTo>
                <a:lnTo>
                  <a:pt x="325717" y="162858"/>
                </a:lnTo>
                <a:lnTo>
                  <a:pt x="320417" y="121545"/>
                </a:lnTo>
                <a:lnTo>
                  <a:pt x="304517" y="82427"/>
                </a:lnTo>
                <a:lnTo>
                  <a:pt x="278017" y="47700"/>
                </a:lnTo>
                <a:lnTo>
                  <a:pt x="243290" y="21200"/>
                </a:lnTo>
                <a:lnTo>
                  <a:pt x="204172" y="5300"/>
                </a:lnTo>
                <a:lnTo>
                  <a:pt x="162858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891022" y="1289883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2"/>
                </a:lnTo>
                <a:lnTo>
                  <a:pt x="5300" y="121538"/>
                </a:lnTo>
                <a:lnTo>
                  <a:pt x="0" y="162849"/>
                </a:lnTo>
                <a:lnTo>
                  <a:pt x="5300" y="204162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2"/>
                </a:lnTo>
                <a:lnTo>
                  <a:pt x="325707" y="162849"/>
                </a:lnTo>
                <a:lnTo>
                  <a:pt x="320407" y="121538"/>
                </a:lnTo>
                <a:lnTo>
                  <a:pt x="304507" y="82422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009051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000126" y="1113680"/>
            <a:ext cx="2786812" cy="2736557"/>
            <a:chOff x="2198888" y="1820693"/>
            <a:chExt cx="6127115" cy="6016625"/>
          </a:xfrm>
        </p:grpSpPr>
        <p:sp>
          <p:nvSpPr>
            <p:cNvPr id="55" name="object 55"/>
            <p:cNvSpPr/>
            <p:nvPr/>
          </p:nvSpPr>
          <p:spPr>
            <a:xfrm>
              <a:off x="2257399" y="2332754"/>
              <a:ext cx="2675890" cy="5453380"/>
            </a:xfrm>
            <a:custGeom>
              <a:avLst/>
              <a:gdLst/>
              <a:ahLst/>
              <a:cxnLst/>
              <a:rect l="l" t="t" r="r" b="b"/>
              <a:pathLst>
                <a:path w="2675890" h="5453380">
                  <a:moveTo>
                    <a:pt x="325704" y="1993353"/>
                  </a:moveTo>
                  <a:lnTo>
                    <a:pt x="320408" y="1952040"/>
                  </a:lnTo>
                  <a:lnTo>
                    <a:pt x="304507" y="1912912"/>
                  </a:lnTo>
                  <a:lnTo>
                    <a:pt x="278003" y="1878190"/>
                  </a:lnTo>
                  <a:lnTo>
                    <a:pt x="243281" y="1851685"/>
                  </a:lnTo>
                  <a:lnTo>
                    <a:pt x="204165" y="1835785"/>
                  </a:lnTo>
                  <a:lnTo>
                    <a:pt x="162852" y="1830489"/>
                  </a:lnTo>
                  <a:lnTo>
                    <a:pt x="121539" y="1835785"/>
                  </a:lnTo>
                  <a:lnTo>
                    <a:pt x="82423" y="1851685"/>
                  </a:lnTo>
                  <a:lnTo>
                    <a:pt x="47701" y="1878190"/>
                  </a:lnTo>
                  <a:lnTo>
                    <a:pt x="21196" y="1912912"/>
                  </a:lnTo>
                  <a:lnTo>
                    <a:pt x="5295" y="1952040"/>
                  </a:lnTo>
                  <a:lnTo>
                    <a:pt x="0" y="1993353"/>
                  </a:lnTo>
                  <a:lnTo>
                    <a:pt x="5295" y="2034667"/>
                  </a:lnTo>
                  <a:lnTo>
                    <a:pt x="21196" y="2073783"/>
                  </a:lnTo>
                  <a:lnTo>
                    <a:pt x="47701" y="2108504"/>
                  </a:lnTo>
                  <a:lnTo>
                    <a:pt x="82423" y="2135009"/>
                  </a:lnTo>
                  <a:lnTo>
                    <a:pt x="121539" y="2150897"/>
                  </a:lnTo>
                  <a:lnTo>
                    <a:pt x="162852" y="2156206"/>
                  </a:lnTo>
                  <a:lnTo>
                    <a:pt x="204165" y="2150897"/>
                  </a:lnTo>
                  <a:lnTo>
                    <a:pt x="243281" y="2135009"/>
                  </a:lnTo>
                  <a:lnTo>
                    <a:pt x="278003" y="2108504"/>
                  </a:lnTo>
                  <a:lnTo>
                    <a:pt x="304507" y="2073783"/>
                  </a:lnTo>
                  <a:lnTo>
                    <a:pt x="320408" y="2034667"/>
                  </a:lnTo>
                  <a:lnTo>
                    <a:pt x="325704" y="1993353"/>
                  </a:lnTo>
                  <a:close/>
                </a:path>
                <a:path w="2675890" h="5453380">
                  <a:moveTo>
                    <a:pt x="1715490" y="162864"/>
                  </a:moveTo>
                  <a:lnTo>
                    <a:pt x="1710194" y="121551"/>
                  </a:lnTo>
                  <a:lnTo>
                    <a:pt x="1694294" y="82435"/>
                  </a:lnTo>
                  <a:lnTo>
                    <a:pt x="1667789" y="47701"/>
                  </a:lnTo>
                  <a:lnTo>
                    <a:pt x="1633067" y="21196"/>
                  </a:lnTo>
                  <a:lnTo>
                    <a:pt x="1593951" y="5295"/>
                  </a:lnTo>
                  <a:lnTo>
                    <a:pt x="1552638" y="0"/>
                  </a:lnTo>
                  <a:lnTo>
                    <a:pt x="1511325" y="5295"/>
                  </a:lnTo>
                  <a:lnTo>
                    <a:pt x="1472209" y="21196"/>
                  </a:lnTo>
                  <a:lnTo>
                    <a:pt x="1437474" y="47701"/>
                  </a:lnTo>
                  <a:lnTo>
                    <a:pt x="1410982" y="82435"/>
                  </a:lnTo>
                  <a:lnTo>
                    <a:pt x="1395082" y="121551"/>
                  </a:lnTo>
                  <a:lnTo>
                    <a:pt x="1389773" y="162864"/>
                  </a:lnTo>
                  <a:lnTo>
                    <a:pt x="1395082" y="204177"/>
                  </a:lnTo>
                  <a:lnTo>
                    <a:pt x="1410982" y="243293"/>
                  </a:lnTo>
                  <a:lnTo>
                    <a:pt x="1437474" y="278015"/>
                  </a:lnTo>
                  <a:lnTo>
                    <a:pt x="1472209" y="304520"/>
                  </a:lnTo>
                  <a:lnTo>
                    <a:pt x="1511325" y="320408"/>
                  </a:lnTo>
                  <a:lnTo>
                    <a:pt x="1552638" y="325716"/>
                  </a:lnTo>
                  <a:lnTo>
                    <a:pt x="1593951" y="320408"/>
                  </a:lnTo>
                  <a:lnTo>
                    <a:pt x="1633067" y="304520"/>
                  </a:lnTo>
                  <a:lnTo>
                    <a:pt x="1667789" y="278015"/>
                  </a:lnTo>
                  <a:lnTo>
                    <a:pt x="1694294" y="243293"/>
                  </a:lnTo>
                  <a:lnTo>
                    <a:pt x="1710194" y="204177"/>
                  </a:lnTo>
                  <a:lnTo>
                    <a:pt x="1715490" y="162864"/>
                  </a:lnTo>
                  <a:close/>
                </a:path>
                <a:path w="2675890" h="5453380">
                  <a:moveTo>
                    <a:pt x="2675496" y="5290045"/>
                  </a:moveTo>
                  <a:lnTo>
                    <a:pt x="2670200" y="5248732"/>
                  </a:lnTo>
                  <a:lnTo>
                    <a:pt x="2654300" y="5209616"/>
                  </a:lnTo>
                  <a:lnTo>
                    <a:pt x="2627795" y="5174894"/>
                  </a:lnTo>
                  <a:lnTo>
                    <a:pt x="2593073" y="5148402"/>
                  </a:lnTo>
                  <a:lnTo>
                    <a:pt x="2553944" y="5132502"/>
                  </a:lnTo>
                  <a:lnTo>
                    <a:pt x="2512631" y="5127193"/>
                  </a:lnTo>
                  <a:lnTo>
                    <a:pt x="2471318" y="5132502"/>
                  </a:lnTo>
                  <a:lnTo>
                    <a:pt x="2432202" y="5148402"/>
                  </a:lnTo>
                  <a:lnTo>
                    <a:pt x="2397480" y="5174894"/>
                  </a:lnTo>
                  <a:lnTo>
                    <a:pt x="2370975" y="5209616"/>
                  </a:lnTo>
                  <a:lnTo>
                    <a:pt x="2355075" y="5248732"/>
                  </a:lnTo>
                  <a:lnTo>
                    <a:pt x="2349779" y="5290045"/>
                  </a:lnTo>
                  <a:lnTo>
                    <a:pt x="2355075" y="5331358"/>
                  </a:lnTo>
                  <a:lnTo>
                    <a:pt x="2370975" y="5370474"/>
                  </a:lnTo>
                  <a:lnTo>
                    <a:pt x="2397480" y="5405209"/>
                  </a:lnTo>
                  <a:lnTo>
                    <a:pt x="2432202" y="5431701"/>
                  </a:lnTo>
                  <a:lnTo>
                    <a:pt x="2471318" y="5447601"/>
                  </a:lnTo>
                  <a:lnTo>
                    <a:pt x="2512631" y="5452910"/>
                  </a:lnTo>
                  <a:lnTo>
                    <a:pt x="2553944" y="5447601"/>
                  </a:lnTo>
                  <a:lnTo>
                    <a:pt x="2593073" y="5431701"/>
                  </a:lnTo>
                  <a:lnTo>
                    <a:pt x="2627795" y="5405209"/>
                  </a:lnTo>
                  <a:lnTo>
                    <a:pt x="2654300" y="5370474"/>
                  </a:lnTo>
                  <a:lnTo>
                    <a:pt x="2670200" y="5331358"/>
                  </a:lnTo>
                  <a:lnTo>
                    <a:pt x="2675496" y="5290045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2198878" y="5144077"/>
              <a:ext cx="6127115" cy="2693035"/>
            </a:xfrm>
            <a:custGeom>
              <a:avLst/>
              <a:gdLst/>
              <a:ahLst/>
              <a:cxnLst/>
              <a:rect l="l" t="t" r="r" b="b"/>
              <a:pathLst>
                <a:path w="6127115" h="2693034">
                  <a:moveTo>
                    <a:pt x="325716" y="162852"/>
                  </a:moveTo>
                  <a:lnTo>
                    <a:pt x="320408" y="121539"/>
                  </a:lnTo>
                  <a:lnTo>
                    <a:pt x="304507" y="82423"/>
                  </a:lnTo>
                  <a:lnTo>
                    <a:pt x="278015" y="47701"/>
                  </a:lnTo>
                  <a:lnTo>
                    <a:pt x="243281" y="21196"/>
                  </a:lnTo>
                  <a:lnTo>
                    <a:pt x="204165" y="5295"/>
                  </a:lnTo>
                  <a:lnTo>
                    <a:pt x="162852" y="0"/>
                  </a:lnTo>
                  <a:lnTo>
                    <a:pt x="121539" y="5295"/>
                  </a:lnTo>
                  <a:lnTo>
                    <a:pt x="82423" y="21196"/>
                  </a:lnTo>
                  <a:lnTo>
                    <a:pt x="47701" y="47701"/>
                  </a:lnTo>
                  <a:lnTo>
                    <a:pt x="21196" y="82423"/>
                  </a:lnTo>
                  <a:lnTo>
                    <a:pt x="5308" y="121539"/>
                  </a:lnTo>
                  <a:lnTo>
                    <a:pt x="0" y="162852"/>
                  </a:lnTo>
                  <a:lnTo>
                    <a:pt x="5308" y="204165"/>
                  </a:lnTo>
                  <a:lnTo>
                    <a:pt x="21196" y="243281"/>
                  </a:lnTo>
                  <a:lnTo>
                    <a:pt x="47701" y="278003"/>
                  </a:lnTo>
                  <a:lnTo>
                    <a:pt x="82423" y="304507"/>
                  </a:lnTo>
                  <a:lnTo>
                    <a:pt x="121539" y="320408"/>
                  </a:lnTo>
                  <a:lnTo>
                    <a:pt x="162852" y="325704"/>
                  </a:lnTo>
                  <a:lnTo>
                    <a:pt x="204165" y="320408"/>
                  </a:lnTo>
                  <a:lnTo>
                    <a:pt x="243281" y="304507"/>
                  </a:lnTo>
                  <a:lnTo>
                    <a:pt x="278015" y="278003"/>
                  </a:lnTo>
                  <a:lnTo>
                    <a:pt x="304507" y="243281"/>
                  </a:lnTo>
                  <a:lnTo>
                    <a:pt x="320408" y="204165"/>
                  </a:lnTo>
                  <a:lnTo>
                    <a:pt x="325716" y="162852"/>
                  </a:lnTo>
                  <a:close/>
                </a:path>
                <a:path w="6127115" h="2693034">
                  <a:moveTo>
                    <a:pt x="6126581" y="2529789"/>
                  </a:moveTo>
                  <a:lnTo>
                    <a:pt x="6121285" y="2488476"/>
                  </a:lnTo>
                  <a:lnTo>
                    <a:pt x="6105385" y="2449360"/>
                  </a:lnTo>
                  <a:lnTo>
                    <a:pt x="6078880" y="2414625"/>
                  </a:lnTo>
                  <a:lnTo>
                    <a:pt x="6044158" y="2388133"/>
                  </a:lnTo>
                  <a:lnTo>
                    <a:pt x="6005042" y="2372233"/>
                  </a:lnTo>
                  <a:lnTo>
                    <a:pt x="5963729" y="2366924"/>
                  </a:lnTo>
                  <a:lnTo>
                    <a:pt x="5922416" y="2372233"/>
                  </a:lnTo>
                  <a:lnTo>
                    <a:pt x="5883300" y="2388133"/>
                  </a:lnTo>
                  <a:lnTo>
                    <a:pt x="5848566" y="2414625"/>
                  </a:lnTo>
                  <a:lnTo>
                    <a:pt x="5822061" y="2449360"/>
                  </a:lnTo>
                  <a:lnTo>
                    <a:pt x="5806173" y="2488476"/>
                  </a:lnTo>
                  <a:lnTo>
                    <a:pt x="5800864" y="2529789"/>
                  </a:lnTo>
                  <a:lnTo>
                    <a:pt x="5806173" y="2571102"/>
                  </a:lnTo>
                  <a:lnTo>
                    <a:pt x="5822061" y="2610218"/>
                  </a:lnTo>
                  <a:lnTo>
                    <a:pt x="5848566" y="2644952"/>
                  </a:lnTo>
                  <a:lnTo>
                    <a:pt x="5883300" y="2671445"/>
                  </a:lnTo>
                  <a:lnTo>
                    <a:pt x="5922416" y="2687345"/>
                  </a:lnTo>
                  <a:lnTo>
                    <a:pt x="5963729" y="2692654"/>
                  </a:lnTo>
                  <a:lnTo>
                    <a:pt x="6005042" y="2687345"/>
                  </a:lnTo>
                  <a:lnTo>
                    <a:pt x="6044158" y="2671445"/>
                  </a:lnTo>
                  <a:lnTo>
                    <a:pt x="6078880" y="2644952"/>
                  </a:lnTo>
                  <a:lnTo>
                    <a:pt x="6105385" y="2610218"/>
                  </a:lnTo>
                  <a:lnTo>
                    <a:pt x="6121285" y="2571102"/>
                  </a:lnTo>
                  <a:lnTo>
                    <a:pt x="6126581" y="2529789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647182" y="7024702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4" h="325754">
                  <a:moveTo>
                    <a:pt x="162858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2"/>
                  </a:lnTo>
                  <a:lnTo>
                    <a:pt x="5300" y="121538"/>
                  </a:lnTo>
                  <a:lnTo>
                    <a:pt x="0" y="162849"/>
                  </a:lnTo>
                  <a:lnTo>
                    <a:pt x="5300" y="204162"/>
                  </a:lnTo>
                  <a:lnTo>
                    <a:pt x="21200" y="243280"/>
                  </a:lnTo>
                  <a:lnTo>
                    <a:pt x="47700" y="278007"/>
                  </a:lnTo>
                  <a:lnTo>
                    <a:pt x="82427" y="304507"/>
                  </a:lnTo>
                  <a:lnTo>
                    <a:pt x="121545" y="320407"/>
                  </a:lnTo>
                  <a:lnTo>
                    <a:pt x="162858" y="325707"/>
                  </a:lnTo>
                  <a:lnTo>
                    <a:pt x="204172" y="320407"/>
                  </a:lnTo>
                  <a:lnTo>
                    <a:pt x="243290" y="304507"/>
                  </a:lnTo>
                  <a:lnTo>
                    <a:pt x="278017" y="278007"/>
                  </a:lnTo>
                  <a:lnTo>
                    <a:pt x="304517" y="243280"/>
                  </a:lnTo>
                  <a:lnTo>
                    <a:pt x="320417" y="204162"/>
                  </a:lnTo>
                  <a:lnTo>
                    <a:pt x="325717" y="162849"/>
                  </a:lnTo>
                  <a:lnTo>
                    <a:pt x="320417" y="121538"/>
                  </a:lnTo>
                  <a:lnTo>
                    <a:pt x="304517" y="82422"/>
                  </a:lnTo>
                  <a:lnTo>
                    <a:pt x="278017" y="47700"/>
                  </a:lnTo>
                  <a:lnTo>
                    <a:pt x="243290" y="21200"/>
                  </a:lnTo>
                  <a:lnTo>
                    <a:pt x="204172" y="5300"/>
                  </a:lnTo>
                  <a:lnTo>
                    <a:pt x="16285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607184" y="1820693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4" h="325755">
                  <a:moveTo>
                    <a:pt x="162858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6"/>
                  </a:lnTo>
                  <a:lnTo>
                    <a:pt x="5300" y="121542"/>
                  </a:lnTo>
                  <a:lnTo>
                    <a:pt x="0" y="162853"/>
                  </a:lnTo>
                  <a:lnTo>
                    <a:pt x="5300" y="204164"/>
                  </a:lnTo>
                  <a:lnTo>
                    <a:pt x="21200" y="243280"/>
                  </a:lnTo>
                  <a:lnTo>
                    <a:pt x="47700" y="278007"/>
                  </a:lnTo>
                  <a:lnTo>
                    <a:pt x="82427" y="304507"/>
                  </a:lnTo>
                  <a:lnTo>
                    <a:pt x="121545" y="320407"/>
                  </a:lnTo>
                  <a:lnTo>
                    <a:pt x="162858" y="325707"/>
                  </a:lnTo>
                  <a:lnTo>
                    <a:pt x="204172" y="320407"/>
                  </a:lnTo>
                  <a:lnTo>
                    <a:pt x="243290" y="304507"/>
                  </a:lnTo>
                  <a:lnTo>
                    <a:pt x="278017" y="278007"/>
                  </a:lnTo>
                  <a:lnTo>
                    <a:pt x="304517" y="243280"/>
                  </a:lnTo>
                  <a:lnTo>
                    <a:pt x="320417" y="204164"/>
                  </a:lnTo>
                  <a:lnTo>
                    <a:pt x="325717" y="162853"/>
                  </a:lnTo>
                  <a:lnTo>
                    <a:pt x="320417" y="121542"/>
                  </a:lnTo>
                  <a:lnTo>
                    <a:pt x="304517" y="82426"/>
                  </a:lnTo>
                  <a:lnTo>
                    <a:pt x="278017" y="47700"/>
                  </a:lnTo>
                  <a:lnTo>
                    <a:pt x="243290" y="21200"/>
                  </a:lnTo>
                  <a:lnTo>
                    <a:pt x="204172" y="5300"/>
                  </a:lnTo>
                  <a:lnTo>
                    <a:pt x="162858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826649" y="1848465"/>
              <a:ext cx="331470" cy="5937250"/>
            </a:xfrm>
            <a:custGeom>
              <a:avLst/>
              <a:gdLst/>
              <a:ahLst/>
              <a:cxnLst/>
              <a:rect l="l" t="t" r="r" b="b"/>
              <a:pathLst>
                <a:path w="331470" h="5937250">
                  <a:moveTo>
                    <a:pt x="325716" y="5774334"/>
                  </a:moveTo>
                  <a:lnTo>
                    <a:pt x="320421" y="5733021"/>
                  </a:lnTo>
                  <a:lnTo>
                    <a:pt x="304520" y="5693905"/>
                  </a:lnTo>
                  <a:lnTo>
                    <a:pt x="278015" y="5659183"/>
                  </a:lnTo>
                  <a:lnTo>
                    <a:pt x="243293" y="5632691"/>
                  </a:lnTo>
                  <a:lnTo>
                    <a:pt x="204165" y="5616791"/>
                  </a:lnTo>
                  <a:lnTo>
                    <a:pt x="162852" y="5611482"/>
                  </a:lnTo>
                  <a:lnTo>
                    <a:pt x="121539" y="5616791"/>
                  </a:lnTo>
                  <a:lnTo>
                    <a:pt x="82423" y="5632691"/>
                  </a:lnTo>
                  <a:lnTo>
                    <a:pt x="47701" y="5659183"/>
                  </a:lnTo>
                  <a:lnTo>
                    <a:pt x="21196" y="5693905"/>
                  </a:lnTo>
                  <a:lnTo>
                    <a:pt x="5295" y="5733021"/>
                  </a:lnTo>
                  <a:lnTo>
                    <a:pt x="0" y="5774334"/>
                  </a:lnTo>
                  <a:lnTo>
                    <a:pt x="5295" y="5815647"/>
                  </a:lnTo>
                  <a:lnTo>
                    <a:pt x="21196" y="5854763"/>
                  </a:lnTo>
                  <a:lnTo>
                    <a:pt x="47701" y="5889498"/>
                  </a:lnTo>
                  <a:lnTo>
                    <a:pt x="82423" y="5915990"/>
                  </a:lnTo>
                  <a:lnTo>
                    <a:pt x="121539" y="5931890"/>
                  </a:lnTo>
                  <a:lnTo>
                    <a:pt x="162852" y="5937199"/>
                  </a:lnTo>
                  <a:lnTo>
                    <a:pt x="204165" y="5931890"/>
                  </a:lnTo>
                  <a:lnTo>
                    <a:pt x="243293" y="5915990"/>
                  </a:lnTo>
                  <a:lnTo>
                    <a:pt x="278015" y="5889498"/>
                  </a:lnTo>
                  <a:lnTo>
                    <a:pt x="304520" y="5854763"/>
                  </a:lnTo>
                  <a:lnTo>
                    <a:pt x="320421" y="5815647"/>
                  </a:lnTo>
                  <a:lnTo>
                    <a:pt x="325716" y="5774334"/>
                  </a:lnTo>
                  <a:close/>
                </a:path>
                <a:path w="331470" h="5937250">
                  <a:moveTo>
                    <a:pt x="331406" y="162852"/>
                  </a:moveTo>
                  <a:lnTo>
                    <a:pt x="326097" y="121539"/>
                  </a:lnTo>
                  <a:lnTo>
                    <a:pt x="310197" y="82423"/>
                  </a:lnTo>
                  <a:lnTo>
                    <a:pt x="283705" y="47701"/>
                  </a:lnTo>
                  <a:lnTo>
                    <a:pt x="248970" y="21196"/>
                  </a:lnTo>
                  <a:lnTo>
                    <a:pt x="209854" y="5295"/>
                  </a:lnTo>
                  <a:lnTo>
                    <a:pt x="168541" y="0"/>
                  </a:lnTo>
                  <a:lnTo>
                    <a:pt x="127228" y="5295"/>
                  </a:lnTo>
                  <a:lnTo>
                    <a:pt x="88112" y="21196"/>
                  </a:lnTo>
                  <a:lnTo>
                    <a:pt x="53378" y="47701"/>
                  </a:lnTo>
                  <a:lnTo>
                    <a:pt x="26885" y="82423"/>
                  </a:lnTo>
                  <a:lnTo>
                    <a:pt x="10985" y="121539"/>
                  </a:lnTo>
                  <a:lnTo>
                    <a:pt x="5676" y="162852"/>
                  </a:lnTo>
                  <a:lnTo>
                    <a:pt x="10985" y="204165"/>
                  </a:lnTo>
                  <a:lnTo>
                    <a:pt x="26885" y="243281"/>
                  </a:lnTo>
                  <a:lnTo>
                    <a:pt x="53378" y="278015"/>
                  </a:lnTo>
                  <a:lnTo>
                    <a:pt x="88112" y="304507"/>
                  </a:lnTo>
                  <a:lnTo>
                    <a:pt x="127228" y="320408"/>
                  </a:lnTo>
                  <a:lnTo>
                    <a:pt x="168541" y="325704"/>
                  </a:lnTo>
                  <a:lnTo>
                    <a:pt x="209854" y="320408"/>
                  </a:lnTo>
                  <a:lnTo>
                    <a:pt x="248970" y="304507"/>
                  </a:lnTo>
                  <a:lnTo>
                    <a:pt x="283705" y="278015"/>
                  </a:lnTo>
                  <a:lnTo>
                    <a:pt x="310197" y="243281"/>
                  </a:lnTo>
                  <a:lnTo>
                    <a:pt x="326097" y="204165"/>
                  </a:lnTo>
                  <a:lnTo>
                    <a:pt x="331406" y="162852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0" name="object 60"/>
          <p:cNvSpPr/>
          <p:nvPr/>
        </p:nvSpPr>
        <p:spPr>
          <a:xfrm>
            <a:off x="3912658" y="348086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49" y="0"/>
                </a:moveTo>
                <a:lnTo>
                  <a:pt x="121538" y="5300"/>
                </a:lnTo>
                <a:lnTo>
                  <a:pt x="82422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2" y="304517"/>
                </a:lnTo>
                <a:lnTo>
                  <a:pt x="121538" y="320417"/>
                </a:lnTo>
                <a:lnTo>
                  <a:pt x="162849" y="325717"/>
                </a:lnTo>
                <a:lnTo>
                  <a:pt x="204162" y="320417"/>
                </a:lnTo>
                <a:lnTo>
                  <a:pt x="243280" y="304517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0" y="21200"/>
                </a:lnTo>
                <a:lnTo>
                  <a:pt x="204162" y="5300"/>
                </a:lnTo>
                <a:lnTo>
                  <a:pt x="162849" y="0"/>
                </a:lnTo>
                <a:close/>
              </a:path>
            </a:pathLst>
          </a:custGeom>
          <a:solidFill>
            <a:srgbClr val="009051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094376" y="2564585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95585" y="2655439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8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2"/>
                </a:lnTo>
                <a:lnTo>
                  <a:pt x="5300" y="121538"/>
                </a:lnTo>
                <a:lnTo>
                  <a:pt x="0" y="162849"/>
                </a:lnTo>
                <a:lnTo>
                  <a:pt x="5300" y="204162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8" y="325707"/>
                </a:lnTo>
                <a:lnTo>
                  <a:pt x="204172" y="320407"/>
                </a:lnTo>
                <a:lnTo>
                  <a:pt x="243290" y="304507"/>
                </a:lnTo>
                <a:lnTo>
                  <a:pt x="278017" y="278007"/>
                </a:lnTo>
                <a:lnTo>
                  <a:pt x="304517" y="243280"/>
                </a:lnTo>
                <a:lnTo>
                  <a:pt x="320417" y="204162"/>
                </a:lnTo>
                <a:lnTo>
                  <a:pt x="325717" y="162849"/>
                </a:lnTo>
                <a:lnTo>
                  <a:pt x="320417" y="121538"/>
                </a:lnTo>
                <a:lnTo>
                  <a:pt x="304517" y="82422"/>
                </a:lnTo>
                <a:lnTo>
                  <a:pt x="278017" y="47700"/>
                </a:lnTo>
                <a:lnTo>
                  <a:pt x="243290" y="21200"/>
                </a:lnTo>
                <a:lnTo>
                  <a:pt x="204172" y="5300"/>
                </a:lnTo>
                <a:lnTo>
                  <a:pt x="16285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891022" y="214517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891022" y="240224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7" y="304517"/>
                </a:lnTo>
                <a:lnTo>
                  <a:pt x="121545" y="320417"/>
                </a:lnTo>
                <a:lnTo>
                  <a:pt x="162857" y="325717"/>
                </a:lnTo>
                <a:lnTo>
                  <a:pt x="204169" y="320417"/>
                </a:lnTo>
                <a:lnTo>
                  <a:pt x="243284" y="304517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4" name="object 34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1682918" y="4238102"/>
          <a:ext cx="4257234" cy="626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800"/>
                <a:gridCol w="288032"/>
                <a:gridCol w="360040"/>
                <a:gridCol w="504056"/>
                <a:gridCol w="576064"/>
                <a:gridCol w="648072"/>
                <a:gridCol w="1584170"/>
              </a:tblGrid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ts val="2585"/>
                        </a:lnSpc>
                      </a:pPr>
                      <a:r>
                        <a:rPr sz="1000" b="1" spc="20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B’s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i="1" dirty="0">
                          <a:solidFill>
                            <a:srgbClr val="FF2F92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11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b="1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[(A,7),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245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(C,3),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585"/>
                        </a:lnSpc>
                      </a:pPr>
                      <a:r>
                        <a:rPr sz="1000" b="1" spc="22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(D,1)]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80799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D’s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i="1" dirty="0">
                          <a:solidFill>
                            <a:srgbClr val="009051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1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[(B,1),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5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(C,5),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(E,3),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(F,4)</a:t>
                      </a:r>
                      <a:r>
                        <a:rPr lang="en-US" altLang="zh-CN"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(A,2)</a:t>
                      </a: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]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</a:tr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1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F’s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i="1" dirty="0">
                          <a:solidFill>
                            <a:srgbClr val="FF9300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1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[(A,1),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35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(D,4),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5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(E,5)]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2557502" y="5079005"/>
            <a:ext cx="1798474" cy="189783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</a:pPr>
            <a:r>
              <a:rPr sz="1180" spc="-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18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receives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094376" y="2294180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7"/>
                </a:lnTo>
                <a:lnTo>
                  <a:pt x="5300" y="204169"/>
                </a:lnTo>
                <a:lnTo>
                  <a:pt x="21200" y="243284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4"/>
                </a:lnTo>
                <a:lnTo>
                  <a:pt x="320407" y="204169"/>
                </a:lnTo>
                <a:lnTo>
                  <a:pt x="325707" y="162857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638548" y="1087591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8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7" y="304517"/>
                </a:lnTo>
                <a:lnTo>
                  <a:pt x="121545" y="320417"/>
                </a:lnTo>
                <a:lnTo>
                  <a:pt x="162858" y="325717"/>
                </a:lnTo>
                <a:lnTo>
                  <a:pt x="204172" y="320417"/>
                </a:lnTo>
                <a:lnTo>
                  <a:pt x="243290" y="304517"/>
                </a:lnTo>
                <a:lnTo>
                  <a:pt x="278017" y="278017"/>
                </a:lnTo>
                <a:lnTo>
                  <a:pt x="304517" y="243290"/>
                </a:lnTo>
                <a:lnTo>
                  <a:pt x="320417" y="204172"/>
                </a:lnTo>
                <a:lnTo>
                  <a:pt x="325717" y="162858"/>
                </a:lnTo>
                <a:lnTo>
                  <a:pt x="320417" y="121545"/>
                </a:lnTo>
                <a:lnTo>
                  <a:pt x="304517" y="82427"/>
                </a:lnTo>
                <a:lnTo>
                  <a:pt x="278017" y="47700"/>
                </a:lnTo>
                <a:lnTo>
                  <a:pt x="243290" y="21200"/>
                </a:lnTo>
                <a:lnTo>
                  <a:pt x="204172" y="5300"/>
                </a:lnTo>
                <a:lnTo>
                  <a:pt x="162858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891022" y="1289883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2"/>
                </a:lnTo>
                <a:lnTo>
                  <a:pt x="5300" y="121538"/>
                </a:lnTo>
                <a:lnTo>
                  <a:pt x="0" y="162849"/>
                </a:lnTo>
                <a:lnTo>
                  <a:pt x="5300" y="204162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2"/>
                </a:lnTo>
                <a:lnTo>
                  <a:pt x="325707" y="162849"/>
                </a:lnTo>
                <a:lnTo>
                  <a:pt x="320407" y="121538"/>
                </a:lnTo>
                <a:lnTo>
                  <a:pt x="304507" y="82422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009051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000126" y="1113680"/>
            <a:ext cx="2786812" cy="2736557"/>
            <a:chOff x="2198888" y="1820693"/>
            <a:chExt cx="6127115" cy="6016625"/>
          </a:xfrm>
        </p:grpSpPr>
        <p:sp>
          <p:nvSpPr>
            <p:cNvPr id="55" name="object 55"/>
            <p:cNvSpPr/>
            <p:nvPr/>
          </p:nvSpPr>
          <p:spPr>
            <a:xfrm>
              <a:off x="2257399" y="2332754"/>
              <a:ext cx="2675890" cy="5453380"/>
            </a:xfrm>
            <a:custGeom>
              <a:avLst/>
              <a:gdLst/>
              <a:ahLst/>
              <a:cxnLst/>
              <a:rect l="l" t="t" r="r" b="b"/>
              <a:pathLst>
                <a:path w="2675890" h="5453380">
                  <a:moveTo>
                    <a:pt x="325704" y="1993353"/>
                  </a:moveTo>
                  <a:lnTo>
                    <a:pt x="320408" y="1952040"/>
                  </a:lnTo>
                  <a:lnTo>
                    <a:pt x="304507" y="1912912"/>
                  </a:lnTo>
                  <a:lnTo>
                    <a:pt x="278003" y="1878190"/>
                  </a:lnTo>
                  <a:lnTo>
                    <a:pt x="243281" y="1851685"/>
                  </a:lnTo>
                  <a:lnTo>
                    <a:pt x="204165" y="1835785"/>
                  </a:lnTo>
                  <a:lnTo>
                    <a:pt x="162852" y="1830489"/>
                  </a:lnTo>
                  <a:lnTo>
                    <a:pt x="121539" y="1835785"/>
                  </a:lnTo>
                  <a:lnTo>
                    <a:pt x="82423" y="1851685"/>
                  </a:lnTo>
                  <a:lnTo>
                    <a:pt x="47701" y="1878190"/>
                  </a:lnTo>
                  <a:lnTo>
                    <a:pt x="21196" y="1912912"/>
                  </a:lnTo>
                  <a:lnTo>
                    <a:pt x="5295" y="1952040"/>
                  </a:lnTo>
                  <a:lnTo>
                    <a:pt x="0" y="1993353"/>
                  </a:lnTo>
                  <a:lnTo>
                    <a:pt x="5295" y="2034667"/>
                  </a:lnTo>
                  <a:lnTo>
                    <a:pt x="21196" y="2073783"/>
                  </a:lnTo>
                  <a:lnTo>
                    <a:pt x="47701" y="2108504"/>
                  </a:lnTo>
                  <a:lnTo>
                    <a:pt x="82423" y="2135009"/>
                  </a:lnTo>
                  <a:lnTo>
                    <a:pt x="121539" y="2150897"/>
                  </a:lnTo>
                  <a:lnTo>
                    <a:pt x="162852" y="2156206"/>
                  </a:lnTo>
                  <a:lnTo>
                    <a:pt x="204165" y="2150897"/>
                  </a:lnTo>
                  <a:lnTo>
                    <a:pt x="243281" y="2135009"/>
                  </a:lnTo>
                  <a:lnTo>
                    <a:pt x="278003" y="2108504"/>
                  </a:lnTo>
                  <a:lnTo>
                    <a:pt x="304507" y="2073783"/>
                  </a:lnTo>
                  <a:lnTo>
                    <a:pt x="320408" y="2034667"/>
                  </a:lnTo>
                  <a:lnTo>
                    <a:pt x="325704" y="1993353"/>
                  </a:lnTo>
                  <a:close/>
                </a:path>
                <a:path w="2675890" h="5453380">
                  <a:moveTo>
                    <a:pt x="1715490" y="162864"/>
                  </a:moveTo>
                  <a:lnTo>
                    <a:pt x="1710194" y="121551"/>
                  </a:lnTo>
                  <a:lnTo>
                    <a:pt x="1694294" y="82435"/>
                  </a:lnTo>
                  <a:lnTo>
                    <a:pt x="1667789" y="47701"/>
                  </a:lnTo>
                  <a:lnTo>
                    <a:pt x="1633067" y="21196"/>
                  </a:lnTo>
                  <a:lnTo>
                    <a:pt x="1593951" y="5295"/>
                  </a:lnTo>
                  <a:lnTo>
                    <a:pt x="1552638" y="0"/>
                  </a:lnTo>
                  <a:lnTo>
                    <a:pt x="1511325" y="5295"/>
                  </a:lnTo>
                  <a:lnTo>
                    <a:pt x="1472209" y="21196"/>
                  </a:lnTo>
                  <a:lnTo>
                    <a:pt x="1437474" y="47701"/>
                  </a:lnTo>
                  <a:lnTo>
                    <a:pt x="1410982" y="82435"/>
                  </a:lnTo>
                  <a:lnTo>
                    <a:pt x="1395082" y="121551"/>
                  </a:lnTo>
                  <a:lnTo>
                    <a:pt x="1389773" y="162864"/>
                  </a:lnTo>
                  <a:lnTo>
                    <a:pt x="1395082" y="204177"/>
                  </a:lnTo>
                  <a:lnTo>
                    <a:pt x="1410982" y="243293"/>
                  </a:lnTo>
                  <a:lnTo>
                    <a:pt x="1437474" y="278015"/>
                  </a:lnTo>
                  <a:lnTo>
                    <a:pt x="1472209" y="304520"/>
                  </a:lnTo>
                  <a:lnTo>
                    <a:pt x="1511325" y="320408"/>
                  </a:lnTo>
                  <a:lnTo>
                    <a:pt x="1552638" y="325716"/>
                  </a:lnTo>
                  <a:lnTo>
                    <a:pt x="1593951" y="320408"/>
                  </a:lnTo>
                  <a:lnTo>
                    <a:pt x="1633067" y="304520"/>
                  </a:lnTo>
                  <a:lnTo>
                    <a:pt x="1667789" y="278015"/>
                  </a:lnTo>
                  <a:lnTo>
                    <a:pt x="1694294" y="243293"/>
                  </a:lnTo>
                  <a:lnTo>
                    <a:pt x="1710194" y="204177"/>
                  </a:lnTo>
                  <a:lnTo>
                    <a:pt x="1715490" y="162864"/>
                  </a:lnTo>
                  <a:close/>
                </a:path>
                <a:path w="2675890" h="5453380">
                  <a:moveTo>
                    <a:pt x="2675496" y="5290045"/>
                  </a:moveTo>
                  <a:lnTo>
                    <a:pt x="2670200" y="5248732"/>
                  </a:lnTo>
                  <a:lnTo>
                    <a:pt x="2654300" y="5209616"/>
                  </a:lnTo>
                  <a:lnTo>
                    <a:pt x="2627795" y="5174894"/>
                  </a:lnTo>
                  <a:lnTo>
                    <a:pt x="2593073" y="5148402"/>
                  </a:lnTo>
                  <a:lnTo>
                    <a:pt x="2553944" y="5132502"/>
                  </a:lnTo>
                  <a:lnTo>
                    <a:pt x="2512631" y="5127193"/>
                  </a:lnTo>
                  <a:lnTo>
                    <a:pt x="2471318" y="5132502"/>
                  </a:lnTo>
                  <a:lnTo>
                    <a:pt x="2432202" y="5148402"/>
                  </a:lnTo>
                  <a:lnTo>
                    <a:pt x="2397480" y="5174894"/>
                  </a:lnTo>
                  <a:lnTo>
                    <a:pt x="2370975" y="5209616"/>
                  </a:lnTo>
                  <a:lnTo>
                    <a:pt x="2355075" y="5248732"/>
                  </a:lnTo>
                  <a:lnTo>
                    <a:pt x="2349779" y="5290045"/>
                  </a:lnTo>
                  <a:lnTo>
                    <a:pt x="2355075" y="5331358"/>
                  </a:lnTo>
                  <a:lnTo>
                    <a:pt x="2370975" y="5370474"/>
                  </a:lnTo>
                  <a:lnTo>
                    <a:pt x="2397480" y="5405209"/>
                  </a:lnTo>
                  <a:lnTo>
                    <a:pt x="2432202" y="5431701"/>
                  </a:lnTo>
                  <a:lnTo>
                    <a:pt x="2471318" y="5447601"/>
                  </a:lnTo>
                  <a:lnTo>
                    <a:pt x="2512631" y="5452910"/>
                  </a:lnTo>
                  <a:lnTo>
                    <a:pt x="2553944" y="5447601"/>
                  </a:lnTo>
                  <a:lnTo>
                    <a:pt x="2593073" y="5431701"/>
                  </a:lnTo>
                  <a:lnTo>
                    <a:pt x="2627795" y="5405209"/>
                  </a:lnTo>
                  <a:lnTo>
                    <a:pt x="2654300" y="5370474"/>
                  </a:lnTo>
                  <a:lnTo>
                    <a:pt x="2670200" y="5331358"/>
                  </a:lnTo>
                  <a:lnTo>
                    <a:pt x="2675496" y="5290045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2198878" y="5144077"/>
              <a:ext cx="6127115" cy="2693035"/>
            </a:xfrm>
            <a:custGeom>
              <a:avLst/>
              <a:gdLst/>
              <a:ahLst/>
              <a:cxnLst/>
              <a:rect l="l" t="t" r="r" b="b"/>
              <a:pathLst>
                <a:path w="6127115" h="2693034">
                  <a:moveTo>
                    <a:pt x="325716" y="162852"/>
                  </a:moveTo>
                  <a:lnTo>
                    <a:pt x="320408" y="121539"/>
                  </a:lnTo>
                  <a:lnTo>
                    <a:pt x="304507" y="82423"/>
                  </a:lnTo>
                  <a:lnTo>
                    <a:pt x="278015" y="47701"/>
                  </a:lnTo>
                  <a:lnTo>
                    <a:pt x="243281" y="21196"/>
                  </a:lnTo>
                  <a:lnTo>
                    <a:pt x="204165" y="5295"/>
                  </a:lnTo>
                  <a:lnTo>
                    <a:pt x="162852" y="0"/>
                  </a:lnTo>
                  <a:lnTo>
                    <a:pt x="121539" y="5295"/>
                  </a:lnTo>
                  <a:lnTo>
                    <a:pt x="82423" y="21196"/>
                  </a:lnTo>
                  <a:lnTo>
                    <a:pt x="47701" y="47701"/>
                  </a:lnTo>
                  <a:lnTo>
                    <a:pt x="21196" y="82423"/>
                  </a:lnTo>
                  <a:lnTo>
                    <a:pt x="5308" y="121539"/>
                  </a:lnTo>
                  <a:lnTo>
                    <a:pt x="0" y="162852"/>
                  </a:lnTo>
                  <a:lnTo>
                    <a:pt x="5308" y="204165"/>
                  </a:lnTo>
                  <a:lnTo>
                    <a:pt x="21196" y="243281"/>
                  </a:lnTo>
                  <a:lnTo>
                    <a:pt x="47701" y="278003"/>
                  </a:lnTo>
                  <a:lnTo>
                    <a:pt x="82423" y="304507"/>
                  </a:lnTo>
                  <a:lnTo>
                    <a:pt x="121539" y="320408"/>
                  </a:lnTo>
                  <a:lnTo>
                    <a:pt x="162852" y="325704"/>
                  </a:lnTo>
                  <a:lnTo>
                    <a:pt x="204165" y="320408"/>
                  </a:lnTo>
                  <a:lnTo>
                    <a:pt x="243281" y="304507"/>
                  </a:lnTo>
                  <a:lnTo>
                    <a:pt x="278015" y="278003"/>
                  </a:lnTo>
                  <a:lnTo>
                    <a:pt x="304507" y="243281"/>
                  </a:lnTo>
                  <a:lnTo>
                    <a:pt x="320408" y="204165"/>
                  </a:lnTo>
                  <a:lnTo>
                    <a:pt x="325716" y="162852"/>
                  </a:lnTo>
                  <a:close/>
                </a:path>
                <a:path w="6127115" h="2693034">
                  <a:moveTo>
                    <a:pt x="6126581" y="2529789"/>
                  </a:moveTo>
                  <a:lnTo>
                    <a:pt x="6121285" y="2488476"/>
                  </a:lnTo>
                  <a:lnTo>
                    <a:pt x="6105385" y="2449360"/>
                  </a:lnTo>
                  <a:lnTo>
                    <a:pt x="6078880" y="2414625"/>
                  </a:lnTo>
                  <a:lnTo>
                    <a:pt x="6044158" y="2388133"/>
                  </a:lnTo>
                  <a:lnTo>
                    <a:pt x="6005042" y="2372233"/>
                  </a:lnTo>
                  <a:lnTo>
                    <a:pt x="5963729" y="2366924"/>
                  </a:lnTo>
                  <a:lnTo>
                    <a:pt x="5922416" y="2372233"/>
                  </a:lnTo>
                  <a:lnTo>
                    <a:pt x="5883300" y="2388133"/>
                  </a:lnTo>
                  <a:lnTo>
                    <a:pt x="5848566" y="2414625"/>
                  </a:lnTo>
                  <a:lnTo>
                    <a:pt x="5822061" y="2449360"/>
                  </a:lnTo>
                  <a:lnTo>
                    <a:pt x="5806173" y="2488476"/>
                  </a:lnTo>
                  <a:lnTo>
                    <a:pt x="5800864" y="2529789"/>
                  </a:lnTo>
                  <a:lnTo>
                    <a:pt x="5806173" y="2571102"/>
                  </a:lnTo>
                  <a:lnTo>
                    <a:pt x="5822061" y="2610218"/>
                  </a:lnTo>
                  <a:lnTo>
                    <a:pt x="5848566" y="2644952"/>
                  </a:lnTo>
                  <a:lnTo>
                    <a:pt x="5883300" y="2671445"/>
                  </a:lnTo>
                  <a:lnTo>
                    <a:pt x="5922416" y="2687345"/>
                  </a:lnTo>
                  <a:lnTo>
                    <a:pt x="5963729" y="2692654"/>
                  </a:lnTo>
                  <a:lnTo>
                    <a:pt x="6005042" y="2687345"/>
                  </a:lnTo>
                  <a:lnTo>
                    <a:pt x="6044158" y="2671445"/>
                  </a:lnTo>
                  <a:lnTo>
                    <a:pt x="6078880" y="2644952"/>
                  </a:lnTo>
                  <a:lnTo>
                    <a:pt x="6105385" y="2610218"/>
                  </a:lnTo>
                  <a:lnTo>
                    <a:pt x="6121285" y="2571102"/>
                  </a:lnTo>
                  <a:lnTo>
                    <a:pt x="6126581" y="2529789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647182" y="7024702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4" h="325754">
                  <a:moveTo>
                    <a:pt x="162858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2"/>
                  </a:lnTo>
                  <a:lnTo>
                    <a:pt x="5300" y="121538"/>
                  </a:lnTo>
                  <a:lnTo>
                    <a:pt x="0" y="162849"/>
                  </a:lnTo>
                  <a:lnTo>
                    <a:pt x="5300" y="204162"/>
                  </a:lnTo>
                  <a:lnTo>
                    <a:pt x="21200" y="243280"/>
                  </a:lnTo>
                  <a:lnTo>
                    <a:pt x="47700" y="278007"/>
                  </a:lnTo>
                  <a:lnTo>
                    <a:pt x="82427" y="304507"/>
                  </a:lnTo>
                  <a:lnTo>
                    <a:pt x="121545" y="320407"/>
                  </a:lnTo>
                  <a:lnTo>
                    <a:pt x="162858" y="325707"/>
                  </a:lnTo>
                  <a:lnTo>
                    <a:pt x="204172" y="320407"/>
                  </a:lnTo>
                  <a:lnTo>
                    <a:pt x="243290" y="304507"/>
                  </a:lnTo>
                  <a:lnTo>
                    <a:pt x="278017" y="278007"/>
                  </a:lnTo>
                  <a:lnTo>
                    <a:pt x="304517" y="243280"/>
                  </a:lnTo>
                  <a:lnTo>
                    <a:pt x="320417" y="204162"/>
                  </a:lnTo>
                  <a:lnTo>
                    <a:pt x="325717" y="162849"/>
                  </a:lnTo>
                  <a:lnTo>
                    <a:pt x="320417" y="121538"/>
                  </a:lnTo>
                  <a:lnTo>
                    <a:pt x="304517" y="82422"/>
                  </a:lnTo>
                  <a:lnTo>
                    <a:pt x="278017" y="47700"/>
                  </a:lnTo>
                  <a:lnTo>
                    <a:pt x="243290" y="21200"/>
                  </a:lnTo>
                  <a:lnTo>
                    <a:pt x="204172" y="5300"/>
                  </a:lnTo>
                  <a:lnTo>
                    <a:pt x="16285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607184" y="1820693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4" h="325755">
                  <a:moveTo>
                    <a:pt x="162858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6"/>
                  </a:lnTo>
                  <a:lnTo>
                    <a:pt x="5300" y="121542"/>
                  </a:lnTo>
                  <a:lnTo>
                    <a:pt x="0" y="162853"/>
                  </a:lnTo>
                  <a:lnTo>
                    <a:pt x="5300" y="204164"/>
                  </a:lnTo>
                  <a:lnTo>
                    <a:pt x="21200" y="243280"/>
                  </a:lnTo>
                  <a:lnTo>
                    <a:pt x="47700" y="278007"/>
                  </a:lnTo>
                  <a:lnTo>
                    <a:pt x="82427" y="304507"/>
                  </a:lnTo>
                  <a:lnTo>
                    <a:pt x="121545" y="320407"/>
                  </a:lnTo>
                  <a:lnTo>
                    <a:pt x="162858" y="325707"/>
                  </a:lnTo>
                  <a:lnTo>
                    <a:pt x="204172" y="320407"/>
                  </a:lnTo>
                  <a:lnTo>
                    <a:pt x="243290" y="304507"/>
                  </a:lnTo>
                  <a:lnTo>
                    <a:pt x="278017" y="278007"/>
                  </a:lnTo>
                  <a:lnTo>
                    <a:pt x="304517" y="243280"/>
                  </a:lnTo>
                  <a:lnTo>
                    <a:pt x="320417" y="204164"/>
                  </a:lnTo>
                  <a:lnTo>
                    <a:pt x="325717" y="162853"/>
                  </a:lnTo>
                  <a:lnTo>
                    <a:pt x="320417" y="121542"/>
                  </a:lnTo>
                  <a:lnTo>
                    <a:pt x="304517" y="82426"/>
                  </a:lnTo>
                  <a:lnTo>
                    <a:pt x="278017" y="47700"/>
                  </a:lnTo>
                  <a:lnTo>
                    <a:pt x="243290" y="21200"/>
                  </a:lnTo>
                  <a:lnTo>
                    <a:pt x="204172" y="5300"/>
                  </a:lnTo>
                  <a:lnTo>
                    <a:pt x="162858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826649" y="1848465"/>
              <a:ext cx="331470" cy="5937250"/>
            </a:xfrm>
            <a:custGeom>
              <a:avLst/>
              <a:gdLst/>
              <a:ahLst/>
              <a:cxnLst/>
              <a:rect l="l" t="t" r="r" b="b"/>
              <a:pathLst>
                <a:path w="331470" h="5937250">
                  <a:moveTo>
                    <a:pt x="325716" y="5774334"/>
                  </a:moveTo>
                  <a:lnTo>
                    <a:pt x="320421" y="5733021"/>
                  </a:lnTo>
                  <a:lnTo>
                    <a:pt x="304520" y="5693905"/>
                  </a:lnTo>
                  <a:lnTo>
                    <a:pt x="278015" y="5659183"/>
                  </a:lnTo>
                  <a:lnTo>
                    <a:pt x="243293" y="5632691"/>
                  </a:lnTo>
                  <a:lnTo>
                    <a:pt x="204165" y="5616791"/>
                  </a:lnTo>
                  <a:lnTo>
                    <a:pt x="162852" y="5611482"/>
                  </a:lnTo>
                  <a:lnTo>
                    <a:pt x="121539" y="5616791"/>
                  </a:lnTo>
                  <a:lnTo>
                    <a:pt x="82423" y="5632691"/>
                  </a:lnTo>
                  <a:lnTo>
                    <a:pt x="47701" y="5659183"/>
                  </a:lnTo>
                  <a:lnTo>
                    <a:pt x="21196" y="5693905"/>
                  </a:lnTo>
                  <a:lnTo>
                    <a:pt x="5295" y="5733021"/>
                  </a:lnTo>
                  <a:lnTo>
                    <a:pt x="0" y="5774334"/>
                  </a:lnTo>
                  <a:lnTo>
                    <a:pt x="5295" y="5815647"/>
                  </a:lnTo>
                  <a:lnTo>
                    <a:pt x="21196" y="5854763"/>
                  </a:lnTo>
                  <a:lnTo>
                    <a:pt x="47701" y="5889498"/>
                  </a:lnTo>
                  <a:lnTo>
                    <a:pt x="82423" y="5915990"/>
                  </a:lnTo>
                  <a:lnTo>
                    <a:pt x="121539" y="5931890"/>
                  </a:lnTo>
                  <a:lnTo>
                    <a:pt x="162852" y="5937199"/>
                  </a:lnTo>
                  <a:lnTo>
                    <a:pt x="204165" y="5931890"/>
                  </a:lnTo>
                  <a:lnTo>
                    <a:pt x="243293" y="5915990"/>
                  </a:lnTo>
                  <a:lnTo>
                    <a:pt x="278015" y="5889498"/>
                  </a:lnTo>
                  <a:lnTo>
                    <a:pt x="304520" y="5854763"/>
                  </a:lnTo>
                  <a:lnTo>
                    <a:pt x="320421" y="5815647"/>
                  </a:lnTo>
                  <a:lnTo>
                    <a:pt x="325716" y="5774334"/>
                  </a:lnTo>
                  <a:close/>
                </a:path>
                <a:path w="331470" h="5937250">
                  <a:moveTo>
                    <a:pt x="331406" y="162852"/>
                  </a:moveTo>
                  <a:lnTo>
                    <a:pt x="326097" y="121539"/>
                  </a:lnTo>
                  <a:lnTo>
                    <a:pt x="310197" y="82423"/>
                  </a:lnTo>
                  <a:lnTo>
                    <a:pt x="283705" y="47701"/>
                  </a:lnTo>
                  <a:lnTo>
                    <a:pt x="248970" y="21196"/>
                  </a:lnTo>
                  <a:lnTo>
                    <a:pt x="209854" y="5295"/>
                  </a:lnTo>
                  <a:lnTo>
                    <a:pt x="168541" y="0"/>
                  </a:lnTo>
                  <a:lnTo>
                    <a:pt x="127228" y="5295"/>
                  </a:lnTo>
                  <a:lnTo>
                    <a:pt x="88112" y="21196"/>
                  </a:lnTo>
                  <a:lnTo>
                    <a:pt x="53378" y="47701"/>
                  </a:lnTo>
                  <a:lnTo>
                    <a:pt x="26885" y="82423"/>
                  </a:lnTo>
                  <a:lnTo>
                    <a:pt x="10985" y="121539"/>
                  </a:lnTo>
                  <a:lnTo>
                    <a:pt x="5676" y="162852"/>
                  </a:lnTo>
                  <a:lnTo>
                    <a:pt x="10985" y="204165"/>
                  </a:lnTo>
                  <a:lnTo>
                    <a:pt x="26885" y="243281"/>
                  </a:lnTo>
                  <a:lnTo>
                    <a:pt x="53378" y="278015"/>
                  </a:lnTo>
                  <a:lnTo>
                    <a:pt x="88112" y="304507"/>
                  </a:lnTo>
                  <a:lnTo>
                    <a:pt x="127228" y="320408"/>
                  </a:lnTo>
                  <a:lnTo>
                    <a:pt x="168541" y="325704"/>
                  </a:lnTo>
                  <a:lnTo>
                    <a:pt x="209854" y="320408"/>
                  </a:lnTo>
                  <a:lnTo>
                    <a:pt x="248970" y="304507"/>
                  </a:lnTo>
                  <a:lnTo>
                    <a:pt x="283705" y="278015"/>
                  </a:lnTo>
                  <a:lnTo>
                    <a:pt x="310197" y="243281"/>
                  </a:lnTo>
                  <a:lnTo>
                    <a:pt x="326097" y="204165"/>
                  </a:lnTo>
                  <a:lnTo>
                    <a:pt x="331406" y="162852"/>
                  </a:lnTo>
                  <a:close/>
                </a:path>
              </a:pathLst>
            </a:custGeom>
            <a:solidFill>
              <a:srgbClr val="9437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0" name="object 60"/>
          <p:cNvSpPr/>
          <p:nvPr/>
        </p:nvSpPr>
        <p:spPr>
          <a:xfrm>
            <a:off x="3912658" y="348086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49" y="0"/>
                </a:moveTo>
                <a:lnTo>
                  <a:pt x="121538" y="5300"/>
                </a:lnTo>
                <a:lnTo>
                  <a:pt x="82422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2" y="304517"/>
                </a:lnTo>
                <a:lnTo>
                  <a:pt x="121538" y="320417"/>
                </a:lnTo>
                <a:lnTo>
                  <a:pt x="162849" y="325717"/>
                </a:lnTo>
                <a:lnTo>
                  <a:pt x="204162" y="320417"/>
                </a:lnTo>
                <a:lnTo>
                  <a:pt x="243280" y="304517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0" y="21200"/>
                </a:lnTo>
                <a:lnTo>
                  <a:pt x="204162" y="5300"/>
                </a:lnTo>
                <a:lnTo>
                  <a:pt x="162849" y="0"/>
                </a:lnTo>
                <a:close/>
              </a:path>
            </a:pathLst>
          </a:custGeom>
          <a:solidFill>
            <a:srgbClr val="009051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094376" y="2564585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95585" y="2655439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8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2"/>
                </a:lnTo>
                <a:lnTo>
                  <a:pt x="5300" y="121538"/>
                </a:lnTo>
                <a:lnTo>
                  <a:pt x="0" y="162849"/>
                </a:lnTo>
                <a:lnTo>
                  <a:pt x="5300" y="204162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8" y="325707"/>
                </a:lnTo>
                <a:lnTo>
                  <a:pt x="204172" y="320407"/>
                </a:lnTo>
                <a:lnTo>
                  <a:pt x="243290" y="304507"/>
                </a:lnTo>
                <a:lnTo>
                  <a:pt x="278017" y="278007"/>
                </a:lnTo>
                <a:lnTo>
                  <a:pt x="304517" y="243280"/>
                </a:lnTo>
                <a:lnTo>
                  <a:pt x="320417" y="204162"/>
                </a:lnTo>
                <a:lnTo>
                  <a:pt x="325717" y="162849"/>
                </a:lnTo>
                <a:lnTo>
                  <a:pt x="320417" y="121538"/>
                </a:lnTo>
                <a:lnTo>
                  <a:pt x="304517" y="82422"/>
                </a:lnTo>
                <a:lnTo>
                  <a:pt x="278017" y="47700"/>
                </a:lnTo>
                <a:lnTo>
                  <a:pt x="243290" y="21200"/>
                </a:lnTo>
                <a:lnTo>
                  <a:pt x="204172" y="5300"/>
                </a:lnTo>
                <a:lnTo>
                  <a:pt x="16285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891022" y="214517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891022" y="2402246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4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7"/>
                </a:lnTo>
                <a:lnTo>
                  <a:pt x="5300" y="121545"/>
                </a:lnTo>
                <a:lnTo>
                  <a:pt x="0" y="162858"/>
                </a:lnTo>
                <a:lnTo>
                  <a:pt x="5300" y="204172"/>
                </a:lnTo>
                <a:lnTo>
                  <a:pt x="21200" y="243290"/>
                </a:lnTo>
                <a:lnTo>
                  <a:pt x="47700" y="278017"/>
                </a:lnTo>
                <a:lnTo>
                  <a:pt x="82427" y="304517"/>
                </a:lnTo>
                <a:lnTo>
                  <a:pt x="121545" y="320417"/>
                </a:lnTo>
                <a:lnTo>
                  <a:pt x="162857" y="325717"/>
                </a:lnTo>
                <a:lnTo>
                  <a:pt x="204169" y="320417"/>
                </a:lnTo>
                <a:lnTo>
                  <a:pt x="243284" y="304517"/>
                </a:lnTo>
                <a:lnTo>
                  <a:pt x="278007" y="278017"/>
                </a:lnTo>
                <a:lnTo>
                  <a:pt x="304507" y="243290"/>
                </a:lnTo>
                <a:lnTo>
                  <a:pt x="320407" y="204172"/>
                </a:lnTo>
                <a:lnTo>
                  <a:pt x="325707" y="162858"/>
                </a:lnTo>
                <a:lnTo>
                  <a:pt x="320407" y="121545"/>
                </a:lnTo>
                <a:lnTo>
                  <a:pt x="304507" y="82427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90420" y="5267295"/>
            <a:ext cx="1132458" cy="182493"/>
          </a:xfrm>
          <a:prstGeom prst="rect">
            <a:avLst/>
          </a:prstGeom>
        </p:spPr>
        <p:txBody>
          <a:bodyPr vert="horz" wrap="square" lIns="0" tIns="578" rIns="0" bIns="0" rtlCol="0">
            <a:spAutoFit/>
          </a:bodyPr>
          <a:lstStyle/>
          <a:p>
            <a:pPr marL="5715" defTabSz="415925">
              <a:spcBef>
                <a:spcPts val="5"/>
              </a:spcBef>
            </a:pP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from B, </a:t>
            </a:r>
            <a:r>
              <a:rPr sz="1180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D,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180" spc="-5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-3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7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8" name="object 68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9" name="object 69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object 70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1" name="object 71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2" name="object 72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3" name="object 66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1" name="object 11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4" name="object 34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00126" y="2179146"/>
            <a:ext cx="175024" cy="594389"/>
            <a:chOff x="2198888" y="4163239"/>
            <a:chExt cx="384810" cy="1306830"/>
          </a:xfrm>
        </p:grpSpPr>
        <p:sp>
          <p:nvSpPr>
            <p:cNvPr id="51" name="object 51"/>
            <p:cNvSpPr/>
            <p:nvPr/>
          </p:nvSpPr>
          <p:spPr>
            <a:xfrm>
              <a:off x="2257402" y="4163239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7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7"/>
                  </a:lnTo>
                  <a:lnTo>
                    <a:pt x="5300" y="121545"/>
                  </a:lnTo>
                  <a:lnTo>
                    <a:pt x="0" y="162858"/>
                  </a:lnTo>
                  <a:lnTo>
                    <a:pt x="5300" y="204172"/>
                  </a:lnTo>
                  <a:lnTo>
                    <a:pt x="21200" y="243290"/>
                  </a:lnTo>
                  <a:lnTo>
                    <a:pt x="47700" y="278017"/>
                  </a:lnTo>
                  <a:lnTo>
                    <a:pt x="82427" y="304513"/>
                  </a:lnTo>
                  <a:lnTo>
                    <a:pt x="121545" y="320410"/>
                  </a:lnTo>
                  <a:lnTo>
                    <a:pt x="162857" y="325709"/>
                  </a:lnTo>
                  <a:lnTo>
                    <a:pt x="204169" y="320410"/>
                  </a:lnTo>
                  <a:lnTo>
                    <a:pt x="243284" y="304513"/>
                  </a:lnTo>
                  <a:lnTo>
                    <a:pt x="278007" y="278017"/>
                  </a:lnTo>
                  <a:lnTo>
                    <a:pt x="304507" y="243290"/>
                  </a:lnTo>
                  <a:lnTo>
                    <a:pt x="320407" y="204172"/>
                  </a:lnTo>
                  <a:lnTo>
                    <a:pt x="325707" y="162858"/>
                  </a:lnTo>
                  <a:lnTo>
                    <a:pt x="320407" y="121545"/>
                  </a:lnTo>
                  <a:lnTo>
                    <a:pt x="304507" y="82427"/>
                  </a:lnTo>
                  <a:lnTo>
                    <a:pt x="278007" y="47700"/>
                  </a:lnTo>
                  <a:lnTo>
                    <a:pt x="243284" y="21200"/>
                  </a:lnTo>
                  <a:lnTo>
                    <a:pt x="204169" y="5300"/>
                  </a:lnTo>
                  <a:lnTo>
                    <a:pt x="162857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198888" y="5144068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1" y="0"/>
                  </a:moveTo>
                  <a:lnTo>
                    <a:pt x="121537" y="5300"/>
                  </a:lnTo>
                  <a:lnTo>
                    <a:pt x="82419" y="21200"/>
                  </a:lnTo>
                  <a:lnTo>
                    <a:pt x="47692" y="47700"/>
                  </a:lnTo>
                  <a:lnTo>
                    <a:pt x="21196" y="82426"/>
                  </a:lnTo>
                  <a:lnTo>
                    <a:pt x="5299" y="121542"/>
                  </a:lnTo>
                  <a:lnTo>
                    <a:pt x="0" y="162853"/>
                  </a:lnTo>
                  <a:lnTo>
                    <a:pt x="5299" y="204164"/>
                  </a:lnTo>
                  <a:lnTo>
                    <a:pt x="21196" y="243280"/>
                  </a:lnTo>
                  <a:lnTo>
                    <a:pt x="47692" y="278007"/>
                  </a:lnTo>
                  <a:lnTo>
                    <a:pt x="82419" y="304507"/>
                  </a:lnTo>
                  <a:lnTo>
                    <a:pt x="121537" y="320407"/>
                  </a:lnTo>
                  <a:lnTo>
                    <a:pt x="162851" y="325707"/>
                  </a:lnTo>
                  <a:lnTo>
                    <a:pt x="204164" y="320407"/>
                  </a:lnTo>
                  <a:lnTo>
                    <a:pt x="243282" y="304507"/>
                  </a:lnTo>
                  <a:lnTo>
                    <a:pt x="278009" y="278007"/>
                  </a:lnTo>
                  <a:lnTo>
                    <a:pt x="304509" y="243280"/>
                  </a:lnTo>
                  <a:lnTo>
                    <a:pt x="320409" y="204164"/>
                  </a:lnTo>
                  <a:lnTo>
                    <a:pt x="325709" y="162853"/>
                  </a:lnTo>
                  <a:lnTo>
                    <a:pt x="320409" y="121542"/>
                  </a:lnTo>
                  <a:lnTo>
                    <a:pt x="304509" y="82426"/>
                  </a:lnTo>
                  <a:lnTo>
                    <a:pt x="278009" y="47700"/>
                  </a:lnTo>
                  <a:lnTo>
                    <a:pt x="243282" y="21200"/>
                  </a:lnTo>
                  <a:lnTo>
                    <a:pt x="204164" y="5300"/>
                  </a:lnTo>
                  <a:lnTo>
                    <a:pt x="16285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4" name="object 47"/>
          <p:cNvGraphicFramePr>
            <a:graphicFrameLocks noGrp="1"/>
          </p:cNvGraphicFramePr>
          <p:nvPr/>
        </p:nvGraphicFramePr>
        <p:xfrm>
          <a:off x="2042952" y="4238102"/>
          <a:ext cx="4257234" cy="626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800"/>
                <a:gridCol w="288032"/>
                <a:gridCol w="360040"/>
                <a:gridCol w="504056"/>
                <a:gridCol w="576064"/>
                <a:gridCol w="648072"/>
                <a:gridCol w="1584170"/>
              </a:tblGrid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ts val="2585"/>
                        </a:lnSpc>
                      </a:pPr>
                      <a:r>
                        <a:rPr sz="1000" b="1" spc="20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B’s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i="1" dirty="0">
                          <a:solidFill>
                            <a:srgbClr val="FF2F92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11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b="1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[(A,7),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245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(C,3),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585"/>
                        </a:lnSpc>
                      </a:pPr>
                      <a:r>
                        <a:rPr sz="1000" b="1" spc="22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(D,1)]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80799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</a:tr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7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17707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53393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9079" y="5073703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81926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17612" y="5073703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3" name="object 66"/>
          <p:cNvSpPr txBox="1"/>
          <p:nvPr/>
        </p:nvSpPr>
        <p:spPr>
          <a:xfrm>
            <a:off x="217707" y="4703565"/>
            <a:ext cx="1190222" cy="348590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00126" y="2179146"/>
            <a:ext cx="175024" cy="594389"/>
            <a:chOff x="2198888" y="4163239"/>
            <a:chExt cx="384810" cy="1306830"/>
          </a:xfrm>
        </p:grpSpPr>
        <p:sp>
          <p:nvSpPr>
            <p:cNvPr id="52" name="object 52"/>
            <p:cNvSpPr/>
            <p:nvPr/>
          </p:nvSpPr>
          <p:spPr>
            <a:xfrm>
              <a:off x="2257402" y="4163239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7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7"/>
                  </a:lnTo>
                  <a:lnTo>
                    <a:pt x="5300" y="121545"/>
                  </a:lnTo>
                  <a:lnTo>
                    <a:pt x="0" y="162858"/>
                  </a:lnTo>
                  <a:lnTo>
                    <a:pt x="5300" y="204172"/>
                  </a:lnTo>
                  <a:lnTo>
                    <a:pt x="21200" y="243290"/>
                  </a:lnTo>
                  <a:lnTo>
                    <a:pt x="47700" y="278017"/>
                  </a:lnTo>
                  <a:lnTo>
                    <a:pt x="82427" y="304513"/>
                  </a:lnTo>
                  <a:lnTo>
                    <a:pt x="121545" y="320410"/>
                  </a:lnTo>
                  <a:lnTo>
                    <a:pt x="162857" y="325709"/>
                  </a:lnTo>
                  <a:lnTo>
                    <a:pt x="204169" y="320410"/>
                  </a:lnTo>
                  <a:lnTo>
                    <a:pt x="243284" y="304513"/>
                  </a:lnTo>
                  <a:lnTo>
                    <a:pt x="278007" y="278017"/>
                  </a:lnTo>
                  <a:lnTo>
                    <a:pt x="304507" y="243290"/>
                  </a:lnTo>
                  <a:lnTo>
                    <a:pt x="320407" y="204172"/>
                  </a:lnTo>
                  <a:lnTo>
                    <a:pt x="325707" y="162858"/>
                  </a:lnTo>
                  <a:lnTo>
                    <a:pt x="320407" y="121545"/>
                  </a:lnTo>
                  <a:lnTo>
                    <a:pt x="304507" y="82427"/>
                  </a:lnTo>
                  <a:lnTo>
                    <a:pt x="278007" y="47700"/>
                  </a:lnTo>
                  <a:lnTo>
                    <a:pt x="243284" y="21200"/>
                  </a:lnTo>
                  <a:lnTo>
                    <a:pt x="204169" y="5300"/>
                  </a:lnTo>
                  <a:lnTo>
                    <a:pt x="162857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2198888" y="5144068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1" y="0"/>
                  </a:moveTo>
                  <a:lnTo>
                    <a:pt x="121537" y="5300"/>
                  </a:lnTo>
                  <a:lnTo>
                    <a:pt x="82419" y="21200"/>
                  </a:lnTo>
                  <a:lnTo>
                    <a:pt x="47692" y="47700"/>
                  </a:lnTo>
                  <a:lnTo>
                    <a:pt x="21196" y="82426"/>
                  </a:lnTo>
                  <a:lnTo>
                    <a:pt x="5299" y="121542"/>
                  </a:lnTo>
                  <a:lnTo>
                    <a:pt x="0" y="162853"/>
                  </a:lnTo>
                  <a:lnTo>
                    <a:pt x="5299" y="204164"/>
                  </a:lnTo>
                  <a:lnTo>
                    <a:pt x="21196" y="243280"/>
                  </a:lnTo>
                  <a:lnTo>
                    <a:pt x="47692" y="278007"/>
                  </a:lnTo>
                  <a:lnTo>
                    <a:pt x="82419" y="304507"/>
                  </a:lnTo>
                  <a:lnTo>
                    <a:pt x="121537" y="320407"/>
                  </a:lnTo>
                  <a:lnTo>
                    <a:pt x="162851" y="325707"/>
                  </a:lnTo>
                  <a:lnTo>
                    <a:pt x="204164" y="320407"/>
                  </a:lnTo>
                  <a:lnTo>
                    <a:pt x="243282" y="304507"/>
                  </a:lnTo>
                  <a:lnTo>
                    <a:pt x="278009" y="278007"/>
                  </a:lnTo>
                  <a:lnTo>
                    <a:pt x="304509" y="243280"/>
                  </a:lnTo>
                  <a:lnTo>
                    <a:pt x="320409" y="204164"/>
                  </a:lnTo>
                  <a:lnTo>
                    <a:pt x="325709" y="162853"/>
                  </a:lnTo>
                  <a:lnTo>
                    <a:pt x="320409" y="121542"/>
                  </a:lnTo>
                  <a:lnTo>
                    <a:pt x="304509" y="82426"/>
                  </a:lnTo>
                  <a:lnTo>
                    <a:pt x="278009" y="47700"/>
                  </a:lnTo>
                  <a:lnTo>
                    <a:pt x="243282" y="21200"/>
                  </a:lnTo>
                  <a:lnTo>
                    <a:pt x="204164" y="5300"/>
                  </a:lnTo>
                  <a:lnTo>
                    <a:pt x="16285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9" name="object 68"/>
          <p:cNvSpPr txBox="1"/>
          <p:nvPr/>
        </p:nvSpPr>
        <p:spPr>
          <a:xfrm>
            <a:off x="217707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9"/>
          <p:cNvSpPr txBox="1"/>
          <p:nvPr/>
        </p:nvSpPr>
        <p:spPr>
          <a:xfrm>
            <a:off x="453393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70"/>
          <p:cNvSpPr txBox="1"/>
          <p:nvPr/>
        </p:nvSpPr>
        <p:spPr>
          <a:xfrm>
            <a:off x="689079" y="5233764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71"/>
          <p:cNvSpPr txBox="1"/>
          <p:nvPr/>
        </p:nvSpPr>
        <p:spPr>
          <a:xfrm>
            <a:off x="1081926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72"/>
          <p:cNvSpPr txBox="1"/>
          <p:nvPr/>
        </p:nvSpPr>
        <p:spPr>
          <a:xfrm>
            <a:off x="1317612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6"/>
          <p:cNvSpPr txBox="1"/>
          <p:nvPr/>
        </p:nvSpPr>
        <p:spPr>
          <a:xfrm>
            <a:off x="217706" y="4703565"/>
            <a:ext cx="1347055" cy="528127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10</a:t>
            </a:r>
            <a:endParaRPr lang="en-US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5" name="object 47"/>
          <p:cNvGraphicFramePr>
            <a:graphicFrameLocks noGrp="1"/>
          </p:cNvGraphicFramePr>
          <p:nvPr/>
        </p:nvGraphicFramePr>
        <p:xfrm>
          <a:off x="2042952" y="4238102"/>
          <a:ext cx="4257234" cy="626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800"/>
                <a:gridCol w="288032"/>
                <a:gridCol w="360040"/>
                <a:gridCol w="504056"/>
                <a:gridCol w="576064"/>
                <a:gridCol w="648072"/>
                <a:gridCol w="1584170"/>
              </a:tblGrid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ts val="2585"/>
                        </a:lnSpc>
                      </a:pPr>
                      <a:r>
                        <a:rPr sz="1000" b="1" spc="20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B’s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i="1" dirty="0">
                          <a:solidFill>
                            <a:srgbClr val="FF2F92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11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b="1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[(A,7),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245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(C,3),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585"/>
                        </a:lnSpc>
                      </a:pPr>
                      <a:r>
                        <a:rPr sz="1000" b="1" spc="22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(D,1)]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80799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</a:tr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1681796" y="483158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s cost to B + B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s cost to C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00126" y="2179146"/>
            <a:ext cx="175024" cy="594389"/>
            <a:chOff x="2198888" y="4163239"/>
            <a:chExt cx="384810" cy="1306830"/>
          </a:xfrm>
        </p:grpSpPr>
        <p:sp>
          <p:nvSpPr>
            <p:cNvPr id="51" name="object 51"/>
            <p:cNvSpPr/>
            <p:nvPr/>
          </p:nvSpPr>
          <p:spPr>
            <a:xfrm>
              <a:off x="2257402" y="4163239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7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7"/>
                  </a:lnTo>
                  <a:lnTo>
                    <a:pt x="5300" y="121545"/>
                  </a:lnTo>
                  <a:lnTo>
                    <a:pt x="0" y="162858"/>
                  </a:lnTo>
                  <a:lnTo>
                    <a:pt x="5300" y="204172"/>
                  </a:lnTo>
                  <a:lnTo>
                    <a:pt x="21200" y="243290"/>
                  </a:lnTo>
                  <a:lnTo>
                    <a:pt x="47700" y="278017"/>
                  </a:lnTo>
                  <a:lnTo>
                    <a:pt x="82427" y="304513"/>
                  </a:lnTo>
                  <a:lnTo>
                    <a:pt x="121545" y="320410"/>
                  </a:lnTo>
                  <a:lnTo>
                    <a:pt x="162857" y="325709"/>
                  </a:lnTo>
                  <a:lnTo>
                    <a:pt x="204169" y="320410"/>
                  </a:lnTo>
                  <a:lnTo>
                    <a:pt x="243284" y="304513"/>
                  </a:lnTo>
                  <a:lnTo>
                    <a:pt x="278007" y="278017"/>
                  </a:lnTo>
                  <a:lnTo>
                    <a:pt x="304507" y="243290"/>
                  </a:lnTo>
                  <a:lnTo>
                    <a:pt x="320407" y="204172"/>
                  </a:lnTo>
                  <a:lnTo>
                    <a:pt x="325707" y="162858"/>
                  </a:lnTo>
                  <a:lnTo>
                    <a:pt x="320407" y="121545"/>
                  </a:lnTo>
                  <a:lnTo>
                    <a:pt x="304507" y="82427"/>
                  </a:lnTo>
                  <a:lnTo>
                    <a:pt x="278007" y="47700"/>
                  </a:lnTo>
                  <a:lnTo>
                    <a:pt x="243284" y="21200"/>
                  </a:lnTo>
                  <a:lnTo>
                    <a:pt x="204169" y="5300"/>
                  </a:lnTo>
                  <a:lnTo>
                    <a:pt x="162857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198888" y="5144068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1" y="0"/>
                  </a:moveTo>
                  <a:lnTo>
                    <a:pt x="121537" y="5300"/>
                  </a:lnTo>
                  <a:lnTo>
                    <a:pt x="82419" y="21200"/>
                  </a:lnTo>
                  <a:lnTo>
                    <a:pt x="47692" y="47700"/>
                  </a:lnTo>
                  <a:lnTo>
                    <a:pt x="21196" y="82426"/>
                  </a:lnTo>
                  <a:lnTo>
                    <a:pt x="5299" y="121542"/>
                  </a:lnTo>
                  <a:lnTo>
                    <a:pt x="0" y="162853"/>
                  </a:lnTo>
                  <a:lnTo>
                    <a:pt x="5299" y="204164"/>
                  </a:lnTo>
                  <a:lnTo>
                    <a:pt x="21196" y="243280"/>
                  </a:lnTo>
                  <a:lnTo>
                    <a:pt x="47692" y="278007"/>
                  </a:lnTo>
                  <a:lnTo>
                    <a:pt x="82419" y="304507"/>
                  </a:lnTo>
                  <a:lnTo>
                    <a:pt x="121537" y="320407"/>
                  </a:lnTo>
                  <a:lnTo>
                    <a:pt x="162851" y="325707"/>
                  </a:lnTo>
                  <a:lnTo>
                    <a:pt x="204164" y="320407"/>
                  </a:lnTo>
                  <a:lnTo>
                    <a:pt x="243282" y="304507"/>
                  </a:lnTo>
                  <a:lnTo>
                    <a:pt x="278009" y="278007"/>
                  </a:lnTo>
                  <a:lnTo>
                    <a:pt x="304509" y="243280"/>
                  </a:lnTo>
                  <a:lnTo>
                    <a:pt x="320409" y="204164"/>
                  </a:lnTo>
                  <a:lnTo>
                    <a:pt x="325709" y="162853"/>
                  </a:lnTo>
                  <a:lnTo>
                    <a:pt x="320409" y="121542"/>
                  </a:lnTo>
                  <a:lnTo>
                    <a:pt x="304509" y="82426"/>
                  </a:lnTo>
                  <a:lnTo>
                    <a:pt x="278009" y="47700"/>
                  </a:lnTo>
                  <a:lnTo>
                    <a:pt x="243282" y="21200"/>
                  </a:lnTo>
                  <a:lnTo>
                    <a:pt x="204164" y="5300"/>
                  </a:lnTo>
                  <a:lnTo>
                    <a:pt x="16285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1" name="object 68"/>
          <p:cNvSpPr txBox="1"/>
          <p:nvPr/>
        </p:nvSpPr>
        <p:spPr>
          <a:xfrm>
            <a:off x="217707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9"/>
          <p:cNvSpPr txBox="1"/>
          <p:nvPr/>
        </p:nvSpPr>
        <p:spPr>
          <a:xfrm>
            <a:off x="453393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70"/>
          <p:cNvSpPr txBox="1"/>
          <p:nvPr/>
        </p:nvSpPr>
        <p:spPr>
          <a:xfrm>
            <a:off x="689079" y="5233764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71"/>
          <p:cNvSpPr txBox="1"/>
          <p:nvPr/>
        </p:nvSpPr>
        <p:spPr>
          <a:xfrm>
            <a:off x="1081926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72"/>
          <p:cNvSpPr txBox="1"/>
          <p:nvPr/>
        </p:nvSpPr>
        <p:spPr>
          <a:xfrm>
            <a:off x="1317612" y="5233764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17706" y="4703565"/>
            <a:ext cx="1347055" cy="528127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10</a:t>
            </a:r>
            <a:endParaRPr lang="en-US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7" name="object 47"/>
          <p:cNvGraphicFramePr>
            <a:graphicFrameLocks noGrp="1"/>
          </p:cNvGraphicFramePr>
          <p:nvPr/>
        </p:nvGraphicFramePr>
        <p:xfrm>
          <a:off x="1619672" y="4238102"/>
          <a:ext cx="4257234" cy="626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800"/>
                <a:gridCol w="288032"/>
                <a:gridCol w="360040"/>
                <a:gridCol w="504056"/>
                <a:gridCol w="576064"/>
                <a:gridCol w="648072"/>
                <a:gridCol w="1584170"/>
              </a:tblGrid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ts val="2585"/>
                        </a:lnSpc>
                      </a:pPr>
                      <a:r>
                        <a:rPr sz="1000" b="1" spc="20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B’s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i="1" dirty="0">
                          <a:solidFill>
                            <a:srgbClr val="FF2F92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11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b="1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[(A,7),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245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(C,3),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585"/>
                        </a:lnSpc>
                      </a:pPr>
                      <a:r>
                        <a:rPr sz="1000" b="1" spc="22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(D,1)]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80799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D’s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i="1" dirty="0">
                          <a:solidFill>
                            <a:srgbClr val="009051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1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[(B,1),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5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(C,5),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(E,3),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(F,4)</a:t>
                      </a:r>
                      <a:r>
                        <a:rPr lang="en-US" altLang="zh-CN"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(A,2)</a:t>
                      </a: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]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</a:tr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1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F’s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i="1" dirty="0">
                          <a:solidFill>
                            <a:srgbClr val="FF9300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1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[(A,1),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35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(D,4),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5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(E,5)]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00126" y="2179146"/>
            <a:ext cx="175024" cy="594389"/>
            <a:chOff x="2198888" y="4163239"/>
            <a:chExt cx="384810" cy="1306830"/>
          </a:xfrm>
        </p:grpSpPr>
        <p:sp>
          <p:nvSpPr>
            <p:cNvPr id="51" name="object 51"/>
            <p:cNvSpPr/>
            <p:nvPr/>
          </p:nvSpPr>
          <p:spPr>
            <a:xfrm>
              <a:off x="2257402" y="4163239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7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7"/>
                  </a:lnTo>
                  <a:lnTo>
                    <a:pt x="5300" y="121545"/>
                  </a:lnTo>
                  <a:lnTo>
                    <a:pt x="0" y="162858"/>
                  </a:lnTo>
                  <a:lnTo>
                    <a:pt x="5300" y="204172"/>
                  </a:lnTo>
                  <a:lnTo>
                    <a:pt x="21200" y="243290"/>
                  </a:lnTo>
                  <a:lnTo>
                    <a:pt x="47700" y="278017"/>
                  </a:lnTo>
                  <a:lnTo>
                    <a:pt x="82427" y="304513"/>
                  </a:lnTo>
                  <a:lnTo>
                    <a:pt x="121545" y="320410"/>
                  </a:lnTo>
                  <a:lnTo>
                    <a:pt x="162857" y="325709"/>
                  </a:lnTo>
                  <a:lnTo>
                    <a:pt x="204169" y="320410"/>
                  </a:lnTo>
                  <a:lnTo>
                    <a:pt x="243284" y="304513"/>
                  </a:lnTo>
                  <a:lnTo>
                    <a:pt x="278007" y="278017"/>
                  </a:lnTo>
                  <a:lnTo>
                    <a:pt x="304507" y="243290"/>
                  </a:lnTo>
                  <a:lnTo>
                    <a:pt x="320407" y="204172"/>
                  </a:lnTo>
                  <a:lnTo>
                    <a:pt x="325707" y="162858"/>
                  </a:lnTo>
                  <a:lnTo>
                    <a:pt x="320407" y="121545"/>
                  </a:lnTo>
                  <a:lnTo>
                    <a:pt x="304507" y="82427"/>
                  </a:lnTo>
                  <a:lnTo>
                    <a:pt x="278007" y="47700"/>
                  </a:lnTo>
                  <a:lnTo>
                    <a:pt x="243284" y="21200"/>
                  </a:lnTo>
                  <a:lnTo>
                    <a:pt x="204169" y="5300"/>
                  </a:lnTo>
                  <a:lnTo>
                    <a:pt x="162857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198888" y="5144068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1" y="0"/>
                  </a:moveTo>
                  <a:lnTo>
                    <a:pt x="121537" y="5300"/>
                  </a:lnTo>
                  <a:lnTo>
                    <a:pt x="82419" y="21200"/>
                  </a:lnTo>
                  <a:lnTo>
                    <a:pt x="47692" y="47700"/>
                  </a:lnTo>
                  <a:lnTo>
                    <a:pt x="21196" y="82426"/>
                  </a:lnTo>
                  <a:lnTo>
                    <a:pt x="5299" y="121542"/>
                  </a:lnTo>
                  <a:lnTo>
                    <a:pt x="0" y="162853"/>
                  </a:lnTo>
                  <a:lnTo>
                    <a:pt x="5299" y="204164"/>
                  </a:lnTo>
                  <a:lnTo>
                    <a:pt x="21196" y="243280"/>
                  </a:lnTo>
                  <a:lnTo>
                    <a:pt x="47692" y="278007"/>
                  </a:lnTo>
                  <a:lnTo>
                    <a:pt x="82419" y="304507"/>
                  </a:lnTo>
                  <a:lnTo>
                    <a:pt x="121537" y="320407"/>
                  </a:lnTo>
                  <a:lnTo>
                    <a:pt x="162851" y="325707"/>
                  </a:lnTo>
                  <a:lnTo>
                    <a:pt x="204164" y="320407"/>
                  </a:lnTo>
                  <a:lnTo>
                    <a:pt x="243282" y="304507"/>
                  </a:lnTo>
                  <a:lnTo>
                    <a:pt x="278009" y="278007"/>
                  </a:lnTo>
                  <a:lnTo>
                    <a:pt x="304509" y="243280"/>
                  </a:lnTo>
                  <a:lnTo>
                    <a:pt x="320409" y="204164"/>
                  </a:lnTo>
                  <a:lnTo>
                    <a:pt x="325709" y="162853"/>
                  </a:lnTo>
                  <a:lnTo>
                    <a:pt x="320409" y="121542"/>
                  </a:lnTo>
                  <a:lnTo>
                    <a:pt x="304509" y="82426"/>
                  </a:lnTo>
                  <a:lnTo>
                    <a:pt x="278009" y="47700"/>
                  </a:lnTo>
                  <a:lnTo>
                    <a:pt x="243282" y="21200"/>
                  </a:lnTo>
                  <a:lnTo>
                    <a:pt x="204164" y="5300"/>
                  </a:lnTo>
                  <a:lnTo>
                    <a:pt x="16285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0" name="object 68"/>
          <p:cNvSpPr txBox="1"/>
          <p:nvPr/>
        </p:nvSpPr>
        <p:spPr>
          <a:xfrm>
            <a:off x="217707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9"/>
          <p:cNvSpPr txBox="1"/>
          <p:nvPr/>
        </p:nvSpPr>
        <p:spPr>
          <a:xfrm>
            <a:off x="453393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70"/>
          <p:cNvSpPr txBox="1"/>
          <p:nvPr/>
        </p:nvSpPr>
        <p:spPr>
          <a:xfrm>
            <a:off x="689079" y="5452740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71"/>
          <p:cNvSpPr txBox="1"/>
          <p:nvPr/>
        </p:nvSpPr>
        <p:spPr>
          <a:xfrm>
            <a:off x="1081926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72"/>
          <p:cNvSpPr txBox="1"/>
          <p:nvPr/>
        </p:nvSpPr>
        <p:spPr>
          <a:xfrm>
            <a:off x="1317612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6"/>
          <p:cNvSpPr txBox="1"/>
          <p:nvPr/>
        </p:nvSpPr>
        <p:spPr>
          <a:xfrm>
            <a:off x="217706" y="4703565"/>
            <a:ext cx="1347055" cy="887199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</a:t>
            </a:r>
            <a:endParaRPr lang="en-US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US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5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6" name="object 47"/>
          <p:cNvGraphicFramePr>
            <a:graphicFrameLocks noGrp="1"/>
          </p:cNvGraphicFramePr>
          <p:nvPr/>
        </p:nvGraphicFramePr>
        <p:xfrm>
          <a:off x="1619672" y="4238102"/>
          <a:ext cx="4257234" cy="626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800"/>
                <a:gridCol w="288032"/>
                <a:gridCol w="360040"/>
                <a:gridCol w="504056"/>
                <a:gridCol w="576064"/>
                <a:gridCol w="648072"/>
                <a:gridCol w="1584170"/>
              </a:tblGrid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ts val="2585"/>
                        </a:lnSpc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endParaRPr sz="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585"/>
                        </a:lnSpc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80799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D’s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i="1" dirty="0">
                          <a:solidFill>
                            <a:srgbClr val="009051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1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[(B,1),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5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(C,5),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(E,3),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(F,4)</a:t>
                      </a:r>
                      <a:r>
                        <a:rPr lang="en-US" altLang="zh-CN"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(A,2)</a:t>
                      </a: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]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</a:tr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00126" y="2179146"/>
            <a:ext cx="175024" cy="594389"/>
            <a:chOff x="2198888" y="4163239"/>
            <a:chExt cx="384810" cy="1306830"/>
          </a:xfrm>
        </p:grpSpPr>
        <p:sp>
          <p:nvSpPr>
            <p:cNvPr id="51" name="object 51"/>
            <p:cNvSpPr/>
            <p:nvPr/>
          </p:nvSpPr>
          <p:spPr>
            <a:xfrm>
              <a:off x="2257402" y="4163239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7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7"/>
                  </a:lnTo>
                  <a:lnTo>
                    <a:pt x="5300" y="121545"/>
                  </a:lnTo>
                  <a:lnTo>
                    <a:pt x="0" y="162858"/>
                  </a:lnTo>
                  <a:lnTo>
                    <a:pt x="5300" y="204172"/>
                  </a:lnTo>
                  <a:lnTo>
                    <a:pt x="21200" y="243290"/>
                  </a:lnTo>
                  <a:lnTo>
                    <a:pt x="47700" y="278017"/>
                  </a:lnTo>
                  <a:lnTo>
                    <a:pt x="82427" y="304513"/>
                  </a:lnTo>
                  <a:lnTo>
                    <a:pt x="121545" y="320410"/>
                  </a:lnTo>
                  <a:lnTo>
                    <a:pt x="162857" y="325709"/>
                  </a:lnTo>
                  <a:lnTo>
                    <a:pt x="204169" y="320410"/>
                  </a:lnTo>
                  <a:lnTo>
                    <a:pt x="243284" y="304513"/>
                  </a:lnTo>
                  <a:lnTo>
                    <a:pt x="278007" y="278017"/>
                  </a:lnTo>
                  <a:lnTo>
                    <a:pt x="304507" y="243290"/>
                  </a:lnTo>
                  <a:lnTo>
                    <a:pt x="320407" y="204172"/>
                  </a:lnTo>
                  <a:lnTo>
                    <a:pt x="325707" y="162858"/>
                  </a:lnTo>
                  <a:lnTo>
                    <a:pt x="320407" y="121545"/>
                  </a:lnTo>
                  <a:lnTo>
                    <a:pt x="304507" y="82427"/>
                  </a:lnTo>
                  <a:lnTo>
                    <a:pt x="278007" y="47700"/>
                  </a:lnTo>
                  <a:lnTo>
                    <a:pt x="243284" y="21200"/>
                  </a:lnTo>
                  <a:lnTo>
                    <a:pt x="204169" y="5300"/>
                  </a:lnTo>
                  <a:lnTo>
                    <a:pt x="162857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198888" y="5144068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1" y="0"/>
                  </a:moveTo>
                  <a:lnTo>
                    <a:pt x="121537" y="5300"/>
                  </a:lnTo>
                  <a:lnTo>
                    <a:pt x="82419" y="21200"/>
                  </a:lnTo>
                  <a:lnTo>
                    <a:pt x="47692" y="47700"/>
                  </a:lnTo>
                  <a:lnTo>
                    <a:pt x="21196" y="82426"/>
                  </a:lnTo>
                  <a:lnTo>
                    <a:pt x="5299" y="121542"/>
                  </a:lnTo>
                  <a:lnTo>
                    <a:pt x="0" y="162853"/>
                  </a:lnTo>
                  <a:lnTo>
                    <a:pt x="5299" y="204164"/>
                  </a:lnTo>
                  <a:lnTo>
                    <a:pt x="21196" y="243280"/>
                  </a:lnTo>
                  <a:lnTo>
                    <a:pt x="47692" y="278007"/>
                  </a:lnTo>
                  <a:lnTo>
                    <a:pt x="82419" y="304507"/>
                  </a:lnTo>
                  <a:lnTo>
                    <a:pt x="121537" y="320407"/>
                  </a:lnTo>
                  <a:lnTo>
                    <a:pt x="162851" y="325707"/>
                  </a:lnTo>
                  <a:lnTo>
                    <a:pt x="204164" y="320407"/>
                  </a:lnTo>
                  <a:lnTo>
                    <a:pt x="243282" y="304507"/>
                  </a:lnTo>
                  <a:lnTo>
                    <a:pt x="278009" y="278007"/>
                  </a:lnTo>
                  <a:lnTo>
                    <a:pt x="304509" y="243280"/>
                  </a:lnTo>
                  <a:lnTo>
                    <a:pt x="320409" y="204164"/>
                  </a:lnTo>
                  <a:lnTo>
                    <a:pt x="325709" y="162853"/>
                  </a:lnTo>
                  <a:lnTo>
                    <a:pt x="320409" y="121542"/>
                  </a:lnTo>
                  <a:lnTo>
                    <a:pt x="304509" y="82426"/>
                  </a:lnTo>
                  <a:lnTo>
                    <a:pt x="278009" y="47700"/>
                  </a:lnTo>
                  <a:lnTo>
                    <a:pt x="243282" y="21200"/>
                  </a:lnTo>
                  <a:lnTo>
                    <a:pt x="204164" y="5300"/>
                  </a:lnTo>
                  <a:lnTo>
                    <a:pt x="16285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0" name="object 68"/>
          <p:cNvSpPr txBox="1"/>
          <p:nvPr/>
        </p:nvSpPr>
        <p:spPr>
          <a:xfrm>
            <a:off x="217707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9"/>
          <p:cNvSpPr txBox="1"/>
          <p:nvPr/>
        </p:nvSpPr>
        <p:spPr>
          <a:xfrm>
            <a:off x="453393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70"/>
          <p:cNvSpPr txBox="1"/>
          <p:nvPr/>
        </p:nvSpPr>
        <p:spPr>
          <a:xfrm>
            <a:off x="689079" y="5452740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71"/>
          <p:cNvSpPr txBox="1"/>
          <p:nvPr/>
        </p:nvSpPr>
        <p:spPr>
          <a:xfrm>
            <a:off x="1081926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72"/>
          <p:cNvSpPr txBox="1"/>
          <p:nvPr/>
        </p:nvSpPr>
        <p:spPr>
          <a:xfrm>
            <a:off x="1317612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6"/>
          <p:cNvSpPr txBox="1"/>
          <p:nvPr/>
        </p:nvSpPr>
        <p:spPr>
          <a:xfrm>
            <a:off x="217706" y="4703565"/>
            <a:ext cx="1347055" cy="887199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</a:t>
            </a:r>
            <a:endParaRPr lang="en-US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US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5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7" name="object 47"/>
          <p:cNvGraphicFramePr>
            <a:graphicFrameLocks noGrp="1"/>
          </p:cNvGraphicFramePr>
          <p:nvPr/>
        </p:nvGraphicFramePr>
        <p:xfrm>
          <a:off x="1682918" y="4238102"/>
          <a:ext cx="4257234" cy="626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800"/>
                <a:gridCol w="288032"/>
                <a:gridCol w="360040"/>
                <a:gridCol w="504056"/>
                <a:gridCol w="576064"/>
                <a:gridCol w="648072"/>
                <a:gridCol w="1584170"/>
              </a:tblGrid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ts val="2585"/>
                        </a:lnSpc>
                      </a:pPr>
                      <a:r>
                        <a:rPr sz="1000" b="1" spc="20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B’s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i="1" dirty="0">
                          <a:solidFill>
                            <a:srgbClr val="FF2F92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11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585"/>
                        </a:lnSpc>
                      </a:pPr>
                      <a:r>
                        <a:rPr sz="1000" b="1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[(A,7),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1000" b="1" spc="245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(C,3),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585"/>
                        </a:lnSpc>
                      </a:pPr>
                      <a:r>
                        <a:rPr sz="1000" b="1" spc="220" dirty="0">
                          <a:solidFill>
                            <a:srgbClr val="FF2F92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(D,1)]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80799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D’s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i="1" dirty="0">
                          <a:solidFill>
                            <a:srgbClr val="009051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1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[(B,1),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5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(C,5),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6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(E,3),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(F,4)</a:t>
                      </a:r>
                      <a:r>
                        <a:rPr lang="en-US" altLang="zh-CN"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(A,2)</a:t>
                      </a:r>
                      <a:r>
                        <a:rPr sz="1000" b="1" spc="240" dirty="0">
                          <a:solidFill>
                            <a:srgbClr val="009051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]</a:t>
                      </a:r>
                      <a:endParaRPr sz="1000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</a:tr>
              <a:tr h="168892"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1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F’s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i="1" dirty="0">
                          <a:solidFill>
                            <a:srgbClr val="FF9300"/>
                          </a:solidFill>
                          <a:latin typeface="Arial" panose="020B0604020202020204"/>
                          <a:cs typeface="Arial" panose="020B0604020202020204"/>
                        </a:rPr>
                        <a:t>first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11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adv: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[(A,1),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35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(D,4),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250" dirty="0">
                          <a:solidFill>
                            <a:srgbClr val="FF9300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(E,5)]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7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84232" y="2394707"/>
            <a:ext cx="148164" cy="148164"/>
          </a:xfrm>
          <a:custGeom>
            <a:avLst/>
            <a:gdLst/>
            <a:ahLst/>
            <a:cxnLst/>
            <a:rect l="l" t="t" r="r" b="b"/>
            <a:pathLst>
              <a:path w="325755" h="325754">
                <a:moveTo>
                  <a:pt x="162857" y="0"/>
                </a:moveTo>
                <a:lnTo>
                  <a:pt x="121545" y="5300"/>
                </a:lnTo>
                <a:lnTo>
                  <a:pt x="82427" y="21200"/>
                </a:lnTo>
                <a:lnTo>
                  <a:pt x="47700" y="47700"/>
                </a:lnTo>
                <a:lnTo>
                  <a:pt x="21200" y="82426"/>
                </a:lnTo>
                <a:lnTo>
                  <a:pt x="5300" y="121542"/>
                </a:lnTo>
                <a:lnTo>
                  <a:pt x="0" y="162853"/>
                </a:lnTo>
                <a:lnTo>
                  <a:pt x="5300" y="204164"/>
                </a:lnTo>
                <a:lnTo>
                  <a:pt x="21200" y="243280"/>
                </a:lnTo>
                <a:lnTo>
                  <a:pt x="47700" y="278007"/>
                </a:lnTo>
                <a:lnTo>
                  <a:pt x="82427" y="304507"/>
                </a:lnTo>
                <a:lnTo>
                  <a:pt x="121545" y="320407"/>
                </a:lnTo>
                <a:lnTo>
                  <a:pt x="162857" y="325707"/>
                </a:lnTo>
                <a:lnTo>
                  <a:pt x="204169" y="320407"/>
                </a:lnTo>
                <a:lnTo>
                  <a:pt x="243284" y="304507"/>
                </a:lnTo>
                <a:lnTo>
                  <a:pt x="278007" y="278007"/>
                </a:lnTo>
                <a:lnTo>
                  <a:pt x="304507" y="243280"/>
                </a:lnTo>
                <a:lnTo>
                  <a:pt x="320407" y="204164"/>
                </a:lnTo>
                <a:lnTo>
                  <a:pt x="325707" y="162853"/>
                </a:lnTo>
                <a:lnTo>
                  <a:pt x="320407" y="121542"/>
                </a:lnTo>
                <a:lnTo>
                  <a:pt x="304507" y="82426"/>
                </a:lnTo>
                <a:lnTo>
                  <a:pt x="278007" y="47700"/>
                </a:lnTo>
                <a:lnTo>
                  <a:pt x="243284" y="21200"/>
                </a:lnTo>
                <a:lnTo>
                  <a:pt x="204169" y="5300"/>
                </a:lnTo>
                <a:lnTo>
                  <a:pt x="162857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00126" y="2179146"/>
            <a:ext cx="175024" cy="594389"/>
            <a:chOff x="2198888" y="4163239"/>
            <a:chExt cx="384810" cy="1306830"/>
          </a:xfrm>
        </p:grpSpPr>
        <p:sp>
          <p:nvSpPr>
            <p:cNvPr id="51" name="object 51"/>
            <p:cNvSpPr/>
            <p:nvPr/>
          </p:nvSpPr>
          <p:spPr>
            <a:xfrm>
              <a:off x="2257402" y="4163239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7" y="0"/>
                  </a:moveTo>
                  <a:lnTo>
                    <a:pt x="121545" y="5300"/>
                  </a:lnTo>
                  <a:lnTo>
                    <a:pt x="82427" y="21200"/>
                  </a:lnTo>
                  <a:lnTo>
                    <a:pt x="47700" y="47700"/>
                  </a:lnTo>
                  <a:lnTo>
                    <a:pt x="21200" y="82427"/>
                  </a:lnTo>
                  <a:lnTo>
                    <a:pt x="5300" y="121545"/>
                  </a:lnTo>
                  <a:lnTo>
                    <a:pt x="0" y="162858"/>
                  </a:lnTo>
                  <a:lnTo>
                    <a:pt x="5300" y="204172"/>
                  </a:lnTo>
                  <a:lnTo>
                    <a:pt x="21200" y="243290"/>
                  </a:lnTo>
                  <a:lnTo>
                    <a:pt x="47700" y="278017"/>
                  </a:lnTo>
                  <a:lnTo>
                    <a:pt x="82427" y="304513"/>
                  </a:lnTo>
                  <a:lnTo>
                    <a:pt x="121545" y="320410"/>
                  </a:lnTo>
                  <a:lnTo>
                    <a:pt x="162857" y="325709"/>
                  </a:lnTo>
                  <a:lnTo>
                    <a:pt x="204169" y="320410"/>
                  </a:lnTo>
                  <a:lnTo>
                    <a:pt x="243284" y="304513"/>
                  </a:lnTo>
                  <a:lnTo>
                    <a:pt x="278007" y="278017"/>
                  </a:lnTo>
                  <a:lnTo>
                    <a:pt x="304507" y="243290"/>
                  </a:lnTo>
                  <a:lnTo>
                    <a:pt x="320407" y="204172"/>
                  </a:lnTo>
                  <a:lnTo>
                    <a:pt x="325707" y="162858"/>
                  </a:lnTo>
                  <a:lnTo>
                    <a:pt x="320407" y="121545"/>
                  </a:lnTo>
                  <a:lnTo>
                    <a:pt x="304507" y="82427"/>
                  </a:lnTo>
                  <a:lnTo>
                    <a:pt x="278007" y="47700"/>
                  </a:lnTo>
                  <a:lnTo>
                    <a:pt x="243284" y="21200"/>
                  </a:lnTo>
                  <a:lnTo>
                    <a:pt x="204169" y="5300"/>
                  </a:lnTo>
                  <a:lnTo>
                    <a:pt x="162857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198888" y="5144068"/>
              <a:ext cx="325755" cy="325755"/>
            </a:xfrm>
            <a:custGeom>
              <a:avLst/>
              <a:gdLst/>
              <a:ahLst/>
              <a:cxnLst/>
              <a:rect l="l" t="t" r="r" b="b"/>
              <a:pathLst>
                <a:path w="325755" h="325754">
                  <a:moveTo>
                    <a:pt x="162851" y="0"/>
                  </a:moveTo>
                  <a:lnTo>
                    <a:pt x="121537" y="5300"/>
                  </a:lnTo>
                  <a:lnTo>
                    <a:pt x="82419" y="21200"/>
                  </a:lnTo>
                  <a:lnTo>
                    <a:pt x="47692" y="47700"/>
                  </a:lnTo>
                  <a:lnTo>
                    <a:pt x="21196" y="82426"/>
                  </a:lnTo>
                  <a:lnTo>
                    <a:pt x="5299" y="121542"/>
                  </a:lnTo>
                  <a:lnTo>
                    <a:pt x="0" y="162853"/>
                  </a:lnTo>
                  <a:lnTo>
                    <a:pt x="5299" y="204164"/>
                  </a:lnTo>
                  <a:lnTo>
                    <a:pt x="21196" y="243280"/>
                  </a:lnTo>
                  <a:lnTo>
                    <a:pt x="47692" y="278007"/>
                  </a:lnTo>
                  <a:lnTo>
                    <a:pt x="82419" y="304507"/>
                  </a:lnTo>
                  <a:lnTo>
                    <a:pt x="121537" y="320407"/>
                  </a:lnTo>
                  <a:lnTo>
                    <a:pt x="162851" y="325707"/>
                  </a:lnTo>
                  <a:lnTo>
                    <a:pt x="204164" y="320407"/>
                  </a:lnTo>
                  <a:lnTo>
                    <a:pt x="243282" y="304507"/>
                  </a:lnTo>
                  <a:lnTo>
                    <a:pt x="278009" y="278007"/>
                  </a:lnTo>
                  <a:lnTo>
                    <a:pt x="304509" y="243280"/>
                  </a:lnTo>
                  <a:lnTo>
                    <a:pt x="320409" y="204164"/>
                  </a:lnTo>
                  <a:lnTo>
                    <a:pt x="325709" y="162853"/>
                  </a:lnTo>
                  <a:lnTo>
                    <a:pt x="320409" y="121542"/>
                  </a:lnTo>
                  <a:lnTo>
                    <a:pt x="304509" y="82426"/>
                  </a:lnTo>
                  <a:lnTo>
                    <a:pt x="278009" y="47700"/>
                  </a:lnTo>
                  <a:lnTo>
                    <a:pt x="243282" y="21200"/>
                  </a:lnTo>
                  <a:lnTo>
                    <a:pt x="204164" y="5300"/>
                  </a:lnTo>
                  <a:lnTo>
                    <a:pt x="16285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051619" y="4578835"/>
            <a:ext cx="2651644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  <a:tabLst>
                <a:tab pos="298450" algn="l"/>
                <a:tab pos="738505" algn="l"/>
                <a:tab pos="1104900" algn="l"/>
                <a:tab pos="1691640" algn="l"/>
                <a:tab pos="2204720" algn="l"/>
              </a:tabLst>
            </a:pPr>
            <a:r>
              <a:rPr sz="1045" b="1" spc="96" dirty="0">
                <a:solidFill>
                  <a:srgbClr val="FF9300"/>
                </a:solidFill>
                <a:latin typeface="Trebuchet MS" panose="020B0603020202020204"/>
                <a:cs typeface="Trebuchet MS" panose="020B0603020202020204"/>
              </a:rPr>
              <a:t>F’s	</a:t>
            </a:r>
            <a:r>
              <a:rPr sz="1045" i="1" spc="239" dirty="0">
                <a:solidFill>
                  <a:srgbClr val="FF9300"/>
                </a:solidFill>
                <a:latin typeface="Arial" panose="020B0604020202020204"/>
                <a:cs typeface="Arial" panose="020B0604020202020204"/>
              </a:rPr>
              <a:t>first	</a:t>
            </a:r>
            <a:r>
              <a:rPr sz="1045" b="1" spc="50" dirty="0">
                <a:solidFill>
                  <a:srgbClr val="FF9300"/>
                </a:solidFill>
                <a:latin typeface="Trebuchet MS" panose="020B0603020202020204"/>
                <a:cs typeface="Trebuchet MS" panose="020B0603020202020204"/>
              </a:rPr>
              <a:t>adv:	</a:t>
            </a:r>
            <a:r>
              <a:rPr sz="1045" b="1" spc="114" dirty="0">
                <a:solidFill>
                  <a:srgbClr val="FF9300"/>
                </a:solidFill>
                <a:latin typeface="Trebuchet MS" panose="020B0603020202020204"/>
                <a:cs typeface="Trebuchet MS" panose="020B0603020202020204"/>
              </a:rPr>
              <a:t>[(A,1),	</a:t>
            </a:r>
            <a:r>
              <a:rPr sz="1045" b="1" spc="107" dirty="0">
                <a:solidFill>
                  <a:srgbClr val="FF9300"/>
                </a:solidFill>
                <a:latin typeface="Trebuchet MS" panose="020B0603020202020204"/>
                <a:cs typeface="Trebuchet MS" panose="020B0603020202020204"/>
              </a:rPr>
              <a:t>(D,4),	</a:t>
            </a:r>
            <a:r>
              <a:rPr sz="1045" b="1" spc="114" dirty="0">
                <a:solidFill>
                  <a:srgbClr val="FF9300"/>
                </a:solidFill>
                <a:latin typeface="Trebuchet MS" panose="020B0603020202020204"/>
                <a:cs typeface="Trebuchet MS" panose="020B0603020202020204"/>
              </a:rPr>
              <a:t>(E,5)]</a:t>
            </a:r>
            <a:endParaRPr sz="104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0" name="object 68"/>
          <p:cNvSpPr txBox="1"/>
          <p:nvPr/>
        </p:nvSpPr>
        <p:spPr>
          <a:xfrm>
            <a:off x="217707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9"/>
          <p:cNvSpPr txBox="1"/>
          <p:nvPr/>
        </p:nvSpPr>
        <p:spPr>
          <a:xfrm>
            <a:off x="453393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70"/>
          <p:cNvSpPr txBox="1"/>
          <p:nvPr/>
        </p:nvSpPr>
        <p:spPr>
          <a:xfrm>
            <a:off x="689079" y="5452740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71"/>
          <p:cNvSpPr txBox="1"/>
          <p:nvPr/>
        </p:nvSpPr>
        <p:spPr>
          <a:xfrm>
            <a:off x="1081926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72"/>
          <p:cNvSpPr txBox="1"/>
          <p:nvPr/>
        </p:nvSpPr>
        <p:spPr>
          <a:xfrm>
            <a:off x="1317612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6"/>
          <p:cNvSpPr txBox="1"/>
          <p:nvPr/>
        </p:nvSpPr>
        <p:spPr>
          <a:xfrm>
            <a:off x="217706" y="4703565"/>
            <a:ext cx="1347055" cy="887199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</a:t>
            </a:r>
            <a:endParaRPr lang="en-US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US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5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07037" y="4133099"/>
            <a:ext cx="2623051" cy="734926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15" marR="2540" algn="ctr" defTabSz="415925">
              <a:lnSpc>
                <a:spcPct val="100000"/>
              </a:lnSpc>
              <a:spcBef>
                <a:spcPts val="55"/>
              </a:spcBef>
            </a:pP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this </a:t>
            </a:r>
            <a:r>
              <a:rPr sz="1180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1180" spc="-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 table </a:t>
            </a:r>
            <a:r>
              <a:rPr sz="1180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after one</a:t>
            </a:r>
            <a:r>
              <a:rPr sz="118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round 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advertisements;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note </a:t>
            </a:r>
            <a:r>
              <a:rPr sz="1180" spc="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that </a:t>
            </a:r>
            <a:r>
              <a:rPr sz="1180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it </a:t>
            </a:r>
            <a:r>
              <a:rPr sz="1180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does  </a:t>
            </a:r>
            <a:r>
              <a:rPr sz="1180" spc="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not </a:t>
            </a:r>
            <a:r>
              <a:rPr sz="1180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have </a:t>
            </a:r>
            <a:r>
              <a:rPr sz="1180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knowledge </a:t>
            </a:r>
            <a:r>
              <a:rPr sz="1180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180" spc="3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min-cost 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route </a:t>
            </a:r>
            <a:r>
              <a:rPr sz="1180" spc="3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180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80" spc="-4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yet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6" name="object 68"/>
          <p:cNvSpPr txBox="1"/>
          <p:nvPr/>
        </p:nvSpPr>
        <p:spPr>
          <a:xfrm>
            <a:off x="217707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69"/>
          <p:cNvSpPr txBox="1"/>
          <p:nvPr/>
        </p:nvSpPr>
        <p:spPr>
          <a:xfrm>
            <a:off x="453393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70"/>
          <p:cNvSpPr txBox="1"/>
          <p:nvPr/>
        </p:nvSpPr>
        <p:spPr>
          <a:xfrm>
            <a:off x="689079" y="5452740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71"/>
          <p:cNvSpPr txBox="1"/>
          <p:nvPr/>
        </p:nvSpPr>
        <p:spPr>
          <a:xfrm>
            <a:off x="1081926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72"/>
          <p:cNvSpPr txBox="1"/>
          <p:nvPr/>
        </p:nvSpPr>
        <p:spPr>
          <a:xfrm>
            <a:off x="1317612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6"/>
          <p:cNvSpPr txBox="1"/>
          <p:nvPr/>
        </p:nvSpPr>
        <p:spPr>
          <a:xfrm>
            <a:off x="217706" y="4703565"/>
            <a:ext cx="1347055" cy="887199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</a:t>
            </a:r>
            <a:endParaRPr lang="en-US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US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5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40863" y="4182400"/>
            <a:ext cx="2578285" cy="31390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lnSpc>
                <a:spcPts val="1245"/>
              </a:lnSpc>
              <a:spcBef>
                <a:spcPts val="50"/>
              </a:spcBef>
              <a:tabLst>
                <a:tab pos="292735" algn="l"/>
                <a:tab pos="805815" algn="l"/>
              </a:tabLst>
            </a:pPr>
            <a:r>
              <a:rPr sz="1045" spc="9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second	</a:t>
            </a:r>
            <a:r>
              <a:rPr sz="1045" spc="8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adv: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lnSpc>
                <a:spcPts val="1245"/>
              </a:lnSpc>
              <a:tabLst>
                <a:tab pos="586105" algn="l"/>
                <a:tab pos="1099185" algn="l"/>
                <a:tab pos="1612900" algn="l"/>
                <a:tab pos="2125980" algn="l"/>
              </a:tabLst>
            </a:pPr>
            <a:r>
              <a:rPr sz="1045" spc="16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[(B,3),	</a:t>
            </a:r>
            <a:r>
              <a:rPr sz="1045" spc="14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(C,7),	(D,2),	</a:t>
            </a:r>
            <a:r>
              <a:rPr sz="1045" spc="15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(E,5),	</a:t>
            </a:r>
            <a:r>
              <a:rPr sz="1045" spc="15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6" name="object 68"/>
          <p:cNvSpPr txBox="1"/>
          <p:nvPr/>
        </p:nvSpPr>
        <p:spPr>
          <a:xfrm>
            <a:off x="217707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69"/>
          <p:cNvSpPr txBox="1"/>
          <p:nvPr/>
        </p:nvSpPr>
        <p:spPr>
          <a:xfrm>
            <a:off x="453393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70"/>
          <p:cNvSpPr txBox="1"/>
          <p:nvPr/>
        </p:nvSpPr>
        <p:spPr>
          <a:xfrm>
            <a:off x="689079" y="5452740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71"/>
          <p:cNvSpPr txBox="1"/>
          <p:nvPr/>
        </p:nvSpPr>
        <p:spPr>
          <a:xfrm>
            <a:off x="1081926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72"/>
          <p:cNvSpPr txBox="1"/>
          <p:nvPr/>
        </p:nvSpPr>
        <p:spPr>
          <a:xfrm>
            <a:off x="1317612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6"/>
          <p:cNvSpPr txBox="1"/>
          <p:nvPr/>
        </p:nvSpPr>
        <p:spPr>
          <a:xfrm>
            <a:off x="217706" y="4703565"/>
            <a:ext cx="1347055" cy="887199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7</a:t>
            </a:r>
            <a:endParaRPr lang="en-US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US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5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4" name="object 4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2" name="object 12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9437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FFD479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35" name="object 35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051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1342" y="4057489"/>
            <a:ext cx="123441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40863" y="4182400"/>
            <a:ext cx="2578285" cy="31390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lnSpc>
                <a:spcPts val="1245"/>
              </a:lnSpc>
              <a:spcBef>
                <a:spcPts val="50"/>
              </a:spcBef>
              <a:tabLst>
                <a:tab pos="292735" algn="l"/>
                <a:tab pos="805815" algn="l"/>
              </a:tabLst>
            </a:pPr>
            <a:r>
              <a:rPr sz="1045" spc="9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	</a:t>
            </a:r>
            <a:r>
              <a:rPr sz="1045" i="1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second	</a:t>
            </a:r>
            <a:r>
              <a:rPr sz="1045" spc="8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adv: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lnSpc>
                <a:spcPts val="1245"/>
              </a:lnSpc>
              <a:tabLst>
                <a:tab pos="586105" algn="l"/>
                <a:tab pos="1099185" algn="l"/>
                <a:tab pos="1612900" algn="l"/>
                <a:tab pos="2125980" algn="l"/>
              </a:tabLst>
            </a:pPr>
            <a:r>
              <a:rPr sz="1045" spc="16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[(B,3),	</a:t>
            </a:r>
            <a:r>
              <a:rPr sz="1045" spc="14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(C,7),	(D,2),	</a:t>
            </a:r>
            <a:r>
              <a:rPr sz="1045" spc="15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(E,5),	</a:t>
            </a:r>
            <a:r>
              <a:rPr sz="1045" spc="15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(F,1)]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06686" y="4738788"/>
            <a:ext cx="2045992" cy="413204"/>
          </a:xfrm>
          <a:prstGeom prst="rect">
            <a:avLst/>
          </a:prstGeom>
        </p:spPr>
        <p:txBody>
          <a:bodyPr vert="horz" wrap="square" lIns="0" tIns="4332" rIns="0" bIns="0" rtlCol="0">
            <a:spAutoFit/>
          </a:bodyPr>
          <a:lstStyle/>
          <a:p>
            <a:pPr marL="5715" marR="2540" algn="ctr" defTabSz="415925">
              <a:lnSpc>
                <a:spcPct val="102000"/>
              </a:lnSpc>
              <a:spcBef>
                <a:spcPts val="35"/>
              </a:spcBef>
            </a:pPr>
            <a:r>
              <a:rPr sz="885" spc="-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will </a:t>
            </a:r>
            <a:r>
              <a:rPr sz="88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learn </a:t>
            </a:r>
            <a:r>
              <a:rPr sz="88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about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885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correct </a:t>
            </a:r>
            <a:r>
              <a:rPr sz="885" spc="25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min-cost</a:t>
            </a:r>
            <a:r>
              <a:rPr sz="885" spc="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885" spc="18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path </a:t>
            </a:r>
            <a:r>
              <a:rPr sz="885" spc="30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885" spc="9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885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885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next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round </a:t>
            </a:r>
            <a:r>
              <a:rPr sz="885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885" spc="9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advertisements; </a:t>
            </a:r>
            <a:r>
              <a:rPr sz="885" spc="1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try that </a:t>
            </a:r>
            <a:r>
              <a:rPr sz="885" spc="2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out </a:t>
            </a:r>
            <a:r>
              <a:rPr sz="885" spc="1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88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yourself!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906010" y="4327089"/>
            <a:ext cx="975341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246380" marR="2540" indent="-241300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65"/>
          <p:cNvSpPr txBox="1"/>
          <p:nvPr/>
        </p:nvSpPr>
        <p:spPr>
          <a:xfrm>
            <a:off x="139154" y="4243741"/>
            <a:ext cx="1425609" cy="475022"/>
          </a:xfrm>
          <a:prstGeom prst="rect">
            <a:avLst/>
          </a:prstGeom>
        </p:spPr>
        <p:txBody>
          <a:bodyPr vert="horz" wrap="square" lIns="0" tIns="76537" rIns="0" bIns="0" rtlCol="0">
            <a:spAutoFit/>
          </a:bodyPr>
          <a:lstStyle/>
          <a:p>
            <a:pPr marL="344805" defTabSz="415925">
              <a:spcBef>
                <a:spcPts val="605"/>
              </a:spcBef>
            </a:pPr>
            <a:r>
              <a:rPr sz="885" spc="-30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A’s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routing</a:t>
            </a:r>
            <a:r>
              <a:rPr sz="885" spc="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85" spc="11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table</a:t>
            </a:r>
            <a:endParaRPr sz="88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defTabSz="415925">
              <a:spcBef>
                <a:spcPts val="695"/>
              </a:spcBef>
              <a:tabLst>
                <a:tab pos="319405" algn="l"/>
                <a:tab pos="476250" algn="l"/>
                <a:tab pos="948055" algn="l"/>
                <a:tab pos="1104900" algn="l"/>
              </a:tabLst>
            </a:pPr>
            <a:r>
              <a:rPr sz="1115" b="1" spc="-30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1115" b="1" spc="1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st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48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route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b="1" spc="57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cos</a:t>
            </a:r>
            <a:r>
              <a:rPr sz="1115" b="1" spc="175" dirty="0">
                <a:solidFill>
                  <a:srgbClr val="5E5E5E"/>
                </a:solidFill>
                <a:latin typeface="Trebuchet MS" panose="020B0603020202020204"/>
                <a:cs typeface="Trebuchet MS" panose="020B0603020202020204"/>
              </a:rPr>
              <a:t>t</a:t>
            </a:r>
            <a:endParaRPr sz="1115" dirty="0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7" name="object 68"/>
          <p:cNvSpPr txBox="1"/>
          <p:nvPr/>
        </p:nvSpPr>
        <p:spPr>
          <a:xfrm>
            <a:off x="217707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64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69"/>
          <p:cNvSpPr txBox="1"/>
          <p:nvPr/>
        </p:nvSpPr>
        <p:spPr>
          <a:xfrm>
            <a:off x="453393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70"/>
          <p:cNvSpPr txBox="1"/>
          <p:nvPr/>
        </p:nvSpPr>
        <p:spPr>
          <a:xfrm>
            <a:off x="689079" y="5452740"/>
            <a:ext cx="24751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18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A-F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71"/>
          <p:cNvSpPr txBox="1"/>
          <p:nvPr/>
        </p:nvSpPr>
        <p:spPr>
          <a:xfrm>
            <a:off x="1081926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72"/>
          <p:cNvSpPr txBox="1"/>
          <p:nvPr/>
        </p:nvSpPr>
        <p:spPr>
          <a:xfrm>
            <a:off x="1317612" y="5452740"/>
            <a:ext cx="90111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defTabSz="415925">
              <a:lnSpc>
                <a:spcPts val="1105"/>
              </a:lnSpc>
            </a:pP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6"/>
          <p:cNvSpPr txBox="1"/>
          <p:nvPr/>
        </p:nvSpPr>
        <p:spPr>
          <a:xfrm>
            <a:off x="217706" y="4703565"/>
            <a:ext cx="1347055" cy="887199"/>
          </a:xfrm>
          <a:prstGeom prst="rect">
            <a:avLst/>
          </a:prstGeom>
        </p:spPr>
        <p:txBody>
          <a:bodyPr vert="horz" wrap="square" lIns="0" tIns="15019" rIns="0" bIns="0" rtlCol="0">
            <a:spAutoFit/>
          </a:bodyPr>
          <a:lstStyle/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sz="1115" spc="-125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B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</a:t>
            </a:r>
            <a:r>
              <a:rPr lang="en-US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lang="zh-CN" altLang="en-US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altLang="zh-CN" sz="1115" spc="-2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7</a:t>
            </a:r>
            <a:endParaRPr lang="en-US" sz="1115" spc="-2" dirty="0">
              <a:solidFill>
                <a:schemeClr val="accent1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2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r>
              <a:rPr lang="en-US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lang="en-GB" altLang="zh-CN" sz="1115" spc="-186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GB" altLang="zh-CN" sz="1115" spc="-23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A-D	</a:t>
            </a:r>
            <a:r>
              <a:rPr lang="en-GB" altLang="zh-CN" sz="1115" spc="327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|	</a:t>
            </a:r>
            <a:r>
              <a:rPr lang="en-US" altLang="zh-CN" sz="1115" spc="-2" dirty="0">
                <a:solidFill>
                  <a:srgbClr val="5E5E5E"/>
                </a:solidFill>
                <a:latin typeface="Arial" panose="020B0604020202020204"/>
                <a:cs typeface="Arial" panose="020B0604020202020204"/>
              </a:rPr>
              <a:t>5</a:t>
            </a: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  <a:p>
            <a:pPr marL="5715" marR="2540" defTabSz="415925">
              <a:lnSpc>
                <a:spcPts val="1315"/>
              </a:lnSpc>
              <a:spcBef>
                <a:spcPts val="120"/>
              </a:spcBef>
              <a:tabLst>
                <a:tab pos="240665" algn="l"/>
                <a:tab pos="476250" algn="l"/>
                <a:tab pos="869315" algn="l"/>
                <a:tab pos="1104900" algn="l"/>
              </a:tabLst>
            </a:pPr>
            <a:endParaRPr lang="en-GB" altLang="zh-CN" sz="1115" spc="-2" dirty="0">
              <a:solidFill>
                <a:srgbClr val="5E5E5E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47" y="535505"/>
            <a:ext cx="4616478" cy="419769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60325" marR="2540" indent="-54610">
              <a:spcBef>
                <a:spcPts val="50"/>
              </a:spcBef>
            </a:pPr>
            <a:r>
              <a:rPr sz="1340" b="0" spc="2" dirty="0"/>
              <a:t>distance-vector routing: </a:t>
            </a:r>
            <a:r>
              <a:rPr sz="1340" b="0" spc="9" dirty="0"/>
              <a:t>disseminate </a:t>
            </a:r>
            <a:r>
              <a:rPr sz="1340" b="0" spc="5" dirty="0"/>
              <a:t>information </a:t>
            </a:r>
            <a:r>
              <a:rPr sz="1340" b="0" spc="18" dirty="0"/>
              <a:t>about </a:t>
            </a:r>
            <a:r>
              <a:rPr sz="1340" b="0" spc="2" dirty="0"/>
              <a:t>the  </a:t>
            </a:r>
            <a:r>
              <a:rPr sz="1340" b="0" spc="9" dirty="0"/>
              <a:t>current </a:t>
            </a:r>
            <a:r>
              <a:rPr sz="1340" b="0" i="1" spc="18" dirty="0"/>
              <a:t>costs </a:t>
            </a:r>
            <a:r>
              <a:rPr sz="1340" b="0" spc="2" dirty="0"/>
              <a:t>to </a:t>
            </a:r>
            <a:r>
              <a:rPr sz="1340" b="0" spc="23" dirty="0"/>
              <a:t>each </a:t>
            </a:r>
            <a:r>
              <a:rPr sz="1340" b="0" spc="18" dirty="0"/>
              <a:t>node, </a:t>
            </a:r>
            <a:r>
              <a:rPr sz="1340" b="0" spc="2" dirty="0"/>
              <a:t>rather than the </a:t>
            </a:r>
            <a:r>
              <a:rPr sz="1340" b="0" spc="16" dirty="0"/>
              <a:t>actual</a:t>
            </a:r>
            <a:r>
              <a:rPr sz="1340" b="0" spc="-45" dirty="0"/>
              <a:t> </a:t>
            </a:r>
            <a:r>
              <a:rPr sz="1340" b="0" spc="20" dirty="0"/>
              <a:t>topology</a:t>
            </a:r>
            <a:endParaRPr sz="134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679982" y="1501508"/>
            <a:ext cx="1427342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306070" marR="2540" indent="-300355" defTabSz="415925">
              <a:lnSpc>
                <a:spcPct val="102000"/>
              </a:lnSpc>
              <a:spcBef>
                <a:spcPts val="3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costs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045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its</a:t>
            </a: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8460" y="2400463"/>
            <a:ext cx="1390373" cy="321571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128270" marR="2540" indent="-122555" defTabSz="415925">
              <a:lnSpc>
                <a:spcPct val="102000"/>
              </a:lnSpc>
              <a:spcBef>
                <a:spcPts val="30"/>
              </a:spcBef>
            </a:pPr>
            <a:r>
              <a:rPr sz="1045" spc="-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effectively,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045" b="1" spc="-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other  node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(via</a:t>
            </a:r>
            <a:r>
              <a:rPr sz="1045" spc="-1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1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flooding)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505" y="900095"/>
            <a:ext cx="2635182" cy="50467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15" defTabSz="415925">
              <a:spcBef>
                <a:spcPts val="60"/>
              </a:spcBef>
              <a:tabLst>
                <a:tab pos="1510665" algn="l"/>
              </a:tabLst>
            </a:pPr>
            <a:r>
              <a:rPr sz="1180" b="1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</a:t>
            </a:r>
            <a:r>
              <a:rPr sz="1180" b="1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state	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distance</a:t>
            </a:r>
            <a:r>
              <a:rPr sz="1180" b="1" spc="-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80" b="1" spc="7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vector</a:t>
            </a:r>
            <a:endParaRPr sz="118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defTabSz="415925">
              <a:spcBef>
                <a:spcPts val="10"/>
              </a:spcBef>
            </a:pPr>
            <a:endParaRPr sz="93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R="189230" algn="ctr" defTabSz="415925"/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what’s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898" y="2089062"/>
            <a:ext cx="2253363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who gets a </a:t>
            </a:r>
            <a:r>
              <a:rPr sz="1115" b="1" spc="-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node’s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advertisement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2523" y="2013109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2523" y="1161664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348" y="609830"/>
            <a:ext cx="0" cy="4476979"/>
          </a:xfrm>
          <a:custGeom>
            <a:avLst/>
            <a:gdLst/>
            <a:ahLst/>
            <a:cxnLst/>
            <a:rect l="l" t="t" r="r" b="b"/>
            <a:pathLst>
              <a:path h="9843135">
                <a:moveTo>
                  <a:pt x="0" y="9842632"/>
                </a:moveTo>
                <a:lnTo>
                  <a:pt x="0" y="0"/>
                </a:lnTo>
              </a:path>
            </a:pathLst>
          </a:custGeom>
          <a:ln w="31412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3189" y="3060388"/>
            <a:ext cx="217076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15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12523" y="3003776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06010" y="4057489"/>
            <a:ext cx="1989961" cy="598828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760730" defTabSz="415925">
              <a:spcBef>
                <a:spcPts val="5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115" b="1" spc="-3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scale?</a:t>
            </a:r>
            <a:endParaRPr sz="111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246380" marR="1016635" indent="-241300" defTabSz="415925">
              <a:lnSpc>
                <a:spcPct val="102000"/>
              </a:lnSpc>
              <a:spcBef>
                <a:spcPts val="760"/>
              </a:spcBef>
            </a:pP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045" b="1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overhead</a:t>
            </a:r>
            <a:r>
              <a:rPr sz="1045" b="1" spc="-34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of  </a:t>
            </a: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12523" y="3978855"/>
            <a:ext cx="3132239" cy="0"/>
          </a:xfrm>
          <a:custGeom>
            <a:avLst/>
            <a:gdLst/>
            <a:ahLst/>
            <a:cxnLst/>
            <a:rect l="l" t="t" r="r" b="b"/>
            <a:pathLst>
              <a:path w="6886575">
                <a:moveTo>
                  <a:pt x="0" y="0"/>
                </a:moveTo>
                <a:lnTo>
                  <a:pt x="6886073" y="0"/>
                </a:lnTo>
              </a:path>
            </a:pathLst>
          </a:custGeom>
          <a:ln w="2094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7913" y="1483677"/>
            <a:ext cx="1518608" cy="328007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algn="ctr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current costs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to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algn="ctr" defTabSz="415925">
              <a:spcBef>
                <a:spcPts val="20"/>
              </a:spcBef>
            </a:pP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every node </a:t>
            </a:r>
            <a:r>
              <a:rPr sz="1045" b="1" spc="-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it’s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aware</a:t>
            </a:r>
            <a:r>
              <a:rPr sz="1045" b="1" spc="-14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73552" y="2433800"/>
            <a:ext cx="1108197" cy="167066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only its</a:t>
            </a:r>
            <a:r>
              <a:rPr sz="1045" spc="-16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b="1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neighbors</a:t>
            </a:r>
            <a:endParaRPr sz="104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93687" y="1363460"/>
            <a:ext cx="2520810" cy="2217550"/>
            <a:chOff x="2624455" y="2369862"/>
            <a:chExt cx="5542280" cy="4875530"/>
          </a:xfrm>
        </p:grpSpPr>
        <p:sp>
          <p:nvSpPr>
            <p:cNvPr id="18" name="object 18"/>
            <p:cNvSpPr/>
            <p:nvPr/>
          </p:nvSpPr>
          <p:spPr>
            <a:xfrm>
              <a:off x="2738084" y="2380340"/>
              <a:ext cx="1652270" cy="2430145"/>
            </a:xfrm>
            <a:custGeom>
              <a:avLst/>
              <a:gdLst/>
              <a:ahLst/>
              <a:cxnLst/>
              <a:rect l="l" t="t" r="r" b="b"/>
              <a:pathLst>
                <a:path w="1652270" h="2430145">
                  <a:moveTo>
                    <a:pt x="0" y="2430089"/>
                  </a:moveTo>
                  <a:lnTo>
                    <a:pt x="165212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634933" y="4804428"/>
              <a:ext cx="1858645" cy="2430145"/>
            </a:xfrm>
            <a:custGeom>
              <a:avLst/>
              <a:gdLst/>
              <a:ahLst/>
              <a:cxnLst/>
              <a:rect l="l" t="t" r="r" b="b"/>
              <a:pathLst>
                <a:path w="1858645" h="2430145">
                  <a:moveTo>
                    <a:pt x="0" y="0"/>
                  </a:moveTo>
                  <a:lnTo>
                    <a:pt x="1858420" y="243007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439875" y="7222345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439875" y="2390754"/>
              <a:ext cx="3716020" cy="0"/>
            </a:xfrm>
            <a:custGeom>
              <a:avLst/>
              <a:gdLst/>
              <a:ahLst/>
              <a:cxnLst/>
              <a:rect l="l" t="t" r="r" b="b"/>
              <a:pathLst>
                <a:path w="3716020">
                  <a:moveTo>
                    <a:pt x="0" y="0"/>
                  </a:moveTo>
                  <a:lnTo>
                    <a:pt x="371599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650589" y="4816607"/>
              <a:ext cx="5229860" cy="0"/>
            </a:xfrm>
            <a:custGeom>
              <a:avLst/>
              <a:gdLst/>
              <a:ahLst/>
              <a:cxnLst/>
              <a:rect l="l" t="t" r="r" b="b"/>
              <a:pathLst>
                <a:path w="5229859">
                  <a:moveTo>
                    <a:pt x="5229327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8155521" y="487587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448419" y="4816272"/>
              <a:ext cx="3705225" cy="2406650"/>
            </a:xfrm>
            <a:custGeom>
              <a:avLst/>
              <a:gdLst/>
              <a:ahLst/>
              <a:cxnLst/>
              <a:rect l="l" t="t" r="r" b="b"/>
              <a:pathLst>
                <a:path w="3705225" h="2406650">
                  <a:moveTo>
                    <a:pt x="3704640" y="0"/>
                  </a:moveTo>
                  <a:lnTo>
                    <a:pt x="0" y="24064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06336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44517" y="223745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06336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97327" y="1790072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09266" y="114324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09266" y="3547797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94851" y="2957218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02549" y="2365670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5" h="494029">
                <a:moveTo>
                  <a:pt x="300621" y="0"/>
                </a:moveTo>
                <a:lnTo>
                  <a:pt x="253246" y="0"/>
                </a:lnTo>
                <a:lnTo>
                  <a:pt x="206427" y="7163"/>
                </a:lnTo>
                <a:lnTo>
                  <a:pt x="161273" y="21490"/>
                </a:lnTo>
                <a:lnTo>
                  <a:pt x="118894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4" y="450479"/>
                </a:lnTo>
                <a:lnTo>
                  <a:pt x="161273" y="471970"/>
                </a:lnTo>
                <a:lnTo>
                  <a:pt x="206427" y="486297"/>
                </a:lnTo>
                <a:lnTo>
                  <a:pt x="253246" y="493461"/>
                </a:lnTo>
                <a:lnTo>
                  <a:pt x="300621" y="493461"/>
                </a:lnTo>
                <a:lnTo>
                  <a:pt x="347441" y="486297"/>
                </a:lnTo>
                <a:lnTo>
                  <a:pt x="392595" y="471970"/>
                </a:lnTo>
                <a:lnTo>
                  <a:pt x="434974" y="450479"/>
                </a:lnTo>
                <a:lnTo>
                  <a:pt x="473467" y="421824"/>
                </a:lnTo>
                <a:lnTo>
                  <a:pt x="505627" y="387531"/>
                </a:lnTo>
                <a:lnTo>
                  <a:pt x="529748" y="349775"/>
                </a:lnTo>
                <a:lnTo>
                  <a:pt x="545828" y="309546"/>
                </a:lnTo>
                <a:lnTo>
                  <a:pt x="553868" y="267834"/>
                </a:lnTo>
                <a:lnTo>
                  <a:pt x="553868" y="225626"/>
                </a:lnTo>
                <a:lnTo>
                  <a:pt x="545828" y="183914"/>
                </a:lnTo>
                <a:lnTo>
                  <a:pt x="529748" y="143685"/>
                </a:lnTo>
                <a:lnTo>
                  <a:pt x="505627" y="105930"/>
                </a:lnTo>
                <a:lnTo>
                  <a:pt x="473467" y="71636"/>
                </a:lnTo>
                <a:lnTo>
                  <a:pt x="434974" y="42981"/>
                </a:lnTo>
                <a:lnTo>
                  <a:pt x="392595" y="21490"/>
                </a:lnTo>
                <a:lnTo>
                  <a:pt x="347441" y="7163"/>
                </a:lnTo>
                <a:lnTo>
                  <a:pt x="300621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71670" y="2350689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18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83757" y="3458307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6"/>
                </a:lnTo>
                <a:lnTo>
                  <a:pt x="161271" y="471964"/>
                </a:lnTo>
                <a:lnTo>
                  <a:pt x="206424" y="486290"/>
                </a:lnTo>
                <a:lnTo>
                  <a:pt x="253242" y="493453"/>
                </a:lnTo>
                <a:lnTo>
                  <a:pt x="300615" y="493453"/>
                </a:lnTo>
                <a:lnTo>
                  <a:pt x="347433" y="486290"/>
                </a:lnTo>
                <a:lnTo>
                  <a:pt x="392586" y="471964"/>
                </a:lnTo>
                <a:lnTo>
                  <a:pt x="434964" y="450476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52878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4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F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83437" y="127377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52562" y="1245756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86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C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583437" y="3458305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29">
                <a:moveTo>
                  <a:pt x="300623" y="0"/>
                </a:moveTo>
                <a:lnTo>
                  <a:pt x="253250" y="0"/>
                </a:lnTo>
                <a:lnTo>
                  <a:pt x="206432" y="7162"/>
                </a:lnTo>
                <a:lnTo>
                  <a:pt x="161279" y="21488"/>
                </a:lnTo>
                <a:lnTo>
                  <a:pt x="118901" y="42977"/>
                </a:lnTo>
                <a:lnTo>
                  <a:pt x="80408" y="71628"/>
                </a:lnTo>
                <a:lnTo>
                  <a:pt x="48245" y="105925"/>
                </a:lnTo>
                <a:lnTo>
                  <a:pt x="24122" y="143682"/>
                </a:lnTo>
                <a:lnTo>
                  <a:pt x="8040" y="183911"/>
                </a:lnTo>
                <a:lnTo>
                  <a:pt x="0" y="225624"/>
                </a:lnTo>
                <a:lnTo>
                  <a:pt x="0" y="267831"/>
                </a:lnTo>
                <a:lnTo>
                  <a:pt x="8040" y="309544"/>
                </a:lnTo>
                <a:lnTo>
                  <a:pt x="24122" y="349773"/>
                </a:lnTo>
                <a:lnTo>
                  <a:pt x="48245" y="387530"/>
                </a:lnTo>
                <a:lnTo>
                  <a:pt x="80408" y="421827"/>
                </a:lnTo>
                <a:lnTo>
                  <a:pt x="118901" y="450478"/>
                </a:lnTo>
                <a:lnTo>
                  <a:pt x="161279" y="471967"/>
                </a:lnTo>
                <a:lnTo>
                  <a:pt x="206432" y="486293"/>
                </a:lnTo>
                <a:lnTo>
                  <a:pt x="253250" y="493455"/>
                </a:lnTo>
                <a:lnTo>
                  <a:pt x="300623" y="493455"/>
                </a:lnTo>
                <a:lnTo>
                  <a:pt x="347441" y="486293"/>
                </a:lnTo>
                <a:lnTo>
                  <a:pt x="392593" y="471967"/>
                </a:lnTo>
                <a:lnTo>
                  <a:pt x="434971" y="450478"/>
                </a:lnTo>
                <a:lnTo>
                  <a:pt x="473464" y="421827"/>
                </a:lnTo>
                <a:lnTo>
                  <a:pt x="505625" y="387530"/>
                </a:lnTo>
                <a:lnTo>
                  <a:pt x="529745" y="349773"/>
                </a:lnTo>
                <a:lnTo>
                  <a:pt x="545825" y="309544"/>
                </a:lnTo>
                <a:lnTo>
                  <a:pt x="553865" y="267831"/>
                </a:lnTo>
                <a:lnTo>
                  <a:pt x="553865" y="225624"/>
                </a:lnTo>
                <a:lnTo>
                  <a:pt x="545825" y="183911"/>
                </a:lnTo>
                <a:lnTo>
                  <a:pt x="529745" y="143682"/>
                </a:lnTo>
                <a:lnTo>
                  <a:pt x="505625" y="105925"/>
                </a:lnTo>
                <a:lnTo>
                  <a:pt x="473464" y="71628"/>
                </a:lnTo>
                <a:lnTo>
                  <a:pt x="434971" y="42977"/>
                </a:lnTo>
                <a:lnTo>
                  <a:pt x="392593" y="21488"/>
                </a:lnTo>
                <a:lnTo>
                  <a:pt x="347441" y="7162"/>
                </a:lnTo>
                <a:lnTo>
                  <a:pt x="3006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52562" y="3443321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25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E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015912" y="1363509"/>
            <a:ext cx="1819558" cy="1217660"/>
            <a:chOff x="4432207" y="2369971"/>
            <a:chExt cx="4000500" cy="2677160"/>
          </a:xfrm>
        </p:grpSpPr>
        <p:sp>
          <p:nvSpPr>
            <p:cNvPr id="41" name="object 41"/>
            <p:cNvSpPr/>
            <p:nvPr/>
          </p:nvSpPr>
          <p:spPr>
            <a:xfrm>
              <a:off x="8155521" y="2635102"/>
              <a:ext cx="0" cy="2240915"/>
            </a:xfrm>
            <a:custGeom>
              <a:avLst/>
              <a:gdLst/>
              <a:ahLst/>
              <a:cxnLst/>
              <a:rect l="l" t="t" r="r" b="b"/>
              <a:pathLst>
                <a:path h="2240915">
                  <a:moveTo>
                    <a:pt x="0" y="0"/>
                  </a:moveTo>
                  <a:lnTo>
                    <a:pt x="0" y="224053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442685" y="2380449"/>
              <a:ext cx="3710940" cy="2430145"/>
            </a:xfrm>
            <a:custGeom>
              <a:avLst/>
              <a:gdLst/>
              <a:ahLst/>
              <a:cxnLst/>
              <a:rect l="l" t="t" r="r" b="b"/>
              <a:pathLst>
                <a:path w="3710940" h="2430145">
                  <a:moveTo>
                    <a:pt x="3710375" y="2429885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7878581" y="4553298"/>
              <a:ext cx="554355" cy="494030"/>
            </a:xfrm>
            <a:custGeom>
              <a:avLst/>
              <a:gdLst/>
              <a:ahLst/>
              <a:cxnLst/>
              <a:rect l="l" t="t" r="r" b="b"/>
              <a:pathLst>
                <a:path w="554354" h="494029">
                  <a:moveTo>
                    <a:pt x="300624" y="0"/>
                  </a:moveTo>
                  <a:lnTo>
                    <a:pt x="253251" y="0"/>
                  </a:lnTo>
                  <a:lnTo>
                    <a:pt x="206431" y="7162"/>
                  </a:lnTo>
                  <a:lnTo>
                    <a:pt x="161277" y="21488"/>
                  </a:lnTo>
                  <a:lnTo>
                    <a:pt x="118896" y="42977"/>
                  </a:lnTo>
                  <a:lnTo>
                    <a:pt x="80400" y="71628"/>
                  </a:lnTo>
                  <a:lnTo>
                    <a:pt x="48240" y="105925"/>
                  </a:lnTo>
                  <a:lnTo>
                    <a:pt x="24120" y="143682"/>
                  </a:lnTo>
                  <a:lnTo>
                    <a:pt x="8040" y="183911"/>
                  </a:lnTo>
                  <a:lnTo>
                    <a:pt x="0" y="225624"/>
                  </a:lnTo>
                  <a:lnTo>
                    <a:pt x="0" y="267831"/>
                  </a:lnTo>
                  <a:lnTo>
                    <a:pt x="8040" y="309544"/>
                  </a:lnTo>
                  <a:lnTo>
                    <a:pt x="24120" y="349773"/>
                  </a:lnTo>
                  <a:lnTo>
                    <a:pt x="48240" y="387530"/>
                  </a:lnTo>
                  <a:lnTo>
                    <a:pt x="80400" y="421827"/>
                  </a:lnTo>
                  <a:lnTo>
                    <a:pt x="118896" y="450478"/>
                  </a:lnTo>
                  <a:lnTo>
                    <a:pt x="161277" y="471967"/>
                  </a:lnTo>
                  <a:lnTo>
                    <a:pt x="206431" y="486293"/>
                  </a:lnTo>
                  <a:lnTo>
                    <a:pt x="253251" y="493455"/>
                  </a:lnTo>
                  <a:lnTo>
                    <a:pt x="300624" y="493455"/>
                  </a:lnTo>
                  <a:lnTo>
                    <a:pt x="347443" y="486293"/>
                  </a:lnTo>
                  <a:lnTo>
                    <a:pt x="392596" y="471967"/>
                  </a:lnTo>
                  <a:lnTo>
                    <a:pt x="434974" y="450478"/>
                  </a:lnTo>
                  <a:lnTo>
                    <a:pt x="473467" y="421827"/>
                  </a:lnTo>
                  <a:lnTo>
                    <a:pt x="505627" y="387530"/>
                  </a:lnTo>
                  <a:lnTo>
                    <a:pt x="529748" y="349773"/>
                  </a:lnTo>
                  <a:lnTo>
                    <a:pt x="545828" y="309544"/>
                  </a:lnTo>
                  <a:lnTo>
                    <a:pt x="553868" y="267831"/>
                  </a:lnTo>
                  <a:lnTo>
                    <a:pt x="553868" y="225624"/>
                  </a:lnTo>
                  <a:lnTo>
                    <a:pt x="545828" y="183911"/>
                  </a:lnTo>
                  <a:lnTo>
                    <a:pt x="529748" y="143682"/>
                  </a:lnTo>
                  <a:lnTo>
                    <a:pt x="505627" y="105925"/>
                  </a:lnTo>
                  <a:lnTo>
                    <a:pt x="473467" y="71628"/>
                  </a:lnTo>
                  <a:lnTo>
                    <a:pt x="434974" y="42977"/>
                  </a:lnTo>
                  <a:lnTo>
                    <a:pt x="392596" y="21488"/>
                  </a:lnTo>
                  <a:lnTo>
                    <a:pt x="347443" y="7162"/>
                  </a:lnTo>
                  <a:lnTo>
                    <a:pt x="3006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pPr defTabSz="415925"/>
              <a:endParaRPr sz="82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652562" y="2341574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132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D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883757" y="1266209"/>
            <a:ext cx="252139" cy="224701"/>
          </a:xfrm>
          <a:custGeom>
            <a:avLst/>
            <a:gdLst/>
            <a:ahLst/>
            <a:cxnLst/>
            <a:rect l="l" t="t" r="r" b="b"/>
            <a:pathLst>
              <a:path w="554354" h="494030">
                <a:moveTo>
                  <a:pt x="300615" y="0"/>
                </a:moveTo>
                <a:lnTo>
                  <a:pt x="253242" y="0"/>
                </a:lnTo>
                <a:lnTo>
                  <a:pt x="206424" y="7163"/>
                </a:lnTo>
                <a:lnTo>
                  <a:pt x="161271" y="21490"/>
                </a:lnTo>
                <a:lnTo>
                  <a:pt x="118893" y="42981"/>
                </a:lnTo>
                <a:lnTo>
                  <a:pt x="80400" y="71636"/>
                </a:lnTo>
                <a:lnTo>
                  <a:pt x="48240" y="105930"/>
                </a:lnTo>
                <a:lnTo>
                  <a:pt x="24120" y="143685"/>
                </a:lnTo>
                <a:lnTo>
                  <a:pt x="8040" y="183914"/>
                </a:lnTo>
                <a:lnTo>
                  <a:pt x="0" y="225626"/>
                </a:lnTo>
                <a:lnTo>
                  <a:pt x="0" y="267834"/>
                </a:lnTo>
                <a:lnTo>
                  <a:pt x="8040" y="309546"/>
                </a:lnTo>
                <a:lnTo>
                  <a:pt x="24120" y="349775"/>
                </a:lnTo>
                <a:lnTo>
                  <a:pt x="48240" y="387531"/>
                </a:lnTo>
                <a:lnTo>
                  <a:pt x="80400" y="421824"/>
                </a:lnTo>
                <a:lnTo>
                  <a:pt x="118893" y="450479"/>
                </a:lnTo>
                <a:lnTo>
                  <a:pt x="161271" y="471970"/>
                </a:lnTo>
                <a:lnTo>
                  <a:pt x="206424" y="486297"/>
                </a:lnTo>
                <a:lnTo>
                  <a:pt x="253242" y="493461"/>
                </a:lnTo>
                <a:lnTo>
                  <a:pt x="300615" y="493461"/>
                </a:lnTo>
                <a:lnTo>
                  <a:pt x="347433" y="486297"/>
                </a:lnTo>
                <a:lnTo>
                  <a:pt x="392586" y="471970"/>
                </a:lnTo>
                <a:lnTo>
                  <a:pt x="434964" y="450479"/>
                </a:lnTo>
                <a:lnTo>
                  <a:pt x="473456" y="421824"/>
                </a:lnTo>
                <a:lnTo>
                  <a:pt x="505617" y="387531"/>
                </a:lnTo>
                <a:lnTo>
                  <a:pt x="529737" y="349775"/>
                </a:lnTo>
                <a:lnTo>
                  <a:pt x="545817" y="309546"/>
                </a:lnTo>
                <a:lnTo>
                  <a:pt x="553857" y="267834"/>
                </a:lnTo>
                <a:lnTo>
                  <a:pt x="553857" y="225626"/>
                </a:lnTo>
                <a:lnTo>
                  <a:pt x="545817" y="183914"/>
                </a:lnTo>
                <a:lnTo>
                  <a:pt x="529737" y="143685"/>
                </a:lnTo>
                <a:lnTo>
                  <a:pt x="505617" y="105930"/>
                </a:lnTo>
                <a:lnTo>
                  <a:pt x="473456" y="71636"/>
                </a:lnTo>
                <a:lnTo>
                  <a:pt x="434964" y="42981"/>
                </a:lnTo>
                <a:lnTo>
                  <a:pt x="392586" y="21490"/>
                </a:lnTo>
                <a:lnTo>
                  <a:pt x="347433" y="7163"/>
                </a:lnTo>
                <a:lnTo>
                  <a:pt x="30061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pPr defTabSz="415925"/>
            <a:endParaRPr sz="82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52878" y="1251223"/>
            <a:ext cx="113795" cy="23061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15" defTabSz="415925">
              <a:spcBef>
                <a:spcPts val="50"/>
              </a:spcBef>
            </a:pPr>
            <a:r>
              <a:rPr sz="1455" b="1" spc="-64" dirty="0">
                <a:solidFill>
                  <a:prstClr val="black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1455">
              <a:solidFill>
                <a:prstClr val="black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25782" y="280880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14190" y="1674624"/>
            <a:ext cx="100798" cy="20172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15" defTabSz="415925">
              <a:spcBef>
                <a:spcPts val="45"/>
              </a:spcBef>
            </a:pPr>
            <a:r>
              <a:rPr sz="1275" spc="-9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75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88267" y="3304181"/>
            <a:ext cx="1079027" cy="485718"/>
          </a:xfrm>
          <a:prstGeom prst="rect">
            <a:avLst/>
          </a:prstGeom>
        </p:spPr>
        <p:txBody>
          <a:bodyPr vert="horz" wrap="square" lIns="0" tIns="3755" rIns="0" bIns="0" rtlCol="0">
            <a:spAutoFit/>
          </a:bodyPr>
          <a:lstStyle/>
          <a:p>
            <a:pPr marL="5715" marR="2540" algn="ctr" defTabSz="415925">
              <a:lnSpc>
                <a:spcPct val="102000"/>
              </a:lnSpc>
              <a:spcBef>
                <a:spcPts val="30"/>
              </a:spcBef>
            </a:pPr>
            <a:r>
              <a:rPr sz="1045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failures </a:t>
            </a:r>
            <a:r>
              <a:rPr sz="1045" spc="20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can </a:t>
            </a:r>
            <a:r>
              <a:rPr sz="1045" spc="30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be  </a:t>
            </a:r>
            <a:r>
              <a:rPr sz="1045" spc="23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complicated  </a:t>
            </a:r>
            <a:r>
              <a:rPr sz="1045" spc="18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because </a:t>
            </a:r>
            <a:r>
              <a:rPr sz="10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45" spc="-45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9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timing</a:t>
            </a:r>
            <a:endParaRPr sz="104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18"/>
          <p:cNvSpPr txBox="1"/>
          <p:nvPr/>
        </p:nvSpPr>
        <p:spPr>
          <a:xfrm>
            <a:off x="7079121" y="4356903"/>
            <a:ext cx="2040889" cy="1670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15" marR="2540" algn="ctr" defTabSz="415925">
              <a:lnSpc>
                <a:spcPct val="102000"/>
              </a:lnSpc>
              <a:spcBef>
                <a:spcPts val="30"/>
              </a:spcBef>
            </a:pPr>
            <a:r>
              <a:rPr sz="1045" spc="-2" dirty="0">
                <a:solidFill>
                  <a:srgbClr val="0096FF"/>
                </a:solidFill>
                <a:latin typeface="Arial" panose="020B0604020202020204"/>
                <a:cs typeface="Arial" panose="020B0604020202020204"/>
              </a:rPr>
              <a:t>failure handling</a:t>
            </a:r>
            <a:endParaRPr sz="1045" spc="-2" dirty="0">
              <a:solidFill>
                <a:srgbClr val="0096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43"/>
          <p:cNvSpPr txBox="1"/>
          <p:nvPr/>
        </p:nvSpPr>
        <p:spPr>
          <a:xfrm>
            <a:off x="5791377" y="2982878"/>
            <a:ext cx="2572508" cy="815779"/>
          </a:xfrm>
          <a:prstGeom prst="rect">
            <a:avLst/>
          </a:prstGeom>
        </p:spPr>
        <p:txBody>
          <a:bodyPr vert="horz" wrap="square" lIns="0" tIns="84624" rIns="0" bIns="0" rtlCol="0">
            <a:spAutoFit/>
          </a:bodyPr>
          <a:lstStyle/>
          <a:p>
            <a:pPr marL="401955" algn="ctr" defTabSz="415925">
              <a:spcBef>
                <a:spcPts val="665"/>
              </a:spcBef>
            </a:pPr>
            <a:r>
              <a:rPr sz="1115" b="1" spc="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what happens when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things</a:t>
            </a:r>
            <a:r>
              <a:rPr sz="1115" b="1" spc="-25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15" b="1" spc="2" dirty="0">
                <a:solidFill>
                  <a:prstClr val="black"/>
                </a:solidFill>
                <a:latin typeface="Arial" panose="020B0604020202020204"/>
                <a:cs typeface="Arial" panose="020B0604020202020204"/>
              </a:rPr>
              <a:t>fail?</a:t>
            </a:r>
            <a:endParaRPr sz="111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  <a:p>
            <a:pPr marL="5715" marR="1370330" algn="ctr" defTabSz="415925">
              <a:lnSpc>
                <a:spcPct val="102000"/>
              </a:lnSpc>
              <a:spcBef>
                <a:spcPts val="555"/>
              </a:spcBef>
            </a:pPr>
            <a:r>
              <a:rPr sz="1045" spc="16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flooding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makes</a:t>
            </a:r>
            <a:r>
              <a:rPr sz="1045" spc="-43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link-  state </a:t>
            </a:r>
            <a:r>
              <a:rPr sz="1045" spc="7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routing </a:t>
            </a:r>
            <a:r>
              <a:rPr sz="1045" spc="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very 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resilient </a:t>
            </a:r>
            <a:r>
              <a:rPr sz="1045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45" spc="-9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45" spc="-2" dirty="0">
                <a:solidFill>
                  <a:srgbClr val="FF7E79"/>
                </a:solidFill>
                <a:latin typeface="Arial" panose="020B0604020202020204"/>
                <a:cs typeface="Arial" panose="020B0604020202020204"/>
              </a:rPr>
              <a:t>failure</a:t>
            </a:r>
            <a:endParaRPr sz="1045" dirty="0">
              <a:solidFill>
                <a:prstClr val="black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Problem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GB" altLang="zh-CN" dirty="0"/>
              <a:t>INFINITY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GB" altLang="zh-CN" dirty="0"/>
              <a:t>When a node A has no route to destination B, it will advertise</a:t>
            </a:r>
            <a:r>
              <a:rPr kumimoji="1" lang="zh-CN" altLang="en-US" dirty="0"/>
              <a:t> </a:t>
            </a:r>
            <a:r>
              <a:rPr kumimoji="1" lang="en-GB" altLang="zh-CN" dirty="0"/>
              <a:t>a cost of INFINITY to B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 cost of INFINITY B is interpreted as there being no route to B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So INFINITY must be larger than the longest path in the network</a:t>
            </a:r>
            <a:endParaRPr kumimoji="1" lang="en-GB" altLang="zh-CN" dirty="0"/>
          </a:p>
          <a:p>
            <a:r>
              <a:rPr kumimoji="1" lang="en-GB" altLang="zh-CN" dirty="0"/>
              <a:t>But because the order in which advertisements are sent</a:t>
            </a:r>
            <a:r>
              <a:rPr kumimoji="1" lang="zh-CN" altLang="en-US" dirty="0"/>
              <a:t> </a:t>
            </a:r>
            <a:r>
              <a:rPr kumimoji="1" lang="en-GB" altLang="zh-CN" dirty="0"/>
              <a:t>matters,</a:t>
            </a:r>
            <a:r>
              <a:rPr kumimoji="1" lang="zh-CN" altLang="en-US" dirty="0"/>
              <a:t> </a:t>
            </a:r>
            <a:r>
              <a:rPr kumimoji="1" lang="en-GB" altLang="zh-CN" dirty="0"/>
              <a:t>sometimes nodes can incorrectly think there's a route when there isn't one</a:t>
            </a:r>
            <a:endParaRPr kumimoji="1" lang="en-GB" altLang="zh-CN" dirty="0"/>
          </a:p>
          <a:p>
            <a:r>
              <a:rPr kumimoji="1" lang="en-GB" altLang="zh-CN" dirty="0"/>
              <a:t>This can last for up to INFINITY steps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t="-1" b="71021"/>
          <a:stretch>
            <a:fillRect/>
          </a:stretch>
        </p:blipFill>
        <p:spPr>
          <a:xfrm>
            <a:off x="561778" y="-22820"/>
            <a:ext cx="8020443" cy="16561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372586"/>
            <a:ext cx="1512168" cy="125145"/>
          </a:xfrm>
          <a:prstGeom prst="rect">
            <a:avLst/>
          </a:prstGeom>
        </p:spPr>
      </p:pic>
      <p:sp>
        <p:nvSpPr>
          <p:cNvPr id="11" name="object 25"/>
          <p:cNvSpPr txBox="1"/>
          <p:nvPr/>
        </p:nvSpPr>
        <p:spPr>
          <a:xfrm>
            <a:off x="683568" y="1777379"/>
            <a:ext cx="1407795" cy="8738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325"/>
              </a:lnSpc>
              <a:spcBef>
                <a:spcPts val="125"/>
              </a:spcBef>
              <a:tabLst>
                <a:tab pos="426720" algn="l"/>
                <a:tab pos="1256030" algn="l"/>
              </a:tabLst>
            </a:pPr>
            <a:r>
              <a:rPr sz="1400" spc="165" dirty="0">
                <a:solidFill>
                  <a:prstClr val="black"/>
                </a:solidFill>
                <a:cs typeface="Arial" panose="020B0604020202020204"/>
              </a:rPr>
              <a:t>A:	</a:t>
            </a:r>
            <a:r>
              <a:rPr lang="en-GB" sz="1400" spc="305" dirty="0">
                <a:solidFill>
                  <a:prstClr val="black"/>
                </a:solidFill>
                <a:cs typeface="Arial" panose="020B0604020202020204"/>
              </a:rPr>
              <a:t>S</a:t>
            </a:r>
            <a:r>
              <a:rPr sz="1400" spc="305" dirty="0">
                <a:solidFill>
                  <a:prstClr val="black"/>
                </a:solidFill>
                <a:cs typeface="Arial" panose="020B0604020202020204"/>
              </a:rPr>
              <a:t>elf,</a:t>
            </a:r>
            <a:r>
              <a:rPr lang="zh-CN" altLang="en-US" sz="1400" spc="305" dirty="0">
                <a:solidFill>
                  <a:prstClr val="black"/>
                </a:solidFill>
                <a:cs typeface="Arial" panose="020B0604020202020204"/>
              </a:rPr>
              <a:t> </a:t>
            </a:r>
            <a:r>
              <a:rPr sz="1400" dirty="0">
                <a:solidFill>
                  <a:prstClr val="black"/>
                </a:solidFill>
                <a:cs typeface="Arial" panose="020B0604020202020204"/>
              </a:rPr>
              <a:t>0</a:t>
            </a:r>
            <a:endParaRPr sz="1400" dirty="0">
              <a:solidFill>
                <a:prstClr val="black"/>
              </a:solidFill>
              <a:cs typeface="Arial" panose="020B0604020202020204"/>
            </a:endParaRPr>
          </a:p>
          <a:p>
            <a:pPr marL="12700">
              <a:lnSpc>
                <a:spcPts val="2310"/>
              </a:lnSpc>
              <a:tabLst>
                <a:tab pos="426720" algn="l"/>
                <a:tab pos="1256030" algn="l"/>
              </a:tabLst>
            </a:pPr>
            <a:r>
              <a:rPr sz="1400" spc="165" dirty="0">
                <a:solidFill>
                  <a:prstClr val="black"/>
                </a:solidFill>
                <a:cs typeface="Arial" panose="020B0604020202020204"/>
              </a:rPr>
              <a:t>B:	</a:t>
            </a:r>
            <a:r>
              <a:rPr sz="1400" spc="100" dirty="0">
                <a:solidFill>
                  <a:prstClr val="black"/>
                </a:solidFill>
                <a:cs typeface="Arial" panose="020B0604020202020204"/>
              </a:rPr>
              <a:t>A-&gt;B,</a:t>
            </a:r>
            <a:r>
              <a:rPr lang="zh-CN" altLang="en-US" sz="1400" spc="100" dirty="0">
                <a:solidFill>
                  <a:prstClr val="black"/>
                </a:solidFill>
                <a:cs typeface="Arial" panose="020B0604020202020204"/>
              </a:rPr>
              <a:t> </a:t>
            </a:r>
            <a:r>
              <a:rPr sz="1400" dirty="0">
                <a:solidFill>
                  <a:prstClr val="black"/>
                </a:solidFill>
                <a:cs typeface="Arial" panose="020B0604020202020204"/>
              </a:rPr>
              <a:t>1</a:t>
            </a:r>
            <a:endParaRPr sz="1400" dirty="0">
              <a:solidFill>
                <a:prstClr val="black"/>
              </a:solidFill>
              <a:cs typeface="Arial" panose="020B0604020202020204"/>
            </a:endParaRPr>
          </a:p>
          <a:p>
            <a:pPr marL="12700">
              <a:lnSpc>
                <a:spcPts val="2325"/>
              </a:lnSpc>
              <a:tabLst>
                <a:tab pos="426720" algn="l"/>
                <a:tab pos="1256030" algn="l"/>
              </a:tabLst>
            </a:pPr>
            <a:r>
              <a:rPr sz="1400" spc="110" dirty="0">
                <a:solidFill>
                  <a:prstClr val="black"/>
                </a:solidFill>
                <a:cs typeface="Arial" panose="020B0604020202020204"/>
              </a:rPr>
              <a:t>C:	</a:t>
            </a:r>
            <a:r>
              <a:rPr sz="1400" spc="100" dirty="0">
                <a:solidFill>
                  <a:prstClr val="black"/>
                </a:solidFill>
                <a:cs typeface="Arial" panose="020B0604020202020204"/>
              </a:rPr>
              <a:t>A-&gt;B,</a:t>
            </a:r>
            <a:r>
              <a:rPr lang="zh-CN" altLang="en-US" sz="1400" spc="100" dirty="0">
                <a:solidFill>
                  <a:prstClr val="black"/>
                </a:solidFill>
                <a:cs typeface="Arial" panose="020B0604020202020204"/>
              </a:rPr>
              <a:t> </a:t>
            </a:r>
            <a:r>
              <a:rPr sz="1400" dirty="0">
                <a:solidFill>
                  <a:prstClr val="black"/>
                </a:solidFill>
                <a:cs typeface="Arial" panose="020B0604020202020204"/>
              </a:rPr>
              <a:t>2</a:t>
            </a:r>
            <a:endParaRPr sz="1400" dirty="0">
              <a:solidFill>
                <a:prstClr val="black"/>
              </a:solidFill>
              <a:cs typeface="Arial" panose="020B0604020202020204"/>
            </a:endParaRPr>
          </a:p>
        </p:txBody>
      </p:sp>
      <p:sp>
        <p:nvSpPr>
          <p:cNvPr id="12" name="object 26"/>
          <p:cNvSpPr txBox="1"/>
          <p:nvPr/>
        </p:nvSpPr>
        <p:spPr>
          <a:xfrm>
            <a:off x="2426174" y="1777380"/>
            <a:ext cx="1407795" cy="8738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325"/>
              </a:lnSpc>
              <a:spcBef>
                <a:spcPts val="125"/>
              </a:spcBef>
              <a:tabLst>
                <a:tab pos="426720" algn="l"/>
                <a:tab pos="1256030" algn="l"/>
              </a:tabLst>
            </a:pPr>
            <a:r>
              <a:rPr sz="1400" spc="165" dirty="0">
                <a:solidFill>
                  <a:prstClr val="black"/>
                </a:solidFill>
                <a:cs typeface="Arial" panose="020B0604020202020204"/>
              </a:rPr>
              <a:t>A:	</a:t>
            </a:r>
            <a:r>
              <a:rPr sz="1400" spc="100" dirty="0">
                <a:solidFill>
                  <a:prstClr val="black"/>
                </a:solidFill>
                <a:cs typeface="Arial" panose="020B0604020202020204"/>
              </a:rPr>
              <a:t>B-&gt;A,</a:t>
            </a:r>
            <a:r>
              <a:rPr lang="zh-CN" altLang="en-US" sz="1400" spc="100" dirty="0">
                <a:solidFill>
                  <a:prstClr val="black"/>
                </a:solidFill>
                <a:cs typeface="Arial" panose="020B0604020202020204"/>
              </a:rPr>
              <a:t> </a:t>
            </a:r>
            <a:r>
              <a:rPr sz="1400" dirty="0">
                <a:solidFill>
                  <a:prstClr val="black"/>
                </a:solidFill>
                <a:cs typeface="Arial" panose="020B0604020202020204"/>
              </a:rPr>
              <a:t>1</a:t>
            </a:r>
            <a:endParaRPr sz="1400" dirty="0">
              <a:solidFill>
                <a:prstClr val="black"/>
              </a:solidFill>
              <a:cs typeface="Arial" panose="020B0604020202020204"/>
            </a:endParaRPr>
          </a:p>
          <a:p>
            <a:pPr marL="12700">
              <a:lnSpc>
                <a:spcPts val="2310"/>
              </a:lnSpc>
              <a:tabLst>
                <a:tab pos="426720" algn="l"/>
                <a:tab pos="1256030" algn="l"/>
              </a:tabLst>
            </a:pPr>
            <a:r>
              <a:rPr sz="1400" spc="165" dirty="0">
                <a:solidFill>
                  <a:prstClr val="black"/>
                </a:solidFill>
                <a:cs typeface="Arial" panose="020B0604020202020204"/>
              </a:rPr>
              <a:t>B:	</a:t>
            </a:r>
            <a:r>
              <a:rPr sz="1400" spc="305" dirty="0">
                <a:solidFill>
                  <a:prstClr val="black"/>
                </a:solidFill>
                <a:cs typeface="Arial" panose="020B0604020202020204"/>
              </a:rPr>
              <a:t>Self,</a:t>
            </a:r>
            <a:r>
              <a:rPr lang="zh-CN" altLang="en-US" sz="1400" spc="305" dirty="0">
                <a:solidFill>
                  <a:prstClr val="black"/>
                </a:solidFill>
                <a:cs typeface="Arial" panose="020B0604020202020204"/>
              </a:rPr>
              <a:t> </a:t>
            </a:r>
            <a:r>
              <a:rPr sz="1400" dirty="0">
                <a:solidFill>
                  <a:prstClr val="black"/>
                </a:solidFill>
                <a:cs typeface="Arial" panose="020B0604020202020204"/>
              </a:rPr>
              <a:t>0</a:t>
            </a:r>
            <a:endParaRPr sz="1400" dirty="0">
              <a:solidFill>
                <a:prstClr val="black"/>
              </a:solidFill>
              <a:cs typeface="Arial" panose="020B0604020202020204"/>
            </a:endParaRPr>
          </a:p>
          <a:p>
            <a:pPr marL="12700">
              <a:lnSpc>
                <a:spcPts val="2325"/>
              </a:lnSpc>
              <a:tabLst>
                <a:tab pos="426720" algn="l"/>
                <a:tab pos="1256030" algn="l"/>
              </a:tabLst>
            </a:pPr>
            <a:r>
              <a:rPr sz="1400" spc="110" dirty="0">
                <a:solidFill>
                  <a:prstClr val="black"/>
                </a:solidFill>
                <a:cs typeface="Arial" panose="020B0604020202020204"/>
              </a:rPr>
              <a:t>C:	</a:t>
            </a:r>
            <a:r>
              <a:rPr sz="1400" spc="80" dirty="0">
                <a:solidFill>
                  <a:prstClr val="black"/>
                </a:solidFill>
                <a:cs typeface="Arial" panose="020B0604020202020204"/>
              </a:rPr>
              <a:t>B-&gt;C,</a:t>
            </a:r>
            <a:r>
              <a:rPr lang="zh-CN" altLang="en-US" sz="1400" spc="80" dirty="0">
                <a:solidFill>
                  <a:prstClr val="black"/>
                </a:solidFill>
                <a:cs typeface="Arial" panose="020B0604020202020204"/>
              </a:rPr>
              <a:t> </a:t>
            </a:r>
            <a:r>
              <a:rPr sz="1400" dirty="0">
                <a:solidFill>
                  <a:prstClr val="black"/>
                </a:solidFill>
                <a:cs typeface="Arial" panose="020B0604020202020204"/>
              </a:rPr>
              <a:t>1</a:t>
            </a:r>
            <a:endParaRPr sz="1400" dirty="0">
              <a:solidFill>
                <a:prstClr val="black"/>
              </a:solidFill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780" y="2473408"/>
            <a:ext cx="22479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778" y="-22820"/>
            <a:ext cx="802044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55" y="0"/>
            <a:ext cx="801089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Link-State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Pros: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Fast convergence</a:t>
            </a:r>
            <a:endParaRPr kumimoji="1" lang="zh-CN" altLang="en-US" dirty="0"/>
          </a:p>
          <a:p>
            <a:r>
              <a:rPr kumimoji="1" lang="en-US" altLang="zh-CN" dirty="0"/>
              <a:t>Cons: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flooding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costly:</a:t>
            </a:r>
            <a:r>
              <a:rPr kumimoji="1" lang="zh-CN" altLang="en-US" dirty="0"/>
              <a:t> </a:t>
            </a:r>
            <a:r>
              <a:rPr kumimoji="1" lang="en-US" altLang="zh-CN" u="sng" dirty="0"/>
              <a:t>2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x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#Node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x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#Line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advertisements</a:t>
            </a:r>
            <a:endParaRPr kumimoji="1" lang="zh-CN" altLang="en-US" dirty="0"/>
          </a:p>
          <a:p>
            <a:r>
              <a:rPr kumimoji="1" lang="en-US" altLang="zh-CN" dirty="0">
                <a:solidFill>
                  <a:srgbClr val="0096FF"/>
                </a:solidFill>
              </a:rPr>
              <a:t>Only</a:t>
            </a:r>
            <a:r>
              <a:rPr kumimoji="1" lang="zh-CN" altLang="en-US" dirty="0">
                <a:solidFill>
                  <a:srgbClr val="0096FF"/>
                </a:solidFill>
              </a:rPr>
              <a:t> </a:t>
            </a:r>
            <a:r>
              <a:rPr kumimoji="1" lang="en-US" altLang="zh-CN" dirty="0">
                <a:solidFill>
                  <a:srgbClr val="0096FF"/>
                </a:solidFill>
              </a:rPr>
              <a:t>good</a:t>
            </a:r>
            <a:r>
              <a:rPr kumimoji="1" lang="zh-CN" altLang="en-US" dirty="0">
                <a:solidFill>
                  <a:srgbClr val="0096FF"/>
                </a:solidFill>
              </a:rPr>
              <a:t> </a:t>
            </a:r>
            <a:r>
              <a:rPr kumimoji="1" lang="en-US" altLang="zh-CN" dirty="0">
                <a:solidFill>
                  <a:srgbClr val="0096FF"/>
                </a:solidFill>
              </a:rPr>
              <a:t>for</a:t>
            </a:r>
            <a:r>
              <a:rPr kumimoji="1" lang="zh-CN" altLang="en-US" dirty="0">
                <a:solidFill>
                  <a:srgbClr val="0096FF"/>
                </a:solidFill>
              </a:rPr>
              <a:t> </a:t>
            </a:r>
            <a:r>
              <a:rPr kumimoji="1" lang="en-US" altLang="zh-CN" dirty="0">
                <a:solidFill>
                  <a:srgbClr val="0096FF"/>
                </a:solidFill>
              </a:rPr>
              <a:t>small</a:t>
            </a:r>
            <a:r>
              <a:rPr kumimoji="1" lang="zh-CN" altLang="en-US" dirty="0">
                <a:solidFill>
                  <a:srgbClr val="0096FF"/>
                </a:solidFill>
              </a:rPr>
              <a:t> </a:t>
            </a:r>
            <a:r>
              <a:rPr kumimoji="1" lang="en-US" altLang="zh-CN" dirty="0">
                <a:solidFill>
                  <a:srgbClr val="0096FF"/>
                </a:solidFill>
              </a:rPr>
              <a:t>networks</a:t>
            </a:r>
            <a:endParaRPr kumimoji="1" lang="zh-CN" altLang="en-US" dirty="0">
              <a:solidFill>
                <a:srgbClr val="0096FF"/>
              </a:solidFill>
            </a:endParaRPr>
          </a:p>
          <a:p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Distance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Pros: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Low overhead:</a:t>
            </a:r>
            <a:r>
              <a:rPr kumimoji="1" lang="zh-CN" altLang="en-US" dirty="0"/>
              <a:t> </a:t>
            </a:r>
            <a:r>
              <a:rPr kumimoji="1" lang="en-US" altLang="zh-CN" u="sng" dirty="0"/>
              <a:t>2x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#Line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advertisements</a:t>
            </a:r>
            <a:endParaRPr kumimoji="1" lang="zh-CN" altLang="en-US" dirty="0"/>
          </a:p>
          <a:p>
            <a:r>
              <a:rPr kumimoji="1" lang="en-US" altLang="zh-CN" dirty="0"/>
              <a:t>Cons: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Convergence time is proportional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longest path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infinity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</a:t>
            </a:r>
            <a:endParaRPr kumimoji="1" lang="zh-CN" altLang="en-US" dirty="0"/>
          </a:p>
          <a:p>
            <a:r>
              <a:rPr kumimoji="1" lang="en-US" altLang="zh-CN" dirty="0">
                <a:solidFill>
                  <a:srgbClr val="0096FF"/>
                </a:solidFill>
              </a:rPr>
              <a:t>Only</a:t>
            </a:r>
            <a:r>
              <a:rPr kumimoji="1" lang="zh-CN" altLang="en-US" dirty="0">
                <a:solidFill>
                  <a:srgbClr val="0096FF"/>
                </a:solidFill>
              </a:rPr>
              <a:t> </a:t>
            </a:r>
            <a:r>
              <a:rPr kumimoji="1" lang="en-US" altLang="zh-CN" dirty="0">
                <a:solidFill>
                  <a:srgbClr val="0096FF"/>
                </a:solidFill>
              </a:rPr>
              <a:t>good for small networks</a:t>
            </a:r>
            <a:endParaRPr kumimoji="1" lang="zh-CN" altLang="en-US" dirty="0"/>
          </a:p>
          <a:p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How</a:t>
            </a:r>
            <a:r>
              <a:rPr lang="zh-CN" altLang="en-US" dirty="0">
                <a:solidFill>
                  <a:srgbClr val="BD374B"/>
                </a:solidFill>
              </a:rPr>
              <a:t> </a:t>
            </a:r>
            <a:r>
              <a:rPr lang="en-US" altLang="zh-CN" dirty="0">
                <a:solidFill>
                  <a:srgbClr val="BD374B"/>
                </a:solidFill>
              </a:rPr>
              <a:t>to</a:t>
            </a:r>
            <a:r>
              <a:rPr lang="zh-CN" altLang="en-US" dirty="0">
                <a:solidFill>
                  <a:srgbClr val="BD374B"/>
                </a:solidFill>
              </a:rPr>
              <a:t> </a:t>
            </a:r>
            <a:r>
              <a:rPr lang="en-US" altLang="zh-CN" dirty="0">
                <a:solidFill>
                  <a:srgbClr val="BD374B"/>
                </a:solidFill>
              </a:rPr>
              <a:t>Scale</a:t>
            </a:r>
            <a:r>
              <a:rPr lang="zh-CN" altLang="en-US" dirty="0">
                <a:solidFill>
                  <a:srgbClr val="BD374B"/>
                </a:solidFill>
              </a:rPr>
              <a:t> </a:t>
            </a:r>
            <a:r>
              <a:rPr lang="en-US" altLang="zh-CN" dirty="0">
                <a:solidFill>
                  <a:srgbClr val="BD374B"/>
                </a:solidFill>
              </a:rPr>
              <a:t>the</a:t>
            </a:r>
            <a:r>
              <a:rPr lang="zh-CN" altLang="en-US" dirty="0">
                <a:solidFill>
                  <a:srgbClr val="BD374B"/>
                </a:solidFill>
              </a:rPr>
              <a:t> </a:t>
            </a:r>
            <a:r>
              <a:rPr lang="en-US" altLang="zh-CN" dirty="0">
                <a:solidFill>
                  <a:srgbClr val="BD374B"/>
                </a:solidFill>
              </a:rPr>
              <a:t>Routing?</a:t>
            </a: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kumimoji="1" lang="en-US" altLang="zh-CN" dirty="0"/>
              <a:t>Ways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Path-vector Routing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Advertisements include the path, to better </a:t>
            </a:r>
            <a:br>
              <a:rPr kumimoji="1" lang="zh-CN" altLang="en-US" dirty="0"/>
            </a:br>
            <a:r>
              <a:rPr kumimoji="1" lang="en-US" altLang="zh-CN" dirty="0"/>
              <a:t>detect routing loops</a:t>
            </a:r>
            <a:endParaRPr kumimoji="1" lang="zh-CN" altLang="en-US" dirty="0"/>
          </a:p>
          <a:p>
            <a:r>
              <a:rPr lang="en-US" altLang="zh-CN" dirty="0"/>
              <a:t>Hierarchy of Routing</a:t>
            </a:r>
            <a:endParaRPr lang="zh-CN" altLang="en-US" dirty="0"/>
          </a:p>
          <a:p>
            <a:pPr lvl="1"/>
            <a:r>
              <a:rPr lang="en-US" altLang="zh-CN" dirty="0"/>
              <a:t>Route between </a:t>
            </a:r>
            <a:r>
              <a:rPr lang="en-US" altLang="zh-CN" b="1" dirty="0">
                <a:solidFill>
                  <a:srgbClr val="0096FF"/>
                </a:solidFill>
              </a:rPr>
              <a:t>regions</a:t>
            </a:r>
            <a:r>
              <a:rPr lang="en-US" altLang="zh-CN" dirty="0"/>
              <a:t>, and then within a</a:t>
            </a:r>
            <a:br>
              <a:rPr lang="zh-CN" altLang="en-US" dirty="0"/>
            </a:br>
            <a:r>
              <a:rPr lang="en-US" altLang="zh-CN" dirty="0"/>
              <a:t>region </a:t>
            </a:r>
            <a:endParaRPr lang="zh-CN" altLang="en-US" dirty="0"/>
          </a:p>
          <a:p>
            <a:r>
              <a:rPr lang="en-US" altLang="zh-CN" dirty="0"/>
              <a:t>Topological Addressing</a:t>
            </a:r>
            <a:endParaRPr lang="zh-CN" altLang="en-US" dirty="0"/>
          </a:p>
          <a:p>
            <a:pPr lvl="1"/>
            <a:r>
              <a:rPr lang="en-US" altLang="zh-CN" dirty="0"/>
              <a:t>Assign addresses in contiguous blocks to </a:t>
            </a:r>
            <a:br>
              <a:rPr lang="zh-CN" altLang="en-US" dirty="0"/>
            </a:br>
            <a:r>
              <a:rPr lang="en-US" altLang="zh-CN" dirty="0"/>
              <a:t>make advertisements smaller </a:t>
            </a:r>
            <a:endParaRPr kumimoji="1" lang="en-US" altLang="zh-CN" dirty="0"/>
          </a:p>
          <a:p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200" y="1273324"/>
            <a:ext cx="2270948" cy="388843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Path Vector Exchange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Each participant maintains a path vector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A complete path to some destination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E.g., zero-length path to itself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Gradually learns about other paths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Construct a new forwarding table from its new path vector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Algorithm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Advertising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Path selection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793604"/>
            <a:ext cx="1815704" cy="1256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Path Vector Exchange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35" y="1383845"/>
            <a:ext cx="4533900" cy="2697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591" y="2479146"/>
            <a:ext cx="2737247" cy="2391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591" y="1172104"/>
            <a:ext cx="2571750" cy="91016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"/>
          <p:cNvSpPr txBox="1"/>
          <p:nvPr/>
        </p:nvSpPr>
        <p:spPr>
          <a:xfrm>
            <a:off x="7087791" y="918104"/>
            <a:ext cx="547688" cy="349019"/>
          </a:xfrm>
          <a:prstGeom prst="rect">
            <a:avLst/>
          </a:prstGeom>
          <a:noFill/>
        </p:spPr>
        <p:txBody>
          <a:bodyPr lIns="71323" tIns="35662" rIns="71323" bIns="3566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7087791" y="2188104"/>
            <a:ext cx="547688" cy="349019"/>
          </a:xfrm>
          <a:prstGeom prst="rect">
            <a:avLst/>
          </a:prstGeom>
          <a:noFill/>
        </p:spPr>
        <p:txBody>
          <a:bodyPr lIns="71323" tIns="35662" rIns="71323" bIns="3566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57200" y="4542896"/>
            <a:ext cx="8435280" cy="943238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Need coordination to ensure no loop</a:t>
            </a:r>
            <a:endParaRPr lang="en-US" altLang="zh-CN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3"/>
          <p:cNvSpPr txBox="1"/>
          <p:nvPr/>
        </p:nvSpPr>
        <p:spPr bwMode="auto">
          <a:xfrm>
            <a:off x="6629400" y="5143500"/>
            <a:ext cx="12954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579755" indent="-222885" algn="l" defTabSz="914400" rtl="0" eaLnBrk="1" latinLnBrk="0" hangingPunct="1"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891540" indent="-178435" algn="l" defTabSz="914400" rtl="0" eaLnBrk="1" latinLnBrk="0" hangingPunct="1"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248410" indent="-178435" algn="l" defTabSz="914400" rtl="0" eaLnBrk="1" latinLnBrk="0" hangingPunct="1"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604645" indent="-178435" algn="l" defTabSz="914400" rtl="0" eaLnBrk="1" latinLnBrk="0" hangingPunct="1"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1961515" indent="-17843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317750" indent="-17843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2674620" indent="-17843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031490" indent="-17843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0" hangingPunct="0">
              <a:defRPr/>
            </a:pPr>
            <a:fld id="{3F36B403-50F7-414B-8C90-B2A0B37D7BE6}" type="slidenum">
              <a:rPr lang="zh-CN" altLang="en-US" sz="1100" smtClean="0">
                <a:solidFill>
                  <a:prstClr val="black"/>
                </a:solidFill>
                <a:ea typeface="Adobe 楷体 Std R" charset="0"/>
                <a:cs typeface="Adobe 楷体 Std R" charset="0"/>
              </a:rPr>
            </a:fld>
            <a:endParaRPr lang="en-US" altLang="zh-CN" sz="1100">
              <a:solidFill>
                <a:prstClr val="black"/>
              </a:solidFill>
              <a:ea typeface="Adobe 楷体 Std R" charset="0"/>
              <a:cs typeface="Adobe 楷体 Std R" charset="0"/>
            </a:endParaRPr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6573"/>
            <a:ext cx="8153400" cy="124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7" y="1524000"/>
            <a:ext cx="1926431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4000"/>
            <a:ext cx="218003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710782"/>
            <a:ext cx="8229600" cy="194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97001"/>
            <a:ext cx="1219200" cy="2178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873" y="1397000"/>
            <a:ext cx="1558528" cy="2181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Down Arrow 11"/>
          <p:cNvSpPr>
            <a:spLocks noChangeArrowheads="1"/>
          </p:cNvSpPr>
          <p:nvPr/>
        </p:nvSpPr>
        <p:spPr bwMode="auto">
          <a:xfrm>
            <a:off x="1676400" y="1270000"/>
            <a:ext cx="457200" cy="317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9525">
            <a:noFill/>
            <a:round/>
          </a:ln>
        </p:spPr>
        <p:txBody>
          <a:bodyPr lIns="71323" tIns="35662" rIns="71323" bIns="35662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Down Arrow 12"/>
          <p:cNvSpPr>
            <a:spLocks noChangeArrowheads="1"/>
          </p:cNvSpPr>
          <p:nvPr/>
        </p:nvSpPr>
        <p:spPr bwMode="auto">
          <a:xfrm>
            <a:off x="1676400" y="3429000"/>
            <a:ext cx="457200" cy="317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9525">
            <a:noFill/>
            <a:round/>
          </a:ln>
        </p:spPr>
        <p:txBody>
          <a:bodyPr lIns="71323" tIns="35662" rIns="71323" bIns="35662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Down Arrow 13"/>
          <p:cNvSpPr>
            <a:spLocks noChangeArrowheads="1"/>
          </p:cNvSpPr>
          <p:nvPr/>
        </p:nvSpPr>
        <p:spPr bwMode="auto">
          <a:xfrm rot="10800000">
            <a:off x="6553200" y="3492500"/>
            <a:ext cx="457200" cy="317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9525">
            <a:noFill/>
            <a:round/>
          </a:ln>
        </p:spPr>
        <p:txBody>
          <a:bodyPr lIns="71323" tIns="35662" rIns="71323" bIns="35662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Path Vector Exchange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Better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scaling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Like Distance-Vector, but include the </a:t>
            </a:r>
            <a:r>
              <a:rPr kumimoji="1" lang="en-US" altLang="zh-CN" dirty="0">
                <a:solidFill>
                  <a:schemeClr val="accent1"/>
                </a:solidFill>
              </a:rPr>
              <a:t>full path</a:t>
            </a:r>
            <a:r>
              <a:rPr kumimoji="1" lang="en-US" altLang="zh-CN" dirty="0"/>
              <a:t> in the routing advertisements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Overhead increases (advertises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 larger), but convergence time decreases (avoid counting to infinity)    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Overhead is still lower than Link-State</a:t>
            </a:r>
            <a:endParaRPr kumimoji="1" lang="zh-CN" altLang="en-US" dirty="0"/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Questions on Path Vector</a:t>
            </a:r>
            <a:endParaRPr lang="en-US" altLang="zh-CN" dirty="0"/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162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How do we avoid permanent loops?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When a node updates its paths, it never accepts a path that has itself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What happens when a node hears multiple paths to the same destination?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It picks the better path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What happens if the graph changes?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Algorithm deals well with new links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To deal with links that go down, each router should discard any path that a neighbor stops advertising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Hierarchical Address Assignment &amp; Routing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Two problems of the path vector implementation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Every attachment point must have a unique address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The path vector grows in size with the number of attachment points</a:t>
            </a:r>
            <a:endParaRPr lang="zh-CN" altLang="en-US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Hierarchy for better scalability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Two parts of network address: region &amp; station, e.g., "11,75"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Regions correspond to the set of closely-connected entities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E.g., region-11 has </a:t>
            </a:r>
            <a:r>
              <a:rPr lang="en-US" altLang="zh-CN" dirty="0">
                <a:solidFill>
                  <a:schemeClr val="accent1"/>
                </a:solidFill>
                <a:ea typeface="MS PGothic" panose="020B0600070205080204" pitchFamily="34" charset="-128"/>
              </a:rPr>
              <a:t>only 1 entry</a:t>
            </a:r>
            <a:r>
              <a:rPr lang="en-US" altLang="zh-CN" dirty="0">
                <a:solidFill>
                  <a:srgbClr val="0096FF"/>
                </a:solidFill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in other region routers' table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Hierarchical Address Assignment &amp; Routing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61356"/>
            <a:ext cx="8040706" cy="29643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1407787" y="4896852"/>
            <a:ext cx="62122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Region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is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also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known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: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Autonomous System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Hierarchical Address Assignment &amp; Routing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Problems introduced by hierarchy: more complex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Binding address with location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2"/>
            <a:r>
              <a:rPr lang="en-US" altLang="zh-CN" dirty="0">
                <a:ea typeface="MS PGothic" panose="020B0600070205080204" pitchFamily="34" charset="-128"/>
              </a:rPr>
              <a:t>Has to change address after changing location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Paths may no longer be the shortest possible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2"/>
            <a:r>
              <a:rPr lang="en-US" altLang="zh-CN" dirty="0">
                <a:ea typeface="MS PGothic" panose="020B0600070205080204" pitchFamily="34" charset="-128"/>
              </a:rPr>
              <a:t>Algorithm has less detailed information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More about hierarchy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Can extend to more levels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Different places can have different levels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176" y="276694"/>
            <a:ext cx="2736304" cy="17397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Routing Hierarchy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Across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Region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Use one routing protocol to route </a:t>
            </a:r>
            <a:r>
              <a:rPr kumimoji="1" lang="en-US" altLang="zh-CN" b="1" dirty="0">
                <a:solidFill>
                  <a:srgbClr val="0096FF"/>
                </a:solidFill>
              </a:rPr>
              <a:t>across regions</a:t>
            </a:r>
            <a:r>
              <a:rPr kumimoji="1" lang="en-US" altLang="zh-CN" dirty="0"/>
              <a:t>, and a </a:t>
            </a:r>
            <a:br>
              <a:rPr kumimoji="1" lang="zh-CN" altLang="en-US" dirty="0"/>
            </a:b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protocol to route </a:t>
            </a:r>
            <a:r>
              <a:rPr kumimoji="1" lang="en-US" altLang="zh-CN" b="1" dirty="0">
                <a:solidFill>
                  <a:srgbClr val="0096FF"/>
                </a:solidFill>
              </a:rPr>
              <a:t>within regions</a:t>
            </a:r>
            <a:endParaRPr kumimoji="1" lang="zh-CN" altLang="en-US" b="1" dirty="0">
              <a:solidFill>
                <a:srgbClr val="0096FF"/>
              </a:solidFill>
            </a:endParaRPr>
          </a:p>
          <a:p>
            <a:pPr lvl="1"/>
            <a:r>
              <a:rPr kumimoji="1" lang="en-US" altLang="zh-CN" dirty="0"/>
              <a:t>Implies that there are devices on the edge of each region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 "translate" between or "speak" both protocols</a:t>
            </a:r>
            <a:endParaRPr kumimoji="1" lang="zh-CN" altLang="en-US" dirty="0"/>
          </a:p>
          <a:p>
            <a:pPr lvl="1"/>
            <a:endParaRPr kumimoji="1" lang="en-US" altLang="zh-CN" b="1" dirty="0"/>
          </a:p>
          <a:p>
            <a:r>
              <a:rPr kumimoji="1" lang="en-US" altLang="zh-CN" dirty="0">
                <a:solidFill>
                  <a:schemeClr val="accent1"/>
                </a:solidFill>
              </a:rPr>
              <a:t>BGP</a:t>
            </a:r>
            <a:r>
              <a:rPr kumimoji="1" lang="en-US" altLang="zh-CN" dirty="0"/>
              <a:t> is the path-vector protocol used across regions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Border Gateway Protocol</a:t>
            </a:r>
            <a:endParaRPr kumimoji="1" lang="en-US" altLang="zh-CN" dirty="0"/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Topological Addressing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Further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reduce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routing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table</a:t>
            </a:r>
            <a:endParaRPr kumimoji="1" lang="zh-CN" altLang="en-US" sz="2000" dirty="0"/>
          </a:p>
          <a:p>
            <a:pPr lvl="1"/>
            <a:r>
              <a:rPr kumimoji="1" lang="en-US" altLang="zh-CN" dirty="0"/>
              <a:t>Despite being between regions, BGP still routes to IP addresses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(e.g., to </a:t>
            </a:r>
            <a:r>
              <a:rPr kumimoji="1" lang="en-US" altLang="zh-CN" i="1" dirty="0"/>
              <a:t>18.0.0.1</a:t>
            </a:r>
            <a:r>
              <a:rPr kumimoji="1" lang="en-US" altLang="zh-CN" dirty="0"/>
              <a:t>, not to </a:t>
            </a:r>
            <a:r>
              <a:rPr kumimoji="1" lang="en-US" altLang="zh-CN" i="1" dirty="0"/>
              <a:t>region-3 </a:t>
            </a:r>
            <a:r>
              <a:rPr kumimoji="1" lang="en-US" altLang="zh-CN" dirty="0"/>
              <a:t>)    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Addresses are given to regions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 </a:t>
            </a:r>
            <a:r>
              <a:rPr kumimoji="1" lang="en-US" altLang="zh-CN" b="1" dirty="0">
                <a:solidFill>
                  <a:srgbClr val="0096FF"/>
                </a:solidFill>
              </a:rPr>
              <a:t>contiguous blocks</a:t>
            </a:r>
            <a:r>
              <a:rPr kumimoji="1" lang="en-US" altLang="zh-CN" dirty="0"/>
              <a:t>, so that they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 be specified succinctly via a particular notation ("CIDR"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notation)</a:t>
            </a:r>
            <a:endParaRPr kumimoji="1" lang="en-US" altLang="zh-CN" dirty="0"/>
          </a:p>
          <a:p>
            <a:pPr lvl="2"/>
            <a:r>
              <a:rPr kumimoji="1" lang="en-US" altLang="zh-CN" sz="1600" dirty="0"/>
              <a:t>CIDR: Classless Inter Domain Routing</a:t>
            </a:r>
            <a:endParaRPr kumimoji="1" lang="zh-CN" altLang="en-US" sz="1600" dirty="0"/>
          </a:p>
          <a:p>
            <a:pPr lvl="1"/>
            <a:r>
              <a:rPr kumimoji="1" lang="en-US" altLang="zh-CN" dirty="0"/>
              <a:t>Keeps advertisements small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800" y="4081636"/>
            <a:ext cx="3240360" cy="132159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64088" y="521856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CIDR Notation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96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cxnSp>
        <p:nvCxnSpPr>
          <p:cNvPr id="7" name="直接连接符 6"/>
          <p:cNvCxnSpPr>
            <a:endCxn id="6" idx="1"/>
          </p:cNvCxnSpPr>
          <p:nvPr/>
        </p:nvCxnSpPr>
        <p:spPr>
          <a:xfrm>
            <a:off x="5148064" y="5218567"/>
            <a:ext cx="216024" cy="184666"/>
          </a:xfrm>
          <a:prstGeom prst="line">
            <a:avLst/>
          </a:prstGeom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Data Plane: Packet Forwarding</a:t>
            </a: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Layer Interface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Content Placeholder 2"/>
          <p:cNvSpPr txBox="1"/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90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structure packet </a:t>
            </a:r>
            <a:endParaRPr lang="en-US" altLang="zh-CN" sz="190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r>
              <a:rPr lang="en-US" altLang="zh-CN" sz="190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bit_string source </a:t>
            </a:r>
            <a:endParaRPr lang="en-US" altLang="zh-CN" sz="190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r>
              <a:rPr lang="en-US" altLang="zh-CN" sz="190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bit_string destination </a:t>
            </a:r>
            <a:endParaRPr lang="en-US" altLang="zh-CN" sz="190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r>
              <a:rPr lang="en-US" altLang="zh-CN" sz="190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bit_string end_protocol </a:t>
            </a:r>
            <a:endParaRPr lang="en-US" altLang="zh-CN" sz="190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r>
              <a:rPr lang="en-US" altLang="zh-CN" sz="190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bit_string payload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Content Placeholder 2"/>
          <p:cNvSpPr txBox="1"/>
          <p:nvPr/>
        </p:nvSpPr>
        <p:spPr>
          <a:xfrm>
            <a:off x="395536" y="409228"/>
            <a:ext cx="8568952" cy="51920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 procedure </a:t>
            </a:r>
            <a:r>
              <a:rPr lang="en-US" altLang="zh-CN" sz="1600" b="0" dirty="0">
                <a:solidFill>
                  <a:srgbClr val="80000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NETWORK_SEND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segment_buffer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destination, 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2                        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net_protocol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end_protocol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3     packet instance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outgoing_packet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4    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outgoing_packet.payload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←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segment_buffer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5    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outgoing_packet.end_protocol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←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end_protocol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6    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outgoing_packet.source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← MY_NETWORK_ADDRESS 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7    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outgoing_packet.destination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← destination 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8     </a:t>
            </a:r>
            <a:r>
              <a:rPr lang="en-US" altLang="zh-CN" sz="1600" b="0" dirty="0">
                <a:solidFill>
                  <a:srgbClr val="80000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NETWORK_HANDLE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outgoing_packet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net_protocol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</a:t>
            </a: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endParaRPr lang="en-US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9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procedure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r>
              <a:rPr lang="sv-SE" altLang="zh-CN" sz="1600" b="0" dirty="0">
                <a:solidFill>
                  <a:srgbClr val="80000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NETWORK_HANDLE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(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net_protocol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 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10    packet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instance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11   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if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net_packet.destination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!= MY_NETWORK_ADDRESS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then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12       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next_hop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← </a:t>
            </a:r>
            <a:r>
              <a:rPr lang="en-US" altLang="zh-CN" sz="1600" b="0" dirty="0">
                <a:solidFill>
                  <a:srgbClr val="80000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LOOKUP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net_packet.destination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en-US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forwarding_table</a:t>
            </a:r>
            <a:r>
              <a:rPr lang="en-US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13        </a:t>
            </a:r>
            <a:r>
              <a:rPr lang="sv-SE" altLang="zh-CN" sz="1600" b="0" dirty="0">
                <a:solidFill>
                  <a:srgbClr val="80000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LINK_SEND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(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next_hop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link_protocol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net_protocol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14   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else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15        </a:t>
            </a:r>
            <a:r>
              <a:rPr lang="sv-SE" altLang="zh-CN" sz="1600" b="0" dirty="0">
                <a:solidFill>
                  <a:srgbClr val="80000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GIVE_TO_END_LAYER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(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net_packet.payload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>
              <a:spcBef>
                <a:spcPts val="0"/>
              </a:spcBef>
            </a:pP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16                         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net_packet.end_protocol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r>
              <a:rPr lang="sv-SE" altLang="zh-CN" sz="1600" b="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net_packet.source</a:t>
            </a:r>
            <a:r>
              <a:rPr lang="sv-SE" altLang="zh-CN" sz="1600" b="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</a:t>
            </a:r>
            <a:endParaRPr lang="sv-SE" altLang="zh-CN" sz="1600" b="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Forwarding an IP Packet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等线" panose="02010600030101010101" charset="-122"/>
              </a:rPr>
              <a:t>Lookup packet's destination in forwarding table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If known, find the corresponding outgoing link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If unknown, drop packet </a:t>
            </a:r>
            <a:endParaRPr lang="en-US" altLang="zh-CN" dirty="0">
              <a:ea typeface="等线" panose="02010600030101010101" charset="-122"/>
            </a:endParaRPr>
          </a:p>
          <a:p>
            <a:r>
              <a:rPr lang="en-US" altLang="zh-CN" dirty="0">
                <a:ea typeface="等线" panose="02010600030101010101" charset="-122"/>
              </a:rPr>
              <a:t>Decrement TTL (Time To Live)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Drop packet if TTL is zero</a:t>
            </a:r>
            <a:endParaRPr lang="en-US" altLang="zh-CN" dirty="0">
              <a:ea typeface="等线" panose="02010600030101010101" charset="-122"/>
            </a:endParaRPr>
          </a:p>
          <a:p>
            <a:r>
              <a:rPr lang="en-US" altLang="zh-CN" dirty="0">
                <a:ea typeface="等线" panose="02010600030101010101" charset="-122"/>
              </a:rPr>
              <a:t>Update header checksum</a:t>
            </a:r>
            <a:endParaRPr lang="en-US" altLang="zh-CN" dirty="0">
              <a:ea typeface="等线" panose="02010600030101010101" charset="-122"/>
            </a:endParaRPr>
          </a:p>
          <a:p>
            <a:r>
              <a:rPr lang="en-US" altLang="zh-CN" dirty="0">
                <a:ea typeface="等线" panose="02010600030101010101" charset="-122"/>
              </a:rPr>
              <a:t>Forward packet to outgoing port </a:t>
            </a:r>
            <a:endParaRPr lang="en-US" altLang="zh-CN" dirty="0">
              <a:ea typeface="等线" panose="02010600030101010101" charset="-122"/>
            </a:endParaRPr>
          </a:p>
          <a:p>
            <a:r>
              <a:rPr lang="en-US" altLang="zh-CN" dirty="0">
                <a:ea typeface="等线" panose="02010600030101010101" charset="-122"/>
              </a:rPr>
              <a:t>Transmit packet onto link 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Data-plane 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Study: Intel's DPDK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DPDK: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 Plane Development Kit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Bypass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kernel</a:t>
            </a:r>
            <a:endParaRPr kumimoji="1" lang="en-US" altLang="zh-CN" dirty="0"/>
          </a:p>
          <a:p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card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several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ports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RX/TX</a:t>
            </a:r>
            <a:endParaRPr kumimoji="1" lang="en-US" altLang="zh-CN" dirty="0"/>
          </a:p>
          <a:p>
            <a:r>
              <a:rPr kumimoji="1" lang="en-US" altLang="zh-CN" dirty="0"/>
              <a:t>Processor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packets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RX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Polling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Find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port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packets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TX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3928" y="1216738"/>
            <a:ext cx="4608512" cy="38010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52120" y="5031804"/>
            <a:ext cx="1872208" cy="66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RX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for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receiving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TX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for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sending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UC</a:t>
            </a:r>
            <a:r>
              <a:rPr kumimoji="1" lang="zh-CN" altLang="en-US" dirty="0"/>
              <a:t> </a:t>
            </a:r>
            <a:r>
              <a:rPr kumimoji="1" lang="en-US" altLang="zh-CN" dirty="0"/>
              <a:t>Berkeley’s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RouteBricks</a:t>
            </a:r>
            <a:r>
              <a:rPr kumimoji="1" lang="zh-CN" altLang="en-US" dirty="0"/>
              <a:t> </a:t>
            </a:r>
            <a:r>
              <a:rPr kumimoji="1" lang="en-US" altLang="zh-CN" dirty="0"/>
              <a:t>[SOSP’09]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73324"/>
            <a:ext cx="7772400" cy="349182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NAT</a:t>
            </a:r>
            <a:endParaRPr lang="en-US" altLang="zh-CN" dirty="0">
              <a:solidFill>
                <a:srgbClr val="BD374B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b="0" dirty="0">
                <a:solidFill>
                  <a:srgbClr val="BD374B"/>
                </a:solidFill>
              </a:rPr>
              <a:t>(Network Address Translation)</a:t>
            </a: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NAT (Network Address Translation)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Private network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Public routers do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not accept routes to network 10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(e.g.,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10.8.8.8)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NAT router: bridge the private networks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Router between private &amp; public network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Send: modify source address to temp public address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Receive: modify back by looking mapping table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Limitations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Some end-to-end protocols place address in payloads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The translator may become the bottleneck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What if two private network merge?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1027" descr="C:\Documents and Settings\Administrator\My Documents\cs580\images\an090601 copy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62"/>
          <a:stretch>
            <a:fillRect/>
          </a:stretch>
        </p:blipFill>
        <p:spPr bwMode="auto">
          <a:xfrm>
            <a:off x="1403648" y="913284"/>
            <a:ext cx="6912768" cy="451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482600"/>
            <a:ext cx="910590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CASE: Ethernet Mapping</a:t>
            </a:r>
            <a:endParaRPr lang="en-US" altLang="zh-CN" dirty="0">
              <a:solidFill>
                <a:srgbClr val="BD374B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b="0" dirty="0">
                <a:solidFill>
                  <a:srgbClr val="BD374B"/>
                </a:solidFill>
              </a:rPr>
              <a:t>Mapping Internet to Ethernet</a:t>
            </a:r>
            <a:endParaRPr kumimoji="1" lang="en-US" altLang="zh-CN" sz="2000" b="0" dirty="0">
              <a:solidFill>
                <a:srgbClr val="BD374B"/>
              </a:solidFill>
            </a:endParaRPr>
          </a:p>
          <a:p>
            <a:pPr algn="ctr">
              <a:lnSpc>
                <a:spcPct val="150000"/>
              </a:lnSpc>
            </a:pP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 Study: Mapping Internet to Ethernet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Listen-before-sending rule, collision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Ethernet: CSMA/CD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Carrier Sense Multiple Access with Collision Detection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Ethernet type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Experimental Ethernet, 3 </a:t>
            </a:r>
            <a:r>
              <a:rPr lang="en-US" altLang="zh-CN" dirty="0" err="1">
                <a:ea typeface="MS PGothic" panose="020B0600070205080204" pitchFamily="34" charset="-128"/>
              </a:rPr>
              <a:t>mpbs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Standard Ethernet, 10 </a:t>
            </a:r>
            <a:r>
              <a:rPr lang="en-US" altLang="zh-CN" dirty="0" err="1">
                <a:ea typeface="MS PGothic" panose="020B0600070205080204" pitchFamily="34" charset="-128"/>
              </a:rPr>
              <a:t>mbps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Fast Ethernet, 100 </a:t>
            </a:r>
            <a:r>
              <a:rPr lang="en-US" altLang="zh-CN" dirty="0" err="1">
                <a:ea typeface="MS PGothic" panose="020B0600070205080204" pitchFamily="34" charset="-128"/>
              </a:rPr>
              <a:t>mbps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Gigabit Ethernet, 1000 </a:t>
            </a:r>
            <a:r>
              <a:rPr lang="en-US" altLang="zh-CN" dirty="0" err="1">
                <a:ea typeface="MS PGothic" panose="020B0600070205080204" pitchFamily="34" charset="-128"/>
              </a:rPr>
              <a:t>mbps</a:t>
            </a:r>
            <a:endParaRPr lang="zh-CN" altLang="en-US" dirty="0">
              <a:ea typeface="MS PGothic" panose="020B0600070205080204" pitchFamily="34" charset="-128"/>
            </a:endParaRPr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of Ethernet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A half duplex Ethernet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The max propagation time is less than the 576 bit times, the shortest allowable packet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So that two parties can detect a collision together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If collision: wait random first time, exponential backoff if repeat 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A full duplex &amp; point-to-point Ethernet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No collisions &amp; the max length of the link is determined by the physical medium</a:t>
            </a:r>
            <a:endParaRPr lang="zh-CN" altLang="en-US" dirty="0">
              <a:ea typeface="MS PGothic" panose="020B0600070205080204" pitchFamily="34" charset="-128"/>
            </a:endParaRPr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3985"/>
            <a:ext cx="8280920" cy="627063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Difference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between</a:t>
            </a:r>
            <a:r>
              <a:rPr kumimoji="1" lang="zh-CN" altLang="en-US" dirty="0"/>
              <a:t> </a:t>
            </a:r>
            <a:r>
              <a:rPr kumimoji="1" lang="en-US" altLang="zh-CN" dirty="0"/>
              <a:t>Hub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Switch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Hub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frame is "broadcast" to every one of its ports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10/100Mbps hub must share its bandwidth with 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port</a:t>
            </a:r>
            <a:endParaRPr kumimoji="1" lang="en-US" altLang="zh-CN" dirty="0"/>
          </a:p>
          <a:p>
            <a:r>
              <a:rPr kumimoji="1" lang="en-US" altLang="zh-CN" dirty="0"/>
              <a:t>Switch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Keeps a record of the MAC addresses of all the devices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10/100Mbps switch will allocate a full 10/100Mbps to each of its ports</a:t>
            </a:r>
            <a:endParaRPr kumimoji="1" lang="zh-CN" altLang="en-US" dirty="0"/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Broadcast Aspects of Ethernet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altLang="zh-CN" dirty="0">
              <a:ea typeface="MS PGothic" panose="020B0600070205080204" pitchFamily="34" charset="-128"/>
            </a:endParaRPr>
          </a:p>
          <a:p>
            <a:pPr>
              <a:lnSpc>
                <a:spcPct val="100000"/>
              </a:lnSpc>
            </a:pPr>
            <a:endParaRPr lang="en-US" altLang="zh-CN" dirty="0">
              <a:ea typeface="MS PGothic" panose="020B0600070205080204" pitchFamily="34" charset="-128"/>
            </a:endParaRPr>
          </a:p>
          <a:p>
            <a:pPr>
              <a:lnSpc>
                <a:spcPct val="100000"/>
              </a:lnSpc>
            </a:pPr>
            <a:endParaRPr lang="en-US" altLang="zh-CN" dirty="0">
              <a:ea typeface="MS PGothic" panose="020B0600070205080204" pitchFamily="3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pitchFamily="34" charset="-128"/>
              </a:rPr>
              <a:t>Broadcast network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pitchFamily="34" charset="-128"/>
              </a:rPr>
              <a:t>Every frame is delivered to every station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pitchFamily="34" charset="-128"/>
              </a:rPr>
              <a:t>(Compare with forwarding network)</a:t>
            </a:r>
            <a:endParaRPr lang="en-US" altLang="zh-CN" dirty="0">
              <a:ea typeface="MS PGothic" panose="020B0600070205080204" pitchFamily="3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pitchFamily="34" charset="-128"/>
              </a:rPr>
              <a:t>ETHERNET_SEND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pitchFamily="34" charset="-128"/>
              </a:rPr>
              <a:t>Pass the call along to the link layer</a:t>
            </a:r>
            <a:endParaRPr lang="en-US" altLang="zh-CN" dirty="0">
              <a:ea typeface="MS PGothic" panose="020B0600070205080204" pitchFamily="3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pitchFamily="34" charset="-128"/>
              </a:rPr>
              <a:t>ETHERNET_HANDLE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pitchFamily="34" charset="-128"/>
              </a:rPr>
              <a:t>Simple, can even be implemented in hardware</a:t>
            </a:r>
            <a:endParaRPr lang="zh-CN" altLang="en-US" dirty="0">
              <a:ea typeface="MS PGothic" panose="020B0600070205080204" pitchFamily="34" charset="-128"/>
            </a:endParaRPr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" y="1206500"/>
            <a:ext cx="7843838" cy="1143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Broadcast Aspects of Ethernet</a:t>
            </a:r>
            <a:endParaRPr lang="zh-CN" altLang="en-US" dirty="0"/>
          </a:p>
        </p:txBody>
      </p:sp>
      <p:sp>
        <p:nvSpPr>
          <p:cNvPr id="61442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procedure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ETHERNET_HANDLE (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length)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destination ←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net_packet.target_id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</a:t>
            </a: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if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destination =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my_station_id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then </a:t>
            </a:r>
            <a:endParaRPr lang="en-US" altLang="zh-CN" sz="1900" b="1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GIVE_TO_END_LAYER (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net_packet.data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                  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net_packet.end_protocol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                  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net_packet.source_id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</a:t>
            </a: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else</a:t>
            </a:r>
            <a:endParaRPr lang="en-US" altLang="zh-CN" sz="1900" b="1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ignore packet</a:t>
            </a:r>
            <a:endParaRPr lang="zh-CN" altLang="en-US" sz="1900" dirty="0">
              <a:latin typeface="Consolas" panose="020B060902020403020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 rot="-633163">
            <a:off x="4648200" y="4655595"/>
            <a:ext cx="4343400" cy="44135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lIns="71323" tIns="35662" rIns="71323" bIns="35662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no need to do any forwarding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Broadcast Aspects of Ethernet</a:t>
            </a:r>
            <a:endParaRPr lang="zh-CN" altLang="en-US" dirty="0"/>
          </a:p>
        </p:txBody>
      </p:sp>
      <p:sp>
        <p:nvSpPr>
          <p:cNvPr id="62466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procedure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ETHERNET_HANDLE (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length)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destination ←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net_packet.target_id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</a:t>
            </a: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if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destination =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my_station_id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C0000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  or destination = BROADCAST_ID </a:t>
            </a:r>
            <a:endParaRPr lang="en-US" altLang="zh-CN" sz="1900" dirty="0">
              <a:solidFill>
                <a:srgbClr val="C00000"/>
              </a:solidFill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then</a:t>
            </a:r>
            <a:endParaRPr lang="en-US" altLang="zh-CN" sz="1900" b="1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GIVE_TO_END_LAYER (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net_packet.data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                  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net_packet.end_protocol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, 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                   </a:t>
            </a:r>
            <a:r>
              <a:rPr lang="en-US" altLang="zh-CN" sz="1900" dirty="0" err="1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net_packet.source_id</a:t>
            </a: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)</a:t>
            </a:r>
            <a:endParaRPr lang="en-US" altLang="zh-CN" sz="1900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</a:t>
            </a:r>
            <a:r>
              <a:rPr lang="en-US" altLang="zh-CN" sz="1900" b="1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else</a:t>
            </a:r>
            <a:endParaRPr lang="en-US" altLang="zh-CN" sz="1900" b="1" dirty="0"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900" dirty="0"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    ignore packet</a:t>
            </a:r>
            <a:endParaRPr lang="zh-CN" altLang="en-US" sz="1900" dirty="0">
              <a:latin typeface="Consolas" panose="020B060902020403020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458200" cy="762000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Layer Mapping: Attach Ethernet to Forwarding Network</a:t>
            </a:r>
            <a:endParaRPr lang="zh-CN" altLang="en-US" sz="2400" dirty="0"/>
          </a:p>
        </p:txBody>
      </p:sp>
      <p:sp>
        <p:nvSpPr>
          <p:cNvPr id="63490" name="内容占位符 2"/>
          <p:cNvSpPr>
            <a:spLocks noGrp="1"/>
          </p:cNvSpPr>
          <p:nvPr>
            <p:ph idx="1"/>
          </p:nvPr>
        </p:nvSpPr>
        <p:spPr>
          <a:xfrm>
            <a:off x="251520" y="4297660"/>
            <a:ext cx="8712968" cy="8255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dirty="0">
                <a:ea typeface="MS PGothic" panose="020B0600070205080204" pitchFamily="34" charset="-128"/>
              </a:rPr>
              <a:t>L sends a RPC to N by sending to station 18 of link 1</a:t>
            </a:r>
            <a:endParaRPr lang="en-US" altLang="zh-CN" dirty="0"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zh-CN" dirty="0">
                <a:ea typeface="MS PGothic" panose="020B0600070205080204" pitchFamily="34" charset="-128"/>
              </a:rPr>
              <a:t>L sends a RPC to E by sending to K, E may have 15 as address, as well as M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p:pic>
        <p:nvPicPr>
          <p:cNvPr id="5018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270000"/>
            <a:ext cx="7271147" cy="295565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3493" name="TextBox 4"/>
          <p:cNvSpPr txBox="1">
            <a:spLocks noChangeArrowheads="1"/>
          </p:cNvSpPr>
          <p:nvPr/>
        </p:nvSpPr>
        <p:spPr bwMode="auto">
          <a:xfrm>
            <a:off x="7812360" y="2701322"/>
            <a:ext cx="533400" cy="31824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71323" tIns="35662" rIns="71323" bIns="35662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rPr>
              <a:t>15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Layer Mapping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The Internet network layer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b="1" dirty="0">
                <a:ea typeface="MS PGothic" panose="020B0600070205080204" pitchFamily="34" charset="-128"/>
              </a:rPr>
              <a:t>NETWORK_SEND</a:t>
            </a:r>
            <a:r>
              <a:rPr lang="en-US" altLang="zh-CN" dirty="0">
                <a:ea typeface="MS PGothic" panose="020B0600070205080204" pitchFamily="34" charset="-128"/>
              </a:rPr>
              <a:t> (data, length, RPC, INTERNET, N)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b="1" dirty="0">
                <a:ea typeface="MS PGothic" panose="020B0600070205080204" pitchFamily="34" charset="-128"/>
              </a:rPr>
              <a:t>NETWORK_SEND</a:t>
            </a:r>
            <a:r>
              <a:rPr lang="en-US" altLang="zh-CN" dirty="0">
                <a:ea typeface="MS PGothic" panose="020B0600070205080204" pitchFamily="34" charset="-128"/>
              </a:rPr>
              <a:t> (data, length, RPC, ENET, 18)</a:t>
            </a:r>
            <a:endParaRPr lang="en-US" altLang="zh-CN" dirty="0">
              <a:ea typeface="MS PGothic" panose="020B0600070205080204" pitchFamily="34" charset="-128"/>
            </a:endParaRPr>
          </a:p>
          <a:p>
            <a:r>
              <a:rPr lang="en-US" altLang="zh-CN" dirty="0">
                <a:ea typeface="MS PGothic" panose="020B0600070205080204" pitchFamily="34" charset="-128"/>
              </a:rPr>
              <a:t>L must maintain a table</a:t>
            </a:r>
            <a:endParaRPr lang="zh-CN" altLang="en-US" dirty="0">
              <a:ea typeface="MS PGothic" panose="020B0600070205080204" pitchFamily="34" charset="-128"/>
            </a:endParaRPr>
          </a:p>
          <a:p>
            <a:pPr marL="74295" lvl="1" indent="0">
              <a:buNone/>
            </a:pP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7" y="3361556"/>
            <a:ext cx="2671763" cy="18415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ARP (Address Resolution Protocol)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4356826"/>
          </a:xfrm>
        </p:spPr>
        <p:txBody>
          <a:bodyPr>
            <a:normAutofit/>
          </a:bodyPr>
          <a:lstStyle/>
          <a:p>
            <a:r>
              <a:rPr lang="en-US" altLang="zh-CN" b="0" dirty="0">
                <a:ea typeface="MS PGothic" panose="020B0600070205080204" pitchFamily="34" charset="-128"/>
              </a:rPr>
              <a:t>NETWORK_SEND ("</a:t>
            </a:r>
            <a:r>
              <a:rPr lang="en-US" altLang="zh-CN" b="0" dirty="0">
                <a:solidFill>
                  <a:srgbClr val="0096FF"/>
                </a:solidFill>
                <a:ea typeface="MS PGothic" panose="020B0600070205080204" pitchFamily="34" charset="-128"/>
              </a:rPr>
              <a:t>where is M?</a:t>
            </a:r>
            <a:r>
              <a:rPr lang="en-US" altLang="zh-CN" b="0" dirty="0">
                <a:ea typeface="MS PGothic" panose="020B0600070205080204" pitchFamily="34" charset="-128"/>
              </a:rPr>
              <a:t>", 11, ARP, ENET, BROADCAST)</a:t>
            </a:r>
            <a:endParaRPr lang="en-US" altLang="zh-CN" b="0" dirty="0">
              <a:ea typeface="MS PGothic" panose="020B0600070205080204" pitchFamily="34" charset="-128"/>
            </a:endParaRPr>
          </a:p>
          <a:p>
            <a:r>
              <a:rPr lang="en-US" altLang="zh-CN" b="0" dirty="0">
                <a:ea typeface="MS PGothic" panose="020B0600070205080204" pitchFamily="34" charset="-128"/>
              </a:rPr>
              <a:t>NETWORK_SEND ("</a:t>
            </a:r>
            <a:r>
              <a:rPr lang="en-US" altLang="zh-CN" b="0" dirty="0">
                <a:solidFill>
                  <a:srgbClr val="0096FF"/>
                </a:solidFill>
                <a:ea typeface="MS PGothic" panose="020B0600070205080204" pitchFamily="34" charset="-128"/>
              </a:rPr>
              <a:t>M is at station 15</a:t>
            </a:r>
            <a:r>
              <a:rPr lang="en-US" altLang="zh-CN" b="0" dirty="0">
                <a:ea typeface="MS PGothic" panose="020B0600070205080204" pitchFamily="34" charset="-128"/>
              </a:rPr>
              <a:t>", 18, ARP, ENET, BROADCAST)</a:t>
            </a:r>
            <a:endParaRPr lang="en-US" altLang="zh-CN" b="0" dirty="0">
              <a:ea typeface="MS PGothic" panose="020B0600070205080204" pitchFamily="34" charset="-128"/>
            </a:endParaRPr>
          </a:p>
          <a:p>
            <a:r>
              <a:rPr lang="en-US" altLang="zh-CN" b="0" dirty="0">
                <a:ea typeface="MS PGothic" panose="020B0600070205080204" pitchFamily="34" charset="-128"/>
              </a:rPr>
              <a:t>L asks E's Ethernet address, E does not hear the Ethernet broadcast, but the router at station 19 does, and it sends a suitable ARP response instead</a:t>
            </a:r>
            <a:endParaRPr lang="en-US" altLang="zh-CN" b="0" dirty="0">
              <a:ea typeface="MS PGothic" panose="020B0600070205080204" pitchFamily="34" charset="-128"/>
            </a:endParaRPr>
          </a:p>
          <a:p>
            <a:r>
              <a:rPr lang="en-US" altLang="zh-CN" b="0" dirty="0">
                <a:ea typeface="MS PGothic" panose="020B0600070205080204" pitchFamily="34" charset="-128"/>
              </a:rPr>
              <a:t>Manage forwarding table as a cache</a:t>
            </a:r>
            <a:endParaRPr lang="en-US" altLang="zh-CN" b="0" dirty="0">
              <a:ea typeface="MS PGothic" panose="020B0600070205080204" pitchFamily="34" charset="-128"/>
            </a:endParaRPr>
          </a:p>
          <a:p>
            <a:pPr marL="74295" lvl="1" indent="0">
              <a:buNone/>
            </a:pP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4021770"/>
            <a:ext cx="2893071" cy="122413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618" y="3949762"/>
            <a:ext cx="3002734" cy="136815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ARP &amp; RARP Protocol</a:t>
            </a:r>
            <a:endParaRPr lang="zh-CN" altLang="en-US" dirty="0"/>
          </a:p>
        </p:txBody>
      </p:sp>
      <p:pic>
        <p:nvPicPr>
          <p:cNvPr id="66563" name="Picture 2" descr="http://www.rigacci.org/docs/biblio/online/intro_to_networking/stdimages/page250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512" y="1263386"/>
            <a:ext cx="6047808" cy="3466322"/>
          </a:xfrm>
          <a:prstGeom prst="rect">
            <a:avLst/>
          </a:prstGeom>
          <a:noFill/>
          <a:ln>
            <a:noFill/>
          </a:ln>
        </p:spPr>
      </p:pic>
      <p:sp>
        <p:nvSpPr>
          <p:cNvPr id="66564" name="内容占位符 2"/>
          <p:cNvSpPr>
            <a:spLocks noGrp="1"/>
          </p:cNvSpPr>
          <p:nvPr>
            <p:ph idx="1"/>
          </p:nvPr>
        </p:nvSpPr>
        <p:spPr>
          <a:xfrm>
            <a:off x="457200" y="4759796"/>
            <a:ext cx="83058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Name mapping: IP address &lt;-&gt; MAC address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147650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ARP &amp; </a:t>
            </a:r>
            <a:br>
              <a:rPr kumimoji="1" lang="en-US" altLang="zh-CN" dirty="0"/>
            </a:br>
            <a:r>
              <a:rPr kumimoji="1" lang="en-US" altLang="zh-CN" dirty="0"/>
              <a:t>RARP</a:t>
            </a:r>
            <a:endParaRPr kumimoji="1"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37220"/>
            <a:ext cx="5856956" cy="523610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Network Topology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Take SJTU network for example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Subnet: usually like 192.168.0.2 or 10.0.0.2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Gateway: usually like 192.168.0.1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Get the global IP address: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202.120.40.82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A gateway usually has 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(or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more)</a:t>
            </a:r>
            <a:r>
              <a:rPr kumimoji="1" lang="zh-CN" altLang="en-US" dirty="0"/>
              <a:t> </a:t>
            </a:r>
            <a:r>
              <a:rPr kumimoji="1" lang="en-US" altLang="zh-CN" dirty="0"/>
              <a:t>IP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Proxy:</a:t>
            </a:r>
            <a:r>
              <a:rPr kumimoji="1" lang="zh-CN" altLang="en-US" dirty="0"/>
              <a:t> </a:t>
            </a:r>
            <a:r>
              <a:rPr kumimoji="1" lang="en-US" altLang="zh-CN" dirty="0"/>
              <a:t>get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proxy's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E.g., 106.185.46.164</a:t>
            </a:r>
            <a:r>
              <a:rPr kumimoji="1" lang="zh-CN" altLang="en-US" dirty="0"/>
              <a:t> </a:t>
            </a:r>
            <a:r>
              <a:rPr kumimoji="1" lang="en-US" altLang="zh-CN" dirty="0"/>
              <a:t>(Japan)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ea typeface="等线" panose="02010600030101010101" charset="-122"/>
              </a:rPr>
              <a:t>Network Topology</a:t>
            </a:r>
            <a:endParaRPr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" y="1028700"/>
            <a:ext cx="8826500" cy="36576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 </a:t>
            </a:r>
            <a:r>
              <a:rPr kumimoji="1" lang="en-US" altLang="zh-CN" dirty="0">
                <a:latin typeface="Consolas" panose="020B0609020204030204" charset="0"/>
                <a:cs typeface="Consolas" panose="020B0609020204030204" charset="0"/>
              </a:rPr>
              <a:t>socket</a:t>
            </a:r>
            <a:r>
              <a:rPr kumimoji="1" lang="en-US" altLang="zh-CN" dirty="0"/>
              <a:t> to Access </a:t>
            </a:r>
            <a:r>
              <a:rPr kumimoji="1" lang="en-US" altLang="zh-CN" dirty="0" err="1"/>
              <a:t>www.baidu.com</a:t>
            </a:r>
            <a:r>
              <a:rPr kumimoji="1" lang="zh-CN" altLang="en-US" dirty="0"/>
              <a:t> 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You code as if your PC connect directly with Baidu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Call connect() with Baidu's IP address</a:t>
            </a:r>
            <a:endParaRPr kumimoji="1" lang="en-US" altLang="zh-CN" dirty="0"/>
          </a:p>
          <a:p>
            <a:r>
              <a:rPr kumimoji="1" lang="en-US" altLang="zh-CN" dirty="0"/>
              <a:t>But how does the system find next hop?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0" y="3289548"/>
            <a:ext cx="40386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等线" panose="02010600030101010101" charset="-122"/>
              </a:rPr>
              <a:t>Putting All Together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ea typeface="等线" panose="02010600030101010101" charset="-122"/>
              </a:rPr>
              <a:t>App: I want to send a packet to Baidu, here is the packet with Baidu's IP in its header as target IP,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and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client's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IP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as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source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IP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(Node-C)</a:t>
            </a:r>
            <a:endParaRPr kumimoji="1" lang="en-US" altLang="zh-CN" dirty="0">
              <a:ea typeface="等线" panose="02010600030101010101" charset="-122"/>
            </a:endParaRPr>
          </a:p>
          <a:p>
            <a:endParaRPr kumimoji="1" lang="en-US" altLang="zh-CN" dirty="0">
              <a:ea typeface="等线" panose="02010600030101010101" charset="-122"/>
            </a:endParaRPr>
          </a:p>
          <a:p>
            <a:endParaRPr kumimoji="1" lang="en-US" altLang="zh-CN" dirty="0">
              <a:ea typeface="等线" panose="02010600030101010101" charset="-122"/>
            </a:endParaRPr>
          </a:p>
          <a:p>
            <a:r>
              <a:rPr kumimoji="1" lang="en-US" altLang="zh-CN" dirty="0">
                <a:ea typeface="等线" panose="02010600030101010101" charset="-122"/>
              </a:rPr>
              <a:t>OS: I don't know how to get to Baidu, I'll just send it to the router (gateway). But I cannot change the source IP of the packet, so I'll just change the MAC target address of the packet to the router's MAC address</a:t>
            </a:r>
            <a:endParaRPr kumimoji="1" lang="en-US" altLang="zh-CN" dirty="0">
              <a:ea typeface="等线" panose="02010600030101010101" charset="-122"/>
            </a:endParaRPr>
          </a:p>
          <a:p>
            <a:endParaRPr kumimoji="1" lang="en-US" altLang="zh-CN" dirty="0"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" y="2196976"/>
            <a:ext cx="9004300" cy="444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" y="4213200"/>
            <a:ext cx="90043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等线" panose="02010600030101010101" charset="-122"/>
              </a:rPr>
              <a:t>Putting All Together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>
              <a:ea typeface="等线" panose="02010600030101010101" charset="-122"/>
            </a:endParaRPr>
          </a:p>
          <a:p>
            <a:r>
              <a:rPr kumimoji="1" lang="en-US" altLang="zh-CN" dirty="0">
                <a:ea typeface="等线" panose="02010600030101010101" charset="-122"/>
              </a:rPr>
              <a:t>The router-1 (gateway): I get a packet with my MAC as target address. Is it my IP? No… So I'll just forward it to next hop, by changing the target MAC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address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to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next hop's MAC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address (NAT: change source IP and source port as well)</a:t>
            </a:r>
            <a:endParaRPr kumimoji="1" lang="en-US" altLang="zh-CN" dirty="0">
              <a:ea typeface="等线" panose="02010600030101010101" charset="-122"/>
            </a:endParaRPr>
          </a:p>
          <a:p>
            <a:endParaRPr kumimoji="1" lang="en-US" altLang="zh-CN" dirty="0">
              <a:ea typeface="等线" panose="02010600030101010101" charset="-122"/>
            </a:endParaRPr>
          </a:p>
          <a:p>
            <a:r>
              <a:rPr kumimoji="1" lang="en-US" altLang="zh-CN" dirty="0">
                <a:ea typeface="等线" panose="02010600030101010101" charset="-122"/>
              </a:rPr>
              <a:t>Router-2: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I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connect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directly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to Baidu,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I'll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just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change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the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target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MAC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address</a:t>
            </a:r>
            <a:r>
              <a:rPr kumimoji="1" lang="zh-CN" altLang="en-US" dirty="0">
                <a:ea typeface="等线" panose="02010600030101010101" charset="-122"/>
              </a:rPr>
              <a:t> </a:t>
            </a:r>
            <a:r>
              <a:rPr kumimoji="1" lang="en-US" altLang="zh-CN" dirty="0">
                <a:ea typeface="等线" panose="02010600030101010101" charset="-122"/>
              </a:rPr>
              <a:t>to Baidu</a:t>
            </a:r>
            <a:endParaRPr kumimoji="1" lang="zh-CN" altLang="en-US" dirty="0">
              <a:ea typeface="等线" panose="02010600030101010101" charset="-122"/>
            </a:endParaRPr>
          </a:p>
          <a:p>
            <a:endParaRPr kumimoji="1" lang="en-US" altLang="zh-CN" dirty="0"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" y="1142256"/>
            <a:ext cx="9004300" cy="419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086472"/>
            <a:ext cx="8991600" cy="419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454624"/>
            <a:ext cx="89916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ARP Spoofing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Construct spoofed ARP replies</a:t>
            </a:r>
            <a:endParaRPr lang="en-US" altLang="zh-TW" dirty="0"/>
          </a:p>
          <a:p>
            <a:r>
              <a:rPr lang="en-US" altLang="zh-TW" dirty="0"/>
              <a:t>A target computer could be convinced to send frames destined for computer A to instead go to computer B</a:t>
            </a:r>
            <a:endParaRPr lang="en-US" altLang="zh-TW" dirty="0"/>
          </a:p>
          <a:p>
            <a:r>
              <a:rPr lang="en-US" altLang="zh-TW" dirty="0"/>
              <a:t>Computer A will have no idea that this redirection took place</a:t>
            </a:r>
            <a:endParaRPr lang="en-US" altLang="zh-TW" dirty="0"/>
          </a:p>
          <a:p>
            <a:r>
              <a:rPr lang="en-US" altLang="zh-TW" dirty="0"/>
              <a:t>This process of updating a target computer's ARP cache is referred to as "</a:t>
            </a:r>
            <a:r>
              <a:rPr lang="en-US" altLang="zh-TW" dirty="0">
                <a:solidFill>
                  <a:srgbClr val="C00000"/>
                </a:solidFill>
              </a:rPr>
              <a:t>ARP poisoning</a:t>
            </a:r>
            <a:r>
              <a:rPr lang="en-US" altLang="zh-TW" dirty="0"/>
              <a:t>"</a:t>
            </a:r>
            <a:endParaRPr lang="en-US" altLang="zh-TW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060648" y="3369146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A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IP:10.0.0.1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MAC:aa:aa:aa:aa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032448" y="3369146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B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IP:10.0.0.2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MAC:bb:bb:bb:bb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928048" y="3369146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Hacker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IP:10.0.0.3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MAC:cc:cc:cc:cc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4108648" y="1400646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switch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4870648" y="1972146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 flipV="1">
            <a:off x="1822648" y="1654646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 flipV="1">
            <a:off x="1822648" y="1654646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5632648" y="1654646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 flipH="1" flipV="1">
            <a:off x="7842448" y="1654646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graphicFrame>
        <p:nvGraphicFramePr>
          <p:cNvPr id="22594" name="Group 66"/>
          <p:cNvGraphicFramePr>
            <a:graphicFrameLocks noGrp="1"/>
          </p:cNvGraphicFramePr>
          <p:nvPr/>
        </p:nvGraphicFramePr>
        <p:xfrm>
          <a:off x="679648" y="4956646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bb:bb:bb:bb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96" name="Text Box 68"/>
          <p:cNvSpPr txBox="1">
            <a:spLocks noChangeArrowheads="1"/>
          </p:cNvSpPr>
          <p:nvPr/>
        </p:nvSpPr>
        <p:spPr bwMode="auto">
          <a:xfrm>
            <a:off x="1365448" y="4575647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graphicFrame>
        <p:nvGraphicFramePr>
          <p:cNvPr id="22597" name="Group 69"/>
          <p:cNvGraphicFramePr>
            <a:graphicFrameLocks noGrp="1"/>
          </p:cNvGraphicFramePr>
          <p:nvPr/>
        </p:nvGraphicFramePr>
        <p:xfrm>
          <a:off x="3727648" y="4956646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aa:aa:aa:aa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608" name="Text Box 80"/>
          <p:cNvSpPr txBox="1">
            <a:spLocks noChangeArrowheads="1"/>
          </p:cNvSpPr>
          <p:nvPr/>
        </p:nvSpPr>
        <p:spPr bwMode="auto">
          <a:xfrm>
            <a:off x="4261048" y="4575647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grpSp>
        <p:nvGrpSpPr>
          <p:cNvPr id="22613" name="Group 85"/>
          <p:cNvGrpSpPr/>
          <p:nvPr/>
        </p:nvGrpSpPr>
        <p:grpSpPr bwMode="auto">
          <a:xfrm>
            <a:off x="5940152" y="384646"/>
            <a:ext cx="1905000" cy="1079500"/>
            <a:chOff x="3696" y="240"/>
            <a:chExt cx="1200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2610" name="Rectangle 82"/>
            <p:cNvSpPr>
              <a:spLocks noChangeArrowheads="1"/>
            </p:cNvSpPr>
            <p:nvPr/>
          </p:nvSpPr>
          <p:spPr bwMode="auto">
            <a:xfrm>
              <a:off x="3696" y="240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Spoofed ARP reply</a:t>
              </a:r>
              <a:endPara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IP:10.0.0.2</a:t>
              </a:r>
              <a:endPara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MAC:cc:cc:cc:cc</a:t>
              </a:r>
              <a:endPara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</p:txBody>
        </p:sp>
        <p:sp>
          <p:nvSpPr>
            <p:cNvPr id="22612" name="Line 84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</p:txBody>
        </p:sp>
      </p:grpSp>
      <p:grpSp>
        <p:nvGrpSpPr>
          <p:cNvPr id="22614" name="Group 86"/>
          <p:cNvGrpSpPr/>
          <p:nvPr/>
        </p:nvGrpSpPr>
        <p:grpSpPr bwMode="auto">
          <a:xfrm rot="-5423267">
            <a:off x="162758" y="1869553"/>
            <a:ext cx="1587500" cy="1122686"/>
            <a:chOff x="3696" y="240"/>
            <a:chExt cx="1200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2615" name="Rectangle 87"/>
            <p:cNvSpPr>
              <a:spLocks noChangeArrowheads="1"/>
            </p:cNvSpPr>
            <p:nvPr/>
          </p:nvSpPr>
          <p:spPr bwMode="auto">
            <a:xfrm>
              <a:off x="3696" y="240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Spoofed ARP reply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IP:10.0.0.2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MAC:cc:cc:cc:cc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</p:txBody>
        </p:sp>
        <p:sp>
          <p:nvSpPr>
            <p:cNvPr id="22616" name="Line 88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</p:txBody>
        </p:sp>
      </p:grpSp>
      <p:grpSp>
        <p:nvGrpSpPr>
          <p:cNvPr id="22617" name="Group 89"/>
          <p:cNvGrpSpPr/>
          <p:nvPr/>
        </p:nvGrpSpPr>
        <p:grpSpPr bwMode="auto">
          <a:xfrm>
            <a:off x="1802904" y="384646"/>
            <a:ext cx="1905000" cy="1079500"/>
            <a:chOff x="3696" y="240"/>
            <a:chExt cx="1200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2618" name="Rectangle 90"/>
            <p:cNvSpPr>
              <a:spLocks noChangeArrowheads="1"/>
            </p:cNvSpPr>
            <p:nvPr/>
          </p:nvSpPr>
          <p:spPr bwMode="auto">
            <a:xfrm>
              <a:off x="3696" y="240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Spoofed ARP reply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IP:10.0.0.2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Myriad Pro Light SemiCond"/>
                </a:rPr>
                <a:t>MAC:cc:cc:cc:cc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</p:txBody>
        </p:sp>
        <p:sp>
          <p:nvSpPr>
            <p:cNvPr id="22619" name="Line 91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060648" y="3361524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A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IP:10.0.0.1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MAC:aa:aa:aa:aa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032448" y="3361524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B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IP:10.0.0.2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MAC:bb:bb:bb:bb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928048" y="3361524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Hacker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IP:10.0.0.3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MAC:cc:cc:cc:cc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4108648" y="1393024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switch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4870648" y="1964524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1822648" y="1647024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V="1">
            <a:off x="1822648" y="1647024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5632648" y="1647024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 flipH="1" flipV="1">
            <a:off x="7842448" y="1647024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graphicFrame>
        <p:nvGraphicFramePr>
          <p:cNvPr id="23563" name="Group 11"/>
          <p:cNvGraphicFramePr>
            <a:graphicFrameLocks noGrp="1"/>
          </p:cNvGraphicFramePr>
          <p:nvPr/>
        </p:nvGraphicFramePr>
        <p:xfrm>
          <a:off x="679648" y="4949024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1365448" y="4568025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graphicFrame>
        <p:nvGraphicFramePr>
          <p:cNvPr id="23575" name="Group 23"/>
          <p:cNvGraphicFramePr>
            <a:graphicFrameLocks noGrp="1"/>
          </p:cNvGraphicFramePr>
          <p:nvPr/>
        </p:nvGraphicFramePr>
        <p:xfrm>
          <a:off x="3727648" y="4949024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aa:aa:aa:aa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586" name="Text Box 34"/>
          <p:cNvSpPr txBox="1">
            <a:spLocks noChangeArrowheads="1"/>
          </p:cNvSpPr>
          <p:nvPr/>
        </p:nvSpPr>
        <p:spPr bwMode="auto">
          <a:xfrm>
            <a:off x="4261048" y="4568025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23596" name="Text Box 44"/>
          <p:cNvSpPr txBox="1">
            <a:spLocks noChangeArrowheads="1"/>
          </p:cNvSpPr>
          <p:nvPr/>
        </p:nvSpPr>
        <p:spPr bwMode="auto">
          <a:xfrm>
            <a:off x="924327" y="4262191"/>
            <a:ext cx="242085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A's cache is poisoned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ARP Spoofing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Now all the packets that A intends to send to B will go to the hacker's machine</a:t>
            </a:r>
            <a:endParaRPr lang="en-US" altLang="zh-TW" dirty="0"/>
          </a:p>
          <a:p>
            <a:r>
              <a:rPr lang="en-US" altLang="zh-TW" dirty="0"/>
              <a:t>Cache entry would expire, so it needs to be updated by sending the ARP reply again</a:t>
            </a:r>
            <a:endParaRPr lang="en-US" altLang="zh-TW" dirty="0"/>
          </a:p>
          <a:p>
            <a:pPr lvl="1"/>
            <a:r>
              <a:rPr lang="en-US" altLang="zh-TW" dirty="0"/>
              <a:t>How often?</a:t>
            </a:r>
            <a:endParaRPr lang="en-US" altLang="zh-TW" dirty="0"/>
          </a:p>
          <a:p>
            <a:pPr lvl="1"/>
            <a:r>
              <a:rPr lang="en-US" altLang="zh-TW" dirty="0"/>
              <a:t> depends on the particular system</a:t>
            </a:r>
            <a:endParaRPr lang="en-US" altLang="zh-TW" dirty="0"/>
          </a:p>
          <a:p>
            <a:pPr lvl="1"/>
            <a:r>
              <a:rPr lang="en-US" altLang="zh-TW" dirty="0"/>
              <a:t>Usually every 40s should be sufficient</a:t>
            </a:r>
            <a:endParaRPr lang="en-US" altLang="zh-TW" dirty="0"/>
          </a:p>
          <a:p>
            <a:r>
              <a:rPr lang="en-US" altLang="zh-TW" dirty="0"/>
              <a:t>In addition the hacker may not want his Ethernet driver talk too much</a:t>
            </a:r>
            <a:endParaRPr lang="en-US" altLang="zh-TW" dirty="0"/>
          </a:p>
          <a:p>
            <a:pPr lvl="1"/>
            <a:r>
              <a:rPr lang="en-US" altLang="zh-TW" dirty="0"/>
              <a:t>Accomplish with </a:t>
            </a:r>
            <a:r>
              <a:rPr lang="en-US" altLang="zh-TW" dirty="0">
                <a:solidFill>
                  <a:srgbClr val="FF0000"/>
                </a:solidFill>
              </a:rPr>
              <a:t>ifconfig -</a:t>
            </a:r>
            <a:r>
              <a:rPr lang="en-US" altLang="zh-TW" dirty="0" err="1">
                <a:solidFill>
                  <a:srgbClr val="FF0000"/>
                </a:solidFill>
              </a:rPr>
              <a:t>arp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Man-in-the-Middle Attack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1612900" algn="l"/>
              </a:tabLst>
            </a:pPr>
            <a:r>
              <a:rPr lang="en-US" altLang="zh-TW" dirty="0"/>
              <a:t>A hacker inserts his computer between the communications path of two target computers</a:t>
            </a:r>
            <a:endParaRPr lang="en-US" altLang="zh-TW" dirty="0"/>
          </a:p>
          <a:p>
            <a:pPr>
              <a:tabLst>
                <a:tab pos="1612900" algn="l"/>
              </a:tabLst>
            </a:pPr>
            <a:r>
              <a:rPr lang="en-US" altLang="zh-TW" dirty="0"/>
              <a:t>The hacker will forward frames between the two target computers so communications are not interrupted</a:t>
            </a:r>
            <a:endParaRPr lang="en-US" altLang="zh-TW" dirty="0"/>
          </a:p>
          <a:p>
            <a:pPr>
              <a:tabLst>
                <a:tab pos="1612900" algn="l"/>
              </a:tabLst>
            </a:pPr>
            <a:r>
              <a:rPr lang="en-US" altLang="zh-TW" dirty="0"/>
              <a:t>E.g., Hunt, Ettercap</a:t>
            </a:r>
            <a:r>
              <a:rPr lang="en-US" altLang="zh-CN" dirty="0"/>
              <a:t>,</a:t>
            </a:r>
            <a:r>
              <a:rPr lang="en-US" altLang="zh-TW" dirty="0"/>
              <a:t> etc</a:t>
            </a:r>
            <a:r>
              <a:rPr lang="en-US" altLang="zh-CN" dirty="0"/>
              <a:t>.</a:t>
            </a:r>
            <a:endParaRPr lang="en-US" altLang="zh-TW" dirty="0"/>
          </a:p>
          <a:p>
            <a:pPr lvl="1">
              <a:tabLst>
                <a:tab pos="1612900" algn="l"/>
              </a:tabLst>
            </a:pPr>
            <a:r>
              <a:rPr lang="en-US" altLang="zh-TW" dirty="0"/>
              <a:t>Can be obtained easily in many web archives</a:t>
            </a:r>
            <a:endParaRPr lang="en-US" altLang="zh-TW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Man-in-the-Middle Attack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en-US" altLang="zh-TW" dirty="0"/>
              <a:t>The attack is performed as follows:</a:t>
            </a:r>
            <a:endParaRPr lang="en-US" altLang="zh-TW" dirty="0"/>
          </a:p>
          <a:p>
            <a:pPr marL="990600" lvl="1" indent="-533400"/>
            <a:r>
              <a:rPr lang="en-US" altLang="zh-TW" dirty="0"/>
              <a:t>Suppose X is the hacker's computer</a:t>
            </a:r>
            <a:endParaRPr lang="en-US" altLang="zh-TW" dirty="0"/>
          </a:p>
          <a:p>
            <a:pPr marL="990600" lvl="1" indent="-533400"/>
            <a:r>
              <a:rPr lang="en-US" altLang="zh-TW" dirty="0"/>
              <a:t>T1 and T2 are the targets</a:t>
            </a:r>
            <a:endParaRPr lang="en-US" altLang="zh-TW" dirty="0"/>
          </a:p>
          <a:p>
            <a:pPr marL="990600" lvl="1" indent="-533400">
              <a:buFontTx/>
              <a:buAutoNum type="arabicPeriod"/>
            </a:pPr>
            <a:r>
              <a:rPr lang="en-US" altLang="zh-TW" dirty="0"/>
              <a:t>X poisons the ARP cache of T1 and T2</a:t>
            </a:r>
            <a:endParaRPr lang="en-US" altLang="zh-TW" dirty="0"/>
          </a:p>
          <a:p>
            <a:pPr marL="990600" lvl="1" indent="-533400">
              <a:buFontTx/>
              <a:buAutoNum type="arabicPeriod"/>
            </a:pPr>
            <a:r>
              <a:rPr lang="en-US" altLang="zh-TW" dirty="0"/>
              <a:t>T1 associates T2's IP with X's MAC</a:t>
            </a:r>
            <a:endParaRPr lang="en-US" altLang="zh-TW" dirty="0"/>
          </a:p>
          <a:p>
            <a:pPr marL="990600" lvl="1" indent="-533400">
              <a:buFontTx/>
              <a:buAutoNum type="arabicPeriod"/>
            </a:pPr>
            <a:r>
              <a:rPr lang="en-US" altLang="zh-TW" dirty="0"/>
              <a:t>T2 associates T1's IP with X's MAC</a:t>
            </a:r>
            <a:endParaRPr lang="en-US" altLang="zh-TW" dirty="0"/>
          </a:p>
          <a:p>
            <a:pPr marL="990600" lvl="1" indent="-533400">
              <a:buFontTx/>
              <a:buAutoNum type="arabicPeriod"/>
            </a:pPr>
            <a:r>
              <a:rPr lang="en-US" altLang="zh-TW" dirty="0"/>
              <a:t>All of T1 and T2's traffic will then go to X first, instead of directly to each other</a:t>
            </a:r>
            <a:endParaRPr lang="en-US" altLang="zh-TW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6858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MAC:aa:aa:aa:aa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6576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T2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IP:10.0.0.2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MAC:bb:bb:bb:bb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5532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IP:10.0.0.3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MAC:cc:cc:cc:cc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3733800" y="1016000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switch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4495800" y="1587500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14478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flipV="1">
            <a:off x="144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525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 flipH="1" flipV="1">
            <a:off x="74676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27659" name="Group 11"/>
          <p:cNvGraphicFramePr>
            <a:graphicFrameLocks noGrp="1"/>
          </p:cNvGraphicFramePr>
          <p:nvPr/>
        </p:nvGraphicFramePr>
        <p:xfrm>
          <a:off x="304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bb:bb:bb:bb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9906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27671" name="Group 23"/>
          <p:cNvGraphicFramePr>
            <a:graphicFrameLocks noGrp="1"/>
          </p:cNvGraphicFramePr>
          <p:nvPr/>
        </p:nvGraphicFramePr>
        <p:xfrm>
          <a:off x="3352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aa:aa:aa:aa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82" name="Text Box 34"/>
          <p:cNvSpPr txBox="1">
            <a:spLocks noChangeArrowheads="1"/>
          </p:cNvSpPr>
          <p:nvPr/>
        </p:nvSpPr>
        <p:spPr bwMode="auto">
          <a:xfrm>
            <a:off x="38862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27683" name="Group 35"/>
          <p:cNvGrpSpPr/>
          <p:nvPr/>
        </p:nvGrpSpPr>
        <p:grpSpPr bwMode="auto">
          <a:xfrm>
            <a:off x="5867400" y="49808"/>
            <a:ext cx="1905000" cy="1079500"/>
            <a:chOff x="3696" y="240"/>
            <a:chExt cx="1200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7684" name="Rectangle 36"/>
            <p:cNvSpPr>
              <a:spLocks noChangeArrowheads="1"/>
            </p:cNvSpPr>
            <p:nvPr/>
          </p:nvSpPr>
          <p:spPr bwMode="auto">
            <a:xfrm>
              <a:off x="3696" y="240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Spoofed ARP reply</a:t>
              </a:r>
              <a:endPara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IP:10.0.0.2</a:t>
              </a:r>
              <a:endPara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MAC:cc:cc:cc:cc</a:t>
              </a:r>
              <a:endPara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7685" name="Line 37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686" name="Group 38"/>
          <p:cNvGrpSpPr/>
          <p:nvPr/>
        </p:nvGrpSpPr>
        <p:grpSpPr bwMode="auto">
          <a:xfrm rot="-5423267">
            <a:off x="-275855" y="1490137"/>
            <a:ext cx="1920875" cy="914400"/>
            <a:chOff x="3706" y="240"/>
            <a:chExt cx="1452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7687" name="Rectangle 39"/>
            <p:cNvSpPr>
              <a:spLocks noChangeArrowheads="1"/>
            </p:cNvSpPr>
            <p:nvPr/>
          </p:nvSpPr>
          <p:spPr bwMode="auto">
            <a:xfrm>
              <a:off x="3706" y="240"/>
              <a:ext cx="1452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Spoofed ARP reply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IP:10.0.0.2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MAC:cc:cc:cc:cc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7688" name="Line 40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689" name="Group 41"/>
          <p:cNvGrpSpPr/>
          <p:nvPr/>
        </p:nvGrpSpPr>
        <p:grpSpPr bwMode="auto">
          <a:xfrm>
            <a:off x="1371600" y="49808"/>
            <a:ext cx="1905000" cy="1079500"/>
            <a:chOff x="3696" y="240"/>
            <a:chExt cx="1200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7690" name="Rectangle 42"/>
            <p:cNvSpPr>
              <a:spLocks noChangeArrowheads="1"/>
            </p:cNvSpPr>
            <p:nvPr/>
          </p:nvSpPr>
          <p:spPr bwMode="auto">
            <a:xfrm>
              <a:off x="3696" y="240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Spoofed ARP reply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IP:10.0.0.2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MAC:cc:cc:cc:cc</a:t>
              </a:r>
              <a:endPara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7691" name="Line 43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6858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MAC:aa:aa:aa:aa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6576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T2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IP:10.0.0.2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MAC:bb:bb:bb:bb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5532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IP:10.0.0.3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MAC:cc:cc:cc:cc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3733800" y="1016000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switch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4495800" y="1587500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 flipV="1">
            <a:off x="14478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 flipV="1">
            <a:off x="144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525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 flipH="1" flipV="1">
            <a:off x="74676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0731" name="Group 11"/>
          <p:cNvGraphicFramePr>
            <a:graphicFrameLocks noGrp="1"/>
          </p:cNvGraphicFramePr>
          <p:nvPr/>
        </p:nvGraphicFramePr>
        <p:xfrm>
          <a:off x="304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42" name="Text Box 22"/>
          <p:cNvSpPr txBox="1">
            <a:spLocks noChangeArrowheads="1"/>
          </p:cNvSpPr>
          <p:nvPr/>
        </p:nvSpPr>
        <p:spPr bwMode="auto">
          <a:xfrm>
            <a:off x="9906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0743" name="Group 23"/>
          <p:cNvGraphicFramePr>
            <a:graphicFrameLocks noGrp="1"/>
          </p:cNvGraphicFramePr>
          <p:nvPr/>
        </p:nvGraphicFramePr>
        <p:xfrm>
          <a:off x="3352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aa:aa:aa:aa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54" name="Text Box 34"/>
          <p:cNvSpPr txBox="1">
            <a:spLocks noChangeArrowheads="1"/>
          </p:cNvSpPr>
          <p:nvPr/>
        </p:nvSpPr>
        <p:spPr bwMode="auto">
          <a:xfrm>
            <a:off x="38862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755" name="Text Box 35"/>
          <p:cNvSpPr txBox="1">
            <a:spLocks noChangeArrowheads="1"/>
          </p:cNvSpPr>
          <p:nvPr/>
        </p:nvSpPr>
        <p:spPr bwMode="auto">
          <a:xfrm>
            <a:off x="212725" y="5177896"/>
            <a:ext cx="2398413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T1's cache is poisoned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6858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T1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IP:10.0.0.1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MAC:aa:aa:aa:aa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6576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T2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MAC:bb:bb:bb:bb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5532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IP:10.0.0.3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MAC:cc:cc:cc:cc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3733800" y="1016000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switch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4495800" y="1587500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V="1">
            <a:off x="14478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flipV="1">
            <a:off x="144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525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 flipH="1" flipV="1">
            <a:off x="74676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1755" name="Group 11"/>
          <p:cNvGraphicFramePr>
            <a:graphicFrameLocks noGrp="1"/>
          </p:cNvGraphicFramePr>
          <p:nvPr/>
        </p:nvGraphicFramePr>
        <p:xfrm>
          <a:off x="304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9906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1767" name="Group 23"/>
          <p:cNvGraphicFramePr>
            <a:graphicFrameLocks noGrp="1"/>
          </p:cNvGraphicFramePr>
          <p:nvPr/>
        </p:nvGraphicFramePr>
        <p:xfrm>
          <a:off x="3352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aa:aa:aa:aa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78" name="Text Box 34"/>
          <p:cNvSpPr txBox="1">
            <a:spLocks noChangeArrowheads="1"/>
          </p:cNvSpPr>
          <p:nvPr/>
        </p:nvSpPr>
        <p:spPr bwMode="auto">
          <a:xfrm>
            <a:off x="38862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1779" name="Group 35"/>
          <p:cNvGrpSpPr/>
          <p:nvPr/>
        </p:nvGrpSpPr>
        <p:grpSpPr bwMode="auto">
          <a:xfrm>
            <a:off x="5867400" y="49808"/>
            <a:ext cx="1905000" cy="1079500"/>
            <a:chOff x="3696" y="240"/>
            <a:chExt cx="1200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1780" name="Rectangle 36"/>
            <p:cNvSpPr>
              <a:spLocks noChangeArrowheads="1"/>
            </p:cNvSpPr>
            <p:nvPr/>
          </p:nvSpPr>
          <p:spPr bwMode="auto">
            <a:xfrm>
              <a:off x="3696" y="240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Forged ARP replies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IP:10.0.0.1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MAC:cc:cc:cc:cc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781" name="Line 37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1788" name="Group 44"/>
          <p:cNvGrpSpPr/>
          <p:nvPr/>
        </p:nvGrpSpPr>
        <p:grpSpPr bwMode="auto">
          <a:xfrm rot="-5423267">
            <a:off x="2635250" y="1733550"/>
            <a:ext cx="1587500" cy="914400"/>
            <a:chOff x="3696" y="240"/>
            <a:chExt cx="1200" cy="57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1789" name="Rectangle 45"/>
            <p:cNvSpPr>
              <a:spLocks noChangeArrowheads="1"/>
            </p:cNvSpPr>
            <p:nvPr/>
          </p:nvSpPr>
          <p:spPr bwMode="auto">
            <a:xfrm>
              <a:off x="3696" y="240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Forged ARP replies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IP:10.0.0.1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MAC:cc:cc:cc:cc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790" name="Line 46"/>
            <p:cNvSpPr>
              <a:spLocks noChangeShapeType="1"/>
            </p:cNvSpPr>
            <p:nvPr/>
          </p:nvSpPr>
          <p:spPr bwMode="auto">
            <a:xfrm flipH="1">
              <a:off x="3744" y="816"/>
              <a:ext cx="960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6858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T1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IP:10.0.0.1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MAC:aa:aa:aa:aa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36576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T2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IP:10.0.0.2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MAC:bb:bb:bb:bb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65532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IP:10.0.0.3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MAC:cc:cc:cc:cc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3733800" y="1016000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switch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>
            <a:off x="4495800" y="1587500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 flipV="1">
            <a:off x="14478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 flipV="1">
            <a:off x="144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>
            <a:off x="525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H="1" flipV="1">
            <a:off x="74676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2779" name="Group 11"/>
          <p:cNvGraphicFramePr>
            <a:graphicFrameLocks noGrp="1"/>
          </p:cNvGraphicFramePr>
          <p:nvPr/>
        </p:nvGraphicFramePr>
        <p:xfrm>
          <a:off x="304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9906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2791" name="Group 23"/>
          <p:cNvGraphicFramePr>
            <a:graphicFrameLocks noGrp="1"/>
          </p:cNvGraphicFramePr>
          <p:nvPr/>
        </p:nvGraphicFramePr>
        <p:xfrm>
          <a:off x="3352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02" name="Text Box 34"/>
          <p:cNvSpPr txBox="1">
            <a:spLocks noChangeArrowheads="1"/>
          </p:cNvSpPr>
          <p:nvPr/>
        </p:nvSpPr>
        <p:spPr bwMode="auto">
          <a:xfrm>
            <a:off x="38862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803" name="Text Box 35"/>
          <p:cNvSpPr txBox="1">
            <a:spLocks noChangeArrowheads="1"/>
          </p:cNvSpPr>
          <p:nvPr/>
        </p:nvSpPr>
        <p:spPr bwMode="auto">
          <a:xfrm>
            <a:off x="3200400" y="5207000"/>
            <a:ext cx="2398413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T2's cache is poisoned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6858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MAC:aa:aa:aa:aa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6576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T2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IP:10.0.0.2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MAC:bb:bb:bb:bb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65532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IP:10.0.0.3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MAC:cc:cc:cc:cc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3733800" y="1016000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switch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>
            <a:off x="4495800" y="1587500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14478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 flipV="1">
            <a:off x="144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525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 flipH="1" flipV="1">
            <a:off x="74676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4827" name="Group 11"/>
          <p:cNvGraphicFramePr>
            <a:graphicFrameLocks noGrp="1"/>
          </p:cNvGraphicFramePr>
          <p:nvPr/>
        </p:nvGraphicFramePr>
        <p:xfrm>
          <a:off x="304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38" name="Text Box 22"/>
          <p:cNvSpPr txBox="1">
            <a:spLocks noChangeArrowheads="1"/>
          </p:cNvSpPr>
          <p:nvPr/>
        </p:nvSpPr>
        <p:spPr bwMode="auto">
          <a:xfrm>
            <a:off x="9906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4839" name="Group 23"/>
          <p:cNvGraphicFramePr>
            <a:graphicFrameLocks noGrp="1"/>
          </p:cNvGraphicFramePr>
          <p:nvPr/>
        </p:nvGraphicFramePr>
        <p:xfrm>
          <a:off x="3352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38862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54" name="Line 38"/>
          <p:cNvSpPr>
            <a:spLocks noChangeShapeType="1"/>
          </p:cNvSpPr>
          <p:nvPr/>
        </p:nvSpPr>
        <p:spPr bwMode="auto">
          <a:xfrm flipV="1">
            <a:off x="914400" y="444500"/>
            <a:ext cx="0" cy="2286000"/>
          </a:xfrm>
          <a:prstGeom prst="line">
            <a:avLst/>
          </a:prstGeom>
          <a:noFill/>
          <a:ln w="38100">
            <a:solidFill>
              <a:schemeClr val="accent3">
                <a:lumMod val="75000"/>
              </a:schemeClr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58" name="Line 42"/>
          <p:cNvSpPr>
            <a:spLocks noChangeShapeType="1"/>
          </p:cNvSpPr>
          <p:nvPr/>
        </p:nvSpPr>
        <p:spPr bwMode="auto">
          <a:xfrm>
            <a:off x="914400" y="444500"/>
            <a:ext cx="7162800" cy="0"/>
          </a:xfrm>
          <a:prstGeom prst="line">
            <a:avLst/>
          </a:prstGeom>
          <a:noFill/>
          <a:ln w="38100">
            <a:solidFill>
              <a:schemeClr val="accent3">
                <a:lumMod val="75000"/>
              </a:schemeClr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59" name="Line 43"/>
          <p:cNvSpPr>
            <a:spLocks noChangeShapeType="1"/>
          </p:cNvSpPr>
          <p:nvPr/>
        </p:nvSpPr>
        <p:spPr bwMode="auto">
          <a:xfrm>
            <a:off x="8077200" y="444500"/>
            <a:ext cx="0" cy="2286000"/>
          </a:xfrm>
          <a:prstGeom prst="line">
            <a:avLst/>
          </a:prstGeom>
          <a:noFill/>
          <a:ln w="38100">
            <a:solidFill>
              <a:schemeClr val="accent3">
                <a:lumMod val="75000"/>
              </a:schemeClr>
            </a:solidFill>
            <a:prstDash val="dash"/>
            <a:round/>
            <a:tailEnd type="triangle" w="lg" len="lg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60" name="Text Box 44"/>
          <p:cNvSpPr txBox="1">
            <a:spLocks noChangeArrowheads="1"/>
          </p:cNvSpPr>
          <p:nvPr/>
        </p:nvSpPr>
        <p:spPr bwMode="auto">
          <a:xfrm>
            <a:off x="2743201" y="0"/>
            <a:ext cx="338265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Message intended to send to T2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62" name="Line 46"/>
          <p:cNvSpPr>
            <a:spLocks noChangeShapeType="1"/>
          </p:cNvSpPr>
          <p:nvPr/>
        </p:nvSpPr>
        <p:spPr bwMode="auto">
          <a:xfrm flipV="1">
            <a:off x="6934200" y="1651000"/>
            <a:ext cx="0" cy="12065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64" name="Line 48"/>
          <p:cNvSpPr>
            <a:spLocks noChangeShapeType="1"/>
          </p:cNvSpPr>
          <p:nvPr/>
        </p:nvSpPr>
        <p:spPr bwMode="auto">
          <a:xfrm flipH="1">
            <a:off x="5029200" y="1651000"/>
            <a:ext cx="19050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65" name="Line 49"/>
          <p:cNvSpPr>
            <a:spLocks noChangeShapeType="1"/>
          </p:cNvSpPr>
          <p:nvPr/>
        </p:nvSpPr>
        <p:spPr bwMode="auto">
          <a:xfrm>
            <a:off x="5029200" y="1651000"/>
            <a:ext cx="0" cy="11430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  <a:tailEnd type="triangle" w="lg" len="lg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866" name="Text Box 50"/>
          <p:cNvSpPr txBox="1">
            <a:spLocks noChangeArrowheads="1"/>
          </p:cNvSpPr>
          <p:nvPr/>
        </p:nvSpPr>
        <p:spPr bwMode="auto">
          <a:xfrm>
            <a:off x="5181600" y="1841500"/>
            <a:ext cx="1249060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 will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relay the 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message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6858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MAC:aa:aa:aa:aa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6576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T2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IP:10.0.0.2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MAC:bb:bb:bb:bb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6553200" y="2984500"/>
            <a:ext cx="16764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IP:10.0.0.3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MAC:cc:cc:cc:cc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3733800" y="1016000"/>
            <a:ext cx="1524000" cy="5715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switch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4495800" y="1587500"/>
            <a:ext cx="0" cy="139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V="1">
            <a:off x="14478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 flipV="1">
            <a:off x="144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5257800" y="127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H="1" flipV="1">
            <a:off x="7467600" y="12700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5851" name="Group 11"/>
          <p:cNvGraphicFramePr>
            <a:graphicFrameLocks noGrp="1"/>
          </p:cNvGraphicFramePr>
          <p:nvPr/>
        </p:nvGraphicFramePr>
        <p:xfrm>
          <a:off x="304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10.0.0.2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9906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35863" name="Group 23"/>
          <p:cNvGraphicFramePr>
            <a:graphicFrameLocks noGrp="1"/>
          </p:cNvGraphicFramePr>
          <p:nvPr/>
        </p:nvGraphicFramePr>
        <p:xfrm>
          <a:off x="3352800" y="4572000"/>
          <a:ext cx="2438400" cy="56515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IP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MAC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10.0.0.1</a:t>
                      </a:r>
                      <a:endParaRPr kumimoji="1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PMingLiU" charset="0"/>
                        </a:rPr>
                        <a:t>cc:cc:cc:cc</a:t>
                      </a:r>
                      <a:endParaRPr kumimoji="1" lang="en-US" altLang="zh-TW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PMingLiU" charset="0"/>
                      </a:endParaRPr>
                    </a:p>
                  </a:txBody>
                  <a:tcPr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74" name="Text Box 34"/>
          <p:cNvSpPr txBox="1">
            <a:spLocks noChangeArrowheads="1"/>
          </p:cNvSpPr>
          <p:nvPr/>
        </p:nvSpPr>
        <p:spPr bwMode="auto">
          <a:xfrm>
            <a:off x="3886200" y="4191001"/>
            <a:ext cx="122341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ARP cache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75" name="Line 35"/>
          <p:cNvSpPr>
            <a:spLocks noChangeShapeType="1"/>
          </p:cNvSpPr>
          <p:nvPr/>
        </p:nvSpPr>
        <p:spPr bwMode="auto">
          <a:xfrm flipV="1">
            <a:off x="914400" y="444500"/>
            <a:ext cx="0" cy="22860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  <a:headEnd type="triangle" w="lg" len="lg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76" name="Line 36"/>
          <p:cNvSpPr>
            <a:spLocks noChangeShapeType="1"/>
          </p:cNvSpPr>
          <p:nvPr/>
        </p:nvSpPr>
        <p:spPr bwMode="auto">
          <a:xfrm>
            <a:off x="914400" y="444500"/>
            <a:ext cx="71628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77" name="Line 37"/>
          <p:cNvSpPr>
            <a:spLocks noChangeShapeType="1"/>
          </p:cNvSpPr>
          <p:nvPr/>
        </p:nvSpPr>
        <p:spPr bwMode="auto">
          <a:xfrm>
            <a:off x="8077200" y="444500"/>
            <a:ext cx="0" cy="22860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78" name="Text Box 38"/>
          <p:cNvSpPr txBox="1">
            <a:spLocks noChangeArrowheads="1"/>
          </p:cNvSpPr>
          <p:nvPr/>
        </p:nvSpPr>
        <p:spPr bwMode="auto">
          <a:xfrm>
            <a:off x="2743201" y="0"/>
            <a:ext cx="3095719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Hacker will relay the message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79" name="Line 39"/>
          <p:cNvSpPr>
            <a:spLocks noChangeShapeType="1"/>
          </p:cNvSpPr>
          <p:nvPr/>
        </p:nvSpPr>
        <p:spPr bwMode="auto">
          <a:xfrm flipV="1">
            <a:off x="6934200" y="1651000"/>
            <a:ext cx="0" cy="12065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lg" len="lg"/>
            <a:tailEnd w="lg" len="lg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82" name="Text Box 42"/>
          <p:cNvSpPr txBox="1">
            <a:spLocks noChangeArrowheads="1"/>
          </p:cNvSpPr>
          <p:nvPr/>
        </p:nvSpPr>
        <p:spPr bwMode="auto">
          <a:xfrm>
            <a:off x="5181600" y="1841500"/>
            <a:ext cx="1335622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Message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intended to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send to T1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883" name="Line 43"/>
          <p:cNvSpPr>
            <a:spLocks noChangeShapeType="1"/>
          </p:cNvSpPr>
          <p:nvPr/>
        </p:nvSpPr>
        <p:spPr bwMode="auto">
          <a:xfrm>
            <a:off x="5029200" y="1651000"/>
            <a:ext cx="0" cy="12065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Line 48"/>
          <p:cNvSpPr>
            <a:spLocks noChangeShapeType="1"/>
          </p:cNvSpPr>
          <p:nvPr/>
        </p:nvSpPr>
        <p:spPr bwMode="auto">
          <a:xfrm flipH="1">
            <a:off x="5029200" y="1651000"/>
            <a:ext cx="19050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Defenses against ARP Spoofing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No Universal defense (!)</a:t>
            </a:r>
            <a:endParaRPr lang="en-US" altLang="zh-TW" dirty="0"/>
          </a:p>
          <a:p>
            <a:r>
              <a:rPr lang="en-US" altLang="zh-TW" dirty="0"/>
              <a:t>Use static ARP entries</a:t>
            </a:r>
            <a:endParaRPr lang="en-US" altLang="zh-TW" dirty="0"/>
          </a:p>
          <a:p>
            <a:pPr lvl="1"/>
            <a:r>
              <a:rPr lang="en-US" altLang="zh-TW" dirty="0"/>
              <a:t>Cannot be updated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TW" dirty="0"/>
              <a:t>Spoofed ARP replies are ignored</a:t>
            </a:r>
            <a:endParaRPr lang="en-US" altLang="zh-TW" dirty="0"/>
          </a:p>
          <a:p>
            <a:pPr lvl="1"/>
            <a:r>
              <a:rPr lang="en-US" altLang="zh-TW" dirty="0"/>
              <a:t>ARP table needs a static entry for each machine on the network</a:t>
            </a:r>
            <a:endParaRPr lang="en-US" altLang="zh-TW" dirty="0"/>
          </a:p>
          <a:p>
            <a:pPr lvl="1"/>
            <a:r>
              <a:rPr lang="en-US" altLang="zh-TW" dirty="0"/>
              <a:t>Large overhead</a:t>
            </a:r>
            <a:endParaRPr lang="en-US" altLang="zh-TW" dirty="0"/>
          </a:p>
          <a:p>
            <a:pPr lvl="2"/>
            <a:r>
              <a:rPr lang="en-US" altLang="zh-TW" dirty="0"/>
              <a:t>Deploying these tables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TW" dirty="0"/>
              <a:t>Keep the table up-to-date</a:t>
            </a:r>
            <a:endParaRPr lang="en-US" altLang="zh-TW" dirty="0"/>
          </a:p>
          <a:p>
            <a:r>
              <a:rPr lang="en-US" altLang="zh-TW" dirty="0" err="1"/>
              <a:t>Arpwatch</a:t>
            </a:r>
            <a:endParaRPr lang="en-US" altLang="zh-TW" dirty="0"/>
          </a:p>
          <a:p>
            <a:pPr lvl="1"/>
            <a:r>
              <a:rPr lang="en-US" altLang="zh-CN" dirty="0"/>
              <a:t>A free UNIX program which listens for ARP replies on a network</a:t>
            </a:r>
            <a:endParaRPr lang="en-US" altLang="zh-CN" dirty="0"/>
          </a:p>
          <a:p>
            <a:pPr lvl="1"/>
            <a:r>
              <a:rPr lang="en-US" altLang="zh-CN" dirty="0"/>
              <a:t>Build a table of IP/MAC associations and store it in a file</a:t>
            </a:r>
            <a:endParaRPr lang="en-US" altLang="zh-CN" dirty="0"/>
          </a:p>
          <a:p>
            <a:pPr lvl="1"/>
            <a:r>
              <a:rPr lang="en-US" altLang="zh-CN" dirty="0"/>
              <a:t>When a MAC/IP pair changes (flip-flop), an email is sent to an administrator</a:t>
            </a:r>
            <a:endParaRPr lang="en-US" altLang="zh-CN" dirty="0"/>
          </a:p>
          <a:p>
            <a:endParaRPr lang="en-US" altLang="zh-TW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BE374B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39969</Words>
  <Application>WPS 演示</Application>
  <PresentationFormat>全屏显示(16:10)</PresentationFormat>
  <Paragraphs>4940</Paragraphs>
  <Slides>115</Slides>
  <Notes>45</Notes>
  <HiddenSlides>12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36" baseType="lpstr">
      <vt:lpstr>Arial</vt:lpstr>
      <vt:lpstr>宋体</vt:lpstr>
      <vt:lpstr>Wingdings</vt:lpstr>
      <vt:lpstr>等线</vt:lpstr>
      <vt:lpstr>微软雅黑 Light</vt:lpstr>
      <vt:lpstr>PingFang SC</vt:lpstr>
      <vt:lpstr>Arial</vt:lpstr>
      <vt:lpstr>微软雅黑</vt:lpstr>
      <vt:lpstr>Calibri</vt:lpstr>
      <vt:lpstr>Calibri</vt:lpstr>
      <vt:lpstr>MS PGothic</vt:lpstr>
      <vt:lpstr>Adobe 楷体 Std R</vt:lpstr>
      <vt:lpstr>Arial Unicode MS</vt:lpstr>
      <vt:lpstr>Comic Sans MS</vt:lpstr>
      <vt:lpstr>Trebuchet MS</vt:lpstr>
      <vt:lpstr>Times New Roman</vt:lpstr>
      <vt:lpstr>Consolas</vt:lpstr>
      <vt:lpstr>Myriad Pro Light SemiCond</vt:lpstr>
      <vt:lpstr>Segoe Print</vt:lpstr>
      <vt:lpstr>PMingLiU</vt:lpstr>
      <vt:lpstr>1_Office 主题​​</vt:lpstr>
      <vt:lpstr>Network Layer All about routing</vt:lpstr>
      <vt:lpstr>PowerPoint 演示文稿</vt:lpstr>
      <vt:lpstr>Goal of A Routing Protocol</vt:lpstr>
      <vt:lpstr>Distributed Routing: 3 Steps in General </vt:lpstr>
      <vt:lpstr>Two Types of Routing Protocol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 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link-state routing: disseminate full topology information  so that nodes can run a shortest-path algorithm</vt:lpstr>
      <vt:lpstr>Distance-vector Routing </vt:lpstr>
      <vt:lpstr>Distance-vector Routing 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distance-vector routing: disseminate information about the  current costs to each node, rather than the actual topology</vt:lpstr>
      <vt:lpstr>Problem of INFINITY</vt:lpstr>
      <vt:lpstr>PowerPoint 演示文稿</vt:lpstr>
      <vt:lpstr>PowerPoint 演示文稿</vt:lpstr>
      <vt:lpstr>PowerPoint 演示文稿</vt:lpstr>
      <vt:lpstr>Link-State Summary</vt:lpstr>
      <vt:lpstr>Distance Vector</vt:lpstr>
      <vt:lpstr>PowerPoint 演示文稿</vt:lpstr>
      <vt:lpstr>3 Ways to Scale</vt:lpstr>
      <vt:lpstr>Path Vector Exchange</vt:lpstr>
      <vt:lpstr>Path Vector Exchange</vt:lpstr>
      <vt:lpstr>PowerPoint 演示文稿</vt:lpstr>
      <vt:lpstr>Path Vector Exchange</vt:lpstr>
      <vt:lpstr>Questions on Path Vector</vt:lpstr>
      <vt:lpstr>Hierarchical Address Assignment &amp; Routing</vt:lpstr>
      <vt:lpstr>Hierarchical Address Assignment &amp; Routing</vt:lpstr>
      <vt:lpstr>Hierarchical Address Assignment &amp; Routing</vt:lpstr>
      <vt:lpstr>Routing Hierarchy</vt:lpstr>
      <vt:lpstr>Topological Addressing</vt:lpstr>
      <vt:lpstr>PowerPoint 演示文稿</vt:lpstr>
      <vt:lpstr>Network Layer Interface</vt:lpstr>
      <vt:lpstr>PowerPoint 演示文稿</vt:lpstr>
      <vt:lpstr>PowerPoint 演示文稿</vt:lpstr>
      <vt:lpstr>Forwarding an IP Packet</vt:lpstr>
      <vt:lpstr>Data-plane Case Study: Intel's DPDK</vt:lpstr>
      <vt:lpstr>UC Berkeley’s RouteBricks [SOSP’09]</vt:lpstr>
      <vt:lpstr>PowerPoint 演示文稿</vt:lpstr>
      <vt:lpstr>NAT (Network Address Translation)</vt:lpstr>
      <vt:lpstr>NAT</vt:lpstr>
      <vt:lpstr>PowerPoint 演示文稿</vt:lpstr>
      <vt:lpstr>PowerPoint 演示文稿</vt:lpstr>
      <vt:lpstr>Case Study: Mapping Internet to Ethernet</vt:lpstr>
      <vt:lpstr>Overview of Ethernet</vt:lpstr>
      <vt:lpstr>Difference between Hub and Switch</vt:lpstr>
      <vt:lpstr>Broadcast Aspects of Ethernet</vt:lpstr>
      <vt:lpstr>Broadcast Aspects of Ethernet</vt:lpstr>
      <vt:lpstr>Broadcast Aspects of Ethernet</vt:lpstr>
      <vt:lpstr>Layer Mapping: Attach Ethernet to Forwarding Network</vt:lpstr>
      <vt:lpstr>Layer Mapping</vt:lpstr>
      <vt:lpstr>ARP (Address Resolution Protocol)</vt:lpstr>
      <vt:lpstr>ARP &amp; RARP Protocol</vt:lpstr>
      <vt:lpstr>ARP &amp;  RARP</vt:lpstr>
      <vt:lpstr>Network Topology</vt:lpstr>
      <vt:lpstr>Network Topology</vt:lpstr>
      <vt:lpstr>How to Use socket to Access www.baidu.com ?</vt:lpstr>
      <vt:lpstr>Putting All Together</vt:lpstr>
      <vt:lpstr>Putting All Together</vt:lpstr>
      <vt:lpstr>ARP Spoofing</vt:lpstr>
      <vt:lpstr>PowerPoint 演示文稿</vt:lpstr>
      <vt:lpstr>PowerPoint 演示文稿</vt:lpstr>
      <vt:lpstr>ARP Spoofing</vt:lpstr>
      <vt:lpstr>Man-in-the-Middle Attack</vt:lpstr>
      <vt:lpstr>Man-in-the-Middle Attack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Defenses against ARP Spoofing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1607</cp:revision>
  <cp:lastPrinted>2020-03-02T13:38:00Z</cp:lastPrinted>
  <dcterms:created xsi:type="dcterms:W3CDTF">2017-11-24T09:35:00Z</dcterms:created>
  <dcterms:modified xsi:type="dcterms:W3CDTF">2025-01-14T16:43:21Z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49658B49DB5642B8B3D12AC3B3596A70_12</vt:lpwstr>
  </property>
  <property fmtid="{D5CDD505-2E9C-101B-9397-08002B2CF9AE}" pid="3" name="KSOProductBuildVer">
    <vt:lpwstr>2052-12.1.0.19770</vt:lpwstr>
  </property>
</Properties>
</file>