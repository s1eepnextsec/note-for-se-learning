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6"/>
  </p:handoutMasterIdLst>
  <p:sldIdLst>
    <p:sldId id="2241" r:id="rId3"/>
    <p:sldId id="2934" r:id="rId5"/>
    <p:sldId id="2917" r:id="rId6"/>
    <p:sldId id="2632" r:id="rId7"/>
    <p:sldId id="2930" r:id="rId8"/>
    <p:sldId id="2870" r:id="rId9"/>
    <p:sldId id="2931" r:id="rId10"/>
    <p:sldId id="2932" r:id="rId11"/>
    <p:sldId id="2926" r:id="rId12"/>
    <p:sldId id="2340" r:id="rId13"/>
    <p:sldId id="2345" r:id="rId14"/>
    <p:sldId id="2347" r:id="rId15"/>
    <p:sldId id="2346" r:id="rId16"/>
    <p:sldId id="2354" r:id="rId17"/>
    <p:sldId id="2353" r:id="rId18"/>
    <p:sldId id="2352" r:id="rId19"/>
    <p:sldId id="2351" r:id="rId20"/>
    <p:sldId id="2350" r:id="rId21"/>
    <p:sldId id="2349" r:id="rId22"/>
    <p:sldId id="2348" r:id="rId23"/>
    <p:sldId id="2640" r:id="rId24"/>
    <p:sldId id="2280" r:id="rId25"/>
    <p:sldId id="2639" r:id="rId26"/>
    <p:sldId id="2873" r:id="rId27"/>
    <p:sldId id="2342" r:id="rId28"/>
    <p:sldId id="2642" r:id="rId29"/>
    <p:sldId id="2933" r:id="rId30"/>
    <p:sldId id="2936" r:id="rId31"/>
    <p:sldId id="2330" r:id="rId32"/>
    <p:sldId id="2331" r:id="rId33"/>
    <p:sldId id="2644" r:id="rId34"/>
    <p:sldId id="2648" r:id="rId35"/>
    <p:sldId id="2647" r:id="rId36"/>
    <p:sldId id="2646" r:id="rId37"/>
    <p:sldId id="2645" r:id="rId38"/>
    <p:sldId id="2649" r:id="rId39"/>
    <p:sldId id="2655" r:id="rId40"/>
    <p:sldId id="2654" r:id="rId41"/>
    <p:sldId id="2653" r:id="rId42"/>
    <p:sldId id="2652" r:id="rId43"/>
    <p:sldId id="2651" r:id="rId44"/>
    <p:sldId id="2650" r:id="rId45"/>
    <p:sldId id="2643" r:id="rId46"/>
    <p:sldId id="2332" r:id="rId47"/>
    <p:sldId id="2657" r:id="rId48"/>
    <p:sldId id="2661" r:id="rId49"/>
    <p:sldId id="2658" r:id="rId50"/>
    <p:sldId id="2659" r:id="rId51"/>
    <p:sldId id="2689" r:id="rId52"/>
    <p:sldId id="2702" r:id="rId53"/>
    <p:sldId id="2701" r:id="rId54"/>
    <p:sldId id="2700" r:id="rId55"/>
    <p:sldId id="2699" r:id="rId56"/>
    <p:sldId id="2698" r:id="rId57"/>
    <p:sldId id="2697" r:id="rId58"/>
    <p:sldId id="2696" r:id="rId59"/>
    <p:sldId id="2695" r:id="rId60"/>
    <p:sldId id="2694" r:id="rId61"/>
    <p:sldId id="2693" r:id="rId62"/>
    <p:sldId id="2692" r:id="rId63"/>
    <p:sldId id="2691" r:id="rId64"/>
    <p:sldId id="2690" r:id="rId65"/>
    <p:sldId id="2676" r:id="rId66"/>
    <p:sldId id="2685" r:id="rId67"/>
    <p:sldId id="287" r:id="rId68"/>
    <p:sldId id="2937" r:id="rId69"/>
    <p:sldId id="2660" r:id="rId70"/>
    <p:sldId id="2686" r:id="rId71"/>
    <p:sldId id="2688" r:id="rId72"/>
    <p:sldId id="2703" r:id="rId73"/>
    <p:sldId id="2710" r:id="rId74"/>
    <p:sldId id="2709" r:id="rId75"/>
    <p:sldId id="2708" r:id="rId76"/>
    <p:sldId id="2707" r:id="rId77"/>
    <p:sldId id="2706" r:id="rId78"/>
    <p:sldId id="2705" r:id="rId79"/>
    <p:sldId id="2704" r:id="rId80"/>
    <p:sldId id="2726" r:id="rId81"/>
    <p:sldId id="2935" r:id="rId82"/>
    <p:sldId id="2711" r:id="rId83"/>
    <p:sldId id="2713" r:id="rId84"/>
    <p:sldId id="2715" r:id="rId85"/>
    <p:sldId id="261" r:id="rId86"/>
    <p:sldId id="262" r:id="rId87"/>
    <p:sldId id="2716" r:id="rId88"/>
    <p:sldId id="2717" r:id="rId89"/>
    <p:sldId id="2718" r:id="rId90"/>
    <p:sldId id="2719" r:id="rId91"/>
    <p:sldId id="268" r:id="rId92"/>
    <p:sldId id="2720" r:id="rId93"/>
    <p:sldId id="270" r:id="rId94"/>
    <p:sldId id="271" r:id="rId95"/>
    <p:sldId id="272" r:id="rId96"/>
    <p:sldId id="273" r:id="rId97"/>
    <p:sldId id="316" r:id="rId98"/>
    <p:sldId id="274" r:id="rId99"/>
    <p:sldId id="2722" r:id="rId100"/>
    <p:sldId id="2723" r:id="rId101"/>
    <p:sldId id="2724" r:id="rId102"/>
    <p:sldId id="2871" r:id="rId103"/>
    <p:sldId id="2872" r:id="rId104"/>
    <p:sldId id="2725" r:id="rId105"/>
    <p:sldId id="2343" r:id="rId106"/>
    <p:sldId id="2344" r:id="rId107"/>
    <p:sldId id="2667" r:id="rId108"/>
    <p:sldId id="2727" r:id="rId109"/>
    <p:sldId id="2728" r:id="rId110"/>
    <p:sldId id="2729" r:id="rId111"/>
    <p:sldId id="2731" r:id="rId112"/>
    <p:sldId id="2730" r:id="rId113"/>
    <p:sldId id="2732" r:id="rId114"/>
    <p:sldId id="2326" r:id="rId11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00"/>
    <a:srgbClr val="BF569D"/>
    <a:srgbClr val="32C0D8"/>
    <a:srgbClr val="FF5F00"/>
    <a:srgbClr val="FF7E79"/>
    <a:srgbClr val="0432FF"/>
    <a:srgbClr val="F6F9D6"/>
    <a:srgbClr val="B0FFD3"/>
    <a:srgbClr val="00FDFF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3" autoAdjust="0"/>
    <p:restoredTop sz="82759" autoAdjust="0"/>
  </p:normalViewPr>
  <p:slideViewPr>
    <p:cSldViewPr showGuides="1">
      <p:cViewPr varScale="1">
        <p:scale>
          <a:sx n="119" d="100"/>
          <a:sy n="119" d="100"/>
        </p:scale>
        <p:origin x="1600" y="184"/>
      </p:cViewPr>
      <p:guideLst>
        <p:guide orient="horz" pos="2480"/>
        <p:guide pos="340"/>
        <p:guide pos="2925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9" Type="http://schemas.openxmlformats.org/officeDocument/2006/relationships/tableStyles" Target="tableStyles.xml"/><Relationship Id="rId118" Type="http://schemas.openxmlformats.org/officeDocument/2006/relationships/viewProps" Target="viewProps.xml"/><Relationship Id="rId117" Type="http://schemas.openxmlformats.org/officeDocument/2006/relationships/presProps" Target="presProps.xml"/><Relationship Id="rId116" Type="http://schemas.openxmlformats.org/officeDocument/2006/relationships/handoutMaster" Target="handoutMasters/handoutMaster1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C753E-1415-4755-9AD0-A4D51D8BE0DD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Intermittent: </a:t>
            </a:r>
            <a:r>
              <a:rPr kumimoji="1" lang="zh-CN" altLang="en-US" dirty="0"/>
              <a:t>间断的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假设同样的</a:t>
            </a:r>
            <a:r>
              <a:rPr kumimoji="1" lang="en-US" altLang="zh-CN" dirty="0"/>
              <a:t>scheduling</a:t>
            </a:r>
            <a:r>
              <a:rPr kumimoji="1" lang="zh-CN" altLang="en-US" dirty="0"/>
              <a:t>（即出错会发生）；然后进行调度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Can global lock prevent our previous race condition?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Correctness: in our deposit operation, since there is only one object, so it fallback to global locking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Performance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Q1: yes </a:t>
            </a:r>
            <a:endParaRPr kumimoji="1" lang="en-US" altLang="zh-CN" dirty="0"/>
          </a:p>
          <a:p>
            <a:r>
              <a:rPr kumimoji="1" lang="en-US" altLang="zh-CN" dirty="0"/>
              <a:t>Q2: no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en-US" altLang="zh-CN" dirty="0"/>
              <a:t>Long lock held time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en-US" altLang="zh-CN" dirty="0"/>
              <a:t>Must known the lock set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284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+mn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0284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none" baseline="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tiff"/><Relationship Id="rId1" Type="http://schemas.openxmlformats.org/officeDocument/2006/relationships/image" Target="../media/image12.tif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1470241"/>
            <a:ext cx="7772400" cy="160068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b="0" dirty="0"/>
              <a:t>Before-or-after atomicity and Serializability</a:t>
            </a:r>
            <a:endParaRPr kumimoji="1" lang="zh-CN" altLang="en-US" sz="3600" b="0" dirty="0">
              <a:latin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pitchFamily="3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4613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Xingda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Wei,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Yubin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Xia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/>
          <p:cNvCxnSpPr/>
          <p:nvPr/>
        </p:nvCxnSpPr>
        <p:spPr>
          <a:xfrm flipV="1">
            <a:off x="4381500" y="1270000"/>
            <a:ext cx="0" cy="22763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228500" y="1567510"/>
            <a:ext cx="300000" cy="150000"/>
          </a:xfrm>
          <a:prstGeom prst="roundRect">
            <a:avLst/>
          </a:prstGeom>
          <a:solidFill>
            <a:srgbClr val="D5FFD5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707500" y="1567510"/>
            <a:ext cx="300000" cy="150000"/>
          </a:xfrm>
          <a:prstGeom prst="roundRect">
            <a:avLst/>
          </a:prstGeom>
          <a:solidFill>
            <a:srgbClr val="D5FFD5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342500" y="1567510"/>
            <a:ext cx="300000" cy="150000"/>
          </a:xfrm>
          <a:prstGeom prst="roundRect">
            <a:avLst/>
          </a:prstGeom>
          <a:solidFill>
            <a:srgbClr val="D5FFD5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6" name="Straight Arrow Connector 15"/>
          <p:cNvCxnSpPr>
            <a:stCxn id="28" idx="3"/>
            <a:endCxn id="31" idx="1"/>
          </p:cNvCxnSpPr>
          <p:nvPr/>
        </p:nvCxnSpPr>
        <p:spPr>
          <a:xfrm>
            <a:off x="2528500" y="1642510"/>
            <a:ext cx="179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1" idx="3"/>
            <a:endCxn id="44" idx="1"/>
          </p:cNvCxnSpPr>
          <p:nvPr/>
        </p:nvCxnSpPr>
        <p:spPr>
          <a:xfrm>
            <a:off x="3007500" y="1642510"/>
            <a:ext cx="335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922500" y="1567510"/>
            <a:ext cx="150000" cy="150000"/>
          </a:xfrm>
          <a:prstGeom prst="ellipse">
            <a:avLst/>
          </a:prstGeom>
          <a:solidFill>
            <a:srgbClr val="D5FFD5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8" name="Straight Arrow Connector 47"/>
          <p:cNvCxnSpPr>
            <a:stCxn id="47" idx="6"/>
            <a:endCxn id="28" idx="1"/>
          </p:cNvCxnSpPr>
          <p:nvPr/>
        </p:nvCxnSpPr>
        <p:spPr>
          <a:xfrm>
            <a:off x="2072500" y="1642510"/>
            <a:ext cx="156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850500" y="1567510"/>
            <a:ext cx="150000" cy="150000"/>
          </a:xfrm>
          <a:prstGeom prst="ellipse">
            <a:avLst/>
          </a:prstGeom>
          <a:solidFill>
            <a:srgbClr val="D5FFD5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1" name="Straight Arrow Connector 50"/>
          <p:cNvCxnSpPr>
            <a:stCxn id="44" idx="3"/>
            <a:endCxn id="50" idx="2"/>
          </p:cNvCxnSpPr>
          <p:nvPr/>
        </p:nvCxnSpPr>
        <p:spPr>
          <a:xfrm>
            <a:off x="3642500" y="1642510"/>
            <a:ext cx="208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0" idx="7"/>
            <a:endCxn id="50" idx="3"/>
          </p:cNvCxnSpPr>
          <p:nvPr/>
        </p:nvCxnSpPr>
        <p:spPr>
          <a:xfrm flipH="1">
            <a:off x="3872467" y="1589477"/>
            <a:ext cx="106067" cy="1060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50" idx="1"/>
            <a:endCxn id="50" idx="5"/>
          </p:cNvCxnSpPr>
          <p:nvPr/>
        </p:nvCxnSpPr>
        <p:spPr>
          <a:xfrm>
            <a:off x="3872467" y="1589477"/>
            <a:ext cx="106067" cy="1060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3435000" y="1986000"/>
            <a:ext cx="300000" cy="150000"/>
          </a:xfrm>
          <a:prstGeom prst="roundRect">
            <a:avLst/>
          </a:prstGeom>
          <a:solidFill>
            <a:srgbClr val="FF0066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000500" y="1986000"/>
            <a:ext cx="300000" cy="150000"/>
          </a:xfrm>
          <a:prstGeom prst="roundRect">
            <a:avLst/>
          </a:prstGeom>
          <a:solidFill>
            <a:srgbClr val="FF0066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49000" y="1986000"/>
            <a:ext cx="300000" cy="150000"/>
          </a:xfrm>
          <a:prstGeom prst="roundRect">
            <a:avLst/>
          </a:prstGeom>
          <a:solidFill>
            <a:srgbClr val="FF0066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4" name="Straight Arrow Connector 73"/>
          <p:cNvCxnSpPr>
            <a:stCxn id="71" idx="3"/>
            <a:endCxn id="72" idx="1"/>
          </p:cNvCxnSpPr>
          <p:nvPr/>
        </p:nvCxnSpPr>
        <p:spPr>
          <a:xfrm>
            <a:off x="3735000" y="2061000"/>
            <a:ext cx="265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2" idx="3"/>
            <a:endCxn id="73" idx="1"/>
          </p:cNvCxnSpPr>
          <p:nvPr/>
        </p:nvCxnSpPr>
        <p:spPr>
          <a:xfrm>
            <a:off x="4300500" y="2061000"/>
            <a:ext cx="248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057000" y="1986000"/>
            <a:ext cx="150000" cy="150000"/>
          </a:xfrm>
          <a:prstGeom prst="ellipse">
            <a:avLst/>
          </a:prstGeom>
          <a:solidFill>
            <a:srgbClr val="FF0066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9" name="Straight Arrow Connector 78"/>
          <p:cNvCxnSpPr>
            <a:stCxn id="73" idx="3"/>
            <a:endCxn id="78" idx="2"/>
          </p:cNvCxnSpPr>
          <p:nvPr/>
        </p:nvCxnSpPr>
        <p:spPr>
          <a:xfrm>
            <a:off x="4849000" y="2061000"/>
            <a:ext cx="208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8" idx="7"/>
            <a:endCxn id="78" idx="3"/>
          </p:cNvCxnSpPr>
          <p:nvPr/>
        </p:nvCxnSpPr>
        <p:spPr>
          <a:xfrm flipH="1">
            <a:off x="5078967" y="2007967"/>
            <a:ext cx="106067" cy="1060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8" idx="1"/>
            <a:endCxn id="78" idx="5"/>
          </p:cNvCxnSpPr>
          <p:nvPr/>
        </p:nvCxnSpPr>
        <p:spPr>
          <a:xfrm>
            <a:off x="5078967" y="2007967"/>
            <a:ext cx="106067" cy="1060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224500" y="2390000"/>
            <a:ext cx="300000" cy="150000"/>
          </a:xfrm>
          <a:prstGeom prst="roundRect">
            <a:avLst/>
          </a:prstGeom>
          <a:solidFill>
            <a:srgbClr val="66FFFF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842000" y="2390000"/>
            <a:ext cx="300000" cy="150000"/>
          </a:xfrm>
          <a:prstGeom prst="roundRect">
            <a:avLst/>
          </a:prstGeom>
          <a:solidFill>
            <a:srgbClr val="66FFFF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86" name="Straight Arrow Connector 85"/>
          <p:cNvCxnSpPr>
            <a:stCxn id="82" idx="3"/>
            <a:endCxn id="84" idx="1"/>
          </p:cNvCxnSpPr>
          <p:nvPr/>
        </p:nvCxnSpPr>
        <p:spPr>
          <a:xfrm>
            <a:off x="5524500" y="2465000"/>
            <a:ext cx="317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918500" y="2390000"/>
            <a:ext cx="150000" cy="150000"/>
          </a:xfrm>
          <a:prstGeom prst="ellipse">
            <a:avLst/>
          </a:prstGeom>
          <a:solidFill>
            <a:srgbClr val="66FFFF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88" name="Straight Arrow Connector 87"/>
          <p:cNvCxnSpPr>
            <a:stCxn id="87" idx="6"/>
            <a:endCxn id="82" idx="1"/>
          </p:cNvCxnSpPr>
          <p:nvPr/>
        </p:nvCxnSpPr>
        <p:spPr>
          <a:xfrm>
            <a:off x="5068500" y="2465000"/>
            <a:ext cx="156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6350000" y="2390000"/>
            <a:ext cx="150000" cy="150000"/>
          </a:xfrm>
          <a:prstGeom prst="ellipse">
            <a:avLst/>
          </a:prstGeom>
          <a:solidFill>
            <a:srgbClr val="66FFFF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90" name="Straight Arrow Connector 89"/>
          <p:cNvCxnSpPr>
            <a:stCxn id="84" idx="3"/>
            <a:endCxn id="89" idx="2"/>
          </p:cNvCxnSpPr>
          <p:nvPr/>
        </p:nvCxnSpPr>
        <p:spPr>
          <a:xfrm>
            <a:off x="6142000" y="2465000"/>
            <a:ext cx="208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89" idx="7"/>
            <a:endCxn id="89" idx="3"/>
          </p:cNvCxnSpPr>
          <p:nvPr/>
        </p:nvCxnSpPr>
        <p:spPr>
          <a:xfrm flipH="1">
            <a:off x="6371967" y="2411967"/>
            <a:ext cx="106067" cy="1060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89" idx="1"/>
            <a:endCxn id="89" idx="5"/>
          </p:cNvCxnSpPr>
          <p:nvPr/>
        </p:nvCxnSpPr>
        <p:spPr>
          <a:xfrm>
            <a:off x="6371967" y="2411967"/>
            <a:ext cx="106067" cy="1060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2782500" y="1986000"/>
            <a:ext cx="300000" cy="150000"/>
          </a:xfrm>
          <a:prstGeom prst="roundRect">
            <a:avLst/>
          </a:prstGeom>
          <a:solidFill>
            <a:srgbClr val="FF0066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94" name="Straight Arrow Connector 93"/>
          <p:cNvCxnSpPr>
            <a:stCxn id="93" idx="3"/>
            <a:endCxn id="71" idx="1"/>
          </p:cNvCxnSpPr>
          <p:nvPr/>
        </p:nvCxnSpPr>
        <p:spPr>
          <a:xfrm>
            <a:off x="3082500" y="2061000"/>
            <a:ext cx="352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2476500" y="1986000"/>
            <a:ext cx="150000" cy="150000"/>
          </a:xfrm>
          <a:prstGeom prst="ellipse">
            <a:avLst/>
          </a:prstGeom>
          <a:solidFill>
            <a:srgbClr val="FF0066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96" name="Straight Arrow Connector 95"/>
          <p:cNvCxnSpPr>
            <a:stCxn id="95" idx="6"/>
            <a:endCxn id="93" idx="1"/>
          </p:cNvCxnSpPr>
          <p:nvPr/>
        </p:nvCxnSpPr>
        <p:spPr>
          <a:xfrm>
            <a:off x="2626500" y="2061000"/>
            <a:ext cx="156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2673000" y="2811500"/>
            <a:ext cx="300000" cy="150000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4526000" y="2811500"/>
            <a:ext cx="300000" cy="150000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02" name="Straight Arrow Connector 101"/>
          <p:cNvCxnSpPr>
            <a:stCxn id="99" idx="3"/>
            <a:endCxn id="100" idx="1"/>
          </p:cNvCxnSpPr>
          <p:nvPr/>
        </p:nvCxnSpPr>
        <p:spPr>
          <a:xfrm>
            <a:off x="2973000" y="2886500"/>
            <a:ext cx="1553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100" idx="3"/>
            <a:endCxn id="112" idx="1"/>
          </p:cNvCxnSpPr>
          <p:nvPr/>
        </p:nvCxnSpPr>
        <p:spPr>
          <a:xfrm>
            <a:off x="4826000" y="2886500"/>
            <a:ext cx="975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2020500" y="2811500"/>
            <a:ext cx="300000" cy="150000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09" name="Straight Arrow Connector 108"/>
          <p:cNvCxnSpPr>
            <a:stCxn id="108" idx="3"/>
            <a:endCxn id="99" idx="1"/>
          </p:cNvCxnSpPr>
          <p:nvPr/>
        </p:nvCxnSpPr>
        <p:spPr>
          <a:xfrm>
            <a:off x="2320500" y="2886500"/>
            <a:ext cx="352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714500" y="2811500"/>
            <a:ext cx="150000" cy="1500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11" name="Straight Arrow Connector 110"/>
          <p:cNvCxnSpPr>
            <a:stCxn id="110" idx="6"/>
            <a:endCxn id="108" idx="1"/>
          </p:cNvCxnSpPr>
          <p:nvPr/>
        </p:nvCxnSpPr>
        <p:spPr>
          <a:xfrm>
            <a:off x="1864500" y="2886500"/>
            <a:ext cx="156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5801500" y="2811500"/>
            <a:ext cx="300000" cy="150000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13" name="Straight Arrow Connector 112"/>
          <p:cNvCxnSpPr>
            <a:stCxn id="112" idx="3"/>
            <a:endCxn id="115" idx="1"/>
          </p:cNvCxnSpPr>
          <p:nvPr/>
        </p:nvCxnSpPr>
        <p:spPr>
          <a:xfrm>
            <a:off x="6101500" y="2886500"/>
            <a:ext cx="520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6621500" y="2811500"/>
            <a:ext cx="300000" cy="150000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6378373" y="3279000"/>
            <a:ext cx="300000" cy="150000"/>
          </a:xfrm>
          <a:prstGeom prst="roundRect">
            <a:avLst/>
          </a:prstGeom>
          <a:solidFill>
            <a:srgbClr val="3366FF"/>
          </a:solidFill>
          <a:ln w="3175">
            <a:solidFill>
              <a:schemeClr val="tx1"/>
            </a:solidFill>
            <a:prstDash val="sys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19" name="Straight Arrow Connector 118"/>
          <p:cNvCxnSpPr>
            <a:stCxn id="118" idx="3"/>
          </p:cNvCxnSpPr>
          <p:nvPr/>
        </p:nvCxnSpPr>
        <p:spPr>
          <a:xfrm>
            <a:off x="6678373" y="3354000"/>
            <a:ext cx="3525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072373" y="3279000"/>
            <a:ext cx="150000" cy="150000"/>
          </a:xfrm>
          <a:prstGeom prst="ellipse">
            <a:avLst/>
          </a:prstGeom>
          <a:solidFill>
            <a:srgbClr val="3366FF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30000" rtlCol="0" anchor="ctr"/>
          <a:lstStyle/>
          <a:p>
            <a:pPr algn="ctr"/>
            <a:endParaRPr lang="zh-CN" altLang="en-US" sz="1665" b="1">
              <a:solidFill>
                <a:schemeClr val="tx1">
                  <a:lumMod val="75000"/>
                  <a:lumOff val="25000"/>
                </a:schemeClr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21" name="Straight Arrow Connector 120"/>
          <p:cNvCxnSpPr>
            <a:stCxn id="120" idx="6"/>
            <a:endCxn id="118" idx="1"/>
          </p:cNvCxnSpPr>
          <p:nvPr/>
        </p:nvCxnSpPr>
        <p:spPr>
          <a:xfrm>
            <a:off x="6222373" y="3354000"/>
            <a:ext cx="156000" cy="0"/>
          </a:xfrm>
          <a:prstGeom prst="straightConnector1">
            <a:avLst/>
          </a:prstGeom>
          <a:ln w="31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endCxn id="133" idx="2"/>
          </p:cNvCxnSpPr>
          <p:nvPr/>
        </p:nvCxnSpPr>
        <p:spPr>
          <a:xfrm flipV="1">
            <a:off x="6793940" y="1836658"/>
            <a:ext cx="0" cy="2036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3566231" y="948780"/>
            <a:ext cx="120738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Checkpoint 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pic>
        <p:nvPicPr>
          <p:cNvPr id="133" name="Picture 3" descr="Z:\Teaching\sjtu\DS\2013\slides\lec8-log\classic-lightning-storm-weather-icon_design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1" y="948780"/>
            <a:ext cx="887879" cy="887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内容占位符 2"/>
          <p:cNvSpPr>
            <a:spLocks noGrp="1"/>
          </p:cNvSpPr>
          <p:nvPr>
            <p:ph idx="1"/>
          </p:nvPr>
        </p:nvSpPr>
        <p:spPr>
          <a:xfrm>
            <a:off x="1206499" y="3644125"/>
            <a:ext cx="7757983" cy="2070875"/>
          </a:xfrm>
        </p:spPr>
        <p:txBody>
          <a:bodyPr>
            <a:normAutofit/>
          </a:bodyPr>
          <a:lstStyle/>
          <a:p>
            <a:pPr marL="415290" lvl="1" indent="-381000">
              <a:buClr>
                <a:srgbClr val="FF0066"/>
              </a:buClr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T1: do nothing </a:t>
            </a:r>
            <a:endParaRPr lang="en-US" altLang="zh-CN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415290" lvl="1" indent="-381000">
              <a:buClr>
                <a:srgbClr val="FF0066"/>
              </a:buClr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T2: redo its update based on the log 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entries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15290" lvl="1" indent="-381000">
              <a:buClr>
                <a:srgbClr val="FF0066"/>
              </a:buClr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T3: redo its updates based on the log entries 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15290" lvl="1" indent="-381000">
              <a:buClr>
                <a:srgbClr val="FF0066"/>
              </a:buClr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T4: undo its updates based on the log in both CKP &amp; log entries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15290" lvl="1" indent="-381000">
              <a:buClr>
                <a:srgbClr val="FF0066"/>
              </a:buClr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T5: undo its updates based on the log entries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6793940" y="1587501"/>
            <a:ext cx="67037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Crash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460500" y="1450150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T1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968500" y="1868640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T2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4445000" y="2272640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T3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206500" y="2694140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T4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5584293" y="3161640"/>
            <a:ext cx="39626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T5</a:t>
            </a:r>
            <a:endParaRPr lang="zh-CN" altLang="en-U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Recovery with checkpoint</a:t>
            </a:r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971550" y="1201420"/>
            <a:ext cx="3384550" cy="2448560"/>
          </a:xfrm>
          <a:prstGeom prst="round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7360" y="948690"/>
            <a:ext cx="2462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CheckPoint</a:t>
            </a:r>
            <a:r>
              <a:rPr lang="zh-CN" altLang="en-US" sz="1400"/>
              <a:t>前的所有数据在</a:t>
            </a:r>
            <a:r>
              <a:rPr lang="en-US" altLang="zh-CN" sz="1400"/>
              <a:t>CheckPoint</a:t>
            </a:r>
            <a:r>
              <a:rPr lang="zh-CN" altLang="en-US" sz="1400"/>
              <a:t>时刻保证落盘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Undo-redo logging vs. redo-only logging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Question: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Which one is faster during execution?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Which one is faster during recovery?  </a:t>
            </a:r>
            <a:endParaRPr kumimoji="1" lang="en-US" altLang="zh-CN" dirty="0"/>
          </a:p>
          <a:p>
            <a:r>
              <a:rPr kumimoji="1" lang="en-US" altLang="zh-CN" dirty="0"/>
              <a:t>Redo-only logging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Less disk operations compared with undo-redo logging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Only need one scan of the entire log file</a:t>
            </a:r>
            <a:endParaRPr kumimoji="1" lang="en-US" altLang="zh-CN" dirty="0"/>
          </a:p>
          <a:p>
            <a:r>
              <a:rPr kumimoji="1" lang="en-US" altLang="zh-CN" dirty="0"/>
              <a:t>Redo-only logging is typically preferred except for TXs with large in-memory states</a:t>
            </a:r>
            <a:endParaRPr kumimoji="1" lang="zh-CN" altLang="en-US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UNDO-only Logging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032448"/>
          </a:xfrm>
        </p:spPr>
        <p:txBody>
          <a:bodyPr/>
          <a:lstStyle/>
          <a:p>
            <a:r>
              <a:rPr kumimoji="1" lang="en-GB" altLang="zh-CN" dirty="0"/>
              <a:t>Logging rules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Append </a:t>
            </a:r>
            <a:r>
              <a:rPr kumimoji="1" lang="en-GB" altLang="zh-CN" b="1" dirty="0">
                <a:solidFill>
                  <a:srgbClr val="C00000"/>
                </a:solidFill>
              </a:rPr>
              <a:t>UNDO</a:t>
            </a:r>
            <a:r>
              <a:rPr kumimoji="1" lang="en-GB" altLang="zh-CN" dirty="0"/>
              <a:t> log record </a:t>
            </a:r>
            <a:r>
              <a:rPr kumimoji="1" lang="en-GB" altLang="zh-CN" b="1" dirty="0">
                <a:solidFill>
                  <a:srgbClr val="C00000"/>
                </a:solidFill>
              </a:rPr>
              <a:t>before</a:t>
            </a:r>
            <a:r>
              <a:rPr kumimoji="1" lang="en-GB" altLang="zh-CN" dirty="0"/>
              <a:t> flushing state modification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State modification must be flushed before transaction committed 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w/o REDO</a:t>
            </a:r>
            <a:endParaRPr kumimoji="1" lang="en-GB" altLang="zh-CN" dirty="0"/>
          </a:p>
          <a:p>
            <a:r>
              <a:rPr kumimoji="1" lang="en-GB" altLang="zh-CN" dirty="0"/>
              <a:t>Rarely used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Much slower than UNDO-REDO logging during </a:t>
            </a:r>
            <a:r>
              <a:rPr kumimoji="1" lang="en-GB" altLang="zh-CN" b="1" dirty="0">
                <a:solidFill>
                  <a:srgbClr val="C00000"/>
                </a:solidFill>
              </a:rPr>
              <a:t>execution</a:t>
            </a:r>
            <a:r>
              <a:rPr kumimoji="1" lang="en-GB" altLang="zh-CN" dirty="0"/>
              <a:t>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Though the </a:t>
            </a:r>
            <a:r>
              <a:rPr kumimoji="1" lang="en-GB" altLang="zh-CN" b="1" dirty="0">
                <a:solidFill>
                  <a:srgbClr val="C00000"/>
                </a:solidFill>
              </a:rPr>
              <a:t>recovery</a:t>
            </a:r>
            <a:r>
              <a:rPr kumimoji="1" lang="en-GB" altLang="zh-CN" dirty="0"/>
              <a:t> speed is faster 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 &amp; durability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/>
          <a:lstStyle/>
          <a:p>
            <a:r>
              <a:rPr kumimoji="1" lang="en-US" altLang="zh-CN" dirty="0"/>
              <a:t>Systematic methods to support all-or-nothing atomicity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Shadow copy (Single-file updates)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Journaling (Filesystem API)</a:t>
            </a:r>
            <a:endParaRPr kumimoji="1" lang="en-US" altLang="zh-CN" dirty="0"/>
          </a:p>
          <a:p>
            <a:r>
              <a:rPr kumimoji="1" lang="en-US" altLang="zh-CN" dirty="0"/>
              <a:t>Logging (General-purpose approaches)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REDO-only logging (commit logging)</a:t>
            </a:r>
            <a:endParaRPr kumimoji="1"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UNDO-REDO logging (write-ahead logging)</a:t>
            </a:r>
            <a:endParaRPr kumimoji="1"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UNDO-only logging</a:t>
            </a:r>
            <a:endParaRPr kumimoji="1"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Durability</a:t>
            </a:r>
            <a:r>
              <a:rPr kumimoji="1" lang="en-US" altLang="zh-CN" dirty="0"/>
              <a:t>: Committed Action’s data on durable storage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Logging is also a method to ensure durability </a:t>
            </a:r>
            <a:endParaRPr kumimoji="1" lang="en-US" altLang="zh-CN" dirty="0"/>
          </a:p>
          <a:p>
            <a:endParaRPr kumimoji="1"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7019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BE384B"/>
                </a:solidFill>
                <a:ea typeface="+mn-ea"/>
              </a:rPr>
              <a:t>Before-or-after atomicity</a:t>
            </a:r>
            <a:endParaRPr lang="en-US" altLang="zh-CN" kern="0" dirty="0">
              <a:solidFill>
                <a:srgbClr val="BE384B"/>
              </a:solidFill>
              <a:ea typeface="+mn-ea"/>
            </a:endParaRPr>
          </a:p>
          <a:p>
            <a:pPr algn="ctr"/>
            <a:endParaRPr lang="en-US" altLang="zh-CN" kern="0" dirty="0">
              <a:solidFill>
                <a:srgbClr val="BE384B"/>
              </a:solidFill>
              <a:ea typeface="+mn-ea"/>
            </a:endParaRPr>
          </a:p>
          <a:p>
            <a:pPr algn="ctr"/>
            <a:r>
              <a:rPr lang="en-US" altLang="zh-CN" b="0" kern="0" dirty="0">
                <a:solidFill>
                  <a:srgbClr val="BE384B"/>
                </a:solidFill>
                <a:ea typeface="+mn-ea"/>
              </a:rPr>
              <a:t>We will evolve from single-threaded to multi-threaded setting </a:t>
            </a:r>
            <a:endParaRPr lang="en-US" altLang="zh-CN" b="0" kern="0" dirty="0">
              <a:solidFill>
                <a:srgbClr val="BE384B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is a strong consistency model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3744416"/>
          </a:xfrm>
        </p:spPr>
        <p:txBody>
          <a:bodyPr/>
          <a:lstStyle/>
          <a:p>
            <a:r>
              <a:rPr kumimoji="1" lang="en-GB" altLang="zh-CN" dirty="0"/>
              <a:t>It's easy for users to reason about correctness assuming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Everything has only one-copy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The overall behavior is equivalent to some serial behavior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en-GB" altLang="zh-CN" dirty="0"/>
              <a:t>The operations that need to be executed in an atomic unit (usually called operations belonging to a transaction) are executed on a machine </a:t>
            </a:r>
            <a:r>
              <a:rPr lang="en-GB" altLang="zh-CN" dirty="0">
                <a:solidFill>
                  <a:schemeClr val="tx1"/>
                </a:solidFill>
              </a:rPr>
              <a:t>that </a:t>
            </a:r>
            <a:r>
              <a:rPr kumimoji="1" lang="en-US" altLang="zh-CN" dirty="0">
                <a:solidFill>
                  <a:schemeClr val="tx1"/>
                </a:solidFill>
              </a:rPr>
              <a:t>happens completely or not at all (all-or-nothing atomicity)</a:t>
            </a:r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302840" y="1849388"/>
            <a:ext cx="380728" cy="504056"/>
          </a:xfrm>
          <a:prstGeom prst="rightArrow">
            <a:avLst/>
          </a:prstGeom>
          <a:solidFill>
            <a:schemeClr val="bg1"/>
          </a:solidFill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线箭头连接符 46"/>
          <p:cNvCxnSpPr/>
          <p:nvPr/>
        </p:nvCxnSpPr>
        <p:spPr>
          <a:xfrm>
            <a:off x="4372421" y="4395678"/>
            <a:ext cx="204842" cy="423056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/>
          <p:nvPr/>
        </p:nvCxnSpPr>
        <p:spPr>
          <a:xfrm flipV="1">
            <a:off x="4731012" y="4346420"/>
            <a:ext cx="256316" cy="49889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/>
          <p:cNvCxnSpPr/>
          <p:nvPr/>
        </p:nvCxnSpPr>
        <p:spPr>
          <a:xfrm>
            <a:off x="-180528" y="3612759"/>
            <a:ext cx="949526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serial execution of reads/writes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>
            <a:off x="971600" y="1956575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050416" y="1771909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8" name="Can 10"/>
          <p:cNvSpPr/>
          <p:nvPr/>
        </p:nvSpPr>
        <p:spPr>
          <a:xfrm>
            <a:off x="716600" y="2100591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Can 10"/>
          <p:cNvSpPr/>
          <p:nvPr/>
        </p:nvSpPr>
        <p:spPr>
          <a:xfrm>
            <a:off x="716600" y="2604649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0216" y="3099651"/>
            <a:ext cx="2181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Replicated </a:t>
            </a:r>
            <a:r>
              <a:rPr kumimoji="1" lang="en-US" altLang="zh-CN" dirty="0" err="1"/>
              <a:t>KVSes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808" y="1771909"/>
            <a:ext cx="409684" cy="40968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004" y="2865341"/>
            <a:ext cx="418976" cy="418976"/>
          </a:xfrm>
          <a:prstGeom prst="rect">
            <a:avLst/>
          </a:prstGeom>
        </p:spPr>
      </p:pic>
      <p:cxnSp>
        <p:nvCxnSpPr>
          <p:cNvPr id="15" name="直线箭头连接符 14"/>
          <p:cNvCxnSpPr/>
          <p:nvPr/>
        </p:nvCxnSpPr>
        <p:spPr>
          <a:xfrm>
            <a:off x="3151071" y="2157976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90216" y="2033079"/>
            <a:ext cx="957448" cy="1039710"/>
          </a:xfrm>
          <a:prstGeom prst="rect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52984" y="2406938"/>
            <a:ext cx="157477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The system</a:t>
            </a:r>
            <a:endParaRPr lang="zh-CN" altLang="en-US" dirty="0"/>
          </a:p>
        </p:txBody>
      </p:sp>
      <p:cxnSp>
        <p:nvCxnSpPr>
          <p:cNvPr id="20" name="直线连接符 19"/>
          <p:cNvCxnSpPr>
            <a:stCxn id="18" idx="3"/>
          </p:cNvCxnSpPr>
          <p:nvPr/>
        </p:nvCxnSpPr>
        <p:spPr>
          <a:xfrm>
            <a:off x="2927755" y="2591604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134" y="1225710"/>
            <a:ext cx="460403" cy="460403"/>
          </a:xfrm>
          <a:prstGeom prst="rect">
            <a:avLst/>
          </a:prstGeom>
        </p:spPr>
      </p:pic>
      <p:cxnSp>
        <p:nvCxnSpPr>
          <p:cNvPr id="21" name="直线箭头连接符 20"/>
          <p:cNvCxnSpPr/>
          <p:nvPr/>
        </p:nvCxnSpPr>
        <p:spPr>
          <a:xfrm>
            <a:off x="3623279" y="1709327"/>
            <a:ext cx="372657" cy="81414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/>
          <p:nvPr/>
        </p:nvCxnSpPr>
        <p:spPr>
          <a:xfrm flipV="1">
            <a:off x="3462980" y="2672786"/>
            <a:ext cx="377548" cy="498041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4928632" y="2676463"/>
            <a:ext cx="435419" cy="490685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 flipV="1">
            <a:off x="5220619" y="1587758"/>
            <a:ext cx="460403" cy="1002928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 flipV="1">
            <a:off x="5755844" y="2089222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755844" y="2668595"/>
            <a:ext cx="267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Reads/writes are executed concurrently</a:t>
            </a:r>
            <a:endParaRPr lang="zh-CN" altLang="en-US" dirty="0"/>
          </a:p>
        </p:txBody>
      </p:sp>
      <p:sp>
        <p:nvSpPr>
          <p:cNvPr id="32" name="下箭头 31"/>
          <p:cNvSpPr/>
          <p:nvPr/>
        </p:nvSpPr>
        <p:spPr>
          <a:xfrm>
            <a:off x="4068805" y="3335317"/>
            <a:ext cx="790365" cy="576064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连接符 33"/>
          <p:cNvCxnSpPr/>
          <p:nvPr/>
        </p:nvCxnSpPr>
        <p:spPr>
          <a:xfrm>
            <a:off x="925252" y="4155011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041964" y="3925526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36" name="Can 10"/>
          <p:cNvSpPr/>
          <p:nvPr/>
        </p:nvSpPr>
        <p:spPr>
          <a:xfrm>
            <a:off x="467544" y="4530842"/>
            <a:ext cx="58119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37" name="直线连接符 36"/>
          <p:cNvCxnSpPr/>
          <p:nvPr/>
        </p:nvCxnSpPr>
        <p:spPr>
          <a:xfrm>
            <a:off x="2927754" y="4805689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962322" y="4576400"/>
            <a:ext cx="216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One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logical</a:t>
            </a:r>
            <a:r>
              <a:rPr kumimoji="1" lang="en-US" altLang="zh-CN" dirty="0"/>
              <a:t> KVS</a:t>
            </a:r>
            <a:endParaRPr lang="zh-CN" altLang="en-US" dirty="0"/>
          </a:p>
        </p:txBody>
      </p:sp>
      <p:cxnSp>
        <p:nvCxnSpPr>
          <p:cNvPr id="39" name="直线箭头连接符 38"/>
          <p:cNvCxnSpPr/>
          <p:nvPr/>
        </p:nvCxnSpPr>
        <p:spPr>
          <a:xfrm>
            <a:off x="3322858" y="4395678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/>
          <p:nvPr/>
        </p:nvCxnSpPr>
        <p:spPr>
          <a:xfrm flipV="1">
            <a:off x="3681449" y="4346420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3296" y="4169829"/>
            <a:ext cx="409684" cy="409684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301" y="4180991"/>
            <a:ext cx="433290" cy="43329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800" y="4162913"/>
            <a:ext cx="418976" cy="418976"/>
          </a:xfrm>
          <a:prstGeom prst="rect">
            <a:avLst/>
          </a:prstGeom>
        </p:spPr>
      </p:pic>
      <p:cxnSp>
        <p:nvCxnSpPr>
          <p:cNvPr id="54" name="直线箭头连接符 53"/>
          <p:cNvCxnSpPr/>
          <p:nvPr/>
        </p:nvCxnSpPr>
        <p:spPr>
          <a:xfrm>
            <a:off x="5555893" y="4420678"/>
            <a:ext cx="204842" cy="423056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/>
          <p:nvPr/>
        </p:nvCxnSpPr>
        <p:spPr>
          <a:xfrm flipV="1">
            <a:off x="5914484" y="4371420"/>
            <a:ext cx="256316" cy="498899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2889526" y="5024292"/>
            <a:ext cx="625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Reads/writes are executed </a:t>
            </a:r>
            <a:r>
              <a:rPr kumimoji="1" lang="en-US" altLang="zh-CN" b="1" dirty="0">
                <a:solidFill>
                  <a:srgbClr val="C00000"/>
                </a:solidFill>
              </a:rPr>
              <a:t>logically in a serial manner</a:t>
            </a:r>
            <a:r>
              <a:rPr kumimoji="1"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/>
      <p:bldP spid="36" grpId="0" animBg="1"/>
      <p:bldP spid="38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线箭头连接符 46"/>
          <p:cNvCxnSpPr/>
          <p:nvPr/>
        </p:nvCxnSpPr>
        <p:spPr>
          <a:xfrm>
            <a:off x="4372421" y="4395678"/>
            <a:ext cx="204842" cy="423056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/>
          <p:nvPr/>
        </p:nvCxnSpPr>
        <p:spPr>
          <a:xfrm flipV="1">
            <a:off x="4731012" y="4346420"/>
            <a:ext cx="256316" cy="49889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/>
          <p:cNvCxnSpPr/>
          <p:nvPr/>
        </p:nvCxnSpPr>
        <p:spPr>
          <a:xfrm>
            <a:off x="-180528" y="3612759"/>
            <a:ext cx="949526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One step further: serial execution of actions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>
            <a:off x="971600" y="1956575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050416" y="1771909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8" name="Can 10"/>
          <p:cNvSpPr/>
          <p:nvPr/>
        </p:nvSpPr>
        <p:spPr>
          <a:xfrm>
            <a:off x="716600" y="2100591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Can 10"/>
          <p:cNvSpPr/>
          <p:nvPr/>
        </p:nvSpPr>
        <p:spPr>
          <a:xfrm>
            <a:off x="716600" y="2604649"/>
            <a:ext cx="51000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0216" y="3099651"/>
            <a:ext cx="2181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Replicated </a:t>
            </a:r>
            <a:r>
              <a:rPr kumimoji="1" lang="en-US" altLang="zh-CN" dirty="0" err="1"/>
              <a:t>KVSes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808" y="1771909"/>
            <a:ext cx="409684" cy="40968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004" y="2865341"/>
            <a:ext cx="418976" cy="418976"/>
          </a:xfrm>
          <a:prstGeom prst="rect">
            <a:avLst/>
          </a:prstGeom>
        </p:spPr>
      </p:pic>
      <p:cxnSp>
        <p:nvCxnSpPr>
          <p:cNvPr id="15" name="直线箭头连接符 14"/>
          <p:cNvCxnSpPr/>
          <p:nvPr/>
        </p:nvCxnSpPr>
        <p:spPr>
          <a:xfrm>
            <a:off x="3151071" y="2157976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90216" y="2033079"/>
            <a:ext cx="957448" cy="1039710"/>
          </a:xfrm>
          <a:prstGeom prst="rect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52984" y="2406938"/>
            <a:ext cx="157477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The system</a:t>
            </a:r>
            <a:endParaRPr lang="zh-CN" altLang="en-US" dirty="0"/>
          </a:p>
        </p:txBody>
      </p:sp>
      <p:cxnSp>
        <p:nvCxnSpPr>
          <p:cNvPr id="20" name="直线连接符 19"/>
          <p:cNvCxnSpPr>
            <a:stCxn id="18" idx="3"/>
          </p:cNvCxnSpPr>
          <p:nvPr/>
        </p:nvCxnSpPr>
        <p:spPr>
          <a:xfrm>
            <a:off x="2927755" y="2591604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134" y="1225710"/>
            <a:ext cx="460403" cy="460403"/>
          </a:xfrm>
          <a:prstGeom prst="rect">
            <a:avLst/>
          </a:prstGeom>
        </p:spPr>
      </p:pic>
      <p:cxnSp>
        <p:nvCxnSpPr>
          <p:cNvPr id="21" name="直线箭头连接符 20"/>
          <p:cNvCxnSpPr/>
          <p:nvPr/>
        </p:nvCxnSpPr>
        <p:spPr>
          <a:xfrm>
            <a:off x="3623279" y="1709327"/>
            <a:ext cx="372657" cy="81414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/>
          <p:nvPr/>
        </p:nvCxnSpPr>
        <p:spPr>
          <a:xfrm flipV="1">
            <a:off x="3462980" y="2672786"/>
            <a:ext cx="377548" cy="498041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4928632" y="2676463"/>
            <a:ext cx="435419" cy="490685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 flipV="1">
            <a:off x="5220619" y="1587758"/>
            <a:ext cx="460403" cy="1002928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 flipV="1">
            <a:off x="5755844" y="2089222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755844" y="2668595"/>
            <a:ext cx="267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trike="sngStrike" dirty="0"/>
              <a:t>Reads/writes </a:t>
            </a:r>
            <a:r>
              <a:rPr kumimoji="1" lang="en-US" altLang="zh-CN" dirty="0"/>
              <a:t>are executed concurrently</a:t>
            </a:r>
            <a:endParaRPr lang="zh-CN" altLang="en-US" dirty="0"/>
          </a:p>
        </p:txBody>
      </p:sp>
      <p:sp>
        <p:nvSpPr>
          <p:cNvPr id="32" name="下箭头 31"/>
          <p:cNvSpPr/>
          <p:nvPr/>
        </p:nvSpPr>
        <p:spPr>
          <a:xfrm>
            <a:off x="4068805" y="3335317"/>
            <a:ext cx="790365" cy="576064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连接符 33"/>
          <p:cNvCxnSpPr/>
          <p:nvPr/>
        </p:nvCxnSpPr>
        <p:spPr>
          <a:xfrm>
            <a:off x="925252" y="4155011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041964" y="3925526"/>
            <a:ext cx="12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36" name="Can 10"/>
          <p:cNvSpPr/>
          <p:nvPr/>
        </p:nvSpPr>
        <p:spPr>
          <a:xfrm>
            <a:off x="467544" y="4530842"/>
            <a:ext cx="581190" cy="390000"/>
          </a:xfrm>
          <a:prstGeom prst="can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rtlCol="0" anchor="ctr"/>
          <a:lstStyle/>
          <a:p>
            <a:pPr algn="ctr"/>
            <a:endParaRPr lang="zh-CN" altLang="en-US" sz="233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37" name="直线连接符 36"/>
          <p:cNvCxnSpPr/>
          <p:nvPr/>
        </p:nvCxnSpPr>
        <p:spPr>
          <a:xfrm>
            <a:off x="2927754" y="4805689"/>
            <a:ext cx="5028621" cy="1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962322" y="4576400"/>
            <a:ext cx="216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One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logical</a:t>
            </a:r>
            <a:r>
              <a:rPr kumimoji="1" lang="en-US" altLang="zh-CN" dirty="0"/>
              <a:t> KVS</a:t>
            </a:r>
            <a:endParaRPr lang="zh-CN" altLang="en-US" dirty="0"/>
          </a:p>
        </p:txBody>
      </p:sp>
      <p:cxnSp>
        <p:nvCxnSpPr>
          <p:cNvPr id="39" name="直线箭头连接符 38"/>
          <p:cNvCxnSpPr/>
          <p:nvPr/>
        </p:nvCxnSpPr>
        <p:spPr>
          <a:xfrm>
            <a:off x="3322858" y="4395678"/>
            <a:ext cx="204842" cy="423056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/>
          <p:nvPr/>
        </p:nvCxnSpPr>
        <p:spPr>
          <a:xfrm flipV="1">
            <a:off x="3681449" y="4346420"/>
            <a:ext cx="256316" cy="498899"/>
          </a:xfrm>
          <a:prstGeom prst="straightConnector1">
            <a:avLst/>
          </a:prstGeom>
          <a:ln w="158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3296" y="4169829"/>
            <a:ext cx="409684" cy="409684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301" y="4180991"/>
            <a:ext cx="433290" cy="43329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800" y="4162913"/>
            <a:ext cx="418976" cy="418976"/>
          </a:xfrm>
          <a:prstGeom prst="rect">
            <a:avLst/>
          </a:prstGeom>
        </p:spPr>
      </p:pic>
      <p:cxnSp>
        <p:nvCxnSpPr>
          <p:cNvPr id="54" name="直线箭头连接符 53"/>
          <p:cNvCxnSpPr/>
          <p:nvPr/>
        </p:nvCxnSpPr>
        <p:spPr>
          <a:xfrm>
            <a:off x="5555893" y="4420678"/>
            <a:ext cx="204842" cy="423056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/>
          <p:nvPr/>
        </p:nvCxnSpPr>
        <p:spPr>
          <a:xfrm flipV="1">
            <a:off x="5914484" y="4371420"/>
            <a:ext cx="256316" cy="498899"/>
          </a:xfrm>
          <a:prstGeom prst="straightConnector1">
            <a:avLst/>
          </a:prstGeom>
          <a:ln w="15875">
            <a:solidFill>
              <a:srgbClr val="0432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2913460" y="4872046"/>
            <a:ext cx="625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trike="sngStrike" dirty="0"/>
              <a:t>Reads/writes </a:t>
            </a:r>
            <a:r>
              <a:rPr kumimoji="1" lang="en-US" altLang="zh-CN" dirty="0"/>
              <a:t>are executed </a:t>
            </a:r>
            <a:r>
              <a:rPr kumimoji="1" lang="en-US" altLang="zh-CN" b="1" dirty="0">
                <a:solidFill>
                  <a:srgbClr val="C00000"/>
                </a:solidFill>
              </a:rPr>
              <a:t>logically in a serial manner</a:t>
            </a:r>
            <a:r>
              <a:rPr kumimoji="1" lang="en-US" altLang="zh-CN" dirty="0"/>
              <a:t>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992525" y="2352025"/>
            <a:ext cx="12868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Actions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30798" y="5162605"/>
            <a:ext cx="12868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Actions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/>
      <p:bldP spid="36" grpId="0" animBg="1"/>
      <p:bldP spid="38" grpId="0"/>
      <p:bldP spid="56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Motivating example </a:t>
            </a:r>
            <a:endParaRPr kumimoji="1"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193955"/>
          </a:xfrm>
        </p:spPr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en-US" altLang="zh-CN" b="0" dirty="0"/>
              <a:t>: consider </a:t>
            </a:r>
            <a:r>
              <a:rPr kumimoji="1" lang="en-US" altLang="zh-CN" dirty="0"/>
              <a:t>two</a:t>
            </a:r>
            <a:r>
              <a:rPr kumimoji="1" lang="en-US" altLang="zh-CN" b="0" dirty="0"/>
              <a:t> threads </a:t>
            </a:r>
            <a:r>
              <a:rPr kumimoji="1" lang="en-US" altLang="zh-CN" dirty="0"/>
              <a:t>access the same account concurrently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have a in-memory array to store all the accounts w/o losing generality</a:t>
            </a:r>
            <a:endParaRPr kumimoji="1" lang="zh-CN" altLang="en-US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内容占位符 2"/>
          <p:cNvSpPr txBox="1"/>
          <p:nvPr/>
        </p:nvSpPr>
        <p:spPr>
          <a:xfrm>
            <a:off x="302840" y="3677831"/>
            <a:ext cx="8229600" cy="465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Question</a:t>
            </a:r>
            <a:r>
              <a:rPr kumimoji="1" lang="en-US" altLang="zh-CN" b="0" dirty="0"/>
              <a:t>: What are the expected behavior? </a:t>
            </a:r>
            <a:endParaRPr kumimoji="1" lang="zh-CN" altLang="en-US" dirty="0"/>
          </a:p>
        </p:txBody>
      </p:sp>
      <p:pic>
        <p:nvPicPr>
          <p:cNvPr id="21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100" y="2370592"/>
            <a:ext cx="276342" cy="658969"/>
          </a:xfrm>
          <a:prstGeom prst="rect">
            <a:avLst/>
          </a:prstGeom>
        </p:spPr>
      </p:pic>
      <p:cxnSp>
        <p:nvCxnSpPr>
          <p:cNvPr id="22" name="直线箭头连接符 21"/>
          <p:cNvCxnSpPr/>
          <p:nvPr/>
        </p:nvCxnSpPr>
        <p:spPr>
          <a:xfrm>
            <a:off x="539552" y="1991471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02840" y="3208248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256286" y="198695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2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371311"/>
            <a:ext cx="276342" cy="65896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1890898" y="198767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375259" y="2535936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256054" y="2535935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2798890" y="2440170"/>
            <a:ext cx="2029175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cxnSp>
        <p:nvCxnSpPr>
          <p:cNvPr id="30" name="直线连接符 29"/>
          <p:cNvCxnSpPr/>
          <p:nvPr/>
        </p:nvCxnSpPr>
        <p:spPr>
          <a:xfrm flipV="1">
            <a:off x="2499130" y="2521364"/>
            <a:ext cx="299760" cy="45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>
            <a:off x="2499130" y="2848716"/>
            <a:ext cx="299760" cy="172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5073643" y="2440170"/>
            <a:ext cx="3389945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33" name="内容占位符 2"/>
          <p:cNvSpPr txBox="1"/>
          <p:nvPr/>
        </p:nvSpPr>
        <p:spPr>
          <a:xfrm>
            <a:off x="3087485" y="2041127"/>
            <a:ext cx="1332355" cy="465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Action</a:t>
            </a:r>
            <a:endParaRPr kumimoji="1" lang="zh-CN" altLang="en-US" dirty="0"/>
          </a:p>
        </p:txBody>
      </p:sp>
      <p:sp>
        <p:nvSpPr>
          <p:cNvPr id="34" name="内容占位符 2"/>
          <p:cNvSpPr txBox="1"/>
          <p:nvPr/>
        </p:nvSpPr>
        <p:spPr>
          <a:xfrm>
            <a:off x="5486552" y="2041127"/>
            <a:ext cx="2685848" cy="465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Action implementation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Motivating example </a:t>
            </a:r>
            <a:endParaRPr kumimoji="1"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812247"/>
          </a:xfrm>
        </p:spPr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en-US" altLang="zh-CN" b="0" dirty="0"/>
              <a:t>: consider </a:t>
            </a:r>
            <a:r>
              <a:rPr kumimoji="1" lang="en-US" altLang="zh-CN" dirty="0"/>
              <a:t>two</a:t>
            </a:r>
            <a:r>
              <a:rPr kumimoji="1" lang="en-US" altLang="zh-CN" b="0" dirty="0"/>
              <a:t> threads </a:t>
            </a:r>
            <a:r>
              <a:rPr kumimoji="1" lang="en-US" altLang="zh-CN" dirty="0"/>
              <a:t>access the same account concurrently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have a in-memory array to store all the accounts w/o losing generality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100" y="2370592"/>
            <a:ext cx="276342" cy="658969"/>
          </a:xfrm>
          <a:prstGeom prst="rect">
            <a:avLst/>
          </a:prstGeom>
        </p:spPr>
      </p:pic>
      <p:cxnSp>
        <p:nvCxnSpPr>
          <p:cNvPr id="7" name="直线箭头连接符 6"/>
          <p:cNvCxnSpPr/>
          <p:nvPr/>
        </p:nvCxnSpPr>
        <p:spPr>
          <a:xfrm>
            <a:off x="539552" y="1991471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02840" y="3208248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256286" y="198695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0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371311"/>
            <a:ext cx="276342" cy="65896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890898" y="198767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375259" y="2535936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256054" y="2535935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798890" y="2440170"/>
            <a:ext cx="2029175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cxnSp>
        <p:nvCxnSpPr>
          <p:cNvPr id="15" name="直线连接符 14"/>
          <p:cNvCxnSpPr/>
          <p:nvPr/>
        </p:nvCxnSpPr>
        <p:spPr>
          <a:xfrm flipV="1">
            <a:off x="2499130" y="2521364"/>
            <a:ext cx="299760" cy="45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2499130" y="2848716"/>
            <a:ext cx="299760" cy="172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073643" y="2440170"/>
            <a:ext cx="3389945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8" name="内容占位符 2"/>
          <p:cNvSpPr txBox="1"/>
          <p:nvPr/>
        </p:nvSpPr>
        <p:spPr>
          <a:xfrm>
            <a:off x="302840" y="3677831"/>
            <a:ext cx="8229600" cy="465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Question</a:t>
            </a:r>
            <a:r>
              <a:rPr kumimoji="1" lang="en-US" altLang="zh-CN" b="0" dirty="0"/>
              <a:t>: What are the expected behavior? </a:t>
            </a:r>
            <a:endParaRPr kumimoji="1"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15" y="4334478"/>
            <a:ext cx="708644" cy="70864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30076" y="5150249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Alice: 0¥</a:t>
            </a:r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1686942" y="4488712"/>
            <a:ext cx="936104" cy="783278"/>
          </a:xfrm>
          <a:prstGeom prst="rightArrow">
            <a:avLst>
              <a:gd name="adj1" fmla="val 50000"/>
              <a:gd name="adj2" fmla="val 25891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795859" y="4193177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128844" y="4193176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706" y="4334478"/>
            <a:ext cx="708644" cy="708644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3008167" y="5150249"/>
            <a:ext cx="3801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Alice: </a:t>
            </a:r>
            <a:r>
              <a:rPr kumimoji="1" lang="en-US" altLang="zh-CN" b="1" dirty="0">
                <a:solidFill>
                  <a:srgbClr val="C00000"/>
                </a:solidFill>
              </a:rPr>
              <a:t>10¥? (Expected result: 20¥)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3087485" y="2041127"/>
            <a:ext cx="1332355" cy="465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Action</a:t>
            </a:r>
            <a:endParaRPr kumimoji="1" lang="zh-CN" altLang="en-US" dirty="0"/>
          </a:p>
        </p:txBody>
      </p:sp>
      <p:sp>
        <p:nvSpPr>
          <p:cNvPr id="26" name="内容占位符 2"/>
          <p:cNvSpPr txBox="1"/>
          <p:nvPr/>
        </p:nvSpPr>
        <p:spPr>
          <a:xfrm>
            <a:off x="5486552" y="2041127"/>
            <a:ext cx="2685848" cy="465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Action implementation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841160" cy="3771636"/>
          </a:xfrm>
        </p:spPr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en-US" altLang="zh-CN" b="0" dirty="0"/>
              <a:t>: consider </a:t>
            </a:r>
            <a:r>
              <a:rPr kumimoji="1" lang="en-US" altLang="zh-CN" dirty="0"/>
              <a:t>two</a:t>
            </a:r>
            <a:r>
              <a:rPr kumimoji="1" lang="en-US" altLang="zh-CN" b="0" dirty="0"/>
              <a:t> threads </a:t>
            </a:r>
            <a:r>
              <a:rPr kumimoji="1" lang="en-US" altLang="zh-CN" dirty="0"/>
              <a:t>access the same account concurrently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Even a simple + operator is </a:t>
            </a:r>
            <a:r>
              <a:rPr kumimoji="1" lang="en-US" altLang="zh-CN" b="1" dirty="0">
                <a:solidFill>
                  <a:srgbClr val="C00000"/>
                </a:solidFill>
              </a:rPr>
              <a:t>non-atomic 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Why would this happen?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deposit</a:t>
            </a:r>
            <a:r>
              <a:rPr kumimoji="1" lang="en-US" altLang="zh-CN" dirty="0"/>
              <a:t> function is </a:t>
            </a:r>
            <a:r>
              <a:rPr kumimoji="1" lang="en-US" altLang="zh-CN" b="1" dirty="0">
                <a:solidFill>
                  <a:srgbClr val="C00000"/>
                </a:solidFill>
              </a:rPr>
              <a:t>not atomic, even assuming each mov is linearizable!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2">
              <a:buClr>
                <a:schemeClr val="tx1"/>
              </a:buClr>
            </a:pPr>
            <a:r>
              <a:rPr kumimoji="1" lang="en-US" altLang="zh-CN" sz="16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</a:rPr>
              <a:t>CPU can only guarantee the atomicity of one memory op, but it has two</a:t>
            </a:r>
            <a:endParaRPr kumimoji="1" lang="zh-CN" altLang="en-US" sz="1600" dirty="0">
              <a:solidFill>
                <a:schemeClr val="tx1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54194" y="3776982"/>
            <a:ext cx="3481158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92080" y="3420346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17477" y="4468786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216548" y="4792424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380344" y="382943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2664" y="364437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924460" y="365095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380344" y="382943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7380344" y="417762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2664" y="364437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025872" y="398670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924460" y="365095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924460" y="393568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380344" y="382943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7380344" y="417762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2664" y="364437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025872" y="398670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924460" y="365095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924460" y="393568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654611" y="430501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924460" y="4246989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380344" y="382943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7380344" y="417762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2664" y="364437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025872" y="398670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924460" y="365095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924460" y="393568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654611" y="430501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082536" y="4601079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924460" y="4246989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928294" y="455263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380344" y="382943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7380344" y="417762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2664" y="364437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025872" y="398670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924460" y="365095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924460" y="393568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654611" y="430501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082536" y="4601079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673568" y="4855129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924460" y="4246989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928294" y="455263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7851318" y="4861872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47" name="直线箭头连接符 46"/>
          <p:cNvCxnSpPr/>
          <p:nvPr/>
        </p:nvCxnSpPr>
        <p:spPr>
          <a:xfrm flipH="1">
            <a:off x="7380344" y="504653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Atomicity of the + operator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285" y="110218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5524" y="970352"/>
            <a:ext cx="2795193" cy="1359603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acct, 	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add    $amt,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  <a:p>
            <a:pPr marL="0" lvl="2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mov    %</a:t>
            </a:r>
            <a:r>
              <a:rPr lang="en-US" altLang="zh-CN" dirty="0" err="1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eax</a:t>
            </a:r>
            <a:r>
              <a:rPr lang="en-US" altLang="zh-CN" dirty="0">
                <a:latin typeface="Courier New" panose="02070309020205020404" charset="0"/>
                <a:ea typeface="MS PGothic" panose="020B0600070205080204" pitchFamily="34" charset="-128"/>
                <a:cs typeface="Courier New" panose="02070309020205020404" charset="0"/>
              </a:rPr>
              <a:t>, acct </a:t>
            </a:r>
            <a:endParaRPr lang="en-US" altLang="zh-CN" dirty="0">
              <a:latin typeface="Courier New" panose="02070309020205020404" charset="0"/>
              <a:ea typeface="MS PGothic" panose="020B0600070205080204" pitchFamily="34" charset="-128"/>
              <a:cs typeface="Courier New" panose="020703090202050204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1793993"/>
            <a:ext cx="2715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Developer’s written code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99992" y="2342430"/>
            <a:ext cx="294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Compiler’s generated code</a:t>
            </a:r>
            <a:endParaRPr lang="zh-CN" altLang="en-US" dirty="0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527584" y="3793604"/>
            <a:ext cx="0" cy="108893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0872" y="5010381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15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90" y="4174619"/>
            <a:ext cx="276342" cy="6589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5576" y="379098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7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4175338"/>
            <a:ext cx="276342" cy="6589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90188" y="379170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74549" y="4339963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755344" y="43399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连接符 21"/>
          <p:cNvCxnSpPr/>
          <p:nvPr/>
        </p:nvCxnSpPr>
        <p:spPr>
          <a:xfrm flipV="1">
            <a:off x="1998420" y="4174619"/>
            <a:ext cx="299760" cy="196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1998420" y="4652743"/>
            <a:ext cx="271914" cy="411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48199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6069712" y="3012492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6" name="右箭头 25"/>
          <p:cNvSpPr/>
          <p:nvPr/>
        </p:nvSpPr>
        <p:spPr>
          <a:xfrm>
            <a:off x="4085946" y="4207607"/>
            <a:ext cx="396044" cy="783278"/>
          </a:xfrm>
          <a:prstGeom prst="rightArrow">
            <a:avLst>
              <a:gd name="adj1" fmla="val 50000"/>
              <a:gd name="adj2" fmla="val 5773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10244" y="3012492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7924460" y="33540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380344" y="382943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7380344" y="417762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22664" y="364437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025872" y="398670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924460" y="365095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924460" y="393568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654611" y="430501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082536" y="4601079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673568" y="4855129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6034096" y="5152464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924460" y="4246989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928294" y="455263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7851318" y="4861872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7851318" y="5157143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47" name="直线箭头连接符 46"/>
          <p:cNvCxnSpPr/>
          <p:nvPr/>
        </p:nvCxnSpPr>
        <p:spPr>
          <a:xfrm flipH="1">
            <a:off x="7380344" y="504653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/>
          <p:cNvCxnSpPr/>
          <p:nvPr/>
        </p:nvCxnSpPr>
        <p:spPr>
          <a:xfrm flipH="1">
            <a:off x="7380344" y="5379713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/>
          <p:cNvCxnSpPr/>
          <p:nvPr/>
        </p:nvCxnSpPr>
        <p:spPr>
          <a:xfrm>
            <a:off x="-324544" y="2929508"/>
            <a:ext cx="10009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359148" y="4140480"/>
            <a:ext cx="153704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bank,"alice”,10)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The </a:t>
            </a:r>
            <a:r>
              <a:rPr kumimoji="1" lang="en-US" altLang="zh-CN" dirty="0"/>
              <a:t>race condition </a:t>
            </a:r>
            <a:r>
              <a:rPr kumimoji="1" lang="en-US" altLang="zh-CN" b="0" dirty="0"/>
              <a:t>problem</a:t>
            </a:r>
            <a:endParaRPr kumimoji="1"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728192"/>
          </a:xfrm>
        </p:spPr>
        <p:txBody>
          <a:bodyPr/>
          <a:lstStyle/>
          <a:p>
            <a:r>
              <a:rPr lang="en-GB" altLang="zh-CN" dirty="0"/>
              <a:t>When two or more threads access shared data and at least one is write</a:t>
            </a:r>
            <a:endParaRPr lang="en-GB" altLang="zh-CN" dirty="0"/>
          </a:p>
          <a:p>
            <a:r>
              <a:rPr kumimoji="1" lang="en-US" altLang="zh-CN" dirty="0"/>
              <a:t>Timing dependent error involving shared state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whether the scheduling will cause reading a non-atomic update state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5587" y="27533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677100" y="27533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3117632" y="2753387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3531848" y="309493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9" name="直线箭头连接符 8"/>
          <p:cNvCxnSpPr/>
          <p:nvPr/>
        </p:nvCxnSpPr>
        <p:spPr>
          <a:xfrm flipH="1">
            <a:off x="2987732" y="357032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/>
          <p:nvPr/>
        </p:nvCxnSpPr>
        <p:spPr>
          <a:xfrm flipH="1">
            <a:off x="2987732" y="3918523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30052" y="3385268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633260" y="3727598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531848" y="3391846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531848" y="3676575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61999" y="4045907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689924" y="434197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80956" y="4596024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641484" y="4893359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531848" y="3987884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3535682" y="4293525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3458706" y="4602767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3458706" y="4898038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/>
          <p:cNvCxnSpPr/>
          <p:nvPr/>
        </p:nvCxnSpPr>
        <p:spPr>
          <a:xfrm flipH="1">
            <a:off x="2987732" y="4787433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/>
          <p:nvPr/>
        </p:nvCxnSpPr>
        <p:spPr>
          <a:xfrm flipH="1">
            <a:off x="2987732" y="512060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4644008" y="2523625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951784" y="27533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28" name="矩形 27"/>
          <p:cNvSpPr/>
          <p:nvPr/>
        </p:nvSpPr>
        <p:spPr>
          <a:xfrm>
            <a:off x="6373297" y="27533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9" name="矩形 28"/>
          <p:cNvSpPr/>
          <p:nvPr/>
        </p:nvSpPr>
        <p:spPr>
          <a:xfrm>
            <a:off x="7683929" y="2753387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8228045" y="309493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31" name="直线箭头连接符 30"/>
          <p:cNvCxnSpPr/>
          <p:nvPr/>
        </p:nvCxnSpPr>
        <p:spPr>
          <a:xfrm flipH="1">
            <a:off x="7683929" y="357032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926249" y="3385268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6295694" y="427653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8228045" y="3391846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8228045" y="3676575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948243" y="364958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896258" y="4045907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337681" y="4893359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8127228" y="3994773"/>
            <a:ext cx="4587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8154903" y="4602767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54903" y="4935942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20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683929" y="419460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/>
          <p:cNvCxnSpPr/>
          <p:nvPr/>
        </p:nvCxnSpPr>
        <p:spPr>
          <a:xfrm flipH="1">
            <a:off x="7683929" y="512060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8133030" y="4276535"/>
            <a:ext cx="4587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49" name="直线箭头连接符 48"/>
          <p:cNvCxnSpPr/>
          <p:nvPr/>
        </p:nvCxnSpPr>
        <p:spPr>
          <a:xfrm flipH="1">
            <a:off x="7683929" y="4478191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407335" y="4558833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pitchFamily="34" charset="-128"/>
              </a:rPr>
              <a:t>Race condition </a:t>
            </a:r>
            <a:r>
              <a:rPr lang="en-US" altLang="zh-CN" dirty="0">
                <a:ea typeface="楷体_GB2312" charset="0"/>
              </a:rPr>
              <a:t>is</a:t>
            </a:r>
            <a:r>
              <a:rPr lang="en-US" altLang="zh-CN" dirty="0">
                <a:ea typeface="楷体_GB2312" charset="0"/>
                <a:cs typeface="楷体_GB2312" charset="0"/>
              </a:rPr>
              <a:t> </a:t>
            </a:r>
            <a:r>
              <a:rPr lang="en-US" altLang="zh-CN" dirty="0">
                <a:ea typeface="MS PGothic" panose="020B0600070205080204" pitchFamily="34" charset="-128"/>
                <a:cs typeface="楷体_GB2312" charset="0"/>
              </a:rPr>
              <a:t>h</a:t>
            </a:r>
            <a:r>
              <a:rPr lang="en-US" altLang="zh-CN" dirty="0">
                <a:ea typeface="MS PGothic" panose="020B0600070205080204" pitchFamily="34" charset="-128"/>
              </a:rPr>
              <a:t>ard to control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03244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Must make sure all possible schedules are safe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Number of possible schedules permutations is huge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Bad schedules that will and will not work sometimes  </a:t>
            </a:r>
            <a:endParaRPr kumimoji="1" lang="en-US" altLang="zh-CN" dirty="0"/>
          </a:p>
          <a:p>
            <a:r>
              <a:rPr kumimoji="1" lang="en-US" altLang="zh-CN" dirty="0"/>
              <a:t>They are intermittent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Small timing changes between invocations might result in different behavior which can hide bug (e.g., Therac-25)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Also known as </a:t>
            </a:r>
            <a:r>
              <a:rPr kumimoji="1" lang="en-US" altLang="zh-CN" b="1" dirty="0">
                <a:solidFill>
                  <a:srgbClr val="C00000"/>
                </a:solidFill>
              </a:rPr>
              <a:t>Heisenbugs</a:t>
            </a:r>
            <a:r>
              <a:rPr kumimoji="1" lang="en-US" altLang="zh-CN" dirty="0"/>
              <a:t> (Heisenberg uncertainty)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Possible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system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solution-1: DMT (Deterministic Multi-Threading)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Possible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system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solution-2: Record and Replay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Both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hard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either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correctness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cost,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both</a:t>
            </a:r>
            <a:endParaRPr kumimoji="1"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Race condition is common (benign case)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Real-world computing systems embrace concurrency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embrace the design of distributed systems </a:t>
            </a:r>
            <a:endParaRPr kumimoji="1" lang="en-US" altLang="zh-CN" dirty="0"/>
          </a:p>
          <a:p>
            <a:r>
              <a:rPr kumimoji="1" lang="en-US" altLang="zh-CN" dirty="0"/>
              <a:t>Bad: race condition brings </a:t>
            </a:r>
            <a:r>
              <a:rPr lang="en-US" altLang="zh-CN" dirty="0"/>
              <a:t>unsatisfactory</a:t>
            </a:r>
            <a:r>
              <a:rPr kumimoji="1" lang="en-US" altLang="zh-CN" dirty="0"/>
              <a:t> to the customers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the comment system in 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2" descr="Zhihu · GitHu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393213"/>
            <a:ext cx="468394" cy="46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369" y="1123016"/>
            <a:ext cx="1930061" cy="3606167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 bwMode="auto">
          <a:xfrm>
            <a:off x="3891248" y="3979302"/>
            <a:ext cx="3501918" cy="658044"/>
          </a:xfrm>
          <a:prstGeom prst="wedgeRoundRectCallout">
            <a:avLst>
              <a:gd name="adj1" fmla="val 38973"/>
              <a:gd name="adj2" fmla="val -7847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36782" y="3982478"/>
            <a:ext cx="475001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</a:rPr>
              <a:t>Show 5 comments;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But only 3 presented on the app</a:t>
            </a:r>
            <a:endParaRPr lang="zh-CN" altLang="en-US" dirty="0">
              <a:latin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17" y="2896318"/>
            <a:ext cx="3050701" cy="27958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may be dangerous (e.g., 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Therac-25)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4308" b="1018"/>
          <a:stretch>
            <a:fillRect/>
          </a:stretch>
        </p:blipFill>
        <p:spPr>
          <a:xfrm>
            <a:off x="251520" y="1429814"/>
            <a:ext cx="3662659" cy="28083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88" y="1320700"/>
            <a:ext cx="4696868" cy="29378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1520" y="4585692"/>
            <a:ext cx="86522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altLang="zh-CN">
                <a:latin typeface="Arial" panose="020B0604020202020204" pitchFamily="34" charset="0"/>
                <a:cs typeface="Arial" panose="020B0604020202020204" pitchFamily="34" charset="0"/>
              </a:rPr>
              <a:t>The equipment control task did not properly synchronize with the operator interface task, so that race conditions occurred if the operator changed the setup too quickly.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altLang="zh-CN">
                <a:latin typeface="Arial" panose="020B0604020202020204" pitchFamily="34" charset="0"/>
                <a:cs typeface="Arial" panose="020B0604020202020204" pitchFamily="34" charset="0"/>
              </a:rPr>
              <a:t>n three cases, the injured patients later died as a result of the overdose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Before-or-After</a:t>
            </a:r>
            <a:r>
              <a:rPr lang="zh-CN" altLang="en-US" dirty="0"/>
              <a:t> </a:t>
            </a:r>
            <a:r>
              <a:rPr lang="en-US" altLang="zh-CN" dirty="0"/>
              <a:t>Atomicity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Goal: </a:t>
            </a:r>
            <a:r>
              <a:rPr kumimoji="1" lang="en-US" altLang="zh-CN" dirty="0"/>
              <a:t>before-or-after atomicity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/>
              <a:t>To prevent hazard produced by race condition, we need a group of reads/writes to be atomic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E.g., cannot see/overwrites the </a:t>
            </a:r>
            <a:r>
              <a:rPr lang="en-GB" altLang="zh-CN" b="1" dirty="0"/>
              <a:t>intermediate</a:t>
            </a:r>
            <a:r>
              <a:rPr kumimoji="1" lang="en-GB" altLang="zh-CN" dirty="0"/>
              <a:t> states of a concurrent action 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12095" y="267283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5133608" y="267283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6574140" y="267283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6988356" y="301438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0" name="直线箭头连接符 9"/>
          <p:cNvCxnSpPr/>
          <p:nvPr/>
        </p:nvCxnSpPr>
        <p:spPr>
          <a:xfrm flipH="1">
            <a:off x="6444240" y="348977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 flipH="1">
            <a:off x="6444240" y="383797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686560" y="330471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089768" y="364704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988356" y="331129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988356" y="359602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718507" y="396535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146432" y="426142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737464" y="451547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097992" y="481280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988356" y="390733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6992190" y="421297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6915214" y="452221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915214" y="481748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24" name="直线箭头连接符 23"/>
          <p:cNvCxnSpPr/>
          <p:nvPr/>
        </p:nvCxnSpPr>
        <p:spPr>
          <a:xfrm flipH="1">
            <a:off x="6444240" y="47068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 flipH="1">
            <a:off x="6444240" y="504005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333780" y="3685899"/>
            <a:ext cx="4982636" cy="318309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标注 26"/>
          <p:cNvSpPr/>
          <p:nvPr/>
        </p:nvSpPr>
        <p:spPr>
          <a:xfrm>
            <a:off x="611561" y="2505176"/>
            <a:ext cx="2347878" cy="1073980"/>
          </a:xfrm>
          <a:prstGeom prst="wedgeRectCallout">
            <a:avLst>
              <a:gd name="adj1" fmla="val 60258"/>
              <a:gd name="adj2" fmla="val 87117"/>
            </a:avLst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17003" y="2580501"/>
            <a:ext cx="24329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GB" altLang="zh-CN" dirty="0"/>
              <a:t>Thread 1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GB" altLang="zh-CN" dirty="0"/>
              <a:t>see the intermediate states of thread 0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Goal: </a:t>
            </a:r>
            <a:r>
              <a:rPr kumimoji="1" lang="en-US" altLang="zh-CN" dirty="0"/>
              <a:t>before-or-after atomicity (</a:t>
            </a:r>
            <a:r>
              <a:rPr kumimoji="1" lang="en-US" altLang="zh-CN" dirty="0" err="1"/>
              <a:t>a.k.a</a:t>
            </a:r>
            <a:r>
              <a:rPr kumimoji="1" lang="en-US" altLang="zh-CN" dirty="0"/>
              <a:t>, Isolation)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3793604"/>
            <a:ext cx="8229600" cy="1152128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kumimoji="1" lang="en-GB" altLang="zh-CN" dirty="0"/>
              <a:t>Concurrent </a:t>
            </a:r>
            <a:r>
              <a:rPr kumimoji="1" lang="en-GB" altLang="zh-CN" b="0" dirty="0"/>
              <a:t>actions have the </a:t>
            </a:r>
            <a:r>
              <a:rPr kumimoji="1" lang="en-GB" altLang="zh-CN" dirty="0"/>
              <a:t>before-or-after property </a:t>
            </a:r>
            <a:r>
              <a:rPr kumimoji="1" lang="en-GB" altLang="zh-CN" b="0" dirty="0"/>
              <a:t>if their effect from the point of view of their invokers is as </a:t>
            </a:r>
            <a:r>
              <a:rPr kumimoji="1" lang="en-GB" altLang="zh-CN" dirty="0"/>
              <a:t>if the actions occurred either completely before or completely after one another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302840" y="1129307"/>
            <a:ext cx="8229600" cy="1988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GB" altLang="zh-CN" dirty="0"/>
              <a:t>To prevent hazard produced by race condition, we need </a:t>
            </a:r>
            <a:r>
              <a:rPr kumimoji="1" lang="en-GB" altLang="zh-CN" dirty="0">
                <a:solidFill>
                  <a:srgbClr val="C00000"/>
                </a:solidFill>
              </a:rPr>
              <a:t>a group of reads/writes</a:t>
            </a:r>
            <a:r>
              <a:rPr kumimoji="1" lang="en-GB" altLang="zh-CN" dirty="0"/>
              <a:t> to be atomic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E.g., cannot see/overwrites the </a:t>
            </a:r>
            <a:r>
              <a:rPr lang="en-GB" altLang="zh-CN" b="1" dirty="0"/>
              <a:t>intermediate</a:t>
            </a:r>
            <a:r>
              <a:rPr kumimoji="1" lang="en-GB" altLang="zh-CN" dirty="0"/>
              <a:t> states of a concurrent action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 concurrent action may have multiple linearizable reads/writes </a:t>
            </a:r>
            <a:endParaRPr kumimoji="1" lang="en-GB" altLang="zh-CN" dirty="0"/>
          </a:p>
        </p:txBody>
      </p:sp>
      <p:sp>
        <p:nvSpPr>
          <p:cNvPr id="6" name="Rectangle 4"/>
          <p:cNvSpPr/>
          <p:nvPr/>
        </p:nvSpPr>
        <p:spPr>
          <a:xfrm>
            <a:off x="1655676" y="3468705"/>
            <a:ext cx="5832648" cy="405683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Before or after atomicity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Before-or-after vs. Linearizability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39" y="4690468"/>
            <a:ext cx="8517623" cy="635001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The above schedule is allowed in Linearizability, but not before-or-after atomicity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1" name="直线连接符 60"/>
          <p:cNvCxnSpPr/>
          <p:nvPr/>
        </p:nvCxnSpPr>
        <p:spPr>
          <a:xfrm>
            <a:off x="1577990" y="1772920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577990" y="1196994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Put(X,1)</a:t>
            </a:r>
            <a:endParaRPr lang="zh-CN" altLang="en-US" dirty="0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915" y="1466620"/>
            <a:ext cx="576064" cy="576064"/>
          </a:xfrm>
          <a:prstGeom prst="rect">
            <a:avLst/>
          </a:prstGeom>
        </p:spPr>
      </p:pic>
      <p:cxnSp>
        <p:nvCxnSpPr>
          <p:cNvPr id="64" name="直线连接符 63"/>
          <p:cNvCxnSpPr/>
          <p:nvPr/>
        </p:nvCxnSpPr>
        <p:spPr>
          <a:xfrm>
            <a:off x="1577990" y="2527434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06" y="2213782"/>
            <a:ext cx="635000" cy="635000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333166" y="1534423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P0</a:t>
            </a:r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>
          <a:xfrm>
            <a:off x="333165" y="2308133"/>
            <a:ext cx="6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P1</a:t>
            </a:r>
            <a:endParaRPr lang="zh-CN" altLang="en-US" dirty="0"/>
          </a:p>
        </p:txBody>
      </p:sp>
      <p:grpSp>
        <p:nvGrpSpPr>
          <p:cNvPr id="68" name="组合 67"/>
          <p:cNvGrpSpPr/>
          <p:nvPr/>
        </p:nvGrpSpPr>
        <p:grpSpPr>
          <a:xfrm>
            <a:off x="2163643" y="1630542"/>
            <a:ext cx="1086984" cy="284755"/>
            <a:chOff x="2339752" y="2425452"/>
            <a:chExt cx="1086984" cy="284755"/>
          </a:xfrm>
        </p:grpSpPr>
        <p:cxnSp>
          <p:nvCxnSpPr>
            <p:cNvPr id="69" name="直线连接符 68"/>
            <p:cNvCxnSpPr/>
            <p:nvPr/>
          </p:nvCxnSpPr>
          <p:spPr>
            <a:xfrm>
              <a:off x="2340928" y="2425452"/>
              <a:ext cx="0" cy="2847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3426736" y="2425452"/>
              <a:ext cx="0" cy="2847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/>
            <p:cNvCxnSpPr/>
            <p:nvPr/>
          </p:nvCxnSpPr>
          <p:spPr>
            <a:xfrm>
              <a:off x="2339752" y="2569468"/>
              <a:ext cx="10869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文本框 71"/>
          <p:cNvSpPr txBox="1"/>
          <p:nvPr/>
        </p:nvSpPr>
        <p:spPr>
          <a:xfrm>
            <a:off x="2662993" y="1196994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Done</a:t>
            </a:r>
            <a:endParaRPr lang="zh-CN" altLang="en-US" dirty="0"/>
          </a:p>
        </p:txBody>
      </p:sp>
      <p:grpSp>
        <p:nvGrpSpPr>
          <p:cNvPr id="73" name="组合 72"/>
          <p:cNvGrpSpPr/>
          <p:nvPr/>
        </p:nvGrpSpPr>
        <p:grpSpPr>
          <a:xfrm>
            <a:off x="3950193" y="1612274"/>
            <a:ext cx="1086984" cy="284755"/>
            <a:chOff x="2339752" y="2425452"/>
            <a:chExt cx="1086984" cy="284755"/>
          </a:xfrm>
        </p:grpSpPr>
        <p:cxnSp>
          <p:nvCxnSpPr>
            <p:cNvPr id="74" name="直线连接符 73"/>
            <p:cNvCxnSpPr/>
            <p:nvPr/>
          </p:nvCxnSpPr>
          <p:spPr>
            <a:xfrm>
              <a:off x="2340928" y="2425452"/>
              <a:ext cx="0" cy="2847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/>
            <p:cNvCxnSpPr/>
            <p:nvPr/>
          </p:nvCxnSpPr>
          <p:spPr>
            <a:xfrm>
              <a:off x="3426736" y="2425452"/>
              <a:ext cx="0" cy="2847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/>
            <p:cNvCxnSpPr/>
            <p:nvPr/>
          </p:nvCxnSpPr>
          <p:spPr>
            <a:xfrm>
              <a:off x="2339752" y="2569468"/>
              <a:ext cx="10869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/>
          <p:cNvSpPr txBox="1"/>
          <p:nvPr/>
        </p:nvSpPr>
        <p:spPr>
          <a:xfrm>
            <a:off x="3639933" y="1196994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Put(Y,1)</a:t>
            </a:r>
            <a:endParaRPr lang="zh-CN" alt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4561616" y="1196994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Done</a:t>
            </a:r>
            <a:endParaRPr lang="zh-CN" altLang="en-US" dirty="0"/>
          </a:p>
        </p:txBody>
      </p:sp>
      <p:grpSp>
        <p:nvGrpSpPr>
          <p:cNvPr id="79" name="组合 78"/>
          <p:cNvGrpSpPr/>
          <p:nvPr/>
        </p:nvGrpSpPr>
        <p:grpSpPr>
          <a:xfrm>
            <a:off x="4225586" y="2385056"/>
            <a:ext cx="1086984" cy="284755"/>
            <a:chOff x="2339752" y="2425452"/>
            <a:chExt cx="1086984" cy="284755"/>
          </a:xfrm>
        </p:grpSpPr>
        <p:cxnSp>
          <p:nvCxnSpPr>
            <p:cNvPr id="80" name="直线连接符 79"/>
            <p:cNvCxnSpPr/>
            <p:nvPr/>
          </p:nvCxnSpPr>
          <p:spPr>
            <a:xfrm>
              <a:off x="2340928" y="2425452"/>
              <a:ext cx="0" cy="28475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/>
            <p:cNvCxnSpPr/>
            <p:nvPr/>
          </p:nvCxnSpPr>
          <p:spPr>
            <a:xfrm>
              <a:off x="3426736" y="2425452"/>
              <a:ext cx="0" cy="28475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/>
            <p:cNvCxnSpPr/>
            <p:nvPr/>
          </p:nvCxnSpPr>
          <p:spPr>
            <a:xfrm>
              <a:off x="2339752" y="2569468"/>
              <a:ext cx="108698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82"/>
          <p:cNvSpPr txBox="1"/>
          <p:nvPr/>
        </p:nvSpPr>
        <p:spPr>
          <a:xfrm>
            <a:off x="3655864" y="1993658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Get(Y)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720053" y="2012065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5933383" y="2385056"/>
            <a:ext cx="1086984" cy="284755"/>
            <a:chOff x="2339752" y="2425452"/>
            <a:chExt cx="1086984" cy="284755"/>
          </a:xfrm>
        </p:grpSpPr>
        <p:cxnSp>
          <p:nvCxnSpPr>
            <p:cNvPr id="86" name="直线连接符 85"/>
            <p:cNvCxnSpPr/>
            <p:nvPr/>
          </p:nvCxnSpPr>
          <p:spPr>
            <a:xfrm>
              <a:off x="2340928" y="2425452"/>
              <a:ext cx="0" cy="28475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/>
            <p:cNvCxnSpPr/>
            <p:nvPr/>
          </p:nvCxnSpPr>
          <p:spPr>
            <a:xfrm>
              <a:off x="3426736" y="2425452"/>
              <a:ext cx="0" cy="28475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/>
            <p:cNvCxnSpPr/>
            <p:nvPr/>
          </p:nvCxnSpPr>
          <p:spPr>
            <a:xfrm>
              <a:off x="2339752" y="2569468"/>
              <a:ext cx="108698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文本框 88"/>
          <p:cNvSpPr txBox="1"/>
          <p:nvPr/>
        </p:nvSpPr>
        <p:spPr>
          <a:xfrm>
            <a:off x="5457155" y="1993658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Get(X)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6476875" y="1989082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93" name="直线连接符 92"/>
          <p:cNvCxnSpPr/>
          <p:nvPr/>
        </p:nvCxnSpPr>
        <p:spPr>
          <a:xfrm>
            <a:off x="1643241" y="3832932"/>
            <a:ext cx="6768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图片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46" y="3544900"/>
            <a:ext cx="635000" cy="635000"/>
          </a:xfrm>
          <a:prstGeom prst="rect">
            <a:avLst/>
          </a:prstGeom>
        </p:spPr>
      </p:pic>
      <p:grpSp>
        <p:nvGrpSpPr>
          <p:cNvPr id="95" name="组合 94"/>
          <p:cNvGrpSpPr/>
          <p:nvPr/>
        </p:nvGrpSpPr>
        <p:grpSpPr>
          <a:xfrm>
            <a:off x="1830173" y="3690554"/>
            <a:ext cx="1086984" cy="284755"/>
            <a:chOff x="2339752" y="2425452"/>
            <a:chExt cx="1086984" cy="284755"/>
          </a:xfrm>
        </p:grpSpPr>
        <p:cxnSp>
          <p:nvCxnSpPr>
            <p:cNvPr id="96" name="直线连接符 95"/>
            <p:cNvCxnSpPr/>
            <p:nvPr/>
          </p:nvCxnSpPr>
          <p:spPr>
            <a:xfrm>
              <a:off x="2340928" y="2425452"/>
              <a:ext cx="0" cy="2847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线连接符 96"/>
            <p:cNvCxnSpPr/>
            <p:nvPr/>
          </p:nvCxnSpPr>
          <p:spPr>
            <a:xfrm>
              <a:off x="3426736" y="2425452"/>
              <a:ext cx="0" cy="2847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/>
            <p:cNvCxnSpPr/>
            <p:nvPr/>
          </p:nvCxnSpPr>
          <p:spPr>
            <a:xfrm>
              <a:off x="2339752" y="2569468"/>
              <a:ext cx="10869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/>
          <p:cNvGrpSpPr/>
          <p:nvPr/>
        </p:nvGrpSpPr>
        <p:grpSpPr>
          <a:xfrm>
            <a:off x="5939838" y="3690554"/>
            <a:ext cx="1086984" cy="284755"/>
            <a:chOff x="2339752" y="2425452"/>
            <a:chExt cx="1086984" cy="284755"/>
          </a:xfrm>
        </p:grpSpPr>
        <p:cxnSp>
          <p:nvCxnSpPr>
            <p:cNvPr id="100" name="直线连接符 99"/>
            <p:cNvCxnSpPr/>
            <p:nvPr/>
          </p:nvCxnSpPr>
          <p:spPr>
            <a:xfrm>
              <a:off x="2340928" y="2425452"/>
              <a:ext cx="0" cy="28475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线连接符 100"/>
            <p:cNvCxnSpPr/>
            <p:nvPr/>
          </p:nvCxnSpPr>
          <p:spPr>
            <a:xfrm>
              <a:off x="3426736" y="2425452"/>
              <a:ext cx="0" cy="28475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连接符 101"/>
            <p:cNvCxnSpPr/>
            <p:nvPr/>
          </p:nvCxnSpPr>
          <p:spPr>
            <a:xfrm>
              <a:off x="2339752" y="2569468"/>
              <a:ext cx="108698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102"/>
          <p:cNvGrpSpPr/>
          <p:nvPr/>
        </p:nvGrpSpPr>
        <p:grpSpPr>
          <a:xfrm>
            <a:off x="2756201" y="3690554"/>
            <a:ext cx="2235495" cy="746800"/>
            <a:chOff x="3875286" y="4495294"/>
            <a:chExt cx="2235495" cy="746800"/>
          </a:xfrm>
        </p:grpSpPr>
        <p:grpSp>
          <p:nvGrpSpPr>
            <p:cNvPr id="104" name="组合 103"/>
            <p:cNvGrpSpPr/>
            <p:nvPr/>
          </p:nvGrpSpPr>
          <p:grpSpPr>
            <a:xfrm>
              <a:off x="4373921" y="4495294"/>
              <a:ext cx="1086984" cy="284755"/>
              <a:chOff x="2339752" y="2425452"/>
              <a:chExt cx="1086984" cy="284755"/>
            </a:xfrm>
          </p:grpSpPr>
          <p:cxnSp>
            <p:nvCxnSpPr>
              <p:cNvPr id="107" name="直线连接符 106"/>
              <p:cNvCxnSpPr/>
              <p:nvPr/>
            </p:nvCxnSpPr>
            <p:spPr>
              <a:xfrm>
                <a:off x="2340928" y="2425452"/>
                <a:ext cx="0" cy="28475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/>
              <p:cNvCxnSpPr/>
              <p:nvPr/>
            </p:nvCxnSpPr>
            <p:spPr>
              <a:xfrm>
                <a:off x="3426736" y="2425452"/>
                <a:ext cx="0" cy="28475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/>
              <p:cNvCxnSpPr/>
              <p:nvPr/>
            </p:nvCxnSpPr>
            <p:spPr>
              <a:xfrm>
                <a:off x="2339752" y="2569468"/>
                <a:ext cx="1086984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文本框 104"/>
            <p:cNvSpPr txBox="1"/>
            <p:nvPr/>
          </p:nvSpPr>
          <p:spPr>
            <a:xfrm>
              <a:off x="3875286" y="4854355"/>
              <a:ext cx="1171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Get(Y)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4939475" y="4872762"/>
              <a:ext cx="1171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0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110" name="文本框 109"/>
          <p:cNvSpPr txBox="1"/>
          <p:nvPr/>
        </p:nvSpPr>
        <p:spPr>
          <a:xfrm>
            <a:off x="5730566" y="4049615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Get(X)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750286" y="4045039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359962" y="3276896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Put(X,1)</a:t>
            </a:r>
            <a:endParaRPr lang="zh-CN" altLang="en-US" dirty="0"/>
          </a:p>
        </p:txBody>
      </p:sp>
      <p:sp>
        <p:nvSpPr>
          <p:cNvPr id="113" name="文本框 112"/>
          <p:cNvSpPr txBox="1"/>
          <p:nvPr/>
        </p:nvSpPr>
        <p:spPr>
          <a:xfrm>
            <a:off x="2444965" y="3276896"/>
            <a:ext cx="117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Done</a:t>
            </a:r>
            <a:endParaRPr lang="zh-CN" altLang="en-US" dirty="0"/>
          </a:p>
        </p:txBody>
      </p:sp>
      <p:grpSp>
        <p:nvGrpSpPr>
          <p:cNvPr id="114" name="组合 113"/>
          <p:cNvGrpSpPr/>
          <p:nvPr/>
        </p:nvGrpSpPr>
        <p:grpSpPr>
          <a:xfrm>
            <a:off x="4036289" y="3276896"/>
            <a:ext cx="2335530" cy="700852"/>
            <a:chOff x="2412160" y="4081636"/>
            <a:chExt cx="2335530" cy="700852"/>
          </a:xfrm>
        </p:grpSpPr>
        <p:grpSp>
          <p:nvGrpSpPr>
            <p:cNvPr id="115" name="组合 114"/>
            <p:cNvGrpSpPr/>
            <p:nvPr/>
          </p:nvGrpSpPr>
          <p:grpSpPr>
            <a:xfrm>
              <a:off x="3075053" y="4497733"/>
              <a:ext cx="1086984" cy="284755"/>
              <a:chOff x="2339752" y="2425452"/>
              <a:chExt cx="1086984" cy="284755"/>
            </a:xfrm>
          </p:grpSpPr>
          <p:cxnSp>
            <p:nvCxnSpPr>
              <p:cNvPr id="118" name="直线连接符 117"/>
              <p:cNvCxnSpPr/>
              <p:nvPr/>
            </p:nvCxnSpPr>
            <p:spPr>
              <a:xfrm>
                <a:off x="2340928" y="2425452"/>
                <a:ext cx="0" cy="2847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线连接符 118"/>
              <p:cNvCxnSpPr/>
              <p:nvPr/>
            </p:nvCxnSpPr>
            <p:spPr>
              <a:xfrm>
                <a:off x="3426736" y="2425452"/>
                <a:ext cx="0" cy="2847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线连接符 119"/>
              <p:cNvCxnSpPr/>
              <p:nvPr/>
            </p:nvCxnSpPr>
            <p:spPr>
              <a:xfrm>
                <a:off x="2339752" y="2569468"/>
                <a:ext cx="108698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6" name="文本框 115"/>
            <p:cNvSpPr txBox="1"/>
            <p:nvPr/>
          </p:nvSpPr>
          <p:spPr>
            <a:xfrm>
              <a:off x="2412160" y="4108192"/>
              <a:ext cx="1171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Put(Y,1)</a:t>
              </a:r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3576384" y="4081636"/>
              <a:ext cx="1171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Done</a:t>
              </a:r>
              <a:endParaRPr lang="zh-CN" altLang="en-US" dirty="0"/>
            </a:p>
          </p:txBody>
        </p:sp>
      </p:grpSp>
      <p:sp>
        <p:nvSpPr>
          <p:cNvPr id="121" name="下箭头 120"/>
          <p:cNvSpPr/>
          <p:nvPr/>
        </p:nvSpPr>
        <p:spPr>
          <a:xfrm>
            <a:off x="3928137" y="2834254"/>
            <a:ext cx="926515" cy="246173"/>
          </a:xfrm>
          <a:prstGeom prst="down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know which operations should be atomic?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Review: Transaction! </a:t>
            </a:r>
            <a:endParaRPr kumimoji="1" lang="en-US" altLang="zh-CN" dirty="0"/>
          </a:p>
          <a:p>
            <a:r>
              <a:rPr kumimoji="1" lang="en-US" altLang="zh-CN" dirty="0"/>
              <a:t>We call a set of operations that needs to be atomic "transaction” </a:t>
            </a:r>
            <a:endParaRPr kumimoji="1" lang="en-US" altLang="zh-CN" dirty="0"/>
          </a:p>
          <a:p>
            <a:r>
              <a:rPr kumimoji="1" lang="en-US" altLang="zh-CN" dirty="0"/>
              <a:t>Transaction typically provides interfaces for applications to mark the atomicity granularity of operations </a:t>
            </a:r>
            <a:endParaRPr kumimoji="1" lang="en-US" altLang="zh-CN" dirty="0"/>
          </a:p>
          <a:p>
            <a:pPr lvl="1"/>
            <a:r>
              <a:rPr kumimoji="1" lang="en-US" altLang="zh-CN" dirty="0" err="1">
                <a:latin typeface="Consolas" panose="020B0609020204030204" pitchFamily="49" charset="0"/>
                <a:ea typeface="PingFang HK" panose="020B0400000000000000" pitchFamily="34" charset="-120"/>
                <a:cs typeface="Consolas" panose="020B0609020204030204" pitchFamily="49" charset="0"/>
              </a:rPr>
              <a:t>TX.begin</a:t>
            </a:r>
            <a:r>
              <a:rPr kumimoji="1" lang="en-US" altLang="zh-CN" dirty="0">
                <a:latin typeface="Consolas" panose="020B0609020204030204" pitchFamily="49" charset="0"/>
                <a:ea typeface="PingFang HK" panose="020B0400000000000000" pitchFamily="34" charset="-120"/>
                <a:cs typeface="Consolas" panose="020B0609020204030204" pitchFamily="49" charset="0"/>
              </a:rPr>
              <a:t>() </a:t>
            </a:r>
            <a:endParaRPr kumimoji="1" lang="en-US" altLang="zh-CN" dirty="0">
              <a:latin typeface="Consolas" panose="020B0609020204030204" pitchFamily="49" charset="0"/>
              <a:ea typeface="PingFang HK" panose="020B0400000000000000" pitchFamily="34" charset="-12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 err="1">
                <a:latin typeface="Consolas" panose="020B0609020204030204" pitchFamily="49" charset="0"/>
                <a:ea typeface="PingFang HK" panose="020B0400000000000000" pitchFamily="34" charset="-120"/>
                <a:cs typeface="Consolas" panose="020B0609020204030204" pitchFamily="49" charset="0"/>
              </a:rPr>
              <a:t>TX.commit</a:t>
            </a:r>
            <a:r>
              <a:rPr kumimoji="1" lang="en-US" altLang="zh-CN" dirty="0">
                <a:latin typeface="Consolas" panose="020B0609020204030204" pitchFamily="49" charset="0"/>
                <a:ea typeface="PingFang HK" panose="020B0400000000000000" pitchFamily="34" charset="-120"/>
                <a:cs typeface="Consolas" panose="020B0609020204030204" pitchFamily="49" charset="0"/>
              </a:rPr>
              <a:t>()</a:t>
            </a:r>
            <a:endParaRPr kumimoji="1" lang="en-US" altLang="zh-CN" dirty="0">
              <a:latin typeface="Consolas" panose="020B0609020204030204" pitchFamily="49" charset="0"/>
              <a:ea typeface="PingFang HK" panose="020B0400000000000000" pitchFamily="34" charset="-120"/>
              <a:cs typeface="Consolas" panose="020B0609020204030204" pitchFamily="49" charset="0"/>
            </a:endParaRPr>
          </a:p>
          <a:p>
            <a:r>
              <a:rPr kumimoji="1" lang="en-US" altLang="zh-CN" dirty="0">
                <a:ea typeface="PingFang HK" panose="020B0400000000000000" pitchFamily="34" charset="-120"/>
                <a:cs typeface="Consolas" panose="020B0609020204030204" pitchFamily="49" charset="0"/>
              </a:rPr>
              <a:t>So typically, transactions must provide both all-or-nothing &amp; before-or-after, a.k.a., ACID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/>
          <a:lstStyle/>
          <a:p>
            <a:r>
              <a:rPr kumimoji="1" lang="en-US" altLang="zh-CN" dirty="0"/>
              <a:t>Locks: </a:t>
            </a:r>
            <a:r>
              <a:rPr kumimoji="1" lang="en-US" altLang="zh-CN" b="0" dirty="0"/>
              <a:t>a data structure that </a:t>
            </a:r>
            <a:r>
              <a:rPr lang="en-GB" altLang="zh-CN" b="0" dirty="0"/>
              <a:t>allows only one CPU acquire at a given time </a:t>
            </a:r>
            <a:endParaRPr lang="en-GB" altLang="zh-CN" b="0" dirty="0"/>
          </a:p>
          <a:p>
            <a:pPr lvl="1"/>
            <a:r>
              <a:rPr kumimoji="1" lang="en-US" altLang="zh-CN" dirty="0"/>
              <a:t>Programs can </a:t>
            </a:r>
            <a:r>
              <a:rPr kumimoji="1" lang="en-US" altLang="zh-CN" b="1" dirty="0"/>
              <a:t>acquire</a:t>
            </a:r>
            <a:r>
              <a:rPr kumimoji="1" lang="en-US" altLang="zh-CN" dirty="0"/>
              <a:t> and </a:t>
            </a:r>
            <a:r>
              <a:rPr kumimoji="1" lang="en-US" altLang="zh-CN" b="1" dirty="0"/>
              <a:t>release</a:t>
            </a:r>
            <a:r>
              <a:rPr kumimoji="1" lang="en-US" altLang="zh-CN" dirty="0"/>
              <a:t> the lock</a:t>
            </a:r>
            <a:endParaRPr lang="en-GB" altLang="zh-CN" dirty="0"/>
          </a:p>
          <a:p>
            <a:pPr lvl="1"/>
            <a:r>
              <a:rPr lang="en-GB" altLang="zh-CN" dirty="0"/>
              <a:t>If the acquisition fails, then the CPU will wait until it is succeed </a:t>
            </a:r>
            <a:endParaRPr lang="en-GB" altLang="zh-CN" dirty="0"/>
          </a:p>
          <a:p>
            <a:pPr lvl="1"/>
            <a:r>
              <a:rPr kumimoji="1" lang="en-US" altLang="zh-CN" dirty="0"/>
              <a:t>Example: </a:t>
            </a:r>
            <a:r>
              <a:rPr kumimoji="1" lang="en-US" altLang="zh-CN" dirty="0" err="1">
                <a:latin typeface="Courier New" panose="02070309020205020404" charset="0"/>
                <a:cs typeface="Courier New" panose="02070309020205020404" charset="0"/>
              </a:rPr>
              <a:t>pthread_mutex</a:t>
            </a:r>
            <a:endParaRPr kumimoji="1" lang="en-US" altLang="zh-CN" dirty="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kumimoji="1" lang="en-US" altLang="zh-CN" dirty="0">
                <a:latin typeface="+mj-lt"/>
                <a:cs typeface="Consolas" panose="020B0609020204030204" pitchFamily="49" charset="0"/>
              </a:rPr>
              <a:t>Implementing the locks efficiently is a broad topic </a:t>
            </a:r>
            <a:endParaRPr kumimoji="1" lang="en-US" altLang="zh-CN" dirty="0">
              <a:latin typeface="+mj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+mj-lt"/>
                <a:cs typeface="Consolas" panose="020B0609020204030204" pitchFamily="49" charset="0"/>
              </a:rPr>
              <a:t>And is non-trivial: out of the scope of this lecture </a:t>
            </a:r>
            <a:endParaRPr kumimoji="1" lang="en-US" altLang="zh-CN" dirty="0"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9237712" cy="288819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Locks: </a:t>
            </a:r>
            <a:r>
              <a:rPr kumimoji="1" lang="en-US" altLang="zh-CN" b="0" dirty="0"/>
              <a:t>a data structure that </a:t>
            </a:r>
            <a:r>
              <a:rPr lang="en-GB" altLang="zh-CN" b="0" dirty="0"/>
              <a:t>allows only one CPU acquire at a given time </a:t>
            </a:r>
            <a:endParaRPr lang="en-GB" altLang="zh-CN" dirty="0"/>
          </a:p>
          <a:p>
            <a:pPr lvl="1"/>
            <a:r>
              <a:rPr kumimoji="1" lang="en-US" altLang="zh-CN" dirty="0"/>
              <a:t>Programs can </a:t>
            </a:r>
            <a:r>
              <a:rPr kumimoji="1" lang="en-US" altLang="zh-CN" b="1" dirty="0"/>
              <a:t>acquire</a:t>
            </a:r>
            <a:r>
              <a:rPr kumimoji="1" lang="en-US" altLang="zh-CN" dirty="0"/>
              <a:t> and </a:t>
            </a:r>
            <a:r>
              <a:rPr kumimoji="1" lang="en-US" altLang="zh-CN" b="1" dirty="0"/>
              <a:t>release</a:t>
            </a:r>
            <a:r>
              <a:rPr kumimoji="1" lang="en-US" altLang="zh-CN" dirty="0"/>
              <a:t> the lock</a:t>
            </a:r>
            <a:endParaRPr lang="en-GB" altLang="zh-CN" dirty="0"/>
          </a:p>
          <a:p>
            <a:pPr lvl="1"/>
            <a:r>
              <a:rPr lang="en-GB" altLang="zh-CN" dirty="0"/>
              <a:t>If the acquisition fails, then the CPU will wait until it is succeed </a:t>
            </a:r>
            <a:endParaRPr lang="en-GB" altLang="zh-CN" dirty="0"/>
          </a:p>
          <a:p>
            <a:pPr lvl="1"/>
            <a:r>
              <a:rPr kumimoji="1" lang="en-US" altLang="zh-CN" dirty="0"/>
              <a:t>Example: </a:t>
            </a:r>
            <a:r>
              <a:rPr kumimoji="1" lang="en-US" altLang="zh-CN" dirty="0" err="1">
                <a:latin typeface="Courier New" panose="02070309020205020404" charset="0"/>
                <a:cs typeface="Courier New" panose="02070309020205020404" charset="0"/>
              </a:rPr>
              <a:t>pthread_mutex</a:t>
            </a:r>
            <a:endParaRPr kumimoji="1" lang="en-US" altLang="zh-CN" dirty="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kumimoji="1" lang="en-US" altLang="zh-CN" dirty="0"/>
              <a:t>Global lock: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global lock before executing, and release it after it commits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02840" y="4327396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17640" y="4105443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3764396" y="4425450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5999252" y="3893582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cxnSp>
        <p:nvCxnSpPr>
          <p:cNvPr id="51" name="直线箭头连接符 50"/>
          <p:cNvCxnSpPr/>
          <p:nvPr/>
        </p:nvCxnSpPr>
        <p:spPr>
          <a:xfrm flipH="1">
            <a:off x="7401372" y="4097698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8102789" y="391156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5914036" y="3953013"/>
            <a:ext cx="2481134" cy="318309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Rectangle 4"/>
          <p:cNvSpPr/>
          <p:nvPr/>
        </p:nvSpPr>
        <p:spPr>
          <a:xfrm>
            <a:off x="4752360" y="4449009"/>
            <a:ext cx="3824924" cy="405683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</a:t>
            </a:r>
            <a:r>
              <a:rPr lang="zh-CN" altLang="en-US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happen?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5874306" y="388777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8" name="Rectangle 4"/>
          <p:cNvSpPr/>
          <p:nvPr/>
        </p:nvSpPr>
        <p:spPr>
          <a:xfrm>
            <a:off x="4867019" y="4517678"/>
            <a:ext cx="3824924" cy="77501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Thread is stuck at the acquiring the lock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4628976" y="4171088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8026589" y="4174042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53" name="直线箭头连接符 52"/>
          <p:cNvCxnSpPr/>
          <p:nvPr/>
        </p:nvCxnSpPr>
        <p:spPr>
          <a:xfrm flipH="1">
            <a:off x="7476000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874306" y="388777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879043" y="419608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4628976" y="4171088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8026589" y="4174042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53" name="直线箭头连接符 52"/>
          <p:cNvCxnSpPr/>
          <p:nvPr/>
        </p:nvCxnSpPr>
        <p:spPr>
          <a:xfrm flipH="1">
            <a:off x="7476000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026589" y="4459383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443027" y="4482502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874306" y="388777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879043" y="419608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99228" y="4484376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4628976" y="4171088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8026589" y="4174042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53" name="直线箭头连接符 52"/>
          <p:cNvCxnSpPr/>
          <p:nvPr/>
        </p:nvCxnSpPr>
        <p:spPr>
          <a:xfrm flipH="1">
            <a:off x="7476000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026589" y="4459383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443027" y="4482502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874306" y="388777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879043" y="419608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99228" y="4484376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044953" y="474491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8046774" y="4744914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4628976" y="4171088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8026589" y="4174042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53" name="直线箭头连接符 52"/>
          <p:cNvCxnSpPr/>
          <p:nvPr/>
        </p:nvCxnSpPr>
        <p:spPr>
          <a:xfrm flipH="1">
            <a:off x="7476000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026589" y="4459383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443027" y="4482502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874306" y="388777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879043" y="419608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99228" y="4484376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044953" y="474491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6031782" y="5025620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8046774" y="4744914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8054372" y="5025620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63" name="直线箭头连接符 62"/>
          <p:cNvCxnSpPr/>
          <p:nvPr/>
        </p:nvCxnSpPr>
        <p:spPr>
          <a:xfrm flipH="1">
            <a:off x="7476000" y="521028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0093" y="1205859"/>
            <a:ext cx="3240360" cy="646331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3997" y="99822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901649" y="1303913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153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1563666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3004198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3418414" y="269499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2874298" y="317038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2874298" y="351858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618" y="298532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519826" y="3327655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418414" y="2991903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418414" y="327663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48565" y="364596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576490" y="394203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67522" y="4196081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528050" y="4493416"/>
            <a:ext cx="120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acct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418414" y="358794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22248" y="389358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345272" y="4202824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345272" y="4498095"/>
            <a:ext cx="459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10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2874298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 flipH="1">
            <a:off x="2874298" y="472066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36" name="矩形 35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cxnSp>
        <p:nvCxnSpPr>
          <p:cNvPr id="38" name="直线连接符 37"/>
          <p:cNvCxnSpPr/>
          <p:nvPr/>
        </p:nvCxnSpPr>
        <p:spPr>
          <a:xfrm>
            <a:off x="4455938" y="2404988"/>
            <a:ext cx="0" cy="3636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4397095" y="2400043"/>
            <a:ext cx="315595" cy="2854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514782" y="298493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899228" y="358794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4628976" y="4171088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8026589" y="4174042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53" name="直线箭头连接符 52"/>
          <p:cNvCxnSpPr/>
          <p:nvPr/>
        </p:nvCxnSpPr>
        <p:spPr>
          <a:xfrm flipH="1">
            <a:off x="7476000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026589" y="4459383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443027" y="4482502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874306" y="388777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879043" y="419608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99228" y="4484376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044953" y="474491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6031782" y="5025620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8046774" y="4744914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8054372" y="5025620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63" name="直线箭头连接符 62"/>
          <p:cNvCxnSpPr/>
          <p:nvPr/>
        </p:nvCxnSpPr>
        <p:spPr>
          <a:xfrm flipH="1">
            <a:off x="7476000" y="521028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86876" y="5339732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061970" y="5333850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48" y="3738348"/>
            <a:ext cx="276342" cy="6589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global 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3796716"/>
          </a:xfrm>
        </p:spPr>
        <p:txBody>
          <a:bodyPr/>
          <a:lstStyle/>
          <a:p>
            <a:r>
              <a:rPr kumimoji="1" lang="en-US" altLang="zh-CN" dirty="0"/>
              <a:t>Locks: </a:t>
            </a:r>
            <a:r>
              <a:rPr kumimoji="1" lang="en-US" altLang="zh-CN" b="0" dirty="0"/>
              <a:t>a data structure that </a:t>
            </a:r>
            <a:r>
              <a:rPr lang="en-GB" altLang="zh-CN" b="0" dirty="0"/>
              <a:t>allows only one CPU acquire at a given time </a:t>
            </a:r>
            <a:endParaRPr lang="en-GB" altLang="zh-CN" dirty="0"/>
          </a:p>
          <a:p>
            <a:pPr lvl="1"/>
            <a:r>
              <a:rPr kumimoji="1" lang="en-US" altLang="zh-CN" dirty="0"/>
              <a:t>Programs can </a:t>
            </a:r>
            <a:r>
              <a:rPr kumimoji="1" lang="en-US" altLang="zh-CN" b="1" dirty="0"/>
              <a:t>acquire</a:t>
            </a:r>
            <a:r>
              <a:rPr kumimoji="1" lang="en-US" altLang="zh-CN" dirty="0"/>
              <a:t> and </a:t>
            </a:r>
            <a:r>
              <a:rPr kumimoji="1" lang="en-US" altLang="zh-CN" b="1" dirty="0"/>
              <a:t>release</a:t>
            </a:r>
            <a:r>
              <a:rPr kumimoji="1" lang="en-US" altLang="zh-CN" dirty="0"/>
              <a:t> the lock</a:t>
            </a:r>
            <a:endParaRPr kumimoji="1" lang="en-US" altLang="zh-CN" dirty="0"/>
          </a:p>
          <a:p>
            <a:r>
              <a:rPr kumimoji="1" lang="en-US" altLang="zh-CN" dirty="0"/>
              <a:t>Global lock: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global lock before executing, and release it after it commits</a:t>
            </a:r>
            <a:endParaRPr kumimoji="1" lang="en-US" altLang="zh-CN" dirty="0"/>
          </a:p>
          <a:p>
            <a:r>
              <a:rPr kumimoji="1" lang="en-US" altLang="zh-CN" dirty="0"/>
              <a:t>Drawback: too coarse-grained </a:t>
            </a:r>
            <a:endParaRPr kumimoji="1" lang="en-US" altLang="zh-CN" dirty="0"/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Only allow one action to run at a time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lang="en-US" altLang="zh-CN" dirty="0">
                <a:ea typeface="MS PGothic" panose="020B0600070205080204" pitchFamily="34" charset="-128"/>
              </a:rPr>
              <a:t>Even they don’t read/write each other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kumimoji="1" lang="zh-CN" altLang="en-US" dirty="0"/>
          </a:p>
        </p:txBody>
      </p:sp>
      <p:cxnSp>
        <p:nvCxnSpPr>
          <p:cNvPr id="10" name="直线箭头连接符 9"/>
          <p:cNvCxnSpPr>
            <a:endCxn id="11" idx="0"/>
          </p:cNvCxnSpPr>
          <p:nvPr/>
        </p:nvCxnSpPr>
        <p:spPr>
          <a:xfrm>
            <a:off x="8520395" y="3400255"/>
            <a:ext cx="12045" cy="189670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187922" y="5296962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171434" y="332591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pic>
        <p:nvPicPr>
          <p:cNvPr id="13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860" y="3710273"/>
            <a:ext cx="276342" cy="65896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806046" y="3326638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290407" y="3874898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940152" y="3874897"/>
            <a:ext cx="216024" cy="282601"/>
          </a:xfrm>
          <a:prstGeom prst="rect">
            <a:avLst/>
          </a:prstGeom>
          <a:solidFill>
            <a:srgbClr val="32C0D8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886015" y="3325200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520627" y="332591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pic>
        <p:nvPicPr>
          <p:cNvPr id="20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58" y="3710273"/>
            <a:ext cx="276342" cy="1586689"/>
          </a:xfrm>
          <a:prstGeom prst="rect">
            <a:avLst/>
          </a:prstGeom>
        </p:spPr>
      </p:pic>
      <p:pic>
        <p:nvPicPr>
          <p:cNvPr id="21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738348"/>
            <a:ext cx="276342" cy="1558614"/>
          </a:xfrm>
          <a:prstGeom prst="rect">
            <a:avLst/>
          </a:prstGeom>
        </p:spPr>
      </p:pic>
      <p:sp>
        <p:nvSpPr>
          <p:cNvPr id="22" name="右箭头 21"/>
          <p:cNvSpPr/>
          <p:nvPr/>
        </p:nvSpPr>
        <p:spPr>
          <a:xfrm>
            <a:off x="6432909" y="3271111"/>
            <a:ext cx="432048" cy="450221"/>
          </a:xfrm>
          <a:prstGeom prst="rightArrow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894860" y="2870678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+ global lock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6983938" y="4017562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672824" y="4430567"/>
            <a:ext cx="216024" cy="282601"/>
          </a:xfrm>
          <a:prstGeom prst="rect">
            <a:avLst/>
          </a:prstGeom>
          <a:solidFill>
            <a:srgbClr val="32C0D8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983938" y="3895785"/>
            <a:ext cx="216024" cy="126924"/>
          </a:xfrm>
          <a:prstGeom prst="rect">
            <a:avLst/>
          </a:prstGeom>
          <a:solidFill>
            <a:srgbClr val="FFFC00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666504" y="3898471"/>
            <a:ext cx="216024" cy="534782"/>
          </a:xfrm>
          <a:prstGeom prst="rect">
            <a:avLst/>
          </a:prstGeom>
          <a:solidFill>
            <a:srgbClr val="FFFC00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8412383" y="3992369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420296" y="4430566"/>
            <a:ext cx="216024" cy="282601"/>
          </a:xfrm>
          <a:prstGeom prst="rect">
            <a:avLst/>
          </a:prstGeom>
          <a:solidFill>
            <a:srgbClr val="32C0D8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" name="直线连接符 29"/>
          <p:cNvCxnSpPr/>
          <p:nvPr/>
        </p:nvCxnSpPr>
        <p:spPr>
          <a:xfrm>
            <a:off x="5128196" y="4166124"/>
            <a:ext cx="3705523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6288691" y="5295356"/>
            <a:ext cx="276342" cy="150534"/>
          </a:xfrm>
          <a:prstGeom prst="rect">
            <a:avLst/>
          </a:prstGeom>
          <a:solidFill>
            <a:srgbClr val="32C0D8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572000" y="5193722"/>
            <a:ext cx="1505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Deposit(bob)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6288691" y="4969535"/>
            <a:ext cx="276342" cy="150534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572000" y="4860136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Deposit(Alice)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6288691" y="4666342"/>
            <a:ext cx="276342" cy="150534"/>
          </a:xfrm>
          <a:prstGeom prst="rect">
            <a:avLst/>
          </a:prstGeom>
          <a:solidFill>
            <a:srgbClr val="FFFC00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572000" y="4556781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Requiring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5496" y="4005500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383960" cy="900442"/>
          </a:xfrm>
        </p:spPr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fine-grained locking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653649" cy="3771636"/>
          </a:xfrm>
        </p:spPr>
        <p:txBody>
          <a:bodyPr/>
          <a:lstStyle/>
          <a:p>
            <a:r>
              <a:rPr kumimoji="1" lang="en-US" altLang="zh-CN" dirty="0"/>
              <a:t>Fine-grained locking: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shared data has one lock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a lock for Alice &amp; a lock for Bob</a:t>
            </a:r>
            <a:endParaRPr kumimoji="1" lang="en-US" altLang="zh-CN" dirty="0"/>
          </a:p>
          <a:p>
            <a:r>
              <a:rPr kumimoji="1" lang="en-US" altLang="zh-CN" dirty="0"/>
              <a:t>Locking rule: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shared data’s lock before access it, and releases it after the data access finishes 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634" y="941158"/>
            <a:ext cx="708644" cy="7086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266" y="941158"/>
            <a:ext cx="708644" cy="7086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84869" y="94115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5933288" y="1668938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Alice: 0¥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128096" y="1649802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Bob: 0¥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28249" y="1668938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 = [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822873" y="2191313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 = [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442" y="2189432"/>
            <a:ext cx="431216" cy="4312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80" y="2200610"/>
            <a:ext cx="431216" cy="43121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747619" y="4016035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acquire(lock[acct])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release(lock[acct])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4247623" y="4359501"/>
            <a:ext cx="575249" cy="450221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733656" cy="900442"/>
          </a:xfrm>
        </p:spPr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fine-grained locking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7504" y="1094596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19627" y="1105131"/>
            <a:ext cx="4261318" cy="1200329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Deposit(bank,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, acct,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acquire(lock[acct])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bank[acct]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release(lock[acct])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4319631" y="1448597"/>
            <a:ext cx="575249" cy="450221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70075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6091588" y="23534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7532120" y="2353444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8102789" y="261599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514782" y="2984938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102789" y="29919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102789" y="3293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15" name="直线箭头连接符 14"/>
          <p:cNvCxnSpPr/>
          <p:nvPr/>
        </p:nvCxnSpPr>
        <p:spPr>
          <a:xfrm flipH="1">
            <a:off x="7388120" y="3440945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628976" y="327030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899228" y="3587941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102789" y="35871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4642147" y="3890382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628976" y="4171088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8102789" y="3888701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026589" y="4174042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23" name="直线箭头连接符 22"/>
          <p:cNvCxnSpPr/>
          <p:nvPr/>
        </p:nvCxnSpPr>
        <p:spPr>
          <a:xfrm flipH="1">
            <a:off x="7476000" y="4387490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026589" y="4459383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4610891" y="4484376"/>
            <a:ext cx="1274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en-US" altLang="zh-CN" dirty="0">
                <a:highlight>
                  <a:srgbClr val="FFFF00"/>
                </a:highlight>
              </a:rPr>
              <a:t>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874306" y="3887773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879043" y="4196081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899228" y="4484376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44953" y="474491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6031782" y="5025620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8046774" y="4744914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8054372" y="5025620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7476000" y="521028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5886876" y="5339732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Release(lock[</a:t>
            </a:r>
            <a:r>
              <a:rPr kumimoji="1" lang="en-US" altLang="zh-CN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dirty="0">
                <a:highlight>
                  <a:srgbClr val="FFFF00"/>
                </a:highlight>
              </a:rPr>
              <a:t>])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061970" y="5333850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50943" y="231257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66" name="矩形 65"/>
          <p:cNvSpPr/>
          <p:nvPr/>
        </p:nvSpPr>
        <p:spPr>
          <a:xfrm>
            <a:off x="1672456" y="231257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67" name="矩形 66"/>
          <p:cNvSpPr/>
          <p:nvPr/>
        </p:nvSpPr>
        <p:spPr>
          <a:xfrm>
            <a:off x="3112988" y="2312570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68" name="矩形 67"/>
          <p:cNvSpPr/>
          <p:nvPr/>
        </p:nvSpPr>
        <p:spPr>
          <a:xfrm>
            <a:off x="3683657" y="257511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95650" y="294406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683657" y="295102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683657" y="325258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cxnSp>
        <p:nvCxnSpPr>
          <p:cNvPr id="72" name="直线箭头连接符 71"/>
          <p:cNvCxnSpPr/>
          <p:nvPr/>
        </p:nvCxnSpPr>
        <p:spPr>
          <a:xfrm flipH="1">
            <a:off x="2968988" y="3400071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209844" y="3229430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Read acct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1480096" y="3547067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683657" y="35462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223015" y="384950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209844" y="4130214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3683657" y="3847827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3607457" y="4133168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cxnSp>
        <p:nvCxnSpPr>
          <p:cNvPr id="80" name="直线箭头连接符 79"/>
          <p:cNvCxnSpPr/>
          <p:nvPr/>
        </p:nvCxnSpPr>
        <p:spPr>
          <a:xfrm flipH="1">
            <a:off x="3056868" y="434661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3607457" y="4418509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82" name="矩形 81"/>
          <p:cNvSpPr/>
          <p:nvPr/>
        </p:nvSpPr>
        <p:spPr>
          <a:xfrm>
            <a:off x="23895" y="4441628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455174" y="3846899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459911" y="4155207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480096" y="4443502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Acquire(lock)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625821" y="4704040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Increase 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1612650" y="4984746"/>
            <a:ext cx="133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 back </a:t>
            </a:r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3627642" y="4704040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10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3635240" y="4984746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90" name="直线箭头连接符 89"/>
          <p:cNvCxnSpPr/>
          <p:nvPr/>
        </p:nvCxnSpPr>
        <p:spPr>
          <a:xfrm flipH="1">
            <a:off x="3056868" y="5169412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1467744" y="5298858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Release(lock)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642838" y="5292976"/>
            <a:ext cx="465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20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94" name="直线连接符 93"/>
          <p:cNvCxnSpPr/>
          <p:nvPr/>
        </p:nvCxnSpPr>
        <p:spPr>
          <a:xfrm>
            <a:off x="4518891" y="2259273"/>
            <a:ext cx="0" cy="3913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4"/>
          <p:cNvSpPr/>
          <p:nvPr/>
        </p:nvSpPr>
        <p:spPr>
          <a:xfrm>
            <a:off x="1412989" y="890101"/>
            <a:ext cx="1466499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Global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6228184" y="889456"/>
            <a:ext cx="1642081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Fine-grained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833" y="2787863"/>
            <a:ext cx="276342" cy="512064"/>
          </a:xfrm>
          <a:prstGeom prst="rect">
            <a:avLst/>
          </a:prstGeom>
        </p:spPr>
      </p:pic>
      <p:pic>
        <p:nvPicPr>
          <p:cNvPr id="9" name="内容占位符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88" y="2777485"/>
            <a:ext cx="276342" cy="51206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841160" cy="900442"/>
          </a:xfrm>
        </p:spPr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fine-grained locking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817485"/>
          </a:xfrm>
        </p:spPr>
        <p:txBody>
          <a:bodyPr/>
          <a:lstStyle/>
          <a:p>
            <a:r>
              <a:rPr kumimoji="1" lang="en-US" altLang="zh-CN" dirty="0"/>
              <a:t>Fine-grained locking allows more concurrency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the deposits operate on different accounts, they can run concurrently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3274" y="230105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T0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17886" y="230177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02247" y="2850034"/>
            <a:ext cx="216024" cy="282601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51992" y="2850033"/>
            <a:ext cx="216024" cy="282601"/>
          </a:xfrm>
          <a:prstGeom prst="rect">
            <a:avLst/>
          </a:prstGeom>
          <a:solidFill>
            <a:srgbClr val="32C0D8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/>
          <p:cNvCxnSpPr>
            <a:endCxn id="13" idx="0"/>
          </p:cNvCxnSpPr>
          <p:nvPr/>
        </p:nvCxnSpPr>
        <p:spPr>
          <a:xfrm>
            <a:off x="492047" y="2341195"/>
            <a:ext cx="12045" cy="189670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59574" y="4237902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782975" y="5186763"/>
            <a:ext cx="276342" cy="150534"/>
          </a:xfrm>
          <a:prstGeom prst="rect">
            <a:avLst/>
          </a:prstGeom>
          <a:solidFill>
            <a:srgbClr val="32C0D8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92635" y="5085129"/>
            <a:ext cx="1505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Deposit(bob)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789630" y="4860942"/>
            <a:ext cx="276342" cy="150534"/>
          </a:xfrm>
          <a:prstGeom prst="rect">
            <a:avLst/>
          </a:prstGeom>
          <a:solidFill>
            <a:srgbClr val="BF569D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62304" y="4751543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Deposit(Alice)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915816" y="2128128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0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4405386" y="2128128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Thread 1</a:t>
            </a:r>
            <a:endParaRPr lang="zh-CN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5926068" y="2128128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Bank[Alice]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7540828" y="2128128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Bank[Bob]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2506480" y="2532434"/>
            <a:ext cx="19159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highlight>
                  <a:srgbClr val="FFFF00"/>
                </a:highlight>
              </a:rPr>
              <a:t>Acquire(lock[</a:t>
            </a:r>
            <a:r>
              <a:rPr kumimoji="1" lang="en-US" altLang="zh-CN" sz="1600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sz="1600" dirty="0">
                <a:highlight>
                  <a:srgbClr val="FFFF00"/>
                </a:highlight>
              </a:rPr>
              <a:t>])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12013" y="2537559"/>
            <a:ext cx="1837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highlight>
                  <a:srgbClr val="FFFF00"/>
                </a:highlight>
              </a:rPr>
              <a:t>Acquire(lock[bob])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56959" y="2532819"/>
            <a:ext cx="220208" cy="338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25" name="矩形 24"/>
          <p:cNvSpPr/>
          <p:nvPr/>
        </p:nvSpPr>
        <p:spPr>
          <a:xfrm>
            <a:off x="7999195" y="2532434"/>
            <a:ext cx="220208" cy="338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26" name="矩形 25"/>
          <p:cNvSpPr/>
          <p:nvPr/>
        </p:nvSpPr>
        <p:spPr>
          <a:xfrm>
            <a:off x="2986432" y="2857500"/>
            <a:ext cx="11079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/>
              <a:t>Read acct</a:t>
            </a:r>
            <a:endParaRPr lang="zh-CN" altLang="en-US" sz="1600" dirty="0"/>
          </a:p>
        </p:txBody>
      </p:sp>
      <p:sp>
        <p:nvSpPr>
          <p:cNvPr id="27" name="矩形 26"/>
          <p:cNvSpPr/>
          <p:nvPr/>
        </p:nvSpPr>
        <p:spPr>
          <a:xfrm>
            <a:off x="4548396" y="2857500"/>
            <a:ext cx="11079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/>
              <a:t>Read acct</a:t>
            </a:r>
            <a:endParaRPr lang="zh-CN" altLang="en-US" sz="1600" dirty="0"/>
          </a:p>
        </p:txBody>
      </p:sp>
      <p:sp>
        <p:nvSpPr>
          <p:cNvPr id="28" name="矩形 27"/>
          <p:cNvSpPr/>
          <p:nvPr/>
        </p:nvSpPr>
        <p:spPr>
          <a:xfrm>
            <a:off x="2986432" y="3206414"/>
            <a:ext cx="9717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/>
              <a:t>Increase</a:t>
            </a:r>
            <a:endParaRPr lang="zh-CN" altLang="en-US" sz="1600" dirty="0"/>
          </a:p>
        </p:txBody>
      </p:sp>
      <p:sp>
        <p:nvSpPr>
          <p:cNvPr id="29" name="矩形 28"/>
          <p:cNvSpPr/>
          <p:nvPr/>
        </p:nvSpPr>
        <p:spPr>
          <a:xfrm>
            <a:off x="4616523" y="3204294"/>
            <a:ext cx="9717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/>
              <a:t>Increase</a:t>
            </a:r>
            <a:endParaRPr lang="zh-CN" altLang="en-US" sz="1600" dirty="0"/>
          </a:p>
        </p:txBody>
      </p:sp>
      <p:sp>
        <p:nvSpPr>
          <p:cNvPr id="30" name="矩形 29"/>
          <p:cNvSpPr/>
          <p:nvPr/>
        </p:nvSpPr>
        <p:spPr>
          <a:xfrm>
            <a:off x="3003179" y="3571149"/>
            <a:ext cx="11507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/>
              <a:t>Write back</a:t>
            </a:r>
            <a:endParaRPr lang="zh-CN" altLang="en-US" sz="1600" dirty="0"/>
          </a:p>
        </p:txBody>
      </p:sp>
      <p:sp>
        <p:nvSpPr>
          <p:cNvPr id="31" name="矩形 30"/>
          <p:cNvSpPr/>
          <p:nvPr/>
        </p:nvSpPr>
        <p:spPr>
          <a:xfrm>
            <a:off x="4547886" y="3571149"/>
            <a:ext cx="11507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/>
              <a:t>Write back</a:t>
            </a:r>
            <a:endParaRPr lang="zh-CN" altLang="en-US" sz="1600" dirty="0"/>
          </a:p>
        </p:txBody>
      </p:sp>
      <p:sp>
        <p:nvSpPr>
          <p:cNvPr id="32" name="矩形 31"/>
          <p:cNvSpPr/>
          <p:nvPr/>
        </p:nvSpPr>
        <p:spPr>
          <a:xfrm>
            <a:off x="2478426" y="3969789"/>
            <a:ext cx="1972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highlight>
                  <a:srgbClr val="FFFF00"/>
                </a:highlight>
              </a:rPr>
              <a:t>Release(lock[</a:t>
            </a:r>
            <a:r>
              <a:rPr kumimoji="1" lang="en-US" altLang="zh-CN" sz="1600" dirty="0" err="1">
                <a:highlight>
                  <a:srgbClr val="FFFF00"/>
                </a:highlight>
              </a:rPr>
              <a:t>alice</a:t>
            </a:r>
            <a:r>
              <a:rPr kumimoji="1" lang="en-US" altLang="zh-CN" sz="1600" dirty="0">
                <a:highlight>
                  <a:srgbClr val="FFFF00"/>
                </a:highlight>
              </a:rPr>
              <a:t>])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349213" y="3962623"/>
            <a:ext cx="18934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highlight>
                  <a:srgbClr val="FFFF00"/>
                </a:highlight>
              </a:rPr>
              <a:t>Release(lock[bob])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456959" y="2794850"/>
            <a:ext cx="220208" cy="338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5" name="矩形 34"/>
          <p:cNvSpPr/>
          <p:nvPr/>
        </p:nvSpPr>
        <p:spPr>
          <a:xfrm>
            <a:off x="7999195" y="2794465"/>
            <a:ext cx="220208" cy="338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6" name="矩形 35"/>
          <p:cNvSpPr/>
          <p:nvPr/>
        </p:nvSpPr>
        <p:spPr>
          <a:xfrm>
            <a:off x="6456959" y="3120849"/>
            <a:ext cx="220208" cy="338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7" name="矩形 36"/>
          <p:cNvSpPr/>
          <p:nvPr/>
        </p:nvSpPr>
        <p:spPr>
          <a:xfrm>
            <a:off x="7999195" y="3120464"/>
            <a:ext cx="220208" cy="338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38" name="矩形 37"/>
          <p:cNvSpPr/>
          <p:nvPr/>
        </p:nvSpPr>
        <p:spPr>
          <a:xfrm>
            <a:off x="6454488" y="3571149"/>
            <a:ext cx="4440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10</a:t>
            </a:r>
            <a:endParaRPr lang="zh-CN" altLang="en-US" sz="1600" dirty="0"/>
          </a:p>
        </p:txBody>
      </p:sp>
      <p:sp>
        <p:nvSpPr>
          <p:cNvPr id="40" name="矩形 39"/>
          <p:cNvSpPr/>
          <p:nvPr/>
        </p:nvSpPr>
        <p:spPr>
          <a:xfrm>
            <a:off x="7956376" y="3571149"/>
            <a:ext cx="4440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10</a:t>
            </a:r>
            <a:endParaRPr lang="zh-CN" altLang="en-US" sz="1600" dirty="0"/>
          </a:p>
        </p:txBody>
      </p:sp>
      <p:sp>
        <p:nvSpPr>
          <p:cNvPr id="41" name="矩形 40"/>
          <p:cNvSpPr/>
          <p:nvPr/>
        </p:nvSpPr>
        <p:spPr>
          <a:xfrm>
            <a:off x="6454488" y="3896763"/>
            <a:ext cx="4440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10</a:t>
            </a:r>
            <a:endParaRPr lang="zh-CN" altLang="en-US" sz="1600" dirty="0"/>
          </a:p>
        </p:txBody>
      </p:sp>
      <p:sp>
        <p:nvSpPr>
          <p:cNvPr id="42" name="矩形 41"/>
          <p:cNvSpPr/>
          <p:nvPr/>
        </p:nvSpPr>
        <p:spPr>
          <a:xfrm>
            <a:off x="7956376" y="3896763"/>
            <a:ext cx="4440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10</a:t>
            </a:r>
            <a:endParaRPr lang="zh-CN" altLang="en-US" sz="1600" dirty="0"/>
          </a:p>
        </p:txBody>
      </p:sp>
      <p:sp>
        <p:nvSpPr>
          <p:cNvPr id="43" name="Rectangle 4"/>
          <p:cNvSpPr/>
          <p:nvPr/>
        </p:nvSpPr>
        <p:spPr>
          <a:xfrm>
            <a:off x="3707969" y="4694622"/>
            <a:ext cx="3981361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deposits can run concurrently!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5" name="直线箭头连接符 44"/>
          <p:cNvCxnSpPr/>
          <p:nvPr/>
        </p:nvCxnSpPr>
        <p:spPr>
          <a:xfrm flipH="1">
            <a:off x="5954680" y="300151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/>
          <p:cNvCxnSpPr/>
          <p:nvPr/>
        </p:nvCxnSpPr>
        <p:spPr>
          <a:xfrm flipH="1">
            <a:off x="5954680" y="3721596"/>
            <a:ext cx="288000" cy="0"/>
          </a:xfrm>
          <a:prstGeom prst="straightConnector1">
            <a:avLst/>
          </a:prstGeom>
          <a:ln w="1524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7739956" y="4585692"/>
            <a:ext cx="444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👍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383960" cy="900442"/>
          </a:xfrm>
        </p:spPr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fine-grained locking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520033" cy="3771636"/>
          </a:xfrm>
        </p:spPr>
        <p:txBody>
          <a:bodyPr/>
          <a:lstStyle/>
          <a:p>
            <a:r>
              <a:rPr kumimoji="1" lang="en-US" altLang="zh-CN" dirty="0"/>
              <a:t>Fine-grained locking: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data record has one lock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a lock for Alice &amp; a lock for Bob</a:t>
            </a:r>
            <a:endParaRPr kumimoji="1" lang="en-US" altLang="zh-CN" dirty="0"/>
          </a:p>
          <a:p>
            <a:r>
              <a:rPr kumimoji="1" lang="en-US" altLang="zh-CN" dirty="0"/>
              <a:t>Lock acquire rule: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account lock before access it, and releases it after the data access finishes 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634" y="941158"/>
            <a:ext cx="708644" cy="7086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266" y="941158"/>
            <a:ext cx="708644" cy="7086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84869" y="94115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5933288" y="1668938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Alice: 0¥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128096" y="1649802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Bob: 0¥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28249" y="1668938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 = [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822873" y="2191313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 = [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442" y="2189432"/>
            <a:ext cx="431216" cy="4312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80" y="2200610"/>
            <a:ext cx="431216" cy="431216"/>
          </a:xfrm>
          <a:prstGeom prst="rect">
            <a:avLst/>
          </a:prstGeom>
        </p:spPr>
      </p:pic>
      <p:sp>
        <p:nvSpPr>
          <p:cNvPr id="18" name="Rectangle 4"/>
          <p:cNvSpPr/>
          <p:nvPr/>
        </p:nvSpPr>
        <p:spPr>
          <a:xfrm>
            <a:off x="1440233" y="4296762"/>
            <a:ext cx="6097546" cy="77501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Question: can fine-grained locking avoids </a:t>
            </a:r>
            <a:r>
              <a:rPr lang="en-US" altLang="zh-CN" sz="2400" b="1" dirty="0">
                <a:solidFill>
                  <a:srgbClr val="C00000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any</a:t>
            </a: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race conditions? 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More example: </a:t>
            </a:r>
            <a:r>
              <a:rPr kumimoji="1" lang="en-US" altLang="zh-CN" b="0" dirty="0"/>
              <a:t>multiple records</a:t>
            </a:r>
            <a:endParaRPr kumimoji="1"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646565"/>
          </a:xfrm>
        </p:spPr>
        <p:txBody>
          <a:bodyPr/>
          <a:lstStyle/>
          <a:p>
            <a:r>
              <a:rPr kumimoji="1" lang="en-US" altLang="zh-CN" b="0" dirty="0"/>
              <a:t>Transfer + Audit for the bank application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4047" y="372721"/>
            <a:ext cx="708644" cy="7086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679" y="372721"/>
            <a:ext cx="708644" cy="7086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389282" y="372721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6106505" y="10962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Alice: 10¥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432509" y="10813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Bob: 10¥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855" y="1620995"/>
            <a:ext cx="431216" cy="4312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393" y="1632173"/>
            <a:ext cx="431216" cy="43121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02840" y="2388564"/>
            <a:ext cx="4554616" cy="2031325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Transfer(bank, locks, a, b,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Acquire(lock[b])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bank[b]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Release(lock[b])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Acquire(lock[a])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bank[a] -=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Release(lock[a])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20072" y="2388565"/>
            <a:ext cx="3618512" cy="2031325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Audit(bank):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sum = 0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for acct in bank: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Acquire(locks[acct])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    sum += bank[acct]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Release(locks[acct])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print(sum)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1487794" y="4674082"/>
            <a:ext cx="6097546" cy="405683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Question: what is the ideal output of Audit?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175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175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175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30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Accessing multiple records</a:t>
            </a:r>
            <a:endParaRPr kumimoji="1" lang="zh-CN" altLang="en-US" b="0" dirty="0"/>
          </a:p>
        </p:txBody>
      </p:sp>
      <p:sp>
        <p:nvSpPr>
          <p:cNvPr id="20" name="矩形 1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6" name="表格 29"/>
          <p:cNvGraphicFramePr>
            <a:graphicFrameLocks noGrp="1"/>
          </p:cNvGraphicFramePr>
          <p:nvPr/>
        </p:nvGraphicFramePr>
        <p:xfrm>
          <a:off x="683894" y="1069901"/>
          <a:ext cx="8460425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30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30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</a:t>
            </a:r>
            <a:r>
              <a:rPr kumimoji="1" lang="en-US" altLang="zh-CN" b="0" dirty="0"/>
              <a:t>accessing multiple records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Question #1: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Is the final state of the program correct</a:t>
            </a:r>
            <a:r>
              <a:rPr kumimoji="1" lang="en-US" altLang="zh-CN" dirty="0"/>
              <a:t> (i.e., bank accounts) </a:t>
            </a:r>
            <a:r>
              <a:rPr kumimoji="1" lang="en-US" altLang="zh-CN" b="0" dirty="0"/>
              <a:t> ? </a:t>
            </a:r>
            <a:endParaRPr kumimoji="1" lang="en-US" altLang="zh-CN" b="0" dirty="0"/>
          </a:p>
          <a:p>
            <a:r>
              <a:rPr kumimoji="1" lang="en-US" altLang="zh-CN" dirty="0"/>
              <a:t>Question #2</a:t>
            </a:r>
            <a:r>
              <a:rPr kumimoji="1" lang="en-US" altLang="zh-CN" b="0" dirty="0"/>
              <a:t>: 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Is the sum of the audit correct? </a:t>
            </a:r>
            <a:endParaRPr kumimoji="1" lang="en-US" altLang="zh-CN" b="0" dirty="0"/>
          </a:p>
          <a:p>
            <a:pPr lvl="1"/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文本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9548"/>
            <a:ext cx="9144000" cy="153408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</a:t>
            </a:r>
            <a:r>
              <a:rPr kumimoji="1" lang="en-US" altLang="zh-CN" b="0" dirty="0"/>
              <a:t>accessing multiple records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661648" cy="3771636"/>
          </a:xfrm>
        </p:spPr>
        <p:txBody>
          <a:bodyPr/>
          <a:lstStyle/>
          <a:p>
            <a:r>
              <a:rPr kumimoji="1" lang="en-US" altLang="zh-CN" dirty="0"/>
              <a:t>Core problem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Simple fine-grained locking does not prevent the exposure of intermediate result</a:t>
            </a:r>
            <a:endParaRPr kumimoji="1" lang="en-US" altLang="zh-CN" dirty="0"/>
          </a:p>
          <a:p>
            <a:r>
              <a:rPr kumimoji="1" lang="en-US" altLang="zh-CN" dirty="0"/>
              <a:t>Insight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need to delay the lock release time for each shared data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Until all the transaction’s updates finish </a:t>
            </a:r>
            <a:endParaRPr kumimoji="1"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555776" y="3865612"/>
            <a:ext cx="1728192" cy="288032"/>
          </a:xfrm>
          <a:prstGeom prst="round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/>
          <a:srcRect t="27242" b="33321"/>
          <a:stretch>
            <a:fillRect/>
          </a:stretch>
        </p:blipFill>
        <p:spPr>
          <a:xfrm>
            <a:off x="344860" y="3533970"/>
            <a:ext cx="8496300" cy="1762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39" y="228866"/>
            <a:ext cx="8612353" cy="90044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pitchFamily="34" charset="-128"/>
              </a:rPr>
              <a:t>Solution: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acquire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all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locks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first,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and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release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them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at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last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" name="直线箭头连接符 5"/>
          <p:cNvCxnSpPr/>
          <p:nvPr/>
        </p:nvCxnSpPr>
        <p:spPr>
          <a:xfrm flipV="1">
            <a:off x="785194" y="1392659"/>
            <a:ext cx="0" cy="3840427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>
            <a:off x="497162" y="5053066"/>
            <a:ext cx="8179294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347864" y="5077747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 rot="16200000">
            <a:off x="-657774" y="2782007"/>
            <a:ext cx="2280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Lock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线连接符 14"/>
          <p:cNvCxnSpPr/>
          <p:nvPr/>
        </p:nvCxnSpPr>
        <p:spPr>
          <a:xfrm flipV="1">
            <a:off x="1217242" y="4477680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1433266" y="4477680"/>
            <a:ext cx="114398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 flipV="1">
            <a:off x="1547664" y="3877613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1763688" y="3877613"/>
            <a:ext cx="86669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 flipV="1">
            <a:off x="1835696" y="3277547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2051720" y="3277547"/>
            <a:ext cx="72008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 flipV="1">
            <a:off x="2123728" y="2677480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2339752" y="2677480"/>
            <a:ext cx="4824536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 flipH="1" flipV="1">
            <a:off x="7164288" y="2677480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/>
          <p:cNvCxnSpPr/>
          <p:nvPr/>
        </p:nvCxnSpPr>
        <p:spPr>
          <a:xfrm>
            <a:off x="7380312" y="3277547"/>
            <a:ext cx="144016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/>
          <p:cNvCxnSpPr/>
          <p:nvPr/>
        </p:nvCxnSpPr>
        <p:spPr>
          <a:xfrm flipH="1" flipV="1">
            <a:off x="7524328" y="3277547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7740352" y="3877613"/>
            <a:ext cx="144016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/>
          <p:cNvCxnSpPr/>
          <p:nvPr/>
        </p:nvCxnSpPr>
        <p:spPr>
          <a:xfrm flipH="1" flipV="1">
            <a:off x="7884368" y="3877613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>
            <a:off x="8100392" y="4477680"/>
            <a:ext cx="144016" cy="0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/>
          <p:cNvCxnSpPr/>
          <p:nvPr/>
        </p:nvCxnSpPr>
        <p:spPr>
          <a:xfrm flipH="1" flipV="1">
            <a:off x="8244408" y="4477680"/>
            <a:ext cx="216024" cy="600067"/>
          </a:xfrm>
          <a:prstGeom prst="lin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700312" y="1480462"/>
            <a:ext cx="1382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Point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2066677" y="1897394"/>
            <a:ext cx="576064" cy="660073"/>
          </a:xfrm>
          <a:prstGeom prst="downArrow">
            <a:avLst>
              <a:gd name="adj1" fmla="val 22785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33187" y="3979675"/>
            <a:ext cx="18389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 lock-B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70672" y="3418120"/>
            <a:ext cx="18533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 lock-C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98757" y="2843985"/>
            <a:ext cx="18533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 lock-D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471884" y="4571656"/>
            <a:ext cx="1838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 lock-A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807818" y="3979675"/>
            <a:ext cx="19111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lock-B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578312" y="3418120"/>
            <a:ext cx="1925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lock-C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430603" y="2843985"/>
            <a:ext cx="1925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lock-D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083170" y="4571656"/>
            <a:ext cx="19111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lock-A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are the drawbacks? 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841160" cy="900442"/>
          </a:xfrm>
        </p:spPr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520033" cy="3771636"/>
          </a:xfrm>
        </p:spPr>
        <p:txBody>
          <a:bodyPr/>
          <a:lstStyle/>
          <a:p>
            <a:r>
              <a:rPr kumimoji="1" lang="en-US" altLang="zh-CN" dirty="0"/>
              <a:t>Fine-grained locking: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shared data has one lock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a lock for Alice &amp; a lock for Bob</a:t>
            </a:r>
            <a:endParaRPr kumimoji="1" lang="en-US" altLang="zh-CN" dirty="0"/>
          </a:p>
          <a:p>
            <a:r>
              <a:rPr kumimoji="1" lang="en-US" altLang="zh-CN" dirty="0"/>
              <a:t>2PL locking rule: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shared data’s lock before access it, </a:t>
            </a:r>
            <a:r>
              <a:rPr kumimoji="1" lang="en-US" altLang="zh-CN" strike="sngStrike" dirty="0"/>
              <a:t>and releases it after the data access finishes</a:t>
            </a:r>
            <a:r>
              <a:rPr kumimoji="1" lang="en-US" altLang="zh-CN" dirty="0"/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and release it until the action finishes (on-demand, like fine-grained locking)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634" y="941158"/>
            <a:ext cx="708644" cy="7086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266" y="941158"/>
            <a:ext cx="708644" cy="7086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84869" y="94115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5933288" y="1668938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Alice: 0¥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128096" y="1649802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Bob: 0¥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28249" y="1668938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Bank = [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822873" y="2191313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Lock = [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442" y="2189432"/>
            <a:ext cx="431216" cy="4312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80" y="2200610"/>
            <a:ext cx="431216" cy="43121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2PL Lock acquire rule: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shared data’s lock before access it, and release it </a:t>
            </a:r>
            <a:r>
              <a:rPr kumimoji="1" lang="en-US" altLang="zh-CN"/>
              <a:t>until all the </a:t>
            </a:r>
            <a:r>
              <a:rPr kumimoji="1" lang="en-US" altLang="zh-CN" dirty="0"/>
              <a:t>action finishes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23766" y="2869619"/>
            <a:ext cx="4269160" cy="2031325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Transfer(bank, locks, a, b,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Acquire(lock[b]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bank[b]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Release(lock[b])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Acquire(lock[a])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bank[a] -=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Release(lock[a])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88024" y="2869619"/>
            <a:ext cx="4269160" cy="2308324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Transfer(bank, locks, a, b,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Acquire(lock[b]</a:t>
            </a:r>
            <a:endParaRPr lang="en-U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bank[b]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Acquire(lock[a])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bank[a] -=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Release(lock[a])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</a:t>
            </a:r>
            <a:r>
              <a:rPr lang="is-IS" altLang="zh-CN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Release(lock[b])</a:t>
            </a:r>
            <a:endParaRPr lang="is-IS" altLang="zh-CN" dirty="0">
              <a:solidFill>
                <a:prstClr val="black"/>
              </a:solidFill>
              <a:highlight>
                <a:srgbClr val="FFFF00"/>
              </a:highlight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17" name="任意形状 16"/>
          <p:cNvSpPr/>
          <p:nvPr/>
        </p:nvSpPr>
        <p:spPr>
          <a:xfrm>
            <a:off x="233465" y="3880022"/>
            <a:ext cx="619151" cy="1266501"/>
          </a:xfrm>
          <a:custGeom>
            <a:avLst/>
            <a:gdLst>
              <a:gd name="connsiteX0" fmla="*/ 421443 w 619151"/>
              <a:gd name="connsiteY0" fmla="*/ 0 h 1266501"/>
              <a:gd name="connsiteX1" fmla="*/ 112524 w 619151"/>
              <a:gd name="connsiteY1" fmla="*/ 172994 h 1266501"/>
              <a:gd name="connsiteX2" fmla="*/ 1313 w 619151"/>
              <a:gd name="connsiteY2" fmla="*/ 395416 h 1266501"/>
              <a:gd name="connsiteX3" fmla="*/ 174308 w 619151"/>
              <a:gd name="connsiteY3" fmla="*/ 518983 h 1266501"/>
              <a:gd name="connsiteX4" fmla="*/ 199021 w 619151"/>
              <a:gd name="connsiteY4" fmla="*/ 1210962 h 1266501"/>
              <a:gd name="connsiteX5" fmla="*/ 619151 w 619151"/>
              <a:gd name="connsiteY5" fmla="*/ 1173892 h 1266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151" h="1266501">
                <a:moveTo>
                  <a:pt x="421443" y="0"/>
                </a:moveTo>
                <a:cubicBezTo>
                  <a:pt x="301994" y="53545"/>
                  <a:pt x="182546" y="107091"/>
                  <a:pt x="112524" y="172994"/>
                </a:cubicBezTo>
                <a:cubicBezTo>
                  <a:pt x="42502" y="238897"/>
                  <a:pt x="-8984" y="337751"/>
                  <a:pt x="1313" y="395416"/>
                </a:cubicBezTo>
                <a:cubicBezTo>
                  <a:pt x="11610" y="453081"/>
                  <a:pt x="141357" y="383059"/>
                  <a:pt x="174308" y="518983"/>
                </a:cubicBezTo>
                <a:cubicBezTo>
                  <a:pt x="207259" y="654907"/>
                  <a:pt x="124880" y="1101810"/>
                  <a:pt x="199021" y="1210962"/>
                </a:cubicBezTo>
                <a:cubicBezTo>
                  <a:pt x="273162" y="1320114"/>
                  <a:pt x="446156" y="1247003"/>
                  <a:pt x="619151" y="1173892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4284914" y="3663998"/>
            <a:ext cx="611122" cy="432048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Rectangle 4"/>
          <p:cNvSpPr/>
          <p:nvPr/>
        </p:nvSpPr>
        <p:spPr>
          <a:xfrm>
            <a:off x="611560" y="2563623"/>
            <a:ext cx="3147864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Fine-grained locking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Rectangle 4"/>
          <p:cNvSpPr/>
          <p:nvPr/>
        </p:nvSpPr>
        <p:spPr>
          <a:xfrm>
            <a:off x="5348672" y="2563623"/>
            <a:ext cx="3147864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Fine-grained locking + </a:t>
            </a:r>
            <a:r>
              <a:rPr lang="en-US" altLang="zh-CN" b="1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2PL</a:t>
            </a:r>
            <a:endParaRPr lang="en-US" altLang="zh-CN" b="1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strike="sngStrik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Release(lock[b])</a:t>
                      </a:r>
                      <a:endParaRPr lang="zh-CN" altLang="en-US" sz="1400" strike="sngStrike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4175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4815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Read(b) = 20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4815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Read(b) = 20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4815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Release(lock[b])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Read(b) = 20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Read(a) = 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5729565" y="366627"/>
            <a:ext cx="19800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Transfer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bob, 10)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9594" y="548987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Audit()</a:t>
            </a:r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>
            <a:off x="486162" y="1223969"/>
            <a:ext cx="0" cy="391665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41806" y="5139295"/>
            <a:ext cx="6890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/>
              <a:t>Time</a:t>
            </a:r>
            <a:endParaRPr lang="zh-CN" altLang="en-US" sz="1600" dirty="0"/>
          </a:p>
        </p:txBody>
      </p:sp>
      <p:graphicFrame>
        <p:nvGraphicFramePr>
          <p:cNvPr id="14" name="表格 29"/>
          <p:cNvGraphicFramePr>
            <a:graphicFrameLocks noGrp="1"/>
          </p:cNvGraphicFramePr>
          <p:nvPr/>
        </p:nvGraphicFramePr>
        <p:xfrm>
          <a:off x="683894" y="1069901"/>
          <a:ext cx="8460425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Read(b) = 20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Read(a) = 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5" name="Rectangle 4"/>
          <p:cNvSpPr/>
          <p:nvPr/>
        </p:nvSpPr>
        <p:spPr>
          <a:xfrm>
            <a:off x="1727114" y="5119056"/>
            <a:ext cx="5832648" cy="405683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appears to run after the transfer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Two-phase locking (2PL)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-2000"/>
          <a:stretch>
            <a:fillRect/>
          </a:stretch>
        </p:blipFill>
        <p:spPr>
          <a:xfrm>
            <a:off x="507188" y="1175207"/>
            <a:ext cx="7856488" cy="391454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22108" y="4900944"/>
            <a:ext cx="2349692" cy="360040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65212" y="4701990"/>
            <a:ext cx="2349692" cy="360040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note on fine-grained locking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4585692"/>
          </a:xfrm>
        </p:spPr>
        <p:txBody>
          <a:bodyPr/>
          <a:lstStyle/>
          <a:p>
            <a:r>
              <a:rPr kumimoji="1" lang="en-US" altLang="zh-CN" dirty="0"/>
              <a:t>The number of locks used is made explicit in our previous examples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Global lock: only 1 lock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2PL (ideal): one per record </a:t>
            </a:r>
            <a:endParaRPr kumimoji="1" lang="en-US" altLang="zh-CN" dirty="0"/>
          </a:p>
          <a:p>
            <a:r>
              <a:rPr kumimoji="1" lang="en-US" altLang="zh-CN" dirty="0"/>
              <a:t>One lock per record record may waste many memory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Especially when there are many records (e.g., records in files) </a:t>
            </a:r>
            <a:endParaRPr kumimoji="1" lang="en-US" altLang="zh-CN" dirty="0"/>
          </a:p>
          <a:p>
            <a:r>
              <a:rPr kumimoji="1" lang="en-US" altLang="zh-CN" dirty="0"/>
              <a:t>The number of locks can be configured on demand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can set a constant number of locks for the system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Only need to ensure the access to the same record will acquire the same lock</a:t>
            </a:r>
            <a:endParaRPr kumimoji="1" lang="en-US" altLang="zh-CN" dirty="0"/>
          </a:p>
          <a:p>
            <a:r>
              <a:rPr kumimoji="1" lang="en-US" altLang="zh-CN" dirty="0"/>
              <a:t>Question: what are the trade-offs?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538320" cy="900442"/>
          </a:xfrm>
        </p:spPr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2PL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2PL can guarantee before or after atomicity with </a:t>
            </a:r>
            <a:r>
              <a:rPr kumimoji="1" lang="en-US" altLang="zh-CN" dirty="0">
                <a:solidFill>
                  <a:srgbClr val="C00000"/>
                </a:solidFill>
              </a:rPr>
              <a:t>serializability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Run actions T1, T2, .., TN concurrently, and have it "</a:t>
            </a:r>
            <a:r>
              <a:rPr lang="en-US" altLang="zh-CN" dirty="0">
                <a:solidFill>
                  <a:srgbClr val="BE384B"/>
                </a:solidFill>
              </a:rPr>
              <a:t>appears</a:t>
            </a:r>
            <a:r>
              <a:rPr lang="en-US" altLang="zh-CN" dirty="0"/>
              <a:t>" as if they ran sequentially (we will prove it later)</a:t>
            </a:r>
            <a:endParaRPr lang="en-US" altLang="zh-CN" dirty="0"/>
          </a:p>
          <a:p>
            <a:r>
              <a:rPr kumimoji="1" lang="en-US" altLang="zh-CN" b="1" dirty="0">
                <a:solidFill>
                  <a:schemeClr val="tx1"/>
                </a:solidFill>
              </a:rPr>
              <a:t>Before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or after atomicity also is usually termed as </a:t>
            </a:r>
            <a:r>
              <a:rPr kumimoji="1" lang="en-US" altLang="zh-CN" dirty="0">
                <a:solidFill>
                  <a:schemeClr val="tx1"/>
                </a:solidFill>
              </a:rPr>
              <a:t>serializability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328508" y="3937620"/>
            <a:ext cx="8229600" cy="11521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GB" altLang="zh-CN" dirty="0"/>
              <a:t>Concurrent </a:t>
            </a:r>
            <a:r>
              <a:rPr kumimoji="1" lang="en-GB" altLang="zh-CN" b="0" dirty="0"/>
              <a:t>actions have the </a:t>
            </a:r>
            <a:r>
              <a:rPr kumimoji="1" lang="en-GB" altLang="zh-CN" dirty="0"/>
              <a:t>before-or-after property </a:t>
            </a:r>
            <a:r>
              <a:rPr kumimoji="1" lang="en-GB" altLang="zh-CN" b="0" dirty="0"/>
              <a:t>if their effect from the point of view of their invokers is as </a:t>
            </a:r>
            <a:r>
              <a:rPr kumimoji="1" lang="en-GB" altLang="zh-CN" dirty="0"/>
              <a:t>if the actions occurred either completely before or completely after one another</a:t>
            </a:r>
            <a:endParaRPr kumimoji="1" lang="en-GB" altLang="zh-CN" dirty="0"/>
          </a:p>
        </p:txBody>
      </p:sp>
      <p:sp>
        <p:nvSpPr>
          <p:cNvPr id="6" name="Rectangle 4"/>
          <p:cNvSpPr/>
          <p:nvPr/>
        </p:nvSpPr>
        <p:spPr>
          <a:xfrm>
            <a:off x="1681344" y="3612721"/>
            <a:ext cx="5832648" cy="405683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4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Before or after atomicity</a:t>
            </a:r>
            <a:endParaRPr lang="en-US" altLang="zh-CN" sz="24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538320" cy="900442"/>
          </a:xfrm>
        </p:spPr>
        <p:txBody>
          <a:bodyPr/>
          <a:lstStyle/>
          <a:p>
            <a:r>
              <a:rPr kumimoji="1" lang="en-US" altLang="zh-CN" dirty="0"/>
              <a:t>Serializability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2PL can guarantee before or after atomicity with serializability</a:t>
            </a:r>
            <a:endParaRPr kumimoji="1" lang="en-US" altLang="zh-CN" dirty="0"/>
          </a:p>
          <a:p>
            <a:pPr lvl="1"/>
            <a:r>
              <a:rPr lang="en-US" altLang="zh-CN" dirty="0"/>
              <a:t>Run actions T1, T2, .., TN concurrently, and have it "</a:t>
            </a:r>
            <a:r>
              <a:rPr lang="en-US" altLang="zh-CN" dirty="0">
                <a:solidFill>
                  <a:srgbClr val="BE384B"/>
                </a:solidFill>
              </a:rPr>
              <a:t>appears</a:t>
            </a:r>
            <a:r>
              <a:rPr lang="en-US" altLang="zh-CN" dirty="0"/>
              <a:t>" as if they ran sequentially (we will prove it later)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851920" y="228880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  <a:ea typeface="楷体" panose="02010609060101010101" charset="-122"/>
                <a:cs typeface="Myriad Pro Light SemiCond"/>
              </a:rPr>
              <a:t>What does this mean?</a:t>
            </a:r>
            <a:endParaRPr lang="zh-CN" altLang="en-US" b="1" dirty="0">
              <a:solidFill>
                <a:srgbClr val="C00000"/>
              </a:solidFill>
              <a:latin typeface="+mj-lt"/>
              <a:ea typeface="楷体" panose="02010609060101010101" charset="-122"/>
              <a:cs typeface="Myriad Pro Light SemiCond"/>
            </a:endParaRPr>
          </a:p>
        </p:txBody>
      </p:sp>
      <p:sp>
        <p:nvSpPr>
          <p:cNvPr id="8" name="任意形状 7"/>
          <p:cNvSpPr/>
          <p:nvPr/>
        </p:nvSpPr>
        <p:spPr>
          <a:xfrm>
            <a:off x="5545021" y="1912740"/>
            <a:ext cx="1021485" cy="326571"/>
          </a:xfrm>
          <a:custGeom>
            <a:avLst/>
            <a:gdLst>
              <a:gd name="connsiteX0" fmla="*/ 43252 w 1021485"/>
              <a:gd name="connsiteY0" fmla="*/ 326571 h 326571"/>
              <a:gd name="connsiteX1" fmla="*/ 97681 w 1021485"/>
              <a:gd name="connsiteY1" fmla="*/ 65314 h 326571"/>
              <a:gd name="connsiteX2" fmla="*/ 903224 w 1021485"/>
              <a:gd name="connsiteY2" fmla="*/ 261257 h 326571"/>
              <a:gd name="connsiteX3" fmla="*/ 1001195 w 1021485"/>
              <a:gd name="connsiteY3" fmla="*/ 0 h 326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1485" h="326571">
                <a:moveTo>
                  <a:pt x="43252" y="326571"/>
                </a:moveTo>
                <a:cubicBezTo>
                  <a:pt x="-1198" y="201385"/>
                  <a:pt x="-45648" y="76200"/>
                  <a:pt x="97681" y="65314"/>
                </a:cubicBezTo>
                <a:cubicBezTo>
                  <a:pt x="241010" y="54428"/>
                  <a:pt x="752638" y="272143"/>
                  <a:pt x="903224" y="261257"/>
                </a:cubicBezTo>
                <a:cubicBezTo>
                  <a:pt x="1053810" y="250371"/>
                  <a:pt x="1027502" y="125185"/>
                  <a:pt x="1001195" y="0"/>
                </a:cubicBezTo>
              </a:path>
            </a:pathLst>
          </a:custGeom>
          <a:noFill/>
          <a:ln w="25400">
            <a:solidFill>
              <a:srgbClr val="BE38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538320" cy="900442"/>
          </a:xfrm>
        </p:spPr>
        <p:txBody>
          <a:bodyPr/>
          <a:lstStyle/>
          <a:p>
            <a:r>
              <a:rPr kumimoji="1" lang="en-US" altLang="zh-CN" dirty="0"/>
              <a:t>Serializability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2PL can guarantee before or after atomicity with serializability</a:t>
            </a:r>
            <a:endParaRPr kumimoji="1" lang="en-US" altLang="zh-CN" dirty="0"/>
          </a:p>
          <a:p>
            <a:pPr lvl="1"/>
            <a:r>
              <a:rPr lang="en-US" altLang="zh-CN" dirty="0"/>
              <a:t>Run actions T1, T2, .., TN concurrently, and have it "</a:t>
            </a:r>
            <a:r>
              <a:rPr lang="en-US" altLang="zh-CN" dirty="0">
                <a:solidFill>
                  <a:srgbClr val="BE384B"/>
                </a:solidFill>
              </a:rPr>
              <a:t>appears</a:t>
            </a:r>
            <a:r>
              <a:rPr lang="en-US" altLang="zh-CN" dirty="0"/>
              <a:t>" as if they ran sequentially (we will prove it later)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851920" y="228880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  <a:ea typeface="楷体" panose="02010609060101010101" charset="-122"/>
                <a:cs typeface="Myriad Pro Light SemiCond"/>
              </a:rPr>
              <a:t>What does this mean?</a:t>
            </a:r>
            <a:endParaRPr lang="zh-CN" altLang="en-US" b="1" dirty="0">
              <a:solidFill>
                <a:srgbClr val="C00000"/>
              </a:solidFill>
              <a:latin typeface="+mj-lt"/>
              <a:ea typeface="楷体" panose="02010609060101010101" charset="-122"/>
              <a:cs typeface="Myriad Pro Light SemiCond"/>
            </a:endParaRPr>
          </a:p>
        </p:txBody>
      </p:sp>
      <p:sp>
        <p:nvSpPr>
          <p:cNvPr id="8" name="任意形状 7"/>
          <p:cNvSpPr/>
          <p:nvPr/>
        </p:nvSpPr>
        <p:spPr>
          <a:xfrm>
            <a:off x="5545021" y="1912740"/>
            <a:ext cx="1021485" cy="326571"/>
          </a:xfrm>
          <a:custGeom>
            <a:avLst/>
            <a:gdLst>
              <a:gd name="connsiteX0" fmla="*/ 43252 w 1021485"/>
              <a:gd name="connsiteY0" fmla="*/ 326571 h 326571"/>
              <a:gd name="connsiteX1" fmla="*/ 97681 w 1021485"/>
              <a:gd name="connsiteY1" fmla="*/ 65314 h 326571"/>
              <a:gd name="connsiteX2" fmla="*/ 903224 w 1021485"/>
              <a:gd name="connsiteY2" fmla="*/ 261257 h 326571"/>
              <a:gd name="connsiteX3" fmla="*/ 1001195 w 1021485"/>
              <a:gd name="connsiteY3" fmla="*/ 0 h 326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1485" h="326571">
                <a:moveTo>
                  <a:pt x="43252" y="326571"/>
                </a:moveTo>
                <a:cubicBezTo>
                  <a:pt x="-1198" y="201385"/>
                  <a:pt x="-45648" y="76200"/>
                  <a:pt x="97681" y="65314"/>
                </a:cubicBezTo>
                <a:cubicBezTo>
                  <a:pt x="241010" y="54428"/>
                  <a:pt x="752638" y="272143"/>
                  <a:pt x="903224" y="261257"/>
                </a:cubicBezTo>
                <a:cubicBezTo>
                  <a:pt x="1053810" y="250371"/>
                  <a:pt x="1027502" y="125185"/>
                  <a:pt x="1001195" y="0"/>
                </a:cubicBezTo>
              </a:path>
            </a:pathLst>
          </a:custGeom>
          <a:noFill/>
          <a:ln w="25400">
            <a:solidFill>
              <a:srgbClr val="BE38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Content Placeholder 5"/>
          <p:cNvSpPr txBox="1"/>
          <p:nvPr/>
        </p:nvSpPr>
        <p:spPr>
          <a:xfrm>
            <a:off x="1264496" y="30568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Consolas" panose="020B0609020204030204" pitchFamily="49" charset="0"/>
              </a:rPr>
              <a:t>begin</a:t>
            </a:r>
            <a:endParaRPr lang="en-US" sz="20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read(x)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2000" dirty="0" err="1">
                <a:latin typeface="Consolas" panose="020B0609020204030204" pitchFamily="49" charset="0"/>
              </a:rPr>
              <a:t>tmp</a:t>
            </a:r>
            <a:r>
              <a:rPr lang="en-US" sz="2000" dirty="0">
                <a:latin typeface="Consolas" panose="020B0609020204030204" pitchFamily="49" charset="0"/>
              </a:rPr>
              <a:t> = read(y)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write(y, tmp+10)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Consolas" panose="020B0609020204030204" pitchFamily="49" charset="0"/>
              </a:rPr>
              <a:t>commit</a:t>
            </a:r>
            <a:endParaRPr lang="en-US" sz="2000" b="1" dirty="0">
              <a:latin typeface="Consolas" panose="020B0609020204030204" pitchFamily="49" charset="0"/>
            </a:endParaRPr>
          </a:p>
        </p:txBody>
      </p:sp>
      <p:sp>
        <p:nvSpPr>
          <p:cNvPr id="10" name="Content Placeholder 5"/>
          <p:cNvSpPr txBox="1"/>
          <p:nvPr/>
        </p:nvSpPr>
        <p:spPr>
          <a:xfrm>
            <a:off x="4788024" y="30568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2000" b="1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>
                <a:latin typeface="Consolas" panose="020B0609020204030204" pitchFamily="49" charset="0"/>
              </a:rPr>
              <a:t>begin</a:t>
            </a:r>
            <a:endParaRPr lang="en-US" sz="20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write(x, 20)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write(y, 30)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>
                <a:latin typeface="Consolas" panose="020B0609020204030204" pitchFamily="49" charset="0"/>
              </a:rPr>
              <a:t>commit</a:t>
            </a:r>
            <a:endParaRPr lang="en-US" sz="2000" b="1" dirty="0"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3643" y="3065893"/>
            <a:ext cx="170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nsolas" panose="020B0609020204030204" pitchFamily="49" charset="0"/>
              </a:rPr>
              <a:t>Action start </a:t>
            </a:r>
            <a:endParaRPr lang="zh-CN" altLang="en-US" dirty="0"/>
          </a:p>
        </p:txBody>
      </p:sp>
      <p:sp>
        <p:nvSpPr>
          <p:cNvPr id="6" name="任意形状 5"/>
          <p:cNvSpPr/>
          <p:nvPr/>
        </p:nvSpPr>
        <p:spPr>
          <a:xfrm>
            <a:off x="5637229" y="3148917"/>
            <a:ext cx="339365" cy="406359"/>
          </a:xfrm>
          <a:custGeom>
            <a:avLst/>
            <a:gdLst>
              <a:gd name="connsiteX0" fmla="*/ 339365 w 339365"/>
              <a:gd name="connsiteY0" fmla="*/ 37343 h 406359"/>
              <a:gd name="connsiteX1" fmla="*/ 179109 w 339365"/>
              <a:gd name="connsiteY1" fmla="*/ 27916 h 406359"/>
              <a:gd name="connsiteX2" fmla="*/ 197963 w 339365"/>
              <a:gd name="connsiteY2" fmla="*/ 348427 h 406359"/>
              <a:gd name="connsiteX3" fmla="*/ 0 w 339365"/>
              <a:gd name="connsiteY3" fmla="*/ 404988 h 40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65" h="406359">
                <a:moveTo>
                  <a:pt x="339365" y="37343"/>
                </a:moveTo>
                <a:cubicBezTo>
                  <a:pt x="271020" y="6706"/>
                  <a:pt x="202676" y="-23931"/>
                  <a:pt x="179109" y="27916"/>
                </a:cubicBezTo>
                <a:cubicBezTo>
                  <a:pt x="155542" y="79763"/>
                  <a:pt x="227814" y="285582"/>
                  <a:pt x="197963" y="348427"/>
                </a:cubicBezTo>
                <a:cubicBezTo>
                  <a:pt x="168111" y="411272"/>
                  <a:pt x="84055" y="408130"/>
                  <a:pt x="0" y="404988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53643" y="4905995"/>
            <a:ext cx="170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nsolas" panose="020B0609020204030204" pitchFamily="49" charset="0"/>
              </a:rPr>
              <a:t>Action end </a:t>
            </a:r>
            <a:endParaRPr lang="zh-CN" altLang="en-US" dirty="0"/>
          </a:p>
        </p:txBody>
      </p:sp>
      <p:sp>
        <p:nvSpPr>
          <p:cNvPr id="13" name="任意形状 12"/>
          <p:cNvSpPr/>
          <p:nvPr/>
        </p:nvSpPr>
        <p:spPr>
          <a:xfrm>
            <a:off x="5645653" y="4628561"/>
            <a:ext cx="359221" cy="529343"/>
          </a:xfrm>
          <a:custGeom>
            <a:avLst/>
            <a:gdLst>
              <a:gd name="connsiteX0" fmla="*/ 359221 w 359221"/>
              <a:gd name="connsiteY0" fmla="*/ 490194 h 529343"/>
              <a:gd name="connsiteX1" fmla="*/ 1003 w 359221"/>
              <a:gd name="connsiteY1" fmla="*/ 499620 h 529343"/>
              <a:gd name="connsiteX2" fmla="*/ 246100 w 359221"/>
              <a:gd name="connsiteY2" fmla="*/ 160255 h 529343"/>
              <a:gd name="connsiteX3" fmla="*/ 66990 w 359221"/>
              <a:gd name="connsiteY3" fmla="*/ 0 h 52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221" h="529343">
                <a:moveTo>
                  <a:pt x="359221" y="490194"/>
                </a:moveTo>
                <a:cubicBezTo>
                  <a:pt x="189538" y="522402"/>
                  <a:pt x="19856" y="554610"/>
                  <a:pt x="1003" y="499620"/>
                </a:cubicBezTo>
                <a:cubicBezTo>
                  <a:pt x="-17850" y="444630"/>
                  <a:pt x="235102" y="243525"/>
                  <a:pt x="246100" y="160255"/>
                </a:cubicBezTo>
                <a:cubicBezTo>
                  <a:pt x="257098" y="76985"/>
                  <a:pt x="162044" y="38492"/>
                  <a:pt x="6699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48264" y="697260"/>
            <a:ext cx="1368152" cy="648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ntent Placeholder 5"/>
          <p:cNvSpPr txBox="1"/>
          <p:nvPr/>
        </p:nvSpPr>
        <p:spPr>
          <a:xfrm>
            <a:off x="683568" y="265212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18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3275856" y="265212"/>
            <a:ext cx="201622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1800" b="1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write(y, 30)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5652120" y="446197"/>
            <a:ext cx="3491880" cy="118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600" b="1">
                <a:latin typeface="Consolas" panose="020B0609020204030204" pitchFamily="49" charset="0"/>
                <a:ea typeface="MS PGothic" panose="020B0600070205080204" pitchFamily="34" charset="-128"/>
              </a:rPr>
              <a:t>Possible sequential schedules</a:t>
            </a:r>
            <a:endParaRPr lang="en-US" sz="1600" b="1">
              <a:latin typeface="Consolas" panose="020B0609020204030204" pitchFamily="49" charset="0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T1 -&gt; T2: x=20, y=30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T2 -&gt; T1: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5"/>
          <p:cNvSpPr txBox="1"/>
          <p:nvPr/>
        </p:nvSpPr>
        <p:spPr>
          <a:xfrm>
            <a:off x="111561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write(x, 20)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latin typeface="Consolas" panose="020B0609020204030204" pitchFamily="49" charset="0"/>
              </a:rPr>
              <a:t>: read(x)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</a:t>
            </a:r>
            <a:r>
              <a:rPr lang="en-US" altLang="zh-CN" sz="1800" dirty="0">
                <a:latin typeface="Consolas" panose="020B0609020204030204" pitchFamily="49" charset="0"/>
              </a:rPr>
              <a:t>y, 30)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latin typeface="Consolas" panose="020B0609020204030204" pitchFamily="49" charset="0"/>
              </a:rPr>
              <a:t>: </a:t>
            </a:r>
            <a:r>
              <a:rPr lang="en-US" sz="1800" dirty="0" err="1">
                <a:latin typeface="Consolas" panose="020B06090202040302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</a:rPr>
              <a:t> = read(y)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latin typeface="Consolas" panose="020B0609020204030204" pitchFamily="49" charset="0"/>
              </a:rPr>
              <a:t>: write(y, tmp+10)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At end: x=20, y=40</a:t>
            </a: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11" name="Content Placeholder 5"/>
          <p:cNvSpPr txBox="1"/>
          <p:nvPr/>
        </p:nvSpPr>
        <p:spPr>
          <a:xfrm>
            <a:off x="507605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 dirty="0">
                <a:latin typeface="Consolas" panose="020B0609020204030204" pitchFamily="49" charset="0"/>
              </a:rPr>
              <a:t>: read(x)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write(x, 20)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 dirty="0">
                <a:latin typeface="Consolas" panose="020B0609020204030204" pitchFamily="49" charset="0"/>
              </a:rPr>
              <a:t>: </a:t>
            </a:r>
            <a:r>
              <a:rPr lang="en-US" altLang="zh-CN" sz="1800" dirty="0" err="1">
                <a:latin typeface="Consolas" panose="020B0609020204030204" pitchFamily="49" charset="0"/>
              </a:rPr>
              <a:t>tmp</a:t>
            </a:r>
            <a:r>
              <a:rPr lang="en-US" altLang="zh-CN" sz="1800" dirty="0">
                <a:latin typeface="Consolas" panose="020B0609020204030204" pitchFamily="49" charset="0"/>
              </a:rPr>
              <a:t> = read(y)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</a:t>
            </a:r>
            <a:r>
              <a:rPr lang="en-US" altLang="zh-CN" sz="1800" dirty="0">
                <a:latin typeface="Consolas" panose="020B0609020204030204" pitchFamily="49" charset="0"/>
              </a:rPr>
              <a:t>y, 30)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latin typeface="Consolas" panose="020B0609020204030204" pitchFamily="49" charset="0"/>
              </a:rPr>
              <a:t>: write(y, tmp+10)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At end: x=20, y=10</a:t>
            </a:r>
            <a:endParaRPr lang="en-US" sz="1800" dirty="0">
              <a:latin typeface="Consolas" panose="020B0609020204030204" pitchFamily="49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5148064" y="2497460"/>
            <a:ext cx="2952328" cy="24636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48064" y="2497460"/>
            <a:ext cx="3034680" cy="24636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5"/>
          <p:cNvSpPr txBox="1"/>
          <p:nvPr/>
        </p:nvSpPr>
        <p:spPr>
          <a:xfrm>
            <a:off x="5652120" y="141872"/>
            <a:ext cx="2232248" cy="24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600" b="1" err="1">
                <a:latin typeface="Consolas" panose="020B0609020204030204" pitchFamily="49" charset="0"/>
                <a:ea typeface="MS PGothic" panose="020B0600070205080204" pitchFamily="34" charset="-128"/>
              </a:rPr>
              <a:t>Init</a:t>
            </a:r>
            <a:r>
              <a:rPr lang="en-US" altLang="zh-CN" sz="1600" b="1">
                <a:latin typeface="Consolas" panose="020B0609020204030204" pitchFamily="49" charset="0"/>
                <a:ea typeface="MS PGothic" panose="020B0600070205080204" pitchFamily="34" charset="-128"/>
              </a:rPr>
              <a:t>: x=0, y=0</a:t>
            </a:r>
            <a:endParaRPr lang="en-US" sz="180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948264" y="697260"/>
            <a:ext cx="1368152" cy="648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ntent Placeholder 5"/>
          <p:cNvSpPr txBox="1"/>
          <p:nvPr/>
        </p:nvSpPr>
        <p:spPr>
          <a:xfrm>
            <a:off x="683568" y="265212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18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3275856" y="265212"/>
            <a:ext cx="201622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1800" b="1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write(y, 30)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5652120" y="446197"/>
            <a:ext cx="3528392" cy="118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600" b="1">
                <a:latin typeface="Consolas" panose="020B0609020204030204" pitchFamily="49" charset="0"/>
                <a:ea typeface="MS PGothic" panose="020B0600070205080204" pitchFamily="34" charset="-128"/>
              </a:rPr>
              <a:t>Possible sequential schedules</a:t>
            </a:r>
            <a:endParaRPr lang="en-US" sz="1600" b="1">
              <a:latin typeface="Consolas" panose="020B0609020204030204" pitchFamily="49" charset="0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T1 -&gt; T2: x=20, y=30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T2 -&gt; T1: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5"/>
          <p:cNvSpPr txBox="1"/>
          <p:nvPr/>
        </p:nvSpPr>
        <p:spPr>
          <a:xfrm>
            <a:off x="111561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</a:t>
            </a: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At end: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11" name="Content Placeholder 5"/>
          <p:cNvSpPr txBox="1"/>
          <p:nvPr/>
        </p:nvSpPr>
        <p:spPr>
          <a:xfrm>
            <a:off x="507605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>
                <a:latin typeface="Consolas" panose="020B0609020204030204" pitchFamily="49" charset="0"/>
              </a:rPr>
              <a:t>: read(x)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>
                <a:latin typeface="Consolas" panose="020B0609020204030204" pitchFamily="49" charset="0"/>
              </a:rPr>
              <a:t>: </a:t>
            </a:r>
            <a:r>
              <a:rPr lang="en-US" altLang="zh-CN" sz="1800" err="1">
                <a:latin typeface="Consolas" panose="020B0609020204030204" pitchFamily="49" charset="0"/>
              </a:rPr>
              <a:t>tmp</a:t>
            </a:r>
            <a:r>
              <a:rPr lang="en-US" altLang="zh-CN" sz="1800">
                <a:latin typeface="Consolas" panose="020B0609020204030204" pitchFamily="49" charset="0"/>
              </a:rPr>
              <a:t> = read(y)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At end: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31540" y="4832349"/>
            <a:ext cx="831692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In the second schedule, 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 results are correct. But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T1 reads </a:t>
            </a:r>
            <a:r>
              <a:rPr lang="zh-CN" altLang="en-US" sz="2000" b="1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x=0 and y=30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; those reads 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re 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no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 possible in a sequential schedule. </a:t>
            </a:r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</a:t>
            </a:r>
            <a:r>
              <a:rPr lang="zh-CN" altLang="en-US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 that ok?</a:t>
            </a:r>
            <a:endParaRPr lang="zh-CN" altLang="en-US" sz="2000" b="1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8845" y="248816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等线" panose="02010600030101010101" charset="-122"/>
                <a:ea typeface="MS PGothic" panose="020B0600070205080204" pitchFamily="34" charset="-128"/>
                <a:cs typeface="Myriad Pro Light SemiCond"/>
              </a:rPr>
              <a:t>x=0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68845" y="3508621"/>
            <a:ext cx="71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等线" panose="02010600030101010101" charset="-122"/>
                <a:ea typeface="MS PGothic" panose="020B0600070205080204" pitchFamily="34" charset="-128"/>
                <a:cs typeface="Myriad Pro Light SemiCond"/>
              </a:rPr>
              <a:t>y=30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3" name="Content Placeholder 5"/>
          <p:cNvSpPr txBox="1"/>
          <p:nvPr/>
        </p:nvSpPr>
        <p:spPr>
          <a:xfrm>
            <a:off x="5652120" y="141872"/>
            <a:ext cx="2232248" cy="24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600" b="1" err="1">
                <a:latin typeface="Consolas" panose="020B0609020204030204" pitchFamily="49" charset="0"/>
                <a:ea typeface="MS PGothic" panose="020B0600070205080204" pitchFamily="34" charset="-128"/>
              </a:rPr>
              <a:t>Init</a:t>
            </a:r>
            <a:r>
              <a:rPr lang="en-US" altLang="zh-CN" sz="1600" b="1">
                <a:latin typeface="Consolas" panose="020B0609020204030204" pitchFamily="49" charset="0"/>
                <a:ea typeface="MS PGothic" panose="020B0600070205080204" pitchFamily="34" charset="-128"/>
              </a:rPr>
              <a:t>: x=0, y=0</a:t>
            </a:r>
            <a:endParaRPr lang="en-US" sz="180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/>
      <p:bldP spid="1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948264" y="697260"/>
            <a:ext cx="1368152" cy="648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ntent Placeholder 5"/>
          <p:cNvSpPr txBox="1"/>
          <p:nvPr/>
        </p:nvSpPr>
        <p:spPr>
          <a:xfrm>
            <a:off x="683568" y="265212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18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3275856" y="265212"/>
            <a:ext cx="201622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1800" b="1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write(y, 30)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5652120" y="446197"/>
            <a:ext cx="3528392" cy="118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600" b="1">
                <a:latin typeface="Consolas" panose="020B0609020204030204" pitchFamily="49" charset="0"/>
                <a:ea typeface="MS PGothic" panose="020B0600070205080204" pitchFamily="34" charset="-128"/>
              </a:rPr>
              <a:t>Possible sequential schedules</a:t>
            </a:r>
            <a:endParaRPr lang="en-US" sz="1600" b="1">
              <a:latin typeface="Consolas" panose="020B0609020204030204" pitchFamily="49" charset="0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T1 -&gt; T2: x=20, y=30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T2 -&gt; T1: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5"/>
          <p:cNvSpPr txBox="1"/>
          <p:nvPr/>
        </p:nvSpPr>
        <p:spPr>
          <a:xfrm>
            <a:off x="111561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</a:t>
            </a: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At end: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11" name="Content Placeholder 5"/>
          <p:cNvSpPr txBox="1"/>
          <p:nvPr/>
        </p:nvSpPr>
        <p:spPr>
          <a:xfrm>
            <a:off x="507605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 dirty="0">
                <a:latin typeface="Consolas" panose="020B0609020204030204" pitchFamily="49" charset="0"/>
              </a:rPr>
              <a:t>: read(x)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write(x, 20)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</a:t>
            </a:r>
            <a:r>
              <a:rPr lang="en-US" altLang="zh-CN" sz="1800" dirty="0">
                <a:latin typeface="Consolas" panose="020B0609020204030204" pitchFamily="49" charset="0"/>
              </a:rPr>
              <a:t>y, 30)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 dirty="0">
                <a:latin typeface="Consolas" panose="020B0609020204030204" pitchFamily="49" charset="0"/>
              </a:rPr>
              <a:t>: </a:t>
            </a:r>
            <a:r>
              <a:rPr lang="en-US" altLang="zh-CN" sz="1800" dirty="0" err="1">
                <a:latin typeface="Consolas" panose="020B0609020204030204" pitchFamily="49" charset="0"/>
              </a:rPr>
              <a:t>tmp</a:t>
            </a:r>
            <a:r>
              <a:rPr lang="en-US" altLang="zh-CN" sz="1800" dirty="0">
                <a:latin typeface="Consolas" panose="020B0609020204030204" pitchFamily="49" charset="0"/>
              </a:rPr>
              <a:t> = read(y)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latin typeface="Consolas" panose="020B0609020204030204" pitchFamily="49" charset="0"/>
              </a:rPr>
              <a:t>: write(y, tmp+10)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At end: x=20, y=40</a:t>
            </a: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31540" y="4832349"/>
            <a:ext cx="831692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In the second schedule, 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 results are correct. But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T1 reads </a:t>
            </a:r>
            <a:r>
              <a:rPr lang="zh-CN" altLang="en-US" sz="2000" b="1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x=0 and y=30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; those reads 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re 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no</a:t>
            </a:r>
            <a:r>
              <a:rPr lang="zh-CN" altLang="en-US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 possible in a sequential schedule. </a:t>
            </a:r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</a:t>
            </a:r>
            <a:r>
              <a:rPr lang="zh-CN" altLang="en-US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 that ok?</a:t>
            </a:r>
            <a:endParaRPr lang="zh-CN" altLang="en-US" sz="2000" b="1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8845" y="2488167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等线" panose="02010600030101010101" charset="-122"/>
                <a:ea typeface="MS PGothic" panose="020B0600070205080204" pitchFamily="34" charset="-128"/>
                <a:cs typeface="Myriad Pro Light SemiCond"/>
              </a:rPr>
              <a:t>x=0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68845" y="3508621"/>
            <a:ext cx="71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等线" panose="02010600030101010101" charset="-122"/>
                <a:ea typeface="MS PGothic" panose="020B0600070205080204" pitchFamily="34" charset="-128"/>
                <a:cs typeface="Myriad Pro Light SemiCond"/>
              </a:rPr>
              <a:t>y=30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3" name="Content Placeholder 5"/>
          <p:cNvSpPr txBox="1"/>
          <p:nvPr/>
        </p:nvSpPr>
        <p:spPr>
          <a:xfrm>
            <a:off x="5652120" y="141872"/>
            <a:ext cx="2232248" cy="24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600" b="1" err="1">
                <a:latin typeface="Consolas" panose="020B0609020204030204" pitchFamily="49" charset="0"/>
                <a:ea typeface="MS PGothic" panose="020B0600070205080204" pitchFamily="34" charset="-128"/>
              </a:rPr>
              <a:t>Init</a:t>
            </a:r>
            <a:r>
              <a:rPr lang="en-US" altLang="zh-CN" sz="1600" b="1">
                <a:latin typeface="Consolas" panose="020B0609020204030204" pitchFamily="49" charset="0"/>
                <a:ea typeface="MS PGothic" panose="020B0600070205080204" pitchFamily="34" charset="-128"/>
              </a:rPr>
              <a:t>: x=0, y=0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457200" y="145511"/>
            <a:ext cx="8229600" cy="200398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Whether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OK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 depends: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There are many ways for multiple transactions to "appear" to have been run in sequence; there are different notions of serializability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Chose a type of serializability depends on applications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Serializability has many types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Final-state serializability</a:t>
            </a:r>
            <a:endParaRPr lang="en-US" altLang="zh-CN" dirty="0"/>
          </a:p>
          <a:p>
            <a:pPr lvl="1"/>
            <a:r>
              <a:rPr lang="en-US" altLang="zh-CN" dirty="0"/>
              <a:t>A schedule is final-state serializable if its final written state is equivalent to that of some serial schedule</a:t>
            </a:r>
            <a:endParaRPr lang="en-US" altLang="zh-CN" dirty="0"/>
          </a:p>
          <a:p>
            <a:r>
              <a:rPr lang="en-US" altLang="zh-CN" dirty="0"/>
              <a:t>Conflict serializability</a:t>
            </a:r>
            <a:endParaRPr lang="en-US" altLang="zh-CN" dirty="0"/>
          </a:p>
          <a:p>
            <a:r>
              <a:rPr lang="en-US" altLang="zh-CN" dirty="0"/>
              <a:t>View serializability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41171" y="2353444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Most widely used</a:t>
            </a:r>
            <a:endParaRPr lang="zh-CN" altLang="en-US" sz="20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右箭头 5"/>
          <p:cNvSpPr/>
          <p:nvPr/>
        </p:nvSpPr>
        <p:spPr>
          <a:xfrm rot="10800000">
            <a:off x="2843809" y="2413018"/>
            <a:ext cx="432048" cy="286253"/>
          </a:xfrm>
          <a:prstGeom prst="rightArrow">
            <a:avLst/>
          </a:prstGeom>
          <a:solidFill>
            <a:schemeClr val="bg1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7" name="Content Placeholder 5"/>
          <p:cNvSpPr txBox="1"/>
          <p:nvPr/>
        </p:nvSpPr>
        <p:spPr>
          <a:xfrm>
            <a:off x="5580112" y="2567823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 dirty="0">
                <a:latin typeface="Consolas" panose="020B0609020204030204" pitchFamily="49" charset="0"/>
              </a:rPr>
              <a:t>: read(x)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write(x, 20)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latin typeface="Consolas" panose="020B0609020204030204" pitchFamily="49" charset="0"/>
              </a:rPr>
              <a:t>: write(</a:t>
            </a:r>
            <a:r>
              <a:rPr lang="en-US" altLang="zh-CN" sz="1800" dirty="0">
                <a:latin typeface="Consolas" panose="020B0609020204030204" pitchFamily="49" charset="0"/>
              </a:rPr>
              <a:t>y, 30)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 dirty="0">
                <a:latin typeface="Consolas" panose="020B0609020204030204" pitchFamily="49" charset="0"/>
              </a:rPr>
              <a:t>: </a:t>
            </a:r>
            <a:r>
              <a:rPr lang="en-US" altLang="zh-CN" sz="1800" dirty="0" err="1">
                <a:latin typeface="Consolas" panose="020B0609020204030204" pitchFamily="49" charset="0"/>
              </a:rPr>
              <a:t>tmp</a:t>
            </a:r>
            <a:r>
              <a:rPr lang="en-US" altLang="zh-CN" sz="1800" dirty="0">
                <a:latin typeface="Consolas" panose="020B0609020204030204" pitchFamily="49" charset="0"/>
              </a:rPr>
              <a:t> = read(y)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latin typeface="Consolas" panose="020B0609020204030204" pitchFamily="49" charset="0"/>
              </a:rPr>
              <a:t>: write(y, tmp+10)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At end: x=20, y=40</a:t>
            </a: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72901" y="2486522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等线" panose="02010600030101010101" charset="-122"/>
                <a:ea typeface="MS PGothic" panose="020B0600070205080204" pitchFamily="34" charset="-128"/>
                <a:cs typeface="Myriad Pro Light SemiCond"/>
              </a:rPr>
              <a:t>x=0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72901" y="3506976"/>
            <a:ext cx="71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latin typeface="等线" panose="02010600030101010101" charset="-122"/>
                <a:ea typeface="MS PGothic" panose="020B0600070205080204" pitchFamily="34" charset="-128"/>
                <a:cs typeface="Myriad Pro Light SemiCond"/>
              </a:rPr>
              <a:t>y=30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5632167" y="2158329"/>
            <a:ext cx="3240360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Final-state serializability 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>
                <a:solidFill>
                  <a:srgbClr val="BE384B"/>
                </a:solidFill>
                <a:ea typeface="+mn-ea"/>
              </a:rPr>
              <a:t>Conflict Serializability</a:t>
            </a:r>
            <a:endParaRPr kumimoji="0" lang="en-US" altLang="zh-CN" kern="0">
              <a:solidFill>
                <a:srgbClr val="BE384B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Conflict Serializability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GB" altLang="zh-CN"/>
              <a:t>Two operations conflict if:</a:t>
            </a:r>
            <a:endParaRPr kumimoji="1" lang="en-GB" altLang="zh-CN"/>
          </a:p>
          <a:p>
            <a:pPr marL="417195" lvl="1" indent="-342900">
              <a:buFont typeface="+mj-lt"/>
              <a:buAutoNum type="arabicPeriod"/>
            </a:pPr>
            <a:r>
              <a:rPr kumimoji="1" lang="en-GB" altLang="zh-CN"/>
              <a:t>they operate on the same data object, and </a:t>
            </a:r>
            <a:endParaRPr kumimoji="1" lang="en-GB" altLang="zh-CN"/>
          </a:p>
          <a:p>
            <a:pPr marL="417195" lvl="1" indent="-342900">
              <a:buFont typeface="+mj-lt"/>
              <a:buAutoNum type="arabicPeriod"/>
            </a:pPr>
            <a:r>
              <a:rPr kumimoji="1" lang="en-GB" altLang="zh-CN"/>
              <a:t>at least one of them is write, and</a:t>
            </a:r>
            <a:endParaRPr kumimoji="1" lang="en-GB" altLang="zh-CN"/>
          </a:p>
          <a:p>
            <a:pPr marL="417195" lvl="1" indent="-342900">
              <a:buFont typeface="+mj-lt"/>
              <a:buAutoNum type="arabicPeriod"/>
            </a:pPr>
            <a:r>
              <a:rPr kumimoji="1" lang="en-GB" altLang="zh-CN"/>
              <a:t>they belong to different transactions</a:t>
            </a:r>
            <a:endParaRPr kumimoji="1" lang="en-GB" altLang="zh-CN"/>
          </a:p>
          <a:p>
            <a:r>
              <a:rPr kumimoji="1" lang="en-GB" altLang="zh-CN"/>
              <a:t>Conflict serializability</a:t>
            </a:r>
            <a:endParaRPr kumimoji="1" lang="en-GB" altLang="zh-CN"/>
          </a:p>
          <a:p>
            <a:pPr lvl="1"/>
            <a:r>
              <a:rPr kumimoji="1" lang="en-GB" altLang="zh-CN"/>
              <a:t>A schedule is conflict serializable if </a:t>
            </a:r>
            <a:r>
              <a:rPr kumimoji="1" lang="en-GB" altLang="zh-CN" b="1">
                <a:solidFill>
                  <a:srgbClr val="C00000"/>
                </a:solidFill>
              </a:rPr>
              <a:t>the order of its conflicts </a:t>
            </a:r>
            <a:r>
              <a:rPr kumimoji="1" lang="en-GB" altLang="zh-CN"/>
              <a:t>(the order in which the conflicting operations occur) is </a:t>
            </a:r>
            <a:r>
              <a:rPr kumimoji="1" lang="en-GB" altLang="zh-CN" b="1">
                <a:solidFill>
                  <a:srgbClr val="C00000"/>
                </a:solidFill>
              </a:rPr>
              <a:t>the same as the order of conflicts in some sequential schedule</a:t>
            </a:r>
            <a:endParaRPr kumimoji="1" lang="en-GB" altLang="zh-CN" b="1">
              <a:solidFill>
                <a:srgbClr val="C00000"/>
              </a:solidFill>
            </a:endParaRP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948264" y="697260"/>
            <a:ext cx="1368152" cy="648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ntent Placeholder 5"/>
          <p:cNvSpPr txBox="1"/>
          <p:nvPr/>
        </p:nvSpPr>
        <p:spPr>
          <a:xfrm>
            <a:off x="683568" y="265212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18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3275856" y="265212"/>
            <a:ext cx="201622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1800" b="1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write(y, 30)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5652120" y="446197"/>
            <a:ext cx="3491880" cy="118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600" b="1">
                <a:latin typeface="Consolas" panose="020B0609020204030204" pitchFamily="49" charset="0"/>
                <a:ea typeface="MS PGothic" panose="020B0600070205080204" pitchFamily="34" charset="-128"/>
              </a:rPr>
              <a:t>Possible sequential schedules</a:t>
            </a:r>
            <a:endParaRPr lang="en-US" sz="1600" b="1">
              <a:latin typeface="Consolas" panose="020B0609020204030204" pitchFamily="49" charset="0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T1 -&gt; T2: x=20, y=30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T2 -&gt; T1: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5"/>
          <p:cNvSpPr txBox="1"/>
          <p:nvPr/>
        </p:nvSpPr>
        <p:spPr>
          <a:xfrm>
            <a:off x="944489" y="2899564"/>
            <a:ext cx="7200800" cy="2376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800" b="1">
                <a:latin typeface="等线" panose="02010600030101010101" charset="-122"/>
                <a:ea typeface="MS PGothic" panose="020B0600070205080204" pitchFamily="34" charset="-128"/>
              </a:rPr>
              <a:t>Conflicts</a:t>
            </a:r>
            <a:endParaRPr lang="en-US" sz="24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  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r>
              <a:rPr lang="en-US" sz="2000">
                <a:latin typeface="Consolas" panose="020B0609020204030204" pitchFamily="49" charset="0"/>
              </a:rPr>
              <a:t> read(x)  and 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T2.1</a:t>
            </a:r>
            <a:r>
              <a:rPr lang="en-US" sz="2000">
                <a:latin typeface="Consolas" panose="020B0609020204030204" pitchFamily="49" charset="0"/>
              </a:rPr>
              <a:t> write(x,20) on x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 err="1">
                <a:latin typeface="Consolas" panose="020B0609020204030204" pitchFamily="49" charset="0"/>
              </a:rPr>
              <a:t>tmp</a:t>
            </a:r>
            <a:r>
              <a:rPr lang="en-US" sz="2000">
                <a:latin typeface="Consolas" panose="020B0609020204030204" pitchFamily="49" charset="0"/>
              </a:rPr>
              <a:t> = read(y)  and 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write(y,30) on y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r>
              <a:rPr lang="en-US" sz="2000">
                <a:latin typeface="Consolas" panose="020B0609020204030204" pitchFamily="49" charset="0"/>
              </a:rPr>
              <a:t> write(y, tmp+10)  and 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write(y,30) on y</a:t>
            </a: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0" name="Content Placeholder 5"/>
          <p:cNvSpPr txBox="1"/>
          <p:nvPr/>
        </p:nvSpPr>
        <p:spPr>
          <a:xfrm>
            <a:off x="5652120" y="141872"/>
            <a:ext cx="2232248" cy="24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600" b="1" err="1">
                <a:latin typeface="Consolas" panose="020B0609020204030204" pitchFamily="49" charset="0"/>
                <a:ea typeface="MS PGothic" panose="020B0600070205080204" pitchFamily="34" charset="-128"/>
              </a:rPr>
              <a:t>Init</a:t>
            </a:r>
            <a:r>
              <a:rPr lang="en-US" altLang="zh-CN" sz="1600" b="1">
                <a:latin typeface="Consolas" panose="020B0609020204030204" pitchFamily="49" charset="0"/>
                <a:ea typeface="MS PGothic" panose="020B0600070205080204" pitchFamily="34" charset="-128"/>
              </a:rPr>
              <a:t>: x=0, y=0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855114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199816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1544375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92288" y="855114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nsolas" panose="020B0609020204030204" pitchFamily="49" charset="0"/>
                <a:ea typeface="楷体" panose="02010609060101010101" charset="-122"/>
                <a:cs typeface="Myriad Pro Light SemiCond"/>
              </a:rPr>
              <a:t>T2.1 </a:t>
            </a:r>
            <a:endParaRPr lang="zh-CN" altLang="en-US">
              <a:solidFill>
                <a:schemeClr val="accent1"/>
              </a:solidFill>
              <a:latin typeface="Consolas" panose="020B0609020204030204" pitchFamily="49" charset="0"/>
              <a:ea typeface="楷体" panose="02010609060101010101" charset="-122"/>
              <a:cs typeface="Myriad Pro Light SemiCond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92288" y="1199816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nsolas" panose="020B0609020204030204" pitchFamily="49" charset="0"/>
                <a:ea typeface="楷体" panose="02010609060101010101" charset="-122"/>
                <a:cs typeface="Myriad Pro Light SemiCond"/>
              </a:rPr>
              <a:t>T2.2 </a:t>
            </a:r>
            <a:endParaRPr lang="zh-CN" altLang="en-US">
              <a:solidFill>
                <a:schemeClr val="accent1"/>
              </a:solidFill>
              <a:latin typeface="Consolas" panose="020B0609020204030204" pitchFamily="49" charset="0"/>
              <a:ea typeface="楷体" panose="02010609060101010101" charset="-122"/>
              <a:cs typeface="Myriad Pro Light SemiCond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Conflict Graph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/>
              <a:t>Conflict Graph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Nodes are transactions, edges are directed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Edge between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and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j</a:t>
            </a:r>
            <a:r>
              <a:rPr kumimoji="1" lang="en-GB" altLang="zh-CN" dirty="0"/>
              <a:t> if and only if:</a:t>
            </a:r>
            <a:endParaRPr kumimoji="1" lang="en-GB" altLang="zh-CN" dirty="0"/>
          </a:p>
          <a:p>
            <a:pPr marL="1257300" lvl="2" indent="-342900">
              <a:buFont typeface="+mj-lt"/>
              <a:buAutoNum type="arabicPeriod"/>
            </a:pP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and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j</a:t>
            </a:r>
            <a:r>
              <a:rPr kumimoji="1" lang="en-GB" altLang="zh-CN" dirty="0"/>
              <a:t> have a conflict between them, and</a:t>
            </a:r>
            <a:endParaRPr kumimoji="1" lang="en-GB" altLang="zh-CN" dirty="0"/>
          </a:p>
          <a:p>
            <a:pPr marL="1257300" lvl="2" indent="-342900">
              <a:buFont typeface="+mj-lt"/>
              <a:buAutoNum type="arabicPeriod"/>
            </a:pPr>
            <a:r>
              <a:rPr kumimoji="1" lang="en-GB" altLang="zh-CN" dirty="0"/>
              <a:t>the first step in the conflict occurs in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endParaRPr kumimoji="1" lang="en-GB" altLang="zh-CN" baseline="-25000" dirty="0"/>
          </a:p>
          <a:p>
            <a:r>
              <a:rPr kumimoji="1" lang="en-GB" altLang="zh-CN" dirty="0"/>
              <a:t>A schedule is conflict serializable if and only if: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It has an </a:t>
            </a:r>
            <a:r>
              <a:rPr kumimoji="1" lang="en-GB" altLang="zh-CN" b="1" dirty="0">
                <a:solidFill>
                  <a:srgbClr val="C00000"/>
                </a:solidFill>
              </a:rPr>
              <a:t>acyclic</a:t>
            </a:r>
            <a:r>
              <a:rPr kumimoji="1" lang="en-GB" altLang="zh-CN" dirty="0"/>
              <a:t> conflict graph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 txBox="1"/>
          <p:nvPr/>
        </p:nvSpPr>
        <p:spPr>
          <a:xfrm>
            <a:off x="683568" y="265212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18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3275856" y="265212"/>
            <a:ext cx="201622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1800" b="1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write(y, 30)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5652120" y="446197"/>
            <a:ext cx="3491880" cy="118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600" b="1">
                <a:latin typeface="Consolas" panose="020B0609020204030204" pitchFamily="49" charset="0"/>
                <a:ea typeface="MS PGothic" panose="020B0600070205080204" pitchFamily="34" charset="-128"/>
              </a:rPr>
              <a:t>Possible sequential schedules</a:t>
            </a:r>
            <a:endParaRPr lang="en-US" sz="1600" b="1">
              <a:latin typeface="Consolas" panose="020B0609020204030204" pitchFamily="49" charset="0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T1 -&gt; T2: x=20, y=30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T2 -&gt; T1: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5"/>
          <p:cNvSpPr txBox="1"/>
          <p:nvPr/>
        </p:nvSpPr>
        <p:spPr>
          <a:xfrm>
            <a:off x="971600" y="2929508"/>
            <a:ext cx="7200800" cy="2376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800" b="1">
                <a:latin typeface="等线" panose="02010600030101010101" charset="-122"/>
                <a:ea typeface="MS PGothic" panose="020B0600070205080204" pitchFamily="34" charset="-128"/>
              </a:rPr>
              <a:t>Conflicts</a:t>
            </a:r>
            <a:endParaRPr lang="en-US" sz="24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  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r>
              <a:rPr lang="en-US" sz="2000">
                <a:latin typeface="Consolas" panose="020B0609020204030204" pitchFamily="49" charset="0"/>
              </a:rPr>
              <a:t> read(x)   -&gt; 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T2.1</a:t>
            </a:r>
            <a:r>
              <a:rPr lang="en-US" sz="2000">
                <a:latin typeface="Consolas" panose="020B0609020204030204" pitchFamily="49" charset="0"/>
              </a:rPr>
              <a:t> write(x,20)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 err="1">
                <a:latin typeface="Consolas" panose="020B0609020204030204" pitchFamily="49" charset="0"/>
              </a:rPr>
              <a:t>tmp</a:t>
            </a:r>
            <a:r>
              <a:rPr lang="en-US" sz="2000">
                <a:latin typeface="Consolas" panose="020B0609020204030204" pitchFamily="49" charset="0"/>
              </a:rPr>
              <a:t> = read(y)   -&gt; 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write(y,30)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r>
              <a:rPr lang="en-US" sz="2000">
                <a:latin typeface="Consolas" panose="020B0609020204030204" pitchFamily="49" charset="0"/>
              </a:rPr>
              <a:t> write(y, tmp+10)   -&gt; 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write(y,30)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sz="2000">
              <a:latin typeface="Consolas" panose="020B0609020204030204" pitchFamily="49" charset="0"/>
            </a:endParaRPr>
          </a:p>
          <a:p>
            <a:pPr marL="0" indent="0" algn="ctr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(T1 -&gt; T2)</a:t>
            </a:r>
            <a:endParaRPr lang="en-US" sz="200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 txBox="1"/>
          <p:nvPr/>
        </p:nvSpPr>
        <p:spPr>
          <a:xfrm>
            <a:off x="683568" y="265212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endParaRPr lang="en-US" sz="1800" b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</a:rPr>
              <a:t>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3275856" y="265212"/>
            <a:ext cx="201622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endParaRPr lang="en-US" sz="1800" b="1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begin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write(y, 30)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commit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5652120" y="446197"/>
            <a:ext cx="3456384" cy="118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600" b="1">
                <a:latin typeface="Consolas" panose="020B0609020204030204" pitchFamily="49" charset="0"/>
                <a:ea typeface="MS PGothic" panose="020B0600070205080204" pitchFamily="34" charset="-128"/>
              </a:rPr>
              <a:t>Possible sequential schedules</a:t>
            </a:r>
            <a:endParaRPr lang="en-US" sz="1600" b="1">
              <a:latin typeface="Consolas" panose="020B0609020204030204" pitchFamily="49" charset="0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T1 -&gt; T2: x=20, y=30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T2 -&gt; T1: x=20, y=40</a:t>
            </a:r>
            <a:endParaRPr lang="en-US" sz="180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5"/>
          <p:cNvSpPr txBox="1"/>
          <p:nvPr/>
        </p:nvSpPr>
        <p:spPr>
          <a:xfrm>
            <a:off x="971600" y="2929508"/>
            <a:ext cx="7200800" cy="2376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800" b="1">
                <a:latin typeface="等线" panose="02010600030101010101" charset="-122"/>
                <a:ea typeface="MS PGothic" panose="020B0600070205080204" pitchFamily="34" charset="-128"/>
              </a:rPr>
              <a:t>Conflicts</a:t>
            </a:r>
            <a:endParaRPr lang="en-US" sz="24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T2.1</a:t>
            </a:r>
            <a:r>
              <a:rPr lang="en-US" altLang="zh-CN" sz="2000">
                <a:latin typeface="Consolas" panose="020B0609020204030204" pitchFamily="49" charset="0"/>
              </a:rPr>
              <a:t> write(x,20)</a:t>
            </a:r>
            <a:r>
              <a:rPr lang="en-US" sz="2000">
                <a:latin typeface="Consolas" panose="020B0609020204030204" pitchFamily="49" charset="0"/>
              </a:rPr>
              <a:t>   -&gt;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r>
              <a:rPr lang="en-US" sz="2000">
                <a:latin typeface="Consolas" panose="020B0609020204030204" pitchFamily="49" charset="0"/>
              </a:rPr>
              <a:t> read(x)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 write(y,30)   </a:t>
            </a:r>
            <a:r>
              <a:rPr lang="en-US" sz="2000">
                <a:latin typeface="Consolas" panose="020B0609020204030204" pitchFamily="49" charset="0"/>
              </a:rPr>
              <a:t>-&gt; 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r>
              <a:rPr lang="en-US" altLang="zh-CN" sz="2000">
                <a:latin typeface="Consolas" panose="020B0609020204030204" pitchFamily="49" charset="0"/>
              </a:rPr>
              <a:t> </a:t>
            </a:r>
            <a:r>
              <a:rPr lang="en-US" altLang="zh-CN" sz="2000" err="1">
                <a:latin typeface="Consolas" panose="020B0609020204030204" pitchFamily="49" charset="0"/>
              </a:rPr>
              <a:t>tmp</a:t>
            </a:r>
            <a:r>
              <a:rPr lang="en-US" altLang="zh-CN" sz="2000">
                <a:latin typeface="Consolas" panose="020B0609020204030204" pitchFamily="49" charset="0"/>
              </a:rPr>
              <a:t> = read(y)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T2.2</a:t>
            </a:r>
            <a:r>
              <a:rPr lang="en-US" altLang="zh-CN" sz="2000">
                <a:latin typeface="Consolas" panose="020B0609020204030204" pitchFamily="49" charset="0"/>
              </a:rPr>
              <a:t> write(y,30)   </a:t>
            </a:r>
            <a:r>
              <a:rPr lang="en-US" sz="2000">
                <a:latin typeface="Consolas" panose="020B0609020204030204" pitchFamily="49" charset="0"/>
              </a:rPr>
              <a:t>-&gt; 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r>
              <a:rPr lang="en-US" altLang="zh-CN" sz="2000">
                <a:latin typeface="Consolas" panose="020B0609020204030204" pitchFamily="49" charset="0"/>
              </a:rPr>
              <a:t> write(y, tmp+10)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sz="2000">
              <a:latin typeface="Consolas" panose="020B0609020204030204" pitchFamily="49" charset="0"/>
            </a:endParaRPr>
          </a:p>
          <a:p>
            <a:pPr marL="0" indent="0" algn="ctr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(T2 -&gt; T1)</a:t>
            </a:r>
            <a:endParaRPr lang="en-US" sz="200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 txBox="1"/>
          <p:nvPr/>
        </p:nvSpPr>
        <p:spPr>
          <a:xfrm>
            <a:off x="251520" y="409228"/>
            <a:ext cx="2952328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400" b="1">
                <a:latin typeface="等线" panose="02010600030101010101" charset="-122"/>
                <a:ea typeface="MS PGothic" panose="020B0600070205080204" pitchFamily="34" charset="-128"/>
              </a:rPr>
              <a:t>Conflicts</a:t>
            </a:r>
            <a:endParaRPr lang="en-US" sz="20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T2.1</a:t>
            </a:r>
            <a:r>
              <a:rPr lang="en-US" altLang="zh-CN" sz="2000">
                <a:latin typeface="Consolas" panose="020B0609020204030204" pitchFamily="49" charset="0"/>
              </a:rPr>
              <a:t>,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,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T2.2</a:t>
            </a:r>
            <a:r>
              <a:rPr lang="en-US" sz="2000">
                <a:latin typeface="Consolas" panose="020B0609020204030204" pitchFamily="49" charset="0"/>
              </a:rPr>
              <a:t>,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2915816" y="409228"/>
            <a:ext cx="6120680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400" b="1">
                <a:latin typeface="等线" panose="02010600030101010101" charset="-122"/>
                <a:ea typeface="MS PGothic" panose="020B0600070205080204" pitchFamily="34" charset="-128"/>
              </a:rPr>
              <a:t>Conflict order for sequential schedules</a:t>
            </a:r>
            <a:endParaRPr lang="en-US" sz="20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>
                <a:latin typeface="Consolas" panose="020B0609020204030204" pitchFamily="49" charset="0"/>
              </a:rPr>
              <a:t>-&gt;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T2.1        </a:t>
            </a:r>
            <a:r>
              <a:rPr lang="en-US" altLang="zh-CN" sz="2000" err="1">
                <a:solidFill>
                  <a:schemeClr val="accent1"/>
                </a:solidFill>
                <a:latin typeface="Consolas" panose="020B0609020204030204" pitchFamily="49" charset="0"/>
              </a:rPr>
              <a:t>T2.1</a:t>
            </a:r>
            <a:r>
              <a:rPr lang="en-US" altLang="zh-CN" sz="2000">
                <a:latin typeface="Consolas" panose="020B0609020204030204" pitchFamily="49" charset="0"/>
              </a:rPr>
              <a:t> -&gt;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r>
              <a:rPr lang="en-US" sz="2000">
                <a:latin typeface="Consolas" panose="020B0609020204030204" pitchFamily="49" charset="0"/>
              </a:rPr>
              <a:t> -&gt;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  or   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>
                <a:latin typeface="Consolas" panose="020B0609020204030204" pitchFamily="49" charset="0"/>
              </a:rPr>
              <a:t>-&gt;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T2.2        </a:t>
            </a:r>
            <a:r>
              <a:rPr lang="en-US" altLang="zh-CN" sz="2000" err="1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endParaRPr lang="en-US" altLang="zh-CN" sz="200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 (T1 -&gt; T2)          (T2 -&gt; T1)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5"/>
          <p:cNvSpPr txBox="1"/>
          <p:nvPr/>
        </p:nvSpPr>
        <p:spPr>
          <a:xfrm>
            <a:off x="111561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</a:t>
            </a: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8" name="Content Placeholder 5"/>
          <p:cNvSpPr txBox="1"/>
          <p:nvPr/>
        </p:nvSpPr>
        <p:spPr>
          <a:xfrm>
            <a:off x="5076056" y="2569468"/>
            <a:ext cx="3106688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>
                <a:latin typeface="Consolas" panose="020B0609020204030204" pitchFamily="49" charset="0"/>
              </a:rPr>
              <a:t>: read(x)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>
                <a:latin typeface="Consolas" panose="020B0609020204030204" pitchFamily="49" charset="0"/>
              </a:rPr>
              <a:t>: </a:t>
            </a:r>
            <a:r>
              <a:rPr lang="en-US" altLang="zh-CN" sz="1800" err="1">
                <a:latin typeface="Consolas" panose="020B0609020204030204" pitchFamily="49" charset="0"/>
              </a:rPr>
              <a:t>tmp</a:t>
            </a:r>
            <a:r>
              <a:rPr lang="en-US" altLang="zh-CN" sz="1800">
                <a:latin typeface="Consolas" panose="020B0609020204030204" pitchFamily="49" charset="0"/>
              </a:rPr>
              <a:t> = read(y)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9" name="Content Placeholder 5"/>
          <p:cNvSpPr txBox="1"/>
          <p:nvPr/>
        </p:nvSpPr>
        <p:spPr>
          <a:xfrm>
            <a:off x="1403648" y="4561229"/>
            <a:ext cx="2016224" cy="1087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T2.1</a:t>
            </a:r>
            <a:r>
              <a:rPr lang="en-US" altLang="zh-CN" sz="2000">
                <a:latin typeface="Consolas" panose="020B0609020204030204" pitchFamily="49" charset="0"/>
              </a:rPr>
              <a:t> -&gt;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endParaRPr lang="en-US" altLang="zh-CN" sz="200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ontent Placeholder 5"/>
          <p:cNvSpPr txBox="1"/>
          <p:nvPr/>
        </p:nvSpPr>
        <p:spPr>
          <a:xfrm>
            <a:off x="5364088" y="4565612"/>
            <a:ext cx="2267744" cy="1083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2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T1.1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>
                <a:latin typeface="Consolas" panose="020B0609020204030204" pitchFamily="49" charset="0"/>
              </a:rPr>
              <a:t>-&gt;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T2.1</a:t>
            </a:r>
            <a:endParaRPr lang="en-US" altLang="zh-CN" sz="20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T1.2</a:t>
            </a:r>
            <a:endParaRPr lang="en-US" altLang="zh-CN" sz="200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T1.3</a:t>
            </a:r>
            <a:endParaRPr lang="en-US" altLang="zh-CN" sz="2000">
              <a:solidFill>
                <a:schemeClr val="accent2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5364088" y="2569468"/>
            <a:ext cx="2448272" cy="151216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64088" y="2569468"/>
            <a:ext cx="2520280" cy="15841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 txBox="1"/>
          <p:nvPr/>
        </p:nvSpPr>
        <p:spPr>
          <a:xfrm>
            <a:off x="1115616" y="2564202"/>
            <a:ext cx="273630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read(x)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</a:t>
            </a:r>
            <a:r>
              <a:rPr lang="en-US" sz="1800" err="1">
                <a:latin typeface="Consolas" panose="020B0609020204030204" pitchFamily="49" charset="0"/>
              </a:rPr>
              <a:t>tmp</a:t>
            </a:r>
            <a:r>
              <a:rPr lang="en-US" sz="1800">
                <a:latin typeface="Consolas" panose="020B0609020204030204" pitchFamily="49" charset="0"/>
              </a:rPr>
              <a:t> = read(y)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 algn="ctr">
              <a:lnSpc>
                <a:spcPct val="60000"/>
              </a:lnSpc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T2 -&gt; T1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5" name="Content Placeholder 5"/>
          <p:cNvSpPr txBox="1"/>
          <p:nvPr/>
        </p:nvSpPr>
        <p:spPr>
          <a:xfrm>
            <a:off x="5076056" y="2564202"/>
            <a:ext cx="2736304" cy="231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>
                <a:latin typeface="Consolas" panose="020B0609020204030204" pitchFamily="49" charset="0"/>
              </a:rPr>
              <a:t>: read(x)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write(x, 20)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1"/>
                </a:solidFill>
                <a:latin typeface="Consolas" panose="020B0609020204030204" pitchFamily="49" charset="0"/>
              </a:rPr>
              <a:t>T2</a:t>
            </a:r>
            <a:r>
              <a:rPr lang="en-US" sz="1800">
                <a:latin typeface="Consolas" panose="020B0609020204030204" pitchFamily="49" charset="0"/>
              </a:rPr>
              <a:t>: write(</a:t>
            </a:r>
            <a:r>
              <a:rPr lang="en-US" altLang="zh-CN" sz="1800">
                <a:latin typeface="Consolas" panose="020B0609020204030204" pitchFamily="49" charset="0"/>
              </a:rPr>
              <a:t>y, 30)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altLang="zh-CN" sz="1800">
                <a:latin typeface="Consolas" panose="020B0609020204030204" pitchFamily="49" charset="0"/>
              </a:rPr>
              <a:t>: </a:t>
            </a:r>
            <a:r>
              <a:rPr lang="en-US" altLang="zh-CN" sz="1800" err="1">
                <a:latin typeface="Consolas" panose="020B0609020204030204" pitchFamily="49" charset="0"/>
              </a:rPr>
              <a:t>tmp</a:t>
            </a:r>
            <a:r>
              <a:rPr lang="en-US" altLang="zh-CN" sz="1800">
                <a:latin typeface="Consolas" panose="020B0609020204030204" pitchFamily="49" charset="0"/>
              </a:rPr>
              <a:t> = read(y)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>
                <a:solidFill>
                  <a:schemeClr val="accent2"/>
                </a:solidFill>
                <a:latin typeface="Consolas" panose="020B0609020204030204" pitchFamily="49" charset="0"/>
              </a:rPr>
              <a:t>T1</a:t>
            </a:r>
            <a:r>
              <a:rPr lang="en-US" sz="1800">
                <a:latin typeface="Consolas" panose="020B0609020204030204" pitchFamily="49" charset="0"/>
              </a:rPr>
              <a:t>: write(y, tmp+10)</a:t>
            </a:r>
            <a:endParaRPr lang="en-US" sz="18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148064" y="5084481"/>
            <a:ext cx="2592288" cy="581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altLang="zh-CN" sz="2000" b="1">
                <a:latin typeface="+mn-lt"/>
              </a:rPr>
              <a:t>It's final-state serializable,</a:t>
            </a:r>
            <a:endParaRPr lang="en-US" altLang="zh-CN" sz="2000" b="1">
              <a:latin typeface="+mn-lt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zh-CN" sz="2000" b="1">
                <a:latin typeface="+mn-lt"/>
              </a:rPr>
              <a:t>not conflict serializable</a:t>
            </a:r>
            <a:endParaRPr lang="zh-CN" altLang="en-US" sz="2000" b="1" baseline="-25000">
              <a:latin typeface="+mn-lt"/>
            </a:endParaRPr>
          </a:p>
        </p:txBody>
      </p:sp>
      <p:sp>
        <p:nvSpPr>
          <p:cNvPr id="8" name="Content Placeholder 5"/>
          <p:cNvSpPr txBox="1"/>
          <p:nvPr/>
        </p:nvSpPr>
        <p:spPr>
          <a:xfrm>
            <a:off x="4962636" y="4441676"/>
            <a:ext cx="2736304" cy="1296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1800">
                <a:latin typeface="Consolas" panose="020B0609020204030204" pitchFamily="49" charset="0"/>
              </a:rPr>
              <a:t>        </a:t>
            </a:r>
            <a:r>
              <a:rPr lang="en-US" sz="1800" b="1">
                <a:latin typeface="Consolas" panose="020B0609020204030204" pitchFamily="49" charset="0"/>
              </a:rPr>
              <a:t>--&gt;</a:t>
            </a:r>
            <a:endParaRPr lang="en-US" sz="1800" b="1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800" b="1">
                <a:latin typeface="Consolas" panose="020B0609020204030204" pitchFamily="49" charset="0"/>
              </a:rPr>
              <a:t>        &lt;--</a:t>
            </a:r>
            <a:endParaRPr lang="en-US" sz="1800" b="1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00836" y="4515317"/>
            <a:ext cx="13474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>
                <a:latin typeface="Consolas" panose="020B0609020204030204" pitchFamily="49" charset="0"/>
              </a:rPr>
              <a:t>T2     T1</a:t>
            </a:r>
            <a:endParaRPr lang="zh-CN" altLang="en-US"/>
          </a:p>
        </p:txBody>
      </p:sp>
      <p:sp>
        <p:nvSpPr>
          <p:cNvPr id="11" name="Content Placeholder 5"/>
          <p:cNvSpPr txBox="1"/>
          <p:nvPr/>
        </p:nvSpPr>
        <p:spPr>
          <a:xfrm>
            <a:off x="251520" y="409228"/>
            <a:ext cx="2952328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400" b="1">
                <a:latin typeface="等线" panose="02010600030101010101" charset="-122"/>
                <a:ea typeface="MS PGothic" panose="020B0600070205080204" pitchFamily="34" charset="-128"/>
              </a:rPr>
              <a:t>Conflicts</a:t>
            </a:r>
            <a:endParaRPr lang="en-US" sz="20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T2.1</a:t>
            </a:r>
            <a:r>
              <a:rPr lang="en-US" altLang="zh-CN" sz="2000">
                <a:latin typeface="Consolas" panose="020B0609020204030204" pitchFamily="49" charset="0"/>
              </a:rPr>
              <a:t>,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,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T2.2</a:t>
            </a:r>
            <a:r>
              <a:rPr lang="en-US" sz="2000">
                <a:latin typeface="Consolas" panose="020B0609020204030204" pitchFamily="49" charset="0"/>
              </a:rPr>
              <a:t>,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2" name="Content Placeholder 5"/>
          <p:cNvSpPr txBox="1"/>
          <p:nvPr/>
        </p:nvSpPr>
        <p:spPr>
          <a:xfrm>
            <a:off x="2915816" y="409228"/>
            <a:ext cx="6120680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60000"/>
              </a:lnSpc>
              <a:buNone/>
            </a:pPr>
            <a:r>
              <a:rPr lang="en-US" altLang="zh-CN" sz="2400" b="1">
                <a:latin typeface="等线" panose="02010600030101010101" charset="-122"/>
                <a:ea typeface="MS PGothic" panose="020B0600070205080204" pitchFamily="34" charset="-128"/>
              </a:rPr>
              <a:t>Conflict order for sequential schedules</a:t>
            </a:r>
            <a:endParaRPr lang="en-US" sz="2000" b="1">
              <a:latin typeface="等线" panose="02010600030101010101" charset="-122"/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>
                <a:latin typeface="Consolas" panose="020B0609020204030204" pitchFamily="49" charset="0"/>
              </a:rPr>
              <a:t>-&gt;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T2.1        </a:t>
            </a:r>
            <a:r>
              <a:rPr lang="en-US" altLang="zh-CN" sz="2000" err="1">
                <a:solidFill>
                  <a:schemeClr val="accent1"/>
                </a:solidFill>
                <a:latin typeface="Consolas" panose="020B0609020204030204" pitchFamily="49" charset="0"/>
              </a:rPr>
              <a:t>T2.1</a:t>
            </a:r>
            <a:r>
              <a:rPr lang="en-US" altLang="zh-CN" sz="2000">
                <a:latin typeface="Consolas" panose="020B0609020204030204" pitchFamily="49" charset="0"/>
              </a:rPr>
              <a:t> -&gt;</a:t>
            </a:r>
            <a:r>
              <a:rPr lang="en-US" sz="2000"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T1.1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r>
              <a:rPr lang="en-US" sz="2000">
                <a:latin typeface="Consolas" panose="020B0609020204030204" pitchFamily="49" charset="0"/>
              </a:rPr>
              <a:t> -&gt; 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  or   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altLang="zh-CN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T1.2</a:t>
            </a:r>
            <a:endParaRPr lang="en-US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>
                <a:latin typeface="Consolas" panose="020B0609020204030204" pitchFamily="49" charset="0"/>
              </a:rPr>
              <a:t>-&gt;</a:t>
            </a:r>
            <a:r>
              <a:rPr lang="en-US" altLang="zh-CN" sz="2000">
                <a:solidFill>
                  <a:schemeClr val="accent1"/>
                </a:solidFill>
                <a:latin typeface="Consolas" panose="020B0609020204030204" pitchFamily="49" charset="0"/>
              </a:rPr>
              <a:t> T2.2        </a:t>
            </a:r>
            <a:r>
              <a:rPr lang="en-US" altLang="zh-CN" sz="2000" err="1">
                <a:solidFill>
                  <a:schemeClr val="accent1"/>
                </a:solidFill>
                <a:latin typeface="Consolas" panose="020B0609020204030204" pitchFamily="49" charset="0"/>
              </a:rPr>
              <a:t>T2.2</a:t>
            </a:r>
            <a:r>
              <a:rPr lang="en-US" sz="2000">
                <a:latin typeface="Consolas" panose="020B0609020204030204" pitchFamily="49" charset="0"/>
              </a:rPr>
              <a:t> -&gt; </a:t>
            </a:r>
            <a:r>
              <a:rPr lang="en-US" altLang="zh-CN" sz="2000">
                <a:solidFill>
                  <a:schemeClr val="accent2"/>
                </a:solidFill>
                <a:latin typeface="Consolas" panose="020B0609020204030204" pitchFamily="49" charset="0"/>
              </a:rPr>
              <a:t>T1.3</a:t>
            </a:r>
            <a:endParaRPr lang="en-US" altLang="zh-CN" sz="200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000">
                <a:latin typeface="Consolas" panose="020B0609020204030204" pitchFamily="49" charset="0"/>
              </a:rPr>
              <a:t>      (T1 -&gt; T2)          (T2 -&gt; T1)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353444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37714" y="5245880"/>
            <a:ext cx="3097323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ts val="2400"/>
              </a:spcBef>
            </a:pPr>
            <a:r>
              <a:rPr lang="en-US" altLang="zh-CN">
                <a:latin typeface="Consolas" panose="020B0609020204030204" pitchFamily="49" charset="0"/>
              </a:rPr>
              <a:t>Both at end: x=20, y=40</a:t>
            </a:r>
            <a:endParaRPr lang="en-US" altLang="zh-CN">
              <a:latin typeface="Consolas" panose="020B0609020204030204" pitchFamily="49" charset="0"/>
            </a:endParaRPr>
          </a:p>
        </p:txBody>
      </p:sp>
      <p:cxnSp>
        <p:nvCxnSpPr>
          <p:cNvPr id="3" name="直线箭头连接符 2"/>
          <p:cNvCxnSpPr/>
          <p:nvPr/>
        </p:nvCxnSpPr>
        <p:spPr>
          <a:xfrm>
            <a:off x="3563888" y="4297660"/>
            <a:ext cx="0" cy="7868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 flipH="1">
            <a:off x="3707904" y="4297660"/>
            <a:ext cx="1440160" cy="7868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Conflict Equivalence</a:t>
            </a:r>
            <a:endParaRPr lang="zh-CN" altLang="en-US"/>
          </a:p>
        </p:txBody>
      </p:sp>
      <p:pic>
        <p:nvPicPr>
          <p:cNvPr id="5" name="Picture 2" descr="“fish bone”的图片搜索结果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912897"/>
            <a:ext cx="2448272" cy="179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“fish”的图片搜索结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07150"/>
            <a:ext cx="3185912" cy="116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“fish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348527"/>
            <a:ext cx="288455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“fish bone”的图片搜索结果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238" y="2929508"/>
            <a:ext cx="2448272" cy="179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3914363" y="1273324"/>
            <a:ext cx="127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zh-CN" altLang="en-US" sz="88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9904" y="4153644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Conflicts order A</a:t>
            </a:r>
            <a:endParaRPr lang="zh-CN" altLang="en-US" sz="2000" b="1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9904" y="2602267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Schedule A</a:t>
            </a:r>
            <a:endParaRPr lang="zh-CN" altLang="en-US" sz="2000" b="1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26246" y="2602267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Schedule B</a:t>
            </a:r>
            <a:endParaRPr lang="zh-CN" altLang="en-US" sz="2000" b="1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26246" y="4153644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Conflicts order B</a:t>
            </a:r>
            <a:endParaRPr lang="zh-CN" altLang="en-US" sz="2000" b="1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80915" y="4776504"/>
            <a:ext cx="6128528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If conflicts-order-A equals to conflicts-order-B, </a:t>
            </a:r>
            <a:endParaRPr lang="en-US" altLang="zh-CN" sz="200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algn="ctr"/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then schedule-A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conflict-equals</a:t>
            </a:r>
            <a:r>
              <a:rPr lang="en-US" altLang="zh-CN" sz="20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to schedule-B</a:t>
            </a:r>
            <a:endParaRPr lang="zh-CN" altLang="en-US" sz="200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14363" y="3038810"/>
            <a:ext cx="127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zh-CN" altLang="en-US" sz="88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14612" y="1497595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conflict-equal </a:t>
            </a:r>
            <a:endParaRPr lang="zh-CN" alt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188733" y="327342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equal </a:t>
            </a:r>
            <a:endParaRPr lang="zh-CN" alt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3568" y="3073524"/>
            <a:ext cx="94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T1</a:t>
            </a:r>
            <a:r>
              <a:rPr lang="zh-CN" altLang="en-US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" panose="05000000000000000000"/>
              </a:rPr>
              <a:t> </a:t>
            </a:r>
            <a:r>
              <a:rPr lang="en-US" altLang="zh-CN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" panose="05000000000000000000"/>
              </a:rPr>
              <a:t>T2</a:t>
            </a:r>
            <a:endParaRPr lang="zh-CN" altLang="en-US" sz="140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 flipH="1" flipV="1">
            <a:off x="1403648" y="3329491"/>
            <a:ext cx="220614" cy="228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545369" y="3098924"/>
            <a:ext cx="94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T4</a:t>
            </a:r>
            <a:r>
              <a:rPr lang="zh-CN" altLang="en-US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" panose="05000000000000000000"/>
              </a:rPr>
              <a:t> </a:t>
            </a:r>
            <a:r>
              <a:rPr lang="en-US" altLang="zh-CN" sz="140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" panose="05000000000000000000"/>
              </a:rPr>
              <a:t>T3</a:t>
            </a:r>
            <a:endParaRPr lang="zh-CN" altLang="en-US" sz="140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3" name="直线连接符 22"/>
          <p:cNvCxnSpPr>
            <a:endCxn id="22" idx="2"/>
          </p:cNvCxnSpPr>
          <p:nvPr/>
        </p:nvCxnSpPr>
        <p:spPr>
          <a:xfrm flipV="1">
            <a:off x="1735380" y="3406701"/>
            <a:ext cx="280336" cy="133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439603" y="2653086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if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View Serializability</a:t>
            </a:r>
            <a:endParaRPr lang="zh-CN" altLang="en-US"/>
          </a:p>
        </p:txBody>
      </p:sp>
      <p:sp>
        <p:nvSpPr>
          <p:cNvPr id="4" name="Content Placeholder 5"/>
          <p:cNvSpPr txBox="1"/>
          <p:nvPr/>
        </p:nvSpPr>
        <p:spPr>
          <a:xfrm>
            <a:off x="539552" y="1345332"/>
            <a:ext cx="4104456" cy="1944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37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b="0" i="0" kern="1200">
                <a:solidFill>
                  <a:schemeClr val="tx1"/>
                </a:solidFill>
                <a:latin typeface="Myriad Pro Light SemiCond"/>
                <a:ea typeface="楷体" panose="02010609060101010101" charset="-122"/>
                <a:cs typeface="Myriad Pro Light SemiCon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T1        T2        T3</a:t>
            </a:r>
            <a:endParaRPr lang="en-US" altLang="zh-CN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read(x)            </a:t>
            </a:r>
            <a:endParaRPr lang="en-US" altLang="zh-CN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          write(x)</a:t>
            </a:r>
            <a:endParaRPr lang="en-US" altLang="zh-CN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write(x)           </a:t>
            </a:r>
            <a:endParaRPr lang="en-US" altLang="zh-CN" sz="200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                    write(x)</a:t>
            </a:r>
            <a:endParaRPr lang="en-US" altLang="zh-CN" sz="200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72200" y="1921396"/>
            <a:ext cx="13474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>
                <a:latin typeface="Consolas" panose="020B0609020204030204" pitchFamily="49" charset="0"/>
              </a:rPr>
              <a:t>T3</a:t>
            </a:r>
            <a:endParaRPr lang="en-US" altLang="zh-CN" b="1">
              <a:latin typeface="Consolas" panose="020B0609020204030204" pitchFamily="49" charset="0"/>
            </a:endParaRPr>
          </a:p>
          <a:p>
            <a:pPr algn="ctr"/>
            <a:endParaRPr lang="en-US" altLang="zh-CN" b="1">
              <a:latin typeface="Consolas" panose="020B0609020204030204" pitchFamily="49" charset="0"/>
            </a:endParaRPr>
          </a:p>
          <a:p>
            <a:pPr algn="ctr"/>
            <a:endParaRPr lang="en-US" altLang="zh-CN" b="1">
              <a:latin typeface="Consolas" panose="020B0609020204030204" pitchFamily="49" charset="0"/>
            </a:endParaRPr>
          </a:p>
          <a:p>
            <a:pPr algn="ctr"/>
            <a:r>
              <a:rPr lang="en-US" altLang="zh-CN" b="1">
                <a:latin typeface="Consolas" panose="020B0609020204030204" pitchFamily="49" charset="0"/>
              </a:rPr>
              <a:t>T2     T1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67120" y="1477344"/>
            <a:ext cx="1957587" cy="2763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ts val="2400"/>
              </a:spcBef>
            </a:pPr>
            <a:r>
              <a:rPr lang="en-US" altLang="zh-CN" b="1">
                <a:latin typeface="Consolas" panose="020B0609020204030204" pitchFamily="49" charset="0"/>
              </a:rPr>
              <a:t>Conflict graph</a:t>
            </a:r>
            <a:endParaRPr lang="en-US" altLang="zh-CN" b="1">
              <a:latin typeface="Consolas" panose="020B0609020204030204" pitchFamily="49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6588224" y="2281436"/>
            <a:ext cx="360040" cy="504056"/>
          </a:xfrm>
          <a:prstGeom prst="straightConnector1">
            <a:avLst/>
          </a:prstGeom>
          <a:ln w="19050">
            <a:headEnd w="lg" len="lg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7164288" y="2281436"/>
            <a:ext cx="360040" cy="504056"/>
          </a:xfrm>
          <a:prstGeom prst="straightConnector1">
            <a:avLst/>
          </a:prstGeom>
          <a:ln w="19050">
            <a:headEnd w="lg" len="lg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847891" y="2857500"/>
            <a:ext cx="396044" cy="0"/>
          </a:xfrm>
          <a:prstGeom prst="straightConnector1">
            <a:avLst/>
          </a:prstGeom>
          <a:ln w="19050">
            <a:headEnd w="lg" len="lg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6847891" y="3001515"/>
            <a:ext cx="396044" cy="1"/>
          </a:xfrm>
          <a:prstGeom prst="straightConnector1">
            <a:avLst/>
          </a:prstGeom>
          <a:ln w="19050">
            <a:headEnd w="lg" len="lg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/>
          <p:cNvSpPr>
            <a:spLocks noGrp="1"/>
          </p:cNvSpPr>
          <p:nvPr>
            <p:ph idx="1"/>
          </p:nvPr>
        </p:nvSpPr>
        <p:spPr>
          <a:xfrm>
            <a:off x="457200" y="3361556"/>
            <a:ext cx="8435280" cy="2353443"/>
          </a:xfrm>
        </p:spPr>
        <p:txBody>
          <a:bodyPr>
            <a:noAutofit/>
          </a:bodyPr>
          <a:lstStyle/>
          <a:p>
            <a:r>
              <a:rPr lang="en-US" altLang="zh-CN"/>
              <a:t>Cyclic -&gt; Not </a:t>
            </a:r>
            <a:r>
              <a:rPr lang="en-US" altLang="zh-CN" b="1">
                <a:solidFill>
                  <a:srgbClr val="C00000"/>
                </a:solidFill>
              </a:rPr>
              <a:t>conflict serializable</a:t>
            </a:r>
            <a:endParaRPr lang="en-US" altLang="zh-CN" b="1">
              <a:solidFill>
                <a:srgbClr val="C00000"/>
              </a:solidFill>
            </a:endParaRPr>
          </a:p>
          <a:p>
            <a:r>
              <a:rPr lang="en-US" altLang="zh-CN"/>
              <a:t>But compare it to running </a:t>
            </a:r>
            <a:r>
              <a:rPr lang="en-US" altLang="zh-CN" b="1">
                <a:solidFill>
                  <a:schemeClr val="accent1"/>
                </a:solidFill>
              </a:rPr>
              <a:t>T1 then T2 then T3 </a:t>
            </a:r>
            <a:r>
              <a:rPr lang="en-US" altLang="zh-CN"/>
              <a:t>(serially)</a:t>
            </a:r>
            <a:endParaRPr lang="en-US" altLang="zh-CN"/>
          </a:p>
          <a:p>
            <a:pPr lvl="1"/>
            <a:r>
              <a:rPr lang="en-US" altLang="zh-CN"/>
              <a:t>Final-state is fine</a:t>
            </a:r>
            <a:endParaRPr lang="en-US" altLang="zh-CN"/>
          </a:p>
          <a:p>
            <a:pPr lvl="1"/>
            <a:r>
              <a:rPr lang="en-US" altLang="zh-CN"/>
              <a:t>Intermediate reads are fine</a:t>
            </a:r>
            <a:endParaRPr lang="en-US" altLang="zh-CN"/>
          </a:p>
          <a:p>
            <a:r>
              <a:rPr lang="en-US" altLang="zh-CN" b="1"/>
              <a:t>Question</a:t>
            </a:r>
            <a:r>
              <a:rPr lang="en-US" altLang="zh-CN"/>
              <a:t>: why shouldn't we allow this schedule?</a:t>
            </a:r>
            <a:endParaRPr lang="zh-CN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View Serializability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507288" cy="4471925"/>
          </a:xfrm>
        </p:spPr>
        <p:txBody>
          <a:bodyPr/>
          <a:lstStyle/>
          <a:p>
            <a:r>
              <a:rPr lang="en-US" altLang="zh-CN" sz="2000" dirty="0"/>
              <a:t>Informal definition</a:t>
            </a:r>
            <a:endParaRPr lang="en-US" altLang="zh-CN" sz="2000" dirty="0"/>
          </a:p>
          <a:p>
            <a:pPr lvl="1"/>
            <a:r>
              <a:rPr lang="en-US" altLang="zh-CN" i="1" dirty="0">
                <a:solidFill>
                  <a:schemeClr val="tx1"/>
                </a:solidFill>
              </a:rPr>
              <a:t>A schedule is view serializable if the final written state as well as intermediate reads are the same as in some serial schedule</a:t>
            </a:r>
            <a:endParaRPr lang="en-US" altLang="zh-CN" i="1" dirty="0">
              <a:solidFill>
                <a:schemeClr val="tx1"/>
              </a:solidFill>
            </a:endParaRPr>
          </a:p>
          <a:p>
            <a:r>
              <a:rPr lang="en-US" altLang="zh-CN" dirty="0"/>
              <a:t>Formally, for those interested</a:t>
            </a:r>
            <a:endParaRPr lang="en-US" altLang="zh-CN" dirty="0"/>
          </a:p>
          <a:p>
            <a:pPr lvl="1"/>
            <a:r>
              <a:rPr lang="en-US" altLang="zh-CN" dirty="0"/>
              <a:t>Two schedules </a:t>
            </a:r>
            <a:r>
              <a:rPr lang="en-US" altLang="zh-CN" b="1" dirty="0"/>
              <a:t>S</a:t>
            </a:r>
            <a:r>
              <a:rPr lang="en-US" altLang="zh-CN" dirty="0"/>
              <a:t> and </a:t>
            </a:r>
            <a:r>
              <a:rPr lang="en-US" altLang="zh-CN" b="1" dirty="0"/>
              <a:t>S'</a:t>
            </a:r>
            <a:r>
              <a:rPr lang="en-US" altLang="zh-CN" dirty="0"/>
              <a:t> are </a:t>
            </a:r>
            <a:r>
              <a:rPr lang="en-US" altLang="zh-CN" b="1" dirty="0">
                <a:solidFill>
                  <a:srgbClr val="BE384B"/>
                </a:solidFill>
              </a:rPr>
              <a:t>view equivalent </a:t>
            </a:r>
            <a:r>
              <a:rPr lang="en-US" altLang="zh-CN" dirty="0"/>
              <a:t>if:</a:t>
            </a:r>
            <a:endParaRPr lang="en-US" altLang="zh-CN" dirty="0"/>
          </a:p>
          <a:p>
            <a:pPr lvl="2"/>
            <a:r>
              <a:rPr kumimoji="1" lang="en-GB" altLang="zh-CN" dirty="0"/>
              <a:t>If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in S reads an initial value for X, so does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in S'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If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in S reads the value written by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j</a:t>
            </a:r>
            <a:r>
              <a:rPr kumimoji="1" lang="en-GB" altLang="zh-CN" dirty="0"/>
              <a:t> in S for some X, so does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in S'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If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in S does the final write to X, so does </a:t>
            </a:r>
            <a:r>
              <a:rPr kumimoji="1" lang="en-GB" altLang="zh-CN" dirty="0" err="1"/>
              <a:t>T</a:t>
            </a:r>
            <a:r>
              <a:rPr kumimoji="1" lang="en-GB" altLang="zh-CN" baseline="-25000" dirty="0" err="1"/>
              <a:t>i</a:t>
            </a:r>
            <a:r>
              <a:rPr kumimoji="1" lang="en-GB" altLang="zh-CN" dirty="0"/>
              <a:t> in S'</a:t>
            </a:r>
            <a:endParaRPr kumimoji="1" lang="en-GB" altLang="zh-CN" dirty="0"/>
          </a:p>
          <a:p>
            <a:pPr marL="74295" lvl="1" indent="0">
              <a:buNone/>
            </a:pPr>
            <a:r>
              <a:rPr lang="en-US" altLang="zh-CN" dirty="0"/>
              <a:t>A schedule is </a:t>
            </a:r>
            <a:r>
              <a:rPr lang="en-US" altLang="zh-CN" b="1" dirty="0"/>
              <a:t>view serializable </a:t>
            </a:r>
            <a:r>
              <a:rPr lang="en-US" altLang="zh-CN" dirty="0"/>
              <a:t>if it is </a:t>
            </a:r>
            <a:r>
              <a:rPr lang="en-US" altLang="zh-CN" b="1" dirty="0">
                <a:solidFill>
                  <a:srgbClr val="BE384B"/>
                </a:solidFill>
              </a:rPr>
              <a:t>view equivalent</a:t>
            </a:r>
            <a:r>
              <a:rPr lang="en-US" altLang="zh-CN" dirty="0">
                <a:solidFill>
                  <a:srgbClr val="BE384B"/>
                </a:solidFill>
              </a:rPr>
              <a:t> </a:t>
            </a:r>
            <a:r>
              <a:rPr lang="en-US" altLang="zh-CN" dirty="0"/>
              <a:t>to some serial schedule</a:t>
            </a:r>
            <a:endParaRPr lang="en-US" altLang="zh-CN" dirty="0"/>
          </a:p>
          <a:p>
            <a:pPr marL="74295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Question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587182"/>
          </a:xfrm>
        </p:spPr>
        <p:txBody>
          <a:bodyPr/>
          <a:lstStyle/>
          <a:p>
            <a:r>
              <a:rPr kumimoji="1" lang="en-GB" altLang="zh-CN" dirty="0"/>
              <a:t>Why conflict serializability when it seems </a:t>
            </a:r>
            <a:r>
              <a:rPr kumimoji="1" lang="en-GB" altLang="zh-CN" dirty="0">
                <a:solidFill>
                  <a:srgbClr val="BE384B"/>
                </a:solidFill>
              </a:rPr>
              <a:t>too strict</a:t>
            </a:r>
            <a:r>
              <a:rPr kumimoji="1" lang="en-GB" altLang="zh-CN" dirty="0"/>
              <a:t>?</a:t>
            </a:r>
            <a:endParaRPr kumimoji="1" lang="en-GB" altLang="zh-CN" dirty="0"/>
          </a:p>
          <a:p>
            <a:r>
              <a:rPr kumimoji="1" lang="en-GB" altLang="zh-CN" dirty="0"/>
              <a:t>Why not focus on view serializability?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19872" y="2425452"/>
            <a:ext cx="252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BE384B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View</a:t>
            </a:r>
            <a:endParaRPr lang="en-US" altLang="zh-CN" sz="2000" b="1">
              <a:solidFill>
                <a:srgbClr val="BE384B"/>
              </a:solidFill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  <a:p>
            <a:r>
              <a:rPr lang="en-US" altLang="zh-CN" sz="2000" b="1">
                <a:solidFill>
                  <a:srgbClr val="BE384B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Serializability</a:t>
            </a:r>
            <a:endParaRPr lang="zh-CN" altLang="en-US" sz="2000" b="1">
              <a:solidFill>
                <a:srgbClr val="BE384B"/>
              </a:solidFill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4277" y="2425452"/>
            <a:ext cx="252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BE384B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Final-state Serializability</a:t>
            </a:r>
            <a:endParaRPr lang="zh-CN" altLang="en-US" sz="2000" b="1">
              <a:solidFill>
                <a:srgbClr val="BE384B"/>
              </a:solidFill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0152" y="2425452"/>
            <a:ext cx="252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BE384B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Conflict</a:t>
            </a:r>
            <a:endParaRPr lang="en-US" altLang="zh-CN" sz="2000" b="1">
              <a:solidFill>
                <a:srgbClr val="BE384B"/>
              </a:solidFill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  <a:p>
            <a:r>
              <a:rPr lang="en-US" altLang="zh-CN" sz="2000" b="1">
                <a:solidFill>
                  <a:srgbClr val="BE384B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Serializability</a:t>
            </a:r>
            <a:endParaRPr lang="zh-CN" altLang="en-US" sz="2000" b="1">
              <a:solidFill>
                <a:srgbClr val="BE384B"/>
              </a:solidFill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4277" y="3256449"/>
            <a:ext cx="2123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Care the final state</a:t>
            </a:r>
            <a:r>
              <a:rPr lang="zh-CN" altLang="en-US" sz="20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only</a:t>
            </a:r>
            <a:endParaRPr lang="zh-CN" altLang="en-US" sz="20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84557" y="3256449"/>
            <a:ext cx="21955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Care the final state as well as intermediate read</a:t>
            </a:r>
            <a:endParaRPr lang="zh-CN" altLang="en-US" sz="20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63489" y="3256449"/>
            <a:ext cx="22809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Care the final state as well as all the </a:t>
            </a:r>
            <a:r>
              <a:rPr lang="en-US" altLang="zh-CN" sz="2000" b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data dependency</a:t>
            </a:r>
            <a:endParaRPr lang="zh-CN" altLang="en-US" sz="2000" b="1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15816" y="2595606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BE3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⊃</a:t>
            </a:r>
            <a:endParaRPr lang="zh-CN" altLang="en-US" sz="3200">
              <a:solidFill>
                <a:srgbClr val="BE38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02905" y="2595606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BE3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⊃</a:t>
            </a:r>
            <a:endParaRPr lang="zh-CN" altLang="en-US" sz="3200">
              <a:solidFill>
                <a:srgbClr val="BE38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Conflict Serializability VS. View Serializability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/>
              <a:t>Conflict serializability is easy to test </a:t>
            </a:r>
            <a:r>
              <a:rPr kumimoji="1" lang="en-GB" altLang="zh-CN"/>
              <a:t>(&amp; enforce) </a:t>
            </a:r>
            <a:endParaRPr kumimoji="1" lang="en-GB" altLang="zh-CN"/>
          </a:p>
          <a:p>
            <a:pPr lvl="1"/>
            <a:r>
              <a:rPr kumimoji="1" lang="en-GB" altLang="zh-CN" dirty="0"/>
              <a:t>i.e., check whether a graph is acyclic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View serializability is hard to test (likely NP-hard)</a:t>
            </a:r>
            <a:endParaRPr kumimoji="1" lang="en-GB" altLang="zh-CN" dirty="0"/>
          </a:p>
          <a:p>
            <a:r>
              <a:rPr kumimoji="1" lang="en-GB" altLang="zh-CN" dirty="0"/>
              <a:t>Conflict serializable schedules are easy to generate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Using concurrency control protocols. E.g., 2PL (</a:t>
            </a:r>
            <a:r>
              <a:rPr kumimoji="1" lang="en-GB" altLang="zh-CN" b="1" dirty="0">
                <a:solidFill>
                  <a:srgbClr val="BE384B"/>
                </a:solidFill>
              </a:rPr>
              <a:t>two-phase-locking</a:t>
            </a:r>
            <a:r>
              <a:rPr kumimoji="1" lang="en-GB" altLang="zh-CN" dirty="0"/>
              <a:t>)</a:t>
            </a:r>
            <a:endParaRPr kumimoji="1" lang="en-GB" altLang="zh-CN" dirty="0"/>
          </a:p>
          <a:p>
            <a:r>
              <a:rPr kumimoji="1" lang="en-GB" altLang="zh-CN" dirty="0"/>
              <a:t>Conflict serializable schedules are also view serializable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No easy way to generate view schedules that allows for ones like the previous example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538320" cy="900442"/>
          </a:xfrm>
        </p:spPr>
        <p:txBody>
          <a:bodyPr/>
          <a:lstStyle/>
          <a:p>
            <a:r>
              <a:rPr kumimoji="1" lang="en-US" altLang="zh-CN" b="0" dirty="0"/>
              <a:t>Use locking to achieve before-or-after: </a:t>
            </a:r>
            <a:r>
              <a:rPr kumimoji="1" lang="en-US" altLang="zh-CN" dirty="0"/>
              <a:t>2PL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2PL can guarantee before or after atomicity </a:t>
            </a:r>
            <a:endParaRPr kumimoji="1" lang="en-US" altLang="zh-CN" dirty="0"/>
          </a:p>
          <a:p>
            <a:pPr lvl="1"/>
            <a:r>
              <a:rPr lang="en-US" altLang="zh-CN" dirty="0"/>
              <a:t>Run actions T1, T2, .., TN concurrently, and have it "</a:t>
            </a:r>
            <a:r>
              <a:rPr lang="en-US" altLang="zh-CN" dirty="0">
                <a:solidFill>
                  <a:srgbClr val="BE384B"/>
                </a:solidFill>
              </a:rPr>
              <a:t>appears</a:t>
            </a:r>
            <a:r>
              <a:rPr lang="en-US" altLang="zh-CN" dirty="0"/>
              <a:t>" as if they ran sequentially</a:t>
            </a:r>
            <a:endParaRPr lang="en-US" altLang="zh-CN" dirty="0"/>
          </a:p>
          <a:p>
            <a:r>
              <a:rPr kumimoji="1" lang="en-US" altLang="zh-CN" dirty="0"/>
              <a:t>2PL locking rule: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action must acquire the shared data’s lock before access it and release it until the action finishes</a:t>
            </a:r>
            <a:endParaRPr lang="en-US" altLang="zh-CN" dirty="0"/>
          </a:p>
          <a:p>
            <a:r>
              <a:rPr kumimoji="1" lang="en-US" altLang="zh-CN" b="1" dirty="0">
                <a:solidFill>
                  <a:schemeClr val="tx1"/>
                </a:solidFill>
              </a:rPr>
              <a:t>Question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Which serializability does 2PL guarantee?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Conflict serializability!</a:t>
            </a:r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b="1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Proof of 2PL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65830" y="613218"/>
            <a:ext cx="4320970" cy="95410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</a:rPr>
              <a:t>T1 and T2 conflict on x1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T2 and T3 conflict on x2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...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 err="1">
                <a:latin typeface="Consolas" panose="020B0609020204030204" pitchFamily="49" charset="0"/>
              </a:rPr>
              <a:t>Tk</a:t>
            </a:r>
            <a:r>
              <a:rPr lang="en-US" altLang="zh-CN" sz="1400">
                <a:latin typeface="Consolas" panose="020B0609020204030204" pitchFamily="49" charset="0"/>
              </a:rPr>
              <a:t> and T1 conflict on </a:t>
            </a:r>
            <a:r>
              <a:rPr lang="en-US" altLang="zh-CN" sz="1400" err="1">
                <a:latin typeface="Consolas" panose="020B0609020204030204" pitchFamily="49" charset="0"/>
              </a:rPr>
              <a:t>x_k</a:t>
            </a:r>
            <a:endParaRPr lang="en-US" altLang="zh-CN" sz="140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65830" y="2000950"/>
            <a:ext cx="4320970" cy="1384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</a:rPr>
              <a:t>T1 acquires x1.lock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T2 acquires x1.lock and x2.lock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T3 acquires x2.lock and x3.lock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...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 err="1">
                <a:latin typeface="Consolas" panose="020B0609020204030204" pitchFamily="49" charset="0"/>
              </a:rPr>
              <a:t>Tk</a:t>
            </a:r>
            <a:r>
              <a:rPr lang="en-US" altLang="zh-CN" sz="1400">
                <a:latin typeface="Consolas" panose="020B0609020204030204" pitchFamily="49" charset="0"/>
              </a:rPr>
              <a:t> acquires x_{k-1}.lock and </a:t>
            </a:r>
            <a:r>
              <a:rPr lang="en-US" altLang="zh-CN" sz="1400" err="1">
                <a:latin typeface="Consolas" panose="020B0609020204030204" pitchFamily="49" charset="0"/>
              </a:rPr>
              <a:t>x_k.lock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T1 acquires </a:t>
            </a:r>
            <a:r>
              <a:rPr lang="en-US" altLang="zh-CN" sz="1400" err="1">
                <a:latin typeface="Consolas" panose="020B0609020204030204" pitchFamily="49" charset="0"/>
              </a:rPr>
              <a:t>x_k.lock</a:t>
            </a:r>
            <a:endParaRPr lang="en-US" altLang="zh-CN" sz="140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71637" y="3952136"/>
            <a:ext cx="4320480" cy="1384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</a:rPr>
              <a:t>T1 acquires x1.lock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Consolas" panose="020B0609020204030204" pitchFamily="49" charset="0"/>
              </a:rPr>
              <a:t>T1 releases x1.lock</a:t>
            </a:r>
            <a:endParaRPr lang="en-US" altLang="zh-CN" sz="14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T2 acquires x1.lock and x2.lock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...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 err="1">
                <a:latin typeface="Consolas" panose="020B0609020204030204" pitchFamily="49" charset="0"/>
              </a:rPr>
              <a:t>Tk</a:t>
            </a:r>
            <a:r>
              <a:rPr lang="en-US" altLang="zh-CN" sz="1400">
                <a:latin typeface="Consolas" panose="020B0609020204030204" pitchFamily="49" charset="0"/>
              </a:rPr>
              <a:t> acquires x_{k-1}.lock and </a:t>
            </a:r>
            <a:r>
              <a:rPr lang="en-US" altLang="zh-CN" sz="1400" err="1">
                <a:latin typeface="Consolas" panose="020B0609020204030204" pitchFamily="49" charset="0"/>
              </a:rPr>
              <a:t>x_k.lock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T1 acquires </a:t>
            </a:r>
            <a:r>
              <a:rPr lang="en-US" altLang="zh-CN" sz="1400" err="1">
                <a:latin typeface="Consolas" panose="020B0609020204030204" pitchFamily="49" charset="0"/>
              </a:rPr>
              <a:t>x_k.lock</a:t>
            </a:r>
            <a:endParaRPr lang="en-US" altLang="zh-CN" sz="140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2380" y="3952136"/>
            <a:ext cx="3135524" cy="1384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</a:rPr>
              <a:t>T1 acquires x1.lock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Consolas" panose="020B0609020204030204" pitchFamily="49" charset="0"/>
              </a:rPr>
              <a:t>T1 releases x1.lock</a:t>
            </a:r>
            <a:endParaRPr lang="en-US" altLang="zh-CN" sz="14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...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...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...</a:t>
            </a:r>
            <a:endParaRPr lang="en-US" altLang="zh-CN" sz="1400">
              <a:latin typeface="Consolas" panose="020B0609020204030204" pitchFamily="49" charset="0"/>
            </a:endParaRPr>
          </a:p>
          <a:p>
            <a:r>
              <a:rPr lang="en-US" altLang="zh-CN" sz="1400">
                <a:latin typeface="Consolas" panose="020B0609020204030204" pitchFamily="49" charset="0"/>
              </a:rPr>
              <a:t>T1 acquires </a:t>
            </a:r>
            <a:r>
              <a:rPr lang="en-US" altLang="zh-CN" sz="1400" err="1">
                <a:latin typeface="Consolas" panose="020B0609020204030204" pitchFamily="49" charset="0"/>
              </a:rPr>
              <a:t>x_k.lock</a:t>
            </a:r>
            <a:endParaRPr lang="en-US" altLang="zh-CN" sz="140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4167" y="1090271"/>
            <a:ext cx="3583777" cy="275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Suppose 2PL</a:t>
            </a:r>
            <a:r>
              <a:rPr lang="zh-CN" altLang="en-US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does</a:t>
            </a:r>
            <a:r>
              <a:rPr lang="zh-CN" altLang="en-US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not</a:t>
            </a:r>
            <a:r>
              <a:rPr lang="zh-CN" altLang="en-US" sz="160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generate</a:t>
            </a:r>
            <a:r>
              <a:rPr lang="zh-CN" altLang="en-US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conflict</a:t>
            </a:r>
            <a:r>
              <a:rPr lang="zh-CN" altLang="en-US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serializable</a:t>
            </a:r>
            <a:r>
              <a:rPr lang="zh-CN" altLang="en-US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schedule</a:t>
            </a:r>
            <a:endParaRPr lang="en-US" altLang="zh-CN" sz="16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Suppose the conflict graph produced by an execution of 2PL has a cycle, which without loss of generality, is:</a:t>
            </a:r>
            <a:endParaRPr lang="en-US" altLang="zh-CN" sz="16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altLang="zh-CN" sz="1400" b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T1 --&gt; T2 --&gt; ... --&gt; </a:t>
            </a:r>
            <a:r>
              <a:rPr lang="en-US" altLang="zh-CN" sz="1400" b="1" err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Tk</a:t>
            </a:r>
            <a:r>
              <a:rPr lang="en-US" altLang="zh-CN" sz="1400" b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--&gt; T1</a:t>
            </a:r>
            <a:endParaRPr lang="en-US" altLang="zh-CN" sz="11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Let the shared variable (the one that causes the conflict) between </a:t>
            </a:r>
            <a:r>
              <a:rPr lang="en-US" altLang="zh-CN" sz="1600" b="1" err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T_i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 and </a:t>
            </a:r>
            <a:r>
              <a:rPr lang="en-US" altLang="zh-CN" sz="1600" b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T_{i+1} 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be represented by </a:t>
            </a:r>
            <a:r>
              <a:rPr lang="en-US" altLang="zh-CN" sz="1600" b="1" err="1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x_i</a:t>
            </a:r>
            <a:r>
              <a:rPr lang="en-US" altLang="zh-CN" sz="1600">
                <a:latin typeface="Arial" panose="020B0604020202020204" pitchFamily="34" charset="0"/>
                <a:ea typeface="楷体" panose="02010609060101010101" charset="-122"/>
                <a:cs typeface="Arial" panose="020B0604020202020204" pitchFamily="34" charset="0"/>
              </a:rPr>
              <a:t>.</a:t>
            </a:r>
            <a:endParaRPr lang="en-US" altLang="zh-CN" sz="16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endParaRPr lang="en-US" altLang="zh-CN" sz="1100">
              <a:latin typeface="Arial" panose="020B0604020202020204" pitchFamily="34" charset="0"/>
              <a:ea typeface="楷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6166275" y="1690436"/>
            <a:ext cx="360040" cy="31051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6166275" y="3586344"/>
            <a:ext cx="360040" cy="31051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 rot="5400000">
            <a:off x="3745906" y="4469472"/>
            <a:ext cx="360040" cy="31051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爆炸形 1 11"/>
          <p:cNvSpPr/>
          <p:nvPr/>
        </p:nvSpPr>
        <p:spPr>
          <a:xfrm>
            <a:off x="2942284" y="3930833"/>
            <a:ext cx="802432" cy="604810"/>
          </a:xfrm>
          <a:prstGeom prst="irregularSeal1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218647" y="3640296"/>
            <a:ext cx="1816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等线" panose="02010600030101010101" charset="-122"/>
                <a:ea typeface="楷体" panose="02010609060101010101" charset="-122"/>
                <a:cs typeface="Myriad Pro Light SemiCond"/>
              </a:rPr>
              <a:t>T1 violates 2PL!</a:t>
            </a:r>
            <a:endParaRPr lang="zh-CN" altLang="en-US" b="1">
              <a:solidFill>
                <a:srgbClr val="C00000"/>
              </a:solidFill>
              <a:latin typeface="等线" panose="02010600030101010101" charset="-122"/>
              <a:ea typeface="楷体" panose="02010609060101010101" charset="-122"/>
              <a:cs typeface="Myriad Pro Light SemiC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BE384B"/>
                </a:solidFill>
                <a:ea typeface="+mn-ea"/>
              </a:rPr>
              <a:t>Serializability simplifies enforcing concurrent correctness / data consistency</a:t>
            </a:r>
            <a:endParaRPr kumimoji="0" lang="en-US" altLang="zh-CN" kern="0" dirty="0">
              <a:solidFill>
                <a:srgbClr val="BE384B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Correctness (app-semantic consistency)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/>
          <a:lstStyle/>
          <a:p>
            <a:r>
              <a:rPr lang="en-US" altLang="zh-CN" dirty="0"/>
              <a:t>Correctness is hard for computer system to enforce</a:t>
            </a:r>
            <a:endParaRPr lang="en-US" altLang="zh-CN" dirty="0"/>
          </a:p>
          <a:p>
            <a:pPr lvl="1"/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level,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developer can write a buggy program, even no concurrency (single-threaded)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To ensure concurrent correctness, we need assumptions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The single-threaded implementation of actions must be correct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2840" y="2870274"/>
            <a:ext cx="354908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Transfer(bank, a, b,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bank[b] +=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bank[a] -=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16016" y="2870274"/>
            <a:ext cx="3549080" cy="923330"/>
          </a:xfrm>
          <a:prstGeom prst="rect">
            <a:avLst/>
          </a:prstGeom>
          <a:ln w="381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Transfer(bank, a, b, amt):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bank[b] += </a:t>
            </a:r>
            <a:r>
              <a:rPr lang="is-IS" altLang="zh-CN" b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amt * 2</a:t>
            </a:r>
            <a:endParaRPr lang="is-IS" altLang="zh-CN" b="1" dirty="0">
              <a:solidFill>
                <a:srgbClr val="C00000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  <a:p>
            <a:r>
              <a:rPr lang="is-IS" altLang="zh-CN" dirty="0">
                <a:solidFill>
                  <a:prstClr val="black"/>
                </a:solidFill>
                <a:latin typeface="Consolas" panose="020B0609020204030204" pitchFamily="49" charset="0"/>
                <a:ea typeface="楷体" panose="02010609060101010101" charset="-122"/>
                <a:cs typeface="Courier"/>
              </a:rPr>
              <a:t>    bank[a] -= amt</a:t>
            </a:r>
            <a:endParaRPr lang="is-IS" altLang="zh-CN" dirty="0">
              <a:solidFill>
                <a:prstClr val="black"/>
              </a:solidFill>
              <a:latin typeface="Consolas" panose="020B0609020204030204" pitchFamily="49" charset="0"/>
              <a:ea typeface="楷体" panose="02010609060101010101" charset="-122"/>
              <a:cs typeface="Courier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467912" y="2611859"/>
            <a:ext cx="2170576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Buggy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Correctness and serializability 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2840" y="1129308"/>
                <a:ext cx="8229600" cy="4167654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dirty="0"/>
                  <a:t>Assumption: programmers are pro at writing </a:t>
                </a:r>
                <a:r>
                  <a:rPr kumimoji="1" lang="en-US" altLang="zh-CN" u="sng" dirty="0"/>
                  <a:t>single-thread</a:t>
                </a:r>
                <a:r>
                  <a:rPr kumimoji="1" lang="en-US" altLang="zh-CN" dirty="0"/>
                  <a:t> programs</a:t>
                </a:r>
                <a:endParaRPr kumimoji="1"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kumimoji="1" lang="en-US" altLang="zh-CN" dirty="0"/>
                  <a:t>Specially, 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kumimoji="1" lang="en-US" altLang="zh-CN" i="1" baseline="-25000">
                        <a:latin typeface="Cambria Math" panose="02040503050406030204" pitchFamily="18" charset="0"/>
                      </a:rPr>
                      <m:t>tx</m:t>
                    </m:r>
                    <m:r>
                      <a:rPr kumimoji="1" lang="en-US" altLang="zh-CN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𝐶𝑖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𝑡𝑥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𝐶𝑗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en-US" altLang="zh-CN" dirty="0"/>
                  <a:t>in a single-thread context,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𝑡𝑥</m:t>
                    </m:r>
                    <m:r>
                      <a:rPr kumimoji="1"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can move data from a consistent state</a:t>
                </a:r>
                <a:r>
                  <a:rPr kumimoji="1" lang="zh-CN" altLang="en-US" dirty="0"/>
                  <a:t>（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kumimoji="1" lang="en-US" altLang="zh-CN" i="1" baseline="-25000">
                        <a:latin typeface="Cambria Math" panose="02040503050406030204" pitchFamily="18" charset="0"/>
                      </a:rPr>
                      <m:t>i</m:t>
                    </m:r>
                    <m:r>
                      <a:rPr kumimoji="1" lang="en-US" altLang="zh-CN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/>
                  <a:t>）</a:t>
                </a:r>
                <a:r>
                  <a:rPr kumimoji="1" lang="en-US" altLang="zh-CN" dirty="0"/>
                  <a:t>to another consistent state</a:t>
                </a:r>
                <a:r>
                  <a:rPr kumimoji="1" lang="zh-CN" altLang="en-US" dirty="0"/>
                  <a:t>（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i="1">
                        <a:latin typeface="Cambria Math" panose="02040503050406030204" pitchFamily="18" charset="0"/>
                      </a:rPr>
                      <m:t>C</m:t>
                    </m:r>
                    <m:r>
                      <a:rPr kumimoji="1" lang="en-US" altLang="zh-CN" i="1" baseline="-2500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/>
                  <a:t>）</a:t>
                </a:r>
                <a:endParaRPr kumimoji="1" lang="en-US" altLang="zh-CN" dirty="0"/>
              </a:p>
              <a:p>
                <a:r>
                  <a:rPr kumimoji="1" lang="en-US" altLang="zh-CN" dirty="0"/>
                  <a:t>Then, if the execution of actions guarantee serializability, then the final state of concurrent execution is consistent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i.e., the concurrent execution can reduce to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CN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𝑡𝑥</m:t>
                    </m:r>
                    <m:r>
                      <a:rPr kumimoji="1" lang="en-US" altLang="zh-CN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𝑡𝑥</m:t>
                    </m:r>
                    <m:r>
                      <a:rPr kumimoji="1" lang="en-US" altLang="zh-CN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 → …  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𝐶𝑛</m:t>
                    </m:r>
                    <m:r>
                      <a:rPr kumimoji="1" lang="zh-CN" altLang="en-US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 If C0 is consistent, then Cn must be consistent </a:t>
                </a:r>
                <a:endParaRPr kumimoji="1" lang="zh-CN" altLang="en-US" dirty="0"/>
              </a:p>
              <a:p>
                <a:endParaRPr kumimoji="1" lang="zh-CN" altLang="en-US" dirty="0"/>
              </a:p>
              <a:p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840" y="1129308"/>
                <a:ext cx="8229600" cy="4167654"/>
              </a:xfrm>
              <a:blipFill rotWithShape="1">
                <a:blip r:embed="rId1"/>
                <a:stretch>
                  <a:fillRect l="-7" t="-7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BE384B"/>
                </a:solidFill>
                <a:ea typeface="+mn-ea"/>
              </a:rPr>
              <a:t>The deadlock issues of 2PL</a:t>
            </a:r>
            <a:endParaRPr lang="en-US" altLang="zh-CN" kern="0" dirty="0">
              <a:solidFill>
                <a:srgbClr val="BE384B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Deadlock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Two-phase lock is </a:t>
            </a:r>
            <a:r>
              <a:rPr kumimoji="1" lang="en-US" altLang="zh-CN" dirty="0">
                <a:ea typeface="MS PGothic" panose="020B0600070205080204" pitchFamily="34" charset="-128"/>
              </a:rPr>
              <a:t>p</a:t>
            </a:r>
            <a:r>
              <a:rPr lang="en-US" altLang="zh-CN" dirty="0">
                <a:ea typeface="MS PGothic" panose="020B0600070205080204" pitchFamily="34" charset="-128"/>
              </a:rPr>
              <a:t>essimistic:</a:t>
            </a:r>
            <a:endParaRPr lang="en-US" altLang="zh-CN" dirty="0">
              <a:ea typeface="MS PGothic" panose="020B0600070205080204" pitchFamily="34" charset="-128"/>
            </a:endParaRPr>
          </a:p>
          <a:p>
            <a:pPr lvl="1"/>
            <a:r>
              <a:rPr kumimoji="1" lang="en-US" altLang="zh-CN" dirty="0">
                <a:ea typeface="MS PGothic" panose="020B0600070205080204" pitchFamily="34" charset="-128"/>
              </a:rPr>
              <a:t>Before proceed, each TX must wait for conflicting TX to release the lock</a:t>
            </a:r>
            <a:endParaRPr kumimoji="1" lang="en-US" altLang="zh-CN" dirty="0">
              <a:ea typeface="MS PGothic" panose="020B0600070205080204" pitchFamily="34" charset="-128"/>
            </a:endParaRPr>
          </a:p>
          <a:p>
            <a:pPr lvl="1"/>
            <a:r>
              <a:rPr kumimoji="1" lang="en-US" altLang="zh-CN" dirty="0">
                <a:ea typeface="MS PGothic" panose="020B0600070205080204" pitchFamily="34" charset="-128"/>
              </a:rPr>
              <a:t>What can happen if two TX are waiting for each other? 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Deadlock: what if Thread 1 first acquires lock[a]?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" name="表格 29"/>
          <p:cNvGraphicFramePr>
            <a:graphicFrameLocks noGrp="1"/>
          </p:cNvGraphicFramePr>
          <p:nvPr/>
        </p:nvGraphicFramePr>
        <p:xfrm>
          <a:off x="683894" y="1069901"/>
          <a:ext cx="8460425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Write(b) = 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 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Write(a) = 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Read(b) = 20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Read(a) = 0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Release(lock[a])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+mj-lt"/>
                        </a:rPr>
                        <a:t>20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Deadlock: what if Thread 1 first acquires lock[a]?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" name="表格 29"/>
          <p:cNvGraphicFramePr>
            <a:graphicFrameLocks noGrp="1"/>
          </p:cNvGraphicFramePr>
          <p:nvPr/>
        </p:nvGraphicFramePr>
        <p:xfrm>
          <a:off x="683894" y="1069901"/>
          <a:ext cx="8460425" cy="3962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Deadlock: what if Thread 1 first acquires lock[a]?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" name="表格 29"/>
          <p:cNvGraphicFramePr>
            <a:graphicFrameLocks noGrp="1"/>
          </p:cNvGraphicFramePr>
          <p:nvPr/>
        </p:nvGraphicFramePr>
        <p:xfrm>
          <a:off x="683894" y="1069901"/>
          <a:ext cx="8460425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Deadlock: what if Thread 1 first acquires lock[a]?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" name="表格 29"/>
          <p:cNvGraphicFramePr>
            <a:graphicFrameLocks noGrp="1"/>
          </p:cNvGraphicFramePr>
          <p:nvPr/>
        </p:nvGraphicFramePr>
        <p:xfrm>
          <a:off x="683894" y="1069901"/>
          <a:ext cx="8460425" cy="4815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Deadlock: what if Thread 1 first acquires lock[a]?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" name="表格 29"/>
          <p:cNvGraphicFramePr>
            <a:graphicFrameLocks noGrp="1"/>
          </p:cNvGraphicFramePr>
          <p:nvPr/>
        </p:nvGraphicFramePr>
        <p:xfrm>
          <a:off x="683894" y="1069901"/>
          <a:ext cx="8460425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220"/>
                <a:gridCol w="2016224"/>
                <a:gridCol w="1728192"/>
                <a:gridCol w="1296144"/>
                <a:gridCol w="140364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0 (Transfer)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Thread 1 (Audit)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Bank[Alice]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Bank[bob]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Acquire(lock[b])</a:t>
                      </a: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Acquire(lock[a])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Read(b) = 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Acquire(lock[a])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Read(a) = 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Acquire(lock[b])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Rectangle 4"/>
          <p:cNvSpPr/>
          <p:nvPr/>
        </p:nvSpPr>
        <p:spPr>
          <a:xfrm>
            <a:off x="1401064" y="3554297"/>
            <a:ext cx="6341872" cy="31335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Question: can thread 0 or thread 1 finishes the execution? </a:t>
            </a:r>
            <a:endParaRPr lang="en-US" altLang="zh-CN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Resolving deadlock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1. Acquire locks in a pre-defined order</a:t>
            </a:r>
            <a:endParaRPr kumimoji="1" lang="en-US" altLang="zh-CN" dirty="0"/>
          </a:p>
          <a:p>
            <a:pPr lvl="1">
              <a:spcAft>
                <a:spcPts val="1000"/>
              </a:spcAft>
            </a:pPr>
            <a:r>
              <a:rPr kumimoji="1" lang="en-US" altLang="zh-CN" dirty="0"/>
              <a:t> Not support general TX: TX must know the read/write sets before execution</a:t>
            </a:r>
            <a:endParaRPr kumimoji="1" lang="en-US" altLang="zh-CN" dirty="0"/>
          </a:p>
          <a:p>
            <a:r>
              <a:rPr kumimoji="1" lang="en-US" altLang="zh-CN" dirty="0"/>
              <a:t>2. Detect deadlock by calculating the conflict graph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there is a cycle, then there must be a deadlock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Abort one TX to break the cycle</a:t>
            </a:r>
            <a:endParaRPr kumimoji="1" lang="en-US" altLang="zh-CN" dirty="0"/>
          </a:p>
          <a:p>
            <a:pPr lvl="1">
              <a:spcAft>
                <a:spcPts val="1000"/>
              </a:spcAft>
            </a:pPr>
            <a:r>
              <a:rPr kumimoji="1" lang="en-US" altLang="zh-CN" dirty="0"/>
              <a:t>High cost for detection</a:t>
            </a:r>
            <a:endParaRPr kumimoji="1" lang="en-US" altLang="zh-CN" dirty="0"/>
          </a:p>
          <a:p>
            <a:r>
              <a:rPr kumimoji="1" lang="en-US" altLang="zh-CN" dirty="0"/>
              <a:t>3. Using heuristics (e.g., timestamp) to pre-abort the TXs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May have false positive, or live locks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37713</Words>
  <Application>WPS 演示</Application>
  <PresentationFormat>全屏显示(16:10)</PresentationFormat>
  <Paragraphs>4990</Paragraphs>
  <Slides>112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41" baseType="lpstr">
      <vt:lpstr>Arial</vt:lpstr>
      <vt:lpstr>宋体</vt:lpstr>
      <vt:lpstr>Wingdings</vt:lpstr>
      <vt:lpstr>等线</vt:lpstr>
      <vt:lpstr>微软雅黑 Light</vt:lpstr>
      <vt:lpstr>微软雅黑</vt:lpstr>
      <vt:lpstr>Consolas</vt:lpstr>
      <vt:lpstr>Calibri</vt:lpstr>
      <vt:lpstr>PingFang SC Bold</vt:lpstr>
      <vt:lpstr>PingFang SC</vt:lpstr>
      <vt:lpstr>Eras Medium ITC</vt:lpstr>
      <vt:lpstr>Verdana</vt:lpstr>
      <vt:lpstr>Arial Unicode MS</vt:lpstr>
      <vt:lpstr>Comic Sans MS</vt:lpstr>
      <vt:lpstr>楷体</vt:lpstr>
      <vt:lpstr>Courier</vt:lpstr>
      <vt:lpstr>Courier New</vt:lpstr>
      <vt:lpstr>MS PGothic</vt:lpstr>
      <vt:lpstr>楷体_GB2312</vt:lpstr>
      <vt:lpstr>新宋体</vt:lpstr>
      <vt:lpstr>Times New Roman</vt:lpstr>
      <vt:lpstr>PingFang HK</vt:lpstr>
      <vt:lpstr>Microsoft JhengHei UI Light</vt:lpstr>
      <vt:lpstr>Myriad Pro Light SemiCond</vt:lpstr>
      <vt:lpstr>Segoe Print</vt:lpstr>
      <vt:lpstr>Wingdings</vt:lpstr>
      <vt:lpstr>Cambria Math</vt:lpstr>
      <vt:lpstr>PMingLiU</vt:lpstr>
      <vt:lpstr>1_Office 主题​​</vt:lpstr>
      <vt:lpstr>Before-or-after atomicity and Serializability</vt:lpstr>
      <vt:lpstr>Recovery with checkpoint</vt:lpstr>
      <vt:lpstr>Undo-redo logging vs. redo-only logging</vt:lpstr>
      <vt:lpstr>UNDO-only Logging</vt:lpstr>
      <vt:lpstr>Summary &amp; durability </vt:lpstr>
      <vt:lpstr>PowerPoint 演示文稿</vt:lpstr>
      <vt:lpstr>What is a strong consistency model</vt:lpstr>
      <vt:lpstr>Review: serial execution of reads/writes </vt:lpstr>
      <vt:lpstr>One step further: serial execution of actions </vt:lpstr>
      <vt:lpstr>Motivating example </vt:lpstr>
      <vt:lpstr>Motivating example </vt:lpstr>
      <vt:lpstr>Atomicity of the + operator </vt:lpstr>
      <vt:lpstr>Atomicity of the + operator </vt:lpstr>
      <vt:lpstr>Atomicity of the + operator </vt:lpstr>
      <vt:lpstr>Atomicity of the + operator </vt:lpstr>
      <vt:lpstr>Atomicity of the + operator </vt:lpstr>
      <vt:lpstr>Atomicity of the + operator </vt:lpstr>
      <vt:lpstr>Atomicity of the + operator </vt:lpstr>
      <vt:lpstr>Atomicity of the + operator </vt:lpstr>
      <vt:lpstr>The race condition problem</vt:lpstr>
      <vt:lpstr>Race condition is hard to control</vt:lpstr>
      <vt:lpstr>Race condition is common (benign case)</vt:lpstr>
      <vt:lpstr>Race condition may be dangerous (e.g., in Therac-25)</vt:lpstr>
      <vt:lpstr>Before-or-After Atomicity</vt:lpstr>
      <vt:lpstr>Goal: before-or-after atomicity </vt:lpstr>
      <vt:lpstr>Goal: before-or-after atomicity (a.k.a, Isolation) </vt:lpstr>
      <vt:lpstr>Before-or-after vs. Linearizability </vt:lpstr>
      <vt:lpstr>How to know which operations should be atomic? </vt:lpstr>
      <vt:lpstr>Use locking to achieve before-or-after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global lock</vt:lpstr>
      <vt:lpstr>Use locking to achieve before-or-after: fine-grained locking</vt:lpstr>
      <vt:lpstr>Use locking to achieve before-or-after: fine-grained locking</vt:lpstr>
      <vt:lpstr>Use locking to achieve before-or-after: fine-grained locking</vt:lpstr>
      <vt:lpstr>Use locking to achieve before-or-after: fine-grained locking</vt:lpstr>
      <vt:lpstr>More example: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Accessing multiple records</vt:lpstr>
      <vt:lpstr>Problem: accessing multiple records</vt:lpstr>
      <vt:lpstr>Problem: accessing multiple records</vt:lpstr>
      <vt:lpstr>Solution: acquire all locks first, and release them at last</vt:lpstr>
      <vt:lpstr>What are the drawbacks? 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Two-phase locking (2PL)</vt:lpstr>
      <vt:lpstr>A note on fine-grained locking </vt:lpstr>
      <vt:lpstr>Use locking to achieve before-or-after: 2PL</vt:lpstr>
      <vt:lpstr>Serializability</vt:lpstr>
      <vt:lpstr>Serializability</vt:lpstr>
      <vt:lpstr>PowerPoint 演示文稿</vt:lpstr>
      <vt:lpstr>PowerPoint 演示文稿</vt:lpstr>
      <vt:lpstr>PowerPoint 演示文稿</vt:lpstr>
      <vt:lpstr>Serializability has many types</vt:lpstr>
      <vt:lpstr>PowerPoint 演示文稿</vt:lpstr>
      <vt:lpstr>Conflict Serializability</vt:lpstr>
      <vt:lpstr>PowerPoint 演示文稿</vt:lpstr>
      <vt:lpstr>Conflict Graph</vt:lpstr>
      <vt:lpstr>PowerPoint 演示文稿</vt:lpstr>
      <vt:lpstr>PowerPoint 演示文稿</vt:lpstr>
      <vt:lpstr>PowerPoint 演示文稿</vt:lpstr>
      <vt:lpstr>PowerPoint 演示文稿</vt:lpstr>
      <vt:lpstr>Conflict Equivalence</vt:lpstr>
      <vt:lpstr>View Serializability</vt:lpstr>
      <vt:lpstr>View Serializability</vt:lpstr>
      <vt:lpstr>Question</vt:lpstr>
      <vt:lpstr>Conflict Serializability VS. View Serializability</vt:lpstr>
      <vt:lpstr>Use locking to achieve before-or-after: 2PL</vt:lpstr>
      <vt:lpstr>Proof of 2PL </vt:lpstr>
      <vt:lpstr>PowerPoint 演示文稿</vt:lpstr>
      <vt:lpstr>Correctness (app-semantic consistency)</vt:lpstr>
      <vt:lpstr>Correctness and serializability </vt:lpstr>
      <vt:lpstr>PowerPoint 演示文稿</vt:lpstr>
      <vt:lpstr>Deadlock</vt:lpstr>
      <vt:lpstr>Deadlock: what if Thread 1 first acquires lock[a]? </vt:lpstr>
      <vt:lpstr>Deadlock: what if Thread 1 first acquires lock[a]? </vt:lpstr>
      <vt:lpstr>Deadlock: what if Thread 1 first acquires lock[a]? </vt:lpstr>
      <vt:lpstr>Deadlock: what if Thread 1 first acquires lock[a]? </vt:lpstr>
      <vt:lpstr>Deadlock: what if Thread 1 first acquires lock[a]? </vt:lpstr>
      <vt:lpstr>Resolving deadlock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1852</cp:revision>
  <cp:lastPrinted>2020-03-02T13:38:00Z</cp:lastPrinted>
  <dcterms:created xsi:type="dcterms:W3CDTF">2017-11-24T09:35:00Z</dcterms:created>
  <dcterms:modified xsi:type="dcterms:W3CDTF">2024-11-19T11:15:41Z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64E6CFDE535045858E41825B2D276A8F_12</vt:lpwstr>
  </property>
  <property fmtid="{D5CDD505-2E9C-101B-9397-08002B2CF9AE}" pid="3" name="KSOProductBuildVer">
    <vt:lpwstr>2052-12.1.0.18912</vt:lpwstr>
  </property>
</Properties>
</file>