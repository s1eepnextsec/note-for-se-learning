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2"/>
  </p:handoutMasterIdLst>
  <p:sldIdLst>
    <p:sldId id="2241" r:id="rId3"/>
    <p:sldId id="353" r:id="rId5"/>
    <p:sldId id="420" r:id="rId6"/>
    <p:sldId id="355" r:id="rId7"/>
    <p:sldId id="356" r:id="rId8"/>
    <p:sldId id="357" r:id="rId9"/>
    <p:sldId id="358" r:id="rId10"/>
    <p:sldId id="359" r:id="rId11"/>
    <p:sldId id="360" r:id="rId12"/>
    <p:sldId id="361" r:id="rId13"/>
    <p:sldId id="362" r:id="rId14"/>
    <p:sldId id="363" r:id="rId15"/>
    <p:sldId id="364" r:id="rId16"/>
    <p:sldId id="365" r:id="rId17"/>
    <p:sldId id="366" r:id="rId18"/>
    <p:sldId id="367" r:id="rId19"/>
    <p:sldId id="368" r:id="rId20"/>
    <p:sldId id="369" r:id="rId21"/>
    <p:sldId id="370" r:id="rId22"/>
    <p:sldId id="371" r:id="rId23"/>
    <p:sldId id="372" r:id="rId24"/>
    <p:sldId id="373" r:id="rId25"/>
    <p:sldId id="374" r:id="rId26"/>
    <p:sldId id="375" r:id="rId27"/>
    <p:sldId id="376" r:id="rId28"/>
    <p:sldId id="377" r:id="rId29"/>
    <p:sldId id="378" r:id="rId30"/>
    <p:sldId id="2261" r:id="rId31"/>
    <p:sldId id="379" r:id="rId32"/>
    <p:sldId id="380" r:id="rId33"/>
    <p:sldId id="381" r:id="rId34"/>
    <p:sldId id="382" r:id="rId35"/>
    <p:sldId id="383" r:id="rId36"/>
    <p:sldId id="384" r:id="rId37"/>
    <p:sldId id="385" r:id="rId38"/>
    <p:sldId id="386" r:id="rId39"/>
    <p:sldId id="387" r:id="rId40"/>
    <p:sldId id="388" r:id="rId41"/>
    <p:sldId id="389" r:id="rId42"/>
    <p:sldId id="390" r:id="rId43"/>
    <p:sldId id="391" r:id="rId44"/>
    <p:sldId id="392" r:id="rId45"/>
    <p:sldId id="393" r:id="rId46"/>
    <p:sldId id="338" r:id="rId47"/>
    <p:sldId id="2249" r:id="rId48"/>
    <p:sldId id="2250" r:id="rId49"/>
    <p:sldId id="341" r:id="rId50"/>
    <p:sldId id="342" r:id="rId51"/>
    <p:sldId id="343" r:id="rId52"/>
    <p:sldId id="344" r:id="rId53"/>
    <p:sldId id="345" r:id="rId54"/>
    <p:sldId id="346" r:id="rId55"/>
    <p:sldId id="347" r:id="rId56"/>
    <p:sldId id="348" r:id="rId57"/>
    <p:sldId id="349" r:id="rId58"/>
    <p:sldId id="350" r:id="rId59"/>
    <p:sldId id="351" r:id="rId60"/>
    <p:sldId id="352" r:id="rId61"/>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A4A3A4"/>
          </p15:clr>
        </p15:guide>
        <p15:guide id="3"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6F6F6"/>
    <a:srgbClr val="0432FF"/>
    <a:srgbClr val="0066B8"/>
    <a:srgbClr val="BD374B"/>
    <a:srgbClr val="BE374B"/>
    <a:srgbClr val="EACBA3"/>
    <a:srgbClr val="E2EAF7"/>
    <a:srgbClr val="FF5F00"/>
    <a:srgbClr val="FF7E79"/>
    <a:srgbClr val="F6F9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93" autoAdjust="0"/>
    <p:restoredTop sz="88704" autoAdjust="0"/>
  </p:normalViewPr>
  <p:slideViewPr>
    <p:cSldViewPr showGuides="1">
      <p:cViewPr varScale="1">
        <p:scale>
          <a:sx n="163" d="100"/>
          <a:sy n="163" d="100"/>
        </p:scale>
        <p:origin x="1336" y="184"/>
      </p:cViewPr>
      <p:guideLst>
        <p:guide orient="horz" pos="711"/>
        <p:guide pos="288"/>
      </p:guideLst>
    </p:cSldViewPr>
  </p:slideViewPr>
  <p:outlineViewPr>
    <p:cViewPr>
      <p:scale>
        <a:sx n="33" d="100"/>
        <a:sy n="33" d="100"/>
      </p:scale>
      <p:origin x="0" y="-5720"/>
    </p:cViewPr>
  </p:outlineViewPr>
  <p:notesTextViewPr>
    <p:cViewPr>
      <p:scale>
        <a:sx n="110" d="100"/>
        <a:sy n="110" d="100"/>
      </p:scale>
      <p:origin x="0" y="0"/>
    </p:cViewPr>
  </p:notesTextViewPr>
  <p:sorterViewPr>
    <p:cViewPr>
      <p:scale>
        <a:sx n="66" d="100"/>
        <a:sy n="66" d="100"/>
      </p:scale>
      <p:origin x="0" y="0"/>
    </p:cViewPr>
  </p:sorterViewPr>
  <p:notesViewPr>
    <p:cSldViewPr>
      <p:cViewPr varScale="1">
        <p:scale>
          <a:sx n="85" d="100"/>
          <a:sy n="85" d="100"/>
        </p:scale>
        <p:origin x="2720"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aseline="0" dirty="0"/>
              <a:t>Credits</a:t>
            </a:r>
            <a:r>
              <a:rPr kumimoji="1" lang="zh-CN" altLang="en-US" baseline="0" dirty="0"/>
              <a:t> </a:t>
            </a:r>
            <a:r>
              <a:rPr kumimoji="1" lang="en-US" altLang="zh-CN" baseline="0" dirty="0"/>
              <a:t>to</a:t>
            </a:r>
            <a:r>
              <a:rPr kumimoji="1" lang="zh-CN" altLang="en-US" baseline="0" dirty="0"/>
              <a:t> </a:t>
            </a:r>
            <a:r>
              <a:rPr lang="en-US" altLang="zh-CN" dirty="0">
                <a:solidFill>
                  <a:srgbClr val="000090"/>
                </a:solidFill>
                <a:ea typeface="MS PGothic" panose="020B0600070205080204" pitchFamily="34" charset="-128"/>
              </a:rPr>
              <a:t>Mike Freedman</a:t>
            </a:r>
            <a:r>
              <a:rPr kumimoji="1" lang="zh-CN" altLang="en-US" baseline="0" dirty="0">
                <a:solidFill>
                  <a:srgbClr val="000090"/>
                </a:solidFill>
                <a:ea typeface="MS PGothic" panose="020B0600070205080204" pitchFamily="34" charset="-128"/>
              </a:rPr>
              <a:t> </a:t>
            </a:r>
            <a:r>
              <a:rPr kumimoji="1" lang="en-US" altLang="zh-CN" baseline="0" dirty="0">
                <a:solidFill>
                  <a:srgbClr val="000090"/>
                </a:solidFill>
                <a:ea typeface="MS PGothic" panose="020B0600070205080204" pitchFamily="34" charset="-128"/>
              </a:rPr>
              <a:t>(</a:t>
            </a:r>
            <a:r>
              <a:rPr lang="en-US" altLang="zh-CN" dirty="0">
                <a:solidFill>
                  <a:srgbClr val="000090"/>
                </a:solidFill>
                <a:ea typeface="MS PGothic" panose="020B0600070205080204" pitchFamily="34" charset="-128"/>
              </a:rPr>
              <a:t>COS 461)</a:t>
            </a:r>
            <a:r>
              <a:rPr lang="zh-CN" altLang="en-US" dirty="0">
                <a:solidFill>
                  <a:srgbClr val="000090"/>
                </a:solidFill>
                <a:ea typeface="MS PGothic" panose="020B0600070205080204" pitchFamily="34" charset="-128"/>
              </a:rPr>
              <a:t> </a:t>
            </a:r>
            <a:r>
              <a:rPr kumimoji="1" lang="en-US" altLang="zh-CN" baseline="0" dirty="0">
                <a:solidFill>
                  <a:srgbClr val="000090"/>
                </a:solidFill>
                <a:ea typeface="MS PGothic" panose="020B0600070205080204" pitchFamily="34" charset="-128"/>
              </a:rPr>
              <a:t>and</a:t>
            </a:r>
            <a:r>
              <a:rPr kumimoji="1" lang="zh-CN" altLang="en-US" baseline="0" dirty="0">
                <a:solidFill>
                  <a:srgbClr val="000090"/>
                </a:solidFill>
                <a:ea typeface="MS PGothic" panose="020B0600070205080204" pitchFamily="34" charset="-128"/>
              </a:rPr>
              <a:t> </a:t>
            </a:r>
            <a:r>
              <a:rPr kumimoji="1" lang="en-US" altLang="zh-CN" baseline="0" dirty="0">
                <a:solidFill>
                  <a:srgbClr val="000090"/>
                </a:solidFill>
                <a:ea typeface="MS PGothic" panose="020B0600070205080204" pitchFamily="34" charset="-128"/>
              </a:rPr>
              <a:t>others.</a:t>
            </a:r>
            <a:endParaRPr lang="en-US" altLang="zh-CN" dirty="0">
              <a:solidFill>
                <a:srgbClr val="000090"/>
              </a:solidFill>
              <a:ea typeface="MS PGothic" panose="020B0600070205080204" pitchFamily="34" charset="-128"/>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Or</a:t>
            </a:r>
            <a:r>
              <a:rPr kumimoji="1" lang="zh-CN" altLang="en-US" dirty="0"/>
              <a:t> </a:t>
            </a:r>
            <a:r>
              <a:rPr kumimoji="1" lang="en-US" altLang="zh-CN" dirty="0"/>
              <a:t>he</a:t>
            </a:r>
            <a:r>
              <a:rPr kumimoji="1" lang="zh-CN" altLang="en-US" dirty="0"/>
              <a:t> </a:t>
            </a:r>
            <a:r>
              <a:rPr kumimoji="1" lang="en-US" altLang="zh-CN" dirty="0"/>
              <a:t>can</a:t>
            </a:r>
            <a:r>
              <a:rPr kumimoji="1" lang="zh-CN" altLang="en-US" dirty="0"/>
              <a:t> </a:t>
            </a:r>
            <a:r>
              <a:rPr kumimoji="1" lang="en-US" altLang="zh-CN" dirty="0"/>
              <a:t>install</a:t>
            </a:r>
            <a:r>
              <a:rPr kumimoji="1" lang="zh-CN" altLang="en-US" dirty="0"/>
              <a:t> </a:t>
            </a:r>
            <a:r>
              <a:rPr kumimoji="1" lang="en-US" altLang="zh-CN" dirty="0"/>
              <a:t>a</a:t>
            </a:r>
            <a:r>
              <a:rPr kumimoji="1" lang="zh-CN" altLang="en-US" dirty="0"/>
              <a:t> </a:t>
            </a:r>
            <a:r>
              <a:rPr kumimoji="1" lang="en-US" altLang="zh-CN" dirty="0"/>
              <a:t>malware</a:t>
            </a:r>
            <a:r>
              <a:rPr kumimoji="1" lang="zh-CN" altLang="en-US" dirty="0"/>
              <a:t> </a:t>
            </a:r>
            <a:r>
              <a:rPr kumimoji="1" lang="en-US" altLang="zh-CN" dirty="0"/>
              <a:t>to</a:t>
            </a:r>
            <a:r>
              <a:rPr kumimoji="1" lang="zh-CN" altLang="en-US" dirty="0"/>
              <a:t> </a:t>
            </a:r>
            <a:r>
              <a:rPr kumimoji="1" lang="en-US" altLang="zh-CN" dirty="0"/>
              <a:t>lure</a:t>
            </a:r>
            <a:r>
              <a:rPr kumimoji="1" lang="zh-CN" altLang="en-US" dirty="0"/>
              <a:t> </a:t>
            </a:r>
            <a:r>
              <a:rPr kumimoji="1" lang="en-US" altLang="zh-CN" dirty="0"/>
              <a:t>the</a:t>
            </a:r>
            <a:r>
              <a:rPr kumimoji="1" lang="zh-CN" altLang="en-US" dirty="0"/>
              <a:t> </a:t>
            </a:r>
            <a:r>
              <a:rPr kumimoji="1" lang="en-US" altLang="zh-CN" dirty="0"/>
              <a:t>user</a:t>
            </a:r>
            <a:r>
              <a:rPr kumimoji="1" lang="zh-CN" altLang="en-US" dirty="0"/>
              <a:t> </a:t>
            </a:r>
            <a:r>
              <a:rPr kumimoji="1" lang="en-US" altLang="zh-CN" dirty="0"/>
              <a:t>to</a:t>
            </a:r>
            <a:r>
              <a:rPr kumimoji="1" lang="zh-CN" altLang="en-US" dirty="0"/>
              <a:t> </a:t>
            </a:r>
            <a:r>
              <a:rPr kumimoji="1" lang="en-US" altLang="zh-CN" dirty="0"/>
              <a:t>enter</a:t>
            </a:r>
            <a:r>
              <a:rPr kumimoji="1" lang="zh-CN" altLang="en-US" dirty="0"/>
              <a:t> </a:t>
            </a:r>
            <a:r>
              <a:rPr kumimoji="1" lang="en-US" altLang="zh-CN" dirty="0"/>
              <a:t>password.</a:t>
            </a:r>
            <a:r>
              <a:rPr kumimoji="1" lang="zh-CN" altLang="en-US" dirty="0"/>
              <a:t> </a:t>
            </a:r>
            <a:r>
              <a:rPr kumimoji="1" lang="en-US" altLang="zh-CN" dirty="0"/>
              <a:t>A</a:t>
            </a:r>
            <a:r>
              <a:rPr kumimoji="1" lang="zh-CN" altLang="en-US" dirty="0"/>
              <a:t> </a:t>
            </a:r>
            <a:r>
              <a:rPr kumimoji="1" lang="en-US" altLang="zh-CN" dirty="0" err="1"/>
              <a:t>typicall</a:t>
            </a:r>
            <a:r>
              <a:rPr kumimoji="1" lang="zh-CN" altLang="en-US" dirty="0"/>
              <a:t> </a:t>
            </a:r>
            <a:r>
              <a:rPr kumimoji="1" lang="en-US" altLang="zh-CN" dirty="0"/>
              <a:t>malware</a:t>
            </a:r>
            <a:r>
              <a:rPr kumimoji="1" lang="zh-CN" altLang="en-US" dirty="0"/>
              <a:t> </a:t>
            </a:r>
            <a:r>
              <a:rPr kumimoji="1" lang="en-US" altLang="zh-CN" dirty="0"/>
              <a:t>will</a:t>
            </a:r>
            <a:r>
              <a:rPr kumimoji="1" lang="zh-CN" altLang="en-US" dirty="0"/>
              <a:t> </a:t>
            </a:r>
            <a:r>
              <a:rPr kumimoji="1" lang="en-US" altLang="zh-CN" dirty="0"/>
              <a:t>run</a:t>
            </a:r>
            <a:r>
              <a:rPr kumimoji="1" lang="zh-CN" altLang="en-US" dirty="0"/>
              <a:t> </a:t>
            </a:r>
            <a:r>
              <a:rPr kumimoji="1" lang="en-US" altLang="zh-CN" dirty="0"/>
              <a:t>in</a:t>
            </a:r>
            <a:r>
              <a:rPr kumimoji="1" lang="zh-CN" altLang="en-US" dirty="0"/>
              <a:t> </a:t>
            </a:r>
            <a:r>
              <a:rPr kumimoji="1" lang="en-US" altLang="zh-CN" dirty="0"/>
              <a:t>background...</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Or,</a:t>
            </a:r>
            <a:r>
              <a:rPr kumimoji="1" lang="zh-CN" altLang="en-US" dirty="0"/>
              <a:t> </a:t>
            </a:r>
            <a:r>
              <a:rPr kumimoji="1" lang="en-US" altLang="zh-CN" dirty="0"/>
              <a:t>he</a:t>
            </a:r>
            <a:r>
              <a:rPr kumimoji="1" lang="zh-CN" altLang="en-US" dirty="0"/>
              <a:t> </a:t>
            </a:r>
            <a:r>
              <a:rPr kumimoji="1" lang="en-US" altLang="zh-CN" dirty="0"/>
              <a:t>can</a:t>
            </a:r>
            <a:r>
              <a:rPr kumimoji="1" lang="zh-CN" altLang="en-US" dirty="0"/>
              <a:t> </a:t>
            </a:r>
            <a:r>
              <a:rPr kumimoji="1" lang="en-US" altLang="zh-CN" dirty="0"/>
              <a:t>just</a:t>
            </a:r>
            <a:r>
              <a:rPr kumimoji="1" lang="zh-CN" altLang="en-US" dirty="0"/>
              <a:t> </a:t>
            </a:r>
            <a:r>
              <a:rPr kumimoji="1" lang="en-US" altLang="zh-CN" dirty="0"/>
              <a:t>use</a:t>
            </a:r>
            <a:r>
              <a:rPr kumimoji="1" lang="zh-CN" altLang="en-US" dirty="0"/>
              <a:t> </a:t>
            </a:r>
            <a:r>
              <a:rPr kumimoji="1" lang="en-US" altLang="zh-CN" dirty="0"/>
              <a:t>rootkit</a:t>
            </a:r>
            <a:r>
              <a:rPr kumimoji="1" lang="zh-CN" altLang="en-US" dirty="0"/>
              <a:t> </a:t>
            </a:r>
            <a:r>
              <a:rPr kumimoji="1" lang="en-US" altLang="zh-CN" dirty="0"/>
              <a:t>and</a:t>
            </a:r>
            <a:r>
              <a:rPr kumimoji="1" lang="zh-CN" altLang="en-US" dirty="0"/>
              <a:t> </a:t>
            </a:r>
            <a:r>
              <a:rPr kumimoji="1" lang="en-US" altLang="zh-CN" dirty="0"/>
              <a:t>scan</a:t>
            </a:r>
            <a:r>
              <a:rPr kumimoji="1" lang="zh-CN" altLang="en-US" dirty="0"/>
              <a:t> </a:t>
            </a:r>
            <a:r>
              <a:rPr kumimoji="1" lang="en-US" altLang="zh-CN" dirty="0"/>
              <a:t>the</a:t>
            </a:r>
            <a:r>
              <a:rPr kumimoji="1" lang="zh-CN" altLang="en-US" dirty="0"/>
              <a:t> </a:t>
            </a:r>
            <a:r>
              <a:rPr kumimoji="1" lang="en-US" altLang="zh-CN" dirty="0"/>
              <a:t>memory</a:t>
            </a:r>
            <a:r>
              <a:rPr kumimoji="1" lang="zh-CN" altLang="en-US" dirty="0"/>
              <a:t> </a:t>
            </a:r>
            <a:r>
              <a:rPr kumimoji="1" lang="en-US" altLang="zh-CN" dirty="0"/>
              <a:t>for</a:t>
            </a:r>
            <a:r>
              <a:rPr kumimoji="1" lang="zh-CN" altLang="en-US" dirty="0"/>
              <a:t> </a:t>
            </a:r>
            <a:r>
              <a:rPr kumimoji="1" lang="en-US" altLang="zh-CN" dirty="0"/>
              <a:t>any</a:t>
            </a:r>
            <a:r>
              <a:rPr kumimoji="1" lang="zh-CN" altLang="en-US" dirty="0"/>
              <a:t> </a:t>
            </a:r>
            <a:r>
              <a:rPr kumimoji="1" lang="en-US" altLang="zh-CN" dirty="0"/>
              <a:t>plaintext</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a:t>
            </a:r>
            <a:r>
              <a:rPr kumimoji="1" lang="zh-CN" altLang="en-US" dirty="0"/>
              <a:t> </a:t>
            </a:r>
            <a:r>
              <a:rPr kumimoji="1" lang="en-US" altLang="zh-CN" dirty="0"/>
              <a:t>attack</a:t>
            </a:r>
            <a:r>
              <a:rPr kumimoji="1" lang="zh-CN" altLang="en-US" dirty="0"/>
              <a:t> </a:t>
            </a:r>
            <a:r>
              <a:rPr kumimoji="1" lang="en-US" altLang="zh-CN" dirty="0"/>
              <a:t>is</a:t>
            </a:r>
            <a:r>
              <a:rPr kumimoji="1" lang="zh-CN" altLang="en-US" dirty="0"/>
              <a:t> </a:t>
            </a:r>
            <a:r>
              <a:rPr kumimoji="1" lang="en-US" altLang="zh-CN" dirty="0"/>
              <a:t>simple</a:t>
            </a:r>
            <a:r>
              <a:rPr kumimoji="1" lang="zh-CN" altLang="en-US" dirty="0"/>
              <a:t> </a:t>
            </a:r>
            <a:r>
              <a:rPr kumimoji="1" lang="en-US" altLang="zh-CN" dirty="0"/>
              <a:t>but</a:t>
            </a:r>
            <a:r>
              <a:rPr kumimoji="1" lang="zh-CN" altLang="en-US" dirty="0"/>
              <a:t> </a:t>
            </a:r>
            <a:r>
              <a:rPr kumimoji="1" lang="en-US" altLang="zh-CN" dirty="0"/>
              <a:t>effective</a:t>
            </a:r>
            <a:r>
              <a:rPr kumimoji="1" lang="zh-CN" altLang="en-US" dirty="0"/>
              <a:t> </a:t>
            </a:r>
            <a:r>
              <a:rPr kumimoji="1" lang="en-US" altLang="zh-CN" dirty="0"/>
              <a:t>since</a:t>
            </a:r>
            <a:r>
              <a:rPr kumimoji="1" lang="zh-CN" altLang="en-US" dirty="0"/>
              <a:t> </a:t>
            </a:r>
            <a:r>
              <a:rPr kumimoji="1" lang="en-US" altLang="zh-CN" dirty="0"/>
              <a:t>the</a:t>
            </a:r>
            <a:r>
              <a:rPr kumimoji="1" lang="zh-CN" altLang="en-US" dirty="0"/>
              <a:t> </a:t>
            </a:r>
            <a:r>
              <a:rPr kumimoji="1" lang="en-US" altLang="zh-CN" dirty="0"/>
              <a:t>memory</a:t>
            </a:r>
            <a:r>
              <a:rPr kumimoji="1" lang="zh-CN" altLang="en-US" dirty="0"/>
              <a:t> </a:t>
            </a:r>
            <a:r>
              <a:rPr kumimoji="1" lang="en-US" altLang="zh-CN" dirty="0"/>
              <a:t>does</a:t>
            </a:r>
            <a:r>
              <a:rPr kumimoji="1" lang="zh-CN" altLang="en-US" dirty="0"/>
              <a:t> </a:t>
            </a:r>
            <a:r>
              <a:rPr kumimoji="1" lang="en-US" altLang="zh-CN" dirty="0"/>
              <a:t>contain</a:t>
            </a:r>
            <a:r>
              <a:rPr kumimoji="1" lang="zh-CN" altLang="en-US" dirty="0"/>
              <a:t> </a:t>
            </a:r>
            <a:r>
              <a:rPr kumimoji="1" lang="en-US" altLang="zh-CN" dirty="0"/>
              <a:t>many</a:t>
            </a:r>
            <a:r>
              <a:rPr kumimoji="1" lang="zh-CN" altLang="en-US" dirty="0"/>
              <a:t> </a:t>
            </a:r>
            <a:r>
              <a:rPr kumimoji="1" lang="en-US" altLang="zh-CN" dirty="0"/>
              <a:t>secrets.</a:t>
            </a:r>
            <a:r>
              <a:rPr kumimoji="1" lang="zh-CN" altLang="en-US" dirty="0"/>
              <a:t> </a:t>
            </a:r>
            <a:r>
              <a:rPr kumimoji="1" lang="en-US" altLang="zh-CN" dirty="0"/>
              <a:t>Here</a:t>
            </a:r>
            <a:r>
              <a:rPr kumimoji="1" lang="zh-CN" altLang="en-US" dirty="0"/>
              <a:t> </a:t>
            </a:r>
            <a:r>
              <a:rPr kumimoji="1" lang="en-US" altLang="zh-CN" dirty="0"/>
              <a:t>is</a:t>
            </a:r>
            <a:r>
              <a:rPr kumimoji="1" lang="zh-CN" altLang="en-US" dirty="0"/>
              <a:t> </a:t>
            </a:r>
            <a:r>
              <a:rPr kumimoji="1" lang="en-US" altLang="zh-CN" dirty="0"/>
              <a:t>a</a:t>
            </a:r>
            <a:r>
              <a:rPr kumimoji="1" lang="zh-CN" altLang="en-US" dirty="0"/>
              <a:t> </a:t>
            </a:r>
            <a:r>
              <a:rPr kumimoji="1" lang="en-US" altLang="zh-CN" dirty="0"/>
              <a:t>table</a:t>
            </a:r>
            <a:r>
              <a:rPr kumimoji="1" lang="zh-CN" altLang="en-US" dirty="0"/>
              <a:t> </a:t>
            </a:r>
            <a:r>
              <a:rPr kumimoji="1" lang="en-US" altLang="zh-CN" dirty="0"/>
              <a:t>from</a:t>
            </a:r>
            <a:r>
              <a:rPr kumimoji="1" lang="zh-CN" altLang="en-US" dirty="0"/>
              <a:t> </a:t>
            </a:r>
            <a:r>
              <a:rPr kumimoji="1" lang="en-US" altLang="zh-CN" dirty="0" err="1"/>
              <a:t>cleanOS</a:t>
            </a:r>
            <a:r>
              <a:rPr kumimoji="1" lang="en-US" altLang="zh-CN" dirty="0"/>
              <a:t>,</a:t>
            </a:r>
            <a:r>
              <a:rPr kumimoji="1" lang="zh-CN" altLang="en-US" dirty="0"/>
              <a:t> </a:t>
            </a:r>
            <a:r>
              <a:rPr kumimoji="1" lang="en-US" altLang="zh-CN" dirty="0"/>
              <a:t>OSDI'12</a:t>
            </a:r>
            <a:r>
              <a:rPr kumimoji="1" lang="zh-CN" altLang="en-US" dirty="0"/>
              <a:t> </a:t>
            </a:r>
            <a:r>
              <a:rPr kumimoji="1" lang="en-US" altLang="zh-CN" dirty="0"/>
              <a:t>paper.</a:t>
            </a:r>
            <a:endParaRPr kumimoji="1" lang="en-US" altLang="zh-CN" dirty="0"/>
          </a:p>
          <a:p>
            <a:r>
              <a:rPr kumimoji="1" lang="en-US" altLang="zh-CN" dirty="0"/>
              <a:t>It</a:t>
            </a:r>
            <a:r>
              <a:rPr kumimoji="1" lang="zh-CN" altLang="en-US" dirty="0"/>
              <a:t> </a:t>
            </a:r>
            <a:r>
              <a:rPr kumimoji="1" lang="en-US" altLang="zh-CN" dirty="0"/>
              <a:t>shows</a:t>
            </a:r>
            <a:r>
              <a:rPr kumimoji="1" lang="zh-CN" altLang="en-US" dirty="0"/>
              <a:t> </a:t>
            </a:r>
            <a:r>
              <a:rPr kumimoji="1" lang="en-US" altLang="zh-CN" dirty="0"/>
              <a:t>that</a:t>
            </a:r>
            <a:r>
              <a:rPr kumimoji="1" lang="zh-CN" altLang="en-US" dirty="0"/>
              <a:t> </a:t>
            </a:r>
            <a:r>
              <a:rPr kumimoji="1" lang="en-US" altLang="zh-CN" dirty="0"/>
              <a:t>many</a:t>
            </a:r>
            <a:r>
              <a:rPr kumimoji="1" lang="zh-CN" altLang="en-US" dirty="0"/>
              <a:t> </a:t>
            </a:r>
            <a:r>
              <a:rPr kumimoji="1" lang="en-US" altLang="zh-CN" dirty="0"/>
              <a:t>popular</a:t>
            </a:r>
            <a:r>
              <a:rPr kumimoji="1" lang="zh-CN" altLang="en-US" dirty="0"/>
              <a:t> </a:t>
            </a:r>
            <a:r>
              <a:rPr kumimoji="1" lang="en-US" altLang="zh-CN" dirty="0"/>
              <a:t>applications</a:t>
            </a:r>
            <a:r>
              <a:rPr kumimoji="1" lang="zh-CN" altLang="en-US" dirty="0"/>
              <a:t> </a:t>
            </a:r>
            <a:r>
              <a:rPr kumimoji="1" lang="en-US" altLang="zh-CN" dirty="0"/>
              <a:t>will</a:t>
            </a:r>
            <a:r>
              <a:rPr kumimoji="1" lang="zh-CN" altLang="en-US" dirty="0"/>
              <a:t> </a:t>
            </a:r>
            <a:r>
              <a:rPr kumimoji="1" lang="en-US" altLang="zh-CN" dirty="0"/>
              <a:t>leave</a:t>
            </a:r>
            <a:r>
              <a:rPr kumimoji="1" lang="zh-CN" altLang="en-US" dirty="0"/>
              <a:t> </a:t>
            </a:r>
            <a:r>
              <a:rPr kumimoji="1" lang="en-US" altLang="zh-CN" dirty="0"/>
              <a:t>residue</a:t>
            </a:r>
            <a:r>
              <a:rPr kumimoji="1" lang="zh-CN" altLang="en-US" dirty="0"/>
              <a:t> </a:t>
            </a:r>
            <a:r>
              <a:rPr kumimoji="1" lang="en-US" altLang="zh-CN" dirty="0"/>
              <a:t>of</a:t>
            </a:r>
            <a:r>
              <a:rPr kumimoji="1" lang="zh-CN" altLang="en-US" dirty="0"/>
              <a:t> </a:t>
            </a:r>
            <a:r>
              <a:rPr kumimoji="1" lang="en-US" altLang="zh-CN" dirty="0"/>
              <a:t>critical</a:t>
            </a:r>
            <a:r>
              <a:rPr kumimoji="1" lang="zh-CN" altLang="en-US" dirty="0"/>
              <a:t> </a:t>
            </a:r>
            <a:r>
              <a:rPr kumimoji="1" lang="en-US" altLang="zh-CN" dirty="0"/>
              <a:t>data</a:t>
            </a:r>
            <a:r>
              <a:rPr kumimoji="1" lang="zh-CN" altLang="en-US" dirty="0"/>
              <a:t> </a:t>
            </a:r>
            <a:r>
              <a:rPr kumimoji="1" lang="en-US" altLang="zh-CN" dirty="0"/>
              <a:t>in</a:t>
            </a:r>
            <a:r>
              <a:rPr kumimoji="1" lang="zh-CN" altLang="en-US" dirty="0"/>
              <a:t> </a:t>
            </a:r>
            <a:r>
              <a:rPr kumimoji="1" lang="en-US" altLang="zh-CN" dirty="0"/>
              <a:t>memory</a:t>
            </a:r>
            <a:r>
              <a:rPr kumimoji="1" lang="zh-CN" altLang="en-US" dirty="0"/>
              <a:t> </a:t>
            </a:r>
            <a:r>
              <a:rPr kumimoji="1" lang="en-US" altLang="zh-CN" dirty="0"/>
              <a:t>for</a:t>
            </a:r>
            <a:r>
              <a:rPr kumimoji="1" lang="zh-CN" altLang="en-US" dirty="0"/>
              <a:t> </a:t>
            </a:r>
            <a:r>
              <a:rPr kumimoji="1" lang="en-US" altLang="zh-CN" dirty="0"/>
              <a:t>a</a:t>
            </a:r>
            <a:r>
              <a:rPr kumimoji="1" lang="zh-CN" altLang="en-US" dirty="0"/>
              <a:t> </a:t>
            </a:r>
            <a:r>
              <a:rPr kumimoji="1" lang="en-US" altLang="zh-CN" dirty="0"/>
              <a:t>long</a:t>
            </a:r>
            <a:r>
              <a:rPr kumimoji="1" lang="zh-CN" altLang="en-US" dirty="0"/>
              <a:t> </a:t>
            </a:r>
            <a:r>
              <a:rPr kumimoji="1" lang="en-US" altLang="zh-CN" dirty="0"/>
              <a:t>time.</a:t>
            </a:r>
            <a:r>
              <a:rPr kumimoji="1" lang="zh-CN" altLang="en-US" dirty="0"/>
              <a:t> </a:t>
            </a:r>
            <a:r>
              <a:rPr kumimoji="1" lang="en-US" altLang="zh-CN" dirty="0"/>
              <a:t>For</a:t>
            </a:r>
            <a:r>
              <a:rPr kumimoji="1" lang="zh-CN" altLang="en-US" dirty="0"/>
              <a:t> </a:t>
            </a:r>
            <a:r>
              <a:rPr kumimoji="1" lang="en-US" altLang="zh-CN" dirty="0"/>
              <a:t>example,</a:t>
            </a:r>
            <a:endParaRPr kumimoji="1" lang="en-US" altLang="zh-CN" dirty="0"/>
          </a:p>
          <a:p>
            <a:r>
              <a:rPr kumimoji="1" lang="en-US" altLang="zh-CN" dirty="0"/>
              <a:t>the</a:t>
            </a:r>
            <a:r>
              <a:rPr kumimoji="1" lang="zh-CN" altLang="en-US" dirty="0"/>
              <a:t> </a:t>
            </a:r>
            <a:r>
              <a:rPr kumimoji="1" lang="en-US" altLang="zh-CN" dirty="0"/>
              <a:t>android's</a:t>
            </a:r>
            <a:r>
              <a:rPr kumimoji="1" lang="zh-CN" altLang="en-US" dirty="0"/>
              <a:t> </a:t>
            </a:r>
            <a:r>
              <a:rPr kumimoji="1" lang="en-US" altLang="zh-CN" dirty="0"/>
              <a:t>default</a:t>
            </a:r>
            <a:r>
              <a:rPr kumimoji="1" lang="zh-CN" altLang="en-US" dirty="0"/>
              <a:t> </a:t>
            </a:r>
            <a:r>
              <a:rPr kumimoji="1" lang="en-US" altLang="zh-CN" dirty="0"/>
              <a:t>email</a:t>
            </a:r>
            <a:r>
              <a:rPr kumimoji="1" lang="zh-CN" altLang="en-US" dirty="0"/>
              <a:t> </a:t>
            </a:r>
            <a:r>
              <a:rPr kumimoji="1" lang="en-US" altLang="zh-CN" dirty="0"/>
              <a:t>app,</a:t>
            </a:r>
            <a:r>
              <a:rPr kumimoji="1" lang="zh-CN" altLang="en-US" dirty="0"/>
              <a:t> </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attacker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might</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also</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steal</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your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password</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from</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screen.</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On</a:t>
            </a:r>
            <a:r>
              <a:rPr lang="zh-CN" altLang="en-US"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iOS</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system,</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once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you</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enter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password,</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the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last</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character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will</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be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displayed</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for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second.</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If</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the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attacker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can</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access</a:t>
            </a:r>
            <a:r>
              <a:rPr lang="zh-CN" altLang="en-US"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framebuffer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or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capture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the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screen,</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he</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can</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get</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your</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password</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Cold</a:t>
            </a:r>
            <a:r>
              <a:rPr kumimoji="1" lang="zh-CN" altLang="en-US" dirty="0"/>
              <a:t> </a:t>
            </a:r>
            <a:r>
              <a:rPr kumimoji="1" lang="en-US" altLang="zh-CN" dirty="0"/>
              <a:t>boot</a:t>
            </a:r>
            <a:r>
              <a:rPr kumimoji="1" lang="zh-CN" altLang="en-US" dirty="0"/>
              <a:t> </a:t>
            </a:r>
            <a:r>
              <a:rPr kumimoji="1" lang="en-US" altLang="zh-CN" dirty="0"/>
              <a:t>attack</a:t>
            </a:r>
            <a:r>
              <a:rPr kumimoji="1" lang="zh-CN" altLang="en-US" dirty="0"/>
              <a:t> </a:t>
            </a:r>
            <a:r>
              <a:rPr kumimoji="1" lang="en-US" altLang="zh-CN" dirty="0"/>
              <a:t>is</a:t>
            </a:r>
            <a:r>
              <a:rPr kumimoji="1" lang="zh-CN" altLang="en-US" dirty="0"/>
              <a:t> </a:t>
            </a:r>
            <a:r>
              <a:rPr kumimoji="1" lang="en-US" altLang="zh-CN" dirty="0"/>
              <a:t>also</a:t>
            </a:r>
            <a:r>
              <a:rPr kumimoji="1" lang="zh-CN" altLang="en-US" dirty="0"/>
              <a:t> </a:t>
            </a:r>
            <a:r>
              <a:rPr kumimoji="1" lang="en-US" altLang="zh-CN" dirty="0"/>
              <a:t>possible</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t>mobile</a:t>
            </a:r>
            <a:r>
              <a:rPr kumimoji="1" lang="zh-CN" altLang="en-US" dirty="0"/>
              <a:t> </a:t>
            </a:r>
            <a:r>
              <a:rPr kumimoji="1" lang="en-US" altLang="zh-CN" dirty="0"/>
              <a:t>device,</a:t>
            </a:r>
            <a:r>
              <a:rPr kumimoji="1" lang="zh-CN" altLang="en-US" dirty="0"/>
              <a:t> </a:t>
            </a:r>
            <a:r>
              <a:rPr kumimoji="1" lang="en-US" altLang="zh-CN" dirty="0"/>
              <a:t>which</a:t>
            </a:r>
            <a:r>
              <a:rPr kumimoji="1" lang="zh-CN" altLang="en-US" dirty="0"/>
              <a:t> </a:t>
            </a:r>
            <a:r>
              <a:rPr kumimoji="1" lang="en-US" altLang="zh-CN" dirty="0"/>
              <a:t>just</a:t>
            </a:r>
            <a:r>
              <a:rPr kumimoji="1" lang="zh-CN" altLang="en-US" dirty="0"/>
              <a:t> </a:t>
            </a:r>
            <a:r>
              <a:rPr kumimoji="1" lang="en-US" altLang="zh-CN" dirty="0"/>
              <a:t>scan</a:t>
            </a:r>
            <a:r>
              <a:rPr kumimoji="1" lang="zh-CN" altLang="en-US" dirty="0"/>
              <a:t> </a:t>
            </a:r>
            <a:r>
              <a:rPr kumimoji="1" lang="en-US" altLang="zh-CN" dirty="0"/>
              <a:t>the</a:t>
            </a:r>
            <a:r>
              <a:rPr kumimoji="1" lang="zh-CN" altLang="en-US" dirty="0"/>
              <a:t> </a:t>
            </a:r>
            <a:r>
              <a:rPr kumimoji="1" lang="en-US" altLang="zh-CN" dirty="0"/>
              <a:t>memory</a:t>
            </a:r>
            <a:r>
              <a:rPr kumimoji="1" lang="zh-CN" altLang="en-US" dirty="0"/>
              <a:t> </a:t>
            </a:r>
            <a:r>
              <a:rPr kumimoji="1" lang="en-US" altLang="zh-CN" dirty="0"/>
              <a:t>to</a:t>
            </a:r>
            <a:r>
              <a:rPr kumimoji="1" lang="zh-CN" altLang="en-US" dirty="0"/>
              <a:t> </a:t>
            </a:r>
            <a:r>
              <a:rPr kumimoji="1" lang="en-US" altLang="zh-CN" dirty="0"/>
              <a:t>get</a:t>
            </a:r>
            <a:r>
              <a:rPr kumimoji="1" lang="zh-CN" altLang="en-US" dirty="0"/>
              <a:t> </a:t>
            </a:r>
            <a:r>
              <a:rPr kumimoji="1" lang="en-US" altLang="zh-CN" dirty="0"/>
              <a:t>an</a:t>
            </a:r>
            <a:r>
              <a:rPr kumimoji="1" lang="zh-CN" altLang="en-US" dirty="0"/>
              <a:t> </a:t>
            </a:r>
            <a:r>
              <a:rPr kumimoji="1" lang="en-US" altLang="zh-CN" dirty="0"/>
              <a:t>plaintext.</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a:t>
            </a:r>
            <a:r>
              <a:rPr kumimoji="1" lang="zh-CN" altLang="en-US" dirty="0"/>
              <a:t> </a:t>
            </a:r>
            <a:r>
              <a:rPr kumimoji="1" lang="en-US" altLang="zh-CN" dirty="0"/>
              <a:t>even</a:t>
            </a:r>
            <a:r>
              <a:rPr kumimoji="1" lang="zh-CN" altLang="en-US" dirty="0"/>
              <a:t> </a:t>
            </a:r>
            <a:r>
              <a:rPr kumimoji="1" lang="en-US" altLang="zh-CN" dirty="0"/>
              <a:t>more</a:t>
            </a:r>
            <a:r>
              <a:rPr kumimoji="1" lang="zh-CN" altLang="en-US" dirty="0"/>
              <a:t> </a:t>
            </a:r>
            <a:r>
              <a:rPr kumimoji="1" lang="en-US" altLang="zh-CN" dirty="0"/>
              <a:t>sophistic</a:t>
            </a:r>
            <a:r>
              <a:rPr kumimoji="1" lang="zh-CN" altLang="en-US" dirty="0"/>
              <a:t> </a:t>
            </a:r>
            <a:r>
              <a:rPr kumimoji="1" lang="en-US" altLang="zh-CN" dirty="0"/>
              <a:t>attack</a:t>
            </a:r>
            <a:r>
              <a:rPr kumimoji="1" lang="zh-CN" altLang="en-US" dirty="0"/>
              <a:t> </a:t>
            </a:r>
            <a:r>
              <a:rPr kumimoji="1" lang="en-US" altLang="zh-CN" dirty="0"/>
              <a:t>is</a:t>
            </a:r>
            <a:r>
              <a:rPr kumimoji="1" lang="zh-CN" altLang="en-US" dirty="0"/>
              <a:t> </a:t>
            </a:r>
            <a:r>
              <a:rPr kumimoji="1" lang="en-US" altLang="zh-CN" dirty="0"/>
              <a:t>to</a:t>
            </a:r>
            <a:r>
              <a:rPr kumimoji="1" lang="zh-CN" altLang="en-US" dirty="0"/>
              <a:t> </a:t>
            </a:r>
            <a:r>
              <a:rPr kumimoji="1" lang="en-US" altLang="zh-CN" dirty="0"/>
              <a:t>use</a:t>
            </a:r>
            <a:r>
              <a:rPr kumimoji="1" lang="zh-CN" altLang="en-US" dirty="0"/>
              <a:t> </a:t>
            </a:r>
            <a:r>
              <a:rPr kumimoji="1" lang="en-US" altLang="zh-CN" dirty="0"/>
              <a:t>the</a:t>
            </a:r>
            <a:r>
              <a:rPr kumimoji="1" lang="zh-CN" altLang="en-US" dirty="0"/>
              <a:t> </a:t>
            </a:r>
            <a:r>
              <a:rPr kumimoji="1" lang="en-US" altLang="zh-CN" dirty="0"/>
              <a:t>motion-detector</a:t>
            </a:r>
            <a:r>
              <a:rPr kumimoji="1" lang="zh-CN" altLang="en-US" dirty="0"/>
              <a:t> </a:t>
            </a:r>
            <a:r>
              <a:rPr kumimoji="1" lang="en-US" altLang="zh-CN" dirty="0"/>
              <a:t>to</a:t>
            </a:r>
            <a:r>
              <a:rPr kumimoji="1" lang="zh-CN" altLang="en-US" dirty="0"/>
              <a:t> </a:t>
            </a:r>
            <a:r>
              <a:rPr kumimoji="1" lang="en-US" altLang="zh-CN" dirty="0"/>
              <a:t>guess</a:t>
            </a:r>
            <a:r>
              <a:rPr kumimoji="1" lang="zh-CN" altLang="en-US" dirty="0"/>
              <a:t> </a:t>
            </a:r>
            <a:r>
              <a:rPr kumimoji="1" lang="en-US" altLang="zh-CN" dirty="0"/>
              <a:t>the</a:t>
            </a:r>
            <a:r>
              <a:rPr kumimoji="1" lang="zh-CN" altLang="en-US" dirty="0"/>
              <a:t> </a:t>
            </a:r>
            <a:r>
              <a:rPr kumimoji="1" lang="en-US" altLang="zh-CN" dirty="0"/>
              <a:t>user's</a:t>
            </a:r>
            <a:r>
              <a:rPr kumimoji="1" lang="zh-CN" altLang="en-US" dirty="0"/>
              <a:t> </a:t>
            </a:r>
            <a:r>
              <a:rPr kumimoji="1" lang="en-US" altLang="zh-CN" dirty="0"/>
              <a:t>PIN</a:t>
            </a:r>
            <a:r>
              <a:rPr kumimoji="1" lang="zh-CN" altLang="en-US" dirty="0"/>
              <a:t> </a:t>
            </a:r>
            <a:r>
              <a:rPr kumimoji="1" lang="en-US" altLang="zh-CN" dirty="0"/>
              <a:t>code,</a:t>
            </a:r>
            <a:r>
              <a:rPr kumimoji="1" lang="zh-CN" altLang="en-US" dirty="0"/>
              <a:t> </a:t>
            </a:r>
            <a:r>
              <a:rPr kumimoji="1" lang="en-US" altLang="zh-CN" dirty="0"/>
              <a:t>just</a:t>
            </a:r>
            <a:r>
              <a:rPr kumimoji="1" lang="zh-CN" altLang="en-US" dirty="0"/>
              <a:t> </a:t>
            </a:r>
            <a:r>
              <a:rPr kumimoji="1" lang="en-US" altLang="zh-CN" dirty="0"/>
              <a:t>by</a:t>
            </a:r>
            <a:r>
              <a:rPr kumimoji="1" lang="zh-CN" altLang="en-US" dirty="0"/>
              <a:t> </a:t>
            </a:r>
            <a:r>
              <a:rPr kumimoji="1" lang="en-US" altLang="zh-CN" dirty="0"/>
              <a:t>learning</a:t>
            </a:r>
            <a:r>
              <a:rPr kumimoji="1" lang="zh-CN" altLang="en-US" dirty="0"/>
              <a:t> </a:t>
            </a:r>
            <a:r>
              <a:rPr kumimoji="1" lang="en-US" altLang="zh-CN" dirty="0"/>
              <a:t>the</a:t>
            </a:r>
            <a:r>
              <a:rPr kumimoji="1" lang="zh-CN" altLang="en-US" dirty="0"/>
              <a:t> </a:t>
            </a:r>
            <a:r>
              <a:rPr kumimoji="1" lang="en-US" altLang="zh-CN" dirty="0"/>
              <a:t>relationship</a:t>
            </a:r>
            <a:r>
              <a:rPr kumimoji="1" lang="zh-CN" altLang="en-US" dirty="0"/>
              <a:t> </a:t>
            </a:r>
            <a:r>
              <a:rPr kumimoji="1" lang="en-US" altLang="zh-CN" dirty="0"/>
              <a:t>between</a:t>
            </a:r>
            <a:r>
              <a:rPr kumimoji="1" lang="zh-CN" altLang="en-US" dirty="0"/>
              <a:t> </a:t>
            </a:r>
            <a:r>
              <a:rPr kumimoji="1" lang="en-US" altLang="zh-CN" dirty="0"/>
              <a:t>the</a:t>
            </a:r>
            <a:r>
              <a:rPr kumimoji="1" lang="zh-CN" altLang="en-US" dirty="0"/>
              <a:t> </a:t>
            </a:r>
            <a:r>
              <a:rPr kumimoji="1" lang="en-US" altLang="zh-CN" dirty="0"/>
              <a:t>PIN</a:t>
            </a:r>
            <a:r>
              <a:rPr kumimoji="1" lang="zh-CN" altLang="en-US" dirty="0"/>
              <a:t> </a:t>
            </a:r>
            <a:r>
              <a:rPr kumimoji="1" lang="en-US" altLang="zh-CN" dirty="0"/>
              <a:t>and</a:t>
            </a:r>
            <a:r>
              <a:rPr kumimoji="1" lang="zh-CN" altLang="en-US" dirty="0"/>
              <a:t> </a:t>
            </a:r>
            <a:r>
              <a:rPr kumimoji="1" lang="en-US" altLang="zh-CN" dirty="0"/>
              <a:t>phone's</a:t>
            </a:r>
            <a:r>
              <a:rPr kumimoji="1" lang="zh-CN" altLang="en-US" dirty="0"/>
              <a:t> </a:t>
            </a:r>
            <a:r>
              <a:rPr kumimoji="1" lang="en-US" altLang="zh-CN" dirty="0"/>
              <a:t>inclination</a:t>
            </a:r>
            <a:r>
              <a:rPr kumimoji="1" lang="zh-CN" altLang="en-US" dirty="0"/>
              <a:t> </a:t>
            </a:r>
            <a:r>
              <a:rPr kumimoji="1" lang="en-US" altLang="zh-CN" dirty="0"/>
              <a:t>when</a:t>
            </a:r>
            <a:r>
              <a:rPr kumimoji="1" lang="zh-CN" altLang="en-US" dirty="0"/>
              <a:t> </a:t>
            </a:r>
            <a:r>
              <a:rPr kumimoji="1" lang="en-US" altLang="zh-CN" dirty="0"/>
              <a:t>pressing</a:t>
            </a:r>
            <a:r>
              <a:rPr kumimoji="1" lang="zh-CN" altLang="en-US" dirty="0"/>
              <a:t> </a:t>
            </a:r>
            <a:r>
              <a:rPr kumimoji="1" lang="en-US" altLang="zh-CN" dirty="0"/>
              <a:t>the</a:t>
            </a:r>
            <a:r>
              <a:rPr kumimoji="1" lang="zh-CN" altLang="en-US" dirty="0"/>
              <a:t> </a:t>
            </a:r>
            <a:r>
              <a:rPr kumimoji="1" lang="en-US" altLang="zh-CN" dirty="0"/>
              <a:t>screen.</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taint analysis would show that an attack</a:t>
            </a:r>
            <a:r>
              <a:rPr lang="en-US" baseline="0" dirty="0"/>
              <a:t> is possible. Notice, however, that we don't know exactly how variable L is tainted by variable I as we do in a fully symbolic execution—we only know that the two variables are related. However, computing a fully symbolic execution is often intractable, thus giving dynamic taint analysis some merits as a higher-performance technique (in terms of computational efficiency).</a:t>
            </a:r>
            <a:endParaRPr lang="en-US" dirty="0"/>
          </a:p>
        </p:txBody>
      </p:sp>
      <p:sp>
        <p:nvSpPr>
          <p:cNvPr id="4" name="Slide Number Placeholder 3"/>
          <p:cNvSpPr>
            <a:spLocks noGrp="1"/>
          </p:cNvSpPr>
          <p:nvPr>
            <p:ph type="sldNum" sz="quarter" idx="10"/>
          </p:nvPr>
        </p:nvSpPr>
        <p:spPr/>
        <p:txBody>
          <a:bodyPr/>
          <a:lstStyle/>
          <a:p>
            <a:fld id="{1C5E798D-4D8D-41D8-ADFA-99320F13F65E}"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5E798D-4D8D-41D8-ADFA-99320F13F65E}"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taint analysis</a:t>
            </a:r>
            <a:r>
              <a:rPr lang="en-US" baseline="0" dirty="0"/>
              <a:t> would show that an attack is not possible.</a:t>
            </a:r>
            <a:endParaRPr lang="en-US" dirty="0"/>
          </a:p>
        </p:txBody>
      </p:sp>
      <p:sp>
        <p:nvSpPr>
          <p:cNvPr id="4" name="Slide Number Placeholder 3"/>
          <p:cNvSpPr>
            <a:spLocks noGrp="1"/>
          </p:cNvSpPr>
          <p:nvPr>
            <p:ph type="sldNum" sz="quarter" idx="10"/>
          </p:nvPr>
        </p:nvSpPr>
        <p:spPr/>
        <p:txBody>
          <a:bodyPr/>
          <a:lstStyle/>
          <a:p>
            <a:fld id="{1C5E798D-4D8D-41D8-ADFA-99320F13F65E}"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figure from the conference</a:t>
            </a:r>
            <a:r>
              <a:rPr lang="en-US" baseline="0" dirty="0"/>
              <a:t> paper describing </a:t>
            </a:r>
            <a:r>
              <a:rPr lang="en-US" baseline="0" dirty="0" err="1"/>
              <a:t>TaintDroid</a:t>
            </a:r>
            <a:r>
              <a:rPr lang="en-US" baseline="0" dirty="0"/>
              <a:t>. It shows where, at a high level, the various kinds of taint analysis are done. There are 4 "granularities" of taint analysis used in </a:t>
            </a:r>
            <a:r>
              <a:rPr lang="en-US" baseline="0" dirty="0" err="1"/>
              <a:t>TaintDroid</a:t>
            </a:r>
            <a:r>
              <a:rPr lang="en-US" baseline="0" dirty="0"/>
              <a:t>, including message-level, variable-level, method-level, and file-level.</a:t>
            </a:r>
            <a:endParaRPr lang="en-US" dirty="0"/>
          </a:p>
        </p:txBody>
      </p:sp>
      <p:sp>
        <p:nvSpPr>
          <p:cNvPr id="4" name="Slide Number Placeholder 3"/>
          <p:cNvSpPr>
            <a:spLocks noGrp="1"/>
          </p:cNvSpPr>
          <p:nvPr>
            <p:ph type="sldNum" sz="quarter" idx="10"/>
          </p:nvPr>
        </p:nvSpPr>
        <p:spPr/>
        <p:txBody>
          <a:bodyPr/>
          <a:lstStyle/>
          <a:p>
            <a:fld id="{1C5E798D-4D8D-41D8-ADFA-99320F13F65E}"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Sensitive information is </a:t>
            </a:r>
            <a:r>
              <a:rPr lang="en-US" dirty="0" err="1"/>
              <a:t>ﬁrst</a:t>
            </a:r>
            <a:r>
              <a:rPr lang="en-US" dirty="0"/>
              <a:t> </a:t>
            </a:r>
            <a:r>
              <a:rPr lang="en-US" dirty="0" err="1"/>
              <a:t>identiﬁed</a:t>
            </a:r>
            <a:r>
              <a:rPr lang="en-US" dirty="0"/>
              <a:t> at a taint source, where a taint marking indicating the information type is assigned. Dynamic taint</a:t>
            </a:r>
            <a:endParaRPr lang="en-US" dirty="0"/>
          </a:p>
          <a:p>
            <a:r>
              <a:rPr lang="en-US" dirty="0"/>
              <a:t>analysis tracks how labeled data impacts other data in a way that might leak the original sensitive information.</a:t>
            </a:r>
            <a:endParaRPr lang="en-US" dirty="0"/>
          </a:p>
          <a:p>
            <a:r>
              <a:rPr lang="en-US" dirty="0"/>
              <a:t>Finally, the impacted data is </a:t>
            </a:r>
            <a:r>
              <a:rPr lang="en-US" dirty="0" err="1"/>
              <a:t>identiﬁed</a:t>
            </a:r>
            <a:r>
              <a:rPr lang="en-US" dirty="0"/>
              <a:t> before it leaves the system at a taint sink (usually the network interface).</a:t>
            </a:r>
            <a:endParaRPr lang="en-US" dirty="0"/>
          </a:p>
          <a:p>
            <a:endParaRPr lang="en-US" dirty="0"/>
          </a:p>
          <a:p>
            <a:r>
              <a:rPr lang="en-US" dirty="0"/>
              <a:t>possible false positive</a:t>
            </a:r>
            <a:endParaRPr lang="en-US" dirty="0"/>
          </a:p>
        </p:txBody>
      </p:sp>
      <p:sp>
        <p:nvSpPr>
          <p:cNvPr id="4" name="Slide Number Placeholder 3"/>
          <p:cNvSpPr>
            <a:spLocks noGrp="1"/>
          </p:cNvSpPr>
          <p:nvPr>
            <p:ph type="sldNum" sz="quarter" idx="10"/>
          </p:nvPr>
        </p:nvSpPr>
        <p:spPr/>
        <p:txBody>
          <a:bodyPr/>
          <a:lstStyle/>
          <a:p>
            <a:fld id="{2718EED5-28DD-4846-9B92-A98F38773B74}" type="slidenum">
              <a:rPr lang="en-US" smtClean="0">
                <a:solidFill>
                  <a:prstClr val="black"/>
                </a:solidFill>
              </a:rPr>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a:solidFill>
                  <a:schemeClr val="tx1"/>
                </a:solidFill>
                <a:effectLst/>
                <a:latin typeface="+mn-lt"/>
                <a:ea typeface="+mn-ea"/>
                <a:cs typeface="+mn-cs"/>
              </a:rPr>
              <a:t>fourxm</a:t>
            </a:r>
            <a:r>
              <a:rPr lang="en-US" altLang="zh-CN" sz="1200" kern="1200" dirty="0">
                <a:solidFill>
                  <a:schemeClr val="tx1"/>
                </a:solidFill>
                <a:effectLst/>
                <a:latin typeface="+mn-lt"/>
                <a:ea typeface="+mn-ea"/>
                <a:cs typeface="+mn-cs"/>
              </a:rPr>
              <a:t>-&gt;tracks is initialized with NULL (see line 107).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If the processed media file contains a </a:t>
            </a:r>
            <a:r>
              <a:rPr lang="en-US" altLang="zh-CN" sz="1200" kern="1200" dirty="0" err="1">
                <a:solidFill>
                  <a:schemeClr val="tx1"/>
                </a:solidFill>
                <a:effectLst/>
                <a:latin typeface="+mn-lt"/>
                <a:ea typeface="+mn-ea"/>
                <a:cs typeface="+mn-cs"/>
              </a:rPr>
              <a:t>strk</a:t>
            </a:r>
            <a:r>
              <a:rPr lang="en-US" altLang="zh-CN" sz="1200" kern="1200" dirty="0">
                <a:solidFill>
                  <a:schemeClr val="tx1"/>
                </a:solidFill>
                <a:effectLst/>
                <a:latin typeface="+mn-lt"/>
                <a:ea typeface="+mn-ea"/>
                <a:cs typeface="+mn-cs"/>
              </a:rPr>
              <a:t> chunk, the value of </a:t>
            </a:r>
            <a:r>
              <a:rPr lang="en-US" altLang="zh-CN" sz="1200" kern="1200" dirty="0" err="1">
                <a:solidFill>
                  <a:schemeClr val="tx1"/>
                </a:solidFill>
                <a:effectLst/>
                <a:latin typeface="+mn-lt"/>
                <a:ea typeface="+mn-ea"/>
                <a:cs typeface="+mn-cs"/>
              </a:rPr>
              <a:t>current_track</a:t>
            </a:r>
            <a:r>
              <a:rPr lang="en-US" altLang="zh-CN" sz="1200" kern="1200" dirty="0">
                <a:solidFill>
                  <a:schemeClr val="tx1"/>
                </a:solidFill>
                <a:effectLst/>
                <a:latin typeface="+mn-lt"/>
                <a:ea typeface="+mn-ea"/>
                <a:cs typeface="+mn-cs"/>
              </a:rPr>
              <a:t> is extracted from the user-controlled data of the chunk (see line 166).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If the value of </a:t>
            </a:r>
            <a:r>
              <a:rPr lang="en-US" altLang="zh-CN" sz="1200" kern="1200" dirty="0" err="1">
                <a:solidFill>
                  <a:schemeClr val="tx1"/>
                </a:solidFill>
                <a:effectLst/>
                <a:latin typeface="+mn-lt"/>
                <a:ea typeface="+mn-ea"/>
                <a:cs typeface="+mn-cs"/>
              </a:rPr>
              <a:t>current_track</a:t>
            </a:r>
            <a:r>
              <a:rPr lang="en-US" altLang="zh-CN" sz="1200" kern="1200" dirty="0">
                <a:solidFill>
                  <a:schemeClr val="tx1"/>
                </a:solidFill>
                <a:effectLst/>
                <a:latin typeface="+mn-lt"/>
                <a:ea typeface="+mn-ea"/>
                <a:cs typeface="+mn-cs"/>
              </a:rPr>
              <a:t> + 1 is greater than zero, a heap buffer is allocated.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heap buffer pointed to by </a:t>
            </a:r>
            <a:r>
              <a:rPr lang="en-US" altLang="zh-CN" sz="1200" kern="1200" dirty="0" err="1">
                <a:solidFill>
                  <a:schemeClr val="tx1"/>
                </a:solidFill>
                <a:effectLst/>
                <a:latin typeface="+mn-lt"/>
                <a:ea typeface="+mn-ea"/>
                <a:cs typeface="+mn-cs"/>
              </a:rPr>
              <a:t>fourxm</a:t>
            </a:r>
            <a:r>
              <a:rPr lang="en-US" altLang="zh-CN" sz="1200" kern="1200" dirty="0">
                <a:solidFill>
                  <a:schemeClr val="tx1"/>
                </a:solidFill>
                <a:effectLst/>
                <a:latin typeface="+mn-lt"/>
                <a:ea typeface="+mn-ea"/>
                <a:cs typeface="+mn-cs"/>
              </a:rPr>
              <a:t>-&gt;tracks is allocated (see lines 171 and 172).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Data from the media file is copied into the heap buffer, while </a:t>
            </a:r>
            <a:r>
              <a:rPr lang="en-US" altLang="zh-CN" sz="1200" kern="1200" dirty="0" err="1">
                <a:solidFill>
                  <a:schemeClr val="tx1"/>
                </a:solidFill>
                <a:effectLst/>
                <a:latin typeface="+mn-lt"/>
                <a:ea typeface="+mn-ea"/>
                <a:cs typeface="+mn-cs"/>
              </a:rPr>
              <a:t>current_track</a:t>
            </a:r>
            <a:r>
              <a:rPr lang="en-US" altLang="zh-CN" sz="1200" kern="1200" dirty="0">
                <a:solidFill>
                  <a:schemeClr val="tx1"/>
                </a:solidFill>
                <a:effectLst/>
                <a:latin typeface="+mn-lt"/>
                <a:ea typeface="+mn-ea"/>
                <a:cs typeface="+mn-cs"/>
              </a:rPr>
              <a:t> is used as an array index into the buffer (see lines 178–181).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When this behavior occurs, there is no security problem. </a:t>
            </a:r>
            <a:endParaRPr lang="en-US" altLang="zh-CN" sz="1200" kern="1200" dirty="0">
              <a:solidFill>
                <a:schemeClr val="tx1"/>
              </a:solidFill>
              <a:effectLst/>
              <a:latin typeface="+mn-lt"/>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a:solidFill>
                  <a:schemeClr val="tx1"/>
                </a:solidFill>
                <a:effectLst/>
                <a:latin typeface="+mn-lt"/>
                <a:ea typeface="+mn-ea"/>
                <a:cs typeface="+mn-cs"/>
              </a:rPr>
              <a:t>fourxm</a:t>
            </a:r>
            <a:r>
              <a:rPr lang="en-US" altLang="zh-CN" sz="1200" kern="1200" dirty="0">
                <a:solidFill>
                  <a:schemeClr val="tx1"/>
                </a:solidFill>
                <a:effectLst/>
                <a:latin typeface="+mn-lt"/>
                <a:ea typeface="+mn-ea"/>
                <a:cs typeface="+mn-cs"/>
              </a:rPr>
              <a:t>-&gt;tracks is initialized with NULL (see line 107).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If the processed media file contains a </a:t>
            </a:r>
            <a:r>
              <a:rPr lang="en-US" altLang="zh-CN" sz="1200" kern="1200" dirty="0" err="1">
                <a:solidFill>
                  <a:schemeClr val="tx1"/>
                </a:solidFill>
                <a:effectLst/>
                <a:latin typeface="+mn-lt"/>
                <a:ea typeface="+mn-ea"/>
                <a:cs typeface="+mn-cs"/>
              </a:rPr>
              <a:t>strk</a:t>
            </a:r>
            <a:r>
              <a:rPr lang="en-US" altLang="zh-CN" sz="1200" kern="1200" dirty="0">
                <a:solidFill>
                  <a:schemeClr val="tx1"/>
                </a:solidFill>
                <a:effectLst/>
                <a:latin typeface="+mn-lt"/>
                <a:ea typeface="+mn-ea"/>
                <a:cs typeface="+mn-cs"/>
              </a:rPr>
              <a:t> chunk, the value of </a:t>
            </a:r>
            <a:r>
              <a:rPr lang="en-US" altLang="zh-CN" sz="1200" kern="1200" dirty="0" err="1">
                <a:solidFill>
                  <a:schemeClr val="tx1"/>
                </a:solidFill>
                <a:effectLst/>
                <a:latin typeface="+mn-lt"/>
                <a:ea typeface="+mn-ea"/>
                <a:cs typeface="+mn-cs"/>
              </a:rPr>
              <a:t>current_track</a:t>
            </a:r>
            <a:r>
              <a:rPr lang="en-US" altLang="zh-CN" sz="1200" kern="1200" dirty="0">
                <a:solidFill>
                  <a:schemeClr val="tx1"/>
                </a:solidFill>
                <a:effectLst/>
                <a:latin typeface="+mn-lt"/>
                <a:ea typeface="+mn-ea"/>
                <a:cs typeface="+mn-cs"/>
              </a:rPr>
              <a:t> is extracted from the user-controlled data of the chunk (see line 166).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If the value of </a:t>
            </a:r>
            <a:r>
              <a:rPr lang="en-US" altLang="zh-CN" sz="1200" kern="1200" dirty="0" err="1">
                <a:solidFill>
                  <a:schemeClr val="tx1"/>
                </a:solidFill>
                <a:effectLst/>
                <a:latin typeface="+mn-lt"/>
                <a:ea typeface="+mn-ea"/>
                <a:cs typeface="+mn-cs"/>
              </a:rPr>
              <a:t>current_track</a:t>
            </a:r>
            <a:r>
              <a:rPr lang="en-US" altLang="zh-CN" sz="1200" kern="1200" dirty="0">
                <a:solidFill>
                  <a:schemeClr val="tx1"/>
                </a:solidFill>
                <a:effectLst/>
                <a:latin typeface="+mn-lt"/>
                <a:ea typeface="+mn-ea"/>
                <a:cs typeface="+mn-cs"/>
              </a:rPr>
              <a:t> + 1 is less than zero, the heap buffer isn't allocated. </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fourxm</a:t>
            </a:r>
            <a:r>
              <a:rPr lang="en-US" altLang="zh-CN" sz="1200" kern="1200" dirty="0">
                <a:solidFill>
                  <a:schemeClr val="tx1"/>
                </a:solidFill>
                <a:effectLst/>
                <a:latin typeface="+mn-lt"/>
                <a:ea typeface="+mn-ea"/>
                <a:cs typeface="+mn-cs"/>
              </a:rPr>
              <a:t>-&gt;tracks still points to memory address NULL.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resulting NULL pointer is then dereferenced by the user- controlled value of </a:t>
            </a:r>
            <a:r>
              <a:rPr lang="en-US" altLang="zh-CN" sz="1200" kern="1200" dirty="0" err="1">
                <a:solidFill>
                  <a:schemeClr val="tx1"/>
                </a:solidFill>
                <a:effectLst/>
                <a:latin typeface="+mn-lt"/>
                <a:ea typeface="+mn-ea"/>
                <a:cs typeface="+mn-cs"/>
              </a:rPr>
              <a:t>current_track</a:t>
            </a:r>
            <a:r>
              <a:rPr lang="en-US" altLang="zh-CN" sz="1200" kern="1200" dirty="0">
                <a:solidFill>
                  <a:schemeClr val="tx1"/>
                </a:solidFill>
                <a:effectLst/>
                <a:latin typeface="+mn-lt"/>
                <a:ea typeface="+mn-ea"/>
                <a:cs typeface="+mn-cs"/>
              </a:rPr>
              <a:t>, and four 32-bit values of user- controlled data are assigned to the dereferenced locations (see lines 178–181).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Four user-controlled memory locations can be overwritten with four user-controlled data bytes each. </a:t>
            </a:r>
            <a:endParaRPr lang="en-US" altLang="zh-CN" sz="1200" kern="1200" dirty="0">
              <a:solidFill>
                <a:schemeClr val="tx1"/>
              </a:solidFill>
              <a:effectLst/>
              <a:latin typeface="+mn-lt"/>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But if receiver is also sending to the sender (i.e., if they're both sending), the receiver might use that sequence number.  So     adversary could replay in the other direction (a "reflection" attack)   - Solution: Use different keys in each direction</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sz="1200" b="0" i="0" u="none" strike="noStrike" kern="1200" dirty="0" err="1">
                <a:solidFill>
                  <a:schemeClr val="tx1"/>
                </a:solidFill>
                <a:effectLst/>
                <a:latin typeface="+mn-lt"/>
                <a:ea typeface="+mn-ea"/>
                <a:cs typeface="+mn-cs"/>
              </a:rPr>
              <a:t>g^i</a:t>
            </a:r>
            <a:r>
              <a:rPr lang="en-GB" altLang="zh-CN" sz="1200" b="0" i="0" u="none" strike="noStrike" kern="1200" dirty="0">
                <a:solidFill>
                  <a:schemeClr val="tx1"/>
                </a:solidFill>
                <a:effectLst/>
                <a:latin typeface="+mn-lt"/>
                <a:ea typeface="+mn-ea"/>
                <a:cs typeface="+mn-cs"/>
              </a:rPr>
              <a:t> mod p ≠ </a:t>
            </a:r>
            <a:r>
              <a:rPr lang="en-GB" altLang="zh-CN" sz="1200" b="0" i="0" u="none" strike="noStrike" kern="1200" dirty="0" err="1">
                <a:solidFill>
                  <a:schemeClr val="tx1"/>
                </a:solidFill>
                <a:effectLst/>
                <a:latin typeface="+mn-lt"/>
                <a:ea typeface="+mn-ea"/>
                <a:cs typeface="+mn-cs"/>
              </a:rPr>
              <a:t>g^j</a:t>
            </a:r>
            <a:r>
              <a:rPr lang="en-GB" altLang="zh-CN" sz="1200" b="0" i="0" u="none" strike="noStrike" kern="1200" dirty="0">
                <a:solidFill>
                  <a:schemeClr val="tx1"/>
                </a:solidFill>
                <a:effectLst/>
                <a:latin typeface="+mn-lt"/>
                <a:ea typeface="+mn-ea"/>
                <a:cs typeface="+mn-cs"/>
              </a:rPr>
              <a:t> mod p </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p</a:t>
            </a:r>
            <a:r>
              <a:rPr lang="zh-CN" altLang="en-US" sz="1200" b="0" i="0" u="none" strike="noStrike" kern="1200" dirty="0">
                <a:solidFill>
                  <a:schemeClr val="tx1"/>
                </a:solidFill>
                <a:effectLst/>
                <a:latin typeface="+mn-lt"/>
                <a:ea typeface="+mn-ea"/>
                <a:cs typeface="+mn-cs"/>
              </a:rPr>
              <a:t>为素数），其中</a:t>
            </a:r>
            <a:r>
              <a:rPr lang="en-GB" altLang="zh-CN" sz="1200" b="0" i="0" u="none" strike="noStrike" kern="1200" dirty="0" err="1">
                <a:solidFill>
                  <a:schemeClr val="tx1"/>
                </a:solidFill>
                <a:effectLst/>
                <a:latin typeface="+mn-lt"/>
                <a:ea typeface="+mn-ea"/>
                <a:cs typeface="+mn-cs"/>
              </a:rPr>
              <a:t>i≠j</a:t>
            </a:r>
            <a:r>
              <a:rPr lang="zh-CN" altLang="en-US" sz="1200" b="0" i="0" u="none" strike="noStrike" kern="1200" dirty="0">
                <a:solidFill>
                  <a:schemeClr val="tx1"/>
                </a:solidFill>
                <a:effectLst/>
                <a:latin typeface="+mn-lt"/>
                <a:ea typeface="+mn-ea"/>
                <a:cs typeface="+mn-cs"/>
              </a:rPr>
              <a:t>且</a:t>
            </a:r>
            <a:r>
              <a:rPr lang="en-GB" altLang="zh-CN" sz="1200" b="0" i="0" u="none" strike="noStrike" kern="1200" dirty="0" err="1">
                <a:solidFill>
                  <a:schemeClr val="tx1"/>
                </a:solidFill>
                <a:effectLst/>
                <a:latin typeface="+mn-lt"/>
                <a:ea typeface="+mn-ea"/>
                <a:cs typeface="+mn-cs"/>
              </a:rPr>
              <a:t>i</a:t>
            </a:r>
            <a:r>
              <a:rPr lang="en-GB" altLang="zh-CN" sz="1200" b="0" i="0" u="none" strike="noStrike" kern="1200" dirty="0">
                <a:solidFill>
                  <a:schemeClr val="tx1"/>
                </a:solidFill>
                <a:effectLst/>
                <a:latin typeface="+mn-lt"/>
                <a:ea typeface="+mn-ea"/>
                <a:cs typeface="+mn-cs"/>
              </a:rPr>
              <a:t>, j</a:t>
            </a:r>
            <a:r>
              <a:rPr lang="zh-CN" altLang="en-US" sz="1200" b="0" i="0" u="none" strike="noStrike" kern="1200" dirty="0">
                <a:solidFill>
                  <a:schemeClr val="tx1"/>
                </a:solidFill>
                <a:effectLst/>
                <a:latin typeface="+mn-lt"/>
                <a:ea typeface="+mn-ea"/>
                <a:cs typeface="+mn-cs"/>
              </a:rPr>
              <a:t>介于</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至</a:t>
            </a:r>
            <a:r>
              <a:rPr lang="en-US" altLang="zh-CN"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p-1)</a:t>
            </a:r>
            <a:r>
              <a:rPr lang="zh-CN" altLang="en-US" sz="1200" b="0" i="0" u="none" strike="noStrike" kern="1200" dirty="0">
                <a:solidFill>
                  <a:schemeClr val="tx1"/>
                </a:solidFill>
                <a:effectLst/>
                <a:latin typeface="+mn-lt"/>
                <a:ea typeface="+mn-ea"/>
                <a:cs typeface="+mn-cs"/>
              </a:rPr>
              <a:t>之间，则</a:t>
            </a:r>
            <a:r>
              <a:rPr lang="en-GB" altLang="zh-CN" sz="1200" b="0" i="0" u="none" strike="noStrike" kern="1200" dirty="0">
                <a:solidFill>
                  <a:schemeClr val="tx1"/>
                </a:solidFill>
                <a:effectLst/>
                <a:latin typeface="+mn-lt"/>
                <a:ea typeface="+mn-ea"/>
                <a:cs typeface="+mn-cs"/>
              </a:rPr>
              <a:t>g</a:t>
            </a:r>
            <a:r>
              <a:rPr lang="zh-CN" altLang="en-US" sz="1200" b="0" i="0" u="none" strike="noStrike" kern="1200" dirty="0">
                <a:solidFill>
                  <a:schemeClr val="tx1"/>
                </a:solidFill>
                <a:effectLst/>
                <a:latin typeface="+mn-lt"/>
                <a:ea typeface="+mn-ea"/>
                <a:cs typeface="+mn-cs"/>
              </a:rPr>
              <a:t>为</a:t>
            </a:r>
            <a:r>
              <a:rPr lang="en-GB" altLang="zh-CN" sz="1200" b="0" i="0" u="none" strike="noStrike" kern="1200" dirty="0">
                <a:solidFill>
                  <a:schemeClr val="tx1"/>
                </a:solidFill>
                <a:effectLst/>
                <a:latin typeface="+mn-lt"/>
                <a:ea typeface="+mn-ea"/>
                <a:cs typeface="+mn-cs"/>
              </a:rPr>
              <a:t>p</a:t>
            </a:r>
            <a:r>
              <a:rPr lang="zh-CN" altLang="en-US" sz="1200" b="0" i="0" u="none" strike="noStrike" kern="1200" dirty="0">
                <a:solidFill>
                  <a:schemeClr val="tx1"/>
                </a:solidFill>
                <a:effectLst/>
                <a:latin typeface="+mn-lt"/>
                <a:ea typeface="+mn-ea"/>
                <a:cs typeface="+mn-cs"/>
              </a:rPr>
              <a:t>的原根</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600" b="1" dirty="0"/>
              <a:t>Alternative: avoid CAs by using public keys as names (protocols: SPKI/SDSI)</a:t>
            </a:r>
            <a:endParaRPr kumimoji="1" lang="zh-CN" altLang="en-US" sz="1600" b="1" dirty="0"/>
          </a:p>
          <a:p>
            <a:pPr lvl="1"/>
            <a:r>
              <a:rPr kumimoji="1" lang="en-US" altLang="zh-CN" sz="1400" dirty="0"/>
              <a:t>Works well for names that users do not have to remember/enter</a:t>
            </a:r>
            <a:endParaRPr kumimoji="1" lang="zh-CN" altLang="en-US" sz="1400" dirty="0"/>
          </a:p>
          <a:p>
            <a:endParaRPr lang="zh-CN" altLang="en-US" dirty="0"/>
          </a:p>
        </p:txBody>
      </p:sp>
      <p:sp>
        <p:nvSpPr>
          <p:cNvPr id="4" name="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pre-master-key</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is</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random</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number</a:t>
            </a:r>
            <a:endParaRPr lang="zh-CN" altLang="en-US"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PRF:</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pseudo random function</a:t>
            </a:r>
            <a:endParaRPr kumimoji="1"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Master key is a 48-byte sequence</a:t>
            </a:r>
            <a:endParaRPr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r>
              <a:rPr kumimoji="1" lang="en-US" altLang="zh-CN" dirty="0"/>
              <a:t>https://crypto.stackexchange.com/questions/1139/what-is-the-purpose-of-four-different-secrets-shared-by-client-and-server-in-ssl</a:t>
            </a:r>
            <a:endParaRPr kumimoji="1" lang="zh-CN" altLang="en-US" dirty="0"/>
          </a:p>
        </p:txBody>
      </p:sp>
      <p:sp>
        <p:nvSpPr>
          <p:cNvPr id="4" name="幻灯片编号占位符 3"/>
          <p:cNvSpPr>
            <a:spLocks noGrp="1"/>
          </p:cNvSpPr>
          <p:nvPr>
            <p:ph type="sldNum" sz="quarter" idx="10"/>
          </p:nvPr>
        </p:nvSpPr>
        <p:spPr/>
        <p:txBody>
          <a:bodyPr/>
          <a:lstStyle/>
          <a:p>
            <a:fld id="{3A84A077-83E9-49A7-9F59-234D78BD694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Arial" panose="020B0604020202020204" pitchFamily="34" charset="0"/>
                <a:cs typeface="Arial" panose="020B0604020202020204" pitchFamily="34" charset="0"/>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28866"/>
            <a:ext cx="8229600" cy="900442"/>
          </a:xfrm>
        </p:spPr>
        <p:txBody>
          <a:bodyPr>
            <a:normAutofit/>
          </a:bodyPr>
          <a:lstStyle>
            <a:lvl1pPr>
              <a:defRPr sz="2400" b="1">
                <a:solidFill>
                  <a:schemeClr val="accent1"/>
                </a:solidFill>
                <a:latin typeface="Arial" panose="020B0604020202020204" pitchFamily="34" charset="0"/>
                <a:ea typeface="+mn-ea"/>
                <a:cs typeface="Arial" panose="020B0604020202020204" pitchFamily="34" charset="0"/>
              </a:defRPr>
            </a:lvl1pPr>
          </a:lstStyle>
          <a:p>
            <a:r>
              <a:rPr lang="en-US" altLang="zh-CN" dirty="0"/>
              <a:t>xx</a:t>
            </a:r>
            <a:endParaRPr lang="zh-CN" altLang="en-US" dirty="0"/>
          </a:p>
        </p:txBody>
      </p:sp>
      <p:sp>
        <p:nvSpPr>
          <p:cNvPr id="3" name="内容占位符 2"/>
          <p:cNvSpPr>
            <a:spLocks noGrp="1"/>
          </p:cNvSpPr>
          <p:nvPr>
            <p:ph idx="1" hasCustomPrompt="1"/>
          </p:nvPr>
        </p:nvSpPr>
        <p:spPr>
          <a:xfrm>
            <a:off x="457200" y="1129308"/>
            <a:ext cx="8229600" cy="3771636"/>
          </a:xfrm>
        </p:spPr>
        <p:txBody>
          <a:bodyPr>
            <a:normAutofit/>
          </a:bodyPr>
          <a:lstStyle>
            <a:lvl1pPr marL="0" indent="0">
              <a:lnSpc>
                <a:spcPct val="120000"/>
              </a:lnSpc>
              <a:buFontTx/>
              <a:buNone/>
              <a:defRPr sz="1800" b="1" i="0">
                <a:latin typeface="Arial" panose="020B0604020202020204" pitchFamily="34" charset="0"/>
                <a:ea typeface="+mn-ea"/>
                <a:cs typeface="Arial" panose="020B0604020202020204" pitchFamily="34" charset="0"/>
              </a:defRPr>
            </a:lvl1pPr>
            <a:lvl2pPr marL="360045">
              <a:lnSpc>
                <a:spcPct val="120000"/>
              </a:lnSpc>
              <a:defRPr sz="1800" b="0" i="0">
                <a:latin typeface="Arial" panose="020B0604020202020204" pitchFamily="34" charset="0"/>
                <a:ea typeface="+mn-ea"/>
                <a:cs typeface="Arial" panose="020B0604020202020204" pitchFamily="34" charset="0"/>
              </a:defRPr>
            </a:lvl2pPr>
            <a:lvl3pPr marL="582930" indent="-225425">
              <a:lnSpc>
                <a:spcPct val="120000"/>
              </a:lnSpc>
              <a:defRPr sz="1800" b="0" i="0">
                <a:latin typeface="Arial" panose="020B0604020202020204" pitchFamily="34" charset="0"/>
                <a:ea typeface="+mn-ea"/>
                <a:cs typeface="Arial" panose="020B0604020202020204" pitchFamily="34" charset="0"/>
              </a:defRPr>
            </a:lvl3pPr>
            <a:lvl4pPr>
              <a:lnSpc>
                <a:spcPct val="120000"/>
              </a:lnSpc>
              <a:defRPr sz="1800" b="0" i="0">
                <a:latin typeface="+mn-ea"/>
                <a:ea typeface="+mn-ea"/>
                <a:cs typeface="PingFang SC" panose="020B0400000000000000" pitchFamily="34" charset="-122"/>
              </a:defRPr>
            </a:lvl4pPr>
            <a:lvl5pPr>
              <a:lnSpc>
                <a:spcPct val="120000"/>
              </a:lnSpc>
              <a:defRPr sz="1800" b="0" i="0">
                <a:latin typeface="+mn-ea"/>
                <a:ea typeface="+mn-ea"/>
                <a:cs typeface="PingFang SC" panose="020B0400000000000000" pitchFamily="34" charset="-122"/>
              </a:defRPr>
            </a:lvl5pPr>
          </a:lstStyle>
          <a:p>
            <a:pPr lvl="0"/>
            <a:r>
              <a:rPr lang="en-US" altLang="zh-CN" dirty="0" err="1"/>
              <a:t>yy</a:t>
            </a:r>
            <a:endParaRPr lang="zh-CN" altLang="en-US" dirty="0"/>
          </a:p>
          <a:p>
            <a:pPr lvl="1"/>
            <a:r>
              <a:rPr lang="en-US" altLang="zh-CN" dirty="0"/>
              <a:t>xx</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fld>
            <a:endParaRPr lang="zh-CN" altLang="en-US"/>
          </a:p>
        </p:txBody>
      </p:sp>
      <p:sp>
        <p:nvSpPr>
          <p:cNvPr id="8" name="三角形 7"/>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6A7A40B-EA42-4A59-BDB5-85EFA65BC5F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A7A40B-EA42-4A59-BDB5-85EFA65BC5F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DE361C3-C043-4A6E-BDCE-8DA1E7D90A3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cs typeface="等线" panose="02010600030101010101" charset="-122"/>
              </a:defRPr>
            </a:lvl1pPr>
          </a:lstStyle>
          <a:p>
            <a:fld id="{ADE361C3-C043-4A6E-BDCE-8DA1E7D90A3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anose="020B0604020202020204" pitchFamily="34" charset="0"/>
        <a:buChar char="•"/>
        <a:defRPr sz="2600" b="0" kern="1200">
          <a:solidFill>
            <a:schemeClr val="tx1">
              <a:lumMod val="75000"/>
              <a:lumOff val="25000"/>
            </a:schemeClr>
          </a:solidFill>
          <a:latin typeface="+mn-lt"/>
          <a:ea typeface="+mn-ea"/>
          <a:cs typeface="等线" panose="02010600030101010101" charset="-122"/>
        </a:defRPr>
      </a:lvl1pPr>
      <a:lvl2pPr marL="742950" indent="-285750" algn="l" defTabSz="914400" rtl="0" eaLnBrk="1" latinLnBrk="0" hangingPunct="1">
        <a:lnSpc>
          <a:spcPct val="120000"/>
        </a:lnSpc>
        <a:spcBef>
          <a:spcPct val="20000"/>
        </a:spcBef>
        <a:buFont typeface="Arial" panose="020B0604020202020204" pitchFamily="34" charset="0"/>
        <a:buChar char="–"/>
        <a:defRPr sz="2400" kern="1200">
          <a:solidFill>
            <a:schemeClr val="tx1">
              <a:lumMod val="75000"/>
              <a:lumOff val="25000"/>
            </a:schemeClr>
          </a:solidFill>
          <a:latin typeface="+mn-lt"/>
          <a:ea typeface="+mn-ea"/>
          <a:cs typeface="等线" panose="02010600030101010101" charset="-122"/>
        </a:defRPr>
      </a:lvl2pPr>
      <a:lvl3pPr marL="1143000" indent="-228600" algn="l" defTabSz="914400" rtl="0" eaLnBrk="1" latinLnBrk="0" hangingPunct="1">
        <a:lnSpc>
          <a:spcPct val="120000"/>
        </a:lnSpc>
        <a:spcBef>
          <a:spcPct val="20000"/>
        </a:spcBef>
        <a:buFont typeface="Arial" panose="020B0604020202020204" pitchFamily="34" charset="0"/>
        <a:buChar char="•"/>
        <a:defRPr sz="2000" kern="1200">
          <a:solidFill>
            <a:schemeClr val="tx1">
              <a:lumMod val="75000"/>
              <a:lumOff val="25000"/>
            </a:schemeClr>
          </a:solidFill>
          <a:latin typeface="+mn-lt"/>
          <a:ea typeface="+mn-ea"/>
          <a:cs typeface="等线" panose="02010600030101010101" charset="-122"/>
        </a:defRPr>
      </a:lvl3pPr>
      <a:lvl4pPr marL="1600200" indent="-228600" algn="l" defTabSz="914400" rtl="0" eaLnBrk="1" latinLnBrk="0" hangingPunct="1">
        <a:lnSpc>
          <a:spcPct val="12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等线" panose="02010600030101010101" charset="-122"/>
        </a:defRPr>
      </a:lvl4pPr>
      <a:lvl5pPr marL="2057400" indent="-228600" algn="l" defTabSz="914400" rtl="0" eaLnBrk="1" latinLnBrk="0" hangingPunct="1">
        <a:lnSpc>
          <a:spcPct val="12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等线" panose="02010600030101010101"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users.ece.cmu.edu/~dbrumley/courses/18487-f10/files/taint-analysis-overview.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31048" y="1492992"/>
            <a:ext cx="9112952" cy="1580532"/>
          </a:xfrm>
        </p:spPr>
        <p:txBody>
          <a:bodyPr>
            <a:noAutofit/>
          </a:bodyPr>
          <a:lstStyle/>
          <a:p>
            <a:pPr>
              <a:lnSpc>
                <a:spcPct val="110000"/>
              </a:lnSpc>
            </a:pPr>
            <a:r>
              <a:rPr kumimoji="1" lang="en-US" altLang="zh-CN" sz="3600" dirty="0"/>
              <a:t>Control</a:t>
            </a:r>
            <a:r>
              <a:rPr kumimoji="1" lang="zh-CN" altLang="en-US" sz="3600" dirty="0"/>
              <a:t> </a:t>
            </a:r>
            <a:r>
              <a:rPr kumimoji="1" lang="en-US" altLang="zh-CN" sz="3600" dirty="0"/>
              <a:t>Flow</a:t>
            </a:r>
            <a:r>
              <a:rPr kumimoji="1" lang="zh-CN" altLang="en-US" sz="3600" dirty="0"/>
              <a:t> </a:t>
            </a:r>
            <a:r>
              <a:rPr kumimoji="1" lang="en-US" altLang="zh-CN" sz="3600" dirty="0"/>
              <a:t>Integrity</a:t>
            </a:r>
            <a:br>
              <a:rPr kumimoji="1" lang="en-US" altLang="zh-CN" sz="3600" dirty="0"/>
            </a:br>
            <a:r>
              <a:rPr kumimoji="1" lang="en-US" altLang="zh-CN" sz="3600" dirty="0"/>
              <a:t>&amp;</a:t>
            </a:r>
            <a:r>
              <a:rPr kumimoji="1" lang="zh-CN" altLang="en-US" sz="3600" dirty="0"/>
              <a:t> </a:t>
            </a:r>
            <a:r>
              <a:rPr kumimoji="1" lang="en-US" altLang="zh-CN" sz="3600" dirty="0"/>
              <a:t>Secure</a:t>
            </a:r>
            <a:r>
              <a:rPr kumimoji="1" lang="zh-CN" altLang="en-US" sz="3600" dirty="0"/>
              <a:t> </a:t>
            </a:r>
            <a:r>
              <a:rPr kumimoji="1" lang="en-US" altLang="zh-CN" sz="3600" dirty="0"/>
              <a:t>Data</a:t>
            </a:r>
            <a:r>
              <a:rPr kumimoji="1" lang="zh-CN" altLang="en-US" sz="3600" dirty="0"/>
              <a:t> </a:t>
            </a:r>
            <a:r>
              <a:rPr kumimoji="1" lang="en-US" altLang="zh-CN" sz="3600" dirty="0"/>
              <a:t>Flow</a:t>
            </a:r>
            <a:endParaRPr kumimoji="1" lang="zh-CN" altLang="en-US" sz="3600" dirty="0">
              <a:latin typeface="+mn-lt"/>
            </a:endParaRPr>
          </a:p>
        </p:txBody>
      </p:sp>
      <p:sp>
        <p:nvSpPr>
          <p:cNvPr id="6" name="副标题 5"/>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75000"/>
                    <a:lumOff val="25000"/>
                  </a:schemeClr>
                </a:solidFill>
                <a:latin typeface="+mj-lt"/>
              </a:rPr>
              <a:t>IPADS,</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Shanghai</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Jiao</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Tong</a:t>
            </a:r>
            <a:r>
              <a:rPr kumimoji="1" lang="zh-CN" altLang="en-US" sz="1800" dirty="0">
                <a:solidFill>
                  <a:schemeClr val="tx1">
                    <a:lumMod val="75000"/>
                    <a:lumOff val="25000"/>
                  </a:schemeClr>
                </a:solidFill>
                <a:latin typeface="+mj-lt"/>
              </a:rPr>
              <a:t> </a:t>
            </a:r>
            <a:r>
              <a:rPr kumimoji="1" lang="en-US" altLang="zh-CN" sz="1800" dirty="0">
                <a:solidFill>
                  <a:schemeClr val="tx1">
                    <a:lumMod val="75000"/>
                    <a:lumOff val="25000"/>
                  </a:schemeClr>
                </a:solidFill>
                <a:latin typeface="+mj-lt"/>
              </a:rPr>
              <a:t>University</a:t>
            </a:r>
            <a:endParaRPr kumimoji="1" lang="en-US" altLang="zh-CN" sz="1800" dirty="0">
              <a:solidFill>
                <a:schemeClr val="tx1">
                  <a:lumMod val="75000"/>
                  <a:lumOff val="25000"/>
                </a:schemeClr>
              </a:solidFill>
              <a:latin typeface="+mj-lt"/>
            </a:endParaRPr>
          </a:p>
          <a:p>
            <a:pPr>
              <a:lnSpc>
                <a:spcPct val="150000"/>
              </a:lnSpc>
              <a:spcBef>
                <a:spcPts val="0"/>
              </a:spcBef>
            </a:pPr>
            <a:r>
              <a:rPr kumimoji="1" lang="en-US" altLang="zh-CN" sz="1800" dirty="0">
                <a:solidFill>
                  <a:schemeClr val="tx1">
                    <a:lumMod val="50000"/>
                    <a:lumOff val="50000"/>
                  </a:schemeClr>
                </a:solidFill>
                <a:latin typeface="+mj-lt"/>
              </a:rPr>
              <a:t>https://</a:t>
            </a:r>
            <a:r>
              <a:rPr kumimoji="1" lang="en-US" altLang="zh-CN" sz="1800" dirty="0" err="1">
                <a:solidFill>
                  <a:schemeClr val="tx1">
                    <a:lumMod val="50000"/>
                    <a:lumOff val="50000"/>
                  </a:schemeClr>
                </a:solidFill>
                <a:latin typeface="+mj-lt"/>
              </a:rPr>
              <a:t>www.sjtu.edu.cn</a:t>
            </a:r>
            <a:endParaRPr kumimoji="1" lang="en-GB" altLang="zh-CN" sz="1800" dirty="0">
              <a:solidFill>
                <a:schemeClr val="tx1">
                  <a:lumMod val="50000"/>
                  <a:lumOff val="50000"/>
                </a:schemeClr>
              </a:solidFill>
              <a:latin typeface="+mj-lt"/>
            </a:endParaRPr>
          </a:p>
        </p:txBody>
      </p:sp>
      <p:pic>
        <p:nvPicPr>
          <p:cNvPr id="9" name="图片 8"/>
          <p:cNvPicPr>
            <a:picLocks noChangeAspect="1"/>
          </p:cNvPicPr>
          <p:nvPr/>
        </p:nvPicPr>
        <p:blipFill>
          <a:blip r:embed="rId1" cstate="screen">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p:cNvSpPr txBox="1"/>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anose="020B0604020202020204" pitchFamily="34" charset="0"/>
              <a:buNone/>
              <a:defRPr sz="2600" b="0" kern="1200">
                <a:solidFill>
                  <a:schemeClr val="tx1">
                    <a:tint val="75000"/>
                  </a:schemeClr>
                </a:solidFill>
                <a:latin typeface="+mn-ea"/>
                <a:ea typeface="+mn-ea"/>
                <a:cs typeface="等线" panose="02010600030101010101" charset="-122"/>
              </a:defRPr>
            </a:lvl1pPr>
            <a:lvl2pPr marL="457200" indent="0" algn="ctr" defTabSz="914400" rtl="0" eaLnBrk="1" latinLnBrk="0" hangingPunct="1">
              <a:lnSpc>
                <a:spcPct val="120000"/>
              </a:lnSpc>
              <a:spcBef>
                <a:spcPct val="20000"/>
              </a:spcBef>
              <a:buFont typeface="Arial" panose="020B0604020202020204" pitchFamily="34" charset="0"/>
              <a:buNone/>
              <a:defRPr sz="2400" kern="1200">
                <a:solidFill>
                  <a:schemeClr val="tx1">
                    <a:tint val="75000"/>
                  </a:schemeClr>
                </a:solidFill>
                <a:latin typeface="+mn-ea"/>
                <a:ea typeface="+mn-ea"/>
                <a:cs typeface="等线" panose="02010600030101010101" charset="-122"/>
              </a:defRPr>
            </a:lvl2pPr>
            <a:lvl3pPr marL="914400" indent="0" algn="ctr" defTabSz="914400" rtl="0" eaLnBrk="1" latinLnBrk="0" hangingPunct="1">
              <a:lnSpc>
                <a:spcPct val="120000"/>
              </a:lnSpc>
              <a:spcBef>
                <a:spcPct val="20000"/>
              </a:spcBef>
              <a:buFont typeface="Arial" panose="020B0604020202020204" pitchFamily="34" charset="0"/>
              <a:buNone/>
              <a:defRPr sz="2000" kern="1200">
                <a:solidFill>
                  <a:schemeClr val="tx1">
                    <a:tint val="75000"/>
                  </a:schemeClr>
                </a:solidFill>
                <a:latin typeface="+mn-ea"/>
                <a:ea typeface="+mn-ea"/>
                <a:cs typeface="等线" panose="02010600030101010101" charset="-122"/>
              </a:defRPr>
            </a:lvl3pPr>
            <a:lvl4pPr marL="13716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ea"/>
                <a:ea typeface="+mn-ea"/>
                <a:cs typeface="等线" panose="02010600030101010101" charset="-122"/>
              </a:defRPr>
            </a:lvl4pPr>
            <a:lvl5pPr marL="18288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ea"/>
                <a:ea typeface="+mn-ea"/>
                <a:cs typeface="等线" panose="02010600030101010101" charset="-122"/>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mj-lt"/>
              </a:rPr>
              <a:t>SE3331-1 (2024 Fall)</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mj-lt"/>
              <a:ea typeface="微软雅黑" panose="020B0503020204020204" charset="-122"/>
            </a:endParaRPr>
          </a:p>
        </p:txBody>
      </p:sp>
      <p:pic>
        <p:nvPicPr>
          <p:cNvPr id="8" name="Picture 6" descr="http://korean.onlinesjtu.com/%E6%A0%A1%E5%BE%BD%E7%B3%BB%E5%88%97/%E7%BC%A9%E5%B0%8F%E7%89%88/%E8%93%9D%E8%89%B2%E7%B3%BB%20%E5%B0%8F%E5%B0%BA%E5%AF%B8%E6%A0%A1%E5%BE%BD%E5%B1%95%E5%BC%80%E5%BC%8F%20(10mm%E4%BB%A5%E4%B8%8B%E4%BD%BF%E7%94%A8)%20%5b%E8%BD%AC%E6%8D%A2%5d.png"/>
          <p:cNvPicPr>
            <a:picLocks noChangeAspect="1" noChangeArrowheads="1"/>
          </p:cNvPicPr>
          <p:nvPr/>
        </p:nvPicPr>
        <p:blipFill>
          <a:blip r:embed="rId2" cstate="screen">
            <a:duotone>
              <a:schemeClr val="accent1">
                <a:shade val="45000"/>
                <a:satMod val="135000"/>
              </a:schemeClr>
              <a:prstClr val="white"/>
            </a:duotone>
          </a:blip>
          <a:srcRect/>
          <a:stretch>
            <a:fillRect/>
          </a:stretch>
        </p:blipFill>
        <p:spPr bwMode="auto">
          <a:xfrm>
            <a:off x="7164288" y="282539"/>
            <a:ext cx="1642840" cy="432048"/>
          </a:xfrm>
          <a:prstGeom prst="rect">
            <a:avLst/>
          </a:prstGeom>
          <a:noFill/>
        </p:spPr>
      </p:pic>
      <p:sp>
        <p:nvSpPr>
          <p:cNvPr id="10" name="副标题 5"/>
          <p:cNvSpPr txBox="1"/>
          <p:nvPr/>
        </p:nvSpPr>
        <p:spPr>
          <a:xfrm>
            <a:off x="-6647" y="5210411"/>
            <a:ext cx="8224524" cy="504056"/>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1200"/>
              </a:spcBef>
              <a:buFont typeface="Arial" panose="020B0604020202020204" pitchFamily="34" charset="0"/>
              <a:buNone/>
              <a:defRPr sz="2600" b="0" kern="1200">
                <a:solidFill>
                  <a:schemeClr val="tx1">
                    <a:tint val="75000"/>
                  </a:schemeClr>
                </a:solidFill>
                <a:latin typeface="+mn-lt"/>
                <a:ea typeface="+mn-ea"/>
                <a:cs typeface="等线" panose="02010600030101010101" charset="-122"/>
              </a:defRPr>
            </a:lvl1pPr>
            <a:lvl2pPr marL="457200" indent="0" algn="ctr" defTabSz="914400" rtl="0" eaLnBrk="1" latinLnBrk="0" hangingPunct="1">
              <a:lnSpc>
                <a:spcPct val="120000"/>
              </a:lnSpc>
              <a:spcBef>
                <a:spcPct val="20000"/>
              </a:spcBef>
              <a:buFont typeface="Arial" panose="020B0604020202020204" pitchFamily="34" charset="0"/>
              <a:buNone/>
              <a:defRPr sz="2400" kern="1200">
                <a:solidFill>
                  <a:schemeClr val="tx1">
                    <a:tint val="75000"/>
                  </a:schemeClr>
                </a:solidFill>
                <a:latin typeface="+mn-lt"/>
                <a:ea typeface="+mn-ea"/>
                <a:cs typeface="等线" panose="02010600030101010101" charset="-122"/>
              </a:defRPr>
            </a:lvl2pPr>
            <a:lvl3pPr marL="914400" indent="0" algn="ctr" defTabSz="914400" rtl="0" eaLnBrk="1" latinLnBrk="0" hangingPunct="1">
              <a:lnSpc>
                <a:spcPct val="120000"/>
              </a:lnSpc>
              <a:spcBef>
                <a:spcPct val="20000"/>
              </a:spcBef>
              <a:buFont typeface="Arial" panose="020B0604020202020204" pitchFamily="34" charset="0"/>
              <a:buNone/>
              <a:defRPr sz="2000" kern="1200">
                <a:solidFill>
                  <a:schemeClr val="tx1">
                    <a:tint val="75000"/>
                  </a:schemeClr>
                </a:solidFill>
                <a:latin typeface="+mn-lt"/>
                <a:ea typeface="+mn-ea"/>
                <a:cs typeface="等线" panose="02010600030101010101" charset="-122"/>
              </a:defRPr>
            </a:lvl3pPr>
            <a:lvl4pPr marL="13716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lt"/>
                <a:ea typeface="+mn-ea"/>
                <a:cs typeface="等线" panose="02010600030101010101" charset="-122"/>
              </a:defRPr>
            </a:lvl4pPr>
            <a:lvl5pPr marL="1828800" indent="0" algn="ctr" defTabSz="914400" rtl="0" eaLnBrk="1" latinLnBrk="0" hangingPunct="1">
              <a:lnSpc>
                <a:spcPct val="120000"/>
              </a:lnSpc>
              <a:spcBef>
                <a:spcPct val="20000"/>
              </a:spcBef>
              <a:buFont typeface="Arial" panose="020B0604020202020204" pitchFamily="34" charset="0"/>
              <a:buNone/>
              <a:defRPr sz="1800" kern="1200">
                <a:solidFill>
                  <a:schemeClr val="tx1">
                    <a:tint val="75000"/>
                  </a:schemeClr>
                </a:solidFill>
                <a:latin typeface="+mn-lt"/>
                <a:ea typeface="+mn-ea"/>
                <a:cs typeface="等线" panose="02010600030101010101" charset="-122"/>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50000"/>
              </a:lnSpc>
              <a:spcBef>
                <a:spcPts val="0"/>
              </a:spcBef>
            </a:pPr>
            <a:endParaRPr kumimoji="1" lang="en-GB" altLang="zh-CN" sz="1800" dirty="0">
              <a:solidFill>
                <a:schemeClr val="tx1">
                  <a:lumMod val="50000"/>
                  <a:lumOff val="50000"/>
                </a:schemeClr>
              </a:solidFill>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advTm="11626"/>
    </mc:Choice>
    <mc:Fallback>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Data</a:t>
            </a:r>
            <a:r>
              <a:rPr kumimoji="1" lang="zh-CN" altLang="en-US" dirty="0"/>
              <a:t> </a:t>
            </a:r>
            <a:r>
              <a:rPr kumimoji="1" lang="en-US" altLang="zh-CN" dirty="0"/>
              <a:t>Flow</a:t>
            </a:r>
            <a:r>
              <a:rPr kumimoji="1" lang="zh-CN" altLang="en-US" dirty="0"/>
              <a:t> </a:t>
            </a:r>
            <a:r>
              <a:rPr kumimoji="1" lang="en-US" altLang="zh-CN" dirty="0"/>
              <a:t>Protection</a:t>
            </a:r>
            <a:endParaRPr kumimoji="1" lang="zh-CN" altLang="en-US" dirty="0"/>
          </a:p>
        </p:txBody>
      </p:sp>
      <p:sp>
        <p:nvSpPr>
          <p:cNvPr id="5" name="文本占位符 4"/>
          <p:cNvSpPr>
            <a:spLocks noGrp="1"/>
          </p:cNvSpPr>
          <p:nvPr>
            <p:ph type="body" idx="1"/>
          </p:nvPr>
        </p:nvSpPr>
        <p:spPr/>
        <p:txBody>
          <a:bodyPr/>
          <a:lstStyle/>
          <a:p>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Two</a:t>
            </a:r>
            <a:r>
              <a:rPr lang="zh-CN" altLang="en-US" dirty="0"/>
              <a:t> </a:t>
            </a:r>
            <a:r>
              <a:rPr lang="en-US" altLang="zh-CN" dirty="0"/>
              <a:t>Usages</a:t>
            </a:r>
            <a:r>
              <a:rPr lang="zh-CN" altLang="en-US" dirty="0"/>
              <a:t> </a:t>
            </a:r>
            <a:r>
              <a:rPr lang="en-US" altLang="zh-CN" dirty="0"/>
              <a:t>of</a:t>
            </a:r>
            <a:r>
              <a:rPr lang="zh-CN" altLang="en-US" dirty="0"/>
              <a:t> </a:t>
            </a:r>
            <a:r>
              <a:rPr lang="en-US" altLang="zh-CN" dirty="0"/>
              <a:t>Data</a:t>
            </a:r>
            <a:r>
              <a:rPr lang="zh-CN" altLang="en-US" dirty="0"/>
              <a:t> </a:t>
            </a:r>
            <a:r>
              <a:rPr lang="en-US" altLang="zh-CN" dirty="0"/>
              <a:t>Flow</a:t>
            </a:r>
            <a:r>
              <a:rPr lang="zh-CN" altLang="en-US" dirty="0"/>
              <a:t> </a:t>
            </a:r>
            <a:r>
              <a:rPr lang="en-US" altLang="zh-CN" dirty="0"/>
              <a:t>Tracking</a:t>
            </a:r>
            <a:endParaRPr lang="zh-CN" altLang="en-US" dirty="0"/>
          </a:p>
        </p:txBody>
      </p:sp>
      <p:sp>
        <p:nvSpPr>
          <p:cNvPr id="5" name="内容占位符 4"/>
          <p:cNvSpPr>
            <a:spLocks noGrp="1"/>
          </p:cNvSpPr>
          <p:nvPr>
            <p:ph idx="1"/>
          </p:nvPr>
        </p:nvSpPr>
        <p:spPr/>
        <p:txBody>
          <a:bodyPr/>
          <a:lstStyle/>
          <a:p>
            <a:r>
              <a:rPr lang="en-US" altLang="zh-CN" dirty="0"/>
              <a:t>Usage-1:</a:t>
            </a:r>
            <a:r>
              <a:rPr lang="zh-CN" altLang="en-US" dirty="0"/>
              <a:t> </a:t>
            </a:r>
            <a:r>
              <a:rPr lang="en-US" altLang="zh-CN" dirty="0"/>
              <a:t>protect</a:t>
            </a:r>
            <a:r>
              <a:rPr lang="zh-CN" altLang="en-US" dirty="0"/>
              <a:t> </a:t>
            </a:r>
            <a:r>
              <a:rPr lang="en-US" altLang="zh-CN" dirty="0"/>
              <a:t>critical</a:t>
            </a:r>
            <a:r>
              <a:rPr lang="zh-CN" altLang="en-US" dirty="0"/>
              <a:t> </a:t>
            </a:r>
            <a:r>
              <a:rPr lang="en-US" altLang="zh-CN" dirty="0"/>
              <a:t>data</a:t>
            </a:r>
            <a:endParaRPr lang="en-US" altLang="zh-CN" dirty="0"/>
          </a:p>
          <a:p>
            <a:pPr lvl="1"/>
            <a:r>
              <a:rPr lang="en-US" altLang="zh-CN" dirty="0"/>
              <a:t>E.g.,</a:t>
            </a:r>
            <a:r>
              <a:rPr lang="zh-CN" altLang="en-US" dirty="0"/>
              <a:t> </a:t>
            </a:r>
            <a:r>
              <a:rPr lang="en-US" altLang="zh-CN" dirty="0"/>
              <a:t>track</a:t>
            </a:r>
            <a:r>
              <a:rPr lang="zh-CN" altLang="en-US" dirty="0"/>
              <a:t> </a:t>
            </a:r>
            <a:r>
              <a:rPr lang="en-US" altLang="zh-CN" dirty="0"/>
              <a:t>data</a:t>
            </a:r>
            <a:r>
              <a:rPr lang="zh-CN" altLang="en-US" dirty="0"/>
              <a:t> </a:t>
            </a:r>
            <a:r>
              <a:rPr lang="en-US" altLang="zh-CN" dirty="0"/>
              <a:t>to</a:t>
            </a:r>
            <a:r>
              <a:rPr lang="zh-CN" altLang="en-US" dirty="0"/>
              <a:t> </a:t>
            </a:r>
            <a:r>
              <a:rPr lang="en-US" altLang="zh-CN" dirty="0"/>
              <a:t>ensure</a:t>
            </a:r>
            <a:r>
              <a:rPr lang="zh-CN" altLang="en-US" dirty="0"/>
              <a:t> </a:t>
            </a:r>
            <a:r>
              <a:rPr lang="en-US" altLang="zh-CN" dirty="0"/>
              <a:t>none</a:t>
            </a:r>
            <a:r>
              <a:rPr lang="zh-CN" altLang="en-US" dirty="0"/>
              <a:t> </a:t>
            </a:r>
            <a:r>
              <a:rPr lang="en-US" altLang="zh-CN" dirty="0"/>
              <a:t>is</a:t>
            </a:r>
            <a:r>
              <a:rPr lang="zh-CN" altLang="en-US" dirty="0"/>
              <a:t> </a:t>
            </a:r>
            <a:r>
              <a:rPr lang="en-US" altLang="zh-CN" dirty="0"/>
              <a:t>leaked</a:t>
            </a:r>
            <a:endParaRPr lang="en-US" altLang="zh-CN" dirty="0"/>
          </a:p>
          <a:p>
            <a:pPr lvl="1"/>
            <a:endParaRPr lang="en-US" altLang="zh-CN" dirty="0"/>
          </a:p>
          <a:p>
            <a:r>
              <a:rPr lang="en-US" altLang="zh-CN" dirty="0">
                <a:solidFill>
                  <a:schemeClr val="bg1">
                    <a:lumMod val="75000"/>
                  </a:schemeClr>
                </a:solidFill>
              </a:rPr>
              <a:t>Usage-2:</a:t>
            </a:r>
            <a:r>
              <a:rPr lang="zh-CN" altLang="en-US" dirty="0">
                <a:solidFill>
                  <a:schemeClr val="bg1">
                    <a:lumMod val="75000"/>
                  </a:schemeClr>
                </a:solidFill>
              </a:rPr>
              <a:t> </a:t>
            </a:r>
            <a:r>
              <a:rPr lang="en-US" altLang="zh-CN" dirty="0">
                <a:solidFill>
                  <a:schemeClr val="bg1">
                    <a:lumMod val="75000"/>
                  </a:schemeClr>
                </a:solidFill>
              </a:rPr>
              <a:t>defend</a:t>
            </a:r>
            <a:r>
              <a:rPr lang="zh-CN" altLang="en-US" dirty="0">
                <a:solidFill>
                  <a:schemeClr val="bg1">
                    <a:lumMod val="75000"/>
                  </a:schemeClr>
                </a:solidFill>
              </a:rPr>
              <a:t> </a:t>
            </a:r>
            <a:r>
              <a:rPr lang="en-US" altLang="zh-CN" dirty="0">
                <a:solidFill>
                  <a:schemeClr val="bg1">
                    <a:lumMod val="75000"/>
                  </a:schemeClr>
                </a:solidFill>
              </a:rPr>
              <a:t>against</a:t>
            </a:r>
            <a:r>
              <a:rPr lang="zh-CN" altLang="en-US" dirty="0">
                <a:solidFill>
                  <a:schemeClr val="bg1">
                    <a:lumMod val="75000"/>
                  </a:schemeClr>
                </a:solidFill>
              </a:rPr>
              <a:t> </a:t>
            </a:r>
            <a:r>
              <a:rPr lang="en-US" altLang="zh-CN" dirty="0">
                <a:solidFill>
                  <a:schemeClr val="bg1">
                    <a:lumMod val="75000"/>
                  </a:schemeClr>
                </a:solidFill>
              </a:rPr>
              <a:t>suspicious</a:t>
            </a:r>
            <a:r>
              <a:rPr lang="zh-CN" altLang="en-US" dirty="0">
                <a:solidFill>
                  <a:schemeClr val="bg1">
                    <a:lumMod val="75000"/>
                  </a:schemeClr>
                </a:solidFill>
              </a:rPr>
              <a:t> </a:t>
            </a:r>
            <a:r>
              <a:rPr lang="en-US" altLang="zh-CN" dirty="0">
                <a:solidFill>
                  <a:schemeClr val="bg1">
                    <a:lumMod val="75000"/>
                  </a:schemeClr>
                </a:solidFill>
              </a:rPr>
              <a:t>input</a:t>
            </a:r>
            <a:r>
              <a:rPr lang="zh-CN" altLang="en-US" dirty="0">
                <a:solidFill>
                  <a:schemeClr val="bg1">
                    <a:lumMod val="75000"/>
                  </a:schemeClr>
                </a:solidFill>
              </a:rPr>
              <a:t> </a:t>
            </a:r>
            <a:r>
              <a:rPr lang="en-US" altLang="zh-CN" dirty="0">
                <a:solidFill>
                  <a:schemeClr val="bg1">
                    <a:lumMod val="75000"/>
                  </a:schemeClr>
                </a:solidFill>
              </a:rPr>
              <a:t>data</a:t>
            </a:r>
            <a:endParaRPr lang="en-US" altLang="zh-CN" dirty="0">
              <a:solidFill>
                <a:schemeClr val="bg1">
                  <a:lumMod val="75000"/>
                </a:schemeClr>
              </a:solidFill>
            </a:endParaRPr>
          </a:p>
          <a:p>
            <a:pPr lvl="1"/>
            <a:r>
              <a:rPr lang="en-US" altLang="zh-CN" dirty="0">
                <a:solidFill>
                  <a:schemeClr val="bg1">
                    <a:lumMod val="75000"/>
                  </a:schemeClr>
                </a:solidFill>
              </a:rPr>
              <a:t>E.g.,</a:t>
            </a:r>
            <a:r>
              <a:rPr lang="zh-CN" altLang="en-US" dirty="0">
                <a:solidFill>
                  <a:schemeClr val="bg1">
                    <a:lumMod val="75000"/>
                  </a:schemeClr>
                </a:solidFill>
              </a:rPr>
              <a:t> </a:t>
            </a:r>
            <a:r>
              <a:rPr lang="en-US" altLang="zh-CN" dirty="0">
                <a:solidFill>
                  <a:schemeClr val="bg1">
                    <a:lumMod val="75000"/>
                  </a:schemeClr>
                </a:solidFill>
              </a:rPr>
              <a:t>one</a:t>
            </a:r>
            <a:r>
              <a:rPr lang="zh-CN" altLang="en-US" dirty="0">
                <a:solidFill>
                  <a:schemeClr val="bg1">
                    <a:lumMod val="75000"/>
                  </a:schemeClr>
                </a:solidFill>
              </a:rPr>
              <a:t> </a:t>
            </a:r>
            <a:r>
              <a:rPr lang="en-US" altLang="zh-CN" dirty="0">
                <a:solidFill>
                  <a:schemeClr val="bg1">
                    <a:lumMod val="75000"/>
                  </a:schemeClr>
                </a:solidFill>
              </a:rPr>
              <a:t>input</a:t>
            </a:r>
            <a:r>
              <a:rPr lang="zh-CN" altLang="en-US" dirty="0">
                <a:solidFill>
                  <a:schemeClr val="bg1">
                    <a:lumMod val="75000"/>
                  </a:schemeClr>
                </a:solidFill>
              </a:rPr>
              <a:t> </a:t>
            </a:r>
            <a:r>
              <a:rPr lang="en-US" altLang="zh-CN" dirty="0">
                <a:solidFill>
                  <a:schemeClr val="bg1">
                    <a:lumMod val="75000"/>
                  </a:schemeClr>
                </a:solidFill>
              </a:rPr>
              <a:t>data</a:t>
            </a:r>
            <a:r>
              <a:rPr lang="zh-CN" altLang="en-US" dirty="0">
                <a:solidFill>
                  <a:schemeClr val="bg1">
                    <a:lumMod val="75000"/>
                  </a:schemeClr>
                </a:solidFill>
              </a:rPr>
              <a:t> </a:t>
            </a:r>
            <a:r>
              <a:rPr lang="en-US" altLang="zh-CN" dirty="0">
                <a:solidFill>
                  <a:schemeClr val="bg1">
                    <a:lumMod val="75000"/>
                  </a:schemeClr>
                </a:solidFill>
              </a:rPr>
              <a:t>cannot</a:t>
            </a:r>
            <a:r>
              <a:rPr lang="zh-CN" altLang="en-US" dirty="0">
                <a:solidFill>
                  <a:schemeClr val="bg1">
                    <a:lumMod val="75000"/>
                  </a:schemeClr>
                </a:solidFill>
              </a:rPr>
              <a:t> </a:t>
            </a:r>
            <a:r>
              <a:rPr lang="en-US" altLang="zh-CN" dirty="0">
                <a:solidFill>
                  <a:schemeClr val="bg1">
                    <a:lumMod val="75000"/>
                  </a:schemeClr>
                </a:solidFill>
              </a:rPr>
              <a:t>flow</a:t>
            </a:r>
            <a:r>
              <a:rPr lang="zh-CN" altLang="en-US" dirty="0">
                <a:solidFill>
                  <a:schemeClr val="bg1">
                    <a:lumMod val="75000"/>
                  </a:schemeClr>
                </a:solidFill>
              </a:rPr>
              <a:t> </a:t>
            </a:r>
            <a:r>
              <a:rPr lang="en-US" altLang="zh-CN" dirty="0">
                <a:solidFill>
                  <a:schemeClr val="bg1">
                    <a:lumMod val="75000"/>
                  </a:schemeClr>
                </a:solidFill>
              </a:rPr>
              <a:t>to</a:t>
            </a:r>
            <a:r>
              <a:rPr lang="zh-CN" altLang="en-US" dirty="0">
                <a:solidFill>
                  <a:schemeClr val="bg1">
                    <a:lumMod val="75000"/>
                  </a:schemeClr>
                </a:solidFill>
              </a:rPr>
              <a:t> </a:t>
            </a:r>
            <a:r>
              <a:rPr lang="en-US" altLang="zh-CN" dirty="0">
                <a:solidFill>
                  <a:schemeClr val="bg1">
                    <a:lumMod val="75000"/>
                  </a:schemeClr>
                </a:solidFill>
              </a:rPr>
              <a:t>return</a:t>
            </a:r>
            <a:r>
              <a:rPr lang="zh-CN" altLang="en-US" dirty="0">
                <a:solidFill>
                  <a:schemeClr val="bg1">
                    <a:lumMod val="75000"/>
                  </a:schemeClr>
                </a:solidFill>
              </a:rPr>
              <a:t> </a:t>
            </a:r>
            <a:r>
              <a:rPr lang="en-US" altLang="zh-CN" dirty="0">
                <a:solidFill>
                  <a:schemeClr val="bg1">
                    <a:lumMod val="75000"/>
                  </a:schemeClr>
                </a:solidFill>
              </a:rPr>
              <a:t>address!</a:t>
            </a:r>
            <a:endParaRPr lang="zh-CN" altLang="en-US" dirty="0">
              <a:solidFill>
                <a:schemeClr val="bg1">
                  <a:lumMod val="7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Ways an Attacker Can Steal Your Secrets</a:t>
            </a:r>
            <a:endParaRPr lang="zh-CN" altLang="en-US" dirty="0"/>
          </a:p>
        </p:txBody>
      </p:sp>
      <p:sp>
        <p:nvSpPr>
          <p:cNvPr id="3" name="内容占位符 2"/>
          <p:cNvSpPr>
            <a:spLocks noGrp="1"/>
          </p:cNvSpPr>
          <p:nvPr>
            <p:ph idx="1"/>
          </p:nvPr>
        </p:nvSpPr>
        <p:spPr>
          <a:xfrm>
            <a:off x="457200" y="1333501"/>
            <a:ext cx="8229600" cy="2588068"/>
          </a:xfrm>
        </p:spPr>
        <p:txBody>
          <a:bodyPr>
            <a:normAutofit/>
          </a:bodyPr>
          <a:lstStyle/>
          <a:p>
            <a:r>
              <a:rPr lang="en-US" altLang="zh-CN" sz="2000" b="0" dirty="0" err="1"/>
              <a:t>KeyLogger</a:t>
            </a:r>
            <a:r>
              <a:rPr lang="en-US" altLang="zh-CN" sz="2000" b="0" dirty="0"/>
              <a:t>: install a </a:t>
            </a:r>
            <a:r>
              <a:rPr lang="en-US" altLang="zh-CN" sz="2000" b="0" dirty="0" err="1"/>
              <a:t>KeyLogger</a:t>
            </a:r>
            <a:r>
              <a:rPr lang="en-US" altLang="zh-CN" sz="2000" b="0" dirty="0"/>
              <a:t>/</a:t>
            </a:r>
            <a:r>
              <a:rPr lang="en-US" altLang="zh-CN" sz="2000" b="0" dirty="0" err="1"/>
              <a:t>TouchLogger</a:t>
            </a:r>
            <a:r>
              <a:rPr lang="en-US" altLang="zh-CN" sz="2000" b="0" dirty="0"/>
              <a:t> on the phone</a:t>
            </a:r>
            <a:endParaRPr lang="en-US" altLang="zh-CN" sz="2000" b="0" dirty="0"/>
          </a:p>
          <a:p>
            <a:r>
              <a:rPr lang="en-US" altLang="zh-CN" sz="2000" b="0" dirty="0"/>
              <a:t>Phishing: install a malware and lure the user to enter password</a:t>
            </a:r>
            <a:endParaRPr lang="en-US" altLang="zh-CN" sz="2000" b="0" dirty="0"/>
          </a:p>
        </p:txBody>
      </p:sp>
      <p:pic>
        <p:nvPicPr>
          <p:cNvPr id="1026" name="Picture 2" descr="http://i.stack.imgur.com/NxFMq.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6056" y="2754010"/>
            <a:ext cx="1401069" cy="2335115"/>
          </a:xfrm>
          <a:prstGeom prst="rect">
            <a:avLst/>
          </a:prstGeom>
          <a:noFill/>
        </p:spPr>
      </p:pic>
      <p:pic>
        <p:nvPicPr>
          <p:cNvPr id="6" name="Picture 2" descr="http://i.stack.imgur.com/NxFMq.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92080" y="2649543"/>
            <a:ext cx="1401069" cy="2335115"/>
          </a:xfrm>
          <a:prstGeom prst="rect">
            <a:avLst/>
          </a:prstGeom>
          <a:noFill/>
          <a:ln w="28575">
            <a:solidFill>
              <a:srgbClr val="FF0000"/>
            </a:solidFill>
          </a:ln>
        </p:spPr>
      </p:pic>
      <p:pic>
        <p:nvPicPr>
          <p:cNvPr id="7" name="Picture 2" descr="http://i.stack.imgur.com/NxFMq.jpg"/>
          <p:cNvPicPr>
            <a:picLocks noChangeAspect="1" noChangeArrowheads="1"/>
          </p:cNvPicPr>
          <p:nvPr/>
        </p:nvPicPr>
        <p:blipFill>
          <a:blip r:embed="rId1">
            <a:lum bright="70000" contrast="-70000"/>
            <a:extLst>
              <a:ext uri="{28A0092B-C50C-407E-A947-70E740481C1C}">
                <a14:useLocalDpi xmlns:a14="http://schemas.microsoft.com/office/drawing/2010/main" val="0"/>
              </a:ext>
            </a:extLst>
          </a:blip>
          <a:srcRect/>
          <a:stretch>
            <a:fillRect/>
          </a:stretch>
        </p:blipFill>
        <p:spPr bwMode="auto">
          <a:xfrm>
            <a:off x="2339752" y="2641476"/>
            <a:ext cx="1401069" cy="2335115"/>
          </a:xfrm>
          <a:prstGeom prst="rect">
            <a:avLst/>
          </a:prstGeom>
          <a:noFill/>
          <a:ln w="28575">
            <a:solidFill>
              <a:srgbClr val="FF0000"/>
            </a:solidFill>
          </a:ln>
        </p:spPr>
      </p:pic>
      <p:pic>
        <p:nvPicPr>
          <p:cNvPr id="8" name="Picture 4" descr="http://www.gizbot.com/img/2013/06/07-facebook.jpg"/>
          <p:cNvPicPr>
            <a:picLocks noChangeAspect="1" noChangeArrowheads="1"/>
          </p:cNvPicPr>
          <p:nvPr/>
        </p:nvPicPr>
        <p:blipFill rotWithShape="1">
          <a:blip r:embed="rId2">
            <a:extLst>
              <a:ext uri="{28A0092B-C50C-407E-A947-70E740481C1C}">
                <a14:useLocalDpi xmlns:a14="http://schemas.microsoft.com/office/drawing/2010/main" val="0"/>
              </a:ext>
            </a:extLst>
          </a:blip>
          <a:srcRect l="28803" r="31886"/>
          <a:stretch>
            <a:fillRect/>
          </a:stretch>
        </p:blipFill>
        <p:spPr bwMode="auto">
          <a:xfrm>
            <a:off x="2123728" y="2754011"/>
            <a:ext cx="1529946" cy="2335115"/>
          </a:xfrm>
          <a:prstGeom prst="rect">
            <a:avLst/>
          </a:prstGeom>
          <a:noFill/>
        </p:spPr>
      </p:pic>
      <p:sp>
        <p:nvSpPr>
          <p:cNvPr id="9" name="上弧形箭头 8"/>
          <p:cNvSpPr/>
          <p:nvPr/>
        </p:nvSpPr>
        <p:spPr>
          <a:xfrm flipV="1">
            <a:off x="3851920" y="4801716"/>
            <a:ext cx="1224136" cy="334192"/>
          </a:xfrm>
          <a:prstGeom prst="curvedDownArrow">
            <a:avLst/>
          </a:prstGeom>
          <a:solidFill>
            <a:schemeClr val="accent4">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矩形 13"/>
          <p:cNvSpPr/>
          <p:nvPr/>
        </p:nvSpPr>
        <p:spPr>
          <a:xfrm>
            <a:off x="527231" y="2929508"/>
            <a:ext cx="1669047" cy="1477328"/>
          </a:xfrm>
          <a:prstGeom prst="rect">
            <a:avLst/>
          </a:prstGeom>
        </p:spPr>
        <p:txBody>
          <a:bodyPr wrap="none">
            <a:spAutoFit/>
          </a:bodyPr>
          <a:lstStyle/>
          <a:p>
            <a:r>
              <a:rPr lang="en-US" altLang="zh-CN" dirty="0">
                <a:solidFill>
                  <a:schemeClr val="accent4">
                    <a:lumMod val="50000"/>
                  </a:schemeClr>
                </a:solidFill>
                <a:latin typeface="等线" panose="02010600030101010101" charset="-122"/>
              </a:rPr>
              <a:t>Malicious app</a:t>
            </a:r>
            <a:endParaRPr lang="en-US" altLang="zh-CN" dirty="0">
              <a:solidFill>
                <a:schemeClr val="accent4">
                  <a:lumMod val="50000"/>
                </a:schemeClr>
              </a:solidFill>
              <a:latin typeface="等线" panose="02010600030101010101" charset="-122"/>
            </a:endParaRPr>
          </a:p>
          <a:p>
            <a:r>
              <a:rPr lang="en-US" altLang="zh-CN" dirty="0">
                <a:solidFill>
                  <a:schemeClr val="accent4">
                    <a:lumMod val="50000"/>
                  </a:schemeClr>
                </a:solidFill>
                <a:latin typeface="等线" panose="02010600030101010101" charset="-122"/>
              </a:rPr>
              <a:t>in background,</a:t>
            </a:r>
            <a:endParaRPr lang="en-US" altLang="zh-CN" dirty="0">
              <a:solidFill>
                <a:schemeClr val="accent4">
                  <a:lumMod val="50000"/>
                </a:schemeClr>
              </a:solidFill>
              <a:latin typeface="等线" panose="02010600030101010101" charset="-122"/>
            </a:endParaRPr>
          </a:p>
          <a:p>
            <a:r>
              <a:rPr lang="en-US" altLang="zh-CN" dirty="0">
                <a:solidFill>
                  <a:schemeClr val="accent4">
                    <a:lumMod val="50000"/>
                  </a:schemeClr>
                </a:solidFill>
                <a:latin typeface="等线" panose="02010600030101010101" charset="-122"/>
              </a:rPr>
              <a:t>waiting for the</a:t>
            </a:r>
            <a:endParaRPr lang="en-US" altLang="zh-CN" dirty="0">
              <a:solidFill>
                <a:schemeClr val="accent4">
                  <a:lumMod val="50000"/>
                </a:schemeClr>
              </a:solidFill>
              <a:latin typeface="等线" panose="02010600030101010101" charset="-122"/>
            </a:endParaRPr>
          </a:p>
          <a:p>
            <a:r>
              <a:rPr lang="en-US" altLang="zh-CN" dirty="0">
                <a:solidFill>
                  <a:schemeClr val="accent4">
                    <a:lumMod val="50000"/>
                  </a:schemeClr>
                </a:solidFill>
                <a:latin typeface="等线" panose="02010600030101010101" charset="-122"/>
              </a:rPr>
              <a:t>Facebook app</a:t>
            </a:r>
            <a:endParaRPr lang="en-US" altLang="zh-CN" dirty="0">
              <a:solidFill>
                <a:schemeClr val="accent4">
                  <a:lumMod val="50000"/>
                </a:schemeClr>
              </a:solidFill>
              <a:latin typeface="等线" panose="02010600030101010101" charset="-122"/>
            </a:endParaRPr>
          </a:p>
          <a:p>
            <a:r>
              <a:rPr lang="en-US" altLang="zh-CN" dirty="0">
                <a:solidFill>
                  <a:schemeClr val="accent4">
                    <a:lumMod val="50000"/>
                  </a:schemeClr>
                </a:solidFill>
                <a:latin typeface="等线" panose="02010600030101010101" charset="-122"/>
              </a:rPr>
              <a:t>to launch</a:t>
            </a:r>
            <a:endParaRPr lang="zh-CN" altLang="en-US" dirty="0">
              <a:solidFill>
                <a:schemeClr val="accent4">
                  <a:lumMod val="50000"/>
                </a:schemeClr>
              </a:solidFill>
              <a:latin typeface="等线" panose="02010600030101010101" charset="-122"/>
            </a:endParaRPr>
          </a:p>
        </p:txBody>
      </p:sp>
      <p:sp>
        <p:nvSpPr>
          <p:cNvPr id="15" name="矩形 14"/>
          <p:cNvSpPr/>
          <p:nvPr/>
        </p:nvSpPr>
        <p:spPr>
          <a:xfrm>
            <a:off x="7085077" y="2929508"/>
            <a:ext cx="2172390" cy="1477328"/>
          </a:xfrm>
          <a:prstGeom prst="rect">
            <a:avLst/>
          </a:prstGeom>
        </p:spPr>
        <p:txBody>
          <a:bodyPr wrap="none">
            <a:spAutoFit/>
          </a:bodyPr>
          <a:lstStyle/>
          <a:p>
            <a:r>
              <a:rPr lang="en-US" altLang="zh-CN" dirty="0">
                <a:solidFill>
                  <a:schemeClr val="accent4">
                    <a:lumMod val="50000"/>
                  </a:schemeClr>
                </a:solidFill>
                <a:latin typeface="等线" panose="02010600030101010101" charset="-122"/>
              </a:rPr>
              <a:t>Once Facebook app</a:t>
            </a:r>
            <a:br>
              <a:rPr lang="en-US" altLang="zh-CN" dirty="0">
                <a:solidFill>
                  <a:schemeClr val="accent4">
                    <a:lumMod val="50000"/>
                  </a:schemeClr>
                </a:solidFill>
                <a:latin typeface="等线" panose="02010600030101010101" charset="-122"/>
              </a:rPr>
            </a:br>
            <a:r>
              <a:rPr lang="en-US" altLang="zh-CN" dirty="0">
                <a:solidFill>
                  <a:schemeClr val="accent4">
                    <a:lumMod val="50000"/>
                  </a:schemeClr>
                </a:solidFill>
                <a:latin typeface="等线" panose="02010600030101010101" charset="-122"/>
              </a:rPr>
              <a:t>starts, the malicious</a:t>
            </a:r>
            <a:br>
              <a:rPr lang="en-US" altLang="zh-CN" dirty="0">
                <a:solidFill>
                  <a:schemeClr val="accent4">
                    <a:lumMod val="50000"/>
                  </a:schemeClr>
                </a:solidFill>
                <a:latin typeface="等线" panose="02010600030101010101" charset="-122"/>
              </a:rPr>
            </a:br>
            <a:r>
              <a:rPr lang="en-US" altLang="zh-CN" dirty="0">
                <a:solidFill>
                  <a:schemeClr val="accent4">
                    <a:lumMod val="50000"/>
                  </a:schemeClr>
                </a:solidFill>
                <a:latin typeface="等线" panose="02010600030101010101" charset="-122"/>
              </a:rPr>
              <a:t>app will get active</a:t>
            </a:r>
            <a:br>
              <a:rPr lang="en-US" altLang="zh-CN" dirty="0">
                <a:solidFill>
                  <a:schemeClr val="accent4">
                    <a:lumMod val="50000"/>
                  </a:schemeClr>
                </a:solidFill>
                <a:latin typeface="等线" panose="02010600030101010101" charset="-122"/>
              </a:rPr>
            </a:br>
            <a:r>
              <a:rPr lang="en-US" altLang="zh-CN" dirty="0">
                <a:solidFill>
                  <a:schemeClr val="accent4">
                    <a:lumMod val="50000"/>
                  </a:schemeClr>
                </a:solidFill>
                <a:latin typeface="等线" panose="02010600030101010101" charset="-122"/>
              </a:rPr>
              <a:t>and make itself</a:t>
            </a:r>
            <a:br>
              <a:rPr lang="en-US" altLang="zh-CN" dirty="0">
                <a:solidFill>
                  <a:schemeClr val="accent4">
                    <a:lumMod val="50000"/>
                  </a:schemeClr>
                </a:solidFill>
                <a:latin typeface="等线" panose="02010600030101010101" charset="-122"/>
              </a:rPr>
            </a:br>
            <a:r>
              <a:rPr lang="en-US" altLang="zh-CN" dirty="0">
                <a:solidFill>
                  <a:schemeClr val="accent4">
                    <a:lumMod val="50000"/>
                  </a:schemeClr>
                </a:solidFill>
                <a:latin typeface="等线" panose="02010600030101010101" charset="-122"/>
              </a:rPr>
              <a:t>cover the real UI</a:t>
            </a:r>
            <a:endParaRPr lang="zh-CN" altLang="en-US" dirty="0">
              <a:solidFill>
                <a:schemeClr val="accent4">
                  <a:lumMod val="50000"/>
                </a:schemeClr>
              </a:solidFill>
              <a:latin typeface="等线" panose="02010600030101010101" charset="-122"/>
            </a:endParaRPr>
          </a:p>
        </p:txBody>
      </p:sp>
      <p:sp>
        <p:nvSpPr>
          <p:cNvPr id="13" name="矩形 12"/>
          <p:cNvSpPr/>
          <p:nvPr/>
        </p:nvSpPr>
        <p:spPr>
          <a:xfrm>
            <a:off x="107504" y="5352711"/>
            <a:ext cx="8856871" cy="523220"/>
          </a:xfrm>
          <a:prstGeom prst="rect">
            <a:avLst/>
          </a:prstGeom>
        </p:spPr>
        <p:txBody>
          <a:bodyPr wrap="square">
            <a:spAutoFit/>
          </a:bodyPr>
          <a:lstStyle/>
          <a:p>
            <a:pPr algn="r"/>
            <a:r>
              <a:rPr lang="en-US" altLang="zh-CN" sz="1400" dirty="0">
                <a:solidFill>
                  <a:srgbClr val="000000"/>
                </a:solidFill>
                <a:latin typeface="等线" panose="02010600030101010101" charset="-122"/>
              </a:rPr>
              <a:t>Bianchi, Antonio, et al. "What the App is That? Deception and Countermeasures in the Android User Interface.", </a:t>
            </a:r>
            <a:r>
              <a:rPr lang="en-US" altLang="zh-CN" sz="1400" i="1" dirty="0">
                <a:solidFill>
                  <a:srgbClr val="000000"/>
                </a:solidFill>
                <a:latin typeface="等线" panose="02010600030101010101" charset="-122"/>
              </a:rPr>
              <a:t>S&amp;P</a:t>
            </a:r>
            <a:r>
              <a:rPr lang="en-US" altLang="zh-CN" sz="1400" dirty="0">
                <a:solidFill>
                  <a:srgbClr val="000000"/>
                </a:solidFill>
                <a:latin typeface="等线" panose="02010600030101010101" charset="-122"/>
              </a:rPr>
              <a:t> 2015.</a:t>
            </a:r>
            <a:endParaRPr lang="zh-CN" altLang="en-US" sz="1400" dirty="0">
              <a:solidFill>
                <a:srgbClr val="000000"/>
              </a:solidFill>
              <a:latin typeface="等线" panose="0201060003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Ways an Attacker Can Steal Your Secrets</a:t>
            </a:r>
            <a:endParaRPr lang="zh-CN" altLang="en-US" dirty="0"/>
          </a:p>
        </p:txBody>
      </p:sp>
      <p:sp>
        <p:nvSpPr>
          <p:cNvPr id="3" name="内容占位符 2"/>
          <p:cNvSpPr>
            <a:spLocks noGrp="1"/>
          </p:cNvSpPr>
          <p:nvPr>
            <p:ph idx="1"/>
          </p:nvPr>
        </p:nvSpPr>
        <p:spPr>
          <a:xfrm>
            <a:off x="457200" y="1333501"/>
            <a:ext cx="8229600" cy="2588068"/>
          </a:xfrm>
        </p:spPr>
        <p:txBody>
          <a:bodyPr>
            <a:normAutofit/>
          </a:bodyPr>
          <a:lstStyle/>
          <a:p>
            <a:r>
              <a:rPr lang="en-US" altLang="zh-CN" sz="2000" b="0" dirty="0" err="1"/>
              <a:t>KeyLogger</a:t>
            </a:r>
            <a:r>
              <a:rPr lang="en-US" altLang="zh-CN" sz="2000" b="0" dirty="0"/>
              <a:t>: install a </a:t>
            </a:r>
            <a:r>
              <a:rPr lang="en-US" altLang="zh-CN" sz="2000" b="0" dirty="0" err="1"/>
              <a:t>KeyLogger</a:t>
            </a:r>
            <a:r>
              <a:rPr lang="en-US" altLang="zh-CN" sz="2000" b="0" dirty="0"/>
              <a:t>/</a:t>
            </a:r>
            <a:r>
              <a:rPr lang="en-US" altLang="zh-CN" sz="2000" b="0" dirty="0" err="1"/>
              <a:t>TouchLogger</a:t>
            </a:r>
            <a:r>
              <a:rPr lang="en-US" altLang="zh-CN" sz="2000" b="0" dirty="0"/>
              <a:t> on the phone</a:t>
            </a:r>
            <a:endParaRPr lang="en-US" altLang="zh-CN" sz="2000" b="0" dirty="0"/>
          </a:p>
          <a:p>
            <a:r>
              <a:rPr lang="en-US" altLang="zh-CN" sz="2000" b="0" dirty="0"/>
              <a:t>Phishing: install a malware and lure the user to enter password</a:t>
            </a:r>
            <a:endParaRPr lang="en-US" altLang="zh-CN" sz="2000" b="0" dirty="0"/>
          </a:p>
          <a:p>
            <a:r>
              <a:rPr lang="en-US" altLang="zh-CN" sz="2000" b="0" dirty="0" err="1"/>
              <a:t>MemScan</a:t>
            </a:r>
            <a:r>
              <a:rPr lang="en-US" altLang="zh-CN" sz="2000" b="0" dirty="0"/>
              <a:t>: use rootkit and scan the memory for any plaintext</a:t>
            </a:r>
            <a:endParaRPr lang="en-US" altLang="zh-CN" sz="2000" b="0" dirty="0"/>
          </a:p>
        </p:txBody>
      </p:sp>
      <p:pic>
        <p:nvPicPr>
          <p:cNvPr id="2050" name="Picture 2" descr="http://europeanvoluntaryservice.org/wp-content/uploads/2014/03/Magnifying-Glass.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55776" y="3721596"/>
            <a:ext cx="1007963" cy="1007963"/>
          </a:xfrm>
          <a:prstGeom prst="rect">
            <a:avLst/>
          </a:prstGeom>
          <a:noFill/>
        </p:spPr>
      </p:pic>
      <p:sp>
        <p:nvSpPr>
          <p:cNvPr id="4" name="文本框 3"/>
          <p:cNvSpPr txBox="1"/>
          <p:nvPr/>
        </p:nvSpPr>
        <p:spPr>
          <a:xfrm>
            <a:off x="3779912" y="3361556"/>
            <a:ext cx="3168352" cy="1754326"/>
          </a:xfrm>
          <a:prstGeom prst="rect">
            <a:avLst/>
          </a:prstGeom>
          <a:noFill/>
          <a:ln w="19050">
            <a:solidFill>
              <a:schemeClr val="tx1"/>
            </a:solidFill>
          </a:ln>
        </p:spPr>
        <p:txBody>
          <a:bodyPr wrap="square" rtlCol="0">
            <a:spAutoFit/>
          </a:bodyPr>
          <a:lstStyle/>
          <a:p>
            <a:r>
              <a:rPr lang="en-US" altLang="zh-CN" dirty="0">
                <a:latin typeface="Consolas" panose="020B0609020204030204" pitchFamily="49" charset="0"/>
              </a:rPr>
              <a:t>010100101010101000101010101010101010101010101010010101010101010010101010101010101001010011010101010101010101010001001000000101010010010010</a:t>
            </a:r>
            <a:endParaRPr lang="zh-CN" altLang="en-US" dirty="0">
              <a:latin typeface="Consolas" panose="020B0609020204030204" pitchFamily="49" charset="0"/>
            </a:endParaRPr>
          </a:p>
        </p:txBody>
      </p:sp>
      <p:sp>
        <p:nvSpPr>
          <p:cNvPr id="8" name="矩形 7"/>
          <p:cNvSpPr/>
          <p:nvPr/>
        </p:nvSpPr>
        <p:spPr>
          <a:xfrm>
            <a:off x="323528" y="5368668"/>
            <a:ext cx="8496944" cy="307777"/>
          </a:xfrm>
          <a:prstGeom prst="rect">
            <a:avLst/>
          </a:prstGeom>
        </p:spPr>
        <p:txBody>
          <a:bodyPr wrap="square">
            <a:spAutoFit/>
          </a:bodyPr>
          <a:lstStyle/>
          <a:p>
            <a:pPr algn="r"/>
            <a:r>
              <a:rPr lang="en-US" altLang="zh-CN" sz="1400" dirty="0">
                <a:solidFill>
                  <a:srgbClr val="000000"/>
                </a:solidFill>
                <a:latin typeface="等线" panose="02010600030101010101" charset="-122"/>
              </a:rPr>
              <a:t>The Samsung memory mapping bug: </a:t>
            </a:r>
            <a:r>
              <a:rPr lang="zh-CN" altLang="en-US" sz="1400" dirty="0">
                <a:solidFill>
                  <a:srgbClr val="000000"/>
                </a:solidFill>
                <a:latin typeface="等线" panose="02010600030101010101" charset="-122"/>
              </a:rPr>
              <a:t>http://forum.xda-developers.com/showthread.php?t=2048511</a:t>
            </a:r>
            <a:endParaRPr lang="zh-CN" altLang="en-US" sz="1400" dirty="0">
              <a:solidFill>
                <a:srgbClr val="000000"/>
              </a:solidFill>
              <a:latin typeface="等线" panose="0201060003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The "Data Residue" Problem</a:t>
            </a:r>
            <a:endParaRPr lang="zh-CN" altLang="en-US" dirty="0"/>
          </a:p>
        </p:txBody>
      </p:sp>
      <p:sp>
        <p:nvSpPr>
          <p:cNvPr id="3" name="内容占位符 2"/>
          <p:cNvSpPr>
            <a:spLocks noGrp="1"/>
          </p:cNvSpPr>
          <p:nvPr>
            <p:ph idx="1"/>
          </p:nvPr>
        </p:nvSpPr>
        <p:spPr/>
        <p:txBody>
          <a:bodyPr>
            <a:normAutofit/>
          </a:bodyPr>
          <a:lstStyle/>
          <a:p>
            <a:r>
              <a:rPr lang="en-US" altLang="zh-CN" sz="1800" b="0" dirty="0"/>
              <a:t>The plaintext of confidential data may exist in memory on a mobile device for a long time</a:t>
            </a:r>
            <a:endParaRPr lang="en-US" altLang="zh-CN" sz="1800" b="0" dirty="0"/>
          </a:p>
        </p:txBody>
      </p:sp>
      <p:sp>
        <p:nvSpPr>
          <p:cNvPr id="4" name="内容占位符 2"/>
          <p:cNvSpPr txBox="1"/>
          <p:nvPr/>
        </p:nvSpPr>
        <p:spPr>
          <a:xfrm>
            <a:off x="457200" y="1333501"/>
            <a:ext cx="8229600" cy="3771636"/>
          </a:xfrm>
          <a:prstGeom prst="rect">
            <a:avLst/>
          </a:prstGeom>
        </p:spPr>
        <p:txBody>
          <a:bodyPr vert="horz" lIns="91440" tIns="45720" rIns="91440" bIns="45720" rtlCol="0">
            <a:normAutofit/>
          </a:bodyPr>
          <a:lstStyle>
            <a:lvl1pPr marL="342900" indent="-342900" algn="l" defTabSz="914400" rtl="0" eaLnBrk="1" latinLnBrk="0" hangingPunct="1">
              <a:spcBef>
                <a:spcPts val="1800"/>
              </a:spcBef>
              <a:buFont typeface="Arial" panose="020B0604020202020204" pitchFamily="34" charset="0"/>
              <a:buChar char="•"/>
              <a:defRPr sz="3200" b="0" i="0" kern="1200">
                <a:solidFill>
                  <a:schemeClr val="tx1"/>
                </a:solidFill>
                <a:latin typeface="Myriad Pro Light SemiCond"/>
                <a:ea typeface="+mn-ea"/>
                <a:cs typeface="Myriad Pro Light SemiCond"/>
              </a:defRPr>
            </a:lvl1pPr>
            <a:lvl2pPr marL="742950" indent="-285750" algn="l" defTabSz="914400" rtl="0" eaLnBrk="1" latinLnBrk="0" hangingPunct="1">
              <a:spcBef>
                <a:spcPct val="20000"/>
              </a:spcBef>
              <a:buFont typeface="Arial" panose="020B0604020202020204" pitchFamily="34" charset="0"/>
              <a:buChar char="–"/>
              <a:defRPr sz="2800" b="0" i="0" kern="1200">
                <a:solidFill>
                  <a:schemeClr val="tx1"/>
                </a:solidFill>
                <a:latin typeface="Myriad Pro Light SemiCond"/>
                <a:ea typeface="+mn-ea"/>
                <a:cs typeface="Myriad Pro Light SemiCond"/>
              </a:defRPr>
            </a:lvl2pPr>
            <a:lvl3pPr marL="1143000" indent="-228600" algn="l" defTabSz="914400" rtl="0" eaLnBrk="1" latinLnBrk="0" hangingPunct="1">
              <a:spcBef>
                <a:spcPct val="20000"/>
              </a:spcBef>
              <a:buFont typeface="Arial" panose="020B0604020202020204" pitchFamily="34" charset="0"/>
              <a:buChar char="•"/>
              <a:defRPr sz="2400" b="0" i="0" kern="1200">
                <a:solidFill>
                  <a:schemeClr val="tx1"/>
                </a:solidFill>
                <a:latin typeface="Myriad Pro Light SemiCond"/>
                <a:ea typeface="+mn-ea"/>
                <a:cs typeface="Myriad Pro Light SemiCond"/>
              </a:defRPr>
            </a:lvl3pPr>
            <a:lvl4pPr marL="1600200" indent="-228600" algn="l" defTabSz="914400" rtl="0" eaLnBrk="1" latinLnBrk="0" hangingPunct="1">
              <a:spcBef>
                <a:spcPct val="20000"/>
              </a:spcBef>
              <a:buFont typeface="Arial" panose="020B0604020202020204" pitchFamily="34" charset="0"/>
              <a:buChar char="–"/>
              <a:defRPr sz="2000" b="0" i="0" kern="1200">
                <a:solidFill>
                  <a:schemeClr val="tx1"/>
                </a:solidFill>
                <a:latin typeface="Myriad Pro Light SemiCond"/>
                <a:ea typeface="+mn-ea"/>
                <a:cs typeface="Myriad Pro Light SemiCond"/>
              </a:defRPr>
            </a:lvl4pPr>
            <a:lvl5pPr marL="2057400" indent="-228600" algn="l" defTabSz="914400" rtl="0" eaLnBrk="1" latinLnBrk="0" hangingPunct="1">
              <a:spcBef>
                <a:spcPct val="20000"/>
              </a:spcBef>
              <a:buFont typeface="Arial" panose="020B0604020202020204" pitchFamily="34" charset="0"/>
              <a:buChar char="»"/>
              <a:defRPr sz="2000" b="0" i="0" kern="1200">
                <a:solidFill>
                  <a:schemeClr val="tx1"/>
                </a:solidFill>
                <a:latin typeface="Myriad Pro Light SemiCond"/>
                <a:ea typeface="+mn-ea"/>
                <a:cs typeface="Myriad Pro Light SemiCond"/>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a:latin typeface="等线" panose="02010600030101010101" charset="-122"/>
              </a:rPr>
              <a:t>应用对关键数据的保护不够</a:t>
            </a:r>
            <a:endParaRPr lang="en-US" altLang="zh-CN" dirty="0">
              <a:latin typeface="等线" panose="02010600030101010101" charset="-122"/>
            </a:endParaRPr>
          </a:p>
          <a:p>
            <a:pPr lvl="1"/>
            <a:r>
              <a:rPr lang="zh-CN" altLang="en-US" dirty="0">
                <a:latin typeface="等线" panose="02010600030101010101" charset="-122"/>
              </a:rPr>
              <a:t>引</a:t>
            </a:r>
            <a:r>
              <a:rPr lang="en-US" altLang="zh-CN" dirty="0" err="1">
                <a:latin typeface="等线" panose="02010600030101010101" charset="-122"/>
              </a:rPr>
              <a:t>CleanOS</a:t>
            </a:r>
            <a:r>
              <a:rPr lang="zh-CN" altLang="en-US" dirty="0">
                <a:latin typeface="等线" panose="02010600030101010101" charset="-122"/>
              </a:rPr>
              <a:t>的数据</a:t>
            </a:r>
            <a:endParaRPr lang="zh-CN" altLang="en-US" dirty="0">
              <a:latin typeface="等线" panose="02010600030101010101"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520" y="1209126"/>
            <a:ext cx="8568952" cy="3611999"/>
          </a:xfrm>
          <a:prstGeom prst="rect">
            <a:avLst/>
          </a:prstGeom>
        </p:spPr>
      </p:pic>
      <p:sp>
        <p:nvSpPr>
          <p:cNvPr id="7" name="矩形 6"/>
          <p:cNvSpPr/>
          <p:nvPr/>
        </p:nvSpPr>
        <p:spPr>
          <a:xfrm>
            <a:off x="637220" y="2754610"/>
            <a:ext cx="7895220" cy="1399034"/>
          </a:xfrm>
          <a:prstGeom prst="rect">
            <a:avLst/>
          </a:prstGeom>
          <a:solidFill>
            <a:srgbClr val="604A7B">
              <a:alpha val="94902"/>
            </a:srgb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latin typeface="等线" panose="02010600030101010101" charset="-122"/>
              </a:rPr>
              <a:t>Android's default Email app: </a:t>
            </a:r>
            <a:endParaRPr lang="en-US" altLang="zh-CN" sz="2000" dirty="0">
              <a:latin typeface="等线" panose="02010600030101010101" charset="-122"/>
            </a:endParaRPr>
          </a:p>
          <a:p>
            <a:r>
              <a:rPr lang="en-US" altLang="zh-CN" sz="2000" dirty="0">
                <a:latin typeface="等线" panose="02010600030101010101" charset="-122"/>
              </a:rPr>
              <a:t>         has plaintext of password in RAM </a:t>
            </a:r>
            <a:r>
              <a:rPr lang="en-US" altLang="zh-CN" sz="2000" u="sng" dirty="0">
                <a:latin typeface="等线" panose="02010600030101010101" charset="-122"/>
              </a:rPr>
              <a:t>10 minutes after login</a:t>
            </a:r>
            <a:endParaRPr lang="zh-CN" altLang="en-US" sz="2000" u="sng" dirty="0">
              <a:latin typeface="等线" panose="02010600030101010101" charset="-122"/>
            </a:endParaRPr>
          </a:p>
        </p:txBody>
      </p:sp>
      <p:sp>
        <p:nvSpPr>
          <p:cNvPr id="8" name="矩形 7"/>
          <p:cNvSpPr/>
          <p:nvPr/>
        </p:nvSpPr>
        <p:spPr>
          <a:xfrm>
            <a:off x="3275856" y="1975276"/>
            <a:ext cx="5544616" cy="191671"/>
          </a:xfrm>
          <a:prstGeom prst="rect">
            <a:avLst/>
          </a:prstGeom>
          <a:solidFill>
            <a:srgbClr val="6600FF">
              <a:alpha val="10196"/>
            </a:srgb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2000" dirty="0">
              <a:latin typeface="等线" panose="02010600030101010101" charset="-122"/>
            </a:endParaRPr>
          </a:p>
        </p:txBody>
      </p:sp>
      <p:sp>
        <p:nvSpPr>
          <p:cNvPr id="10" name="矩形 9"/>
          <p:cNvSpPr/>
          <p:nvPr/>
        </p:nvSpPr>
        <p:spPr>
          <a:xfrm>
            <a:off x="251520" y="5378000"/>
            <a:ext cx="8568952" cy="338554"/>
          </a:xfrm>
          <a:prstGeom prst="rect">
            <a:avLst/>
          </a:prstGeom>
        </p:spPr>
        <p:txBody>
          <a:bodyPr wrap="square">
            <a:spAutoFit/>
          </a:bodyPr>
          <a:lstStyle/>
          <a:p>
            <a:pPr algn="r"/>
            <a:r>
              <a:rPr lang="en-US" altLang="zh-CN" sz="1600" dirty="0">
                <a:solidFill>
                  <a:srgbClr val="000000"/>
                </a:solidFill>
                <a:latin typeface="等线" panose="02010600030101010101" charset="-122"/>
                <a:ea typeface="微软雅黑 Light" panose="020B0502040204020203" pitchFamily="34" charset="-122"/>
              </a:rPr>
              <a:t>Tang, Yang, et al. "</a:t>
            </a:r>
            <a:r>
              <a:rPr lang="en-US" altLang="zh-CN" sz="1600" dirty="0" err="1">
                <a:solidFill>
                  <a:srgbClr val="000000"/>
                </a:solidFill>
                <a:latin typeface="等线" panose="02010600030101010101" charset="-122"/>
                <a:ea typeface="微软雅黑 Light" panose="020B0502040204020203" pitchFamily="34" charset="-122"/>
              </a:rPr>
              <a:t>CleanOS</a:t>
            </a:r>
            <a:r>
              <a:rPr lang="en-US" altLang="zh-CN" sz="1600" dirty="0">
                <a:solidFill>
                  <a:srgbClr val="000000"/>
                </a:solidFill>
                <a:latin typeface="等线" panose="02010600030101010101" charset="-122"/>
                <a:ea typeface="微软雅黑 Light" panose="020B0502040204020203" pitchFamily="34" charset="-122"/>
              </a:rPr>
              <a:t>: Limiting Mobile Data Exposure with Idle Eviction." </a:t>
            </a:r>
            <a:r>
              <a:rPr lang="en-US" altLang="zh-CN" sz="1600" i="1" dirty="0">
                <a:solidFill>
                  <a:srgbClr val="000000"/>
                </a:solidFill>
                <a:latin typeface="等线" panose="02010600030101010101" charset="-122"/>
                <a:ea typeface="微软雅黑 Light" panose="020B0502040204020203" pitchFamily="34" charset="-122"/>
              </a:rPr>
              <a:t>OSDI</a:t>
            </a:r>
            <a:r>
              <a:rPr lang="en-US" altLang="zh-CN" sz="1600" dirty="0">
                <a:solidFill>
                  <a:srgbClr val="000000"/>
                </a:solidFill>
                <a:latin typeface="等线" panose="02010600030101010101" charset="-122"/>
                <a:ea typeface="微软雅黑 Light" panose="020B0502040204020203" pitchFamily="34" charset="-122"/>
              </a:rPr>
              <a:t>. 2012.</a:t>
            </a:r>
            <a:endParaRPr lang="zh-CN" altLang="en-US" sz="1600" dirty="0">
              <a:solidFill>
                <a:srgbClr val="000000"/>
              </a:solidFill>
              <a:latin typeface="等线" panose="02010600030101010101" charset="-122"/>
              <a:ea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Ways an Attacker Can Steal Your Secrets</a:t>
            </a:r>
            <a:endParaRPr lang="zh-CN" altLang="en-US" dirty="0"/>
          </a:p>
        </p:txBody>
      </p:sp>
      <p:sp>
        <p:nvSpPr>
          <p:cNvPr id="3" name="内容占位符 2"/>
          <p:cNvSpPr>
            <a:spLocks noGrp="1"/>
          </p:cNvSpPr>
          <p:nvPr>
            <p:ph idx="1"/>
          </p:nvPr>
        </p:nvSpPr>
        <p:spPr>
          <a:xfrm>
            <a:off x="457200" y="1333501"/>
            <a:ext cx="8229600" cy="2588068"/>
          </a:xfrm>
        </p:spPr>
        <p:txBody>
          <a:bodyPr>
            <a:normAutofit fontScale="92500"/>
          </a:bodyPr>
          <a:lstStyle/>
          <a:p>
            <a:r>
              <a:rPr lang="en-US" altLang="zh-CN" sz="2400" b="0" dirty="0" err="1"/>
              <a:t>KeyLogger</a:t>
            </a:r>
            <a:r>
              <a:rPr lang="en-US" altLang="zh-CN" sz="2400" b="0" dirty="0"/>
              <a:t>: install a </a:t>
            </a:r>
            <a:r>
              <a:rPr lang="en-US" altLang="zh-CN" sz="2400" b="0" dirty="0" err="1"/>
              <a:t>KeyLogger</a:t>
            </a:r>
            <a:r>
              <a:rPr lang="en-US" altLang="zh-CN" sz="2400" b="0" dirty="0"/>
              <a:t>/</a:t>
            </a:r>
            <a:r>
              <a:rPr lang="en-US" altLang="zh-CN" sz="2400" b="0" dirty="0" err="1"/>
              <a:t>TouchLogger</a:t>
            </a:r>
            <a:r>
              <a:rPr lang="en-US" altLang="zh-CN" sz="2400" b="0" dirty="0"/>
              <a:t> on the phone</a:t>
            </a:r>
            <a:endParaRPr lang="en-US" altLang="zh-CN" sz="2400" b="0" dirty="0"/>
          </a:p>
          <a:p>
            <a:r>
              <a:rPr lang="en-US" altLang="zh-CN" sz="2400" b="0" dirty="0"/>
              <a:t>Phishing: install a malware and lure the user to enter password</a:t>
            </a:r>
            <a:endParaRPr lang="en-US" altLang="zh-CN" sz="2400" b="0" dirty="0"/>
          </a:p>
          <a:p>
            <a:r>
              <a:rPr lang="en-US" altLang="zh-CN" sz="2400" b="0" dirty="0" err="1"/>
              <a:t>MemScan</a:t>
            </a:r>
            <a:r>
              <a:rPr lang="en-US" altLang="zh-CN" sz="2400" b="0" dirty="0"/>
              <a:t>: use rootkit and scan the memory for any plaintext</a:t>
            </a:r>
            <a:endParaRPr lang="en-US" altLang="zh-CN" sz="2400" b="0" dirty="0"/>
          </a:p>
          <a:p>
            <a:r>
              <a:rPr lang="en-US" altLang="zh-CN" sz="2400" b="0" dirty="0" err="1"/>
              <a:t>ScreenCapture</a:t>
            </a:r>
            <a:r>
              <a:rPr lang="en-US" altLang="zh-CN" sz="2400" b="0" dirty="0"/>
              <a:t>: get information directly from the screen</a:t>
            </a:r>
            <a:endParaRPr lang="en-US" altLang="zh-CN" sz="2400" b="0" dirty="0"/>
          </a:p>
        </p:txBody>
      </p:sp>
      <p:pic>
        <p:nvPicPr>
          <p:cNvPr id="5" name="图片 4"/>
          <p:cNvPicPr>
            <a:picLocks noChangeAspect="1"/>
          </p:cNvPicPr>
          <p:nvPr/>
        </p:nvPicPr>
        <p:blipFill>
          <a:blip r:embed="rId1"/>
          <a:stretch>
            <a:fillRect/>
          </a:stretch>
        </p:blipFill>
        <p:spPr>
          <a:xfrm>
            <a:off x="3275856" y="3721596"/>
            <a:ext cx="2360062" cy="1512168"/>
          </a:xfrm>
          <a:prstGeom prst="rect">
            <a:avLst/>
          </a:prstGeom>
          <a:ln>
            <a:solidFill>
              <a:schemeClr val="accent1"/>
            </a:solidFill>
          </a:ln>
        </p:spPr>
      </p:pic>
      <p:sp>
        <p:nvSpPr>
          <p:cNvPr id="6" name="矩形 5"/>
          <p:cNvSpPr/>
          <p:nvPr/>
        </p:nvSpPr>
        <p:spPr>
          <a:xfrm>
            <a:off x="3707904" y="4076067"/>
            <a:ext cx="360040" cy="144016"/>
          </a:xfrm>
          <a:prstGeom prst="rect">
            <a:avLst/>
          </a:prstGeom>
          <a:solidFill>
            <a:srgbClr val="F0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23528" y="5377780"/>
            <a:ext cx="8640960" cy="307777"/>
          </a:xfrm>
          <a:prstGeom prst="rect">
            <a:avLst/>
          </a:prstGeom>
        </p:spPr>
        <p:txBody>
          <a:bodyPr wrap="square">
            <a:spAutoFit/>
          </a:bodyPr>
          <a:lstStyle/>
          <a:p>
            <a:pPr algn="r"/>
            <a:r>
              <a:rPr lang="en-US" altLang="zh-CN" sz="1400" dirty="0">
                <a:solidFill>
                  <a:srgbClr val="000000"/>
                </a:solidFill>
                <a:latin typeface="等线" panose="02010600030101010101" charset="-122"/>
              </a:rPr>
              <a:t>Jang, </a:t>
            </a:r>
            <a:r>
              <a:rPr lang="en-US" altLang="zh-CN" sz="1400" dirty="0" err="1">
                <a:solidFill>
                  <a:srgbClr val="000000"/>
                </a:solidFill>
                <a:latin typeface="等线" panose="02010600030101010101" charset="-122"/>
              </a:rPr>
              <a:t>Yeongjin</a:t>
            </a:r>
            <a:r>
              <a:rPr lang="en-US" altLang="zh-CN" sz="1400" dirty="0">
                <a:solidFill>
                  <a:srgbClr val="000000"/>
                </a:solidFill>
                <a:latin typeface="等线" panose="02010600030101010101" charset="-122"/>
              </a:rPr>
              <a:t>, et al. "A11y Attacks: Exploiting Accessibility in Operating Systems." </a:t>
            </a:r>
            <a:r>
              <a:rPr lang="en-US" altLang="zh-CN" sz="1400" i="1" dirty="0">
                <a:solidFill>
                  <a:srgbClr val="000000"/>
                </a:solidFill>
                <a:latin typeface="等线" panose="02010600030101010101" charset="-122"/>
              </a:rPr>
              <a:t>CCS</a:t>
            </a:r>
            <a:r>
              <a:rPr lang="en-US" altLang="zh-CN" sz="1400" dirty="0">
                <a:solidFill>
                  <a:srgbClr val="000000"/>
                </a:solidFill>
                <a:latin typeface="等线" panose="02010600030101010101" charset="-122"/>
              </a:rPr>
              <a:t>, 2014.</a:t>
            </a:r>
            <a:endParaRPr lang="zh-CN" altLang="en-US" sz="1400" dirty="0">
              <a:solidFill>
                <a:srgbClr val="000000"/>
              </a:solidFill>
              <a:latin typeface="等线" panose="02010600030101010101" charset="-122"/>
            </a:endParaRPr>
          </a:p>
        </p:txBody>
      </p:sp>
      <p:sp>
        <p:nvSpPr>
          <p:cNvPr id="9" name="椭圆 8"/>
          <p:cNvSpPr/>
          <p:nvPr/>
        </p:nvSpPr>
        <p:spPr>
          <a:xfrm>
            <a:off x="3563888" y="4439253"/>
            <a:ext cx="288032"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Ways an Attacker Can Steal Your Secrets</a:t>
            </a:r>
            <a:endParaRPr lang="zh-CN" altLang="en-US" dirty="0"/>
          </a:p>
        </p:txBody>
      </p:sp>
      <p:sp>
        <p:nvSpPr>
          <p:cNvPr id="3" name="内容占位符 2"/>
          <p:cNvSpPr>
            <a:spLocks noGrp="1"/>
          </p:cNvSpPr>
          <p:nvPr>
            <p:ph idx="1"/>
          </p:nvPr>
        </p:nvSpPr>
        <p:spPr>
          <a:xfrm>
            <a:off x="457200" y="1333500"/>
            <a:ext cx="8686800" cy="3252191"/>
          </a:xfrm>
        </p:spPr>
        <p:txBody>
          <a:bodyPr>
            <a:normAutofit lnSpcReduction="10000"/>
          </a:bodyPr>
          <a:lstStyle/>
          <a:p>
            <a:r>
              <a:rPr lang="en-US" altLang="zh-CN" sz="2400" b="0" dirty="0" err="1"/>
              <a:t>KeyLogger</a:t>
            </a:r>
            <a:r>
              <a:rPr lang="en-US" altLang="zh-CN" sz="2400" b="0" dirty="0"/>
              <a:t>: install a </a:t>
            </a:r>
            <a:r>
              <a:rPr lang="en-US" altLang="zh-CN" sz="2400" b="0" dirty="0" err="1"/>
              <a:t>KeyLogger</a:t>
            </a:r>
            <a:r>
              <a:rPr lang="en-US" altLang="zh-CN" sz="2400" b="0" dirty="0"/>
              <a:t>/</a:t>
            </a:r>
            <a:r>
              <a:rPr lang="en-US" altLang="zh-CN" sz="2400" b="0" dirty="0" err="1"/>
              <a:t>TouchLogger</a:t>
            </a:r>
            <a:r>
              <a:rPr lang="en-US" altLang="zh-CN" sz="2400" b="0" dirty="0"/>
              <a:t> on the phone</a:t>
            </a:r>
            <a:endParaRPr lang="en-US" altLang="zh-CN" sz="2400" b="0" dirty="0"/>
          </a:p>
          <a:p>
            <a:r>
              <a:rPr lang="en-US" altLang="zh-CN" sz="2400" b="0" dirty="0"/>
              <a:t>Phishing: install a malware and lure the user to enter password</a:t>
            </a:r>
            <a:endParaRPr lang="en-US" altLang="zh-CN" sz="2400" b="0" dirty="0"/>
          </a:p>
          <a:p>
            <a:r>
              <a:rPr lang="en-US" altLang="zh-CN" sz="2400" b="0" dirty="0" err="1"/>
              <a:t>MemScan</a:t>
            </a:r>
            <a:r>
              <a:rPr lang="en-US" altLang="zh-CN" sz="2400" b="0" dirty="0"/>
              <a:t>: using rootkit and scan memory for any plaintext</a:t>
            </a:r>
            <a:endParaRPr lang="en-US" altLang="zh-CN" sz="2400" b="0" dirty="0"/>
          </a:p>
          <a:p>
            <a:r>
              <a:rPr lang="en-US" altLang="zh-CN" sz="2400" b="0" dirty="0" err="1"/>
              <a:t>ScreenCapture</a:t>
            </a:r>
            <a:r>
              <a:rPr lang="en-US" altLang="zh-CN" sz="2400" b="0" dirty="0"/>
              <a:t>: get information directly from the screen</a:t>
            </a:r>
            <a:endParaRPr lang="en-US" altLang="zh-CN" sz="2400" b="0" dirty="0"/>
          </a:p>
          <a:p>
            <a:r>
              <a:rPr lang="en-US" altLang="zh-CN" sz="2400" b="0" dirty="0"/>
              <a:t>Cold-boot: physically attack that can scan memory to get any plaintext</a:t>
            </a:r>
            <a:endParaRPr lang="en-US" altLang="zh-CN" sz="2400" b="0" dirty="0"/>
          </a:p>
        </p:txBody>
      </p:sp>
      <p:pic>
        <p:nvPicPr>
          <p:cNvPr id="4" name="Picture 4" descr="5122f5683910f.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59405" y="4369668"/>
            <a:ext cx="3625189" cy="841044"/>
          </a:xfrm>
          <a:prstGeom prst="rect">
            <a:avLst/>
          </a:prstGeom>
        </p:spPr>
      </p:pic>
      <p:sp>
        <p:nvSpPr>
          <p:cNvPr id="7" name="矩形 6"/>
          <p:cNvSpPr/>
          <p:nvPr/>
        </p:nvSpPr>
        <p:spPr>
          <a:xfrm>
            <a:off x="107504" y="1273324"/>
            <a:ext cx="8784976" cy="2430504"/>
          </a:xfrm>
          <a:prstGeom prst="rect">
            <a:avLst/>
          </a:prstGeom>
          <a:solidFill>
            <a:srgbClr val="FFFFFF">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2" descr="Recovering FDE encryption keys, with FROST"/>
          <p:cNvPicPr>
            <a:picLocks noChangeAspect="1" noChangeArrowheads="1"/>
          </p:cNvPicPr>
          <p:nvPr/>
        </p:nvPicPr>
        <p:blipFill>
          <a:blip r:embed="rId2"/>
          <a:srcRect/>
          <a:stretch>
            <a:fillRect/>
          </a:stretch>
        </p:blipFill>
        <p:spPr bwMode="auto">
          <a:xfrm>
            <a:off x="5266156" y="1417340"/>
            <a:ext cx="1580468" cy="2106468"/>
          </a:xfrm>
          <a:prstGeom prst="rect">
            <a:avLst/>
          </a:prstGeom>
          <a:noFill/>
          <a:ln w="28575">
            <a:solidFill>
              <a:srgbClr val="7030A0"/>
            </a:solidFill>
          </a:ln>
        </p:spPr>
      </p:pic>
      <p:pic>
        <p:nvPicPr>
          <p:cNvPr id="9" name="Picture 4" descr="A Galaxy Nexus in the freezer, preparing to give up its encryption key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1417340"/>
            <a:ext cx="2808624" cy="2106468"/>
          </a:xfrm>
          <a:prstGeom prst="rect">
            <a:avLst/>
          </a:prstGeom>
          <a:noFill/>
          <a:ln w="28575">
            <a:solidFill>
              <a:srgbClr val="7030A0"/>
            </a:solidFill>
          </a:ln>
        </p:spPr>
      </p:pic>
      <p:sp>
        <p:nvSpPr>
          <p:cNvPr id="11" name="矩形 10"/>
          <p:cNvSpPr/>
          <p:nvPr/>
        </p:nvSpPr>
        <p:spPr>
          <a:xfrm>
            <a:off x="467544" y="5377780"/>
            <a:ext cx="8496944" cy="276999"/>
          </a:xfrm>
          <a:prstGeom prst="rect">
            <a:avLst/>
          </a:prstGeom>
        </p:spPr>
        <p:txBody>
          <a:bodyPr wrap="square">
            <a:spAutoFit/>
          </a:bodyPr>
          <a:lstStyle/>
          <a:p>
            <a:pPr algn="r"/>
            <a:r>
              <a:rPr lang="en-US" altLang="zh-CN" sz="1200" dirty="0">
                <a:solidFill>
                  <a:srgbClr val="000000"/>
                </a:solidFill>
                <a:latin typeface="等线" panose="02010600030101010101" charset="-122"/>
              </a:rPr>
              <a:t>Müller, </a:t>
            </a:r>
            <a:r>
              <a:rPr lang="en-US" altLang="zh-CN" sz="1200" dirty="0" err="1">
                <a:solidFill>
                  <a:srgbClr val="000000"/>
                </a:solidFill>
                <a:latin typeface="等线" panose="02010600030101010101" charset="-122"/>
              </a:rPr>
              <a:t>Tilo</a:t>
            </a:r>
            <a:r>
              <a:rPr lang="en-US" altLang="zh-CN" sz="1200" dirty="0">
                <a:solidFill>
                  <a:srgbClr val="000000"/>
                </a:solidFill>
                <a:latin typeface="等线" panose="02010600030101010101" charset="-122"/>
              </a:rPr>
              <a:t>, and Michael </a:t>
            </a:r>
            <a:r>
              <a:rPr lang="en-US" altLang="zh-CN" sz="1200" dirty="0" err="1">
                <a:solidFill>
                  <a:srgbClr val="000000"/>
                </a:solidFill>
                <a:latin typeface="等线" panose="02010600030101010101" charset="-122"/>
              </a:rPr>
              <a:t>Spreitzenbarth</a:t>
            </a:r>
            <a:r>
              <a:rPr lang="en-US" altLang="zh-CN" sz="1200" dirty="0">
                <a:solidFill>
                  <a:srgbClr val="000000"/>
                </a:solidFill>
                <a:latin typeface="等线" panose="02010600030101010101" charset="-122"/>
              </a:rPr>
              <a:t>. "Frost." </a:t>
            </a:r>
            <a:r>
              <a:rPr lang="en-US" altLang="zh-CN" sz="1200" i="1" dirty="0">
                <a:solidFill>
                  <a:srgbClr val="000000"/>
                </a:solidFill>
                <a:latin typeface="等线" panose="02010600030101010101" charset="-122"/>
              </a:rPr>
              <a:t>Applied Cryptography and Network Security</a:t>
            </a:r>
            <a:r>
              <a:rPr lang="en-US" altLang="zh-CN" sz="1200" dirty="0">
                <a:solidFill>
                  <a:srgbClr val="000000"/>
                </a:solidFill>
                <a:latin typeface="等线" panose="02010600030101010101" charset="-122"/>
              </a:rPr>
              <a:t>. Springer Berlin Heidelberg, 2013.</a:t>
            </a:r>
            <a:endParaRPr lang="zh-CN" altLang="en-US" sz="1200" dirty="0">
              <a:solidFill>
                <a:srgbClr val="000000"/>
              </a:solidFill>
              <a:latin typeface="等线" panose="0201060003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Ways an Attacker Can Steal Your Secrets</a:t>
            </a:r>
            <a:endParaRPr lang="zh-CN" altLang="en-US" dirty="0"/>
          </a:p>
        </p:txBody>
      </p:sp>
      <p:sp>
        <p:nvSpPr>
          <p:cNvPr id="3" name="内容占位符 2"/>
          <p:cNvSpPr>
            <a:spLocks noGrp="1"/>
          </p:cNvSpPr>
          <p:nvPr>
            <p:ph idx="1"/>
          </p:nvPr>
        </p:nvSpPr>
        <p:spPr>
          <a:xfrm>
            <a:off x="457200" y="1333500"/>
            <a:ext cx="8229600" cy="4188296"/>
          </a:xfrm>
        </p:spPr>
        <p:txBody>
          <a:bodyPr>
            <a:normAutofit/>
          </a:bodyPr>
          <a:lstStyle/>
          <a:p>
            <a:r>
              <a:rPr lang="en-US" altLang="zh-CN" sz="2200" b="0" dirty="0" err="1"/>
              <a:t>KeyLogger</a:t>
            </a:r>
            <a:r>
              <a:rPr lang="en-US" altLang="zh-CN" sz="2200" b="0" dirty="0"/>
              <a:t>: install a </a:t>
            </a:r>
            <a:r>
              <a:rPr lang="en-US" altLang="zh-CN" sz="2200" b="0" dirty="0" err="1"/>
              <a:t>KeyLogger</a:t>
            </a:r>
            <a:r>
              <a:rPr lang="en-US" altLang="zh-CN" sz="2200" b="0" dirty="0"/>
              <a:t>/</a:t>
            </a:r>
            <a:r>
              <a:rPr lang="en-US" altLang="zh-CN" sz="2200" b="0" dirty="0" err="1"/>
              <a:t>TouchLogger</a:t>
            </a:r>
            <a:r>
              <a:rPr lang="en-US" altLang="zh-CN" sz="2200" b="0" dirty="0"/>
              <a:t> on the phone</a:t>
            </a:r>
            <a:endParaRPr lang="en-US" altLang="zh-CN" sz="2200" b="0" dirty="0"/>
          </a:p>
          <a:p>
            <a:r>
              <a:rPr lang="en-US" altLang="zh-CN" sz="2200" b="0" dirty="0"/>
              <a:t>Phishing: install a malware and lure the user to enter password</a:t>
            </a:r>
            <a:endParaRPr lang="en-US" altLang="zh-CN" sz="2200" b="0" dirty="0"/>
          </a:p>
          <a:p>
            <a:r>
              <a:rPr lang="en-US" altLang="zh-CN" sz="2200" b="0" dirty="0" err="1"/>
              <a:t>MemScan</a:t>
            </a:r>
            <a:r>
              <a:rPr lang="en-US" altLang="zh-CN" sz="2200" b="0" dirty="0"/>
              <a:t>: using rootkit and scan memory for any plaintext</a:t>
            </a:r>
            <a:endParaRPr lang="en-US" altLang="zh-CN" sz="2200" b="0" dirty="0"/>
          </a:p>
          <a:p>
            <a:r>
              <a:rPr lang="en-US" altLang="zh-CN" sz="2200" b="0" dirty="0" err="1"/>
              <a:t>ScreenCapture</a:t>
            </a:r>
            <a:r>
              <a:rPr lang="en-US" altLang="zh-CN" sz="2200" b="0" dirty="0"/>
              <a:t>: get information directly from the screen</a:t>
            </a:r>
            <a:endParaRPr lang="en-US" altLang="zh-CN" sz="2200" b="0" dirty="0"/>
          </a:p>
          <a:p>
            <a:r>
              <a:rPr lang="en-US" altLang="zh-CN" sz="2200" b="0" dirty="0" err="1"/>
              <a:t>Coldboot</a:t>
            </a:r>
            <a:r>
              <a:rPr lang="en-US" altLang="zh-CN" sz="2200" b="0" dirty="0"/>
              <a:t>: physically scan the memory to get any plaintext</a:t>
            </a:r>
            <a:endParaRPr lang="en-US" altLang="zh-CN" sz="2200" b="0" dirty="0"/>
          </a:p>
          <a:p>
            <a:r>
              <a:rPr lang="en-US" altLang="zh-CN" sz="2200" b="0" dirty="0"/>
              <a:t>Side-Channel: infer PIN code through motion-detector</a:t>
            </a:r>
            <a:endParaRPr lang="en-US" altLang="zh-CN" sz="2200" b="0" dirty="0"/>
          </a:p>
        </p:txBody>
      </p:sp>
      <p:sp>
        <p:nvSpPr>
          <p:cNvPr id="5" name="矩形 4"/>
          <p:cNvSpPr/>
          <p:nvPr/>
        </p:nvSpPr>
        <p:spPr>
          <a:xfrm>
            <a:off x="107504" y="1273324"/>
            <a:ext cx="8784976" cy="2952328"/>
          </a:xfrm>
          <a:prstGeom prst="rect">
            <a:avLst/>
          </a:prstGeom>
          <a:solidFill>
            <a:srgbClr val="FFFFFF">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 4"/>
          <p:cNvPicPr>
            <a:picLocks noChangeAspect="1"/>
          </p:cNvPicPr>
          <p:nvPr/>
        </p:nvPicPr>
        <p:blipFill>
          <a:blip r:embed="rId1"/>
          <a:stretch>
            <a:fillRect/>
          </a:stretch>
        </p:blipFill>
        <p:spPr>
          <a:xfrm>
            <a:off x="539552" y="1451328"/>
            <a:ext cx="1642441" cy="2463661"/>
          </a:xfrm>
          <a:prstGeom prst="rect">
            <a:avLst/>
          </a:prstGeom>
          <a:ln w="28575">
            <a:solidFill>
              <a:srgbClr val="7030A0"/>
            </a:solidFill>
          </a:ln>
        </p:spPr>
      </p:pic>
      <p:sp>
        <p:nvSpPr>
          <p:cNvPr id="9" name="矩形 8"/>
          <p:cNvSpPr/>
          <p:nvPr/>
        </p:nvSpPr>
        <p:spPr>
          <a:xfrm>
            <a:off x="-205680" y="5116404"/>
            <a:ext cx="8892480" cy="523220"/>
          </a:xfrm>
          <a:prstGeom prst="rect">
            <a:avLst/>
          </a:prstGeom>
        </p:spPr>
        <p:txBody>
          <a:bodyPr wrap="square">
            <a:spAutoFit/>
          </a:bodyPr>
          <a:lstStyle/>
          <a:p>
            <a:pPr algn="ctr"/>
            <a:r>
              <a:rPr lang="en-US" altLang="zh-CN" sz="1400" dirty="0">
                <a:solidFill>
                  <a:srgbClr val="000000"/>
                </a:solidFill>
                <a:latin typeface="等线" panose="02010600030101010101" charset="-122"/>
              </a:rPr>
              <a:t>Cai, Liang, and Hao Chen. "</a:t>
            </a:r>
            <a:r>
              <a:rPr lang="en-US" altLang="zh-CN" sz="1400" dirty="0" err="1">
                <a:solidFill>
                  <a:srgbClr val="000000"/>
                </a:solidFill>
                <a:latin typeface="等线" panose="02010600030101010101" charset="-122"/>
              </a:rPr>
              <a:t>TouchLogger</a:t>
            </a:r>
            <a:r>
              <a:rPr lang="en-US" altLang="zh-CN" sz="1400" dirty="0">
                <a:solidFill>
                  <a:srgbClr val="000000"/>
                </a:solidFill>
                <a:latin typeface="等线" panose="02010600030101010101" charset="-122"/>
              </a:rPr>
              <a:t>: Inferring Keystrokes on Touch Screen from Smartphone motion." </a:t>
            </a:r>
            <a:r>
              <a:rPr lang="en-US" altLang="zh-CN" sz="1400" i="1" dirty="0" err="1">
                <a:solidFill>
                  <a:srgbClr val="000000"/>
                </a:solidFill>
                <a:latin typeface="等线" panose="02010600030101010101" charset="-122"/>
              </a:rPr>
              <a:t>HotSec</a:t>
            </a:r>
            <a:r>
              <a:rPr lang="en-US" altLang="zh-CN" sz="1400" dirty="0">
                <a:solidFill>
                  <a:srgbClr val="000000"/>
                </a:solidFill>
                <a:latin typeface="等线" panose="02010600030101010101" charset="-122"/>
              </a:rPr>
              <a:t>. 2011.</a:t>
            </a:r>
            <a:endParaRPr lang="zh-CN" altLang="en-US" sz="1400" dirty="0">
              <a:solidFill>
                <a:srgbClr val="000000"/>
              </a:solidFill>
              <a:latin typeface="等线" panose="02010600030101010101" charset="-122"/>
            </a:endParaRPr>
          </a:p>
        </p:txBody>
      </p:sp>
      <p:pic>
        <p:nvPicPr>
          <p:cNvPr id="10" name="图片 9"/>
          <p:cNvPicPr>
            <a:picLocks noChangeAspect="1"/>
          </p:cNvPicPr>
          <p:nvPr/>
        </p:nvPicPr>
        <p:blipFill rotWithShape="1">
          <a:blip r:embed="rId2"/>
          <a:srcRect l="1964" r="30313" b="18076"/>
          <a:stretch>
            <a:fillRect/>
          </a:stretch>
        </p:blipFill>
        <p:spPr>
          <a:xfrm>
            <a:off x="2478873" y="1451328"/>
            <a:ext cx="6053567" cy="2463661"/>
          </a:xfrm>
          <a:prstGeom prst="rect">
            <a:avLst/>
          </a:prstGeom>
          <a:solidFill>
            <a:srgbClr val="7030A0"/>
          </a:solidFill>
          <a:ln w="19050">
            <a:solidFill>
              <a:srgbClr val="7030A0"/>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Taint</a:t>
            </a:r>
            <a:r>
              <a:rPr kumimoji="1" lang="zh-CN" altLang="en-US" dirty="0"/>
              <a:t> </a:t>
            </a:r>
            <a:r>
              <a:rPr kumimoji="1" lang="en-US" altLang="zh-CN" dirty="0"/>
              <a:t>Tracking</a:t>
            </a:r>
            <a:endParaRPr kumimoji="1" lang="zh-CN" altLang="en-US" dirty="0"/>
          </a:p>
        </p:txBody>
      </p:sp>
      <p:sp>
        <p:nvSpPr>
          <p:cNvPr id="5" name="文本占位符 4"/>
          <p:cNvSpPr>
            <a:spLocks noGrp="1"/>
          </p:cNvSpPr>
          <p:nvPr>
            <p:ph type="body" idx="1"/>
          </p:nvPr>
        </p:nvSpPr>
        <p:spPr/>
        <p:txBody>
          <a:bodyPr/>
          <a:lstStyle/>
          <a:p>
            <a:r>
              <a:rPr kumimoji="1" lang="en-US" altLang="zh-CN" dirty="0"/>
              <a:t>Data</a:t>
            </a:r>
            <a:r>
              <a:rPr kumimoji="1" lang="zh-CN" altLang="en-US" dirty="0"/>
              <a:t> </a:t>
            </a:r>
            <a:r>
              <a:rPr kumimoji="1" lang="en-US" altLang="zh-CN" dirty="0"/>
              <a:t>Protection</a:t>
            </a:r>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Data Lifetime</a:t>
            </a:r>
            <a:endParaRPr kumimoji="1" lang="zh-CN" altLang="en-US" dirty="0"/>
          </a:p>
        </p:txBody>
      </p:sp>
      <p:sp>
        <p:nvSpPr>
          <p:cNvPr id="3" name="内容占位符 2"/>
          <p:cNvSpPr>
            <a:spLocks noGrp="1"/>
          </p:cNvSpPr>
          <p:nvPr>
            <p:ph idx="1"/>
          </p:nvPr>
        </p:nvSpPr>
        <p:spPr/>
        <p:txBody>
          <a:bodyPr/>
          <a:lstStyle/>
          <a:p>
            <a:r>
              <a:rPr kumimoji="1" lang="en-US" altLang="zh-CN" dirty="0"/>
              <a:t>The</a:t>
            </a:r>
            <a:r>
              <a:rPr kumimoji="1" lang="zh-CN" altLang="en-US" dirty="0"/>
              <a:t> </a:t>
            </a:r>
            <a:r>
              <a:rPr kumimoji="1" lang="en-US" altLang="zh-CN" dirty="0"/>
              <a:t>lifetime</a:t>
            </a:r>
            <a:r>
              <a:rPr kumimoji="1" lang="zh-CN" altLang="en-US" dirty="0"/>
              <a:t> </a:t>
            </a:r>
            <a:r>
              <a:rPr kumimoji="1" lang="en-US" altLang="zh-CN" dirty="0"/>
              <a:t>of</a:t>
            </a:r>
            <a:r>
              <a:rPr kumimoji="1" lang="zh-CN" altLang="en-US" dirty="0"/>
              <a:t> </a:t>
            </a:r>
            <a:r>
              <a:rPr kumimoji="1" lang="en-US" altLang="zh-CN" dirty="0"/>
              <a:t>sensitive</a:t>
            </a:r>
            <a:r>
              <a:rPr kumimoji="1" lang="zh-CN" altLang="en-US" dirty="0"/>
              <a:t> </a:t>
            </a:r>
            <a:r>
              <a:rPr kumimoji="1" lang="en-US" altLang="zh-CN" dirty="0"/>
              <a:t>data</a:t>
            </a:r>
            <a:r>
              <a:rPr kumimoji="1" lang="zh-CN" altLang="en-US" dirty="0"/>
              <a:t> </a:t>
            </a:r>
            <a:r>
              <a:rPr kumimoji="1" lang="en-US" altLang="zh-CN" dirty="0"/>
              <a:t>should</a:t>
            </a:r>
            <a:r>
              <a:rPr kumimoji="1" lang="zh-CN" altLang="en-US" dirty="0"/>
              <a:t> </a:t>
            </a:r>
            <a:r>
              <a:rPr kumimoji="1" lang="en-US" altLang="zh-CN" dirty="0"/>
              <a:t>be</a:t>
            </a:r>
            <a:r>
              <a:rPr kumimoji="1" lang="zh-CN" altLang="en-US" dirty="0"/>
              <a:t> </a:t>
            </a:r>
            <a:r>
              <a:rPr kumimoji="1" lang="en-US" altLang="zh-CN" dirty="0"/>
              <a:t>minimized</a:t>
            </a:r>
            <a:endParaRPr kumimoji="1" lang="en-US" altLang="zh-CN" dirty="0"/>
          </a:p>
          <a:p>
            <a:pPr lvl="1"/>
            <a:r>
              <a:rPr kumimoji="1" lang="en-US" altLang="zh-CN" dirty="0"/>
              <a:t>The</a:t>
            </a:r>
            <a:r>
              <a:rPr kumimoji="1" lang="zh-CN" altLang="en-US" dirty="0"/>
              <a:t> </a:t>
            </a:r>
            <a:r>
              <a:rPr kumimoji="1" lang="en-US" altLang="zh-CN" dirty="0"/>
              <a:t>longer</a:t>
            </a:r>
            <a:r>
              <a:rPr kumimoji="1" lang="zh-CN" altLang="en-US" dirty="0"/>
              <a:t> </a:t>
            </a:r>
            <a:r>
              <a:rPr kumimoji="1" lang="en-US" altLang="zh-CN" dirty="0"/>
              <a:t>data</a:t>
            </a:r>
            <a:r>
              <a:rPr kumimoji="1" lang="zh-CN" altLang="en-US" dirty="0"/>
              <a:t> </a:t>
            </a:r>
            <a:r>
              <a:rPr kumimoji="1" lang="en-US" altLang="zh-CN" dirty="0"/>
              <a:t>remains</a:t>
            </a:r>
            <a:r>
              <a:rPr kumimoji="1" lang="zh-CN" altLang="en-US" dirty="0"/>
              <a:t> </a:t>
            </a:r>
            <a:r>
              <a:rPr kumimoji="1" lang="en-US" altLang="zh-CN" dirty="0"/>
              <a:t>in</a:t>
            </a:r>
            <a:r>
              <a:rPr kumimoji="1" lang="zh-CN" altLang="en-US" dirty="0"/>
              <a:t> </a:t>
            </a:r>
            <a:r>
              <a:rPr kumimoji="1" lang="en-US" altLang="zh-CN" dirty="0"/>
              <a:t>memory</a:t>
            </a:r>
            <a:r>
              <a:rPr kumimoji="1" lang="zh-CN" altLang="en-US" dirty="0"/>
              <a:t> </a:t>
            </a:r>
            <a:r>
              <a:rPr kumimoji="1" lang="en-US" altLang="zh-CN" dirty="0"/>
              <a:t>the</a:t>
            </a:r>
            <a:r>
              <a:rPr kumimoji="1" lang="zh-CN" altLang="en-US" dirty="0"/>
              <a:t> </a:t>
            </a:r>
            <a:r>
              <a:rPr kumimoji="1" lang="en-US" altLang="zh-CN" dirty="0"/>
              <a:t>greater</a:t>
            </a:r>
            <a:r>
              <a:rPr kumimoji="1" lang="zh-CN" altLang="en-US" dirty="0"/>
              <a:t> </a:t>
            </a:r>
            <a:r>
              <a:rPr kumimoji="1" lang="en-US" altLang="zh-CN" dirty="0"/>
              <a:t>its</a:t>
            </a:r>
            <a:r>
              <a:rPr kumimoji="1" lang="zh-CN" altLang="en-US" dirty="0"/>
              <a:t> </a:t>
            </a:r>
            <a:r>
              <a:rPr kumimoji="1" lang="en-US" altLang="zh-CN" dirty="0"/>
              <a:t>chances</a:t>
            </a:r>
            <a:r>
              <a:rPr kumimoji="1" lang="zh-CN" altLang="en-US" dirty="0"/>
              <a:t> </a:t>
            </a:r>
            <a:r>
              <a:rPr kumimoji="1" lang="en-US" altLang="zh-CN" dirty="0"/>
              <a:t>of</a:t>
            </a:r>
            <a:r>
              <a:rPr kumimoji="1" lang="zh-CN" altLang="en-US" dirty="0"/>
              <a:t> </a:t>
            </a:r>
            <a:r>
              <a:rPr kumimoji="1" lang="en-US" altLang="zh-CN" dirty="0"/>
              <a:t>being</a:t>
            </a:r>
            <a:r>
              <a:rPr kumimoji="1" lang="zh-CN" altLang="en-US" dirty="0"/>
              <a:t> </a:t>
            </a:r>
            <a:r>
              <a:rPr kumimoji="1" lang="en-US" altLang="zh-CN" dirty="0"/>
              <a:t>leaked</a:t>
            </a:r>
            <a:r>
              <a:rPr kumimoji="1" lang="zh-CN" altLang="en-US" dirty="0"/>
              <a:t> </a:t>
            </a:r>
            <a:r>
              <a:rPr kumimoji="1" lang="en-US" altLang="zh-CN" dirty="0"/>
              <a:t>to</a:t>
            </a:r>
            <a:r>
              <a:rPr kumimoji="1" lang="zh-CN" altLang="en-US" dirty="0"/>
              <a:t> </a:t>
            </a:r>
            <a:r>
              <a:rPr kumimoji="1" lang="en-US" altLang="zh-CN" dirty="0"/>
              <a:t>disk</a:t>
            </a:r>
            <a:endParaRPr kumimoji="1" lang="en-US" altLang="zh-CN" dirty="0"/>
          </a:p>
          <a:p>
            <a:pPr lvl="1"/>
            <a:r>
              <a:rPr kumimoji="1" lang="en-US" altLang="zh-CN" dirty="0"/>
              <a:t>Swapping,</a:t>
            </a:r>
            <a:r>
              <a:rPr kumimoji="1" lang="zh-CN" altLang="en-US" dirty="0"/>
              <a:t> </a:t>
            </a:r>
            <a:r>
              <a:rPr kumimoji="1" lang="en-US" altLang="zh-CN" dirty="0"/>
              <a:t>hibernation,</a:t>
            </a:r>
            <a:r>
              <a:rPr kumimoji="1" lang="zh-CN" altLang="en-US" dirty="0"/>
              <a:t> </a:t>
            </a:r>
            <a:r>
              <a:rPr kumimoji="1" lang="en-US" altLang="zh-CN" dirty="0"/>
              <a:t>VM</a:t>
            </a:r>
            <a:r>
              <a:rPr kumimoji="1" lang="zh-CN" altLang="en-US" dirty="0"/>
              <a:t> </a:t>
            </a:r>
            <a:r>
              <a:rPr kumimoji="1" lang="en-US" altLang="zh-CN" dirty="0"/>
              <a:t>suspending,</a:t>
            </a:r>
            <a:r>
              <a:rPr kumimoji="1" lang="zh-CN" altLang="en-US" dirty="0"/>
              <a:t> </a:t>
            </a:r>
            <a:r>
              <a:rPr kumimoji="1" lang="en-US" altLang="zh-CN" dirty="0"/>
              <a:t>core</a:t>
            </a:r>
            <a:r>
              <a:rPr kumimoji="1" lang="zh-CN" altLang="en-US" dirty="0"/>
              <a:t> </a:t>
            </a:r>
            <a:r>
              <a:rPr kumimoji="1" lang="en-US" altLang="zh-CN" dirty="0"/>
              <a:t>dump,</a:t>
            </a:r>
            <a:r>
              <a:rPr kumimoji="1" lang="zh-CN" altLang="en-US" dirty="0"/>
              <a:t> </a:t>
            </a:r>
            <a:r>
              <a:rPr kumimoji="1" lang="en-US" altLang="zh-CN" dirty="0"/>
              <a:t>etc.</a:t>
            </a:r>
            <a:endParaRPr kumimoji="1" lang="en-US" altLang="zh-CN" dirty="0"/>
          </a:p>
          <a:p>
            <a:endParaRPr kumimoji="1" lang="en-US" altLang="zh-CN" dirty="0"/>
          </a:p>
          <a:p>
            <a:r>
              <a:rPr kumimoji="1" lang="en-US" altLang="zh-CN" dirty="0"/>
              <a:t>That's what we called "</a:t>
            </a:r>
            <a:r>
              <a:rPr kumimoji="1" lang="en-US" altLang="zh-CN" dirty="0">
                <a:solidFill>
                  <a:schemeClr val="accent1"/>
                </a:solidFill>
              </a:rPr>
              <a:t>data exposure</a:t>
            </a:r>
            <a:r>
              <a:rPr kumimoji="1" lang="en-US" altLang="zh-CN" dirty="0"/>
              <a:t>"</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en-US" altLang="zh-CN" dirty="0"/>
              <a:t>Tainting: Data Flow Tracking</a:t>
            </a:r>
            <a:endParaRPr kumimoji="1" lang="zh-CN" altLang="en-US" dirty="0"/>
          </a:p>
        </p:txBody>
      </p:sp>
      <p:sp>
        <p:nvSpPr>
          <p:cNvPr id="5" name="内容占位符 4"/>
          <p:cNvSpPr>
            <a:spLocks noGrp="1"/>
          </p:cNvSpPr>
          <p:nvPr>
            <p:ph idx="1"/>
          </p:nvPr>
        </p:nvSpPr>
        <p:spPr/>
        <p:txBody>
          <a:bodyPr>
            <a:normAutofit/>
          </a:bodyPr>
          <a:lstStyle/>
          <a:p>
            <a:r>
              <a:rPr kumimoji="1" lang="en-US" altLang="zh-CN" dirty="0"/>
              <a:t>Apply access policy along the data flow</a:t>
            </a:r>
            <a:endParaRPr kumimoji="1" lang="en-US" altLang="zh-CN" dirty="0"/>
          </a:p>
          <a:p>
            <a:pPr lvl="1"/>
            <a:r>
              <a:rPr kumimoji="1" lang="en-US" altLang="zh-CN" dirty="0"/>
              <a:t>E.g., a password cannot be sent to Internet</a:t>
            </a:r>
            <a:endParaRPr kumimoji="1" lang="zh-CN" altLang="en-US" dirty="0"/>
          </a:p>
          <a:p>
            <a:pPr lvl="1"/>
            <a:r>
              <a:rPr kumimoji="1" lang="en-US" altLang="zh-CN" dirty="0"/>
              <a:t>E.g.,</a:t>
            </a:r>
            <a:r>
              <a:rPr kumimoji="1" lang="zh-CN" altLang="en-US" dirty="0"/>
              <a:t> </a:t>
            </a:r>
            <a:r>
              <a:rPr kumimoji="1" lang="en-US" altLang="zh-CN" dirty="0"/>
              <a:t>credit</a:t>
            </a:r>
            <a:r>
              <a:rPr kumimoji="1" lang="zh-CN" altLang="en-US" dirty="0"/>
              <a:t> </a:t>
            </a:r>
            <a:r>
              <a:rPr kumimoji="1" lang="en-US" altLang="zh-CN" dirty="0"/>
              <a:t>card</a:t>
            </a:r>
            <a:r>
              <a:rPr kumimoji="1" lang="zh-CN" altLang="en-US" dirty="0"/>
              <a:t> </a:t>
            </a:r>
            <a:r>
              <a:rPr kumimoji="1" lang="en-US" altLang="zh-CN" dirty="0"/>
              <a:t>number</a:t>
            </a:r>
            <a:r>
              <a:rPr kumimoji="1" lang="zh-CN" altLang="en-US" dirty="0"/>
              <a:t> </a:t>
            </a:r>
            <a:r>
              <a:rPr kumimoji="1" lang="en-US" altLang="zh-CN" dirty="0"/>
              <a:t>cannot</a:t>
            </a:r>
            <a:r>
              <a:rPr kumimoji="1" lang="zh-CN" altLang="en-US" dirty="0"/>
              <a:t> </a:t>
            </a:r>
            <a:r>
              <a:rPr kumimoji="1" lang="en-US" altLang="zh-CN" dirty="0"/>
              <a:t>be</a:t>
            </a:r>
            <a:r>
              <a:rPr kumimoji="1" lang="zh-CN" altLang="en-US" dirty="0"/>
              <a:t> </a:t>
            </a:r>
            <a:r>
              <a:rPr kumimoji="1" lang="en-US" altLang="zh-CN" dirty="0"/>
              <a:t>sent</a:t>
            </a:r>
            <a:r>
              <a:rPr kumimoji="1" lang="zh-CN" altLang="en-US" dirty="0"/>
              <a:t> </a:t>
            </a:r>
            <a:r>
              <a:rPr kumimoji="1" lang="en-US" altLang="zh-CN" dirty="0"/>
              <a:t>to</a:t>
            </a:r>
            <a:r>
              <a:rPr kumimoji="1" lang="zh-CN" altLang="en-US" dirty="0"/>
              <a:t> </a:t>
            </a:r>
            <a:r>
              <a:rPr kumimoji="1" lang="en-US" altLang="zh-CN" dirty="0"/>
              <a:t>other</a:t>
            </a:r>
            <a:r>
              <a:rPr kumimoji="1" lang="zh-CN" altLang="en-US" dirty="0"/>
              <a:t> </a:t>
            </a:r>
            <a:r>
              <a:rPr kumimoji="1" lang="en-US" altLang="zh-CN" dirty="0"/>
              <a:t>apps</a:t>
            </a:r>
            <a:endParaRPr kumimoji="1" lang="zh-CN" altLang="en-US" dirty="0"/>
          </a:p>
          <a:p>
            <a:pPr lvl="1"/>
            <a:r>
              <a:rPr kumimoji="1" lang="en-US" altLang="zh-CN" dirty="0"/>
              <a:t>E.g.,</a:t>
            </a:r>
            <a:r>
              <a:rPr kumimoji="1" lang="zh-CN" altLang="en-US" dirty="0"/>
              <a:t> </a:t>
            </a:r>
            <a:r>
              <a:rPr kumimoji="1" lang="en-US" altLang="zh-CN" dirty="0"/>
              <a:t>untrusted</a:t>
            </a:r>
            <a:r>
              <a:rPr kumimoji="1" lang="zh-CN" altLang="en-US" dirty="0"/>
              <a:t> </a:t>
            </a:r>
            <a:r>
              <a:rPr kumimoji="1" lang="en-US" altLang="zh-CN" dirty="0"/>
              <a:t>data</a:t>
            </a:r>
            <a:r>
              <a:rPr kumimoji="1" lang="zh-CN" altLang="en-US" dirty="0"/>
              <a:t> </a:t>
            </a:r>
            <a:r>
              <a:rPr kumimoji="1" lang="en-US" altLang="zh-CN" dirty="0"/>
              <a:t>cannot</a:t>
            </a:r>
            <a:r>
              <a:rPr kumimoji="1" lang="zh-CN" altLang="en-US" dirty="0"/>
              <a:t> </a:t>
            </a:r>
            <a:r>
              <a:rPr kumimoji="1" lang="en-US" altLang="zh-CN" dirty="0"/>
              <a:t>be</a:t>
            </a:r>
            <a:r>
              <a:rPr kumimoji="1" lang="zh-CN" altLang="en-US" dirty="0"/>
              <a:t> </a:t>
            </a:r>
            <a:r>
              <a:rPr kumimoji="1" lang="en-US" altLang="zh-CN" dirty="0"/>
              <a:t>executed</a:t>
            </a:r>
            <a:endParaRPr kumimoji="1"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sp>
        <p:nvSpPr>
          <p:cNvPr id="2" name="Content Placeholder 1"/>
          <p:cNvSpPr>
            <a:spLocks noGrp="1"/>
          </p:cNvSpPr>
          <p:nvPr>
            <p:ph sz="half" idx="4294967295"/>
          </p:nvPr>
        </p:nvSpPr>
        <p:spPr>
          <a:xfrm>
            <a:off x="4572000" y="1333500"/>
            <a:ext cx="4572000" cy="3771900"/>
          </a:xfrm>
        </p:spPr>
        <p:txBody>
          <a:bodyPr>
            <a:normAutofit fontScale="77500" lnSpcReduction="20000"/>
          </a:bodyPr>
          <a:lstStyle/>
          <a:p>
            <a:r>
              <a:rPr lang="en-US" dirty="0"/>
              <a:t>Example sourced from CMU ECE</a:t>
            </a:r>
            <a:endParaRPr lang="en-US" dirty="0"/>
          </a:p>
          <a:p>
            <a:pPr lvl="1"/>
            <a:r>
              <a:rPr lang="en-US" dirty="0">
                <a:hlinkClick r:id="rId1"/>
              </a:rPr>
              <a:t>Source</a:t>
            </a:r>
            <a:endParaRPr lang="en-US" dirty="0"/>
          </a:p>
          <a:p>
            <a:r>
              <a:rPr lang="en-US" dirty="0"/>
              <a:t>Will show the basic approach of dynamic taint analysis</a:t>
            </a:r>
            <a:endParaRPr lang="en-US" dirty="0"/>
          </a:p>
          <a:p>
            <a:r>
              <a:rPr lang="en-US" dirty="0"/>
              <a:t>Two concrete executions will be presented</a:t>
            </a:r>
            <a:endParaRPr lang="en-US" dirty="0"/>
          </a:p>
          <a:p>
            <a:r>
              <a:rPr lang="en-US" dirty="0"/>
              <a:t>Goal: evaluate whether control can be hijacked by [malicious] user input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endParaRPr lang="en-US" sz="1500" dirty="0"/>
                    </a:p>
                  </a:txBody>
                  <a:tcPr marT="38100" marB="38100"/>
                </a:tc>
                <a:tc>
                  <a:txBody>
                    <a:bodyPr/>
                    <a:lstStyle/>
                    <a:p>
                      <a:endParaRPr lang="en-US" sz="1500" dirty="0"/>
                    </a:p>
                  </a:txBody>
                  <a:tcPr marT="38100" marB="38100"/>
                </a:tc>
                <a:tc>
                  <a:txBody>
                    <a:bodyPr/>
                    <a:lstStyle/>
                    <a:p>
                      <a:endParaRPr lang="en-US" sz="1500" dirty="0"/>
                    </a:p>
                  </a:txBody>
                  <a:tcPr marT="38100" marB="38100"/>
                </a:tc>
              </a:tr>
              <a:tr h="309033">
                <a:tc>
                  <a:txBody>
                    <a:bodyPr/>
                    <a:lstStyle/>
                    <a:p>
                      <a:endParaRPr lang="en-US" sz="1500" dirty="0"/>
                    </a:p>
                  </a:txBody>
                  <a:tcPr marT="38100" marB="38100"/>
                </a:tc>
                <a:tc>
                  <a:txBody>
                    <a:bodyPr/>
                    <a:lstStyle/>
                    <a:p>
                      <a:endParaRPr lang="en-US" sz="1500" dirty="0"/>
                    </a:p>
                  </a:txBody>
                  <a:tcPr marT="38100" marB="38100"/>
                </a:tc>
                <a:tc>
                  <a:txBody>
                    <a:bodyPr/>
                    <a:lstStyle/>
                    <a:p>
                      <a:endParaRPr lang="en-US" sz="1500" dirty="0"/>
                    </a:p>
                  </a:txBody>
                  <a:tcPr marT="38100" marB="38100"/>
                </a:tc>
              </a:tr>
              <a:tr h="309033">
                <a:tc>
                  <a:txBody>
                    <a:bodyPr/>
                    <a:lstStyle/>
                    <a:p>
                      <a:endParaRPr lang="en-US" sz="1500" dirty="0"/>
                    </a:p>
                  </a:txBody>
                  <a:tcPr marT="38100" marB="38100"/>
                </a:tc>
                <a:tc>
                  <a:txBody>
                    <a:bodyPr/>
                    <a:lstStyle/>
                    <a:p>
                      <a:endParaRPr lang="en-US" sz="1500" dirty="0"/>
                    </a:p>
                  </a:txBody>
                  <a:tcPr marT="38100" marB="38100"/>
                </a:tc>
                <a:tc>
                  <a:txBody>
                    <a:bodyPr/>
                    <a:lstStyle/>
                    <a:p>
                      <a:endParaRPr lang="en-US" sz="1500" dirty="0"/>
                    </a:p>
                  </a:txBody>
                  <a:tcPr marT="38100" marB="38100"/>
                </a:tc>
              </a:tr>
              <a:tr h="309033">
                <a:tc>
                  <a:txBody>
                    <a:bodyPr/>
                    <a:lstStyle/>
                    <a:p>
                      <a:endParaRPr lang="en-US" sz="1500" dirty="0"/>
                    </a:p>
                  </a:txBody>
                  <a:tcPr marT="38100" marB="38100"/>
                </a:tc>
                <a:tc>
                  <a:txBody>
                    <a:bodyPr/>
                    <a:lstStyle/>
                    <a:p>
                      <a:endParaRPr lang="en-US" sz="1500" dirty="0"/>
                    </a:p>
                  </a:txBody>
                  <a:tcPr marT="38100" marB="38100"/>
                </a:tc>
                <a:tc>
                  <a:txBody>
                    <a:bodyPr/>
                    <a:lstStyle/>
                    <a:p>
                      <a:endParaRPr lang="en-US" sz="1500" dirty="0"/>
                    </a:p>
                  </a:txBody>
                  <a:tcPr marT="38100" marB="3810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i = get_input();</a:t>
            </a:r>
            <a:endParaRPr lang="en-US" sz="2600" dirty="0">
              <a:solidFill>
                <a:srgbClr val="FF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6</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two = 2;</a:t>
            </a:r>
            <a:endParaRPr lang="en-US" sz="2600" dirty="0">
              <a:solidFill>
                <a:srgbClr val="FF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6</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r>
                        <a:rPr lang="en-US" sz="1500" dirty="0"/>
                        <a:t>two</a:t>
                      </a:r>
                      <a:endParaRPr lang="en-US" sz="1500" dirty="0"/>
                    </a:p>
                  </a:txBody>
                  <a:tcPr marT="38100" marB="38100"/>
                </a:tc>
                <a:tc>
                  <a:txBody>
                    <a:bodyPr/>
                    <a:lstStyle/>
                    <a:p>
                      <a:pPr algn="ctr"/>
                      <a:r>
                        <a:rPr lang="en-US" sz="1500" dirty="0"/>
                        <a:t>2</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j = i+two;</a:t>
            </a:r>
            <a:endParaRPr lang="en-US" sz="2600" dirty="0">
              <a:solidFill>
                <a:srgbClr val="FF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6</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r>
                        <a:rPr lang="en-US" sz="1500" dirty="0"/>
                        <a:t>two</a:t>
                      </a:r>
                      <a:endParaRPr lang="en-US" sz="1500" dirty="0"/>
                    </a:p>
                  </a:txBody>
                  <a:tcPr marT="38100" marB="38100"/>
                </a:tc>
                <a:tc>
                  <a:txBody>
                    <a:bodyPr/>
                    <a:lstStyle/>
                    <a:p>
                      <a:pPr algn="ctr"/>
                      <a:r>
                        <a:rPr lang="en-US" sz="1500" dirty="0"/>
                        <a:t>2</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r>
                        <a:rPr lang="en-US" sz="1500" dirty="0"/>
                        <a:t>j</a:t>
                      </a:r>
                      <a:endParaRPr lang="en-US" sz="1500" dirty="0"/>
                    </a:p>
                  </a:txBody>
                  <a:tcPr marT="38100" marB="38100"/>
                </a:tc>
                <a:tc>
                  <a:txBody>
                    <a:bodyPr/>
                    <a:lstStyle/>
                    <a:p>
                      <a:pPr algn="ctr"/>
                      <a:r>
                        <a:rPr lang="en-US" sz="1500" dirty="0"/>
                        <a:t>8</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l = j;</a:t>
            </a:r>
            <a:endParaRPr lang="en-US" sz="2600" dirty="0">
              <a:solidFill>
                <a:srgbClr val="FF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6</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r>
                        <a:rPr lang="en-US" sz="1500" dirty="0"/>
                        <a:t>two</a:t>
                      </a:r>
                      <a:endParaRPr lang="en-US" sz="1500" dirty="0"/>
                    </a:p>
                  </a:txBody>
                  <a:tcPr marT="38100" marB="38100"/>
                </a:tc>
                <a:tc>
                  <a:txBody>
                    <a:bodyPr/>
                    <a:lstStyle/>
                    <a:p>
                      <a:pPr algn="ctr"/>
                      <a:r>
                        <a:rPr lang="en-US" sz="1500" dirty="0"/>
                        <a:t>2</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r>
                        <a:rPr lang="en-US" sz="1500" dirty="0"/>
                        <a:t>j</a:t>
                      </a:r>
                      <a:endParaRPr lang="en-US" sz="1500" dirty="0"/>
                    </a:p>
                  </a:txBody>
                  <a:tcPr marT="38100" marB="38100"/>
                </a:tc>
                <a:tc>
                  <a:txBody>
                    <a:bodyPr/>
                    <a:lstStyle/>
                    <a:p>
                      <a:pPr algn="ctr"/>
                      <a:r>
                        <a:rPr lang="en-US" sz="1500" dirty="0"/>
                        <a:t>8</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r>
                        <a:rPr lang="en-US" sz="1500" dirty="0"/>
                        <a:t>l</a:t>
                      </a:r>
                      <a:endParaRPr lang="en-US" sz="1500" dirty="0"/>
                    </a:p>
                  </a:txBody>
                  <a:tcPr marT="38100" marB="38100"/>
                </a:tc>
                <a:tc>
                  <a:txBody>
                    <a:bodyPr/>
                    <a:lstStyle/>
                    <a:p>
                      <a:pPr algn="ctr"/>
                      <a:r>
                        <a:rPr lang="en-US" sz="1500" dirty="0"/>
                        <a:t>8</a:t>
                      </a:r>
                      <a:endParaRPr lang="en-US" sz="1500" dirty="0"/>
                    </a:p>
                  </a:txBody>
                  <a:tcPr marT="38100" marB="38100"/>
                </a:tc>
                <a:tc>
                  <a:txBody>
                    <a:bodyPr/>
                    <a:lstStyle/>
                    <a:p>
                      <a:pPr algn="ctr"/>
                      <a:r>
                        <a:rPr lang="en-US" sz="1500" dirty="0"/>
                        <a:t>true</a:t>
                      </a:r>
                      <a:endParaRPr lang="en-US" sz="1500" dirty="0"/>
                    </a:p>
                  </a:txBody>
                  <a:tcPr marT="38100" marB="3810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i = get_input();</a:t>
            </a:r>
            <a:endParaRPr lang="en-US" sz="2600" dirty="0">
              <a:solidFill>
                <a:srgbClr val="FF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7</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two = 2;</a:t>
            </a:r>
            <a:endParaRPr lang="en-US" sz="2600" dirty="0">
              <a:solidFill>
                <a:srgbClr val="FF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7</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r>
                        <a:rPr lang="en-US" sz="1500" dirty="0"/>
                        <a:t>two</a:t>
                      </a:r>
                      <a:endParaRPr lang="en-US" sz="1500" dirty="0"/>
                    </a:p>
                  </a:txBody>
                  <a:tcPr marT="38100" marB="38100"/>
                </a:tc>
                <a:tc>
                  <a:txBody>
                    <a:bodyPr/>
                    <a:lstStyle/>
                    <a:p>
                      <a:pPr algn="ctr"/>
                      <a:r>
                        <a:rPr lang="en-US" sz="1500" dirty="0"/>
                        <a:t>2</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k = two*two;</a:t>
            </a:r>
            <a:endParaRPr lang="en-US" sz="2600" dirty="0">
              <a:solidFill>
                <a:srgbClr val="FF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k;</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7</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r>
                        <a:rPr lang="en-US" sz="1500" dirty="0"/>
                        <a:t>two</a:t>
                      </a:r>
                      <a:endParaRPr lang="en-US" sz="1500" dirty="0"/>
                    </a:p>
                  </a:txBody>
                  <a:tcPr marT="38100" marB="38100"/>
                </a:tc>
                <a:tc>
                  <a:txBody>
                    <a:bodyPr/>
                    <a:lstStyle/>
                    <a:p>
                      <a:pPr algn="ctr"/>
                      <a:r>
                        <a:rPr lang="en-US" sz="1500" dirty="0"/>
                        <a:t>2</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r>
                        <a:rPr lang="en-US" sz="1500" dirty="0"/>
                        <a:t>k</a:t>
                      </a:r>
                      <a:endParaRPr lang="en-US" sz="1500" dirty="0"/>
                    </a:p>
                  </a:txBody>
                  <a:tcPr marT="38100" marB="38100"/>
                </a:tc>
                <a:tc>
                  <a:txBody>
                    <a:bodyPr/>
                    <a:lstStyle/>
                    <a:p>
                      <a:pPr algn="ctr"/>
                      <a:r>
                        <a:rPr lang="en-US" sz="1500" dirty="0"/>
                        <a:t>4</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endParaRPr lang="en-US" sz="1500" dirty="0"/>
                    </a:p>
                  </a:txBody>
                  <a:tcPr marT="38100" marB="38100"/>
                </a:tc>
                <a:tc>
                  <a:txBody>
                    <a:bodyPr/>
                    <a:lstStyle/>
                    <a:p>
                      <a:pPr algn="ctr"/>
                      <a:endParaRPr lang="en-US" sz="1500" dirty="0"/>
                    </a:p>
                  </a:txBody>
                  <a:tcPr marT="38100" marB="38100"/>
                </a:tc>
                <a:tc>
                  <a:txBody>
                    <a:bodyPr/>
                    <a:lstStyle/>
                    <a:p>
                      <a:pPr algn="ctr"/>
                      <a:endParaRPr lang="en-US" sz="1500" dirty="0"/>
                    </a:p>
                  </a:txBody>
                  <a:tcPr marT="38100" marB="3810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p:txBody>
          <a:bodyPr/>
          <a:lstStyle/>
          <a:p>
            <a:r>
              <a:rPr lang="en-US" dirty="0"/>
              <a:t>Dynamic Taint Analysis</a:t>
            </a:r>
            <a:endParaRPr lang="en-US" dirty="0"/>
          </a:p>
        </p:txBody>
      </p:sp>
      <p:sp>
        <p:nvSpPr>
          <p:cNvPr id="6" name="Content Placeholder 5"/>
          <p:cNvSpPr>
            <a:spLocks noGrp="1"/>
          </p:cNvSpPr>
          <p:nvPr>
            <p:ph idx="1"/>
          </p:nvPr>
        </p:nvSpPr>
        <p:spPr/>
        <p:txBody>
          <a:bodyPr>
            <a:noAutofit/>
          </a:bodyPr>
          <a:lstStyle/>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i = get_input();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two = 2;</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FF"/>
                </a:solidFill>
                <a:highlight>
                  <a:srgbClr val="FFFFFF"/>
                </a:highlight>
                <a:latin typeface="Consolas" panose="020B0609020204030204" pitchFamily="49" charset="0"/>
              </a:rPr>
              <a:t>if</a:t>
            </a:r>
            <a:r>
              <a:rPr lang="en-US" sz="2600" dirty="0">
                <a:solidFill>
                  <a:srgbClr val="000000"/>
                </a:solidFill>
                <a:highlight>
                  <a:srgbClr val="FFFFFF"/>
                </a:highlight>
                <a:latin typeface="Consolas" panose="020B0609020204030204" pitchFamily="49" charset="0"/>
              </a:rPr>
              <a:t>(i%2 == 0){</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 = i+two;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l = j;</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 </a:t>
            </a:r>
            <a:r>
              <a:rPr lang="en-US" sz="2600" dirty="0">
                <a:solidFill>
                  <a:srgbClr val="0000FF"/>
                </a:solidFill>
                <a:highlight>
                  <a:srgbClr val="FFFFFF"/>
                </a:highlight>
                <a:latin typeface="Consolas" panose="020B0609020204030204" pitchFamily="49" charset="0"/>
              </a:rPr>
              <a:t>else</a:t>
            </a:r>
            <a:r>
              <a:rPr lang="en-US" sz="2600" dirty="0">
                <a:solidFill>
                  <a:srgbClr val="000000"/>
                </a:solidFill>
                <a:highlight>
                  <a:srgbClr val="FFFFFF"/>
                </a:highlight>
                <a:latin typeface="Consolas" panose="020B0609020204030204" pitchFamily="49" charset="0"/>
              </a:rPr>
              <a:t> {</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k = two*two;</a:t>
            </a:r>
            <a:endParaRPr lang="en-US" sz="2600" dirty="0">
              <a:solidFill>
                <a:srgbClr val="000000"/>
              </a:solidFill>
              <a:highlight>
                <a:srgbClr val="FFFFFF"/>
              </a:highlight>
              <a:latin typeface="Consolas" panose="020B0609020204030204" pitchFamily="49" charset="0"/>
            </a:endParaRPr>
          </a:p>
          <a:p>
            <a:pPr marL="274320" lvl="1" indent="0">
              <a:lnSpc>
                <a:spcPct val="100000"/>
              </a:lnSpc>
              <a:spcBef>
                <a:spcPts val="0"/>
              </a:spcBef>
              <a:spcAft>
                <a:spcPts val="0"/>
              </a:spcAft>
              <a:buNone/>
            </a:pPr>
            <a:r>
              <a:rPr lang="en-US" sz="2600" dirty="0">
                <a:solidFill>
                  <a:srgbClr val="FF0000"/>
                </a:solidFill>
                <a:highlight>
                  <a:srgbClr val="FFFFFF"/>
                </a:highlight>
                <a:latin typeface="Consolas" panose="020B0609020204030204" pitchFamily="49" charset="0"/>
              </a:rPr>
              <a:t>l = k;</a:t>
            </a:r>
            <a:endParaRPr lang="en-US" sz="2600" dirty="0">
              <a:solidFill>
                <a:srgbClr val="FF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a:t>
            </a:r>
            <a:endParaRPr lang="en-US" sz="2600" dirty="0">
              <a:solidFill>
                <a:srgbClr val="000000"/>
              </a:solidFill>
              <a:highlight>
                <a:srgbClr val="FFFFFF"/>
              </a:highlight>
              <a:latin typeface="Consolas" panose="020B0609020204030204" pitchFamily="49" charset="0"/>
            </a:endParaRPr>
          </a:p>
          <a:p>
            <a:pPr marL="0" indent="0">
              <a:lnSpc>
                <a:spcPct val="100000"/>
              </a:lnSpc>
              <a:spcBef>
                <a:spcPts val="0"/>
              </a:spcBef>
              <a:spcAft>
                <a:spcPts val="0"/>
              </a:spcAft>
              <a:buNone/>
            </a:pPr>
            <a:r>
              <a:rPr lang="en-US" sz="2600" dirty="0">
                <a:solidFill>
                  <a:srgbClr val="000000"/>
                </a:solidFill>
                <a:highlight>
                  <a:srgbClr val="FFFFFF"/>
                </a:highlight>
                <a:latin typeface="Consolas" panose="020B0609020204030204" pitchFamily="49" charset="0"/>
              </a:rPr>
              <a:t>jmp l;</a:t>
            </a:r>
            <a:endParaRPr lang="en-US" sz="2600" dirty="0"/>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dirty="0"/>
          </a:p>
        </p:txBody>
      </p:sp>
      <p:graphicFrame>
        <p:nvGraphicFramePr>
          <p:cNvPr id="3" name="Content Placeholder 2"/>
          <p:cNvGraphicFramePr>
            <a:graphicFrameLocks noGrp="1"/>
          </p:cNvGraphicFramePr>
          <p:nvPr>
            <p:ph sz="half" idx="4294967295"/>
          </p:nvPr>
        </p:nvGraphicFramePr>
        <p:xfrm>
          <a:off x="5783263" y="1524000"/>
          <a:ext cx="3360738" cy="1545165"/>
        </p:xfrm>
        <a:graphic>
          <a:graphicData uri="http://schemas.openxmlformats.org/drawingml/2006/table">
            <a:tbl>
              <a:tblPr firstRow="1" bandRow="1">
                <a:tableStyleId>{5C22544A-7EE6-4342-B048-85BDC9FD1C3A}</a:tableStyleId>
              </a:tblPr>
              <a:tblGrid>
                <a:gridCol w="1011047"/>
                <a:gridCol w="713232"/>
                <a:gridCol w="1636459"/>
              </a:tblGrid>
              <a:tr h="309033">
                <a:tc>
                  <a:txBody>
                    <a:bodyPr/>
                    <a:lstStyle/>
                    <a:p>
                      <a:pPr algn="ctr"/>
                      <a:r>
                        <a:rPr lang="en-US" sz="1200" dirty="0"/>
                        <a:t>Variable</a:t>
                      </a:r>
                      <a:endParaRPr lang="en-US" sz="1200" dirty="0"/>
                    </a:p>
                  </a:txBody>
                  <a:tcPr marT="38100" marB="38100"/>
                </a:tc>
                <a:tc>
                  <a:txBody>
                    <a:bodyPr/>
                    <a:lstStyle/>
                    <a:p>
                      <a:pPr algn="ctr"/>
                      <a:r>
                        <a:rPr lang="en-US" sz="1200" dirty="0"/>
                        <a:t>Value</a:t>
                      </a:r>
                      <a:endParaRPr lang="en-US" sz="1200" dirty="0"/>
                    </a:p>
                  </a:txBody>
                  <a:tcPr marT="38100" marB="38100"/>
                </a:tc>
                <a:tc>
                  <a:txBody>
                    <a:bodyPr/>
                    <a:lstStyle/>
                    <a:p>
                      <a:pPr algn="ctr"/>
                      <a:r>
                        <a:rPr lang="en-US" sz="1200" dirty="0"/>
                        <a:t>Taint Status</a:t>
                      </a:r>
                      <a:endParaRPr lang="en-US" sz="1200" dirty="0"/>
                    </a:p>
                  </a:txBody>
                  <a:tcPr marT="38100" marB="38100"/>
                </a:tc>
              </a:tr>
              <a:tr h="309033">
                <a:tc>
                  <a:txBody>
                    <a:bodyPr/>
                    <a:lstStyle/>
                    <a:p>
                      <a:pPr algn="ctr"/>
                      <a:r>
                        <a:rPr lang="en-US" sz="1500" dirty="0"/>
                        <a:t>i</a:t>
                      </a:r>
                      <a:endParaRPr lang="en-US" sz="1500" dirty="0"/>
                    </a:p>
                  </a:txBody>
                  <a:tcPr marT="38100" marB="38100"/>
                </a:tc>
                <a:tc>
                  <a:txBody>
                    <a:bodyPr/>
                    <a:lstStyle/>
                    <a:p>
                      <a:pPr algn="ctr"/>
                      <a:r>
                        <a:rPr lang="en-US" sz="1500" dirty="0"/>
                        <a:t>7</a:t>
                      </a:r>
                      <a:endParaRPr lang="en-US" sz="1500" dirty="0"/>
                    </a:p>
                  </a:txBody>
                  <a:tcPr marT="38100" marB="38100"/>
                </a:tc>
                <a:tc>
                  <a:txBody>
                    <a:bodyPr/>
                    <a:lstStyle/>
                    <a:p>
                      <a:pPr algn="ctr"/>
                      <a:r>
                        <a:rPr lang="en-US" sz="1500" dirty="0"/>
                        <a:t>true</a:t>
                      </a:r>
                      <a:endParaRPr lang="en-US" sz="1500" dirty="0"/>
                    </a:p>
                  </a:txBody>
                  <a:tcPr marT="38100" marB="38100"/>
                </a:tc>
              </a:tr>
              <a:tr h="309033">
                <a:tc>
                  <a:txBody>
                    <a:bodyPr/>
                    <a:lstStyle/>
                    <a:p>
                      <a:pPr algn="ctr"/>
                      <a:r>
                        <a:rPr lang="en-US" sz="1500" dirty="0"/>
                        <a:t>two</a:t>
                      </a:r>
                      <a:endParaRPr lang="en-US" sz="1500" dirty="0"/>
                    </a:p>
                  </a:txBody>
                  <a:tcPr marT="38100" marB="38100"/>
                </a:tc>
                <a:tc>
                  <a:txBody>
                    <a:bodyPr/>
                    <a:lstStyle/>
                    <a:p>
                      <a:pPr algn="ctr"/>
                      <a:r>
                        <a:rPr lang="en-US" sz="1500" dirty="0"/>
                        <a:t>2</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r>
                        <a:rPr lang="en-US" sz="1500" dirty="0"/>
                        <a:t>k</a:t>
                      </a:r>
                      <a:endParaRPr lang="en-US" sz="1500" dirty="0"/>
                    </a:p>
                  </a:txBody>
                  <a:tcPr marT="38100" marB="38100"/>
                </a:tc>
                <a:tc>
                  <a:txBody>
                    <a:bodyPr/>
                    <a:lstStyle/>
                    <a:p>
                      <a:pPr algn="ctr"/>
                      <a:r>
                        <a:rPr lang="en-US" sz="1500" dirty="0"/>
                        <a:t>4</a:t>
                      </a:r>
                      <a:endParaRPr lang="en-US" sz="1500" dirty="0"/>
                    </a:p>
                  </a:txBody>
                  <a:tcPr marT="38100" marB="38100"/>
                </a:tc>
                <a:tc>
                  <a:txBody>
                    <a:bodyPr/>
                    <a:lstStyle/>
                    <a:p>
                      <a:pPr algn="ctr"/>
                      <a:r>
                        <a:rPr lang="en-US" sz="1500" dirty="0"/>
                        <a:t>false</a:t>
                      </a:r>
                      <a:endParaRPr lang="en-US" sz="1500" dirty="0"/>
                    </a:p>
                  </a:txBody>
                  <a:tcPr marT="38100" marB="38100"/>
                </a:tc>
              </a:tr>
              <a:tr h="309033">
                <a:tc>
                  <a:txBody>
                    <a:bodyPr/>
                    <a:lstStyle/>
                    <a:p>
                      <a:pPr algn="ctr"/>
                      <a:r>
                        <a:rPr lang="en-US" sz="1500" dirty="0"/>
                        <a:t>l</a:t>
                      </a:r>
                      <a:endParaRPr lang="en-US" sz="1500" dirty="0"/>
                    </a:p>
                  </a:txBody>
                  <a:tcPr marT="38100" marB="38100"/>
                </a:tc>
                <a:tc>
                  <a:txBody>
                    <a:bodyPr/>
                    <a:lstStyle/>
                    <a:p>
                      <a:pPr algn="ctr"/>
                      <a:r>
                        <a:rPr lang="en-US" sz="1500" dirty="0"/>
                        <a:t>4</a:t>
                      </a:r>
                      <a:endParaRPr lang="en-US" sz="1500" dirty="0"/>
                    </a:p>
                  </a:txBody>
                  <a:tcPr marT="38100" marB="38100"/>
                </a:tc>
                <a:tc>
                  <a:txBody>
                    <a:bodyPr/>
                    <a:lstStyle/>
                    <a:p>
                      <a:pPr algn="ctr"/>
                      <a:r>
                        <a:rPr lang="en-US" sz="1500" dirty="0"/>
                        <a:t>false</a:t>
                      </a:r>
                      <a:endParaRPr lang="en-US" sz="1500" dirty="0"/>
                    </a:p>
                  </a:txBody>
                  <a:tcPr marT="38100" marB="3810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TaintDroid</a:t>
            </a:r>
            <a:endParaRPr lang="en-US" dirty="0"/>
          </a:p>
        </p:txBody>
      </p:sp>
      <p:pic>
        <p:nvPicPr>
          <p:cNvPr id="8" name="Content Placeholder 7"/>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27584" y="1489348"/>
            <a:ext cx="7396117" cy="3528392"/>
          </a:xfrm>
        </p:spPr>
      </p:pic>
      <p:sp>
        <p:nvSpPr>
          <p:cNvPr id="3" name="Slide Number Placeholder 2"/>
          <p:cNvSpPr>
            <a:spLocks noGrp="1"/>
          </p:cNvSpPr>
          <p:nvPr>
            <p:ph type="sldNum" sz="quarter" idx="12"/>
          </p:nvPr>
        </p:nvSpPr>
        <p:spPr/>
        <p:txBody>
          <a:bodyPr/>
          <a:lstStyle/>
          <a:p>
            <a:fld id="{4FAB73BC-B049-4115-A692-8D63A059BFB8}" type="slidenum">
              <a:rPr lang="en-US" smtClean="0"/>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TaintDroid</a:t>
            </a:r>
            <a:r>
              <a:rPr lang="en-US" dirty="0"/>
              <a:t> Data Flow</a:t>
            </a:r>
            <a:endParaRPr lang="en-US" dirty="0"/>
          </a:p>
        </p:txBody>
      </p:sp>
      <p:pic>
        <p:nvPicPr>
          <p:cNvPr id="1026" name="Picture 2"/>
          <p:cNvPicPr>
            <a:picLocks noChangeAspect="1" noChangeArrowheads="1"/>
          </p:cNvPicPr>
          <p:nvPr/>
        </p:nvPicPr>
        <p:blipFill>
          <a:blip r:embed="rId1" cstate="print"/>
          <a:srcRect/>
          <a:stretch>
            <a:fillRect/>
          </a:stretch>
        </p:blipFill>
        <p:spPr bwMode="auto">
          <a:xfrm>
            <a:off x="1270000" y="1143000"/>
            <a:ext cx="6379303" cy="4262437"/>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normAutofit/>
          </a:bodyPr>
          <a:lstStyle/>
          <a:p>
            <a:fld id="{B6F15528-21DE-4FAA-801E-634DDDAF4B2B}" type="slidenum">
              <a:rPr lang="en-US" smtClean="0">
                <a:solidFill>
                  <a:srgbClr val="464653"/>
                </a:solidFill>
              </a:rPr>
            </a:fld>
            <a:endParaRPr lang="en-US">
              <a:solidFill>
                <a:srgbClr val="464653"/>
              </a:solidFill>
            </a:endParaRPr>
          </a:p>
        </p:txBody>
      </p:sp>
      <p:cxnSp>
        <p:nvCxnSpPr>
          <p:cNvPr id="19" name="Elbow Connector 18"/>
          <p:cNvCxnSpPr/>
          <p:nvPr/>
        </p:nvCxnSpPr>
        <p:spPr>
          <a:xfrm rot="16200000" flipH="1">
            <a:off x="2635250" y="2317750"/>
            <a:ext cx="762000" cy="698500"/>
          </a:xfrm>
          <a:prstGeom prst="bentConnector3">
            <a:avLst>
              <a:gd name="adj1" fmla="val 100000"/>
            </a:avLst>
          </a:prstGeom>
          <a:ln w="57150">
            <a:solidFill>
              <a:srgbClr val="FF0000"/>
            </a:solidFill>
            <a:headEnd type="none" w="med" len="med"/>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29" name="Elbow Connector 28"/>
          <p:cNvCxnSpPr/>
          <p:nvPr/>
        </p:nvCxnSpPr>
        <p:spPr>
          <a:xfrm rot="16200000" flipH="1">
            <a:off x="3492500" y="3556000"/>
            <a:ext cx="1270000" cy="254000"/>
          </a:xfrm>
          <a:prstGeom prst="bentConnector3">
            <a:avLst>
              <a:gd name="adj1" fmla="val -1724"/>
            </a:avLst>
          </a:prstGeom>
          <a:ln w="57150">
            <a:solidFill>
              <a:srgbClr val="FF0000"/>
            </a:solidFill>
            <a:headEnd type="none" w="med" len="med"/>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37" name="Elbow Connector 36"/>
          <p:cNvCxnSpPr/>
          <p:nvPr/>
        </p:nvCxnSpPr>
        <p:spPr>
          <a:xfrm rot="5400000" flipH="1" flipV="1">
            <a:off x="4508500" y="3556000"/>
            <a:ext cx="1270000" cy="254000"/>
          </a:xfrm>
          <a:prstGeom prst="bentConnector3">
            <a:avLst>
              <a:gd name="adj1" fmla="val 99655"/>
            </a:avLst>
          </a:prstGeom>
          <a:ln w="57150">
            <a:solidFill>
              <a:srgbClr val="FF0000"/>
            </a:solidFill>
            <a:headEnd type="none" w="med" len="med"/>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46" name="Elbow Connector 45"/>
          <p:cNvCxnSpPr/>
          <p:nvPr/>
        </p:nvCxnSpPr>
        <p:spPr>
          <a:xfrm flipV="1">
            <a:off x="5969000" y="2476500"/>
            <a:ext cx="635000" cy="571500"/>
          </a:xfrm>
          <a:prstGeom prst="bentConnector3">
            <a:avLst>
              <a:gd name="adj1" fmla="val 101724"/>
            </a:avLst>
          </a:prstGeom>
          <a:ln w="57150">
            <a:solidFill>
              <a:srgbClr val="FF0000"/>
            </a:solidFill>
            <a:headEnd type="none" w="med" len="med"/>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5400000">
            <a:off x="6508088" y="2000250"/>
            <a:ext cx="445162" cy="662"/>
          </a:xfrm>
          <a:prstGeom prst="straightConnector1">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1" name="Group 70"/>
          <p:cNvGrpSpPr/>
          <p:nvPr/>
        </p:nvGrpSpPr>
        <p:grpSpPr>
          <a:xfrm>
            <a:off x="4000500" y="4572000"/>
            <a:ext cx="1206500" cy="254000"/>
            <a:chOff x="3886200" y="5486400"/>
            <a:chExt cx="1447800" cy="304800"/>
          </a:xfrm>
        </p:grpSpPr>
        <p:cxnSp>
          <p:nvCxnSpPr>
            <p:cNvPr id="61" name="Straight Connector 60"/>
            <p:cNvCxnSpPr/>
            <p:nvPr/>
          </p:nvCxnSpPr>
          <p:spPr>
            <a:xfrm rot="5400000">
              <a:off x="3733800" y="5638800"/>
              <a:ext cx="3048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3886200" y="5486400"/>
              <a:ext cx="1447800" cy="304800"/>
            </a:xfrm>
            <a:prstGeom prst="bentConnector3">
              <a:avLst>
                <a:gd name="adj1" fmla="val 101180"/>
              </a:avLst>
            </a:prstGeom>
            <a:ln w="57150">
              <a:solidFill>
                <a:srgbClr val="FF0000"/>
              </a:solidFill>
              <a:headEnd type="none" w="med" len="med"/>
              <a:tailEnd type="triangle" w="med" len="med"/>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2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7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3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Taint Propagation</a:t>
            </a:r>
            <a:endParaRPr kumimoji="1" lang="zh-CN" altLang="en-US" dirty="0"/>
          </a:p>
        </p:txBody>
      </p:sp>
      <p:pic>
        <p:nvPicPr>
          <p:cNvPr id="4" name="图片 3"/>
          <p:cNvPicPr>
            <a:picLocks noChangeAspect="1"/>
          </p:cNvPicPr>
          <p:nvPr/>
        </p:nvPicPr>
        <p:blipFill>
          <a:blip r:embed="rId1"/>
          <a:stretch>
            <a:fillRect/>
          </a:stretch>
        </p:blipFill>
        <p:spPr>
          <a:xfrm>
            <a:off x="107504" y="1489348"/>
            <a:ext cx="8890000" cy="3454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kumimoji="1" lang="en-US" altLang="zh-CN" dirty="0"/>
              <a:t>Defending</a:t>
            </a:r>
            <a:r>
              <a:rPr kumimoji="1" lang="zh-CN" altLang="en-US" dirty="0"/>
              <a:t> </a:t>
            </a:r>
            <a:r>
              <a:rPr kumimoji="1" lang="en-US" altLang="zh-CN" dirty="0"/>
              <a:t>Malicious</a:t>
            </a:r>
            <a:r>
              <a:rPr kumimoji="1" lang="zh-CN" altLang="en-US" dirty="0"/>
              <a:t> </a:t>
            </a:r>
            <a:r>
              <a:rPr kumimoji="1" lang="en-US" altLang="zh-CN" dirty="0"/>
              <a:t>Input</a:t>
            </a:r>
            <a:endParaRPr kumimoji="1" lang="zh-CN" altLang="en-US" dirty="0"/>
          </a:p>
        </p:txBody>
      </p:sp>
      <p:sp>
        <p:nvSpPr>
          <p:cNvPr id="5" name="文本占位符 4"/>
          <p:cNvSpPr>
            <a:spLocks noGrp="1"/>
          </p:cNvSpPr>
          <p:nvPr>
            <p:ph type="body" idx="1"/>
          </p:nvPr>
        </p:nvSpPr>
        <p:spPr/>
        <p:txBody>
          <a:bodyPr/>
          <a:lstStyle/>
          <a:p>
            <a:endParaRPr kumimoji="1"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21550" y="265212"/>
            <a:ext cx="1585496" cy="2376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Two</a:t>
            </a:r>
            <a:r>
              <a:rPr lang="zh-CN" altLang="en-US" dirty="0"/>
              <a:t> </a:t>
            </a:r>
            <a:r>
              <a:rPr lang="en-US" altLang="zh-CN" dirty="0"/>
              <a:t>Usages</a:t>
            </a:r>
            <a:r>
              <a:rPr lang="zh-CN" altLang="en-US" dirty="0"/>
              <a:t> </a:t>
            </a:r>
            <a:r>
              <a:rPr lang="en-US" altLang="zh-CN" dirty="0"/>
              <a:t>of</a:t>
            </a:r>
            <a:r>
              <a:rPr lang="zh-CN" altLang="en-US" dirty="0"/>
              <a:t> </a:t>
            </a:r>
            <a:r>
              <a:rPr lang="en-US" altLang="zh-CN" dirty="0"/>
              <a:t>Data</a:t>
            </a:r>
            <a:r>
              <a:rPr lang="zh-CN" altLang="en-US" dirty="0"/>
              <a:t> </a:t>
            </a:r>
            <a:r>
              <a:rPr lang="en-US" altLang="zh-CN" dirty="0"/>
              <a:t>Flow</a:t>
            </a:r>
            <a:r>
              <a:rPr lang="zh-CN" altLang="en-US" dirty="0"/>
              <a:t> </a:t>
            </a:r>
            <a:r>
              <a:rPr lang="en-US" altLang="zh-CN" dirty="0"/>
              <a:t>Tracking</a:t>
            </a:r>
            <a:endParaRPr lang="zh-CN" altLang="en-US" dirty="0"/>
          </a:p>
        </p:txBody>
      </p:sp>
      <p:sp>
        <p:nvSpPr>
          <p:cNvPr id="5" name="内容占位符 4"/>
          <p:cNvSpPr>
            <a:spLocks noGrp="1"/>
          </p:cNvSpPr>
          <p:nvPr>
            <p:ph idx="1"/>
          </p:nvPr>
        </p:nvSpPr>
        <p:spPr/>
        <p:txBody>
          <a:bodyPr/>
          <a:lstStyle/>
          <a:p>
            <a:r>
              <a:rPr lang="en-US" altLang="zh-CN" dirty="0">
                <a:solidFill>
                  <a:schemeClr val="bg1">
                    <a:lumMod val="75000"/>
                  </a:schemeClr>
                </a:solidFill>
              </a:rPr>
              <a:t>Usage-1:</a:t>
            </a:r>
            <a:r>
              <a:rPr lang="zh-CN" altLang="en-US" dirty="0">
                <a:solidFill>
                  <a:schemeClr val="bg1">
                    <a:lumMod val="75000"/>
                  </a:schemeClr>
                </a:solidFill>
              </a:rPr>
              <a:t> </a:t>
            </a:r>
            <a:r>
              <a:rPr lang="en-US" altLang="zh-CN" dirty="0">
                <a:solidFill>
                  <a:schemeClr val="bg1">
                    <a:lumMod val="75000"/>
                  </a:schemeClr>
                </a:solidFill>
              </a:rPr>
              <a:t>protect</a:t>
            </a:r>
            <a:r>
              <a:rPr lang="zh-CN" altLang="en-US" dirty="0">
                <a:solidFill>
                  <a:schemeClr val="bg1">
                    <a:lumMod val="75000"/>
                  </a:schemeClr>
                </a:solidFill>
              </a:rPr>
              <a:t> </a:t>
            </a:r>
            <a:r>
              <a:rPr lang="en-US" altLang="zh-CN" dirty="0">
                <a:solidFill>
                  <a:schemeClr val="bg1">
                    <a:lumMod val="75000"/>
                  </a:schemeClr>
                </a:solidFill>
              </a:rPr>
              <a:t>critical</a:t>
            </a:r>
            <a:r>
              <a:rPr lang="zh-CN" altLang="en-US" dirty="0">
                <a:solidFill>
                  <a:schemeClr val="bg1">
                    <a:lumMod val="75000"/>
                  </a:schemeClr>
                </a:solidFill>
              </a:rPr>
              <a:t> </a:t>
            </a:r>
            <a:r>
              <a:rPr lang="en-US" altLang="zh-CN" dirty="0">
                <a:solidFill>
                  <a:schemeClr val="bg1">
                    <a:lumMod val="75000"/>
                  </a:schemeClr>
                </a:solidFill>
              </a:rPr>
              <a:t>data</a:t>
            </a:r>
            <a:endParaRPr lang="en-US" altLang="zh-CN" dirty="0">
              <a:solidFill>
                <a:schemeClr val="bg1">
                  <a:lumMod val="75000"/>
                </a:schemeClr>
              </a:solidFill>
            </a:endParaRPr>
          </a:p>
          <a:p>
            <a:pPr lvl="1"/>
            <a:r>
              <a:rPr lang="en-US" altLang="zh-CN" dirty="0">
                <a:solidFill>
                  <a:schemeClr val="bg1">
                    <a:lumMod val="75000"/>
                  </a:schemeClr>
                </a:solidFill>
              </a:rPr>
              <a:t>E.g.,</a:t>
            </a:r>
            <a:r>
              <a:rPr lang="zh-CN" altLang="en-US" dirty="0">
                <a:solidFill>
                  <a:schemeClr val="bg1">
                    <a:lumMod val="75000"/>
                  </a:schemeClr>
                </a:solidFill>
              </a:rPr>
              <a:t> </a:t>
            </a:r>
            <a:r>
              <a:rPr lang="en-US" altLang="zh-CN" dirty="0">
                <a:solidFill>
                  <a:schemeClr val="bg1">
                    <a:lumMod val="75000"/>
                  </a:schemeClr>
                </a:solidFill>
              </a:rPr>
              <a:t>track</a:t>
            </a:r>
            <a:r>
              <a:rPr lang="zh-CN" altLang="en-US" dirty="0">
                <a:solidFill>
                  <a:schemeClr val="bg1">
                    <a:lumMod val="75000"/>
                  </a:schemeClr>
                </a:solidFill>
              </a:rPr>
              <a:t> </a:t>
            </a:r>
            <a:r>
              <a:rPr lang="en-US" altLang="zh-CN" dirty="0">
                <a:solidFill>
                  <a:schemeClr val="bg1">
                    <a:lumMod val="75000"/>
                  </a:schemeClr>
                </a:solidFill>
              </a:rPr>
              <a:t>data</a:t>
            </a:r>
            <a:r>
              <a:rPr lang="zh-CN" altLang="en-US" dirty="0">
                <a:solidFill>
                  <a:schemeClr val="bg1">
                    <a:lumMod val="75000"/>
                  </a:schemeClr>
                </a:solidFill>
              </a:rPr>
              <a:t> </a:t>
            </a:r>
            <a:r>
              <a:rPr lang="en-US" altLang="zh-CN" dirty="0">
                <a:solidFill>
                  <a:schemeClr val="bg1">
                    <a:lumMod val="75000"/>
                  </a:schemeClr>
                </a:solidFill>
              </a:rPr>
              <a:t>to</a:t>
            </a:r>
            <a:r>
              <a:rPr lang="zh-CN" altLang="en-US" dirty="0">
                <a:solidFill>
                  <a:schemeClr val="bg1">
                    <a:lumMod val="75000"/>
                  </a:schemeClr>
                </a:solidFill>
              </a:rPr>
              <a:t> </a:t>
            </a:r>
            <a:r>
              <a:rPr lang="en-US" altLang="zh-CN" dirty="0">
                <a:solidFill>
                  <a:schemeClr val="bg1">
                    <a:lumMod val="75000"/>
                  </a:schemeClr>
                </a:solidFill>
              </a:rPr>
              <a:t>ensure</a:t>
            </a:r>
            <a:r>
              <a:rPr lang="zh-CN" altLang="en-US" dirty="0">
                <a:solidFill>
                  <a:schemeClr val="bg1">
                    <a:lumMod val="75000"/>
                  </a:schemeClr>
                </a:solidFill>
              </a:rPr>
              <a:t> </a:t>
            </a:r>
            <a:r>
              <a:rPr lang="en-US" altLang="zh-CN" dirty="0">
                <a:solidFill>
                  <a:schemeClr val="bg1">
                    <a:lumMod val="75000"/>
                  </a:schemeClr>
                </a:solidFill>
              </a:rPr>
              <a:t>none</a:t>
            </a:r>
            <a:r>
              <a:rPr lang="zh-CN" altLang="en-US" dirty="0">
                <a:solidFill>
                  <a:schemeClr val="bg1">
                    <a:lumMod val="75000"/>
                  </a:schemeClr>
                </a:solidFill>
              </a:rPr>
              <a:t> </a:t>
            </a:r>
            <a:r>
              <a:rPr lang="en-US" altLang="zh-CN" dirty="0">
                <a:solidFill>
                  <a:schemeClr val="bg1">
                    <a:lumMod val="75000"/>
                  </a:schemeClr>
                </a:solidFill>
              </a:rPr>
              <a:t>is</a:t>
            </a:r>
            <a:r>
              <a:rPr lang="zh-CN" altLang="en-US" dirty="0">
                <a:solidFill>
                  <a:schemeClr val="bg1">
                    <a:lumMod val="75000"/>
                  </a:schemeClr>
                </a:solidFill>
              </a:rPr>
              <a:t> </a:t>
            </a:r>
            <a:r>
              <a:rPr lang="en-US" altLang="zh-CN" dirty="0">
                <a:solidFill>
                  <a:schemeClr val="bg1">
                    <a:lumMod val="75000"/>
                  </a:schemeClr>
                </a:solidFill>
              </a:rPr>
              <a:t>leaked</a:t>
            </a:r>
            <a:endParaRPr lang="en-US" altLang="zh-CN" dirty="0">
              <a:solidFill>
                <a:schemeClr val="bg1">
                  <a:lumMod val="75000"/>
                </a:schemeClr>
              </a:solidFill>
            </a:endParaRPr>
          </a:p>
          <a:p>
            <a:pPr lvl="1"/>
            <a:endParaRPr lang="en-US" altLang="zh-CN" dirty="0"/>
          </a:p>
          <a:p>
            <a:r>
              <a:rPr lang="en-US" altLang="zh-CN" dirty="0"/>
              <a:t>Usage-2:</a:t>
            </a:r>
            <a:r>
              <a:rPr lang="zh-CN" altLang="en-US" dirty="0"/>
              <a:t> </a:t>
            </a:r>
            <a:r>
              <a:rPr lang="en-US" altLang="zh-CN" dirty="0"/>
              <a:t>defend</a:t>
            </a:r>
            <a:r>
              <a:rPr lang="zh-CN" altLang="en-US" dirty="0"/>
              <a:t> </a:t>
            </a:r>
            <a:r>
              <a:rPr lang="en-US" altLang="zh-CN" dirty="0"/>
              <a:t>against</a:t>
            </a:r>
            <a:r>
              <a:rPr lang="zh-CN" altLang="en-US" dirty="0"/>
              <a:t> </a:t>
            </a:r>
            <a:r>
              <a:rPr lang="en-US" altLang="zh-CN" dirty="0"/>
              <a:t>suspicious</a:t>
            </a:r>
            <a:r>
              <a:rPr lang="zh-CN" altLang="en-US" dirty="0"/>
              <a:t> </a:t>
            </a:r>
            <a:r>
              <a:rPr lang="en-US" altLang="zh-CN" dirty="0"/>
              <a:t>input</a:t>
            </a:r>
            <a:r>
              <a:rPr lang="zh-CN" altLang="en-US" dirty="0"/>
              <a:t> </a:t>
            </a:r>
            <a:r>
              <a:rPr lang="en-US" altLang="zh-CN" dirty="0"/>
              <a:t>data</a:t>
            </a:r>
            <a:endParaRPr lang="en-US" altLang="zh-CN" dirty="0"/>
          </a:p>
          <a:p>
            <a:pPr lvl="1"/>
            <a:r>
              <a:rPr lang="en-US" altLang="zh-CN" dirty="0"/>
              <a:t>E.g.,</a:t>
            </a:r>
            <a:r>
              <a:rPr lang="zh-CN" altLang="en-US" dirty="0"/>
              <a:t> </a:t>
            </a:r>
            <a:r>
              <a:rPr lang="en-US" altLang="zh-CN" dirty="0"/>
              <a:t>one</a:t>
            </a:r>
            <a:r>
              <a:rPr lang="zh-CN" altLang="en-US" dirty="0"/>
              <a:t> </a:t>
            </a:r>
            <a:r>
              <a:rPr lang="en-US" altLang="zh-CN" dirty="0"/>
              <a:t>input</a:t>
            </a:r>
            <a:r>
              <a:rPr lang="zh-CN" altLang="en-US" dirty="0"/>
              <a:t> </a:t>
            </a:r>
            <a:r>
              <a:rPr lang="en-US" altLang="zh-CN" dirty="0"/>
              <a:t>data</a:t>
            </a:r>
            <a:r>
              <a:rPr lang="zh-CN" altLang="en-US" dirty="0"/>
              <a:t> </a:t>
            </a:r>
            <a:r>
              <a:rPr lang="en-US" altLang="zh-CN" dirty="0"/>
              <a:t>cannot</a:t>
            </a:r>
            <a:r>
              <a:rPr lang="zh-CN" altLang="en-US" dirty="0"/>
              <a:t> </a:t>
            </a:r>
            <a:r>
              <a:rPr lang="en-US" altLang="zh-CN" dirty="0"/>
              <a:t>flow</a:t>
            </a:r>
            <a:r>
              <a:rPr lang="zh-CN" altLang="en-US" dirty="0"/>
              <a:t> </a:t>
            </a:r>
            <a:r>
              <a:rPr lang="en-US" altLang="zh-CN" dirty="0"/>
              <a:t>to</a:t>
            </a:r>
            <a:r>
              <a:rPr lang="zh-CN" altLang="en-US" dirty="0"/>
              <a:t> </a:t>
            </a:r>
            <a:r>
              <a:rPr lang="en-US" altLang="zh-CN" dirty="0"/>
              <a:t>return</a:t>
            </a:r>
            <a:r>
              <a:rPr lang="zh-CN" altLang="en-US" dirty="0"/>
              <a:t> </a:t>
            </a:r>
            <a:r>
              <a:rPr lang="en-US" altLang="zh-CN" dirty="0"/>
              <a:t>address!</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How</a:t>
            </a:r>
            <a:r>
              <a:rPr kumimoji="1" lang="zh-CN" altLang="en-US" dirty="0"/>
              <a:t> </a:t>
            </a:r>
            <a:r>
              <a:rPr kumimoji="1" lang="en-US" altLang="zh-CN" dirty="0"/>
              <a:t>does</a:t>
            </a:r>
            <a:r>
              <a:rPr kumimoji="1" lang="zh-CN" altLang="en-US" dirty="0"/>
              <a:t> </a:t>
            </a:r>
            <a:r>
              <a:rPr kumimoji="1" lang="en-US" altLang="zh-CN" dirty="0"/>
              <a:t>a</a:t>
            </a:r>
            <a:r>
              <a:rPr kumimoji="1" lang="zh-CN" altLang="en-US" dirty="0"/>
              <a:t> </a:t>
            </a:r>
            <a:r>
              <a:rPr kumimoji="1" lang="en-US" altLang="zh-CN" dirty="0"/>
              <a:t>Hacker</a:t>
            </a:r>
            <a:r>
              <a:rPr kumimoji="1" lang="zh-CN" altLang="en-US" dirty="0"/>
              <a:t> </a:t>
            </a:r>
            <a:r>
              <a:rPr kumimoji="1" lang="en-US" altLang="zh-CN" dirty="0"/>
              <a:t>Search</a:t>
            </a:r>
            <a:r>
              <a:rPr kumimoji="1" lang="zh-CN" altLang="en-US" dirty="0"/>
              <a:t> </a:t>
            </a:r>
            <a:r>
              <a:rPr kumimoji="1" lang="en-US" altLang="zh-CN" dirty="0"/>
              <a:t>a</a:t>
            </a:r>
            <a:r>
              <a:rPr kumimoji="1" lang="zh-CN" altLang="en-US" dirty="0"/>
              <a:t> </a:t>
            </a:r>
            <a:r>
              <a:rPr kumimoji="1" lang="en-US" altLang="zh-CN" dirty="0"/>
              <a:t>Bug?</a:t>
            </a:r>
            <a:endParaRPr kumimoji="1" lang="zh-CN" altLang="en-US" dirty="0"/>
          </a:p>
        </p:txBody>
      </p:sp>
      <p:sp>
        <p:nvSpPr>
          <p:cNvPr id="3" name="内容占位符 2"/>
          <p:cNvSpPr>
            <a:spLocks noGrp="1"/>
          </p:cNvSpPr>
          <p:nvPr>
            <p:ph idx="1"/>
          </p:nvPr>
        </p:nvSpPr>
        <p:spPr/>
        <p:txBody>
          <a:bodyPr>
            <a:normAutofit/>
          </a:bodyPr>
          <a:lstStyle/>
          <a:p>
            <a:r>
              <a:rPr kumimoji="1" lang="en-US" altLang="zh-CN" dirty="0"/>
              <a:t>Step-0:</a:t>
            </a:r>
            <a:r>
              <a:rPr kumimoji="1" lang="zh-CN" altLang="en-US" dirty="0"/>
              <a:t> </a:t>
            </a:r>
            <a:r>
              <a:rPr kumimoji="1" lang="en-US" altLang="zh-CN" dirty="0"/>
              <a:t>Chose</a:t>
            </a:r>
            <a:r>
              <a:rPr kumimoji="1" lang="zh-CN" altLang="en-US" dirty="0"/>
              <a:t> </a:t>
            </a:r>
            <a:r>
              <a:rPr kumimoji="1" lang="en-US" altLang="zh-CN" dirty="0"/>
              <a:t>a</a:t>
            </a:r>
            <a:r>
              <a:rPr kumimoji="1" lang="zh-CN" altLang="en-US" dirty="0"/>
              <a:t> </a:t>
            </a:r>
            <a:r>
              <a:rPr kumimoji="1" lang="en-US" altLang="zh-CN" dirty="0"/>
              <a:t>library</a:t>
            </a:r>
            <a:r>
              <a:rPr kumimoji="1" lang="zh-CN" altLang="en-US" dirty="0"/>
              <a:t> </a:t>
            </a:r>
            <a:r>
              <a:rPr kumimoji="1" lang="en-US" altLang="zh-CN" dirty="0"/>
              <a:t>(open-source,</a:t>
            </a:r>
            <a:r>
              <a:rPr kumimoji="1" lang="zh-CN" altLang="en-US" dirty="0"/>
              <a:t> </a:t>
            </a:r>
            <a:r>
              <a:rPr kumimoji="1" lang="en-US" altLang="zh-CN" dirty="0"/>
              <a:t>of</a:t>
            </a:r>
            <a:r>
              <a:rPr kumimoji="1" lang="zh-CN" altLang="en-US" dirty="0"/>
              <a:t> </a:t>
            </a:r>
            <a:r>
              <a:rPr kumimoji="1" lang="en-US" altLang="zh-CN" dirty="0"/>
              <a:t>course)</a:t>
            </a:r>
            <a:endParaRPr kumimoji="1" lang="en-US" altLang="zh-CN" dirty="0"/>
          </a:p>
          <a:p>
            <a:pPr lvl="1"/>
            <a:r>
              <a:rPr kumimoji="1" lang="en-US" altLang="zh-CN" dirty="0"/>
              <a:t>Let's</a:t>
            </a:r>
            <a:r>
              <a:rPr kumimoji="1" lang="zh-CN" altLang="en-US" dirty="0"/>
              <a:t> </a:t>
            </a:r>
            <a:r>
              <a:rPr kumimoji="1" lang="en-US" altLang="zh-CN" dirty="0"/>
              <a:t>try</a:t>
            </a:r>
            <a:r>
              <a:rPr kumimoji="1" lang="zh-CN" altLang="en-US" dirty="0"/>
              <a:t> </a:t>
            </a:r>
            <a:r>
              <a:rPr kumimoji="1" lang="en-US" altLang="zh-CN" dirty="0" err="1"/>
              <a:t>ffmpeg</a:t>
            </a:r>
            <a:r>
              <a:rPr kumimoji="1" lang="en-US" altLang="zh-CN" dirty="0"/>
              <a:t>,</a:t>
            </a:r>
            <a:r>
              <a:rPr kumimoji="1" lang="zh-CN" altLang="en-US" dirty="0"/>
              <a:t> </a:t>
            </a:r>
            <a:r>
              <a:rPr kumimoji="1" lang="en-US" altLang="zh-CN" dirty="0"/>
              <a:t>which</a:t>
            </a:r>
            <a:r>
              <a:rPr kumimoji="1" lang="zh-CN" altLang="en-US" dirty="0"/>
              <a:t> </a:t>
            </a:r>
            <a:r>
              <a:rPr kumimoji="1" lang="en-US" altLang="zh-CN" dirty="0"/>
              <a:t>is</a:t>
            </a:r>
            <a:r>
              <a:rPr kumimoji="1" lang="zh-CN" altLang="en-US" dirty="0"/>
              <a:t> </a:t>
            </a:r>
            <a:r>
              <a:rPr kumimoji="1" lang="en-US" altLang="zh-CN" dirty="0"/>
              <a:t>used</a:t>
            </a:r>
            <a:r>
              <a:rPr kumimoji="1" lang="zh-CN" altLang="en-US" dirty="0"/>
              <a:t> </a:t>
            </a:r>
            <a:r>
              <a:rPr kumimoji="1" lang="en-US" altLang="zh-CN" dirty="0"/>
              <a:t>in</a:t>
            </a:r>
            <a:r>
              <a:rPr kumimoji="1" lang="zh-CN" altLang="en-US" dirty="0"/>
              <a:t> </a:t>
            </a:r>
            <a:r>
              <a:rPr kumimoji="1" lang="en-US" altLang="zh-CN" dirty="0"/>
              <a:t>Chrome,</a:t>
            </a:r>
            <a:r>
              <a:rPr kumimoji="1" lang="zh-CN" altLang="en-US" dirty="0"/>
              <a:t> </a:t>
            </a:r>
            <a:r>
              <a:rPr kumimoji="1" lang="en-US" altLang="zh-CN" dirty="0"/>
              <a:t>VLC,</a:t>
            </a:r>
            <a:r>
              <a:rPr kumimoji="1" lang="zh-CN" altLang="en-US" dirty="0"/>
              <a:t> </a:t>
            </a:r>
            <a:r>
              <a:rPr kumimoji="1" lang="en-US" altLang="zh-CN" dirty="0" err="1"/>
              <a:t>Mplayer</a:t>
            </a:r>
            <a:r>
              <a:rPr kumimoji="1" lang="en-US" altLang="zh-CN" dirty="0"/>
              <a:t>...</a:t>
            </a:r>
            <a:endParaRPr kumimoji="1" lang="en-US" altLang="zh-CN" dirty="0"/>
          </a:p>
          <a:p>
            <a:pPr lvl="1"/>
            <a:r>
              <a:rPr kumimoji="1" lang="en-US" altLang="zh-CN" dirty="0"/>
              <a:t>There</a:t>
            </a:r>
            <a:r>
              <a:rPr kumimoji="1" lang="zh-CN" altLang="en-US" dirty="0"/>
              <a:t> </a:t>
            </a:r>
            <a:r>
              <a:rPr kumimoji="1" lang="en-US" altLang="zh-CN" dirty="0"/>
              <a:t>are</a:t>
            </a:r>
            <a:r>
              <a:rPr kumimoji="1" lang="zh-CN" altLang="en-US" dirty="0"/>
              <a:t> </a:t>
            </a:r>
            <a:r>
              <a:rPr kumimoji="1" lang="en-US" altLang="zh-CN" dirty="0"/>
              <a:t>also</a:t>
            </a:r>
            <a:r>
              <a:rPr kumimoji="1" lang="zh-CN" altLang="en-US" dirty="0"/>
              <a:t> </a:t>
            </a:r>
            <a:r>
              <a:rPr kumimoji="1" lang="en-US" altLang="zh-CN" dirty="0"/>
              <a:t>rumors</a:t>
            </a:r>
            <a:r>
              <a:rPr kumimoji="1" lang="zh-CN" altLang="en-US" dirty="0"/>
              <a:t> </a:t>
            </a:r>
            <a:r>
              <a:rPr kumimoji="1" lang="en-US" altLang="zh-CN" dirty="0"/>
              <a:t>that</a:t>
            </a:r>
            <a:r>
              <a:rPr kumimoji="1" lang="zh-CN" altLang="en-US" dirty="0"/>
              <a:t> </a:t>
            </a:r>
            <a:r>
              <a:rPr kumimoji="1" lang="en-US" altLang="zh-CN" dirty="0"/>
              <a:t>YouTube</a:t>
            </a:r>
            <a:r>
              <a:rPr kumimoji="1" lang="zh-CN" altLang="en-US" dirty="0"/>
              <a:t> </a:t>
            </a:r>
            <a:r>
              <a:rPr kumimoji="1" lang="en-US" altLang="zh-CN" dirty="0"/>
              <a:t>uses</a:t>
            </a:r>
            <a:r>
              <a:rPr kumimoji="1" lang="zh-CN" altLang="en-US" dirty="0"/>
              <a:t> </a:t>
            </a:r>
            <a:r>
              <a:rPr kumimoji="1" lang="en-US" altLang="zh-CN" dirty="0"/>
              <a:t>it</a:t>
            </a:r>
            <a:r>
              <a:rPr kumimoji="1" lang="zh-CN" altLang="en-US" dirty="0"/>
              <a:t> </a:t>
            </a:r>
            <a:r>
              <a:rPr kumimoji="1" lang="en-US" altLang="zh-CN" dirty="0"/>
              <a:t>for</a:t>
            </a:r>
            <a:r>
              <a:rPr kumimoji="1" lang="zh-CN" altLang="en-US" dirty="0"/>
              <a:t> </a:t>
            </a:r>
            <a:r>
              <a:rPr kumimoji="1" lang="en-US" altLang="zh-CN" dirty="0"/>
              <a:t>conversion</a:t>
            </a:r>
            <a:endParaRPr kumimoji="1" lang="en-US" altLang="zh-CN" dirty="0"/>
          </a:p>
          <a:p>
            <a:r>
              <a:rPr kumimoji="1" lang="en-US" altLang="zh-CN" dirty="0"/>
              <a:t>Step-1:</a:t>
            </a:r>
            <a:r>
              <a:rPr kumimoji="1" lang="zh-CN" altLang="en-US" dirty="0"/>
              <a:t> </a:t>
            </a:r>
            <a:r>
              <a:rPr kumimoji="1" lang="en-US" altLang="zh-CN" dirty="0"/>
              <a:t>List</a:t>
            </a:r>
            <a:r>
              <a:rPr kumimoji="1" lang="zh-CN" altLang="en-US" dirty="0"/>
              <a:t> </a:t>
            </a:r>
            <a:r>
              <a:rPr kumimoji="1" lang="en-US" altLang="zh-CN" dirty="0"/>
              <a:t>the</a:t>
            </a:r>
            <a:r>
              <a:rPr kumimoji="1" lang="zh-CN" altLang="en-US" dirty="0"/>
              <a:t> </a:t>
            </a:r>
            <a:r>
              <a:rPr kumimoji="1" lang="en-US" altLang="zh-CN" dirty="0" err="1"/>
              <a:t>demuxers</a:t>
            </a:r>
            <a:r>
              <a:rPr kumimoji="1" lang="zh-CN" altLang="en-US" dirty="0"/>
              <a:t> </a:t>
            </a:r>
            <a:r>
              <a:rPr kumimoji="1" lang="en-US" altLang="zh-CN" dirty="0"/>
              <a:t>of</a:t>
            </a:r>
            <a:r>
              <a:rPr kumimoji="1" lang="zh-CN" altLang="en-US" dirty="0"/>
              <a:t> </a:t>
            </a:r>
            <a:r>
              <a:rPr kumimoji="1" lang="en-US" altLang="zh-CN" dirty="0" err="1"/>
              <a:t>ffmpeg</a:t>
            </a:r>
            <a:endParaRPr kumimoji="1" lang="en-US" altLang="zh-CN" dirty="0"/>
          </a:p>
          <a:p>
            <a:r>
              <a:rPr kumimoji="1" lang="en-US" altLang="zh-CN" dirty="0"/>
              <a:t>Step-2:</a:t>
            </a:r>
            <a:r>
              <a:rPr kumimoji="1" lang="zh-CN" altLang="en-US" dirty="0"/>
              <a:t> </a:t>
            </a:r>
            <a:r>
              <a:rPr kumimoji="1" lang="en-US" altLang="zh-CN" dirty="0"/>
              <a:t>Identify</a:t>
            </a:r>
            <a:r>
              <a:rPr kumimoji="1" lang="zh-CN" altLang="en-US" dirty="0"/>
              <a:t> </a:t>
            </a:r>
            <a:r>
              <a:rPr kumimoji="1" lang="en-US" altLang="zh-CN" dirty="0"/>
              <a:t>the</a:t>
            </a:r>
            <a:r>
              <a:rPr kumimoji="1" lang="zh-CN" altLang="en-US" dirty="0"/>
              <a:t> </a:t>
            </a:r>
            <a:r>
              <a:rPr kumimoji="1" lang="en-US" altLang="zh-CN" dirty="0"/>
              <a:t>input</a:t>
            </a:r>
            <a:r>
              <a:rPr kumimoji="1" lang="zh-CN" altLang="en-US" dirty="0"/>
              <a:t> </a:t>
            </a:r>
            <a:r>
              <a:rPr kumimoji="1" lang="en-US" altLang="zh-CN" dirty="0"/>
              <a:t>data</a:t>
            </a:r>
            <a:endParaRPr kumimoji="1" lang="en-US" altLang="zh-CN" dirty="0"/>
          </a:p>
          <a:p>
            <a:r>
              <a:rPr kumimoji="1" lang="en-US" altLang="zh-CN" dirty="0"/>
              <a:t>Step-3:</a:t>
            </a:r>
            <a:r>
              <a:rPr kumimoji="1" lang="zh-CN" altLang="en-US" dirty="0"/>
              <a:t> </a:t>
            </a:r>
            <a:r>
              <a:rPr kumimoji="1" lang="en-US" altLang="zh-CN" dirty="0"/>
              <a:t>Trace</a:t>
            </a:r>
            <a:r>
              <a:rPr kumimoji="1" lang="zh-CN" altLang="en-US" dirty="0"/>
              <a:t> </a:t>
            </a:r>
            <a:r>
              <a:rPr kumimoji="1" lang="en-US" altLang="zh-CN" dirty="0"/>
              <a:t>the</a:t>
            </a:r>
            <a:r>
              <a:rPr kumimoji="1" lang="zh-CN" altLang="en-US" dirty="0"/>
              <a:t> </a:t>
            </a:r>
            <a:r>
              <a:rPr kumimoji="1" lang="en-US" altLang="zh-CN" dirty="0"/>
              <a:t>input</a:t>
            </a:r>
            <a:r>
              <a:rPr kumimoji="1" lang="zh-CN" altLang="en-US" dirty="0"/>
              <a:t> </a:t>
            </a:r>
            <a:r>
              <a:rPr kumimoji="1" lang="en-US" altLang="zh-CN" dirty="0"/>
              <a:t>data</a:t>
            </a:r>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Step-1: List the </a:t>
            </a:r>
            <a:r>
              <a:rPr kumimoji="1" lang="en-US" altLang="zh-CN" dirty="0" err="1"/>
              <a:t>Demuxers</a:t>
            </a:r>
            <a:r>
              <a:rPr kumimoji="1" lang="en-US" altLang="zh-CN" dirty="0"/>
              <a:t> of </a:t>
            </a:r>
            <a:r>
              <a:rPr kumimoji="1" lang="en-US" altLang="zh-CN" dirty="0" err="1"/>
              <a:t>FFmpeg</a:t>
            </a:r>
            <a:endParaRPr kumimoji="1" lang="zh-CN" altLang="en-US" dirty="0"/>
          </a:p>
        </p:txBody>
      </p:sp>
      <p:pic>
        <p:nvPicPr>
          <p:cNvPr id="4" name="图片 3"/>
          <p:cNvPicPr>
            <a:picLocks noChangeAspect="1"/>
          </p:cNvPicPr>
          <p:nvPr/>
        </p:nvPicPr>
        <p:blipFill>
          <a:blip r:embed="rId1"/>
          <a:stretch>
            <a:fillRect/>
          </a:stretch>
        </p:blipFill>
        <p:spPr>
          <a:xfrm>
            <a:off x="539551" y="1273324"/>
            <a:ext cx="8064897" cy="401296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Step-2: Identify the Input Data</a:t>
            </a:r>
            <a:endParaRPr kumimoji="1" lang="zh-CN" altLang="en-US" dirty="0"/>
          </a:p>
        </p:txBody>
      </p:sp>
      <p:sp>
        <p:nvSpPr>
          <p:cNvPr id="3" name="内容占位符 2"/>
          <p:cNvSpPr>
            <a:spLocks noGrp="1"/>
          </p:cNvSpPr>
          <p:nvPr>
            <p:ph idx="1"/>
          </p:nvPr>
        </p:nvSpPr>
        <p:spPr>
          <a:xfrm>
            <a:off x="457200" y="1333500"/>
            <a:ext cx="8229600" cy="4116287"/>
          </a:xfrm>
        </p:spPr>
        <p:txBody>
          <a:bodyPr>
            <a:normAutofit fontScale="92500" lnSpcReduction="10000"/>
          </a:bodyPr>
          <a:lstStyle/>
          <a:p>
            <a:r>
              <a:rPr kumimoji="1" lang="en-US" altLang="zh-CN" i="1" dirty="0" err="1"/>
              <a:t>demuxername_read_header</a:t>
            </a:r>
            <a:r>
              <a:rPr kumimoji="1" lang="en-US" altLang="zh-CN" dirty="0"/>
              <a:t>()</a:t>
            </a:r>
            <a:endParaRPr kumimoji="1" lang="en-US" altLang="zh-CN" dirty="0"/>
          </a:p>
          <a:p>
            <a:pPr lvl="1"/>
            <a:r>
              <a:rPr kumimoji="1" lang="en-US" altLang="zh-CN" dirty="0"/>
              <a:t>Most </a:t>
            </a:r>
            <a:r>
              <a:rPr kumimoji="1" lang="en-US" altLang="zh-CN" dirty="0" err="1"/>
              <a:t>demuxers</a:t>
            </a:r>
            <a:r>
              <a:rPr kumimoji="1" lang="en-US" altLang="zh-CN" dirty="0"/>
              <a:t> </a:t>
            </a:r>
            <a:r>
              <a:rPr kumimoji="1" lang="en-US" altLang="zh-CN" dirty="0" err="1"/>
              <a:t>declear</a:t>
            </a:r>
            <a:r>
              <a:rPr kumimoji="1" lang="en-US" altLang="zh-CN" dirty="0"/>
              <a:t> a function called it</a:t>
            </a:r>
            <a:endParaRPr kumimoji="1" lang="en-US" altLang="zh-CN" dirty="0"/>
          </a:p>
          <a:p>
            <a:pPr lvl="1"/>
            <a:r>
              <a:rPr kumimoji="1" lang="en-US" altLang="zh-CN" dirty="0"/>
              <a:t>Takes a parameter of type </a:t>
            </a:r>
            <a:r>
              <a:rPr kumimoji="1" lang="en-US" altLang="zh-CN" dirty="0" err="1"/>
              <a:t>AVFormatContext</a:t>
            </a:r>
            <a:endParaRPr kumimoji="1" lang="en-US" altLang="zh-CN" dirty="0"/>
          </a:p>
          <a:p>
            <a:pPr lvl="1"/>
            <a:r>
              <a:rPr kumimoji="1" lang="en-US" altLang="zh-CN" dirty="0"/>
              <a:t>This function initializes a pointer:</a:t>
            </a:r>
            <a:endParaRPr kumimoji="1" lang="en-US" altLang="zh-CN" dirty="0"/>
          </a:p>
          <a:p>
            <a:pPr lvl="1"/>
            <a:endParaRPr kumimoji="1" lang="en-US" altLang="zh-CN" dirty="0"/>
          </a:p>
          <a:p>
            <a:pPr lvl="1"/>
            <a:endParaRPr kumimoji="1" lang="en-US" altLang="zh-CN" dirty="0"/>
          </a:p>
          <a:p>
            <a:pPr marL="74295" lvl="1" indent="0">
              <a:buNone/>
            </a:pPr>
            <a:endParaRPr kumimoji="1" lang="en-US" altLang="zh-CN" dirty="0"/>
          </a:p>
          <a:p>
            <a:pPr lvl="1"/>
            <a:endParaRPr kumimoji="1" lang="en-US" altLang="zh-CN" dirty="0"/>
          </a:p>
          <a:p>
            <a:pPr lvl="1"/>
            <a:endParaRPr kumimoji="1" lang="en-US" altLang="zh-CN" dirty="0"/>
          </a:p>
          <a:p>
            <a:pPr lvl="1"/>
            <a:r>
              <a:rPr kumimoji="1" lang="en-US" altLang="zh-CN" dirty="0"/>
              <a:t>Many different </a:t>
            </a:r>
            <a:r>
              <a:rPr kumimoji="1" lang="en-US" altLang="zh-CN" dirty="0" err="1"/>
              <a:t>get_something</a:t>
            </a:r>
            <a:r>
              <a:rPr kumimoji="1" lang="en-US" altLang="zh-CN" dirty="0"/>
              <a:t>() are used to extract </a:t>
            </a:r>
            <a:r>
              <a:rPr kumimoji="1" lang="en-US" altLang="zh-CN" dirty="0" err="1"/>
              <a:t>pb</a:t>
            </a:r>
            <a:r>
              <a:rPr kumimoji="1" lang="en-US" altLang="zh-CN" dirty="0"/>
              <a:t> data</a:t>
            </a:r>
            <a:endParaRPr kumimoji="1" lang="en-US" altLang="zh-CN" dirty="0"/>
          </a:p>
          <a:p>
            <a:pPr lvl="2"/>
            <a:r>
              <a:rPr kumimoji="1" lang="en-US" altLang="zh-CN" dirty="0"/>
              <a:t>E.g., get_le32(), </a:t>
            </a:r>
            <a:r>
              <a:rPr kumimoji="1" lang="en-US" altLang="zh-CN" dirty="0" err="1"/>
              <a:t>get_buffer</a:t>
            </a:r>
            <a:r>
              <a:rPr kumimoji="1" lang="en-US" altLang="zh-CN" dirty="0"/>
              <a:t>()</a:t>
            </a:r>
            <a:endParaRPr kumimoji="1" lang="en-US" altLang="zh-CN" dirty="0"/>
          </a:p>
          <a:p>
            <a:pPr lvl="1"/>
            <a:r>
              <a:rPr kumimoji="1" lang="en-US" altLang="zh-CN" dirty="0">
                <a:solidFill>
                  <a:srgbClr val="FF0000"/>
                </a:solidFill>
              </a:rPr>
              <a:t>Conclusion: </a:t>
            </a:r>
            <a:r>
              <a:rPr kumimoji="1" lang="en-US" altLang="en-US" dirty="0" err="1">
                <a:solidFill>
                  <a:srgbClr val="FF0000"/>
                </a:solidFill>
              </a:rPr>
              <a:t>pb</a:t>
            </a:r>
            <a:r>
              <a:rPr kumimoji="1" lang="en-US" altLang="en-US" dirty="0">
                <a:solidFill>
                  <a:srgbClr val="FF0000"/>
                </a:solidFill>
              </a:rPr>
              <a:t> is a pointer to the input data of media files</a:t>
            </a:r>
            <a:endParaRPr kumimoji="1" lang="en-US" altLang="zh-CN" dirty="0">
              <a:solidFill>
                <a:srgbClr val="FF0000"/>
              </a:solidFill>
            </a:endParaRPr>
          </a:p>
          <a:p>
            <a:endParaRPr kumimoji="1" lang="zh-CN" altLang="en-US" dirty="0"/>
          </a:p>
        </p:txBody>
      </p:sp>
      <p:pic>
        <p:nvPicPr>
          <p:cNvPr id="4" name="图片 3"/>
          <p:cNvPicPr>
            <a:picLocks noChangeAspect="1"/>
          </p:cNvPicPr>
          <p:nvPr/>
        </p:nvPicPr>
        <p:blipFill>
          <a:blip r:embed="rId1"/>
          <a:stretch>
            <a:fillRect/>
          </a:stretch>
        </p:blipFill>
        <p:spPr>
          <a:xfrm>
            <a:off x="1763688" y="2713484"/>
            <a:ext cx="3822700" cy="11049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Step-3: Trace the Input Data</a:t>
            </a:r>
            <a:endParaRPr kumimoji="1" lang="zh-CN" altLang="en-US" dirty="0"/>
          </a:p>
        </p:txBody>
      </p:sp>
      <p:sp>
        <p:nvSpPr>
          <p:cNvPr id="3" name="内容占位符 2"/>
          <p:cNvSpPr>
            <a:spLocks noGrp="1"/>
          </p:cNvSpPr>
          <p:nvPr>
            <p:ph idx="1"/>
          </p:nvPr>
        </p:nvSpPr>
        <p:spPr/>
        <p:txBody>
          <a:bodyPr/>
          <a:lstStyle/>
          <a:p>
            <a:r>
              <a:rPr kumimoji="1" lang="en-US" altLang="zh-CN" dirty="0"/>
              <a:t>Start to read the first </a:t>
            </a:r>
            <a:r>
              <a:rPr kumimoji="1" lang="en-US" altLang="zh-CN" dirty="0" err="1"/>
              <a:t>demuxer</a:t>
            </a:r>
            <a:r>
              <a:rPr kumimoji="1" lang="en-US" altLang="zh-CN" dirty="0"/>
              <a:t>: </a:t>
            </a:r>
            <a:r>
              <a:rPr kumimoji="1" lang="en-US" altLang="zh-CN" dirty="0" err="1"/>
              <a:t>libavformat</a:t>
            </a:r>
            <a:r>
              <a:rPr kumimoji="1" lang="en-US" altLang="zh-CN" dirty="0"/>
              <a:t>/4xm.c</a:t>
            </a:r>
            <a:endParaRPr kumimoji="1" lang="zh-CN" altLang="en-US" dirty="0"/>
          </a:p>
        </p:txBody>
      </p:sp>
      <p:pic>
        <p:nvPicPr>
          <p:cNvPr id="4" name="图片 3"/>
          <p:cNvPicPr>
            <a:picLocks noChangeAspect="1"/>
          </p:cNvPicPr>
          <p:nvPr/>
        </p:nvPicPr>
        <p:blipFill>
          <a:blip r:embed="rId1"/>
          <a:stretch>
            <a:fillRect/>
          </a:stretch>
        </p:blipFill>
        <p:spPr>
          <a:xfrm>
            <a:off x="1259632" y="1784906"/>
            <a:ext cx="7225680" cy="370122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图片 3"/>
          <p:cNvPicPr>
            <a:picLocks noChangeAspect="1"/>
          </p:cNvPicPr>
          <p:nvPr/>
        </p:nvPicPr>
        <p:blipFill>
          <a:blip r:embed="rId1"/>
          <a:stretch>
            <a:fillRect/>
          </a:stretch>
        </p:blipFill>
        <p:spPr>
          <a:xfrm>
            <a:off x="0" y="0"/>
            <a:ext cx="9144000" cy="2359742"/>
          </a:xfrm>
          <a:prstGeom prst="rect">
            <a:avLst/>
          </a:prstGeom>
        </p:spPr>
      </p:pic>
      <p:pic>
        <p:nvPicPr>
          <p:cNvPr id="5" name="图片 4"/>
          <p:cNvPicPr>
            <a:picLocks noChangeAspect="1"/>
          </p:cNvPicPr>
          <p:nvPr/>
        </p:nvPicPr>
        <p:blipFill>
          <a:blip r:embed="rId2"/>
          <a:stretch>
            <a:fillRect/>
          </a:stretch>
        </p:blipFill>
        <p:spPr>
          <a:xfrm>
            <a:off x="35497" y="2065412"/>
            <a:ext cx="7272807" cy="2593885"/>
          </a:xfrm>
          <a:prstGeom prst="rect">
            <a:avLst/>
          </a:prstGeom>
        </p:spPr>
      </p:pic>
      <p:sp>
        <p:nvSpPr>
          <p:cNvPr id="6" name="文本框 5"/>
          <p:cNvSpPr txBox="1"/>
          <p:nvPr/>
        </p:nvSpPr>
        <p:spPr>
          <a:xfrm>
            <a:off x="1800199" y="4585692"/>
            <a:ext cx="1152128" cy="523220"/>
          </a:xfrm>
          <a:prstGeom prst="rect">
            <a:avLst/>
          </a:prstGeom>
          <a:noFill/>
        </p:spPr>
        <p:txBody>
          <a:bodyPr wrap="square" rtlCol="0">
            <a:spAutoFit/>
          </a:bodyPr>
          <a:lstStyle/>
          <a:p>
            <a:pPr algn="ctr"/>
            <a:r>
              <a:rPr kumimoji="1" lang="en-US" altLang="zh-CN" sz="2800" dirty="0" err="1">
                <a:solidFill>
                  <a:srgbClr val="FF0000"/>
                </a:solidFill>
                <a:latin typeface="Arial" panose="020B0604020202020204" pitchFamily="34" charset="0"/>
                <a:cs typeface="Arial" panose="020B0604020202020204" pitchFamily="34" charset="0"/>
              </a:rPr>
              <a:t>int</a:t>
            </a:r>
            <a:endParaRPr kumimoji="1" lang="zh-CN" altLang="en-US" sz="2800" dirty="0">
              <a:solidFill>
                <a:srgbClr val="FF0000"/>
              </a:solidFill>
              <a:latin typeface="Arial" panose="020B0604020202020204" pitchFamily="34" charset="0"/>
              <a:cs typeface="Arial" panose="020B0604020202020204" pitchFamily="34" charset="0"/>
            </a:endParaRPr>
          </a:p>
        </p:txBody>
      </p:sp>
      <p:sp>
        <p:nvSpPr>
          <p:cNvPr id="7" name="文本框 6"/>
          <p:cNvSpPr txBox="1"/>
          <p:nvPr/>
        </p:nvSpPr>
        <p:spPr>
          <a:xfrm>
            <a:off x="3888431" y="4585692"/>
            <a:ext cx="2664296" cy="523220"/>
          </a:xfrm>
          <a:prstGeom prst="rect">
            <a:avLst/>
          </a:prstGeom>
          <a:noFill/>
        </p:spPr>
        <p:txBody>
          <a:bodyPr wrap="square" rtlCol="0">
            <a:spAutoFit/>
          </a:bodyPr>
          <a:lstStyle/>
          <a:p>
            <a:pPr algn="ctr"/>
            <a:r>
              <a:rPr kumimoji="1" lang="en-US" altLang="zh-CN" sz="2800" dirty="0">
                <a:solidFill>
                  <a:srgbClr val="FF0000"/>
                </a:solidFill>
                <a:latin typeface="Arial" panose="020B0604020202020204" pitchFamily="34" charset="0"/>
                <a:cs typeface="Arial" panose="020B0604020202020204" pitchFamily="34" charset="0"/>
              </a:rPr>
              <a:t>unsigned </a:t>
            </a:r>
            <a:r>
              <a:rPr kumimoji="1" lang="en-US" altLang="zh-CN" sz="2800" dirty="0" err="1">
                <a:solidFill>
                  <a:srgbClr val="FF0000"/>
                </a:solidFill>
                <a:latin typeface="Arial" panose="020B0604020202020204" pitchFamily="34" charset="0"/>
                <a:cs typeface="Arial" panose="020B0604020202020204" pitchFamily="34" charset="0"/>
              </a:rPr>
              <a:t>int</a:t>
            </a:r>
            <a:endParaRPr kumimoji="1" lang="zh-CN" altLang="en-US" sz="2800"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Step-3: Trace the Input Data</a:t>
            </a:r>
            <a:endParaRPr kumimoji="1" lang="zh-CN" altLang="en-US" dirty="0"/>
          </a:p>
        </p:txBody>
      </p:sp>
      <p:sp>
        <p:nvSpPr>
          <p:cNvPr id="3" name="内容占位符 2"/>
          <p:cNvSpPr>
            <a:spLocks noGrp="1"/>
          </p:cNvSpPr>
          <p:nvPr>
            <p:ph idx="1"/>
          </p:nvPr>
        </p:nvSpPr>
        <p:spPr/>
        <p:txBody>
          <a:bodyPr/>
          <a:lstStyle/>
          <a:p>
            <a:r>
              <a:rPr kumimoji="1" lang="en-US" altLang="zh-CN" dirty="0"/>
              <a:t>Supplying a value &gt;= 0x80000000 for </a:t>
            </a:r>
            <a:r>
              <a:rPr kumimoji="1" lang="en-US" altLang="zh-CN" dirty="0" err="1">
                <a:solidFill>
                  <a:srgbClr val="FF0000"/>
                </a:solidFill>
              </a:rPr>
              <a:t>current_track</a:t>
            </a:r>
            <a:r>
              <a:rPr kumimoji="1" lang="en-US" altLang="zh-CN" dirty="0">
                <a:solidFill>
                  <a:srgbClr val="FF0000"/>
                </a:solidFill>
              </a:rPr>
              <a:t> </a:t>
            </a:r>
            <a:r>
              <a:rPr kumimoji="1" lang="en-US" altLang="zh-CN" dirty="0"/>
              <a:t>causes a change in sign that results in </a:t>
            </a:r>
            <a:r>
              <a:rPr kumimoji="1" lang="en-US" altLang="zh-CN" dirty="0" err="1">
                <a:solidFill>
                  <a:srgbClr val="FF0000"/>
                </a:solidFill>
              </a:rPr>
              <a:t>current_track</a:t>
            </a:r>
            <a:r>
              <a:rPr kumimoji="1" lang="en-US" altLang="zh-CN" dirty="0">
                <a:solidFill>
                  <a:srgbClr val="FF0000"/>
                </a:solidFill>
              </a:rPr>
              <a:t> </a:t>
            </a:r>
            <a:r>
              <a:rPr kumimoji="1" lang="en-US" altLang="zh-CN" dirty="0"/>
              <a:t>being interpreted as negative</a:t>
            </a:r>
            <a:endParaRPr kumimoji="1" lang="en-US" altLang="zh-CN" dirty="0"/>
          </a:p>
          <a:p>
            <a:r>
              <a:rPr kumimoji="1" lang="en-US" altLang="zh-CN" dirty="0"/>
              <a:t>The</a:t>
            </a:r>
            <a:r>
              <a:rPr kumimoji="1" lang="zh-CN" altLang="en-US" dirty="0"/>
              <a:t> </a:t>
            </a:r>
            <a:r>
              <a:rPr kumimoji="1" lang="en-US" altLang="zh-CN" dirty="0"/>
              <a:t>if statement in line 167 will always return FALSE</a:t>
            </a:r>
            <a:endParaRPr kumimoji="1" lang="en-US" altLang="zh-CN" dirty="0"/>
          </a:p>
          <a:p>
            <a:r>
              <a:rPr kumimoji="1" lang="en-US" altLang="zh-CN" dirty="0"/>
              <a:t>Thus,</a:t>
            </a:r>
            <a:r>
              <a:rPr kumimoji="1" lang="zh-CN" altLang="en-US" dirty="0"/>
              <a:t> </a:t>
            </a:r>
            <a:r>
              <a:rPr kumimoji="1" lang="en-US" altLang="zh-CN" dirty="0"/>
              <a:t>the buffer allocation in line 171 will never be reached</a:t>
            </a:r>
            <a:endParaRPr kumimoji="1"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Step-3: Trace the Input Data</a:t>
            </a:r>
            <a:endParaRPr kumimoji="1" lang="zh-CN" altLang="en-US" dirty="0"/>
          </a:p>
        </p:txBody>
      </p:sp>
      <p:pic>
        <p:nvPicPr>
          <p:cNvPr id="4" name="图片 3"/>
          <p:cNvPicPr>
            <a:picLocks noChangeAspect="1"/>
          </p:cNvPicPr>
          <p:nvPr/>
        </p:nvPicPr>
        <p:blipFill>
          <a:blip r:embed="rId1"/>
          <a:stretch>
            <a:fillRect/>
          </a:stretch>
        </p:blipFill>
        <p:spPr>
          <a:xfrm>
            <a:off x="0" y="1223228"/>
            <a:ext cx="9144000" cy="4226560"/>
          </a:xfrm>
          <a:prstGeom prst="rect">
            <a:avLst/>
          </a:prstGeom>
        </p:spPr>
      </p:pic>
      <p:sp>
        <p:nvSpPr>
          <p:cNvPr id="5" name="矩形 4"/>
          <p:cNvSpPr/>
          <p:nvPr/>
        </p:nvSpPr>
        <p:spPr>
          <a:xfrm>
            <a:off x="1691680" y="1296626"/>
            <a:ext cx="1512168" cy="288032"/>
          </a:xfrm>
          <a:prstGeom prst="rect">
            <a:avLst/>
          </a:prstGeom>
          <a:solidFill>
            <a:srgbClr val="800000">
              <a:alpha val="16000"/>
            </a:srgbClr>
          </a:solidFill>
          <a:ln>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6" name="矩形 5"/>
          <p:cNvSpPr/>
          <p:nvPr/>
        </p:nvSpPr>
        <p:spPr>
          <a:xfrm>
            <a:off x="2892512" y="4104938"/>
            <a:ext cx="1584176" cy="1080120"/>
          </a:xfrm>
          <a:prstGeom prst="rect">
            <a:avLst/>
          </a:prstGeom>
          <a:solidFill>
            <a:srgbClr val="800000">
              <a:alpha val="16000"/>
            </a:srgbClr>
          </a:solidFill>
          <a:ln>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7" name="矩形 6"/>
          <p:cNvSpPr/>
          <p:nvPr/>
        </p:nvSpPr>
        <p:spPr>
          <a:xfrm>
            <a:off x="4067944" y="1561356"/>
            <a:ext cx="1512168" cy="288032"/>
          </a:xfrm>
          <a:prstGeom prst="rect">
            <a:avLst/>
          </a:prstGeom>
          <a:solidFill>
            <a:srgbClr val="800000">
              <a:alpha val="16000"/>
            </a:srgbClr>
          </a:solidFill>
          <a:ln>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1" name="矩形 10"/>
          <p:cNvSpPr/>
          <p:nvPr/>
        </p:nvSpPr>
        <p:spPr>
          <a:xfrm>
            <a:off x="2470020" y="2316389"/>
            <a:ext cx="733828" cy="288032"/>
          </a:xfrm>
          <a:prstGeom prst="rect">
            <a:avLst/>
          </a:prstGeom>
          <a:solidFill>
            <a:schemeClr val="accent6">
              <a:alpha val="16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2123728" y="4093287"/>
            <a:ext cx="733828" cy="1080120"/>
          </a:xfrm>
          <a:prstGeom prst="rect">
            <a:avLst/>
          </a:prstGeom>
          <a:solidFill>
            <a:schemeClr val="accent6">
              <a:alpha val="16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矩形 12"/>
          <p:cNvSpPr/>
          <p:nvPr/>
        </p:nvSpPr>
        <p:spPr>
          <a:xfrm>
            <a:off x="3011128" y="2808794"/>
            <a:ext cx="733828" cy="288032"/>
          </a:xfrm>
          <a:prstGeom prst="rect">
            <a:avLst/>
          </a:prstGeom>
          <a:solidFill>
            <a:schemeClr val="accent6">
              <a:alpha val="16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Step-3: Trace the Input Data</a:t>
            </a:r>
            <a:endParaRPr kumimoji="1" lang="zh-CN" altLang="en-US" dirty="0"/>
          </a:p>
        </p:txBody>
      </p:sp>
      <p:pic>
        <p:nvPicPr>
          <p:cNvPr id="4" name="图片 3"/>
          <p:cNvPicPr>
            <a:picLocks noChangeAspect="1"/>
          </p:cNvPicPr>
          <p:nvPr/>
        </p:nvPicPr>
        <p:blipFill>
          <a:blip r:embed="rId1"/>
          <a:stretch>
            <a:fillRect/>
          </a:stretch>
        </p:blipFill>
        <p:spPr>
          <a:xfrm>
            <a:off x="-36512" y="1201316"/>
            <a:ext cx="9144000" cy="431671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Step-3: Trace the Input Data</a:t>
            </a:r>
            <a:endParaRPr kumimoji="1" lang="zh-CN" altLang="en-US" dirty="0"/>
          </a:p>
        </p:txBody>
      </p:sp>
      <p:pic>
        <p:nvPicPr>
          <p:cNvPr id="4" name="图片 3"/>
          <p:cNvPicPr>
            <a:picLocks noChangeAspect="1"/>
          </p:cNvPicPr>
          <p:nvPr/>
        </p:nvPicPr>
        <p:blipFill>
          <a:blip r:embed="rId1"/>
          <a:stretch>
            <a:fillRect/>
          </a:stretch>
        </p:blipFill>
        <p:spPr>
          <a:xfrm>
            <a:off x="0" y="1273324"/>
            <a:ext cx="9144000" cy="416061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Question</a:t>
            </a:r>
            <a:endParaRPr kumimoji="1" lang="zh-CN" altLang="en-US" dirty="0"/>
          </a:p>
        </p:txBody>
      </p:sp>
      <p:sp>
        <p:nvSpPr>
          <p:cNvPr id="3" name="内容占位符 2"/>
          <p:cNvSpPr>
            <a:spLocks noGrp="1"/>
          </p:cNvSpPr>
          <p:nvPr>
            <p:ph idx="1"/>
          </p:nvPr>
        </p:nvSpPr>
        <p:spPr/>
        <p:txBody>
          <a:bodyPr/>
          <a:lstStyle/>
          <a:p>
            <a:r>
              <a:rPr kumimoji="1" lang="en-US" altLang="zh-CN" dirty="0"/>
              <a:t>How</a:t>
            </a:r>
            <a:r>
              <a:rPr kumimoji="1" lang="zh-CN" altLang="en-US" dirty="0"/>
              <a:t> </a:t>
            </a:r>
            <a:r>
              <a:rPr kumimoji="1" lang="en-US" altLang="zh-CN" dirty="0"/>
              <a:t>can</a:t>
            </a:r>
            <a:r>
              <a:rPr kumimoji="1" lang="zh-CN" altLang="en-US" dirty="0"/>
              <a:t> </a:t>
            </a:r>
            <a:r>
              <a:rPr kumimoji="1" lang="en-US" altLang="zh-CN" dirty="0"/>
              <a:t>we</a:t>
            </a:r>
            <a:r>
              <a:rPr kumimoji="1" lang="zh-CN" altLang="en-US" dirty="0"/>
              <a:t> </a:t>
            </a:r>
            <a:r>
              <a:rPr kumimoji="1" lang="en-US" altLang="zh-CN" dirty="0"/>
              <a:t>use</a:t>
            </a:r>
            <a:r>
              <a:rPr kumimoji="1" lang="zh-CN" altLang="en-US" dirty="0"/>
              <a:t> </a:t>
            </a:r>
            <a:r>
              <a:rPr kumimoji="1" lang="en-US" altLang="zh-CN" dirty="0"/>
              <a:t>taint</a:t>
            </a:r>
            <a:r>
              <a:rPr kumimoji="1" lang="zh-CN" altLang="en-US" dirty="0"/>
              <a:t> </a:t>
            </a:r>
            <a:r>
              <a:rPr kumimoji="1" lang="en-US" altLang="zh-CN" dirty="0"/>
              <a:t>tracking</a:t>
            </a:r>
            <a:r>
              <a:rPr kumimoji="1" lang="zh-CN" altLang="en-US" dirty="0"/>
              <a:t> </a:t>
            </a:r>
            <a:r>
              <a:rPr kumimoji="1" lang="en-US" altLang="zh-CN" dirty="0"/>
              <a:t>to</a:t>
            </a:r>
            <a:r>
              <a:rPr kumimoji="1" lang="zh-CN" altLang="en-US" dirty="0"/>
              <a:t> </a:t>
            </a:r>
            <a:r>
              <a:rPr kumimoji="1" lang="en-US" altLang="zh-CN" dirty="0"/>
              <a:t>find</a:t>
            </a:r>
            <a:r>
              <a:rPr kumimoji="1" lang="zh-CN" altLang="en-US" dirty="0"/>
              <a:t> </a:t>
            </a:r>
            <a:r>
              <a:rPr kumimoji="1" lang="en-US" altLang="zh-CN" dirty="0"/>
              <a:t>such</a:t>
            </a:r>
            <a:r>
              <a:rPr kumimoji="1" lang="zh-CN" altLang="en-US" dirty="0"/>
              <a:t> </a:t>
            </a:r>
            <a:r>
              <a:rPr kumimoji="1" lang="en-US" altLang="zh-CN" dirty="0"/>
              <a:t>bugs?</a:t>
            </a:r>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r>
              <a:rPr lang="en-US" dirty="0" err="1"/>
              <a:t>TaintCheck</a:t>
            </a:r>
            <a:r>
              <a:rPr lang="en-US" dirty="0"/>
              <a:t>: Basic Ideas</a:t>
            </a:r>
            <a:endParaRPr lang="en-US" dirty="0"/>
          </a:p>
        </p:txBody>
      </p:sp>
      <p:sp>
        <p:nvSpPr>
          <p:cNvPr id="252931" name="Rectangle 3"/>
          <p:cNvSpPr>
            <a:spLocks noGrp="1" noChangeArrowheads="1"/>
          </p:cNvSpPr>
          <p:nvPr>
            <p:ph type="body" idx="1"/>
          </p:nvPr>
        </p:nvSpPr>
        <p:spPr/>
        <p:txBody>
          <a:bodyPr>
            <a:noAutofit/>
          </a:bodyPr>
          <a:lstStyle/>
          <a:p>
            <a:pPr marL="476250" indent="-476250">
              <a:buFont typeface="Wingdings" panose="05000000000000000000" pitchFamily="2" charset="2"/>
              <a:buAutoNum type="arabicPeriod"/>
            </a:pPr>
            <a:r>
              <a:rPr lang="en-US" sz="2000" b="0" dirty="0"/>
              <a:t>Program execution normally derived </a:t>
            </a:r>
            <a:br>
              <a:rPr lang="zh-CN" altLang="en-US" sz="2000" b="0" dirty="0"/>
            </a:br>
            <a:r>
              <a:rPr lang="en-US" sz="2000" b="0" dirty="0"/>
              <a:t>from trusted sources, not attacker input</a:t>
            </a:r>
            <a:endParaRPr lang="en-US" sz="2000" b="0" dirty="0"/>
          </a:p>
          <a:p>
            <a:pPr marL="476250" indent="-476250">
              <a:buFont typeface="Wingdings" panose="05000000000000000000" pitchFamily="2" charset="2"/>
              <a:buAutoNum type="arabicPeriod"/>
            </a:pPr>
            <a:r>
              <a:rPr lang="en-US" sz="2000" b="0" dirty="0"/>
              <a:t>Mark all input data to the computer as "tainted" (e.g., network, stdin, etc.)</a:t>
            </a:r>
            <a:endParaRPr lang="en-US" sz="2000" b="0" dirty="0"/>
          </a:p>
          <a:p>
            <a:pPr marL="476250" indent="-476250">
              <a:buFont typeface="Wingdings" panose="05000000000000000000" pitchFamily="2" charset="2"/>
              <a:buAutoNum type="arabicPeriod"/>
            </a:pPr>
            <a:r>
              <a:rPr lang="en-US" sz="2000" b="0" dirty="0"/>
              <a:t>Monitor program execution and track how tainted data propagates (follow bytes, arithmetic operations, jump addresses, etc.)</a:t>
            </a:r>
            <a:endParaRPr lang="en-US" sz="2000" b="0" dirty="0"/>
          </a:p>
          <a:p>
            <a:pPr marL="476250" indent="-476250">
              <a:buFont typeface="Wingdings" panose="05000000000000000000" pitchFamily="2" charset="2"/>
              <a:buAutoNum type="arabicPeriod"/>
            </a:pPr>
            <a:r>
              <a:rPr lang="en-US" sz="2000" b="0" dirty="0"/>
              <a:t>Detect when tainted data is used in dangerous ways</a:t>
            </a:r>
            <a:endParaRPr lang="en-US" sz="2000" b="0" dirty="0"/>
          </a:p>
        </p:txBody>
      </p:sp>
      <p:pic>
        <p:nvPicPr>
          <p:cNvPr id="4" name="图片 3"/>
          <p:cNvPicPr>
            <a:picLocks noChangeAspect="1"/>
          </p:cNvPicPr>
          <p:nvPr/>
        </p:nvPicPr>
        <p:blipFill>
          <a:blip r:embed="rId1"/>
          <a:stretch>
            <a:fillRect/>
          </a:stretch>
        </p:blipFill>
        <p:spPr>
          <a:xfrm>
            <a:off x="6295054" y="121196"/>
            <a:ext cx="2599758" cy="172819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en-US" dirty="0"/>
              <a:t>Add Taint Checking code</a:t>
            </a:r>
            <a:endParaRPr lang="en-US" dirty="0"/>
          </a:p>
        </p:txBody>
      </p:sp>
      <p:sp>
        <p:nvSpPr>
          <p:cNvPr id="253955" name="Rectangle 3"/>
          <p:cNvSpPr>
            <a:spLocks noGrp="1" noChangeArrowheads="1"/>
          </p:cNvSpPr>
          <p:nvPr>
            <p:ph type="body" idx="1"/>
          </p:nvPr>
        </p:nvSpPr>
        <p:spPr/>
        <p:txBody>
          <a:bodyPr>
            <a:normAutofit/>
          </a:bodyPr>
          <a:lstStyle/>
          <a:p>
            <a:r>
              <a:rPr lang="en-US" sz="2000" dirty="0" err="1"/>
              <a:t>TaintCheck</a:t>
            </a:r>
            <a:r>
              <a:rPr lang="en-US" sz="2000" dirty="0"/>
              <a:t> first runs the code through an emulation environment (</a:t>
            </a:r>
            <a:r>
              <a:rPr lang="en-US" sz="2000" dirty="0" err="1"/>
              <a:t>Valgrind</a:t>
            </a:r>
            <a:r>
              <a:rPr lang="en-US" sz="2000" dirty="0"/>
              <a:t>) and adds instructions to monitor tainted memory</a:t>
            </a:r>
            <a:endParaRPr lang="en-US" sz="2000" dirty="0"/>
          </a:p>
          <a:p>
            <a:endParaRPr lang="en-US" sz="2000" dirty="0"/>
          </a:p>
        </p:txBody>
      </p:sp>
      <p:sp>
        <p:nvSpPr>
          <p:cNvPr id="253957" name="Rectangle 5"/>
          <p:cNvSpPr>
            <a:spLocks noChangeArrowheads="1"/>
          </p:cNvSpPr>
          <p:nvPr/>
        </p:nvSpPr>
        <p:spPr bwMode="auto">
          <a:xfrm>
            <a:off x="2667000" y="3149614"/>
            <a:ext cx="1333500" cy="1079500"/>
          </a:xfrm>
          <a:prstGeom prst="rect">
            <a:avLst/>
          </a:prstGeom>
          <a:solidFill>
            <a:schemeClr val="bg1"/>
          </a:solidFill>
          <a:ln w="9525">
            <a:solidFill>
              <a:schemeClr val="tx1"/>
            </a:solidFill>
            <a:miter lim="800000"/>
          </a:ln>
          <a:effectLst/>
        </p:spPr>
        <p:txBody>
          <a:bodyPr wrap="none" anchor="ctr"/>
          <a:lstStyle/>
          <a:p>
            <a:pPr algn="ctr"/>
            <a:r>
              <a:rPr lang="en-US" sz="1500" b="1" dirty="0">
                <a:latin typeface="等线" panose="02010600030101010101" charset="-122"/>
                <a:cs typeface="Myriad Pro Light SemiCond"/>
              </a:rPr>
              <a:t>Binary re-writer</a:t>
            </a:r>
            <a:endParaRPr lang="en-US" sz="1500" b="1" dirty="0">
              <a:latin typeface="等线" panose="02010600030101010101" charset="-122"/>
              <a:cs typeface="Myriad Pro Light SemiCond"/>
            </a:endParaRPr>
          </a:p>
        </p:txBody>
      </p:sp>
      <p:sp>
        <p:nvSpPr>
          <p:cNvPr id="253958" name="Rectangle 6"/>
          <p:cNvSpPr>
            <a:spLocks noChangeArrowheads="1"/>
          </p:cNvSpPr>
          <p:nvPr/>
        </p:nvSpPr>
        <p:spPr bwMode="auto">
          <a:xfrm>
            <a:off x="5143500" y="3530614"/>
            <a:ext cx="1143000" cy="762000"/>
          </a:xfrm>
          <a:prstGeom prst="rect">
            <a:avLst/>
          </a:prstGeom>
          <a:solidFill>
            <a:schemeClr val="bg1"/>
          </a:solidFill>
          <a:ln w="9525">
            <a:solidFill>
              <a:schemeClr val="tx1"/>
            </a:solidFill>
            <a:miter lim="800000"/>
          </a:ln>
          <a:effectLst/>
        </p:spPr>
        <p:txBody>
          <a:bodyPr wrap="none" anchor="ctr"/>
          <a:lstStyle/>
          <a:p>
            <a:pPr algn="ctr"/>
            <a:r>
              <a:rPr lang="en-US" sz="1500" b="1" dirty="0">
                <a:latin typeface="等线" panose="02010600030101010101" charset="-122"/>
                <a:cs typeface="Myriad Pro Light SemiCond"/>
              </a:rPr>
              <a:t>Taint Check</a:t>
            </a:r>
            <a:endParaRPr lang="en-US" sz="1500" b="1" dirty="0">
              <a:latin typeface="等线" panose="02010600030101010101" charset="-122"/>
              <a:cs typeface="Myriad Pro Light SemiCond"/>
            </a:endParaRPr>
          </a:p>
        </p:txBody>
      </p:sp>
      <p:sp>
        <p:nvSpPr>
          <p:cNvPr id="253961" name="AutoShape 9"/>
          <p:cNvSpPr>
            <a:spLocks noChangeArrowheads="1"/>
          </p:cNvSpPr>
          <p:nvPr/>
        </p:nvSpPr>
        <p:spPr bwMode="auto">
          <a:xfrm>
            <a:off x="4127500" y="2832114"/>
            <a:ext cx="1460500" cy="611188"/>
          </a:xfrm>
          <a:prstGeom prst="curvedDownArrow">
            <a:avLst>
              <a:gd name="adj1" fmla="val 47792"/>
              <a:gd name="adj2" fmla="val 95584"/>
              <a:gd name="adj3" fmla="val 33333"/>
            </a:avLst>
          </a:prstGeom>
          <a:solidFill>
            <a:schemeClr val="accent1"/>
          </a:solidFill>
          <a:ln w="9525">
            <a:solidFill>
              <a:schemeClr val="tx1"/>
            </a:solidFill>
            <a:miter lim="800000"/>
          </a:ln>
          <a:effectLst/>
        </p:spPr>
        <p:txBody>
          <a:bodyPr wrap="none" anchor="ctr"/>
          <a:lstStyle/>
          <a:p>
            <a:endParaRPr lang="en-US" sz="1500" b="1" dirty="0">
              <a:latin typeface="等线" panose="02010600030101010101" charset="-122"/>
              <a:cs typeface="Myriad Pro Light SemiCond"/>
            </a:endParaRPr>
          </a:p>
        </p:txBody>
      </p:sp>
      <p:sp>
        <p:nvSpPr>
          <p:cNvPr id="253963" name="AutoShape 11"/>
          <p:cNvSpPr>
            <a:spLocks noChangeArrowheads="1"/>
          </p:cNvSpPr>
          <p:nvPr/>
        </p:nvSpPr>
        <p:spPr bwMode="auto">
          <a:xfrm rot="10800000">
            <a:off x="3873500" y="4356114"/>
            <a:ext cx="1460500" cy="611188"/>
          </a:xfrm>
          <a:prstGeom prst="curvedDownArrow">
            <a:avLst>
              <a:gd name="adj1" fmla="val 47792"/>
              <a:gd name="adj2" fmla="val 95584"/>
              <a:gd name="adj3" fmla="val 33333"/>
            </a:avLst>
          </a:prstGeom>
          <a:solidFill>
            <a:schemeClr val="accent1"/>
          </a:solidFill>
          <a:ln w="9525">
            <a:solidFill>
              <a:schemeClr val="tx1"/>
            </a:solidFill>
            <a:miter lim="800000"/>
          </a:ln>
          <a:effectLst/>
        </p:spPr>
        <p:txBody>
          <a:bodyPr wrap="none" anchor="ctr"/>
          <a:lstStyle/>
          <a:p>
            <a:endParaRPr lang="en-US" sz="1500" b="1" dirty="0">
              <a:latin typeface="等线" panose="02010600030101010101" charset="-122"/>
              <a:cs typeface="Myriad Pro Light SemiCond"/>
            </a:endParaRPr>
          </a:p>
        </p:txBody>
      </p:sp>
      <p:sp>
        <p:nvSpPr>
          <p:cNvPr id="253972" name="Line 20"/>
          <p:cNvSpPr>
            <a:spLocks noChangeShapeType="1"/>
          </p:cNvSpPr>
          <p:nvPr/>
        </p:nvSpPr>
        <p:spPr bwMode="auto">
          <a:xfrm>
            <a:off x="2095500" y="2768614"/>
            <a:ext cx="0" cy="571500"/>
          </a:xfrm>
          <a:prstGeom prst="line">
            <a:avLst/>
          </a:prstGeom>
          <a:noFill/>
          <a:ln w="9525">
            <a:solidFill>
              <a:schemeClr val="tx1"/>
            </a:solidFill>
            <a:round/>
          </a:ln>
          <a:effectLst/>
        </p:spPr>
        <p:txBody>
          <a:bodyPr/>
          <a:lstStyle/>
          <a:p>
            <a:endParaRPr lang="en-US" sz="1500" b="1" dirty="0">
              <a:latin typeface="等线" panose="02010600030101010101" charset="-122"/>
              <a:cs typeface="Myriad Pro Light SemiCond"/>
            </a:endParaRPr>
          </a:p>
        </p:txBody>
      </p:sp>
      <p:sp>
        <p:nvSpPr>
          <p:cNvPr id="253973" name="Line 21"/>
          <p:cNvSpPr>
            <a:spLocks noChangeShapeType="1"/>
          </p:cNvSpPr>
          <p:nvPr/>
        </p:nvSpPr>
        <p:spPr bwMode="auto">
          <a:xfrm>
            <a:off x="2095500" y="3340114"/>
            <a:ext cx="571500" cy="0"/>
          </a:xfrm>
          <a:prstGeom prst="line">
            <a:avLst/>
          </a:prstGeom>
          <a:noFill/>
          <a:ln w="9525">
            <a:solidFill>
              <a:schemeClr val="tx1"/>
            </a:solidFill>
            <a:round/>
            <a:tailEnd type="triangle" w="med" len="med"/>
          </a:ln>
          <a:effectLst/>
        </p:spPr>
        <p:txBody>
          <a:bodyPr/>
          <a:lstStyle/>
          <a:p>
            <a:endParaRPr lang="en-US" sz="1500" b="1" dirty="0">
              <a:latin typeface="等线" panose="02010600030101010101" charset="-122"/>
              <a:cs typeface="Myriad Pro Light SemiCond"/>
            </a:endParaRPr>
          </a:p>
        </p:txBody>
      </p:sp>
      <p:sp>
        <p:nvSpPr>
          <p:cNvPr id="253974" name="Line 22"/>
          <p:cNvSpPr>
            <a:spLocks noChangeShapeType="1"/>
          </p:cNvSpPr>
          <p:nvPr/>
        </p:nvSpPr>
        <p:spPr bwMode="auto">
          <a:xfrm flipH="1">
            <a:off x="2095500" y="3975114"/>
            <a:ext cx="571500" cy="0"/>
          </a:xfrm>
          <a:prstGeom prst="line">
            <a:avLst/>
          </a:prstGeom>
          <a:noFill/>
          <a:ln w="9525">
            <a:solidFill>
              <a:schemeClr val="tx1"/>
            </a:solidFill>
            <a:round/>
          </a:ln>
          <a:effectLst/>
        </p:spPr>
        <p:txBody>
          <a:bodyPr/>
          <a:lstStyle/>
          <a:p>
            <a:endParaRPr lang="en-US" sz="1500" b="1" dirty="0">
              <a:latin typeface="等线" panose="02010600030101010101" charset="-122"/>
              <a:cs typeface="Myriad Pro Light SemiCond"/>
            </a:endParaRPr>
          </a:p>
        </p:txBody>
      </p:sp>
      <p:sp>
        <p:nvSpPr>
          <p:cNvPr id="253975" name="Line 23"/>
          <p:cNvSpPr>
            <a:spLocks noChangeShapeType="1"/>
          </p:cNvSpPr>
          <p:nvPr/>
        </p:nvSpPr>
        <p:spPr bwMode="auto">
          <a:xfrm>
            <a:off x="2095500" y="3975114"/>
            <a:ext cx="0" cy="381000"/>
          </a:xfrm>
          <a:prstGeom prst="line">
            <a:avLst/>
          </a:prstGeom>
          <a:noFill/>
          <a:ln w="9525">
            <a:solidFill>
              <a:schemeClr val="tx1"/>
            </a:solidFill>
            <a:round/>
            <a:tailEnd type="triangle" w="med" len="med"/>
          </a:ln>
          <a:effectLst/>
        </p:spPr>
        <p:txBody>
          <a:bodyPr/>
          <a:lstStyle/>
          <a:p>
            <a:endParaRPr lang="en-US" sz="1500" b="1" dirty="0">
              <a:latin typeface="等线" panose="02010600030101010101" charset="-122"/>
              <a:cs typeface="Myriad Pro Light SemiCond"/>
            </a:endParaRPr>
          </a:p>
        </p:txBody>
      </p:sp>
      <p:sp>
        <p:nvSpPr>
          <p:cNvPr id="253978" name="Text Box 26"/>
          <p:cNvSpPr txBox="1">
            <a:spLocks noChangeArrowheads="1"/>
          </p:cNvSpPr>
          <p:nvPr/>
        </p:nvSpPr>
        <p:spPr bwMode="auto">
          <a:xfrm>
            <a:off x="1891771" y="2418042"/>
            <a:ext cx="1587294" cy="323165"/>
          </a:xfrm>
          <a:prstGeom prst="rect">
            <a:avLst/>
          </a:prstGeom>
          <a:noFill/>
          <a:ln w="9525">
            <a:noFill/>
            <a:miter lim="800000"/>
          </a:ln>
          <a:effectLst/>
        </p:spPr>
        <p:txBody>
          <a:bodyPr wrap="none">
            <a:spAutoFit/>
          </a:bodyPr>
          <a:lstStyle/>
          <a:p>
            <a:r>
              <a:rPr lang="en-US" sz="1500" b="1" dirty="0">
                <a:latin typeface="等线" panose="02010600030101010101" charset="-122"/>
                <a:cs typeface="Myriad Pro Light SemiCond"/>
              </a:rPr>
              <a:t>X86 instructions</a:t>
            </a:r>
            <a:endParaRPr lang="en-US" sz="1500" b="1" dirty="0">
              <a:latin typeface="等线" panose="02010600030101010101" charset="-122"/>
              <a:cs typeface="Myriad Pro Light SemiCond"/>
            </a:endParaRPr>
          </a:p>
        </p:txBody>
      </p:sp>
      <p:sp>
        <p:nvSpPr>
          <p:cNvPr id="253979" name="Text Box 27"/>
          <p:cNvSpPr txBox="1">
            <a:spLocks noChangeArrowheads="1"/>
          </p:cNvSpPr>
          <p:nvPr/>
        </p:nvSpPr>
        <p:spPr bwMode="auto">
          <a:xfrm>
            <a:off x="4381500" y="2514615"/>
            <a:ext cx="772969" cy="323165"/>
          </a:xfrm>
          <a:prstGeom prst="rect">
            <a:avLst/>
          </a:prstGeom>
          <a:noFill/>
          <a:ln w="9525">
            <a:noFill/>
            <a:miter lim="800000"/>
          </a:ln>
          <a:effectLst/>
        </p:spPr>
        <p:txBody>
          <a:bodyPr wrap="none">
            <a:spAutoFit/>
          </a:bodyPr>
          <a:lstStyle/>
          <a:p>
            <a:r>
              <a:rPr lang="en-US" sz="1500" b="1" dirty="0" err="1">
                <a:latin typeface="等线" panose="02010600030101010101" charset="-122"/>
                <a:cs typeface="Myriad Pro Light SemiCond"/>
              </a:rPr>
              <a:t>UCode</a:t>
            </a:r>
            <a:endParaRPr lang="en-US" sz="1500" b="1" dirty="0">
              <a:latin typeface="等线" panose="02010600030101010101" charset="-122"/>
              <a:cs typeface="Myriad Pro Light SemiCond"/>
            </a:endParaRPr>
          </a:p>
        </p:txBody>
      </p:sp>
      <p:sp>
        <p:nvSpPr>
          <p:cNvPr id="253980" name="Text Box 28"/>
          <p:cNvSpPr txBox="1">
            <a:spLocks noChangeArrowheads="1"/>
          </p:cNvSpPr>
          <p:nvPr/>
        </p:nvSpPr>
        <p:spPr bwMode="auto">
          <a:xfrm>
            <a:off x="4495271" y="4958042"/>
            <a:ext cx="772969" cy="323165"/>
          </a:xfrm>
          <a:prstGeom prst="rect">
            <a:avLst/>
          </a:prstGeom>
          <a:noFill/>
          <a:ln w="9525">
            <a:noFill/>
            <a:miter lim="800000"/>
          </a:ln>
          <a:effectLst/>
        </p:spPr>
        <p:txBody>
          <a:bodyPr wrap="none">
            <a:spAutoFit/>
          </a:bodyPr>
          <a:lstStyle/>
          <a:p>
            <a:r>
              <a:rPr lang="en-US" sz="1500" b="1" dirty="0" err="1">
                <a:latin typeface="等线" panose="02010600030101010101" charset="-122"/>
                <a:cs typeface="Myriad Pro Light SemiCond"/>
              </a:rPr>
              <a:t>UCode</a:t>
            </a:r>
            <a:endParaRPr lang="en-US" sz="1500" b="1" dirty="0">
              <a:latin typeface="等线" panose="02010600030101010101" charset="-122"/>
              <a:cs typeface="Myriad Pro Light SemiCond"/>
            </a:endParaRPr>
          </a:p>
        </p:txBody>
      </p:sp>
      <p:sp>
        <p:nvSpPr>
          <p:cNvPr id="253981" name="Text Box 29"/>
          <p:cNvSpPr txBox="1">
            <a:spLocks noChangeArrowheads="1"/>
          </p:cNvSpPr>
          <p:nvPr/>
        </p:nvSpPr>
        <p:spPr bwMode="auto">
          <a:xfrm>
            <a:off x="1841500" y="4356114"/>
            <a:ext cx="1587294" cy="553998"/>
          </a:xfrm>
          <a:prstGeom prst="rect">
            <a:avLst/>
          </a:prstGeom>
          <a:noFill/>
          <a:ln w="9525">
            <a:noFill/>
            <a:miter lim="800000"/>
          </a:ln>
          <a:effectLst/>
        </p:spPr>
        <p:txBody>
          <a:bodyPr wrap="none">
            <a:spAutoFit/>
          </a:bodyPr>
          <a:lstStyle/>
          <a:p>
            <a:r>
              <a:rPr lang="en-US" sz="1500" b="1" dirty="0">
                <a:latin typeface="等线" panose="02010600030101010101" charset="-122"/>
                <a:cs typeface="Myriad Pro Light SemiCond"/>
              </a:rPr>
              <a:t>X86 instructions</a:t>
            </a:r>
            <a:endParaRPr lang="en-US" sz="1500" b="1" dirty="0">
              <a:latin typeface="等线" panose="02010600030101010101" charset="-122"/>
              <a:cs typeface="Myriad Pro Light SemiCond"/>
            </a:endParaRPr>
          </a:p>
          <a:p>
            <a:endParaRPr lang="en-US" sz="1500" b="1" dirty="0">
              <a:latin typeface="等线" panose="02010600030101010101" charset="-122"/>
              <a:cs typeface="Myriad Pro Light SemiCond"/>
            </a:endParaRPr>
          </a:p>
        </p:txBody>
      </p:sp>
      <p:sp>
        <p:nvSpPr>
          <p:cNvPr id="253982" name="Text Box 30"/>
          <p:cNvSpPr txBox="1">
            <a:spLocks noChangeArrowheads="1"/>
          </p:cNvSpPr>
          <p:nvPr/>
        </p:nvSpPr>
        <p:spPr bwMode="auto">
          <a:xfrm>
            <a:off x="5651500" y="5054615"/>
            <a:ext cx="2127505" cy="323165"/>
          </a:xfrm>
          <a:prstGeom prst="rect">
            <a:avLst/>
          </a:prstGeom>
          <a:noFill/>
          <a:ln w="9525">
            <a:noFill/>
            <a:miter lim="800000"/>
          </a:ln>
          <a:effectLst/>
        </p:spPr>
        <p:txBody>
          <a:bodyPr wrap="none">
            <a:spAutoFit/>
          </a:bodyPr>
          <a:lstStyle/>
          <a:p>
            <a:r>
              <a:rPr lang="en-US" sz="1500" b="1" dirty="0">
                <a:latin typeface="等线" panose="02010600030101010101" charset="-122"/>
                <a:cs typeface="Myriad Pro Light SemiCond"/>
              </a:rPr>
              <a:t>Dynamic taint analysis</a:t>
            </a:r>
            <a:endParaRPr lang="en-US" sz="1500" b="1" dirty="0">
              <a:latin typeface="等线" panose="02010600030101010101" charset="-122"/>
              <a:cs typeface="Myriad Pro Light SemiCon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a:t>TaintCheck</a:t>
            </a:r>
            <a:r>
              <a:rPr lang="en-US" altLang="zh-CN" dirty="0"/>
              <a:t> Detection Modules</a:t>
            </a:r>
            <a:endParaRPr kumimoji="1" lang="zh-CN" altLang="en-US" dirty="0"/>
          </a:p>
        </p:txBody>
      </p:sp>
      <p:sp>
        <p:nvSpPr>
          <p:cNvPr id="4" name="内容占位符 3"/>
          <p:cNvSpPr>
            <a:spLocks noGrp="1"/>
          </p:cNvSpPr>
          <p:nvPr>
            <p:ph idx="1"/>
          </p:nvPr>
        </p:nvSpPr>
        <p:spPr/>
        <p:txBody>
          <a:bodyPr>
            <a:normAutofit/>
          </a:bodyPr>
          <a:lstStyle/>
          <a:p>
            <a:r>
              <a:rPr kumimoji="1" lang="en-US" altLang="zh-CN" sz="2000" dirty="0" err="1"/>
              <a:t>TaintSeed</a:t>
            </a:r>
            <a:r>
              <a:rPr kumimoji="1" lang="en-US" altLang="zh-CN" sz="2000" dirty="0"/>
              <a:t>: Mark untrusted data as tainted</a:t>
            </a:r>
            <a:endParaRPr kumimoji="1" lang="en-US" altLang="zh-CN" sz="2000" dirty="0"/>
          </a:p>
          <a:p>
            <a:r>
              <a:rPr kumimoji="1" lang="en-US" altLang="zh-CN" sz="2000" dirty="0" err="1"/>
              <a:t>TaintTracker</a:t>
            </a:r>
            <a:r>
              <a:rPr kumimoji="1" lang="en-US" altLang="zh-CN" sz="2000" dirty="0"/>
              <a:t>: Track each instruction, determine if result is tainted</a:t>
            </a:r>
            <a:endParaRPr kumimoji="1" lang="en-US" altLang="zh-CN" sz="2000" dirty="0"/>
          </a:p>
          <a:p>
            <a:r>
              <a:rPr kumimoji="1" lang="en-US" altLang="zh-CN" sz="2000" dirty="0" err="1"/>
              <a:t>TaintAssert</a:t>
            </a:r>
            <a:r>
              <a:rPr kumimoji="1" lang="en-US" altLang="zh-CN" sz="2000" dirty="0"/>
              <a:t>: Check is tainted data is used dangerously</a:t>
            </a:r>
            <a:endParaRPr kumimoji="1" lang="en-US" altLang="zh-CN" sz="2000" dirty="0"/>
          </a:p>
          <a:p>
            <a:endParaRPr kumimoji="1" lang="en-US" altLang="zh-CN" sz="2000" dirty="0"/>
          </a:p>
          <a:p>
            <a:endParaRPr kumimoji="1" lang="zh-CN" altLang="en-US" sz="2000" dirty="0"/>
          </a:p>
        </p:txBody>
      </p:sp>
      <p:pic>
        <p:nvPicPr>
          <p:cNvPr id="5" name="Picture 3" descr="fig1.png"/>
          <p:cNvPicPr>
            <a:picLocks noChangeAspect="1"/>
          </p:cNvPicPr>
          <p:nvPr/>
        </p:nvPicPr>
        <p:blipFill>
          <a:blip r:embed="rId1"/>
          <a:srcRect l="15481" t="42222" r="15481" b="42223"/>
          <a:stretch>
            <a:fillRect/>
          </a:stretch>
        </p:blipFill>
        <p:spPr>
          <a:xfrm>
            <a:off x="683568" y="3001516"/>
            <a:ext cx="7900307" cy="230425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noAutofit/>
          </a:bodyPr>
          <a:lstStyle/>
          <a:p>
            <a:r>
              <a:rPr lang="en-US" sz="2800" dirty="0"/>
              <a:t>Performance Evaluation – CPU Bound Process</a:t>
            </a:r>
            <a:endParaRPr lang="en-US" sz="2800" dirty="0"/>
          </a:p>
        </p:txBody>
      </p:sp>
      <p:sp>
        <p:nvSpPr>
          <p:cNvPr id="268292" name="Rectangle 4"/>
          <p:cNvSpPr>
            <a:spLocks noGrp="1" noChangeArrowheads="1"/>
          </p:cNvSpPr>
          <p:nvPr>
            <p:ph type="body" idx="1"/>
          </p:nvPr>
        </p:nvSpPr>
        <p:spPr/>
        <p:txBody>
          <a:bodyPr>
            <a:normAutofit/>
          </a:bodyPr>
          <a:lstStyle/>
          <a:p>
            <a:r>
              <a:rPr lang="en-US" sz="2000" dirty="0"/>
              <a:t>Hardware: 2.00 GHz Pentium 4, 512 MB RAM, </a:t>
            </a:r>
            <a:r>
              <a:rPr lang="en-US" sz="2000" dirty="0" err="1"/>
              <a:t>RedHat</a:t>
            </a:r>
            <a:r>
              <a:rPr lang="en-US" sz="2000" dirty="0"/>
              <a:t> 8.0</a:t>
            </a:r>
            <a:endParaRPr lang="en-US" sz="2000" dirty="0"/>
          </a:p>
          <a:p>
            <a:r>
              <a:rPr lang="en-US" sz="2000" dirty="0"/>
              <a:t>Application: bzip2(15mb)</a:t>
            </a:r>
            <a:endParaRPr lang="en-US" sz="2000" dirty="0"/>
          </a:p>
          <a:p>
            <a:pPr lvl="1"/>
            <a:r>
              <a:rPr lang="en-US" dirty="0"/>
              <a:t>Normal runtime 8.2s</a:t>
            </a:r>
            <a:endParaRPr lang="en-US" dirty="0"/>
          </a:p>
          <a:p>
            <a:pPr lvl="1"/>
            <a:r>
              <a:rPr lang="en-US" dirty="0" err="1"/>
              <a:t>Valgrind</a:t>
            </a:r>
            <a:r>
              <a:rPr lang="en-US" dirty="0"/>
              <a:t> </a:t>
            </a:r>
            <a:r>
              <a:rPr lang="en-US" dirty="0" err="1"/>
              <a:t>nullgrind</a:t>
            </a:r>
            <a:r>
              <a:rPr lang="en-US" dirty="0"/>
              <a:t> skin runtime: 25.6s (3.1x)</a:t>
            </a:r>
            <a:endParaRPr lang="en-US" dirty="0"/>
          </a:p>
          <a:p>
            <a:pPr lvl="1"/>
            <a:r>
              <a:rPr lang="en-US" dirty="0" err="1"/>
              <a:t>Memcheck</a:t>
            </a:r>
            <a:r>
              <a:rPr lang="en-US" dirty="0"/>
              <a:t> runtime: 109s (13.3x)</a:t>
            </a:r>
            <a:endParaRPr lang="en-US" dirty="0"/>
          </a:p>
          <a:p>
            <a:pPr lvl="1"/>
            <a:r>
              <a:rPr lang="en-US" dirty="0" err="1">
                <a:solidFill>
                  <a:schemeClr val="accent1"/>
                </a:solidFill>
              </a:rPr>
              <a:t>TaintCheck</a:t>
            </a:r>
            <a:r>
              <a:rPr lang="en-US" dirty="0">
                <a:solidFill>
                  <a:schemeClr val="accent1"/>
                </a:solidFill>
              </a:rPr>
              <a:t> runtime: 305s </a:t>
            </a:r>
            <a:r>
              <a:rPr lang="en-US" b="1" dirty="0">
                <a:solidFill>
                  <a:schemeClr val="accent1"/>
                </a:solidFill>
              </a:rPr>
              <a:t>(37.2x)</a:t>
            </a:r>
            <a:endParaRPr lang="en-US" b="1" dirty="0">
              <a:solidFill>
                <a:schemeClr val="accen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en-US" dirty="0"/>
              <a:t>Performance Overhead of Apache</a:t>
            </a:r>
            <a:endParaRPr lang="en-US" dirty="0"/>
          </a:p>
        </p:txBody>
      </p:sp>
      <p:sp>
        <p:nvSpPr>
          <p:cNvPr id="271363" name="Rectangle 3"/>
          <p:cNvSpPr>
            <a:spLocks noGrp="1" noChangeArrowheads="1"/>
          </p:cNvSpPr>
          <p:nvPr>
            <p:ph type="body" idx="1"/>
          </p:nvPr>
        </p:nvSpPr>
        <p:spPr/>
        <p:txBody>
          <a:bodyPr/>
          <a:lstStyle/>
          <a:p>
            <a:r>
              <a:rPr lang="en-US" dirty="0"/>
              <a:t>A more representative case, network and I/O</a:t>
            </a:r>
            <a:endParaRPr lang="en-US" dirty="0"/>
          </a:p>
          <a:p>
            <a:endParaRPr lang="en-US" dirty="0"/>
          </a:p>
        </p:txBody>
      </p:sp>
      <p:pic>
        <p:nvPicPr>
          <p:cNvPr id="271364" name="Picture 4"/>
          <p:cNvPicPr>
            <a:picLocks noChangeAspect="1" noChangeArrowheads="1"/>
          </p:cNvPicPr>
          <p:nvPr/>
        </p:nvPicPr>
        <p:blipFill>
          <a:blip r:embed="rId1"/>
          <a:srcRect/>
          <a:stretch>
            <a:fillRect/>
          </a:stretch>
        </p:blipFill>
        <p:spPr bwMode="auto">
          <a:xfrm>
            <a:off x="1403648" y="1705372"/>
            <a:ext cx="5790952" cy="3793604"/>
          </a:xfrm>
          <a:prstGeom prst="rect">
            <a:avLst/>
          </a:prstGeom>
          <a:noFill/>
          <a:ln w="9525">
            <a:noFill/>
            <a:miter lim="800000"/>
            <a:headEnd/>
            <a:tailEnd/>
          </a:ln>
          <a:effectLst/>
        </p:spPr>
      </p:pic>
      <p:sp>
        <p:nvSpPr>
          <p:cNvPr id="2" name="椭圆 1"/>
          <p:cNvSpPr/>
          <p:nvPr/>
        </p:nvSpPr>
        <p:spPr>
          <a:xfrm>
            <a:off x="6084168" y="4464496"/>
            <a:ext cx="1110432" cy="1057300"/>
          </a:xfrm>
          <a:prstGeom prst="ellipse">
            <a:avLst/>
          </a:prstGeom>
          <a:noFill/>
          <a:ln w="19050">
            <a:solidFill>
              <a:srgbClr val="BE374B"/>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p:cNvSpPr txBox="1"/>
          <p:nvPr/>
        </p:nvSpPr>
        <p:spPr>
          <a:xfrm>
            <a:off x="7194600" y="3937620"/>
            <a:ext cx="1697880" cy="646331"/>
          </a:xfrm>
          <a:prstGeom prst="rect">
            <a:avLst/>
          </a:prstGeom>
          <a:noFill/>
        </p:spPr>
        <p:txBody>
          <a:bodyPr wrap="square" rtlCol="0">
            <a:spAutoFit/>
          </a:bodyPr>
          <a:lstStyle/>
          <a:p>
            <a:r>
              <a:rPr kumimoji="1" lang="en-US" altLang="zh-CN" dirty="0">
                <a:solidFill>
                  <a:schemeClr val="accent1"/>
                </a:solidFill>
              </a:rPr>
              <a:t>Better</a:t>
            </a:r>
            <a:r>
              <a:rPr kumimoji="1" lang="zh-CN" altLang="en-US" dirty="0">
                <a:solidFill>
                  <a:schemeClr val="accent1"/>
                </a:solidFill>
              </a:rPr>
              <a:t> </a:t>
            </a:r>
            <a:r>
              <a:rPr kumimoji="1" lang="en-US" altLang="zh-CN" dirty="0">
                <a:solidFill>
                  <a:schemeClr val="accent1"/>
                </a:solidFill>
              </a:rPr>
              <a:t>performance</a:t>
            </a:r>
            <a:endParaRPr kumimoji="1" lang="en-US" altLang="zh-CN" dirty="0">
              <a:solidFill>
                <a:schemeClr val="accen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kumimoji="1" lang="en-US" altLang="zh-CN" dirty="0"/>
              <a:t>Secure</a:t>
            </a:r>
            <a:r>
              <a:rPr kumimoji="1" lang="zh-CN" altLang="en-US" dirty="0"/>
              <a:t> </a:t>
            </a:r>
            <a:r>
              <a:rPr kumimoji="1" lang="en-US" altLang="zh-CN" dirty="0"/>
              <a:t>Channel</a:t>
            </a:r>
            <a:endParaRPr kumimoji="1" lang="zh-CN" altLang="en-US" dirty="0"/>
          </a:p>
        </p:txBody>
      </p:sp>
      <p:sp>
        <p:nvSpPr>
          <p:cNvPr id="5" name="文本占位符 4"/>
          <p:cNvSpPr>
            <a:spLocks noGrp="1"/>
          </p:cNvSpPr>
          <p:nvPr>
            <p:ph type="body" idx="1"/>
          </p:nvPr>
        </p:nvSpPr>
        <p:spPr/>
        <p:txBody>
          <a:bodyPr/>
          <a:lstStyle/>
          <a:p>
            <a:endParaRPr kumimoji="1"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079612" y="1181366"/>
            <a:ext cx="6984776" cy="4380556"/>
          </a:xfrm>
          <a:prstGeom prst="rect">
            <a:avLst/>
          </a:prstGeom>
        </p:spPr>
      </p:pic>
      <p:sp>
        <p:nvSpPr>
          <p:cNvPr id="7" name="标题 1"/>
          <p:cNvSpPr>
            <a:spLocks noGrp="1"/>
          </p:cNvSpPr>
          <p:nvPr>
            <p:ph type="title"/>
          </p:nvPr>
        </p:nvSpPr>
        <p:spPr>
          <a:xfrm>
            <a:off x="457200" y="228866"/>
            <a:ext cx="8229600" cy="952500"/>
          </a:xfrm>
        </p:spPr>
        <p:txBody>
          <a:bodyPr/>
          <a:lstStyle/>
          <a:p>
            <a:r>
              <a:rPr kumimoji="1" lang="en-US" altLang="zh-CN" dirty="0"/>
              <a:t>Encryption</a:t>
            </a:r>
            <a:r>
              <a:rPr kumimoji="1" lang="zh-CN" altLang="en-US" dirty="0"/>
              <a:t> </a:t>
            </a:r>
            <a:r>
              <a:rPr kumimoji="1" lang="en-US" altLang="zh-CN" dirty="0"/>
              <a:t>Properties</a:t>
            </a:r>
            <a:endParaRPr kumimoji="1" lang="zh-CN" altLang="en-US" dirty="0"/>
          </a:p>
        </p:txBody>
      </p:sp>
      <p:cxnSp>
        <p:nvCxnSpPr>
          <p:cNvPr id="3" name="直线连接符 2"/>
          <p:cNvCxnSpPr/>
          <p:nvPr/>
        </p:nvCxnSpPr>
        <p:spPr>
          <a:xfrm>
            <a:off x="179512" y="3433564"/>
            <a:ext cx="878497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63688" y="1057300"/>
            <a:ext cx="0" cy="381642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pitchFamily="49"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06017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encrypt</a:t>
            </a:r>
            <a:r>
              <a:rPr lang="en-US" altLang="zh-CN" b="1" dirty="0">
                <a:latin typeface="Consolas" panose="020B0609020204030204" pitchFamily="49" charset="0"/>
              </a:rPr>
              <a:t>(</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err="1">
                <a:solidFill>
                  <a:srgbClr val="9335FF"/>
                </a:solidFill>
                <a:latin typeface="Consolas" panose="020B0609020204030204" pitchFamily="49" charset="0"/>
              </a:rPr>
              <a:t>h</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MAC(</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dirty="0">
                <a:latin typeface="Consolas" panose="020B0609020204030204" pitchFamily="49"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endParaRPr lang="en-US" altLang="zh-CN" dirty="0">
              <a:effectLst/>
            </a:endParaRPr>
          </a:p>
        </p:txBody>
      </p:sp>
      <p:sp>
        <p:nvSpPr>
          <p:cNvPr id="19" name="矩形 18"/>
          <p:cNvSpPr/>
          <p:nvPr/>
        </p:nvSpPr>
        <p:spPr>
          <a:xfrm>
            <a:off x="6228184" y="2857500"/>
            <a:ext cx="2387192"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pitchFamily="49" charset="0"/>
              </a:rPr>
              <a:t>m</a:t>
            </a:r>
            <a:r>
              <a:rPr lang="en-US" altLang="zh-CN" b="1" dirty="0">
                <a:solidFill>
                  <a:srgbClr val="FF7C77"/>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decrypt</a:t>
            </a:r>
            <a:r>
              <a:rPr lang="en-US" altLang="zh-CN" b="1" dirty="0">
                <a:latin typeface="Consolas" panose="020B0609020204030204" pitchFamily="49" charset="0"/>
              </a:rPr>
              <a:t>(</a:t>
            </a:r>
            <a:r>
              <a:rPr lang="en-US" altLang="zh-CN" b="1" dirty="0" err="1">
                <a:solidFill>
                  <a:srgbClr val="008E4F"/>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0093FF"/>
                </a:solidFill>
                <a:latin typeface="Consolas" panose="020B0609020204030204" pitchFamily="49" charset="0"/>
              </a:rPr>
              <a:t>c</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a:latin typeface="Consolas" panose="020B0609020204030204" pitchFamily="49" charset="0"/>
              </a:rPr>
              <a:t>MAC(</a:t>
            </a:r>
            <a:r>
              <a:rPr lang="en-US" altLang="zh-CN" b="1" dirty="0">
                <a:solidFill>
                  <a:srgbClr val="008E00"/>
                </a:solidFill>
                <a:latin typeface="Consolas" panose="020B0609020204030204" pitchFamily="49" charset="0"/>
              </a:rPr>
              <a:t>k</a:t>
            </a:r>
            <a:r>
              <a:rPr lang="en-US" altLang="zh-CN" b="1" dirty="0">
                <a:latin typeface="Consolas" panose="020B0609020204030204" pitchFamily="49" charset="0"/>
              </a:rPr>
              <a:t>, </a:t>
            </a:r>
            <a:r>
              <a:rPr lang="en-US" altLang="zh-CN" b="1" dirty="0">
                <a:solidFill>
                  <a:srgbClr val="FF7C77"/>
                </a:solidFill>
                <a:latin typeface="Consolas" panose="020B0609020204030204" pitchFamily="49" charset="0"/>
              </a:rPr>
              <a:t>m</a:t>
            </a:r>
            <a:r>
              <a:rPr lang="en-US" altLang="zh-CN" b="1" dirty="0">
                <a:latin typeface="Consolas" panose="020B0609020204030204" pitchFamily="49" charset="0"/>
              </a:rPr>
              <a:t>) == </a:t>
            </a:r>
            <a:r>
              <a:rPr lang="en-US" altLang="zh-CN" b="1" dirty="0">
                <a:solidFill>
                  <a:srgbClr val="9335FF"/>
                </a:solidFill>
                <a:latin typeface="Consolas" panose="020B0609020204030204" pitchFamily="49" charset="0"/>
              </a:rPr>
              <a:t>h</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a:t>
            </a:r>
            <a:endParaRPr lang="en-US" altLang="zh-CN" dirty="0">
              <a:effectLst/>
            </a:endParaRPr>
          </a:p>
        </p:txBody>
      </p:sp>
      <p:sp>
        <p:nvSpPr>
          <p:cNvPr id="2" name="矩形 1"/>
          <p:cNvSpPr/>
          <p:nvPr/>
        </p:nvSpPr>
        <p:spPr>
          <a:xfrm>
            <a:off x="3822686" y="339435"/>
            <a:ext cx="1324402" cy="646331"/>
          </a:xfrm>
          <a:prstGeom prst="rect">
            <a:avLst/>
          </a:prstGeom>
        </p:spPr>
        <p:txBody>
          <a:bodyPr wrap="none">
            <a:spAutoFit/>
          </a:bodyPr>
          <a:lstStyle/>
          <a:p>
            <a:r>
              <a:rPr lang="en-US" altLang="zh-CN" b="1" dirty="0">
                <a:solidFill>
                  <a:srgbClr val="4C8E00"/>
                </a:solidFill>
                <a:latin typeface="Consolas" panose="020B0609020204030204" pitchFamily="49" charset="0"/>
              </a:rPr>
              <a:t>k=key</a:t>
            </a:r>
            <a:endParaRPr lang="zh-CN" altLang="en-US" b="1" dirty="0">
              <a:solidFill>
                <a:srgbClr val="4C8E00"/>
              </a:solidFill>
              <a:latin typeface="Consolas" panose="020B0609020204030204" pitchFamily="49" charset="0"/>
            </a:endParaRPr>
          </a:p>
          <a:p>
            <a:r>
              <a:rPr lang="en-US" altLang="zh-CN" b="1" dirty="0" err="1">
                <a:solidFill>
                  <a:srgbClr val="FF7C77"/>
                </a:solidFill>
                <a:latin typeface="Consolas" panose="020B0609020204030204" pitchFamily="49" charset="0"/>
              </a:rPr>
              <a:t>m</a:t>
            </a:r>
            <a:r>
              <a:rPr lang="en-US" altLang="zh-CN" b="1" dirty="0">
                <a:solidFill>
                  <a:srgbClr val="FF7C77"/>
                </a:solidFill>
                <a:latin typeface="Consolas" panose="020B0609020204030204" pitchFamily="49" charset="0"/>
              </a:rPr>
              <a:t>=message</a:t>
            </a:r>
            <a:endParaRPr lang="zh-CN" altLang="en-US" dirty="0"/>
          </a:p>
        </p:txBody>
      </p:sp>
      <p:sp>
        <p:nvSpPr>
          <p:cNvPr id="13" name="文本框 12"/>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
        <p:nvSpPr>
          <p:cNvPr id="14" name="文本框 13"/>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线连接符 13"/>
          <p:cNvCxnSpPr/>
          <p:nvPr/>
        </p:nvCxnSpPr>
        <p:spPr>
          <a:xfrm>
            <a:off x="4446216" y="1057300"/>
            <a:ext cx="0" cy="3816424"/>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5" name="直线连接符 4"/>
          <p:cNvCxnSpPr/>
          <p:nvPr/>
        </p:nvCxnSpPr>
        <p:spPr>
          <a:xfrm>
            <a:off x="1763688" y="1057300"/>
            <a:ext cx="0" cy="330859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pitchFamily="49"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06017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encrypt</a:t>
            </a:r>
            <a:r>
              <a:rPr lang="en-US" altLang="zh-CN" b="1" dirty="0">
                <a:latin typeface="Consolas" panose="020B0609020204030204" pitchFamily="49" charset="0"/>
              </a:rPr>
              <a:t>(</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err="1">
                <a:solidFill>
                  <a:srgbClr val="9335FF"/>
                </a:solidFill>
                <a:latin typeface="Consolas" panose="020B0609020204030204" pitchFamily="49" charset="0"/>
              </a:rPr>
              <a:t>h</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MAC(</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dirty="0">
                <a:latin typeface="Consolas" panose="020B0609020204030204" pitchFamily="49"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endParaRPr lang="en-US" altLang="zh-CN" dirty="0">
              <a:effectLst/>
            </a:endParaRPr>
          </a:p>
        </p:txBody>
      </p:sp>
      <p:sp>
        <p:nvSpPr>
          <p:cNvPr id="19" name="矩形 18"/>
          <p:cNvSpPr/>
          <p:nvPr/>
        </p:nvSpPr>
        <p:spPr>
          <a:xfrm>
            <a:off x="6228184" y="2870274"/>
            <a:ext cx="2387192"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pitchFamily="49" charset="0"/>
              </a:rPr>
              <a:t>m</a:t>
            </a:r>
            <a:r>
              <a:rPr lang="en-US" altLang="zh-CN" b="1" dirty="0">
                <a:solidFill>
                  <a:srgbClr val="FF7C77"/>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decrypt</a:t>
            </a:r>
            <a:r>
              <a:rPr lang="en-US" altLang="zh-CN" b="1" dirty="0">
                <a:latin typeface="Consolas" panose="020B0609020204030204" pitchFamily="49" charset="0"/>
              </a:rPr>
              <a:t>(</a:t>
            </a:r>
            <a:r>
              <a:rPr lang="en-US" altLang="zh-CN" b="1" dirty="0" err="1">
                <a:solidFill>
                  <a:srgbClr val="008E4F"/>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0093FF"/>
                </a:solidFill>
                <a:latin typeface="Consolas" panose="020B0609020204030204" pitchFamily="49" charset="0"/>
              </a:rPr>
              <a:t>c</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a:latin typeface="Consolas" panose="020B0609020204030204" pitchFamily="49" charset="0"/>
              </a:rPr>
              <a:t>MAC(</a:t>
            </a:r>
            <a:r>
              <a:rPr lang="en-US" altLang="zh-CN" b="1" dirty="0">
                <a:solidFill>
                  <a:srgbClr val="008E00"/>
                </a:solidFill>
                <a:latin typeface="Consolas" panose="020B0609020204030204" pitchFamily="49" charset="0"/>
              </a:rPr>
              <a:t>k</a:t>
            </a:r>
            <a:r>
              <a:rPr lang="en-US" altLang="zh-CN" b="1" dirty="0">
                <a:latin typeface="Consolas" panose="020B0609020204030204" pitchFamily="49" charset="0"/>
              </a:rPr>
              <a:t>, </a:t>
            </a:r>
            <a:r>
              <a:rPr lang="en-US" altLang="zh-CN" b="1" dirty="0">
                <a:solidFill>
                  <a:srgbClr val="FF7C77"/>
                </a:solidFill>
                <a:latin typeface="Consolas" panose="020B0609020204030204" pitchFamily="49" charset="0"/>
              </a:rPr>
              <a:t>m</a:t>
            </a:r>
            <a:r>
              <a:rPr lang="en-US" altLang="zh-CN" b="1" dirty="0">
                <a:latin typeface="Consolas" panose="020B0609020204030204" pitchFamily="49" charset="0"/>
              </a:rPr>
              <a:t>) == </a:t>
            </a:r>
            <a:r>
              <a:rPr lang="en-US" altLang="zh-CN" b="1" dirty="0">
                <a:solidFill>
                  <a:srgbClr val="9335FF"/>
                </a:solidFill>
                <a:latin typeface="Consolas" panose="020B0609020204030204" pitchFamily="49" charset="0"/>
              </a:rPr>
              <a:t>h </a:t>
            </a:r>
            <a:r>
              <a:rPr lang="en-US" altLang="zh-CN" b="1" dirty="0">
                <a:latin typeface="Consolas" panose="020B0609020204030204" pitchFamily="49" charset="0"/>
              </a:rPr>
              <a:t>?</a:t>
            </a:r>
            <a:r>
              <a:rPr lang="en-US" altLang="zh-CN" b="1" dirty="0">
                <a:latin typeface="Consolas" panose="020B0609020204030204" pitchFamily="49" charset="0"/>
              </a:rPr>
              <a:t> </a:t>
            </a:r>
            <a:endParaRPr lang="en-US" altLang="zh-CN" dirty="0">
              <a:effectLst/>
            </a:endParaRPr>
          </a:p>
        </p:txBody>
      </p:sp>
      <p:cxnSp>
        <p:nvCxnSpPr>
          <p:cNvPr id="13" name="直线箭头连接符 12"/>
          <p:cNvCxnSpPr/>
          <p:nvPr/>
        </p:nvCxnSpPr>
        <p:spPr>
          <a:xfrm>
            <a:off x="4572000" y="4009628"/>
            <a:ext cx="259228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125577" y="481236"/>
            <a:ext cx="724878" cy="507831"/>
          </a:xfrm>
          <a:prstGeom prst="rect">
            <a:avLst/>
          </a:prstGeom>
        </p:spPr>
        <p:txBody>
          <a:bodyPr wrap="none">
            <a:spAutoFit/>
          </a:bodyPr>
          <a:lstStyle/>
          <a:p>
            <a:pPr algn="ctr"/>
            <a:r>
              <a:rPr kumimoji="1" lang="en-US" altLang="zh-CN" sz="2700" b="1" dirty="0">
                <a:solidFill>
                  <a:schemeClr val="accent1"/>
                </a:solidFill>
                <a:latin typeface="等线" panose="02010600030101010101" charset="-122"/>
                <a:ea typeface="楷体" panose="02010609060101010101" charset="-122"/>
                <a:cs typeface="Myriad Pro Light SemiCond"/>
              </a:rPr>
              <a:t>Eve</a:t>
            </a:r>
            <a:endParaRPr lang="en-US" altLang="zh-CN" dirty="0">
              <a:solidFill>
                <a:schemeClr val="accent1"/>
              </a:solidFill>
              <a:effectLst/>
            </a:endParaRPr>
          </a:p>
        </p:txBody>
      </p:sp>
      <p:sp>
        <p:nvSpPr>
          <p:cNvPr id="17" name="矩形 16"/>
          <p:cNvSpPr/>
          <p:nvPr/>
        </p:nvSpPr>
        <p:spPr>
          <a:xfrm>
            <a:off x="5371724" y="3755712"/>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endParaRPr lang="en-US" altLang="zh-CN" dirty="0">
              <a:effectLst/>
            </a:endParaRPr>
          </a:p>
        </p:txBody>
      </p:sp>
      <p:cxnSp>
        <p:nvCxnSpPr>
          <p:cNvPr id="20" name="直线箭头连接符 19"/>
          <p:cNvCxnSpPr/>
          <p:nvPr/>
        </p:nvCxnSpPr>
        <p:spPr>
          <a:xfrm>
            <a:off x="4572000" y="4619809"/>
            <a:ext cx="2592288"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5371724" y="4365893"/>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endParaRPr lang="en-US" altLang="zh-CN" dirty="0">
              <a:effectLst/>
            </a:endParaRPr>
          </a:p>
        </p:txBody>
      </p:sp>
      <p:sp>
        <p:nvSpPr>
          <p:cNvPr id="6" name="矩形 5"/>
          <p:cNvSpPr/>
          <p:nvPr/>
        </p:nvSpPr>
        <p:spPr>
          <a:xfrm>
            <a:off x="323528" y="4226410"/>
            <a:ext cx="8136904" cy="1200329"/>
          </a:xfrm>
          <a:prstGeom prst="rect">
            <a:avLst/>
          </a:prstGeom>
        </p:spPr>
        <p:txBody>
          <a:bodyPr wrap="square">
            <a:spAutoFit/>
          </a:bodyPr>
          <a:lstStyle/>
          <a:p>
            <a:pPr>
              <a:lnSpc>
                <a:spcPct val="150000"/>
              </a:lnSpc>
            </a:pPr>
            <a:r>
              <a:rPr lang="en-US" altLang="zh-CN" sz="2800" b="1" dirty="0">
                <a:latin typeface="Helvetica" charset="0"/>
              </a:rPr>
              <a:t>Problem: </a:t>
            </a:r>
            <a:r>
              <a:rPr lang="en-US" altLang="zh-CN" sz="2800" dirty="0">
                <a:latin typeface="Helvetica" charset="0"/>
              </a:rPr>
              <a:t>replay attacks</a:t>
            </a:r>
            <a:br>
              <a:rPr lang="en-US" altLang="zh-CN" sz="2800" dirty="0">
                <a:latin typeface="Helvetica" charset="0"/>
              </a:rPr>
            </a:br>
            <a:r>
              <a:rPr lang="en-US" altLang="zh-CN" sz="2000" dirty="0">
                <a:latin typeface="Helvetica" charset="0"/>
              </a:rPr>
              <a:t>(adversary could intercept a message, re-send it at a later time) </a:t>
            </a:r>
            <a:endParaRPr lang="en-US" altLang="zh-CN" sz="2000" dirty="0">
              <a:effectLst/>
            </a:endParaRPr>
          </a:p>
        </p:txBody>
      </p:sp>
      <p:sp>
        <p:nvSpPr>
          <p:cNvPr id="22" name="文本框 21"/>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
        <p:nvSpPr>
          <p:cNvPr id="23" name="文本框 22"/>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63688" y="1057300"/>
            <a:ext cx="0" cy="381642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pitchFamily="49"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820003"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encrypt</a:t>
            </a:r>
            <a:r>
              <a:rPr lang="en-US" altLang="zh-CN" b="1" dirty="0">
                <a:latin typeface="Consolas" panose="020B0609020204030204" pitchFamily="49" charset="0"/>
              </a:rPr>
              <a:t>(</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err="1">
                <a:solidFill>
                  <a:srgbClr val="9335FF"/>
                </a:solidFill>
                <a:latin typeface="Consolas" panose="020B0609020204030204" pitchFamily="49" charset="0"/>
              </a:rPr>
              <a:t>h</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MAC(</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latin typeface="Consolas" panose="020B0609020204030204" pitchFamily="49"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endParaRPr lang="en-US" altLang="zh-CN" dirty="0">
              <a:effectLst/>
            </a:endParaRPr>
          </a:p>
        </p:txBody>
      </p:sp>
      <p:sp>
        <p:nvSpPr>
          <p:cNvPr id="19" name="矩形 18"/>
          <p:cNvSpPr/>
          <p:nvPr/>
        </p:nvSpPr>
        <p:spPr>
          <a:xfrm>
            <a:off x="6228184" y="2857500"/>
            <a:ext cx="3147015"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pitchFamily="49" charset="0"/>
              </a:rPr>
              <a:t>m</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solidFill>
                  <a:srgbClr val="FF7C77"/>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decrypt</a:t>
            </a:r>
            <a:r>
              <a:rPr lang="en-US" altLang="zh-CN" b="1" dirty="0">
                <a:latin typeface="Consolas" panose="020B0609020204030204" pitchFamily="49" charset="0"/>
              </a:rPr>
              <a:t>(</a:t>
            </a:r>
            <a:r>
              <a:rPr lang="en-US" altLang="zh-CN" b="1" dirty="0" err="1">
                <a:solidFill>
                  <a:srgbClr val="008E4F"/>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0093FF"/>
                </a:solidFill>
                <a:latin typeface="Consolas" panose="020B0609020204030204" pitchFamily="49" charset="0"/>
              </a:rPr>
              <a:t>c</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a:latin typeface="Consolas" panose="020B0609020204030204" pitchFamily="49" charset="0"/>
              </a:rPr>
              <a:t>MAC(</a:t>
            </a:r>
            <a:r>
              <a:rPr lang="en-US" altLang="zh-CN" b="1" dirty="0" err="1">
                <a:solidFill>
                  <a:srgbClr val="00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dirty="0">
                <a:latin typeface="Consolas" panose="020B0609020204030204" pitchFamily="49" charset="0"/>
              </a:rPr>
              <a:t> |</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latin typeface="Consolas" panose="020B0609020204030204" pitchFamily="49" charset="0"/>
              </a:rPr>
              <a:t>) == </a:t>
            </a:r>
            <a:r>
              <a:rPr lang="en-US" altLang="zh-CN" b="1" dirty="0" err="1">
                <a:solidFill>
                  <a:srgbClr val="9335FF"/>
                </a:solidFill>
                <a:latin typeface="Consolas" panose="020B0609020204030204" pitchFamily="49" charset="0"/>
              </a:rPr>
              <a:t>h</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a:t>
            </a:r>
            <a:r>
              <a:rPr lang="en-US" altLang="zh-CN" b="1" dirty="0">
                <a:latin typeface="Consolas" panose="020B0609020204030204" pitchFamily="49" charset="0"/>
              </a:rPr>
              <a:t> </a:t>
            </a:r>
            <a:endParaRPr lang="en-US" altLang="zh-CN" dirty="0">
              <a:effectLst/>
            </a:endParaRPr>
          </a:p>
        </p:txBody>
      </p:sp>
      <p:sp>
        <p:nvSpPr>
          <p:cNvPr id="13" name="文本框 12"/>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
        <p:nvSpPr>
          <p:cNvPr id="14" name="文本框 13"/>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63688" y="1057300"/>
            <a:ext cx="0" cy="3238326"/>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481236"/>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pitchFamily="49" charset="0"/>
              </a:rPr>
              <a:t> </a:t>
            </a:r>
            <a:endParaRPr lang="en-US" altLang="zh-CN" dirty="0">
              <a:effectLst/>
            </a:endParaRPr>
          </a:p>
        </p:txBody>
      </p:sp>
      <p:cxnSp>
        <p:nvCxnSpPr>
          <p:cNvPr id="10" name="直线连接符 9"/>
          <p:cNvCxnSpPr/>
          <p:nvPr/>
        </p:nvCxnSpPr>
        <p:spPr>
          <a:xfrm>
            <a:off x="7236296" y="1053999"/>
            <a:ext cx="0" cy="374771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477935"/>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755576" y="1345332"/>
            <a:ext cx="2820003"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encrypt</a:t>
            </a:r>
            <a:r>
              <a:rPr lang="en-US" altLang="zh-CN" b="1" dirty="0">
                <a:latin typeface="Consolas" panose="020B0609020204030204" pitchFamily="49" charset="0"/>
              </a:rPr>
              <a:t>(</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err="1">
                <a:solidFill>
                  <a:srgbClr val="9335FF"/>
                </a:solidFill>
                <a:latin typeface="Consolas" panose="020B0609020204030204" pitchFamily="49" charset="0"/>
              </a:rPr>
              <a:t>h</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MAC(</a:t>
            </a:r>
            <a:r>
              <a:rPr lang="en-US" altLang="zh-CN" b="1" dirty="0" err="1">
                <a:solidFill>
                  <a:srgbClr val="4C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latin typeface="Consolas" panose="020B0609020204030204" pitchFamily="49" charset="0"/>
              </a:rPr>
              <a:t>) </a:t>
            </a:r>
            <a:endParaRPr lang="en-US" altLang="zh-CN" dirty="0">
              <a:effectLst/>
            </a:endParaRPr>
          </a:p>
        </p:txBody>
      </p:sp>
      <p:cxnSp>
        <p:nvCxnSpPr>
          <p:cNvPr id="16" name="直线箭头连接符 15"/>
          <p:cNvCxnSpPr/>
          <p:nvPr/>
        </p:nvCxnSpPr>
        <p:spPr>
          <a:xfrm>
            <a:off x="1805487" y="2425452"/>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2137420"/>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endParaRPr lang="en-US" altLang="zh-CN" dirty="0">
              <a:effectLst/>
            </a:endParaRPr>
          </a:p>
        </p:txBody>
      </p:sp>
      <p:sp>
        <p:nvSpPr>
          <p:cNvPr id="19" name="矩形 18"/>
          <p:cNvSpPr/>
          <p:nvPr/>
        </p:nvSpPr>
        <p:spPr>
          <a:xfrm>
            <a:off x="6228184" y="2857500"/>
            <a:ext cx="3092513" cy="888577"/>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pitchFamily="49" charset="0"/>
              </a:rPr>
              <a:t>m</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solidFill>
                  <a:srgbClr val="FF7C77"/>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decrypt</a:t>
            </a:r>
            <a:r>
              <a:rPr lang="en-US" altLang="zh-CN" b="1" dirty="0">
                <a:latin typeface="Consolas" panose="020B0609020204030204" pitchFamily="49" charset="0"/>
              </a:rPr>
              <a:t>(</a:t>
            </a:r>
            <a:r>
              <a:rPr lang="en-US" altLang="zh-CN" b="1" dirty="0" err="1">
                <a:solidFill>
                  <a:srgbClr val="008E4F"/>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0093FF"/>
                </a:solidFill>
                <a:latin typeface="Consolas" panose="020B0609020204030204" pitchFamily="49" charset="0"/>
              </a:rPr>
              <a:t>c</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a:latin typeface="Consolas" panose="020B0609020204030204" pitchFamily="49" charset="0"/>
              </a:rPr>
              <a:t>MAC(</a:t>
            </a:r>
            <a:r>
              <a:rPr lang="en-US" altLang="zh-CN" b="1" dirty="0" err="1">
                <a:solidFill>
                  <a:srgbClr val="008E00"/>
                </a:solidFill>
                <a:latin typeface="Consolas" panose="020B0609020204030204" pitchFamily="49" charset="0"/>
              </a:rPr>
              <a:t>k</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dirty="0">
                <a:latin typeface="Consolas" panose="020B0609020204030204" pitchFamily="49" charset="0"/>
              </a:rPr>
              <a:t> |</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dirty="0">
                <a:latin typeface="Consolas" panose="020B0609020204030204" pitchFamily="49" charset="0"/>
              </a:rPr>
              <a:t>) == </a:t>
            </a:r>
            <a:r>
              <a:rPr lang="en-US" altLang="zh-CN" b="1" dirty="0" err="1">
                <a:solidFill>
                  <a:srgbClr val="9335FF"/>
                </a:solidFill>
                <a:latin typeface="Consolas" panose="020B0609020204030204" pitchFamily="49" charset="0"/>
              </a:rPr>
              <a:t>h</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a:t>
            </a:r>
            <a:r>
              <a:rPr lang="en-US" altLang="zh-CN" b="1" dirty="0">
                <a:latin typeface="Consolas" panose="020B0609020204030204" pitchFamily="49" charset="0"/>
              </a:rPr>
              <a:t> </a:t>
            </a:r>
            <a:endParaRPr lang="en-US" altLang="zh-CN" dirty="0">
              <a:effectLst/>
            </a:endParaRPr>
          </a:p>
        </p:txBody>
      </p:sp>
      <p:cxnSp>
        <p:nvCxnSpPr>
          <p:cNvPr id="13" name="直线连接符 12"/>
          <p:cNvCxnSpPr/>
          <p:nvPr/>
        </p:nvCxnSpPr>
        <p:spPr>
          <a:xfrm>
            <a:off x="4446216" y="1057300"/>
            <a:ext cx="0" cy="3816424"/>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4125577" y="481236"/>
            <a:ext cx="724878" cy="507831"/>
          </a:xfrm>
          <a:prstGeom prst="rect">
            <a:avLst/>
          </a:prstGeom>
        </p:spPr>
        <p:txBody>
          <a:bodyPr wrap="none">
            <a:spAutoFit/>
          </a:bodyPr>
          <a:lstStyle/>
          <a:p>
            <a:pPr algn="ctr"/>
            <a:r>
              <a:rPr kumimoji="1" lang="en-US" altLang="zh-CN" sz="2700" b="1" dirty="0">
                <a:solidFill>
                  <a:schemeClr val="accent1"/>
                </a:solidFill>
                <a:latin typeface="等线" panose="02010600030101010101" charset="-122"/>
                <a:ea typeface="楷体" panose="02010609060101010101" charset="-122"/>
                <a:cs typeface="Myriad Pro Light SemiCond"/>
              </a:rPr>
              <a:t>Eve</a:t>
            </a:r>
            <a:endParaRPr lang="en-US" altLang="zh-CN" dirty="0">
              <a:solidFill>
                <a:schemeClr val="accent1"/>
              </a:solidFill>
              <a:effectLst/>
            </a:endParaRPr>
          </a:p>
        </p:txBody>
      </p:sp>
      <p:cxnSp>
        <p:nvCxnSpPr>
          <p:cNvPr id="15" name="直线箭头连接符 14"/>
          <p:cNvCxnSpPr/>
          <p:nvPr/>
        </p:nvCxnSpPr>
        <p:spPr>
          <a:xfrm flipH="1">
            <a:off x="1835698" y="3529322"/>
            <a:ext cx="2520278" cy="6389"/>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742803" y="3272999"/>
            <a:ext cx="755335"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endParaRPr lang="en-US" altLang="zh-CN" dirty="0">
              <a:effectLst/>
            </a:endParaRPr>
          </a:p>
        </p:txBody>
      </p:sp>
      <p:sp>
        <p:nvSpPr>
          <p:cNvPr id="6" name="矩形 5"/>
          <p:cNvSpPr/>
          <p:nvPr/>
        </p:nvSpPr>
        <p:spPr>
          <a:xfrm>
            <a:off x="467544" y="4369668"/>
            <a:ext cx="8280920" cy="1021626"/>
          </a:xfrm>
          <a:prstGeom prst="rect">
            <a:avLst/>
          </a:prstGeom>
        </p:spPr>
        <p:txBody>
          <a:bodyPr wrap="square">
            <a:spAutoFit/>
          </a:bodyPr>
          <a:lstStyle/>
          <a:p>
            <a:pPr>
              <a:lnSpc>
                <a:spcPct val="150000"/>
              </a:lnSpc>
            </a:pPr>
            <a:r>
              <a:rPr lang="en-US" altLang="zh-CN" sz="2400" b="1" dirty="0">
                <a:latin typeface="Helvetica" charset="0"/>
              </a:rPr>
              <a:t>problem: </a:t>
            </a:r>
            <a:r>
              <a:rPr lang="en-US" altLang="zh-CN" sz="2400" dirty="0">
                <a:latin typeface="Helvetica" charset="0"/>
              </a:rPr>
              <a:t>reflection attacks</a:t>
            </a:r>
            <a:br>
              <a:rPr lang="en-US" altLang="zh-CN" sz="2400" dirty="0">
                <a:latin typeface="Helvetica" charset="0"/>
              </a:rPr>
            </a:br>
            <a:r>
              <a:rPr lang="en-US" altLang="zh-CN" dirty="0">
                <a:latin typeface="Helvetica" charset="0"/>
              </a:rPr>
              <a:t>(adversary could intercept a message, re-send it later</a:t>
            </a:r>
            <a:r>
              <a:rPr lang="zh-CN" altLang="en-US" dirty="0">
                <a:latin typeface="Helvetica" charset="0"/>
              </a:rPr>
              <a:t> </a:t>
            </a:r>
            <a:r>
              <a:rPr lang="en-US" altLang="zh-CN" dirty="0">
                <a:latin typeface="Helvetica" charset="0"/>
              </a:rPr>
              <a:t>in the opposite direction) </a:t>
            </a:r>
            <a:endParaRPr lang="en-US" altLang="zh-CN" dirty="0">
              <a:latin typeface="Helvetica" charset="0"/>
            </a:endParaRPr>
          </a:p>
        </p:txBody>
      </p:sp>
      <p:sp>
        <p:nvSpPr>
          <p:cNvPr id="20" name="文本框 19"/>
          <p:cNvSpPr txBox="1"/>
          <p:nvPr/>
        </p:nvSpPr>
        <p:spPr>
          <a:xfrm>
            <a:off x="1361036" y="118438"/>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
        <p:nvSpPr>
          <p:cNvPr id="21" name="文本框 20"/>
          <p:cNvSpPr txBox="1"/>
          <p:nvPr/>
        </p:nvSpPr>
        <p:spPr>
          <a:xfrm>
            <a:off x="6873977" y="88239"/>
            <a:ext cx="980016" cy="369332"/>
          </a:xfrm>
          <a:prstGeom prst="rect">
            <a:avLst/>
          </a:prstGeom>
          <a:noFill/>
        </p:spPr>
        <p:txBody>
          <a:bodyPr wrap="square">
            <a:spAutoFit/>
          </a:bodyPr>
          <a:lstStyle/>
          <a:p>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k</a:t>
            </a:r>
            <a:endParaRPr lang="zh-CN" altLang="en-US" b="1" dirty="0">
              <a:solidFill>
                <a:srgbClr val="4C8E00"/>
              </a:solidFill>
              <a:latin typeface="Consolas" panose="020B0609020204030204" pitchFamily="49" charset="0"/>
            </a:endParaRPr>
          </a:p>
        </p:txBody>
      </p:sp>
      <p:sp>
        <p:nvSpPr>
          <p:cNvPr id="22" name="文本框 21"/>
          <p:cNvSpPr txBox="1"/>
          <p:nvPr/>
        </p:nvSpPr>
        <p:spPr>
          <a:xfrm>
            <a:off x="2348060" y="3807628"/>
            <a:ext cx="1513785" cy="523220"/>
          </a:xfrm>
          <a:prstGeom prst="rect">
            <a:avLst/>
          </a:prstGeom>
          <a:noFill/>
        </p:spPr>
        <p:txBody>
          <a:bodyPr wrap="square">
            <a:spAutoFit/>
          </a:bodyPr>
          <a:lstStyle/>
          <a:p>
            <a:pPr algn="ctr"/>
            <a:r>
              <a:rPr lang="en-US" altLang="zh-CN" sz="1400" dirty="0">
                <a:latin typeface="Consolas" panose="020B0609020204030204" pitchFamily="49" charset="0"/>
              </a:rPr>
              <a:t>if</a:t>
            </a:r>
            <a:r>
              <a:rPr lang="zh-CN" altLang="en-US" sz="1400" dirty="0">
                <a:latin typeface="Consolas" panose="020B0609020204030204" pitchFamily="49" charset="0"/>
              </a:rPr>
              <a:t> </a:t>
            </a:r>
            <a:r>
              <a:rPr lang="en-US" altLang="zh-CN" sz="1400" dirty="0">
                <a:latin typeface="Consolas" panose="020B0609020204030204" pitchFamily="49" charset="0"/>
              </a:rPr>
              <a:t>reuse</a:t>
            </a:r>
            <a:r>
              <a:rPr lang="zh-CN" altLang="en-US" sz="1400" dirty="0">
                <a:latin typeface="Consolas" panose="020B0609020204030204" pitchFamily="49" charset="0"/>
              </a:rPr>
              <a:t> </a:t>
            </a:r>
            <a:r>
              <a:rPr lang="en-US" altLang="zh-CN" sz="1400" dirty="0">
                <a:latin typeface="Consolas" panose="020B0609020204030204" pitchFamily="49" charset="0"/>
              </a:rPr>
              <a:t>seq</a:t>
            </a:r>
            <a:br>
              <a:rPr lang="en-US" altLang="zh-CN" sz="1400" dirty="0">
                <a:latin typeface="Consolas" panose="020B0609020204030204" pitchFamily="49" charset="0"/>
              </a:rPr>
            </a:br>
            <a:r>
              <a:rPr lang="en-US" altLang="zh-CN" sz="1400" dirty="0">
                <a:latin typeface="Consolas" panose="020B0609020204030204" pitchFamily="49" charset="0"/>
              </a:rPr>
              <a:t>(e.g.,</a:t>
            </a:r>
            <a:r>
              <a:rPr lang="zh-CN" altLang="en-US" sz="1400" dirty="0">
                <a:latin typeface="Consolas" panose="020B0609020204030204" pitchFamily="49" charset="0"/>
              </a:rPr>
              <a:t> </a:t>
            </a:r>
            <a:r>
              <a:rPr lang="en-US" altLang="zh-CN" sz="1400" dirty="0">
                <a:latin typeface="Consolas" panose="020B0609020204030204" pitchFamily="49" charset="0"/>
              </a:rPr>
              <a:t>date)</a:t>
            </a:r>
            <a:endParaRPr lang="zh-CN" alt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
          <p:cNvCxnSpPr/>
          <p:nvPr/>
        </p:nvCxnSpPr>
        <p:spPr>
          <a:xfrm>
            <a:off x="1749216" y="773043"/>
            <a:ext cx="13828" cy="474875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269925" y="333445"/>
            <a:ext cx="1071127"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Alice</a:t>
            </a:r>
            <a:r>
              <a:rPr lang="en-US" altLang="zh-CN" b="1" dirty="0">
                <a:latin typeface="Consolas" panose="020B0609020204030204" pitchFamily="49" charset="0"/>
              </a:rPr>
              <a:t> </a:t>
            </a:r>
            <a:endParaRPr lang="en-US" altLang="zh-CN" dirty="0">
              <a:effectLst/>
            </a:endParaRPr>
          </a:p>
        </p:txBody>
      </p:sp>
      <p:cxnSp>
        <p:nvCxnSpPr>
          <p:cNvPr id="10" name="直线连接符 9"/>
          <p:cNvCxnSpPr/>
          <p:nvPr/>
        </p:nvCxnSpPr>
        <p:spPr>
          <a:xfrm>
            <a:off x="7236296" y="913284"/>
            <a:ext cx="0" cy="388843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873977" y="265212"/>
            <a:ext cx="808235" cy="507831"/>
          </a:xfrm>
          <a:prstGeom prst="rect">
            <a:avLst/>
          </a:prstGeom>
        </p:spPr>
        <p:txBody>
          <a:bodyPr wrap="none">
            <a:spAutoFit/>
          </a:bodyPr>
          <a:lstStyle/>
          <a:p>
            <a:pPr algn="ctr"/>
            <a:r>
              <a:rPr kumimoji="1" lang="en-US" altLang="zh-CN" sz="2700" b="1" dirty="0">
                <a:latin typeface="等线" panose="02010600030101010101" charset="-122"/>
                <a:ea typeface="楷体" panose="02010609060101010101" charset="-122"/>
                <a:cs typeface="Myriad Pro Light SemiCond"/>
              </a:rPr>
              <a:t>Bob</a:t>
            </a:r>
            <a:endParaRPr lang="en-US" altLang="zh-CN" dirty="0">
              <a:effectLst/>
            </a:endParaRPr>
          </a:p>
        </p:txBody>
      </p:sp>
      <p:sp>
        <p:nvSpPr>
          <p:cNvPr id="12" name="矩形 11"/>
          <p:cNvSpPr/>
          <p:nvPr/>
        </p:nvSpPr>
        <p:spPr>
          <a:xfrm>
            <a:off x="251520" y="913284"/>
            <a:ext cx="315983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baseline="-25000" dirty="0">
                <a:solidFill>
                  <a:srgbClr val="0093FF"/>
                </a:solidFill>
                <a:latin typeface="Consolas" panose="020B0609020204030204" pitchFamily="49" charset="0"/>
              </a:rPr>
              <a:t>a</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encrypt</a:t>
            </a:r>
            <a:r>
              <a:rPr lang="en-US" altLang="zh-CN" b="1" dirty="0">
                <a:latin typeface="Consolas" panose="020B0609020204030204" pitchFamily="49" charset="0"/>
              </a:rPr>
              <a:t>(</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a</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a</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a</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err="1">
                <a:solidFill>
                  <a:srgbClr val="9335FF"/>
                </a:solidFill>
                <a:latin typeface="Consolas" panose="020B0609020204030204" pitchFamily="49" charset="0"/>
              </a:rPr>
              <a:t>h</a:t>
            </a:r>
            <a:r>
              <a:rPr lang="en-US" altLang="zh-CN" b="1" baseline="-25000" dirty="0">
                <a:solidFill>
                  <a:srgbClr val="9335FF"/>
                </a:solidFill>
                <a:latin typeface="Consolas" panose="020B0609020204030204" pitchFamily="49" charset="0"/>
              </a:rPr>
              <a:t>a</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MAC(</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a</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a</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a</a:t>
            </a:r>
            <a:r>
              <a:rPr lang="en-US" altLang="zh-CN" b="1" dirty="0">
                <a:latin typeface="Consolas" panose="020B0609020204030204" pitchFamily="49" charset="0"/>
              </a:rPr>
              <a:t>) </a:t>
            </a:r>
            <a:endParaRPr lang="en-US" altLang="zh-CN" dirty="0">
              <a:effectLst/>
            </a:endParaRPr>
          </a:p>
        </p:txBody>
      </p:sp>
      <p:cxnSp>
        <p:nvCxnSpPr>
          <p:cNvPr id="16" name="直线箭头连接符 15"/>
          <p:cNvCxnSpPr/>
          <p:nvPr/>
        </p:nvCxnSpPr>
        <p:spPr>
          <a:xfrm>
            <a:off x="1805487" y="1849388"/>
            <a:ext cx="5358801"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049870" y="1561356"/>
            <a:ext cx="925253"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baseline="-25000" dirty="0">
                <a:solidFill>
                  <a:srgbClr val="0093FF"/>
                </a:solidFill>
                <a:latin typeface="Consolas" panose="020B0609020204030204" pitchFamily="49" charset="0"/>
              </a:rPr>
              <a:t>a</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r>
              <a:rPr lang="en-US" altLang="zh-CN" b="1" baseline="-25000" dirty="0">
                <a:solidFill>
                  <a:srgbClr val="9335FF"/>
                </a:solidFill>
                <a:latin typeface="Consolas" panose="020B0609020204030204" pitchFamily="49" charset="0"/>
              </a:rPr>
              <a:t>a</a:t>
            </a:r>
            <a:endParaRPr lang="en-US" altLang="zh-CN" baseline="-25000" dirty="0">
              <a:effectLst/>
            </a:endParaRPr>
          </a:p>
        </p:txBody>
      </p:sp>
      <p:sp>
        <p:nvSpPr>
          <p:cNvPr id="19" name="矩形 18"/>
          <p:cNvSpPr/>
          <p:nvPr/>
        </p:nvSpPr>
        <p:spPr>
          <a:xfrm>
            <a:off x="5724128" y="2065412"/>
            <a:ext cx="3251211"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a</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a</a:t>
            </a:r>
            <a:r>
              <a:rPr lang="en-US" altLang="zh-CN" b="1" dirty="0">
                <a:solidFill>
                  <a:srgbClr val="FF7C77"/>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decrypt</a:t>
            </a:r>
            <a:r>
              <a:rPr lang="en-US" altLang="zh-CN" b="1" dirty="0">
                <a:latin typeface="Consolas" panose="020B0609020204030204" pitchFamily="49" charset="0"/>
              </a:rPr>
              <a:t>(</a:t>
            </a:r>
            <a:r>
              <a:rPr lang="en-US" altLang="zh-CN" b="1" dirty="0" err="1">
                <a:solidFill>
                  <a:srgbClr val="008E4F"/>
                </a:solidFill>
                <a:latin typeface="Consolas" panose="020B0609020204030204" pitchFamily="49" charset="0"/>
              </a:rPr>
              <a:t>k</a:t>
            </a:r>
            <a:r>
              <a:rPr lang="en-US" altLang="zh-CN" b="1" baseline="-25000" dirty="0">
                <a:solidFill>
                  <a:srgbClr val="008E4F"/>
                </a:solidFill>
                <a:latin typeface="Consolas" panose="020B0609020204030204" pitchFamily="49" charset="0"/>
              </a:rPr>
              <a:t>a</a:t>
            </a:r>
            <a:r>
              <a:rPr lang="en-US" altLang="zh-CN" b="1" dirty="0">
                <a:latin typeface="Consolas" panose="020B0609020204030204" pitchFamily="49" charset="0"/>
              </a:rPr>
              <a:t>, </a:t>
            </a:r>
            <a:r>
              <a:rPr lang="en-US" altLang="zh-CN" b="1" dirty="0" err="1">
                <a:solidFill>
                  <a:srgbClr val="0093FF"/>
                </a:solidFill>
                <a:latin typeface="Consolas" panose="020B0609020204030204" pitchFamily="49" charset="0"/>
              </a:rPr>
              <a:t>c</a:t>
            </a:r>
            <a:r>
              <a:rPr lang="en-US" altLang="zh-CN" b="1" baseline="-25000" dirty="0">
                <a:solidFill>
                  <a:srgbClr val="0093FF"/>
                </a:solidFill>
                <a:latin typeface="Consolas" panose="020B0609020204030204" pitchFamily="49" charset="0"/>
              </a:rPr>
              <a:t>a</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a:latin typeface="Consolas" panose="020B0609020204030204" pitchFamily="49" charset="0"/>
              </a:rPr>
              <a:t>MAC(</a:t>
            </a:r>
            <a:r>
              <a:rPr lang="en-US" altLang="zh-CN" b="1" dirty="0" err="1">
                <a:solidFill>
                  <a:srgbClr val="008E00"/>
                </a:solidFill>
                <a:latin typeface="Consolas" panose="020B0609020204030204" pitchFamily="49" charset="0"/>
              </a:rPr>
              <a:t>k</a:t>
            </a:r>
            <a:r>
              <a:rPr lang="en-US" altLang="zh-CN" b="1" baseline="-25000" dirty="0">
                <a:solidFill>
                  <a:srgbClr val="008E00"/>
                </a:solidFill>
                <a:latin typeface="Consolas" panose="020B0609020204030204" pitchFamily="49" charset="0"/>
              </a:rPr>
              <a:t>a</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a</a:t>
            </a:r>
            <a:r>
              <a:rPr lang="en-US" altLang="zh-CN" b="1" dirty="0">
                <a:latin typeface="Consolas" panose="020B0609020204030204" pitchFamily="49" charset="0"/>
              </a:rPr>
              <a:t> |</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a</a:t>
            </a:r>
            <a:r>
              <a:rPr lang="en-US" altLang="zh-CN" b="1" dirty="0">
                <a:latin typeface="Consolas" panose="020B0609020204030204" pitchFamily="49" charset="0"/>
              </a:rPr>
              <a:t>) == </a:t>
            </a:r>
            <a:r>
              <a:rPr lang="en-US" altLang="zh-CN" b="1" dirty="0" err="1">
                <a:solidFill>
                  <a:srgbClr val="9335FF"/>
                </a:solidFill>
                <a:latin typeface="Consolas" panose="020B0609020204030204" pitchFamily="49" charset="0"/>
              </a:rPr>
              <a:t>h</a:t>
            </a:r>
            <a:r>
              <a:rPr lang="en-US" altLang="zh-CN" b="1" baseline="-25000" dirty="0">
                <a:solidFill>
                  <a:srgbClr val="9335FF"/>
                </a:solidFill>
                <a:latin typeface="Consolas" panose="020B0609020204030204" pitchFamily="49" charset="0"/>
              </a:rPr>
              <a:t>a</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a:t>
            </a:r>
            <a:endParaRPr lang="en-US" altLang="zh-CN" dirty="0">
              <a:effectLst/>
            </a:endParaRPr>
          </a:p>
        </p:txBody>
      </p:sp>
      <p:sp>
        <p:nvSpPr>
          <p:cNvPr id="13" name="矩形 12"/>
          <p:cNvSpPr/>
          <p:nvPr/>
        </p:nvSpPr>
        <p:spPr>
          <a:xfrm>
            <a:off x="251520" y="4238426"/>
            <a:ext cx="3251211" cy="923330"/>
          </a:xfrm>
          <a:prstGeom prst="rect">
            <a:avLst/>
          </a:prstGeom>
          <a:solidFill>
            <a:schemeClr val="bg1"/>
          </a:solidFill>
        </p:spPr>
        <p:txBody>
          <a:bodyPr wrap="none">
            <a:spAutoFit/>
          </a:bodyPr>
          <a:lstStyle/>
          <a:p>
            <a:pPr>
              <a:lnSpc>
                <a:spcPct val="150000"/>
              </a:lnSpc>
            </a:pP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b</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b</a:t>
            </a:r>
            <a:r>
              <a:rPr lang="en-US" altLang="zh-CN" b="1" dirty="0">
                <a:solidFill>
                  <a:srgbClr val="FF7C77"/>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decrypt</a:t>
            </a:r>
            <a:r>
              <a:rPr lang="en-US" altLang="zh-CN" b="1" dirty="0">
                <a:latin typeface="Consolas" panose="020B0609020204030204" pitchFamily="49" charset="0"/>
              </a:rPr>
              <a:t>(</a:t>
            </a:r>
            <a:r>
              <a:rPr lang="en-US" altLang="zh-CN" b="1" dirty="0" err="1">
                <a:solidFill>
                  <a:srgbClr val="008E4F"/>
                </a:solidFill>
                <a:latin typeface="Consolas" panose="020B0609020204030204" pitchFamily="49" charset="0"/>
              </a:rPr>
              <a:t>k</a:t>
            </a:r>
            <a:r>
              <a:rPr lang="en-US" altLang="zh-CN" b="1" baseline="-25000" dirty="0">
                <a:solidFill>
                  <a:srgbClr val="008E4F"/>
                </a:solidFill>
                <a:latin typeface="Consolas" panose="020B0609020204030204" pitchFamily="49" charset="0"/>
              </a:rPr>
              <a:t>b</a:t>
            </a:r>
            <a:r>
              <a:rPr lang="en-US" altLang="zh-CN" b="1" dirty="0">
                <a:latin typeface="Consolas" panose="020B0609020204030204" pitchFamily="49" charset="0"/>
              </a:rPr>
              <a:t>, </a:t>
            </a:r>
            <a:r>
              <a:rPr lang="en-US" altLang="zh-CN" b="1" dirty="0" err="1">
                <a:solidFill>
                  <a:srgbClr val="0093FF"/>
                </a:solidFill>
                <a:latin typeface="Consolas" panose="020B0609020204030204" pitchFamily="49" charset="0"/>
              </a:rPr>
              <a:t>c</a:t>
            </a:r>
            <a:r>
              <a:rPr lang="en-US" altLang="zh-CN" b="1" baseline="-25000" dirty="0">
                <a:solidFill>
                  <a:srgbClr val="0093FF"/>
                </a:solidFill>
                <a:latin typeface="Consolas" panose="020B0609020204030204" pitchFamily="49" charset="0"/>
              </a:rPr>
              <a:t>b</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a:latin typeface="Consolas" panose="020B0609020204030204" pitchFamily="49" charset="0"/>
              </a:rPr>
              <a:t>MAC(</a:t>
            </a:r>
            <a:r>
              <a:rPr lang="en-US" altLang="zh-CN" b="1" dirty="0" err="1">
                <a:solidFill>
                  <a:srgbClr val="008E00"/>
                </a:solidFill>
                <a:latin typeface="Consolas" panose="020B0609020204030204" pitchFamily="49" charset="0"/>
              </a:rPr>
              <a:t>k</a:t>
            </a:r>
            <a:r>
              <a:rPr lang="en-US" altLang="zh-CN" b="1" baseline="-25000" dirty="0">
                <a:solidFill>
                  <a:srgbClr val="008E00"/>
                </a:solidFill>
                <a:latin typeface="Consolas" panose="020B0609020204030204" pitchFamily="49" charset="0"/>
              </a:rPr>
              <a:t>b</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b</a:t>
            </a:r>
            <a:r>
              <a:rPr lang="en-US" altLang="zh-CN" b="1" dirty="0">
                <a:latin typeface="Consolas" panose="020B0609020204030204" pitchFamily="49" charset="0"/>
              </a:rPr>
              <a:t> |</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b</a:t>
            </a:r>
            <a:r>
              <a:rPr lang="en-US" altLang="zh-CN" b="1" dirty="0">
                <a:latin typeface="Consolas" panose="020B0609020204030204" pitchFamily="49" charset="0"/>
              </a:rPr>
              <a:t>) == </a:t>
            </a:r>
            <a:r>
              <a:rPr lang="en-US" altLang="zh-CN" b="1" dirty="0" err="1">
                <a:solidFill>
                  <a:srgbClr val="9335FF"/>
                </a:solidFill>
                <a:latin typeface="Consolas" panose="020B0609020204030204" pitchFamily="49" charset="0"/>
              </a:rPr>
              <a:t>h</a:t>
            </a:r>
            <a:r>
              <a:rPr lang="en-US" altLang="zh-CN" b="1" baseline="-25000" dirty="0">
                <a:solidFill>
                  <a:srgbClr val="9335FF"/>
                </a:solidFill>
                <a:latin typeface="Consolas" panose="020B0609020204030204" pitchFamily="49" charset="0"/>
              </a:rPr>
              <a:t>b</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a:t>
            </a:r>
            <a:endParaRPr lang="en-US" altLang="zh-CN" dirty="0">
              <a:effectLst/>
            </a:endParaRPr>
          </a:p>
        </p:txBody>
      </p:sp>
      <p:sp>
        <p:nvSpPr>
          <p:cNvPr id="14" name="矩形 13"/>
          <p:cNvSpPr/>
          <p:nvPr/>
        </p:nvSpPr>
        <p:spPr>
          <a:xfrm>
            <a:off x="5724128" y="3345007"/>
            <a:ext cx="3244799" cy="923330"/>
          </a:xfrm>
          <a:prstGeom prst="rect">
            <a:avLst/>
          </a:prstGeom>
          <a:solidFill>
            <a:schemeClr val="bg1"/>
          </a:solidFill>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baseline="-25000" dirty="0">
                <a:solidFill>
                  <a:srgbClr val="0093FF"/>
                </a:solidFill>
                <a:latin typeface="Consolas" panose="020B0609020204030204" pitchFamily="49" charset="0"/>
              </a:rPr>
              <a:t>b</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 </a:t>
            </a:r>
            <a:r>
              <a:rPr lang="en-US" altLang="zh-CN" b="1" dirty="0" err="1">
                <a:latin typeface="Consolas" panose="020B0609020204030204" pitchFamily="49" charset="0"/>
              </a:rPr>
              <a:t>encrypt</a:t>
            </a:r>
            <a:r>
              <a:rPr lang="en-US" altLang="zh-CN" b="1" dirty="0">
                <a:latin typeface="Consolas" panose="020B0609020204030204" pitchFamily="49" charset="0"/>
              </a:rPr>
              <a:t>(</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b</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b</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b</a:t>
            </a:r>
            <a:r>
              <a:rPr lang="en-US" altLang="zh-CN" b="1" dirty="0">
                <a:latin typeface="Consolas" panose="020B0609020204030204" pitchFamily="49" charset="0"/>
              </a:rPr>
              <a:t>) </a:t>
            </a:r>
            <a:endParaRPr lang="zh-CN" altLang="en-US" b="1" dirty="0">
              <a:latin typeface="Consolas" panose="020B0609020204030204" pitchFamily="49" charset="0"/>
            </a:endParaRPr>
          </a:p>
          <a:p>
            <a:pPr>
              <a:lnSpc>
                <a:spcPct val="150000"/>
              </a:lnSpc>
            </a:pPr>
            <a:r>
              <a:rPr lang="en-US" altLang="zh-CN" b="1" dirty="0" err="1">
                <a:solidFill>
                  <a:srgbClr val="9335FF"/>
                </a:solidFill>
                <a:latin typeface="Consolas" panose="020B0609020204030204" pitchFamily="49" charset="0"/>
              </a:rPr>
              <a:t>h</a:t>
            </a:r>
            <a:r>
              <a:rPr lang="en-US" altLang="zh-CN" b="1" baseline="-25000" dirty="0">
                <a:solidFill>
                  <a:srgbClr val="9335FF"/>
                </a:solidFill>
                <a:latin typeface="Consolas" panose="020B0609020204030204" pitchFamily="49" charset="0"/>
              </a:rPr>
              <a:t>b</a:t>
            </a:r>
            <a:r>
              <a:rPr lang="en-US" altLang="zh-CN" b="1" dirty="0">
                <a:solidFill>
                  <a:srgbClr val="9335FF"/>
                </a:solidFill>
                <a:latin typeface="Consolas" panose="020B0609020204030204" pitchFamily="49" charset="0"/>
              </a:rPr>
              <a:t> </a:t>
            </a:r>
            <a:r>
              <a:rPr lang="en-US" altLang="zh-CN" b="1" dirty="0">
                <a:latin typeface="Consolas" panose="020B0609020204030204" pitchFamily="49" charset="0"/>
              </a:rPr>
              <a:t>= MAC(</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b</a:t>
            </a:r>
            <a:r>
              <a:rPr lang="en-US" altLang="zh-CN" b="1" dirty="0">
                <a:latin typeface="Consolas" panose="020B0609020204030204" pitchFamily="49" charset="0"/>
              </a:rPr>
              <a:t>, </a:t>
            </a:r>
            <a:r>
              <a:rPr lang="en-US" altLang="zh-CN" b="1" dirty="0" err="1">
                <a:solidFill>
                  <a:srgbClr val="FF7C77"/>
                </a:solidFill>
                <a:latin typeface="Consolas" panose="020B0609020204030204" pitchFamily="49" charset="0"/>
              </a:rPr>
              <a:t>m</a:t>
            </a:r>
            <a:r>
              <a:rPr lang="en-US" altLang="zh-CN" b="1" baseline="-25000" dirty="0">
                <a:solidFill>
                  <a:srgbClr val="FF7C77"/>
                </a:solidFill>
                <a:latin typeface="Consolas" panose="020B0609020204030204" pitchFamily="49" charset="0"/>
              </a:rPr>
              <a:t>b</a:t>
            </a:r>
            <a:r>
              <a:rPr lang="zh-CN" altLang="en-US" b="1" dirty="0">
                <a:solidFill>
                  <a:srgbClr val="FF7C77"/>
                </a:solidFill>
                <a:latin typeface="Consolas" panose="020B0609020204030204" pitchFamily="49" charset="0"/>
              </a:rPr>
              <a:t> </a:t>
            </a:r>
            <a:r>
              <a:rPr lang="en-US" altLang="zh-CN" b="1" dirty="0">
                <a:latin typeface="Consolas" panose="020B0609020204030204" pitchFamily="49" charset="0"/>
              </a:rPr>
              <a:t>|</a:t>
            </a:r>
            <a:r>
              <a:rPr lang="zh-CN" altLang="en-US" b="1" dirty="0">
                <a:solidFill>
                  <a:srgbClr val="FF7C77"/>
                </a:solidFill>
                <a:latin typeface="Consolas" panose="020B0609020204030204" pitchFamily="49" charset="0"/>
              </a:rPr>
              <a:t> </a:t>
            </a:r>
            <a:r>
              <a:rPr lang="en-US" altLang="zh-CN" b="1" dirty="0" err="1">
                <a:solidFill>
                  <a:schemeClr val="accent1"/>
                </a:solidFill>
                <a:latin typeface="Consolas" panose="020B0609020204030204" pitchFamily="49" charset="0"/>
              </a:rPr>
              <a:t>seq</a:t>
            </a:r>
            <a:r>
              <a:rPr lang="en-US" altLang="zh-CN" b="1" baseline="-25000" dirty="0" err="1">
                <a:solidFill>
                  <a:schemeClr val="accent1"/>
                </a:solidFill>
                <a:latin typeface="Consolas" panose="020B0609020204030204" pitchFamily="49" charset="0"/>
              </a:rPr>
              <a:t>b</a:t>
            </a:r>
            <a:r>
              <a:rPr lang="en-US" altLang="zh-CN" b="1" dirty="0">
                <a:latin typeface="Consolas" panose="020B0609020204030204" pitchFamily="49" charset="0"/>
              </a:rPr>
              <a:t>) </a:t>
            </a:r>
            <a:endParaRPr lang="en-US" altLang="zh-CN" dirty="0">
              <a:effectLst/>
            </a:endParaRPr>
          </a:p>
        </p:txBody>
      </p:sp>
      <p:cxnSp>
        <p:nvCxnSpPr>
          <p:cNvPr id="15" name="直线箭头连接符 14"/>
          <p:cNvCxnSpPr/>
          <p:nvPr/>
        </p:nvCxnSpPr>
        <p:spPr>
          <a:xfrm flipH="1">
            <a:off x="1877126" y="4336570"/>
            <a:ext cx="5287162" cy="33098"/>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049869" y="4077861"/>
            <a:ext cx="925253" cy="507831"/>
          </a:xfrm>
          <a:prstGeom prst="rect">
            <a:avLst/>
          </a:prstGeom>
          <a:solidFill>
            <a:schemeClr val="bg1"/>
          </a:solidFill>
          <a:ln w="28575">
            <a:solidFill>
              <a:schemeClr val="tx1"/>
            </a:solidFill>
          </a:ln>
        </p:spPr>
        <p:txBody>
          <a:bodyPr wrap="none">
            <a:spAutoFit/>
          </a:bodyPr>
          <a:lstStyle/>
          <a:p>
            <a:pPr>
              <a:lnSpc>
                <a:spcPct val="150000"/>
              </a:lnSpc>
            </a:pPr>
            <a:r>
              <a:rPr lang="en-US" altLang="zh-CN" b="1" dirty="0" err="1">
                <a:solidFill>
                  <a:srgbClr val="0093FF"/>
                </a:solidFill>
                <a:latin typeface="Consolas" panose="020B0609020204030204" pitchFamily="49" charset="0"/>
              </a:rPr>
              <a:t>c</a:t>
            </a:r>
            <a:r>
              <a:rPr lang="en-US" altLang="zh-CN" b="1" baseline="-25000" dirty="0">
                <a:solidFill>
                  <a:srgbClr val="0093FF"/>
                </a:solidFill>
                <a:latin typeface="Consolas" panose="020B0609020204030204" pitchFamily="49" charset="0"/>
              </a:rPr>
              <a:t>b</a:t>
            </a:r>
            <a:r>
              <a:rPr lang="en-US" altLang="zh-CN" b="1" dirty="0">
                <a:solidFill>
                  <a:srgbClr val="0093FF"/>
                </a:solidFill>
                <a:latin typeface="Consolas" panose="020B0609020204030204" pitchFamily="49" charset="0"/>
              </a:rPr>
              <a:t> </a:t>
            </a:r>
            <a:r>
              <a:rPr lang="en-US" altLang="zh-CN" b="1" dirty="0">
                <a:latin typeface="Consolas" panose="020B0609020204030204" pitchFamily="49" charset="0"/>
              </a:rPr>
              <a:t>|</a:t>
            </a:r>
            <a:r>
              <a:rPr lang="zh-CN" altLang="en-US" b="1" dirty="0">
                <a:latin typeface="Consolas" panose="020B0609020204030204" pitchFamily="49" charset="0"/>
              </a:rPr>
              <a:t> </a:t>
            </a:r>
            <a:r>
              <a:rPr lang="en-US" altLang="zh-CN" b="1" dirty="0" err="1">
                <a:solidFill>
                  <a:srgbClr val="9335FF"/>
                </a:solidFill>
                <a:latin typeface="Consolas" panose="020B0609020204030204" pitchFamily="49" charset="0"/>
              </a:rPr>
              <a:t>h</a:t>
            </a:r>
            <a:r>
              <a:rPr lang="en-US" altLang="zh-CN" b="1" baseline="-25000" dirty="0">
                <a:solidFill>
                  <a:srgbClr val="9335FF"/>
                </a:solidFill>
                <a:latin typeface="Consolas" panose="020B0609020204030204" pitchFamily="49" charset="0"/>
              </a:rPr>
              <a:t>b</a:t>
            </a:r>
            <a:endParaRPr lang="en-US" altLang="zh-CN" baseline="-25000" dirty="0">
              <a:effectLst/>
            </a:endParaRPr>
          </a:p>
        </p:txBody>
      </p:sp>
      <p:sp>
        <p:nvSpPr>
          <p:cNvPr id="20" name="文本框 19"/>
          <p:cNvSpPr txBox="1"/>
          <p:nvPr/>
        </p:nvSpPr>
        <p:spPr>
          <a:xfrm>
            <a:off x="1031873" y="50205"/>
            <a:ext cx="1599132" cy="369332"/>
          </a:xfrm>
          <a:prstGeom prst="rect">
            <a:avLst/>
          </a:prstGeom>
          <a:noFill/>
        </p:spPr>
        <p:txBody>
          <a:bodyPr wrap="square">
            <a:spAutoFit/>
          </a:bodyPr>
          <a:lstStyle/>
          <a:p>
            <a:pPr algn="ctr"/>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a</a:t>
            </a:r>
            <a:r>
              <a:rPr lang="zh-CN" altLang="en-US" b="1" baseline="-25000"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&amp; </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b </a:t>
            </a:r>
            <a:endParaRPr lang="zh-CN" altLang="en-US" b="1" dirty="0">
              <a:solidFill>
                <a:srgbClr val="4C8E00"/>
              </a:solidFill>
              <a:latin typeface="Consolas" panose="020B0609020204030204" pitchFamily="49" charset="0"/>
            </a:endParaRPr>
          </a:p>
        </p:txBody>
      </p:sp>
      <p:sp>
        <p:nvSpPr>
          <p:cNvPr id="22" name="文本框 21"/>
          <p:cNvSpPr txBox="1"/>
          <p:nvPr/>
        </p:nvSpPr>
        <p:spPr>
          <a:xfrm>
            <a:off x="6436730" y="12313"/>
            <a:ext cx="1599132" cy="369332"/>
          </a:xfrm>
          <a:prstGeom prst="rect">
            <a:avLst/>
          </a:prstGeom>
          <a:noFill/>
        </p:spPr>
        <p:txBody>
          <a:bodyPr wrap="square">
            <a:spAutoFit/>
          </a:bodyPr>
          <a:lstStyle/>
          <a:p>
            <a:pPr algn="ctr"/>
            <a:r>
              <a:rPr lang="en-US" altLang="zh-CN" dirty="0">
                <a:solidFill>
                  <a:srgbClr val="4C8E00"/>
                </a:solidFill>
                <a:latin typeface="Consolas" panose="020B0609020204030204" pitchFamily="49" charset="0"/>
              </a:rPr>
              <a:t>has</a:t>
            </a:r>
            <a:r>
              <a:rPr lang="zh-CN" altLang="en-US" b="1" dirty="0">
                <a:solidFill>
                  <a:srgbClr val="4C8E00"/>
                </a:solidFill>
                <a:latin typeface="Consolas" panose="020B0609020204030204" pitchFamily="49" charset="0"/>
              </a:rPr>
              <a:t> </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a</a:t>
            </a:r>
            <a:r>
              <a:rPr lang="zh-CN" altLang="en-US" b="1" baseline="-25000" dirty="0">
                <a:solidFill>
                  <a:srgbClr val="4C8E00"/>
                </a:solidFill>
                <a:latin typeface="Consolas" panose="020B0609020204030204" pitchFamily="49" charset="0"/>
              </a:rPr>
              <a:t> </a:t>
            </a:r>
            <a:r>
              <a:rPr lang="en-US" altLang="zh-CN" b="1" dirty="0">
                <a:solidFill>
                  <a:srgbClr val="4C8E00"/>
                </a:solidFill>
                <a:latin typeface="Consolas" panose="020B0609020204030204" pitchFamily="49" charset="0"/>
              </a:rPr>
              <a:t>&amp; </a:t>
            </a:r>
            <a:r>
              <a:rPr lang="en-US" altLang="zh-CN" b="1" dirty="0" err="1">
                <a:solidFill>
                  <a:srgbClr val="4C8E00"/>
                </a:solidFill>
                <a:latin typeface="Consolas" panose="020B0609020204030204" pitchFamily="49" charset="0"/>
              </a:rPr>
              <a:t>k</a:t>
            </a:r>
            <a:r>
              <a:rPr lang="en-US" altLang="zh-CN" b="1" baseline="-25000" dirty="0">
                <a:solidFill>
                  <a:srgbClr val="4C8E00"/>
                </a:solidFill>
                <a:latin typeface="Consolas" panose="020B0609020204030204" pitchFamily="49" charset="0"/>
              </a:rPr>
              <a:t>b </a:t>
            </a:r>
            <a:endParaRPr lang="zh-CN" altLang="en-US" b="1" dirty="0">
              <a:solidFill>
                <a:srgbClr val="4C8E00"/>
              </a:solidFill>
              <a:latin typeface="Consolas" panose="020B06090202040302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59632" y="265212"/>
            <a:ext cx="6624736" cy="4686528"/>
          </a:xfrm>
          <a:prstGeom prst="rect">
            <a:avLst/>
          </a:prstGeom>
        </p:spPr>
      </p:pic>
      <p:sp>
        <p:nvSpPr>
          <p:cNvPr id="2" name="文本框 1"/>
          <p:cNvSpPr txBox="1"/>
          <p:nvPr/>
        </p:nvSpPr>
        <p:spPr>
          <a:xfrm>
            <a:off x="1403648" y="5161756"/>
            <a:ext cx="6840760" cy="369332"/>
          </a:xfrm>
          <a:prstGeom prst="rect">
            <a:avLst/>
          </a:prstGeom>
          <a:noFill/>
          <a:ln>
            <a:solidFill>
              <a:schemeClr val="accent1"/>
            </a:solidFill>
          </a:ln>
        </p:spPr>
        <p:txBody>
          <a:bodyPr wrap="square" rtlCol="0">
            <a:spAutoFit/>
          </a:bodyPr>
          <a:lstStyle/>
          <a:p>
            <a:pPr algn="ctr"/>
            <a:r>
              <a:rPr kumimoji="1" lang="en-US" altLang="zh-CN" dirty="0">
                <a:latin typeface="Arial" panose="020B0604020202020204" pitchFamily="34" charset="0"/>
                <a:cs typeface="Arial" panose="020B0604020202020204" pitchFamily="34" charset="0"/>
              </a:rPr>
              <a:t>(</a:t>
            </a:r>
            <a:r>
              <a:rPr kumimoji="1" lang="en-US" altLang="zh-CN" dirty="0" err="1">
                <a:latin typeface="Arial" panose="020B0604020202020204" pitchFamily="34" charset="0"/>
                <a:cs typeface="Arial" panose="020B0604020202020204" pitchFamily="34" charset="0"/>
              </a:rPr>
              <a:t>g</a:t>
            </a:r>
            <a:r>
              <a:rPr kumimoji="1" lang="en-US" altLang="zh-CN" baseline="30000" dirty="0" err="1">
                <a:latin typeface="Arial" panose="020B0604020202020204" pitchFamily="34" charset="0"/>
                <a:cs typeface="Arial" panose="020B0604020202020204" pitchFamily="34" charset="0"/>
              </a:rPr>
              <a:t>b</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r>
              <a:rPr kumimoji="1" lang="en-US" altLang="zh-CN" baseline="30000" dirty="0">
                <a:latin typeface="Arial" panose="020B0604020202020204" pitchFamily="34" charset="0"/>
                <a:cs typeface="Arial" panose="020B0604020202020204" pitchFamily="34" charset="0"/>
              </a:rPr>
              <a:t>a</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    </a:t>
            </a:r>
            <a:r>
              <a:rPr kumimoji="1" lang="en-US" altLang="zh-CN" dirty="0">
                <a:highlight>
                  <a:srgbClr val="FFFF00"/>
                </a:highlight>
                <a:latin typeface="Arial" panose="020B0604020202020204" pitchFamily="34" charset="0"/>
                <a:cs typeface="Arial" panose="020B0604020202020204" pitchFamily="34" charset="0"/>
              </a:rPr>
              <a:t>g</a:t>
            </a:r>
            <a:r>
              <a:rPr kumimoji="1" lang="en-US" altLang="zh-CN" baseline="30000" dirty="0">
                <a:highlight>
                  <a:srgbClr val="FFFF00"/>
                </a:highlight>
                <a:latin typeface="Arial" panose="020B0604020202020204" pitchFamily="34" charset="0"/>
                <a:cs typeface="Arial" panose="020B0604020202020204" pitchFamily="34" charset="0"/>
              </a:rPr>
              <a:t>ab</a:t>
            </a:r>
            <a:r>
              <a:rPr kumimoji="1" lang="zh-CN" altLang="en-US" dirty="0">
                <a:highlight>
                  <a:srgbClr val="FFFF00"/>
                </a:highlight>
                <a:latin typeface="Arial" panose="020B0604020202020204" pitchFamily="34" charset="0"/>
                <a:cs typeface="Arial" panose="020B0604020202020204" pitchFamily="34" charset="0"/>
              </a:rPr>
              <a:t> </a:t>
            </a:r>
            <a:r>
              <a:rPr kumimoji="1" lang="en-US" altLang="zh-CN" dirty="0">
                <a:highlight>
                  <a:srgbClr val="FFFF00"/>
                </a:highlight>
                <a:latin typeface="Arial" panose="020B0604020202020204" pitchFamily="34" charset="0"/>
                <a:cs typeface="Arial" panose="020B0604020202020204" pitchFamily="34" charset="0"/>
              </a:rPr>
              <a:t>mod</a:t>
            </a:r>
            <a:r>
              <a:rPr kumimoji="1" lang="zh-CN" altLang="en-US" dirty="0">
                <a:highlight>
                  <a:srgbClr val="FFFF00"/>
                </a:highlight>
                <a:latin typeface="Arial" panose="020B0604020202020204" pitchFamily="34" charset="0"/>
                <a:cs typeface="Arial" panose="020B0604020202020204" pitchFamily="34" charset="0"/>
              </a:rPr>
              <a:t> </a:t>
            </a:r>
            <a:r>
              <a:rPr kumimoji="1" lang="en-US" altLang="zh-CN" dirty="0">
                <a:highlight>
                  <a:srgbClr val="FFFF00"/>
                </a:highlight>
                <a:latin typeface="Arial" panose="020B0604020202020204" pitchFamily="34" charset="0"/>
                <a:cs typeface="Arial" panose="020B0604020202020204" pitchFamily="34" charset="0"/>
              </a:rPr>
              <a:t>p</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a:t>
            </a:r>
            <a:r>
              <a:rPr kumimoji="1" lang="en-US" altLang="zh-CN" dirty="0" err="1">
                <a:latin typeface="Arial" panose="020B0604020202020204" pitchFamily="34" charset="0"/>
                <a:cs typeface="Arial" panose="020B0604020202020204" pitchFamily="34" charset="0"/>
              </a:rPr>
              <a:t>g</a:t>
            </a:r>
            <a:r>
              <a:rPr kumimoji="1" lang="en-US" altLang="zh-CN" baseline="30000" dirty="0" err="1">
                <a:latin typeface="Arial" panose="020B0604020202020204" pitchFamily="34" charset="0"/>
                <a:cs typeface="Arial" panose="020B0604020202020204" pitchFamily="34" charset="0"/>
              </a:rPr>
              <a:t>a</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r>
              <a:rPr kumimoji="1" lang="en-US" altLang="zh-CN" baseline="30000" dirty="0">
                <a:latin typeface="Arial" panose="020B0604020202020204" pitchFamily="34" charset="0"/>
                <a:cs typeface="Arial" panose="020B0604020202020204" pitchFamily="34" charset="0"/>
              </a:rPr>
              <a:t>b</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mod</a:t>
            </a:r>
            <a:r>
              <a:rPr kumimoji="1" lang="zh-CN" altLang="en-US" dirty="0">
                <a:latin typeface="Arial" panose="020B0604020202020204" pitchFamily="34" charset="0"/>
                <a:cs typeface="Arial" panose="020B0604020202020204" pitchFamily="34" charset="0"/>
              </a:rPr>
              <a:t> </a:t>
            </a:r>
            <a:r>
              <a:rPr kumimoji="1" lang="en-US" altLang="zh-CN" dirty="0">
                <a:latin typeface="Arial" panose="020B0604020202020204" pitchFamily="34" charset="0"/>
                <a:cs typeface="Arial" panose="020B0604020202020204" pitchFamily="34" charset="0"/>
              </a:rPr>
              <a:t>p</a:t>
            </a:r>
            <a:endParaRPr kumimoji="1" lang="zh-CN" altLang="en-US" dirty="0">
              <a:latin typeface="Arial" panose="020B0604020202020204" pitchFamily="34" charset="0"/>
              <a:cs typeface="Arial" panose="020B0604020202020204" pitchFamily="34" charset="0"/>
            </a:endParaRPr>
          </a:p>
        </p:txBody>
      </p:sp>
      <p:sp>
        <p:nvSpPr>
          <p:cNvPr id="5" name="文本框 4"/>
          <p:cNvSpPr txBox="1"/>
          <p:nvPr/>
        </p:nvSpPr>
        <p:spPr>
          <a:xfrm>
            <a:off x="270588" y="3073524"/>
            <a:ext cx="4661452" cy="646331"/>
          </a:xfrm>
          <a:prstGeom prst="rect">
            <a:avLst/>
          </a:prstGeom>
          <a:noFill/>
        </p:spPr>
        <p:txBody>
          <a:bodyPr wrap="square">
            <a:spAutoFit/>
          </a:bodyPr>
          <a:lstStyle/>
          <a:p>
            <a:r>
              <a:rPr kumimoji="1" lang="en-US" altLang="zh-CN" dirty="0">
                <a:solidFill>
                  <a:schemeClr val="accent1"/>
                </a:solidFill>
              </a:rPr>
              <a:t>Diffie-Hellman</a:t>
            </a:r>
            <a:endParaRPr kumimoji="1" lang="en-US" altLang="zh-CN" dirty="0">
              <a:solidFill>
                <a:schemeClr val="accent1"/>
              </a:solidFill>
            </a:endParaRPr>
          </a:p>
          <a:p>
            <a:r>
              <a:rPr kumimoji="1" lang="en-US" altLang="zh-CN" dirty="0">
                <a:solidFill>
                  <a:schemeClr val="accent1"/>
                </a:solidFill>
              </a:rPr>
              <a:t>Key Exchange</a:t>
            </a:r>
            <a:endParaRPr lang="zh-CN" altLang="en-US" dirty="0">
              <a:solidFill>
                <a:schemeClr val="accent1"/>
              </a:solidFill>
            </a:endParaRPr>
          </a:p>
        </p:txBody>
      </p:sp>
      <p:sp>
        <p:nvSpPr>
          <p:cNvPr id="6" name="矩形 5"/>
          <p:cNvSpPr/>
          <p:nvPr/>
        </p:nvSpPr>
        <p:spPr>
          <a:xfrm>
            <a:off x="162576" y="1921396"/>
            <a:ext cx="8873920" cy="3030344"/>
          </a:xfrm>
          <a:prstGeom prst="rect">
            <a:avLst/>
          </a:prstGeom>
          <a:noFill/>
          <a:ln w="19050">
            <a:solidFill>
              <a:srgbClr val="BE374B"/>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187624" y="985292"/>
            <a:ext cx="6480720" cy="4634340"/>
          </a:xfrm>
          <a:prstGeom prst="rect">
            <a:avLst/>
          </a:prstGeom>
        </p:spPr>
      </p:pic>
      <p:sp>
        <p:nvSpPr>
          <p:cNvPr id="6" name="标题 1"/>
          <p:cNvSpPr>
            <a:spLocks noGrp="1"/>
          </p:cNvSpPr>
          <p:nvPr>
            <p:ph type="title"/>
          </p:nvPr>
        </p:nvSpPr>
        <p:spPr>
          <a:xfrm>
            <a:off x="457200" y="228866"/>
            <a:ext cx="8229600" cy="952500"/>
          </a:xfrm>
        </p:spPr>
        <p:txBody>
          <a:bodyPr/>
          <a:lstStyle/>
          <a:p>
            <a:r>
              <a:rPr kumimoji="1" lang="en-US" altLang="zh-CN" dirty="0"/>
              <a:t>Diffie-Hellman Key Exchange</a:t>
            </a:r>
            <a:r>
              <a:rPr kumimoji="1" lang="zh-CN" altLang="en-US" dirty="0"/>
              <a:t> </a:t>
            </a:r>
            <a:r>
              <a:rPr kumimoji="1" lang="en-US" altLang="zh-CN" dirty="0"/>
              <a:t>&amp;</a:t>
            </a:r>
            <a:r>
              <a:rPr kumimoji="1" lang="zh-CN" altLang="en-US" dirty="0"/>
              <a:t> </a:t>
            </a:r>
            <a:r>
              <a:rPr kumimoji="1" lang="en-US" altLang="zh-CN" dirty="0"/>
              <a:t>Man-in-the-Middle</a:t>
            </a:r>
            <a:endParaRPr kumimoji="1"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srcRect l="190" t="-158" r="-190" b="14656"/>
          <a:stretch>
            <a:fillRect/>
          </a:stretch>
        </p:blipFill>
        <p:spPr>
          <a:xfrm>
            <a:off x="1056401" y="1201316"/>
            <a:ext cx="6742273" cy="4112075"/>
          </a:xfrm>
          <a:prstGeom prst="rect">
            <a:avLst/>
          </a:prstGeom>
        </p:spPr>
      </p:pic>
      <p:sp>
        <p:nvSpPr>
          <p:cNvPr id="3" name="标题 1"/>
          <p:cNvSpPr>
            <a:spLocks noGrp="1"/>
          </p:cNvSpPr>
          <p:nvPr>
            <p:ph type="title"/>
          </p:nvPr>
        </p:nvSpPr>
        <p:spPr>
          <a:xfrm>
            <a:off x="457200" y="228866"/>
            <a:ext cx="8229600" cy="952500"/>
          </a:xfrm>
        </p:spPr>
        <p:txBody>
          <a:bodyPr/>
          <a:lstStyle/>
          <a:p>
            <a:r>
              <a:rPr kumimoji="1" lang="en-US" altLang="zh-CN" dirty="0"/>
              <a:t>RSA</a:t>
            </a:r>
            <a:r>
              <a:rPr kumimoji="1" lang="zh-CN" altLang="en-US" dirty="0"/>
              <a:t> </a:t>
            </a:r>
            <a:r>
              <a:rPr kumimoji="1" lang="en-US" altLang="zh-CN" dirty="0"/>
              <a:t>Algorithm</a:t>
            </a:r>
            <a:endParaRPr kumimoji="1"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Public</a:t>
            </a:r>
            <a:r>
              <a:rPr kumimoji="1" lang="zh-CN" altLang="en-US" dirty="0"/>
              <a:t> </a:t>
            </a:r>
            <a:r>
              <a:rPr kumimoji="1" lang="en-US" altLang="zh-CN" dirty="0"/>
              <a:t>Key</a:t>
            </a:r>
            <a:r>
              <a:rPr kumimoji="1" lang="zh-CN" altLang="en-US" dirty="0"/>
              <a:t> </a:t>
            </a:r>
            <a:r>
              <a:rPr kumimoji="1" lang="en-US" altLang="zh-CN" dirty="0"/>
              <a:t>Distribution</a:t>
            </a:r>
            <a:endParaRPr kumimoji="1" lang="zh-CN" altLang="en-US" dirty="0"/>
          </a:p>
        </p:txBody>
      </p:sp>
      <p:sp>
        <p:nvSpPr>
          <p:cNvPr id="3" name="内容占位符 2"/>
          <p:cNvSpPr>
            <a:spLocks noGrp="1"/>
          </p:cNvSpPr>
          <p:nvPr>
            <p:ph idx="1"/>
          </p:nvPr>
        </p:nvSpPr>
        <p:spPr/>
        <p:txBody>
          <a:bodyPr>
            <a:normAutofit/>
          </a:bodyPr>
          <a:lstStyle/>
          <a:p>
            <a:r>
              <a:rPr kumimoji="1" lang="en-US" altLang="zh-CN" sz="2000" dirty="0"/>
              <a:t>1. Alice remembers the key she used last time</a:t>
            </a:r>
            <a:endParaRPr kumimoji="1" lang="zh-CN" altLang="en-US" sz="2000" dirty="0"/>
          </a:p>
          <a:p>
            <a:pPr lvl="1"/>
            <a:r>
              <a:rPr kumimoji="1" lang="en-US" altLang="zh-CN" sz="1800" dirty="0"/>
              <a:t>Easy to implement</a:t>
            </a:r>
            <a:endParaRPr kumimoji="1" lang="zh-CN" altLang="en-US" sz="1800" dirty="0"/>
          </a:p>
          <a:p>
            <a:pPr lvl="1"/>
            <a:r>
              <a:rPr kumimoji="1" lang="en-US" altLang="zh-CN" sz="1800" dirty="0"/>
              <a:t>Effective against subsequent</a:t>
            </a:r>
            <a:r>
              <a:rPr kumimoji="1" lang="zh-CN" altLang="en-US" sz="1800" dirty="0"/>
              <a:t> </a:t>
            </a:r>
            <a:r>
              <a:rPr kumimoji="1" lang="en-US" altLang="zh-CN" sz="1800" dirty="0"/>
              <a:t>man-in-the-middle attacks      </a:t>
            </a:r>
            <a:endParaRPr kumimoji="1" lang="zh-CN" altLang="en-US" sz="1800" dirty="0"/>
          </a:p>
          <a:p>
            <a:pPr lvl="1"/>
            <a:r>
              <a:rPr kumimoji="1" lang="en-US" altLang="zh-CN" sz="1800" dirty="0"/>
              <a:t>Doesn't protect against MITM attacks the first time around</a:t>
            </a:r>
            <a:endParaRPr kumimoji="1" lang="zh-CN" altLang="en-US" sz="1800" dirty="0"/>
          </a:p>
          <a:p>
            <a:pPr lvl="1"/>
            <a:r>
              <a:rPr kumimoji="1" lang="en-US" altLang="zh-CN" sz="1800" dirty="0"/>
              <a:t>Doesn't allow parties to change keys   </a:t>
            </a:r>
            <a:endParaRPr kumimoji="1" lang="zh-CN" altLang="en-US" sz="1800" dirty="0"/>
          </a:p>
          <a:p>
            <a:r>
              <a:rPr kumimoji="1" lang="en-US" altLang="zh-CN" sz="2000" dirty="0"/>
              <a:t>2. Consult some authority that knows everyone's public key </a:t>
            </a:r>
            <a:endParaRPr kumimoji="1" lang="zh-CN" altLang="en-US" sz="2000" dirty="0"/>
          </a:p>
          <a:p>
            <a:pPr lvl="1"/>
            <a:r>
              <a:rPr kumimoji="1" lang="en-US" altLang="zh-CN" sz="1800" dirty="0"/>
              <a:t>Does not scale (client asks for a PK for every new</a:t>
            </a:r>
            <a:r>
              <a:rPr kumimoji="1" lang="zh-CN" altLang="en-US" sz="1800" dirty="0"/>
              <a:t> </a:t>
            </a:r>
            <a:r>
              <a:rPr kumimoji="1" lang="en-US" altLang="zh-CN" sz="1800" dirty="0"/>
              <a:t>name)      </a:t>
            </a:r>
            <a:endParaRPr kumimoji="1" lang="zh-CN" altLang="en-US" sz="1800" dirty="0"/>
          </a:p>
          <a:p>
            <a:pPr lvl="1"/>
            <a:r>
              <a:rPr kumimoji="1" lang="en-US" altLang="zh-CN" sz="1800" dirty="0"/>
              <a:t>Alice needs server's public key beforehand   </a:t>
            </a:r>
            <a:endParaRPr kumimoji="1" lang="zh-CN" alt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Public</a:t>
            </a:r>
            <a:r>
              <a:rPr kumimoji="1" lang="zh-CN" altLang="en-US" dirty="0"/>
              <a:t> </a:t>
            </a:r>
            <a:r>
              <a:rPr kumimoji="1" lang="en-US" altLang="zh-CN" dirty="0"/>
              <a:t>Key</a:t>
            </a:r>
            <a:r>
              <a:rPr kumimoji="1" lang="zh-CN" altLang="en-US" dirty="0"/>
              <a:t> </a:t>
            </a:r>
            <a:r>
              <a:rPr kumimoji="1" lang="en-US" altLang="zh-CN" dirty="0"/>
              <a:t>Distribution</a:t>
            </a:r>
            <a:endParaRPr kumimoji="1" lang="zh-CN" altLang="en-US" dirty="0"/>
          </a:p>
        </p:txBody>
      </p:sp>
      <p:sp>
        <p:nvSpPr>
          <p:cNvPr id="3" name="内容占位符 2"/>
          <p:cNvSpPr>
            <a:spLocks noGrp="1"/>
          </p:cNvSpPr>
          <p:nvPr>
            <p:ph idx="1"/>
          </p:nvPr>
        </p:nvSpPr>
        <p:spPr/>
        <p:txBody>
          <a:bodyPr>
            <a:noAutofit/>
          </a:bodyPr>
          <a:lstStyle/>
          <a:p>
            <a:r>
              <a:rPr kumimoji="1" lang="en-US" altLang="zh-CN" sz="2400" dirty="0"/>
              <a:t>3. Authority, but pre-compute responses </a:t>
            </a:r>
            <a:endParaRPr kumimoji="1" lang="zh-CN" altLang="en-US" sz="2400" dirty="0"/>
          </a:p>
          <a:p>
            <a:pPr lvl="1"/>
            <a:r>
              <a:rPr kumimoji="1" lang="en-US" altLang="zh-CN" sz="2000" dirty="0"/>
              <a:t>Authority creates signed</a:t>
            </a:r>
            <a:r>
              <a:rPr kumimoji="1" lang="zh-CN" altLang="en-US" sz="2000" dirty="0"/>
              <a:t> </a:t>
            </a:r>
            <a:r>
              <a:rPr kumimoji="1" lang="en-US" altLang="zh-CN" sz="2000" dirty="0"/>
              <a:t>messages: {Bob, </a:t>
            </a:r>
            <a:r>
              <a:rPr kumimoji="1" lang="en-US" altLang="zh-CN" sz="2000" dirty="0" err="1"/>
              <a:t>PK_bob</a:t>
            </a:r>
            <a:r>
              <a:rPr kumimoji="1" lang="en-US" altLang="zh-CN" sz="2000" dirty="0"/>
              <a:t>}_{</a:t>
            </a:r>
            <a:r>
              <a:rPr kumimoji="1" lang="en-US" altLang="zh-CN" sz="2000" dirty="0" err="1"/>
              <a:t>SK_as</a:t>
            </a:r>
            <a:r>
              <a:rPr kumimoji="1" lang="en-US" altLang="zh-CN" sz="2000" dirty="0"/>
              <a:t>}</a:t>
            </a:r>
            <a:endParaRPr kumimoji="1" lang="zh-CN" altLang="en-US" sz="2000" dirty="0"/>
          </a:p>
          <a:p>
            <a:pPr lvl="1"/>
            <a:r>
              <a:rPr kumimoji="1" lang="en-US" altLang="zh-CN" sz="2000" dirty="0"/>
              <a:t>Anyone can verify the</a:t>
            </a:r>
            <a:r>
              <a:rPr kumimoji="1" lang="zh-CN" altLang="en-US" sz="2000" dirty="0"/>
              <a:t> </a:t>
            </a:r>
            <a:r>
              <a:rPr kumimoji="1" lang="en-US" altLang="zh-CN" sz="2000" dirty="0"/>
              <a:t>authority signed this message, given </a:t>
            </a:r>
            <a:r>
              <a:rPr kumimoji="1" lang="en-US" altLang="zh-CN" sz="2000" dirty="0" err="1"/>
              <a:t>PK_as</a:t>
            </a:r>
            <a:endParaRPr kumimoji="1" lang="zh-CN" altLang="en-US" sz="2000" dirty="0"/>
          </a:p>
          <a:p>
            <a:pPr lvl="1"/>
            <a:r>
              <a:rPr kumimoji="1" lang="en-US" altLang="zh-CN" sz="2000" dirty="0"/>
              <a:t>When Alice wants to</a:t>
            </a:r>
            <a:r>
              <a:rPr kumimoji="1" lang="zh-CN" altLang="en-US" sz="2000" dirty="0"/>
              <a:t> </a:t>
            </a:r>
            <a:r>
              <a:rPr kumimoji="1" lang="en-US" altLang="zh-CN" sz="2000" dirty="0"/>
              <a:t>talk to Bob, she needs a signed message from the authority, but</a:t>
            </a:r>
            <a:r>
              <a:rPr kumimoji="1" lang="zh-CN" altLang="en-US" sz="2000" dirty="0"/>
              <a:t> </a:t>
            </a:r>
            <a:r>
              <a:rPr kumimoji="1" lang="en-US" altLang="zh-CN" sz="2000" dirty="0"/>
              <a:t>it doesn't matter where this message comes from as long as the</a:t>
            </a:r>
            <a:r>
              <a:rPr kumimoji="1" lang="zh-CN" altLang="en-US" sz="2000" dirty="0"/>
              <a:t> </a:t>
            </a:r>
            <a:r>
              <a:rPr kumimoji="1" lang="en-US" altLang="zh-CN" sz="2000" dirty="0"/>
              <a:t>signature checks out</a:t>
            </a:r>
            <a:endParaRPr kumimoji="1" lang="zh-CN" altLang="en-US" sz="2000" dirty="0"/>
          </a:p>
          <a:p>
            <a:pPr lvl="2"/>
            <a:r>
              <a:rPr kumimoji="1" lang="en-US" altLang="zh-CN" sz="1800" dirty="0"/>
              <a:t>I.e., Alice could retrieve the message</a:t>
            </a:r>
            <a:r>
              <a:rPr kumimoji="1" lang="zh-CN" altLang="en-US" sz="1800" dirty="0"/>
              <a:t> </a:t>
            </a:r>
            <a:r>
              <a:rPr kumimoji="1" lang="en-US" altLang="zh-CN" sz="1800" dirty="0"/>
              <a:t>from a different server</a:t>
            </a:r>
            <a:endParaRPr kumimoji="1" lang="zh-CN" altLang="en-US" sz="1800" dirty="0"/>
          </a:p>
          <a:p>
            <a:pPr lvl="1"/>
            <a:r>
              <a:rPr kumimoji="1" lang="en-US" altLang="zh-CN" sz="2000" dirty="0"/>
              <a:t>This signed message is a </a:t>
            </a:r>
            <a:r>
              <a:rPr kumimoji="1" lang="en-US" altLang="zh-CN" sz="2000" b="1" dirty="0">
                <a:solidFill>
                  <a:schemeClr val="accent1"/>
                </a:solidFill>
              </a:rPr>
              <a:t>certificate</a:t>
            </a:r>
            <a:r>
              <a:rPr kumimoji="1" lang="en-US" altLang="zh-CN" sz="2000" b="1" dirty="0">
                <a:solidFill>
                  <a:schemeClr val="accent2"/>
                </a:solidFill>
              </a:rPr>
              <a:t>      </a:t>
            </a:r>
            <a:endParaRPr kumimoji="1" lang="zh-CN" altLang="en-US" sz="2000" b="1" dirty="0">
              <a:solidFill>
                <a:schemeClr val="accent2"/>
              </a:solidFill>
            </a:endParaRPr>
          </a:p>
          <a:p>
            <a:pPr lvl="1"/>
            <a:r>
              <a:rPr kumimoji="1" lang="en-US" altLang="zh-CN" sz="2000" dirty="0"/>
              <a:t>More scalable</a:t>
            </a:r>
            <a:endParaRPr kumimoji="1" lang="zh-CN" alt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Review:</a:t>
            </a:r>
            <a:r>
              <a:rPr kumimoji="1" lang="zh-CN" altLang="en-US" dirty="0"/>
              <a:t> </a:t>
            </a:r>
            <a:r>
              <a:rPr kumimoji="1" lang="en-US" altLang="zh-CN" dirty="0"/>
              <a:t>Two</a:t>
            </a:r>
            <a:r>
              <a:rPr kumimoji="1" lang="zh-CN" altLang="en-US" dirty="0"/>
              <a:t> </a:t>
            </a:r>
            <a:r>
              <a:rPr kumimoji="1" lang="en-US" altLang="zh-CN" dirty="0"/>
              <a:t>Types</a:t>
            </a:r>
            <a:r>
              <a:rPr kumimoji="1" lang="zh-CN" altLang="en-US" dirty="0"/>
              <a:t> </a:t>
            </a:r>
            <a:r>
              <a:rPr kumimoji="1" lang="en-US" altLang="zh-CN" dirty="0"/>
              <a:t>of</a:t>
            </a:r>
            <a:r>
              <a:rPr kumimoji="1" lang="zh-CN" altLang="en-US" dirty="0"/>
              <a:t> </a:t>
            </a:r>
            <a:r>
              <a:rPr kumimoji="1" lang="en-US" altLang="zh-CN" dirty="0"/>
              <a:t>Encryption</a:t>
            </a:r>
            <a:endParaRPr kumimoji="1" lang="zh-CN" altLang="en-US" dirty="0"/>
          </a:p>
        </p:txBody>
      </p:sp>
      <p:sp>
        <p:nvSpPr>
          <p:cNvPr id="3" name="内容占位符 2"/>
          <p:cNvSpPr>
            <a:spLocks noGrp="1"/>
          </p:cNvSpPr>
          <p:nvPr>
            <p:ph idx="1"/>
          </p:nvPr>
        </p:nvSpPr>
        <p:spPr/>
        <p:txBody>
          <a:bodyPr>
            <a:normAutofit/>
          </a:bodyPr>
          <a:lstStyle/>
          <a:p>
            <a:r>
              <a:rPr kumimoji="1" lang="en-GB" altLang="zh-CN" dirty="0"/>
              <a:t>Symmetric key encryption</a:t>
            </a:r>
            <a:endParaRPr kumimoji="1" lang="en-GB" altLang="zh-CN" dirty="0"/>
          </a:p>
          <a:p>
            <a:pPr lvl="1"/>
            <a:r>
              <a:rPr kumimoji="1" lang="en-GB" altLang="zh-CN" dirty="0"/>
              <a:t>Single key (symmetric) is shared between parties, kept secret from everyone else</a:t>
            </a:r>
            <a:endParaRPr kumimoji="1" lang="en-GB" altLang="zh-CN" dirty="0"/>
          </a:p>
          <a:p>
            <a:pPr lvl="1"/>
            <a:r>
              <a:rPr kumimoji="1" lang="en-GB" altLang="zh-CN" dirty="0"/>
              <a:t>Ciphertext = (M)^K </a:t>
            </a:r>
            <a:endParaRPr kumimoji="1" lang="en-GB" altLang="zh-CN" dirty="0"/>
          </a:p>
          <a:p>
            <a:r>
              <a:rPr kumimoji="1" lang="en-US" altLang="zh-CN" dirty="0"/>
              <a:t>As</a:t>
            </a:r>
            <a:r>
              <a:rPr kumimoji="1" lang="en-GB" altLang="zh-CN" dirty="0" err="1"/>
              <a:t>ymmetric</a:t>
            </a:r>
            <a:r>
              <a:rPr kumimoji="1" lang="en-GB" altLang="zh-CN" dirty="0"/>
              <a:t> key encryption</a:t>
            </a:r>
            <a:endParaRPr kumimoji="1" lang="en-GB" altLang="zh-CN" dirty="0"/>
          </a:p>
          <a:p>
            <a:pPr lvl="1"/>
            <a:r>
              <a:rPr kumimoji="1" lang="en-GB" altLang="zh-CN" dirty="0"/>
              <a:t>Keys come in pairs, public and private</a:t>
            </a:r>
            <a:endParaRPr kumimoji="1" lang="en-GB" altLang="zh-CN" dirty="0"/>
          </a:p>
          <a:p>
            <a:pPr lvl="1"/>
            <a:r>
              <a:rPr kumimoji="1" lang="en-GB" altLang="zh-CN" dirty="0"/>
              <a:t>Secret: (M)^K-public</a:t>
            </a:r>
            <a:endParaRPr kumimoji="1" lang="en-GB" altLang="zh-CN" dirty="0"/>
          </a:p>
          <a:p>
            <a:pPr lvl="1"/>
            <a:r>
              <a:rPr kumimoji="1" lang="en-GB" altLang="zh-CN" dirty="0"/>
              <a:t>Authentic: (M)^K-private</a:t>
            </a:r>
            <a:endParaRPr kumimoji="1"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Questions</a:t>
            </a:r>
            <a:r>
              <a:rPr kumimoji="1" lang="zh-CN" altLang="en-US" dirty="0"/>
              <a:t> </a:t>
            </a:r>
            <a:r>
              <a:rPr kumimoji="1" lang="en-US" altLang="zh-CN" dirty="0"/>
              <a:t>on</a:t>
            </a:r>
            <a:r>
              <a:rPr kumimoji="1" lang="zh-CN" altLang="en-US" dirty="0"/>
              <a:t> </a:t>
            </a:r>
            <a:r>
              <a:rPr kumimoji="1" lang="en-US" altLang="zh-CN" dirty="0"/>
              <a:t>Certificate Authorities</a:t>
            </a:r>
            <a:endParaRPr kumimoji="1" lang="zh-CN" altLang="en-US" dirty="0"/>
          </a:p>
        </p:txBody>
      </p:sp>
      <p:sp>
        <p:nvSpPr>
          <p:cNvPr id="3" name="内容占位符 2"/>
          <p:cNvSpPr>
            <a:spLocks noGrp="1"/>
          </p:cNvSpPr>
          <p:nvPr>
            <p:ph idx="1"/>
          </p:nvPr>
        </p:nvSpPr>
        <p:spPr>
          <a:xfrm>
            <a:off x="457200" y="1333500"/>
            <a:ext cx="8229600" cy="4260303"/>
          </a:xfrm>
        </p:spPr>
        <p:txBody>
          <a:bodyPr>
            <a:noAutofit/>
          </a:bodyPr>
          <a:lstStyle/>
          <a:p>
            <a:pPr>
              <a:lnSpc>
                <a:spcPct val="100000"/>
              </a:lnSpc>
            </a:pPr>
            <a:r>
              <a:rPr kumimoji="1" lang="en-US" altLang="zh-CN" sz="1800" b="1" dirty="0"/>
              <a:t>Who should run the certificate authority?</a:t>
            </a:r>
            <a:endParaRPr kumimoji="1" lang="zh-CN" altLang="en-US" sz="1800" b="1" dirty="0"/>
          </a:p>
          <a:p>
            <a:pPr>
              <a:lnSpc>
                <a:spcPct val="100000"/>
              </a:lnSpc>
            </a:pPr>
            <a:r>
              <a:rPr kumimoji="1" lang="en-US" altLang="zh-CN" sz="1800" b="1" dirty="0"/>
              <a:t>How does the browser get this list of CAs?       </a:t>
            </a:r>
            <a:endParaRPr kumimoji="1" lang="zh-CN" altLang="en-US" sz="1800" b="1" dirty="0"/>
          </a:p>
          <a:p>
            <a:pPr lvl="1">
              <a:lnSpc>
                <a:spcPct val="100000"/>
              </a:lnSpc>
            </a:pPr>
            <a:r>
              <a:rPr kumimoji="1" lang="en-US" altLang="zh-CN" sz="1600" dirty="0"/>
              <a:t>Generally they come with the browser     </a:t>
            </a:r>
            <a:endParaRPr kumimoji="1" lang="zh-CN" altLang="en-US" sz="1600" dirty="0"/>
          </a:p>
          <a:p>
            <a:pPr>
              <a:lnSpc>
                <a:spcPct val="100000"/>
              </a:lnSpc>
            </a:pPr>
            <a:r>
              <a:rPr kumimoji="1" lang="en-US" altLang="zh-CN" sz="1800" b="1" dirty="0"/>
              <a:t>How does the CA build its table of names &lt;-&gt; public keys?      </a:t>
            </a:r>
            <a:endParaRPr kumimoji="1" lang="zh-CN" altLang="en-US" sz="1800" b="1" dirty="0"/>
          </a:p>
          <a:p>
            <a:pPr lvl="1">
              <a:lnSpc>
                <a:spcPct val="100000"/>
              </a:lnSpc>
            </a:pPr>
            <a:r>
              <a:rPr kumimoji="1" lang="en-US" altLang="zh-CN" sz="1600" dirty="0"/>
              <a:t>Have to agree on how to name principals, and </a:t>
            </a:r>
            <a:endParaRPr kumimoji="1" lang="zh-CN" altLang="en-US" sz="1600" dirty="0"/>
          </a:p>
          <a:p>
            <a:pPr lvl="1">
              <a:lnSpc>
                <a:spcPct val="100000"/>
              </a:lnSpc>
            </a:pPr>
            <a:r>
              <a:rPr kumimoji="1" lang="en-US" altLang="zh-CN" sz="1600" dirty="0"/>
              <a:t>Need a mechanism</a:t>
            </a:r>
            <a:r>
              <a:rPr kumimoji="1" lang="zh-CN" altLang="en-US" sz="1600" dirty="0"/>
              <a:t> </a:t>
            </a:r>
            <a:r>
              <a:rPr kumimoji="1" lang="en-US" altLang="zh-CN" sz="1600" dirty="0"/>
              <a:t>to check that a key corresponds to a name    </a:t>
            </a:r>
            <a:endParaRPr kumimoji="1" lang="zh-CN" altLang="en-US" sz="1600" dirty="0"/>
          </a:p>
          <a:p>
            <a:pPr>
              <a:lnSpc>
                <a:spcPct val="100000"/>
              </a:lnSpc>
            </a:pPr>
            <a:r>
              <a:rPr kumimoji="1" lang="en-US" altLang="zh-CN" sz="1800" b="1" dirty="0"/>
              <a:t> What if a CA makes a mistake?       </a:t>
            </a:r>
            <a:endParaRPr kumimoji="1" lang="zh-CN" altLang="en-US" sz="1800" b="1" dirty="0"/>
          </a:p>
          <a:p>
            <a:pPr lvl="1">
              <a:lnSpc>
                <a:spcPct val="100000"/>
              </a:lnSpc>
            </a:pPr>
            <a:r>
              <a:rPr kumimoji="1" lang="en-US" altLang="zh-CN" sz="1600" dirty="0"/>
              <a:t>Need a way to revoke certificates:</a:t>
            </a:r>
            <a:r>
              <a:rPr kumimoji="1" lang="zh-CN" altLang="en-US" sz="1600" dirty="0"/>
              <a:t> </a:t>
            </a:r>
            <a:r>
              <a:rPr kumimoji="1" lang="en-US" altLang="zh-CN" sz="1600" dirty="0"/>
              <a:t>Expiration date? </a:t>
            </a:r>
            <a:r>
              <a:rPr kumimoji="1" lang="zh-CN" altLang="en-US" sz="1600" dirty="0"/>
              <a:t> </a:t>
            </a:r>
            <a:r>
              <a:rPr kumimoji="1" lang="en-US" altLang="zh-CN" sz="1600" dirty="0"/>
              <a:t>Not</a:t>
            </a:r>
            <a:r>
              <a:rPr kumimoji="1" lang="zh-CN" altLang="en-US" sz="1600" dirty="0"/>
              <a:t> </a:t>
            </a:r>
            <a:r>
              <a:rPr kumimoji="1" lang="en-US" altLang="zh-CN" sz="1600" dirty="0"/>
              <a:t>useful for immediate  problems      </a:t>
            </a:r>
            <a:endParaRPr kumimoji="1" lang="zh-CN" altLang="en-US" sz="1600" dirty="0"/>
          </a:p>
          <a:p>
            <a:pPr lvl="1">
              <a:lnSpc>
                <a:spcPct val="100000"/>
              </a:lnSpc>
            </a:pPr>
            <a:r>
              <a:rPr kumimoji="1" lang="en-US" altLang="zh-CN" sz="1600" dirty="0"/>
              <a:t>Publish certificate revocation list?  Works in theory, not as well in practice</a:t>
            </a:r>
            <a:endParaRPr kumimoji="1" lang="zh-CN" altLang="en-US" sz="1600" dirty="0"/>
          </a:p>
          <a:p>
            <a:pPr lvl="1">
              <a:lnSpc>
                <a:spcPct val="100000"/>
              </a:lnSpc>
            </a:pPr>
            <a:r>
              <a:rPr kumimoji="1" lang="en-US" altLang="zh-CN" sz="1600" dirty="0"/>
              <a:t>Query online server to check certificate freshness?  Not a</a:t>
            </a:r>
            <a:r>
              <a:rPr kumimoji="1" lang="zh-CN" altLang="en-US" sz="1600" dirty="0"/>
              <a:t> </a:t>
            </a:r>
            <a:r>
              <a:rPr kumimoji="1" lang="en-US" altLang="zh-CN" sz="1600" dirty="0"/>
              <a:t>bad idea   </a:t>
            </a:r>
            <a:endParaRPr kumimoji="1" lang="zh-CN" alt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82368" y="0"/>
            <a:ext cx="7979263" cy="5715000"/>
          </a:xfrm>
          <a:prstGeom prst="rect">
            <a:avLst/>
          </a:prstGeom>
        </p:spPr>
      </p:pic>
    </p:spTree>
  </p:cSld>
  <p:clrMapOvr>
    <a:masterClrMapping/>
  </p:clrMapOvr>
  <p:transition/>
</p:sld>
</file>

<file path=ppt/theme/theme1.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BE374B"/>
          </a:solidFill>
          <a:tailEnd type="arrow" w="lg" len="lg"/>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SJTU-Red</Template>
  <TotalTime>0</TotalTime>
  <Words>10517</Words>
  <Application>WPS 演示</Application>
  <PresentationFormat>全屏显示(16:10)</PresentationFormat>
  <Paragraphs>740</Paragraphs>
  <Slides>58</Slides>
  <Notes>22</Notes>
  <HiddenSlides>1</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58</vt:i4>
      </vt:variant>
    </vt:vector>
  </HeadingPairs>
  <TitlesOfParts>
    <vt:vector size="75" baseType="lpstr">
      <vt:lpstr>Arial</vt:lpstr>
      <vt:lpstr>宋体</vt:lpstr>
      <vt:lpstr>Wingdings</vt:lpstr>
      <vt:lpstr>等线</vt:lpstr>
      <vt:lpstr>微软雅黑 Light</vt:lpstr>
      <vt:lpstr>PingFang SC</vt:lpstr>
      <vt:lpstr>微软雅黑</vt:lpstr>
      <vt:lpstr>MS PGothic</vt:lpstr>
      <vt:lpstr>Calibri</vt:lpstr>
      <vt:lpstr>Tahoma</vt:lpstr>
      <vt:lpstr>Arial Unicode MS</vt:lpstr>
      <vt:lpstr>Consolas</vt:lpstr>
      <vt:lpstr>Myriad Pro Light SemiCond</vt:lpstr>
      <vt:lpstr>Segoe Print</vt:lpstr>
      <vt:lpstr>楷体</vt:lpstr>
      <vt:lpstr>Helvetica</vt:lpstr>
      <vt:lpstr>1_Office 主题​​</vt:lpstr>
      <vt:lpstr>Control Flow Integrity &amp; Secure Data Flow</vt:lpstr>
      <vt:lpstr>Data Flow Protection</vt:lpstr>
      <vt:lpstr>Two Usages of Data Flow Tracking</vt:lpstr>
      <vt:lpstr>Ways an Attacker Can Steal Your Secrets</vt:lpstr>
      <vt:lpstr>Ways an Attacker Can Steal Your Secrets</vt:lpstr>
      <vt:lpstr>The "Data Residue" Problem</vt:lpstr>
      <vt:lpstr>Ways an Attacker Can Steal Your Secrets</vt:lpstr>
      <vt:lpstr>Ways an Attacker Can Steal Your Secrets</vt:lpstr>
      <vt:lpstr>Ways an Attacker Can Steal Your Secrets</vt:lpstr>
      <vt:lpstr>Taint Tracking</vt:lpstr>
      <vt:lpstr>Data Lifetime</vt:lpstr>
      <vt:lpstr>Tainting: Data Flow Tracking</vt:lpstr>
      <vt:lpstr>Dynamic Taint Analysis</vt:lpstr>
      <vt:lpstr>Dynamic Taint Analysis</vt:lpstr>
      <vt:lpstr>Dynamic Taint Analysis</vt:lpstr>
      <vt:lpstr>Dynamic Taint Analysis</vt:lpstr>
      <vt:lpstr>Dynamic Taint Analysis</vt:lpstr>
      <vt:lpstr>Dynamic Taint Analysis</vt:lpstr>
      <vt:lpstr>Dynamic Taint Analysis</vt:lpstr>
      <vt:lpstr>Dynamic Taint Analysis</vt:lpstr>
      <vt:lpstr>Dynamic Taint Analysis</vt:lpstr>
      <vt:lpstr>Dynamic Taint Analysis</vt:lpstr>
      <vt:lpstr>Dynamic Taint Analysis</vt:lpstr>
      <vt:lpstr>TaintDroid</vt:lpstr>
      <vt:lpstr>TaintDroid Data Flow</vt:lpstr>
      <vt:lpstr>Taint Propagation</vt:lpstr>
      <vt:lpstr>Defending Malicious Input</vt:lpstr>
      <vt:lpstr>Two Usages of Data Flow Tracking</vt:lpstr>
      <vt:lpstr>How does a Hacker Search a Bug?</vt:lpstr>
      <vt:lpstr>Step-1: List the Demuxers of FFmpeg</vt:lpstr>
      <vt:lpstr>Step-2: Identify the Input Data</vt:lpstr>
      <vt:lpstr>Step-3: Trace the Input Data</vt:lpstr>
      <vt:lpstr>PowerPoint 演示文稿</vt:lpstr>
      <vt:lpstr>Step-3: Trace the Input Data</vt:lpstr>
      <vt:lpstr>Step-3: Trace the Input Data</vt:lpstr>
      <vt:lpstr>Step-3: Trace the Input Data</vt:lpstr>
      <vt:lpstr>Step-3: Trace the Input Data</vt:lpstr>
      <vt:lpstr>Question</vt:lpstr>
      <vt:lpstr>TaintCheck: Basic Ideas</vt:lpstr>
      <vt:lpstr>Add Taint Checking code</vt:lpstr>
      <vt:lpstr>TaintCheck Detection Modules</vt:lpstr>
      <vt:lpstr>Performance Evaluation – CPU Bound Process</vt:lpstr>
      <vt:lpstr>Performance Overhead of Apache</vt:lpstr>
      <vt:lpstr>Secure Channel</vt:lpstr>
      <vt:lpstr>Encryption Properties</vt:lpstr>
      <vt:lpstr>PowerPoint 演示文稿</vt:lpstr>
      <vt:lpstr>PowerPoint 演示文稿</vt:lpstr>
      <vt:lpstr>PowerPoint 演示文稿</vt:lpstr>
      <vt:lpstr>PowerPoint 演示文稿</vt:lpstr>
      <vt:lpstr>PowerPoint 演示文稿</vt:lpstr>
      <vt:lpstr>PowerPoint 演示文稿</vt:lpstr>
      <vt:lpstr>Diffie-Hellman Key Exchange &amp; Man-in-the-Middle</vt:lpstr>
      <vt:lpstr>RSA Algorithm</vt:lpstr>
      <vt:lpstr>Public Key Distribution</vt:lpstr>
      <vt:lpstr>Public Key Distribution</vt:lpstr>
      <vt:lpstr>Review: Two Types of Encryption</vt:lpstr>
      <vt:lpstr>Questions on Certificate Authorities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cp:lastModifiedBy>
  <cp:revision>1639</cp:revision>
  <cp:lastPrinted>2020-03-02T13:38:00Z</cp:lastPrinted>
  <dcterms:created xsi:type="dcterms:W3CDTF">2017-11-24T09:35:00Z</dcterms:created>
  <dcterms:modified xsi:type="dcterms:W3CDTF">2025-01-15T14:46:34Z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DC5031FA66C9424E9A26908826E480B2_12</vt:lpwstr>
  </property>
  <property fmtid="{D5CDD505-2E9C-101B-9397-08002B2CF9AE}" pid="3" name="KSOProductBuildVer">
    <vt:lpwstr>2052-12.1.0.19770</vt:lpwstr>
  </property>
</Properties>
</file>