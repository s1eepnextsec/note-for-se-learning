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7"/>
  </p:handoutMasterIdLst>
  <p:sldIdLst>
    <p:sldId id="2241" r:id="rId3"/>
    <p:sldId id="338" r:id="rId5"/>
    <p:sldId id="2249" r:id="rId6"/>
    <p:sldId id="225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4680" r:id="rId20"/>
    <p:sldId id="257" r:id="rId21"/>
    <p:sldId id="2758" r:id="rId22"/>
    <p:sldId id="1360" r:id="rId23"/>
    <p:sldId id="2746" r:id="rId24"/>
    <p:sldId id="2974" r:id="rId25"/>
    <p:sldId id="1373" r:id="rId26"/>
    <p:sldId id="1374" r:id="rId27"/>
    <p:sldId id="554" r:id="rId28"/>
    <p:sldId id="1375" r:id="rId29"/>
    <p:sldId id="531" r:id="rId30"/>
    <p:sldId id="1456" r:id="rId31"/>
    <p:sldId id="1458" r:id="rId32"/>
    <p:sldId id="1460" r:id="rId33"/>
    <p:sldId id="2751" r:id="rId34"/>
    <p:sldId id="2752" r:id="rId35"/>
    <p:sldId id="2753" r:id="rId36"/>
    <p:sldId id="1464" r:id="rId37"/>
    <p:sldId id="2745" r:id="rId38"/>
    <p:sldId id="1461" r:id="rId39"/>
    <p:sldId id="2975" r:id="rId40"/>
    <p:sldId id="1364" r:id="rId41"/>
    <p:sldId id="2976" r:id="rId42"/>
    <p:sldId id="2977" r:id="rId43"/>
    <p:sldId id="2744" r:id="rId44"/>
    <p:sldId id="1506" r:id="rId45"/>
    <p:sldId id="1507" r:id="rId46"/>
    <p:sldId id="1508" r:id="rId47"/>
    <p:sldId id="2742" r:id="rId48"/>
    <p:sldId id="1466" r:id="rId49"/>
    <p:sldId id="1468" r:id="rId50"/>
    <p:sldId id="1467" r:id="rId51"/>
    <p:sldId id="2749" r:id="rId52"/>
    <p:sldId id="2737" r:id="rId53"/>
    <p:sldId id="2738" r:id="rId54"/>
    <p:sldId id="2740" r:id="rId55"/>
    <p:sldId id="2756" r:id="rId56"/>
    <p:sldId id="2741" r:id="rId57"/>
    <p:sldId id="4683" r:id="rId58"/>
    <p:sldId id="1368" r:id="rId59"/>
    <p:sldId id="1361" r:id="rId60"/>
    <p:sldId id="1362" r:id="rId61"/>
    <p:sldId id="1366" r:id="rId62"/>
    <p:sldId id="1367" r:id="rId63"/>
    <p:sldId id="1363" r:id="rId64"/>
    <p:sldId id="1369" r:id="rId65"/>
    <p:sldId id="1365" r:id="rId66"/>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1" userDrawn="1">
          <p15:clr>
            <a:srgbClr val="A4A3A4"/>
          </p15:clr>
        </p15:guide>
        <p15:guide id="3" pos="2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6F6F6"/>
    <a:srgbClr val="0432FF"/>
    <a:srgbClr val="0066B8"/>
    <a:srgbClr val="BD374B"/>
    <a:srgbClr val="BE374B"/>
    <a:srgbClr val="EACBA3"/>
    <a:srgbClr val="E2EAF7"/>
    <a:srgbClr val="FF5F00"/>
    <a:srgbClr val="FF7E79"/>
    <a:srgbClr val="F6F9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82" autoAdjust="0"/>
    <p:restoredTop sz="88707" autoAdjust="0"/>
  </p:normalViewPr>
  <p:slideViewPr>
    <p:cSldViewPr showGuides="1">
      <p:cViewPr varScale="1">
        <p:scale>
          <a:sx n="130" d="100"/>
          <a:sy n="130" d="100"/>
        </p:scale>
        <p:origin x="1904" y="192"/>
      </p:cViewPr>
      <p:guideLst>
        <p:guide orient="horz" pos="711"/>
        <p:guide pos="295"/>
      </p:guideLst>
    </p:cSldViewPr>
  </p:slideViewPr>
  <p:outlineViewPr>
    <p:cViewPr>
      <p:scale>
        <a:sx n="33" d="100"/>
        <a:sy n="33" d="100"/>
      </p:scale>
      <p:origin x="0" y="-5720"/>
    </p:cViewPr>
  </p:outlineViewPr>
  <p:notesTextViewPr>
    <p:cViewPr>
      <p:scale>
        <a:sx n="110" d="100"/>
        <a:sy n="110" d="100"/>
      </p:scale>
      <p:origin x="0" y="0"/>
    </p:cViewPr>
  </p:notesTextViewPr>
  <p:sorterViewPr>
    <p:cViewPr>
      <p:scale>
        <a:sx n="66" d="100"/>
        <a:sy n="66" d="100"/>
      </p:scale>
      <p:origin x="0" y="0"/>
    </p:cViewPr>
  </p:sorterViewPr>
  <p:notesViewPr>
    <p:cSldViewPr>
      <p:cViewPr varScale="1">
        <p:scale>
          <a:sx n="85" d="100"/>
          <a:sy n="85" d="100"/>
        </p:scale>
        <p:origin x="2720" y="1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tableStyles" Target="tableStyles.xml"/><Relationship Id="rId7" Type="http://schemas.openxmlformats.org/officeDocument/2006/relationships/slide" Target="slides/slide4.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handoutMaster" Target="handoutMasters/handoutMaster1.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baseline="0" dirty="0"/>
              <a:t>Credits</a:t>
            </a:r>
            <a:r>
              <a:rPr kumimoji="1" lang="zh-CN" altLang="en-US" baseline="0" dirty="0"/>
              <a:t> </a:t>
            </a:r>
            <a:r>
              <a:rPr kumimoji="1" lang="en-US" altLang="zh-CN" baseline="0" dirty="0"/>
              <a:t>to</a:t>
            </a:r>
            <a:r>
              <a:rPr kumimoji="1" lang="zh-CN" altLang="en-US" baseline="0" dirty="0"/>
              <a:t> </a:t>
            </a:r>
            <a:r>
              <a:rPr lang="en-US" altLang="zh-CN" dirty="0">
                <a:solidFill>
                  <a:srgbClr val="000090"/>
                </a:solidFill>
                <a:ea typeface="MS PGothic" panose="020B0600070205080204" pitchFamily="34" charset="-128"/>
              </a:rPr>
              <a:t>Mike Freedman</a:t>
            </a:r>
            <a:r>
              <a:rPr kumimoji="1" lang="zh-CN" altLang="en-US" baseline="0" dirty="0">
                <a:solidFill>
                  <a:srgbClr val="000090"/>
                </a:solidFill>
                <a:ea typeface="MS PGothic" panose="020B0600070205080204" pitchFamily="34" charset="-128"/>
              </a:rPr>
              <a:t> </a:t>
            </a:r>
            <a:r>
              <a:rPr kumimoji="1" lang="en-US" altLang="zh-CN" baseline="0" dirty="0">
                <a:solidFill>
                  <a:srgbClr val="000090"/>
                </a:solidFill>
                <a:ea typeface="MS PGothic" panose="020B0600070205080204" pitchFamily="34" charset="-128"/>
              </a:rPr>
              <a:t>(</a:t>
            </a:r>
            <a:r>
              <a:rPr lang="en-US" altLang="zh-CN" dirty="0">
                <a:solidFill>
                  <a:srgbClr val="000090"/>
                </a:solidFill>
                <a:ea typeface="MS PGothic" panose="020B0600070205080204" pitchFamily="34" charset="-128"/>
              </a:rPr>
              <a:t>COS 461)</a:t>
            </a:r>
            <a:r>
              <a:rPr lang="zh-CN" altLang="en-US" dirty="0">
                <a:solidFill>
                  <a:srgbClr val="000090"/>
                </a:solidFill>
                <a:ea typeface="MS PGothic" panose="020B0600070205080204" pitchFamily="34" charset="-128"/>
              </a:rPr>
              <a:t> </a:t>
            </a:r>
            <a:r>
              <a:rPr kumimoji="1" lang="en-US" altLang="zh-CN" baseline="0" dirty="0">
                <a:solidFill>
                  <a:srgbClr val="000090"/>
                </a:solidFill>
                <a:ea typeface="MS PGothic" panose="020B0600070205080204" pitchFamily="34" charset="-128"/>
              </a:rPr>
              <a:t>and</a:t>
            </a:r>
            <a:r>
              <a:rPr kumimoji="1" lang="zh-CN" altLang="en-US" baseline="0" dirty="0">
                <a:solidFill>
                  <a:srgbClr val="000090"/>
                </a:solidFill>
                <a:ea typeface="MS PGothic" panose="020B0600070205080204" pitchFamily="34" charset="-128"/>
              </a:rPr>
              <a:t> </a:t>
            </a:r>
            <a:r>
              <a:rPr kumimoji="1" lang="en-US" altLang="zh-CN" baseline="0" dirty="0">
                <a:solidFill>
                  <a:srgbClr val="000090"/>
                </a:solidFill>
                <a:ea typeface="MS PGothic" panose="020B0600070205080204" pitchFamily="34" charset="-128"/>
              </a:rPr>
              <a:t>others.</a:t>
            </a:r>
            <a:endParaRPr lang="en-US" altLang="zh-CN" dirty="0">
              <a:solidFill>
                <a:srgbClr val="000090"/>
              </a:solidFill>
              <a:ea typeface="MS PGothic" panose="020B0600070205080204" pitchFamily="34" charset="-128"/>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But if receiver is also sending to the sender (i.e., if they're both sending), the receiver might use that sequence number.  So     adversary could replay in the other direction (a "reflection" attack)   - Solution: Use different keys in each direction</a:t>
            </a:r>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sz="1200" b="0" i="0" u="none" strike="noStrike" kern="1200" dirty="0" err="1">
                <a:solidFill>
                  <a:schemeClr val="tx1"/>
                </a:solidFill>
                <a:effectLst/>
                <a:latin typeface="+mn-lt"/>
                <a:ea typeface="+mn-ea"/>
                <a:cs typeface="+mn-cs"/>
              </a:rPr>
              <a:t>g^i</a:t>
            </a:r>
            <a:r>
              <a:rPr lang="en-GB" altLang="zh-CN" sz="1200" b="0" i="0" u="none" strike="noStrike" kern="1200" dirty="0">
                <a:solidFill>
                  <a:schemeClr val="tx1"/>
                </a:solidFill>
                <a:effectLst/>
                <a:latin typeface="+mn-lt"/>
                <a:ea typeface="+mn-ea"/>
                <a:cs typeface="+mn-cs"/>
              </a:rPr>
              <a:t> mod p ≠ </a:t>
            </a:r>
            <a:r>
              <a:rPr lang="en-GB" altLang="zh-CN" sz="1200" b="0" i="0" u="none" strike="noStrike" kern="1200" dirty="0" err="1">
                <a:solidFill>
                  <a:schemeClr val="tx1"/>
                </a:solidFill>
                <a:effectLst/>
                <a:latin typeface="+mn-lt"/>
                <a:ea typeface="+mn-ea"/>
                <a:cs typeface="+mn-cs"/>
              </a:rPr>
              <a:t>g^j</a:t>
            </a:r>
            <a:r>
              <a:rPr lang="en-GB" altLang="zh-CN" sz="1200" b="0" i="0" u="none" strike="noStrike" kern="1200" dirty="0">
                <a:solidFill>
                  <a:schemeClr val="tx1"/>
                </a:solidFill>
                <a:effectLst/>
                <a:latin typeface="+mn-lt"/>
                <a:ea typeface="+mn-ea"/>
                <a:cs typeface="+mn-cs"/>
              </a:rPr>
              <a:t> mod p </a:t>
            </a:r>
            <a:r>
              <a:rPr lang="zh-CN" altLang="en-GB" sz="1200" b="0" i="0" u="none" strike="noStrike" kern="1200" dirty="0">
                <a:solidFill>
                  <a:schemeClr val="tx1"/>
                </a:solidFill>
                <a:effectLst/>
                <a:latin typeface="+mn-lt"/>
                <a:ea typeface="+mn-ea"/>
                <a:cs typeface="+mn-cs"/>
              </a:rPr>
              <a:t>（</a:t>
            </a:r>
            <a:r>
              <a:rPr lang="en-GB" altLang="zh-CN" sz="1200" b="0" i="0" u="none" strike="noStrike" kern="1200" dirty="0">
                <a:solidFill>
                  <a:schemeClr val="tx1"/>
                </a:solidFill>
                <a:effectLst/>
                <a:latin typeface="+mn-lt"/>
                <a:ea typeface="+mn-ea"/>
                <a:cs typeface="+mn-cs"/>
              </a:rPr>
              <a:t>p</a:t>
            </a:r>
            <a:r>
              <a:rPr lang="zh-CN" altLang="en-US" sz="1200" b="0" i="0" u="none" strike="noStrike" kern="1200" dirty="0">
                <a:solidFill>
                  <a:schemeClr val="tx1"/>
                </a:solidFill>
                <a:effectLst/>
                <a:latin typeface="+mn-lt"/>
                <a:ea typeface="+mn-ea"/>
                <a:cs typeface="+mn-cs"/>
              </a:rPr>
              <a:t>为素数），其中</a:t>
            </a:r>
            <a:r>
              <a:rPr lang="en-GB" altLang="zh-CN" sz="1200" b="0" i="0" u="none" strike="noStrike" kern="1200" dirty="0" err="1">
                <a:solidFill>
                  <a:schemeClr val="tx1"/>
                </a:solidFill>
                <a:effectLst/>
                <a:latin typeface="+mn-lt"/>
                <a:ea typeface="+mn-ea"/>
                <a:cs typeface="+mn-cs"/>
              </a:rPr>
              <a:t>i≠j</a:t>
            </a:r>
            <a:r>
              <a:rPr lang="zh-CN" altLang="en-US" sz="1200" b="0" i="0" u="none" strike="noStrike" kern="1200" dirty="0">
                <a:solidFill>
                  <a:schemeClr val="tx1"/>
                </a:solidFill>
                <a:effectLst/>
                <a:latin typeface="+mn-lt"/>
                <a:ea typeface="+mn-ea"/>
                <a:cs typeface="+mn-cs"/>
              </a:rPr>
              <a:t>且</a:t>
            </a:r>
            <a:r>
              <a:rPr lang="en-GB" altLang="zh-CN" sz="1200" b="0" i="0" u="none" strike="noStrike" kern="1200" dirty="0" err="1">
                <a:solidFill>
                  <a:schemeClr val="tx1"/>
                </a:solidFill>
                <a:effectLst/>
                <a:latin typeface="+mn-lt"/>
                <a:ea typeface="+mn-ea"/>
                <a:cs typeface="+mn-cs"/>
              </a:rPr>
              <a:t>i</a:t>
            </a:r>
            <a:r>
              <a:rPr lang="en-GB" altLang="zh-CN" sz="1200" b="0" i="0" u="none" strike="noStrike" kern="1200" dirty="0">
                <a:solidFill>
                  <a:schemeClr val="tx1"/>
                </a:solidFill>
                <a:effectLst/>
                <a:latin typeface="+mn-lt"/>
                <a:ea typeface="+mn-ea"/>
                <a:cs typeface="+mn-cs"/>
              </a:rPr>
              <a:t>, j</a:t>
            </a:r>
            <a:r>
              <a:rPr lang="zh-CN" altLang="en-US" sz="1200" b="0" i="0" u="none" strike="noStrike" kern="1200" dirty="0">
                <a:solidFill>
                  <a:schemeClr val="tx1"/>
                </a:solidFill>
                <a:effectLst/>
                <a:latin typeface="+mn-lt"/>
                <a:ea typeface="+mn-ea"/>
                <a:cs typeface="+mn-cs"/>
              </a:rPr>
              <a:t>介于</a:t>
            </a:r>
            <a:r>
              <a:rPr lang="en-US" altLang="zh-CN" sz="1200" b="0" i="0" u="none" strike="noStrike" kern="1200" dirty="0">
                <a:solidFill>
                  <a:schemeClr val="tx1"/>
                </a:solidFill>
                <a:effectLst/>
                <a:latin typeface="+mn-lt"/>
                <a:ea typeface="+mn-ea"/>
                <a:cs typeface="+mn-cs"/>
              </a:rPr>
              <a:t>1</a:t>
            </a:r>
            <a:r>
              <a:rPr lang="zh-CN" altLang="en-US" sz="1200" b="0" i="0" u="none" strike="noStrike" kern="1200" dirty="0">
                <a:solidFill>
                  <a:schemeClr val="tx1"/>
                </a:solidFill>
                <a:effectLst/>
                <a:latin typeface="+mn-lt"/>
                <a:ea typeface="+mn-ea"/>
                <a:cs typeface="+mn-cs"/>
              </a:rPr>
              <a:t>至</a:t>
            </a:r>
            <a:r>
              <a:rPr lang="en-US" altLang="zh-CN" sz="1200" b="0" i="0" u="none" strike="noStrike" kern="1200" dirty="0">
                <a:solidFill>
                  <a:schemeClr val="tx1"/>
                </a:solidFill>
                <a:effectLst/>
                <a:latin typeface="+mn-lt"/>
                <a:ea typeface="+mn-ea"/>
                <a:cs typeface="+mn-cs"/>
              </a:rPr>
              <a:t>(</a:t>
            </a:r>
            <a:r>
              <a:rPr lang="en-GB" altLang="zh-CN" sz="1200" b="0" i="0" u="none" strike="noStrike" kern="1200" dirty="0">
                <a:solidFill>
                  <a:schemeClr val="tx1"/>
                </a:solidFill>
                <a:effectLst/>
                <a:latin typeface="+mn-lt"/>
                <a:ea typeface="+mn-ea"/>
                <a:cs typeface="+mn-cs"/>
              </a:rPr>
              <a:t>p-1)</a:t>
            </a:r>
            <a:r>
              <a:rPr lang="zh-CN" altLang="en-US" sz="1200" b="0" i="0" u="none" strike="noStrike" kern="1200" dirty="0">
                <a:solidFill>
                  <a:schemeClr val="tx1"/>
                </a:solidFill>
                <a:effectLst/>
                <a:latin typeface="+mn-lt"/>
                <a:ea typeface="+mn-ea"/>
                <a:cs typeface="+mn-cs"/>
              </a:rPr>
              <a:t>之间，则</a:t>
            </a:r>
            <a:r>
              <a:rPr lang="en-GB" altLang="zh-CN" sz="1200" b="0" i="0" u="none" strike="noStrike" kern="1200" dirty="0">
                <a:solidFill>
                  <a:schemeClr val="tx1"/>
                </a:solidFill>
                <a:effectLst/>
                <a:latin typeface="+mn-lt"/>
                <a:ea typeface="+mn-ea"/>
                <a:cs typeface="+mn-cs"/>
              </a:rPr>
              <a:t>g</a:t>
            </a:r>
            <a:r>
              <a:rPr lang="zh-CN" altLang="en-US" sz="1200" b="0" i="0" u="none" strike="noStrike" kern="1200" dirty="0">
                <a:solidFill>
                  <a:schemeClr val="tx1"/>
                </a:solidFill>
                <a:effectLst/>
                <a:latin typeface="+mn-lt"/>
                <a:ea typeface="+mn-ea"/>
                <a:cs typeface="+mn-cs"/>
              </a:rPr>
              <a:t>为</a:t>
            </a:r>
            <a:r>
              <a:rPr lang="en-GB" altLang="zh-CN" sz="1200" b="0" i="0" u="none" strike="noStrike" kern="1200" dirty="0">
                <a:solidFill>
                  <a:schemeClr val="tx1"/>
                </a:solidFill>
                <a:effectLst/>
                <a:latin typeface="+mn-lt"/>
                <a:ea typeface="+mn-ea"/>
                <a:cs typeface="+mn-cs"/>
              </a:rPr>
              <a:t>p</a:t>
            </a:r>
            <a:r>
              <a:rPr lang="zh-CN" altLang="en-US" sz="1200" b="0" i="0" u="none" strike="noStrike" kern="1200" dirty="0">
                <a:solidFill>
                  <a:schemeClr val="tx1"/>
                </a:solidFill>
                <a:effectLst/>
                <a:latin typeface="+mn-lt"/>
                <a:ea typeface="+mn-ea"/>
                <a:cs typeface="+mn-cs"/>
              </a:rPr>
              <a:t>的原根</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600" b="1" dirty="0"/>
              <a:t>Alternative: avoid CAs by using public keys as names (protocols: SPKI/SDSI)</a:t>
            </a:r>
            <a:endParaRPr kumimoji="1" lang="zh-CN" altLang="en-US" sz="1600" b="1" dirty="0"/>
          </a:p>
          <a:p>
            <a:pPr lvl="1"/>
            <a:r>
              <a:rPr kumimoji="1" lang="en-US" altLang="zh-CN" sz="1400" dirty="0"/>
              <a:t>Works well for names that users do not have to remember/enter</a:t>
            </a:r>
            <a:endParaRPr kumimoji="1" lang="zh-CN" altLang="en-US" sz="1400" dirty="0"/>
          </a:p>
          <a:p>
            <a:endParaRPr lang="zh-CN" altLang="en-US" dirty="0"/>
          </a:p>
        </p:txBody>
      </p:sp>
      <p:sp>
        <p:nvSpPr>
          <p:cNvPr id="4" name="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pre-master-key</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is</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random</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number</a:t>
            </a:r>
            <a:endParaRPr lang="zh-CN" altLang="en-US" sz="1200" b="0" i="0" kern="1200" dirty="0">
              <a:solidFill>
                <a:schemeClr val="tx1"/>
              </a:solidFill>
              <a:effectLst/>
              <a:latin typeface="+mn-lt"/>
              <a:ea typeface="+mn-ea"/>
              <a:cs typeface="+mn-cs"/>
            </a:endParaRPr>
          </a:p>
          <a:p>
            <a:r>
              <a:rPr kumimoji="1" lang="en-US" altLang="zh-CN" sz="1200" b="0" i="0" kern="1200" dirty="0">
                <a:solidFill>
                  <a:schemeClr val="tx1"/>
                </a:solidFill>
                <a:effectLst/>
                <a:latin typeface="+mn-lt"/>
                <a:ea typeface="+mn-ea"/>
                <a:cs typeface="+mn-cs"/>
              </a:rPr>
              <a:t>PRF:</a:t>
            </a:r>
            <a:r>
              <a:rPr kumimoji="1" lang="zh-CN" altLang="en-US" sz="1200" b="0" i="0" kern="1200" dirty="0">
                <a:solidFill>
                  <a:schemeClr val="tx1"/>
                </a:solidFill>
                <a:effectLst/>
                <a:latin typeface="+mn-lt"/>
                <a:ea typeface="+mn-ea"/>
                <a:cs typeface="+mn-cs"/>
              </a:rPr>
              <a:t> </a:t>
            </a:r>
            <a:r>
              <a:rPr kumimoji="1" lang="en-US" altLang="zh-CN" sz="1200" b="0" i="0" kern="1200" dirty="0">
                <a:solidFill>
                  <a:schemeClr val="tx1"/>
                </a:solidFill>
                <a:effectLst/>
                <a:latin typeface="+mn-lt"/>
                <a:ea typeface="+mn-ea"/>
                <a:cs typeface="+mn-cs"/>
              </a:rPr>
              <a:t>pseudo random function</a:t>
            </a:r>
            <a:endParaRPr kumimoji="1" lang="en-US" altLang="zh-CN" sz="1200" b="0" i="0" kern="1200" dirty="0">
              <a:solidFill>
                <a:schemeClr val="tx1"/>
              </a:solidFill>
              <a:effectLst/>
              <a:latin typeface="+mn-lt"/>
              <a:ea typeface="+mn-ea"/>
              <a:cs typeface="+mn-cs"/>
            </a:endParaRPr>
          </a:p>
          <a:p>
            <a:endParaRPr kumimoji="1"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Master key is a 48-byte sequence</a:t>
            </a:r>
            <a:endParaRPr lang="en-US" altLang="zh-CN" sz="1200" b="0" i="0" kern="1200" dirty="0">
              <a:solidFill>
                <a:schemeClr val="tx1"/>
              </a:solidFill>
              <a:effectLst/>
              <a:latin typeface="+mn-lt"/>
              <a:ea typeface="+mn-ea"/>
              <a:cs typeface="+mn-cs"/>
            </a:endParaRPr>
          </a:p>
          <a:p>
            <a:endParaRPr kumimoji="1" lang="en-US" altLang="zh-CN" sz="1200" b="0" i="0" kern="1200" dirty="0">
              <a:solidFill>
                <a:schemeClr val="tx1"/>
              </a:solidFill>
              <a:effectLst/>
              <a:latin typeface="+mn-lt"/>
              <a:ea typeface="+mn-ea"/>
              <a:cs typeface="+mn-cs"/>
            </a:endParaRPr>
          </a:p>
          <a:p>
            <a:r>
              <a:rPr kumimoji="1" lang="en-US" altLang="zh-CN" dirty="0"/>
              <a:t>https://crypto.stackexchange.com/questions/1139/what-is-the-purpose-of-four-different-secrets-shared-by-client-and-server-in-ssl</a:t>
            </a:r>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Alice</a:t>
            </a:r>
            <a:r>
              <a:rPr lang="zh-CN" altLang="en-US" sz="1200" dirty="0"/>
              <a:t>分别用两个解密结果加密她的两份消息，将加密结果送给</a:t>
            </a:r>
            <a:r>
              <a:rPr lang="en-US" altLang="zh-CN" sz="1200" dirty="0"/>
              <a:t>Bob </a:t>
            </a:r>
            <a:r>
              <a:rPr lang="zh-CN" altLang="en-US" sz="1200" dirty="0"/>
              <a:t>（</a:t>
            </a:r>
            <a:r>
              <a:rPr lang="en-US" altLang="zh-CN" sz="1200" dirty="0"/>
              <a:t>Ci=E(</a:t>
            </a:r>
            <a:r>
              <a:rPr lang="en-US" altLang="zh-CN" sz="1200" dirty="0" err="1"/>
              <a:t>ki</a:t>
            </a:r>
            <a:r>
              <a:rPr lang="en-US" altLang="zh-CN" sz="1200" dirty="0"/>
              <a:t>, mi) </a:t>
            </a:r>
            <a:r>
              <a:rPr lang="en-US" altLang="zh-CN" sz="1200" dirty="0" err="1"/>
              <a:t>i</a:t>
            </a:r>
            <a:r>
              <a:rPr lang="en-US" altLang="zh-CN" sz="1200" dirty="0"/>
              <a:t>=0,1</a:t>
            </a:r>
            <a:r>
              <a:rPr lang="zh-CN" altLang="en-US" sz="1200" dirty="0"/>
              <a:t>）  </a:t>
            </a:r>
            <a:endParaRPr lang="en-US" altLang="zh-CN" sz="1200" dirty="0"/>
          </a:p>
          <a:p>
            <a:r>
              <a:rPr lang="en-US" altLang="zh-CN" sz="1200" dirty="0"/>
              <a:t>Bob</a:t>
            </a:r>
            <a:r>
              <a:rPr lang="zh-CN" altLang="en-US" sz="1200" dirty="0"/>
              <a:t>用</a:t>
            </a:r>
            <a:r>
              <a:rPr lang="en-US" altLang="zh-CN" sz="1200" dirty="0"/>
              <a:t>k</a:t>
            </a:r>
            <a:r>
              <a:rPr lang="zh-CN" altLang="en-US" sz="1200" dirty="0"/>
              <a:t>解密两份密文，得到需要的秘密 </a:t>
            </a:r>
            <a:r>
              <a:rPr lang="en-US" altLang="zh-CN" sz="1200" dirty="0"/>
              <a:t>s</a:t>
            </a:r>
            <a:endParaRPr lang="en-US" altLang="zh-CN" sz="1200"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Before</a:t>
            </a:r>
            <a:r>
              <a:rPr kumimoji="1" lang="zh-CN" altLang="en-US" dirty="0"/>
              <a:t> </a:t>
            </a:r>
            <a:r>
              <a:rPr kumimoji="1" lang="en-US" altLang="zh-CN" dirty="0"/>
              <a:t>presenting</a:t>
            </a:r>
            <a:r>
              <a:rPr kumimoji="1" lang="zh-CN" altLang="en-US" dirty="0"/>
              <a:t> </a:t>
            </a:r>
            <a:r>
              <a:rPr kumimoji="1" lang="en-US" altLang="zh-CN" dirty="0"/>
              <a:t>virtualization</a:t>
            </a:r>
            <a:r>
              <a:rPr kumimoji="1" lang="zh-CN" altLang="en-US" dirty="0"/>
              <a:t> </a:t>
            </a:r>
            <a:r>
              <a:rPr kumimoji="1" lang="en-US" altLang="zh-CN" dirty="0"/>
              <a:t>of</a:t>
            </a:r>
            <a:r>
              <a:rPr kumimoji="1" lang="zh-CN" altLang="en-US" dirty="0"/>
              <a:t> </a:t>
            </a:r>
            <a:r>
              <a:rPr kumimoji="1" lang="en-US" altLang="zh-CN" dirty="0"/>
              <a:t>TEE,</a:t>
            </a:r>
            <a:r>
              <a:rPr kumimoji="1" lang="zh-CN" altLang="en-US" dirty="0"/>
              <a:t> </a:t>
            </a:r>
            <a:r>
              <a:rPr kumimoji="1" lang="en-US" altLang="zh-CN" dirty="0"/>
              <a:t>let</a:t>
            </a:r>
            <a:r>
              <a:rPr kumimoji="1" lang="zh-CN" altLang="en-US" dirty="0"/>
              <a:t> </a:t>
            </a:r>
            <a:r>
              <a:rPr kumimoji="1" lang="en-US" altLang="zh-CN" dirty="0"/>
              <a:t>me</a:t>
            </a:r>
            <a:r>
              <a:rPr kumimoji="1" lang="zh-CN" altLang="en-US" dirty="0"/>
              <a:t> </a:t>
            </a:r>
            <a:r>
              <a:rPr kumimoji="1" lang="en-US" altLang="zh-CN" dirty="0"/>
              <a:t>introduce</a:t>
            </a:r>
            <a:r>
              <a:rPr kumimoji="1" lang="zh-CN" altLang="en-US" dirty="0"/>
              <a:t> </a:t>
            </a:r>
            <a:r>
              <a:rPr kumimoji="1" lang="en-US" altLang="zh-CN" dirty="0"/>
              <a:t>TEE</a:t>
            </a:r>
            <a:r>
              <a:rPr kumimoji="1" lang="zh-CN" altLang="en-US" dirty="0"/>
              <a:t> </a:t>
            </a:r>
            <a:r>
              <a:rPr kumimoji="1" lang="en-US" altLang="zh-CN" dirty="0"/>
              <a:t>a</a:t>
            </a:r>
            <a:r>
              <a:rPr kumimoji="1" lang="zh-CN" altLang="en-US" dirty="0"/>
              <a:t> </a:t>
            </a:r>
            <a:r>
              <a:rPr kumimoji="1" lang="en-US" altLang="zh-CN" dirty="0"/>
              <a:t>little</a:t>
            </a:r>
            <a:r>
              <a:rPr kumimoji="1" lang="zh-CN" altLang="en-US" dirty="0"/>
              <a:t> </a:t>
            </a:r>
            <a:r>
              <a:rPr kumimoji="1" lang="en-US" altLang="zh-CN" dirty="0"/>
              <a:t>bit.</a:t>
            </a:r>
            <a:endParaRPr kumimoji="1" lang="en-US" altLang="zh-CN" dirty="0"/>
          </a:p>
          <a:p>
            <a:r>
              <a:rPr kumimoji="1" lang="en-US" altLang="zh-CN" dirty="0"/>
              <a:t>TEE</a:t>
            </a:r>
            <a:r>
              <a:rPr kumimoji="1" lang="zh-CN" altLang="en-US" dirty="0"/>
              <a:t> </a:t>
            </a:r>
            <a:r>
              <a:rPr kumimoji="1" lang="en-US" altLang="zh-CN" dirty="0"/>
              <a:t>is</a:t>
            </a:r>
            <a:r>
              <a:rPr kumimoji="1" lang="zh-CN" altLang="en-US" dirty="0"/>
              <a:t> </a:t>
            </a:r>
            <a:r>
              <a:rPr kumimoji="1" lang="en-US" altLang="zh-CN" dirty="0"/>
              <a:t>short</a:t>
            </a:r>
            <a:r>
              <a:rPr kumimoji="1" lang="zh-CN" altLang="en-US" dirty="0"/>
              <a:t> </a:t>
            </a:r>
            <a:r>
              <a:rPr kumimoji="1" lang="en-US" altLang="zh-CN" dirty="0"/>
              <a:t>for</a:t>
            </a:r>
            <a:r>
              <a:rPr kumimoji="1" lang="zh-CN" altLang="en-US" dirty="0"/>
              <a:t> </a:t>
            </a:r>
            <a:r>
              <a:rPr kumimoji="1" lang="en-US" altLang="zh-CN" dirty="0"/>
              <a:t>xxx.</a:t>
            </a:r>
            <a:r>
              <a:rPr kumimoji="1" lang="zh-CN" altLang="en-US" dirty="0"/>
              <a:t> </a:t>
            </a:r>
            <a:r>
              <a:rPr kumimoji="1" lang="en-US" altLang="zh-CN" dirty="0"/>
              <a:t>It</a:t>
            </a:r>
            <a:r>
              <a:rPr kumimoji="1" lang="zh-CN" altLang="en-US" dirty="0"/>
              <a:t> </a:t>
            </a:r>
            <a:r>
              <a:rPr kumimoji="1" lang="en-US" altLang="zh-CN" dirty="0"/>
              <a:t>has</a:t>
            </a:r>
            <a:r>
              <a:rPr kumimoji="1" lang="zh-CN" altLang="en-US" dirty="0"/>
              <a:t> </a:t>
            </a:r>
            <a:r>
              <a:rPr kumimoji="1" lang="en-US" altLang="zh-CN" dirty="0"/>
              <a:t>been</a:t>
            </a:r>
            <a:r>
              <a:rPr kumimoji="1" lang="zh-CN" altLang="en-US" dirty="0"/>
              <a:t> </a:t>
            </a:r>
            <a:r>
              <a:rPr kumimoji="1" lang="en-US" altLang="zh-CN" dirty="0"/>
              <a:t>widely</a:t>
            </a:r>
            <a:r>
              <a:rPr kumimoji="1" lang="zh-CN" altLang="en-US" dirty="0"/>
              <a:t> </a:t>
            </a:r>
            <a:r>
              <a:rPr kumimoji="1" lang="en-US" altLang="zh-CN" dirty="0"/>
              <a:t>deployed</a:t>
            </a:r>
            <a:r>
              <a:rPr kumimoji="1" lang="zh-CN" altLang="en-US" dirty="0"/>
              <a:t> </a:t>
            </a:r>
            <a:r>
              <a:rPr kumimoji="1" lang="en-US" altLang="zh-CN" dirty="0"/>
              <a:t>on</a:t>
            </a:r>
            <a:r>
              <a:rPr kumimoji="1" lang="zh-CN" altLang="en-US" dirty="0"/>
              <a:t> </a:t>
            </a:r>
            <a:r>
              <a:rPr kumimoji="1" lang="en-US" altLang="zh-CN" dirty="0"/>
              <a:t>mobile</a:t>
            </a:r>
            <a:r>
              <a:rPr kumimoji="1" lang="zh-CN" altLang="en-US" dirty="0"/>
              <a:t> </a:t>
            </a:r>
            <a:r>
              <a:rPr kumimoji="1" lang="en-US" altLang="zh-CN" dirty="0"/>
              <a:t>devices.</a:t>
            </a:r>
            <a:r>
              <a:rPr kumimoji="1" lang="zh-CN" altLang="en-US" dirty="0"/>
              <a:t> </a:t>
            </a:r>
            <a:r>
              <a:rPr kumimoji="1" lang="en-US" altLang="zh-CN" dirty="0"/>
              <a:t>Thanks</a:t>
            </a:r>
            <a:r>
              <a:rPr kumimoji="1" lang="zh-CN" altLang="en-US" dirty="0"/>
              <a:t> </a:t>
            </a:r>
            <a:r>
              <a:rPr kumimoji="1" lang="en-US" altLang="zh-CN" dirty="0"/>
              <a:t>to</a:t>
            </a:r>
            <a:r>
              <a:rPr kumimoji="1" lang="zh-CN" altLang="en-US" dirty="0"/>
              <a:t> </a:t>
            </a:r>
            <a:r>
              <a:rPr kumimoji="1" lang="en-US" altLang="zh-CN" dirty="0"/>
              <a:t>Google,</a:t>
            </a:r>
            <a:r>
              <a:rPr kumimoji="1" lang="zh-CN" altLang="en-US" dirty="0"/>
              <a:t> </a:t>
            </a:r>
            <a:r>
              <a:rPr kumimoji="1" lang="en-US" altLang="zh-CN" dirty="0"/>
              <a:t>now</a:t>
            </a:r>
            <a:r>
              <a:rPr kumimoji="1" lang="zh-CN" altLang="en-US" dirty="0"/>
              <a:t> </a:t>
            </a:r>
            <a:r>
              <a:rPr kumimoji="1" lang="en-US" altLang="zh-CN" dirty="0"/>
              <a:t>every</a:t>
            </a:r>
            <a:r>
              <a:rPr kumimoji="1" lang="zh-CN" altLang="en-US" dirty="0"/>
              <a:t> </a:t>
            </a:r>
            <a:r>
              <a:rPr kumimoji="1" lang="en-US" altLang="zh-CN" dirty="0"/>
              <a:t>Android</a:t>
            </a:r>
            <a:r>
              <a:rPr kumimoji="1" lang="zh-CN" altLang="en-US" dirty="0"/>
              <a:t> </a:t>
            </a:r>
            <a:r>
              <a:rPr kumimoji="1" lang="en-US" altLang="zh-CN" dirty="0"/>
              <a:t>phone</a:t>
            </a:r>
            <a:r>
              <a:rPr kumimoji="1" lang="zh-CN" altLang="en-US" dirty="0"/>
              <a:t> </a:t>
            </a:r>
            <a:r>
              <a:rPr kumimoji="1" lang="en-US" altLang="zh-CN" dirty="0"/>
              <a:t>needs</a:t>
            </a:r>
            <a:r>
              <a:rPr kumimoji="1" lang="zh-CN" altLang="en-US" dirty="0"/>
              <a:t> </a:t>
            </a:r>
            <a:r>
              <a:rPr kumimoji="1" lang="en-US" altLang="zh-CN" dirty="0"/>
              <a:t>to</a:t>
            </a:r>
            <a:r>
              <a:rPr kumimoji="1" lang="zh-CN" altLang="en-US" dirty="0"/>
              <a:t> </a:t>
            </a:r>
            <a:r>
              <a:rPr kumimoji="1" lang="en-US" altLang="zh-CN" dirty="0"/>
              <a:t>have</a:t>
            </a:r>
            <a:r>
              <a:rPr kumimoji="1" lang="zh-CN" altLang="en-US" dirty="0"/>
              <a:t> </a:t>
            </a:r>
            <a:r>
              <a:rPr kumimoji="1" lang="en-US" altLang="zh-CN" dirty="0"/>
              <a:t>TEE</a:t>
            </a:r>
            <a:r>
              <a:rPr kumimoji="1" lang="zh-CN" altLang="en-US" dirty="0"/>
              <a:t> </a:t>
            </a:r>
            <a:r>
              <a:rPr kumimoji="1" lang="en-US" altLang="zh-CN" dirty="0"/>
              <a:t>to</a:t>
            </a:r>
            <a:r>
              <a:rPr kumimoji="1" lang="zh-CN" altLang="en-US" dirty="0"/>
              <a:t> </a:t>
            </a:r>
            <a:r>
              <a:rPr kumimoji="1" lang="en-US" altLang="zh-CN" dirty="0"/>
              <a:t>pass</a:t>
            </a:r>
            <a:r>
              <a:rPr kumimoji="1" lang="zh-CN" altLang="en-US" dirty="0"/>
              <a:t> </a:t>
            </a:r>
            <a:r>
              <a:rPr kumimoji="1" lang="en-US" altLang="zh-CN" dirty="0"/>
              <a:t>Google's</a:t>
            </a:r>
            <a:r>
              <a:rPr kumimoji="1" lang="zh-CN" altLang="en-US" dirty="0"/>
              <a:t> </a:t>
            </a:r>
            <a:r>
              <a:rPr kumimoji="1" lang="en-US" altLang="zh-CN" dirty="0"/>
              <a:t>test.</a:t>
            </a:r>
            <a:endParaRPr kumimoji="1" lang="en-US" altLang="zh-CN" dirty="0"/>
          </a:p>
          <a:p>
            <a:r>
              <a:rPr kumimoji="1" lang="en-US" altLang="zh-CN" dirty="0"/>
              <a:t>On</a:t>
            </a:r>
            <a:r>
              <a:rPr kumimoji="1" lang="zh-CN" altLang="en-US" dirty="0"/>
              <a:t> </a:t>
            </a:r>
            <a:r>
              <a:rPr kumimoji="1" lang="en-US" altLang="zh-CN" dirty="0"/>
              <a:t>mobile</a:t>
            </a:r>
            <a:r>
              <a:rPr kumimoji="1" lang="zh-CN" altLang="en-US" dirty="0"/>
              <a:t> </a:t>
            </a:r>
            <a:r>
              <a:rPr kumimoji="1" lang="en-US" altLang="zh-CN" dirty="0"/>
              <a:t>phone,</a:t>
            </a:r>
            <a:r>
              <a:rPr kumimoji="1" lang="zh-CN" altLang="en-US" dirty="0"/>
              <a:t> </a:t>
            </a:r>
            <a:r>
              <a:rPr kumimoji="1" lang="en-US" altLang="zh-CN" dirty="0"/>
              <a:t>most</a:t>
            </a:r>
            <a:r>
              <a:rPr kumimoji="1" lang="zh-CN" altLang="en-US" dirty="0"/>
              <a:t> </a:t>
            </a:r>
            <a:r>
              <a:rPr kumimoji="1" lang="en-US" altLang="zh-CN" dirty="0"/>
              <a:t>TEE</a:t>
            </a:r>
            <a:r>
              <a:rPr kumimoji="1" lang="zh-CN" altLang="en-US" dirty="0"/>
              <a:t> </a:t>
            </a:r>
            <a:r>
              <a:rPr kumimoji="1" lang="en-US" altLang="zh-CN" dirty="0"/>
              <a:t>are</a:t>
            </a:r>
            <a:r>
              <a:rPr kumimoji="1" lang="zh-CN" altLang="en-US" dirty="0"/>
              <a:t> </a:t>
            </a:r>
            <a:r>
              <a:rPr kumimoji="1" lang="en-US" altLang="zh-CN" dirty="0"/>
              <a:t>based</a:t>
            </a:r>
            <a:r>
              <a:rPr kumimoji="1" lang="zh-CN" altLang="en-US" dirty="0"/>
              <a:t> </a:t>
            </a:r>
            <a:r>
              <a:rPr kumimoji="1" lang="en-US" altLang="zh-CN" dirty="0"/>
              <a:t>on</a:t>
            </a:r>
            <a:r>
              <a:rPr kumimoji="1" lang="zh-CN" altLang="en-US" dirty="0"/>
              <a:t> </a:t>
            </a:r>
            <a:r>
              <a:rPr kumimoji="1" lang="en-US" altLang="zh-CN" dirty="0"/>
              <a:t>ARM</a:t>
            </a:r>
            <a:r>
              <a:rPr kumimoji="1" lang="zh-CN" altLang="en-US" dirty="0"/>
              <a:t> </a:t>
            </a:r>
            <a:r>
              <a:rPr kumimoji="1" lang="en-US" altLang="zh-CN" dirty="0" err="1"/>
              <a:t>TrustZone</a:t>
            </a:r>
            <a:r>
              <a:rPr kumimoji="1" lang="en-US" altLang="zh-CN" dirty="0"/>
              <a:t>.</a:t>
            </a:r>
            <a:endParaRPr kumimoji="1" lang="en-US" altLang="zh-CN" dirty="0"/>
          </a:p>
          <a:p>
            <a:r>
              <a:rPr kumimoji="1" lang="en-US" altLang="zh-CN" dirty="0" err="1"/>
              <a:t>TrustZone</a:t>
            </a:r>
            <a:r>
              <a:rPr kumimoji="1" lang="zh-CN" altLang="en-US" dirty="0"/>
              <a:t> </a:t>
            </a:r>
            <a:r>
              <a:rPr kumimoji="1" lang="en-US" altLang="zh-CN" dirty="0"/>
              <a:t>divides</a:t>
            </a:r>
            <a:r>
              <a:rPr kumimoji="1" lang="zh-CN" altLang="en-US" dirty="0"/>
              <a:t> </a:t>
            </a:r>
            <a:r>
              <a:rPr kumimoji="1" lang="en-US" altLang="zh-CN" dirty="0"/>
              <a:t>one</a:t>
            </a:r>
            <a:r>
              <a:rPr kumimoji="1" lang="zh-CN" altLang="en-US" dirty="0"/>
              <a:t> </a:t>
            </a:r>
            <a:r>
              <a:rPr kumimoji="1" lang="en-US" altLang="zh-CN" dirty="0"/>
              <a:t>system</a:t>
            </a:r>
            <a:r>
              <a:rPr kumimoji="1" lang="zh-CN" altLang="en-US" dirty="0"/>
              <a:t> </a:t>
            </a:r>
            <a:r>
              <a:rPr kumimoji="1" lang="en-US" altLang="zh-CN" dirty="0"/>
              <a:t>to</a:t>
            </a:r>
            <a:r>
              <a:rPr kumimoji="1" lang="zh-CN" altLang="en-US" dirty="0"/>
              <a:t> </a:t>
            </a:r>
            <a:r>
              <a:rPr kumimoji="1" lang="en-US" altLang="zh-CN" dirty="0"/>
              <a:t>two</a:t>
            </a:r>
            <a:r>
              <a:rPr kumimoji="1" lang="zh-CN" altLang="en-US" dirty="0"/>
              <a:t> </a:t>
            </a:r>
            <a:r>
              <a:rPr kumimoji="1" lang="en-US" altLang="zh-CN" dirty="0"/>
              <a:t>worlds:</a:t>
            </a:r>
            <a:r>
              <a:rPr kumimoji="1" lang="zh-CN" altLang="en-US" dirty="0"/>
              <a:t> </a:t>
            </a:r>
            <a:r>
              <a:rPr kumimoji="1" lang="en-US" altLang="zh-CN" dirty="0"/>
              <a:t>xxx</a:t>
            </a:r>
            <a:r>
              <a:rPr kumimoji="1" lang="zh-CN" altLang="en-US" dirty="0"/>
              <a:t> </a:t>
            </a:r>
            <a:r>
              <a:rPr kumimoji="1" lang="en-US" altLang="zh-CN" dirty="0"/>
              <a:t>and</a:t>
            </a:r>
            <a:r>
              <a:rPr kumimoji="1" lang="zh-CN" altLang="en-US" dirty="0"/>
              <a:t> </a:t>
            </a:r>
            <a:r>
              <a:rPr kumimoji="1" lang="en-US" altLang="zh-CN" dirty="0"/>
              <a:t>xxx.</a:t>
            </a:r>
            <a:endParaRPr kumimoji="1" lang="en-US" altLang="zh-CN" dirty="0"/>
          </a:p>
          <a:p>
            <a:r>
              <a:rPr kumimoji="1" lang="en-US" altLang="zh-CN" dirty="0"/>
              <a:t>The</a:t>
            </a:r>
            <a:r>
              <a:rPr kumimoji="1" lang="zh-CN" altLang="en-US" dirty="0"/>
              <a:t> </a:t>
            </a:r>
            <a:r>
              <a:rPr kumimoji="1" lang="en-US" altLang="zh-CN" dirty="0"/>
              <a:t>normal</a:t>
            </a:r>
            <a:r>
              <a:rPr kumimoji="1" lang="zh-CN" altLang="en-US" dirty="0"/>
              <a:t> </a:t>
            </a:r>
            <a:r>
              <a:rPr kumimoji="1" lang="en-US" altLang="zh-CN" dirty="0"/>
              <a:t>world,</a:t>
            </a:r>
            <a:r>
              <a:rPr kumimoji="1" lang="zh-CN" altLang="en-US" dirty="0"/>
              <a:t> </a:t>
            </a:r>
            <a:r>
              <a:rPr kumimoji="1" lang="en-US" altLang="zh-CN" dirty="0"/>
              <a:t>aka</a:t>
            </a:r>
            <a:r>
              <a:rPr kumimoji="1" lang="zh-CN" altLang="en-US" dirty="0"/>
              <a:t> </a:t>
            </a:r>
            <a:r>
              <a:rPr kumimoji="1" lang="en-US" altLang="zh-CN" dirty="0"/>
              <a:t>REE,</a:t>
            </a:r>
            <a:r>
              <a:rPr kumimoji="1" lang="zh-CN" altLang="en-US" dirty="0"/>
              <a:t> </a:t>
            </a:r>
            <a:r>
              <a:rPr kumimoji="1" lang="en-US" altLang="zh-CN" dirty="0"/>
              <a:t>runs</a:t>
            </a:r>
            <a:r>
              <a:rPr kumimoji="1" lang="zh-CN" altLang="en-US" dirty="0"/>
              <a:t> </a:t>
            </a:r>
            <a:r>
              <a:rPr kumimoji="1" lang="en-US" altLang="zh-CN" dirty="0"/>
              <a:t>rich</a:t>
            </a:r>
            <a:r>
              <a:rPr kumimoji="1" lang="zh-CN" altLang="en-US" dirty="0"/>
              <a:t> </a:t>
            </a:r>
            <a:r>
              <a:rPr kumimoji="1" lang="en-US" altLang="zh-CN" dirty="0"/>
              <a:t>OS</a:t>
            </a:r>
            <a:r>
              <a:rPr kumimoji="1" lang="zh-CN" altLang="en-US" dirty="0"/>
              <a:t> </a:t>
            </a:r>
            <a:r>
              <a:rPr kumimoji="1" lang="en-US" altLang="zh-CN" dirty="0"/>
              <a:t>like</a:t>
            </a:r>
            <a:r>
              <a:rPr kumimoji="1" lang="zh-CN" altLang="en-US" dirty="0"/>
              <a:t> </a:t>
            </a:r>
            <a:r>
              <a:rPr kumimoji="1" lang="en-US" altLang="zh-CN" dirty="0"/>
              <a:t>Android</a:t>
            </a:r>
            <a:r>
              <a:rPr kumimoji="1" lang="zh-CN" altLang="en-US" dirty="0"/>
              <a:t> </a:t>
            </a:r>
            <a:r>
              <a:rPr kumimoji="1" lang="en-US" altLang="zh-CN" dirty="0"/>
              <a:t>or</a:t>
            </a:r>
            <a:r>
              <a:rPr kumimoji="1" lang="zh-CN" altLang="en-US" dirty="0"/>
              <a:t> </a:t>
            </a:r>
            <a:r>
              <a:rPr kumimoji="1" lang="en-US" altLang="zh-CN" dirty="0"/>
              <a:t>iOS.</a:t>
            </a:r>
            <a:r>
              <a:rPr kumimoji="1" lang="zh-CN" altLang="en-US" dirty="0"/>
              <a:t> </a:t>
            </a:r>
            <a:r>
              <a:rPr kumimoji="1" lang="en-US" altLang="zh-CN" dirty="0"/>
              <a:t>It</a:t>
            </a:r>
            <a:r>
              <a:rPr kumimoji="1" lang="zh-CN" altLang="en-US" dirty="0"/>
              <a:t> </a:t>
            </a:r>
            <a:r>
              <a:rPr kumimoji="1" lang="en-US" altLang="zh-CN" dirty="0"/>
              <a:t>has</a:t>
            </a:r>
            <a:r>
              <a:rPr kumimoji="1" lang="zh-CN" altLang="en-US" dirty="0"/>
              <a:t> </a:t>
            </a:r>
            <a:r>
              <a:rPr kumimoji="1" lang="en-US" altLang="zh-CN" dirty="0"/>
              <a:t>three</a:t>
            </a:r>
            <a:r>
              <a:rPr kumimoji="1" lang="zh-CN" altLang="en-US" dirty="0"/>
              <a:t> </a:t>
            </a:r>
            <a:r>
              <a:rPr kumimoji="1" lang="en-US" altLang="zh-CN" dirty="0"/>
              <a:t>layers:</a:t>
            </a:r>
            <a:r>
              <a:rPr kumimoji="1" lang="zh-CN" altLang="en-US" dirty="0"/>
              <a:t> </a:t>
            </a:r>
            <a:r>
              <a:rPr kumimoji="1" lang="en-US" altLang="zh-CN" dirty="0"/>
              <a:t>one</a:t>
            </a:r>
            <a:r>
              <a:rPr kumimoji="1" lang="zh-CN" altLang="en-US" dirty="0"/>
              <a:t> </a:t>
            </a:r>
            <a:r>
              <a:rPr kumimoji="1" lang="en-US" altLang="zh-CN" dirty="0"/>
              <a:t>for</a:t>
            </a:r>
            <a:r>
              <a:rPr kumimoji="1" lang="zh-CN" altLang="en-US" dirty="0"/>
              <a:t> </a:t>
            </a:r>
            <a:r>
              <a:rPr kumimoji="1" lang="en-US" altLang="zh-CN" dirty="0"/>
              <a:t>hypervisor,</a:t>
            </a:r>
            <a:r>
              <a:rPr kumimoji="1" lang="zh-CN" altLang="en-US" dirty="0"/>
              <a:t> </a:t>
            </a:r>
            <a:r>
              <a:rPr kumimoji="1" lang="en-US" altLang="zh-CN" dirty="0"/>
              <a:t>one</a:t>
            </a:r>
            <a:r>
              <a:rPr kumimoji="1" lang="zh-CN" altLang="en-US" dirty="0"/>
              <a:t> </a:t>
            </a:r>
            <a:r>
              <a:rPr kumimoji="1" lang="en-US" altLang="zh-CN" dirty="0"/>
              <a:t>for</a:t>
            </a:r>
            <a:r>
              <a:rPr kumimoji="1" lang="zh-CN" altLang="en-US" dirty="0"/>
              <a:t> </a:t>
            </a:r>
            <a:r>
              <a:rPr kumimoji="1" lang="en-US" altLang="zh-CN" dirty="0"/>
              <a:t>kernel</a:t>
            </a:r>
            <a:r>
              <a:rPr kumimoji="1" lang="zh-CN" altLang="en-US" dirty="0"/>
              <a:t> </a:t>
            </a:r>
            <a:r>
              <a:rPr kumimoji="1" lang="en-US" altLang="zh-CN" dirty="0"/>
              <a:t>and</a:t>
            </a:r>
            <a:r>
              <a:rPr kumimoji="1" lang="zh-CN" altLang="en-US" dirty="0"/>
              <a:t> </a:t>
            </a:r>
            <a:r>
              <a:rPr kumimoji="1" lang="en-US" altLang="zh-CN" dirty="0"/>
              <a:t>one</a:t>
            </a:r>
            <a:r>
              <a:rPr kumimoji="1" lang="zh-CN" altLang="en-US" dirty="0"/>
              <a:t> </a:t>
            </a:r>
            <a:r>
              <a:rPr kumimoji="1" lang="en-US" altLang="zh-CN" dirty="0"/>
              <a:t>for</a:t>
            </a:r>
            <a:r>
              <a:rPr kumimoji="1" lang="zh-CN" altLang="en-US" dirty="0"/>
              <a:t> </a:t>
            </a:r>
            <a:r>
              <a:rPr kumimoji="1" lang="en-US" altLang="zh-CN" dirty="0"/>
              <a:t>application.</a:t>
            </a:r>
            <a:endParaRPr kumimoji="1" lang="en-US" altLang="zh-CN" dirty="0"/>
          </a:p>
          <a:p>
            <a:r>
              <a:rPr kumimoji="1" lang="en-US" altLang="zh-CN" dirty="0"/>
              <a:t>The</a:t>
            </a:r>
            <a:r>
              <a:rPr kumimoji="1" lang="zh-CN" altLang="en-US" dirty="0"/>
              <a:t> </a:t>
            </a:r>
            <a:r>
              <a:rPr kumimoji="1" lang="en-US" altLang="zh-CN" dirty="0"/>
              <a:t>secure</a:t>
            </a:r>
            <a:r>
              <a:rPr kumimoji="1" lang="zh-CN" altLang="en-US" dirty="0"/>
              <a:t> </a:t>
            </a:r>
            <a:r>
              <a:rPr kumimoji="1" lang="en-US" altLang="zh-CN" dirty="0"/>
              <a:t>world,</a:t>
            </a:r>
            <a:r>
              <a:rPr kumimoji="1" lang="zh-CN" altLang="en-US" dirty="0"/>
              <a:t> </a:t>
            </a:r>
            <a:r>
              <a:rPr kumimoji="1" lang="en-US" altLang="zh-CN" dirty="0"/>
              <a:t>aka</a:t>
            </a:r>
            <a:r>
              <a:rPr kumimoji="1" lang="zh-CN" altLang="en-US" dirty="0"/>
              <a:t> </a:t>
            </a:r>
            <a:r>
              <a:rPr kumimoji="1" lang="en-US" altLang="zh-CN" dirty="0"/>
              <a:t>TEE,</a:t>
            </a:r>
            <a:r>
              <a:rPr kumimoji="1" lang="zh-CN" altLang="en-US" dirty="0"/>
              <a:t> </a:t>
            </a:r>
            <a:r>
              <a:rPr kumimoji="1" lang="en-US" altLang="zh-CN" dirty="0"/>
              <a:t>has</a:t>
            </a:r>
            <a:r>
              <a:rPr kumimoji="1" lang="zh-CN" altLang="en-US" dirty="0"/>
              <a:t> </a:t>
            </a:r>
            <a:r>
              <a:rPr kumimoji="1" lang="en-US" altLang="zh-CN" dirty="0"/>
              <a:t>three</a:t>
            </a:r>
            <a:r>
              <a:rPr kumimoji="1" lang="zh-CN" altLang="en-US" dirty="0"/>
              <a:t> </a:t>
            </a:r>
            <a:r>
              <a:rPr kumimoji="1" lang="en-US" altLang="zh-CN" dirty="0"/>
              <a:t>layers:</a:t>
            </a:r>
            <a:r>
              <a:rPr kumimoji="1" lang="zh-CN" altLang="en-US" dirty="0"/>
              <a:t> </a:t>
            </a:r>
            <a:r>
              <a:rPr kumimoji="1" lang="en-US" altLang="zh-CN" dirty="0"/>
              <a:t>one</a:t>
            </a:r>
            <a:r>
              <a:rPr kumimoji="1" lang="zh-CN" altLang="en-US" dirty="0"/>
              <a:t> </a:t>
            </a:r>
            <a:r>
              <a:rPr kumimoji="1" lang="en-US" altLang="zh-CN" dirty="0"/>
              <a:t>for</a:t>
            </a:r>
            <a:r>
              <a:rPr kumimoji="1" lang="zh-CN" altLang="en-US" dirty="0"/>
              <a:t> </a:t>
            </a:r>
            <a:r>
              <a:rPr kumimoji="1" lang="en-US" altLang="zh-CN" dirty="0"/>
              <a:t>TEE</a:t>
            </a:r>
            <a:r>
              <a:rPr kumimoji="1" lang="zh-CN" altLang="en-US" dirty="0"/>
              <a:t> </a:t>
            </a:r>
            <a:r>
              <a:rPr kumimoji="1" lang="en-US" altLang="zh-CN" dirty="0"/>
              <a:t>OS</a:t>
            </a:r>
            <a:r>
              <a:rPr kumimoji="1" lang="zh-CN" altLang="en-US" dirty="0"/>
              <a:t> </a:t>
            </a:r>
            <a:r>
              <a:rPr kumimoji="1" lang="en-US" altLang="zh-CN" dirty="0"/>
              <a:t>and</a:t>
            </a:r>
            <a:r>
              <a:rPr kumimoji="1" lang="zh-CN" altLang="en-US" dirty="0"/>
              <a:t> </a:t>
            </a:r>
            <a:r>
              <a:rPr kumimoji="1" lang="en-US" altLang="zh-CN" dirty="0"/>
              <a:t>one</a:t>
            </a:r>
            <a:r>
              <a:rPr kumimoji="1" lang="zh-CN" altLang="en-US" dirty="0"/>
              <a:t> </a:t>
            </a:r>
            <a:r>
              <a:rPr kumimoji="1" lang="en-US" altLang="zh-CN" dirty="0"/>
              <a:t>for</a:t>
            </a:r>
            <a:r>
              <a:rPr kumimoji="1" lang="zh-CN" altLang="en-US" dirty="0"/>
              <a:t> </a:t>
            </a:r>
            <a:r>
              <a:rPr kumimoji="1" lang="en-US" altLang="zh-CN" dirty="0"/>
              <a:t>TEE</a:t>
            </a:r>
            <a:r>
              <a:rPr kumimoji="1" lang="zh-CN" altLang="en-US" dirty="0"/>
              <a:t> </a:t>
            </a:r>
            <a:r>
              <a:rPr kumimoji="1" lang="en-US" altLang="zh-CN" dirty="0"/>
              <a:t>applications.</a:t>
            </a:r>
            <a:endParaRPr kumimoji="1" lang="en-US" altLang="zh-CN" dirty="0"/>
          </a:p>
          <a:p>
            <a:r>
              <a:rPr kumimoji="1" lang="en-US" altLang="zh-CN" dirty="0"/>
              <a:t>There</a:t>
            </a:r>
            <a:r>
              <a:rPr kumimoji="1" lang="zh-CN" altLang="en-US" dirty="0"/>
              <a:t> </a:t>
            </a:r>
            <a:r>
              <a:rPr kumimoji="1" lang="en-US" altLang="zh-CN" dirty="0"/>
              <a:t>is</a:t>
            </a:r>
            <a:r>
              <a:rPr kumimoji="1" lang="zh-CN" altLang="en-US" dirty="0"/>
              <a:t> </a:t>
            </a:r>
            <a:r>
              <a:rPr kumimoji="1" lang="en-US" altLang="zh-CN" dirty="0"/>
              <a:t>a</a:t>
            </a:r>
            <a:r>
              <a:rPr kumimoji="1" lang="zh-CN" altLang="en-US" dirty="0"/>
              <a:t> </a:t>
            </a:r>
            <a:r>
              <a:rPr kumimoji="1" lang="en-US" altLang="zh-CN" dirty="0"/>
              <a:t>special</a:t>
            </a:r>
            <a:r>
              <a:rPr kumimoji="1" lang="zh-CN" altLang="en-US" dirty="0"/>
              <a:t> </a:t>
            </a:r>
            <a:r>
              <a:rPr kumimoji="1" lang="en-US" altLang="zh-CN" dirty="0"/>
              <a:t>layer,</a:t>
            </a:r>
            <a:r>
              <a:rPr kumimoji="1" lang="zh-CN" altLang="en-US" dirty="0"/>
              <a:t> </a:t>
            </a:r>
            <a:r>
              <a:rPr kumimoji="1" lang="en-US" altLang="zh-CN" dirty="0"/>
              <a:t>called</a:t>
            </a:r>
            <a:r>
              <a:rPr kumimoji="1" lang="zh-CN" altLang="en-US" dirty="0"/>
              <a:t> </a:t>
            </a:r>
            <a:r>
              <a:rPr kumimoji="1" lang="en-US" altLang="zh-CN" dirty="0"/>
              <a:t>monitor</a:t>
            </a:r>
            <a:r>
              <a:rPr kumimoji="1" lang="zh-CN" altLang="en-US" dirty="0"/>
              <a:t> </a:t>
            </a:r>
            <a:r>
              <a:rPr kumimoji="1" lang="en-US" altLang="zh-CN" dirty="0"/>
              <a:t>mode</a:t>
            </a:r>
            <a:r>
              <a:rPr kumimoji="1" lang="zh-CN" altLang="en-US" dirty="0"/>
              <a:t> </a:t>
            </a:r>
            <a:r>
              <a:rPr kumimoji="1" lang="en-US" altLang="zh-CN" dirty="0"/>
              <a:t>or</a:t>
            </a:r>
            <a:r>
              <a:rPr kumimoji="1" lang="zh-CN" altLang="en-US" dirty="0"/>
              <a:t> </a:t>
            </a:r>
            <a:r>
              <a:rPr kumimoji="1" lang="en-US" altLang="zh-CN" dirty="0"/>
              <a:t>s-EL3,</a:t>
            </a:r>
            <a:r>
              <a:rPr kumimoji="1" lang="zh-CN" altLang="en-US" dirty="0"/>
              <a:t> </a:t>
            </a:r>
            <a:r>
              <a:rPr kumimoji="1" lang="en-US" altLang="zh-CN" dirty="0"/>
              <a:t>is</a:t>
            </a:r>
            <a:r>
              <a:rPr kumimoji="1" lang="zh-CN" altLang="en-US" dirty="0"/>
              <a:t> </a:t>
            </a:r>
            <a:r>
              <a:rPr kumimoji="1" lang="en-US" altLang="zh-CN" dirty="0"/>
              <a:t>used</a:t>
            </a:r>
            <a:r>
              <a:rPr kumimoji="1" lang="zh-CN" altLang="en-US" dirty="0"/>
              <a:t> </a:t>
            </a:r>
            <a:r>
              <a:rPr kumimoji="1" lang="en-US" altLang="zh-CN" dirty="0"/>
              <a:t>for</a:t>
            </a:r>
            <a:r>
              <a:rPr kumimoji="1" lang="zh-CN" altLang="en-US" dirty="0"/>
              <a:t> </a:t>
            </a:r>
            <a:r>
              <a:rPr kumimoji="1" lang="en-US" altLang="zh-CN" dirty="0"/>
              <a:t>switching</a:t>
            </a:r>
            <a:r>
              <a:rPr kumimoji="1" lang="zh-CN" altLang="en-US" dirty="0"/>
              <a:t> </a:t>
            </a:r>
            <a:r>
              <a:rPr kumimoji="1" lang="en-US" altLang="zh-CN" dirty="0"/>
              <a:t>between</a:t>
            </a:r>
            <a:r>
              <a:rPr kumimoji="1" lang="zh-CN" altLang="en-US" dirty="0"/>
              <a:t> </a:t>
            </a:r>
            <a:r>
              <a:rPr kumimoji="1" lang="en-US" altLang="zh-CN" dirty="0"/>
              <a:t>the</a:t>
            </a:r>
            <a:r>
              <a:rPr kumimoji="1" lang="zh-CN" altLang="en-US" dirty="0"/>
              <a:t> </a:t>
            </a:r>
            <a:r>
              <a:rPr kumimoji="1" lang="en-US" altLang="zh-CN" dirty="0"/>
              <a:t>two</a:t>
            </a:r>
            <a:r>
              <a:rPr kumimoji="1" lang="zh-CN" altLang="en-US" dirty="0"/>
              <a:t> </a:t>
            </a:r>
            <a:r>
              <a:rPr kumimoji="1" lang="en-US" altLang="zh-CN" dirty="0"/>
              <a:t>worlds.</a:t>
            </a:r>
            <a:r>
              <a:rPr kumimoji="1" lang="zh-CN" altLang="en-US" dirty="0"/>
              <a:t> </a:t>
            </a:r>
            <a:r>
              <a:rPr kumimoji="1" lang="en-US" altLang="zh-CN" dirty="0"/>
              <a:t>It</a:t>
            </a:r>
            <a:r>
              <a:rPr kumimoji="1" lang="zh-CN" altLang="en-US" dirty="0"/>
              <a:t> </a:t>
            </a:r>
            <a:r>
              <a:rPr kumimoji="1" lang="en-US" altLang="zh-CN" dirty="0"/>
              <a:t>is</a:t>
            </a:r>
            <a:r>
              <a:rPr kumimoji="1" lang="zh-CN" altLang="en-US" dirty="0"/>
              <a:t> </a:t>
            </a:r>
            <a:r>
              <a:rPr kumimoji="1" lang="en-US" altLang="zh-CN" dirty="0"/>
              <a:t>also</a:t>
            </a:r>
            <a:r>
              <a:rPr kumimoji="1" lang="zh-CN" altLang="en-US" dirty="0"/>
              <a:t> </a:t>
            </a:r>
            <a:r>
              <a:rPr kumimoji="1" lang="en-US" altLang="zh-CN" dirty="0"/>
              <a:t>part</a:t>
            </a:r>
            <a:r>
              <a:rPr kumimoji="1" lang="zh-CN" altLang="en-US" dirty="0"/>
              <a:t> </a:t>
            </a:r>
            <a:r>
              <a:rPr kumimoji="1" lang="en-US" altLang="zh-CN" dirty="0"/>
              <a:t>of</a:t>
            </a:r>
            <a:r>
              <a:rPr kumimoji="1" lang="zh-CN" altLang="en-US" dirty="0"/>
              <a:t> </a:t>
            </a:r>
            <a:r>
              <a:rPr kumimoji="1" lang="en-US" altLang="zh-CN" dirty="0"/>
              <a:t>the</a:t>
            </a:r>
            <a:r>
              <a:rPr kumimoji="1" lang="zh-CN" altLang="en-US" dirty="0"/>
              <a:t> </a:t>
            </a:r>
            <a:r>
              <a:rPr kumimoji="1" lang="en-US" altLang="zh-CN" dirty="0"/>
              <a:t>secure</a:t>
            </a:r>
            <a:r>
              <a:rPr kumimoji="1" lang="zh-CN" altLang="en-US" dirty="0"/>
              <a:t> </a:t>
            </a:r>
            <a:r>
              <a:rPr kumimoji="1" lang="en-US" altLang="zh-CN" dirty="0"/>
              <a:t>world</a:t>
            </a:r>
            <a:r>
              <a:rPr kumimoji="1" lang="zh-CN" altLang="en-US" dirty="0"/>
              <a:t> </a:t>
            </a:r>
            <a:r>
              <a:rPr kumimoji="1" lang="en-US" altLang="zh-CN" dirty="0"/>
              <a:t>but</a:t>
            </a:r>
            <a:r>
              <a:rPr kumimoji="1" lang="zh-CN" altLang="en-US" dirty="0"/>
              <a:t> </a:t>
            </a:r>
            <a:r>
              <a:rPr kumimoji="1" lang="en-US" altLang="zh-CN" dirty="0"/>
              <a:t>share</a:t>
            </a:r>
            <a:r>
              <a:rPr kumimoji="1" lang="zh-CN" altLang="en-US" dirty="0"/>
              <a:t> </a:t>
            </a:r>
            <a:r>
              <a:rPr kumimoji="1" lang="en-US" altLang="zh-CN" dirty="0"/>
              <a:t>the</a:t>
            </a:r>
            <a:r>
              <a:rPr kumimoji="1" lang="zh-CN" altLang="en-US" dirty="0"/>
              <a:t> </a:t>
            </a:r>
            <a:r>
              <a:rPr kumimoji="1" lang="en-US" altLang="zh-CN" dirty="0"/>
              <a:t>same</a:t>
            </a:r>
            <a:r>
              <a:rPr kumimoji="1" lang="zh-CN" altLang="en-US" dirty="0"/>
              <a:t> </a:t>
            </a:r>
            <a:r>
              <a:rPr kumimoji="1" lang="en-US" altLang="zh-CN" dirty="0"/>
              <a:t>privilege</a:t>
            </a:r>
            <a:r>
              <a:rPr kumimoji="1" lang="zh-CN" altLang="en-US" dirty="0"/>
              <a:t> </a:t>
            </a:r>
            <a:r>
              <a:rPr kumimoji="1" lang="en-US" altLang="zh-CN" dirty="0"/>
              <a:t>with</a:t>
            </a:r>
            <a:r>
              <a:rPr kumimoji="1" lang="zh-CN" altLang="en-US" dirty="0"/>
              <a:t> </a:t>
            </a:r>
            <a:r>
              <a:rPr kumimoji="1" lang="en-US" altLang="zh-CN" dirty="0"/>
              <a:t>s-EL1.</a:t>
            </a:r>
            <a:endParaRPr kumimoji="1" lang="en-US" altLang="zh-CN" dirty="0"/>
          </a:p>
          <a:p>
            <a:r>
              <a:rPr kumimoji="1" lang="en-US" altLang="zh-CN" dirty="0"/>
              <a:t>The</a:t>
            </a:r>
            <a:r>
              <a:rPr kumimoji="1" lang="zh-CN" altLang="en-US" dirty="0"/>
              <a:t> </a:t>
            </a:r>
            <a:r>
              <a:rPr kumimoji="1" lang="en-US" altLang="zh-CN" dirty="0"/>
              <a:t>switching</a:t>
            </a:r>
            <a:r>
              <a:rPr kumimoji="1" lang="zh-CN" altLang="en-US" dirty="0"/>
              <a:t> </a:t>
            </a:r>
            <a:r>
              <a:rPr kumimoji="1" lang="en-US" altLang="zh-CN" dirty="0"/>
              <a:t>is</a:t>
            </a:r>
            <a:r>
              <a:rPr kumimoji="1" lang="zh-CN" altLang="en-US" dirty="0"/>
              <a:t> </a:t>
            </a:r>
            <a:r>
              <a:rPr kumimoji="1" lang="en-US" altLang="zh-CN" dirty="0"/>
              <a:t>done</a:t>
            </a:r>
            <a:r>
              <a:rPr kumimoji="1" lang="zh-CN" altLang="en-US" dirty="0"/>
              <a:t> </a:t>
            </a:r>
            <a:r>
              <a:rPr kumimoji="1" lang="en-US" altLang="zh-CN" dirty="0"/>
              <a:t>through</a:t>
            </a:r>
            <a:r>
              <a:rPr kumimoji="1" lang="zh-CN" altLang="en-US" dirty="0"/>
              <a:t> </a:t>
            </a:r>
            <a:r>
              <a:rPr kumimoji="1" lang="en-US" altLang="zh-CN" dirty="0" err="1"/>
              <a:t>smc</a:t>
            </a:r>
            <a:r>
              <a:rPr kumimoji="1" lang="zh-CN" altLang="en-US" dirty="0"/>
              <a:t> </a:t>
            </a:r>
            <a:r>
              <a:rPr kumimoji="1" lang="en-US" altLang="zh-CN" dirty="0"/>
              <a:t>instruction.</a:t>
            </a:r>
            <a:endParaRPr kumimoji="1" lang="en-US" altLang="zh-CN" dirty="0"/>
          </a:p>
          <a:p>
            <a:r>
              <a:rPr kumimoji="1" lang="en-US" altLang="zh-CN" dirty="0"/>
              <a:t>The</a:t>
            </a:r>
            <a:r>
              <a:rPr kumimoji="1" lang="zh-CN" altLang="en-US" dirty="0"/>
              <a:t> </a:t>
            </a:r>
            <a:r>
              <a:rPr kumimoji="1" lang="en-US" altLang="zh-CN" dirty="0"/>
              <a:t>green</a:t>
            </a:r>
            <a:r>
              <a:rPr kumimoji="1" lang="zh-CN" altLang="en-US" dirty="0"/>
              <a:t> </a:t>
            </a:r>
            <a:r>
              <a:rPr kumimoji="1" lang="en-US" altLang="zh-CN" dirty="0"/>
              <a:t>part</a:t>
            </a:r>
            <a:r>
              <a:rPr kumimoji="1" lang="zh-CN" altLang="en-US" dirty="0"/>
              <a:t> </a:t>
            </a:r>
            <a:r>
              <a:rPr kumimoji="1" lang="en-US" altLang="zh-CN" dirty="0"/>
              <a:t>is</a:t>
            </a:r>
            <a:r>
              <a:rPr kumimoji="1" lang="zh-CN" altLang="en-US" dirty="0"/>
              <a:t> </a:t>
            </a:r>
            <a:r>
              <a:rPr kumimoji="1" lang="en-US" altLang="zh-CN" dirty="0"/>
              <a:t>TEE,</a:t>
            </a:r>
            <a:r>
              <a:rPr kumimoji="1" lang="zh-CN" altLang="en-US" dirty="0"/>
              <a:t> </a:t>
            </a:r>
            <a:r>
              <a:rPr kumimoji="1" lang="en-US" altLang="zh-CN" dirty="0"/>
              <a:t>which</a:t>
            </a:r>
            <a:r>
              <a:rPr kumimoji="1" lang="zh-CN" altLang="en-US" dirty="0"/>
              <a:t> </a:t>
            </a:r>
            <a:r>
              <a:rPr kumimoji="1" lang="en-US" altLang="zh-CN" dirty="0"/>
              <a:t>is</a:t>
            </a:r>
            <a:r>
              <a:rPr kumimoji="1" lang="zh-CN" altLang="en-US" dirty="0"/>
              <a:t> </a:t>
            </a:r>
            <a:r>
              <a:rPr kumimoji="1" lang="en-US" altLang="zh-CN" dirty="0"/>
              <a:t>an</a:t>
            </a:r>
            <a:r>
              <a:rPr kumimoji="1" lang="zh-CN" altLang="en-US" dirty="0"/>
              <a:t> </a:t>
            </a:r>
            <a:r>
              <a:rPr kumimoji="1" lang="en-US" altLang="zh-CN" dirty="0"/>
              <a:t>isolated</a:t>
            </a:r>
            <a:r>
              <a:rPr kumimoji="1" lang="zh-CN" altLang="en-US" dirty="0"/>
              <a:t> </a:t>
            </a:r>
            <a:r>
              <a:rPr kumimoji="1" lang="en-US" altLang="zh-CN" dirty="0"/>
              <a:t>environment</a:t>
            </a:r>
            <a:r>
              <a:rPr kumimoji="1" lang="zh-CN" altLang="en-US" dirty="0"/>
              <a:t> </a:t>
            </a:r>
            <a:r>
              <a:rPr kumimoji="1" lang="en-US" altLang="zh-CN" dirty="0"/>
              <a:t>with</a:t>
            </a:r>
            <a:r>
              <a:rPr kumimoji="1" lang="zh-CN" altLang="en-US" dirty="0"/>
              <a:t> </a:t>
            </a:r>
            <a:r>
              <a:rPr kumimoji="1" lang="en-US" altLang="zh-CN" dirty="0"/>
              <a:t>higher</a:t>
            </a:r>
            <a:r>
              <a:rPr kumimoji="1" lang="zh-CN" altLang="en-US" dirty="0"/>
              <a:t> </a:t>
            </a:r>
            <a:r>
              <a:rPr kumimoji="1" lang="en-US" altLang="zh-CN" dirty="0"/>
              <a:t>privileged</a:t>
            </a:r>
            <a:r>
              <a:rPr kumimoji="1" lang="zh-CN" altLang="en-US" dirty="0"/>
              <a:t> </a:t>
            </a:r>
            <a:r>
              <a:rPr kumimoji="1" lang="en-US" altLang="zh-CN" dirty="0"/>
              <a:t>than</a:t>
            </a:r>
            <a:r>
              <a:rPr kumimoji="1" lang="zh-CN" altLang="en-US" dirty="0"/>
              <a:t> </a:t>
            </a:r>
            <a:r>
              <a:rPr kumimoji="1" lang="en-US" altLang="zh-CN" dirty="0"/>
              <a:t>the</a:t>
            </a:r>
            <a:r>
              <a:rPr kumimoji="1" lang="zh-CN" altLang="en-US" dirty="0"/>
              <a:t> </a:t>
            </a:r>
            <a:r>
              <a:rPr kumimoji="1" lang="en-US" altLang="zh-CN" dirty="0"/>
              <a:t>REE.</a:t>
            </a:r>
            <a:endParaRPr kumimoji="1" lang="en-US" altLang="zh-CN" dirty="0"/>
          </a:p>
          <a:p>
            <a:r>
              <a:rPr kumimoji="1" lang="en-US" altLang="zh-CN" dirty="0"/>
              <a:t>It</a:t>
            </a:r>
            <a:r>
              <a:rPr kumimoji="1" lang="zh-CN" altLang="en-US" dirty="0"/>
              <a:t> </a:t>
            </a:r>
            <a:r>
              <a:rPr kumimoji="1" lang="en-US" altLang="zh-CN" dirty="0"/>
              <a:t>means</a:t>
            </a:r>
            <a:r>
              <a:rPr kumimoji="1" lang="zh-CN" altLang="en-US" dirty="0"/>
              <a:t> </a:t>
            </a:r>
            <a:r>
              <a:rPr kumimoji="1" lang="en-US" altLang="zh-CN" dirty="0"/>
              <a:t>that</a:t>
            </a:r>
            <a:r>
              <a:rPr kumimoji="1" lang="zh-CN" altLang="en-US" dirty="0"/>
              <a:t> </a:t>
            </a:r>
            <a:r>
              <a:rPr kumimoji="1" lang="en-US" altLang="zh-CN" dirty="0"/>
              <a:t>xxx</a:t>
            </a:r>
            <a:endParaRPr kumimoji="1" lang="en-US" altLang="zh-CN" dirty="0"/>
          </a:p>
          <a:p>
            <a:r>
              <a:rPr kumimoji="1" lang="en-US" altLang="zh-CN" dirty="0"/>
              <a:t>The</a:t>
            </a:r>
            <a:r>
              <a:rPr kumimoji="1" lang="zh-CN" altLang="en-US" dirty="0"/>
              <a:t> </a:t>
            </a:r>
            <a:r>
              <a:rPr kumimoji="1" lang="en-US" altLang="zh-CN" dirty="0"/>
              <a:t>TEE</a:t>
            </a:r>
            <a:r>
              <a:rPr kumimoji="1" lang="zh-CN" altLang="en-US" dirty="0"/>
              <a:t> </a:t>
            </a:r>
            <a:r>
              <a:rPr kumimoji="1" lang="en-US" altLang="zh-CN" dirty="0"/>
              <a:t>is</a:t>
            </a:r>
            <a:r>
              <a:rPr kumimoji="1" lang="zh-CN" altLang="en-US" dirty="0"/>
              <a:t> </a:t>
            </a:r>
            <a:r>
              <a:rPr kumimoji="1" lang="en-US" altLang="zh-CN" dirty="0"/>
              <a:t>designed</a:t>
            </a:r>
            <a:r>
              <a:rPr kumimoji="1" lang="zh-CN" altLang="en-US" dirty="0"/>
              <a:t> </a:t>
            </a:r>
            <a:r>
              <a:rPr kumimoji="1" lang="en-US" altLang="zh-CN" dirty="0"/>
              <a:t>to</a:t>
            </a:r>
            <a:r>
              <a:rPr kumimoji="1" lang="zh-CN" altLang="en-US" dirty="0"/>
              <a:t> </a:t>
            </a:r>
            <a:r>
              <a:rPr kumimoji="1" lang="en-US" altLang="zh-CN" dirty="0"/>
              <a:t>xxx,</a:t>
            </a:r>
            <a:r>
              <a:rPr kumimoji="1" lang="zh-CN" altLang="en-US" dirty="0"/>
              <a:t> </a:t>
            </a:r>
            <a:r>
              <a:rPr kumimoji="1" lang="en-US" altLang="zh-CN" dirty="0"/>
              <a:t>its</a:t>
            </a:r>
            <a:r>
              <a:rPr kumimoji="1" lang="zh-CN" altLang="en-US" dirty="0"/>
              <a:t> </a:t>
            </a:r>
            <a:r>
              <a:rPr kumimoji="1" lang="en-US" altLang="zh-CN" dirty="0"/>
              <a:t>typical</a:t>
            </a:r>
            <a:r>
              <a:rPr kumimoji="1" lang="zh-CN" altLang="en-US" dirty="0"/>
              <a:t> </a:t>
            </a:r>
            <a:r>
              <a:rPr kumimoji="1" lang="en-US" altLang="zh-CN" dirty="0"/>
              <a:t>usage</a:t>
            </a:r>
            <a:r>
              <a:rPr kumimoji="1" lang="zh-CN" altLang="en-US" dirty="0"/>
              <a:t> </a:t>
            </a:r>
            <a:r>
              <a:rPr kumimoji="1" lang="en-US" altLang="zh-CN" dirty="0"/>
              <a:t>is</a:t>
            </a:r>
            <a:r>
              <a:rPr kumimoji="1" lang="zh-CN" altLang="en-US" dirty="0"/>
              <a:t> </a:t>
            </a:r>
            <a:r>
              <a:rPr kumimoji="1" lang="en-US" altLang="zh-CN" dirty="0"/>
              <a:t>xxx.</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However,</a:t>
            </a:r>
            <a:r>
              <a:rPr kumimoji="1" lang="zh-CN" altLang="en-US" dirty="0"/>
              <a:t> </a:t>
            </a:r>
            <a:r>
              <a:rPr kumimoji="1" lang="en-US" altLang="zh-CN" dirty="0"/>
              <a:t>the</a:t>
            </a:r>
            <a:r>
              <a:rPr kumimoji="1" lang="zh-CN" altLang="en-US" dirty="0"/>
              <a:t> </a:t>
            </a:r>
            <a:r>
              <a:rPr kumimoji="1" lang="en-US" altLang="zh-CN" dirty="0"/>
              <a:t>openness</a:t>
            </a:r>
            <a:r>
              <a:rPr kumimoji="1" lang="zh-CN" altLang="en-US" dirty="0"/>
              <a:t> </a:t>
            </a:r>
            <a:r>
              <a:rPr kumimoji="1" lang="en-US" altLang="zh-CN" dirty="0"/>
              <a:t>also</a:t>
            </a:r>
            <a:r>
              <a:rPr kumimoji="1" lang="zh-CN" altLang="en-US" dirty="0"/>
              <a:t> </a:t>
            </a:r>
            <a:r>
              <a:rPr kumimoji="1" lang="en-US" altLang="zh-CN" dirty="0"/>
              <a:t>leads</a:t>
            </a:r>
            <a:r>
              <a:rPr kumimoji="1" lang="zh-CN" altLang="en-US" dirty="0"/>
              <a:t> </a:t>
            </a:r>
            <a:r>
              <a:rPr kumimoji="1" lang="en-US" altLang="zh-CN" dirty="0"/>
              <a:t>to</a:t>
            </a:r>
            <a:r>
              <a:rPr kumimoji="1" lang="zh-CN" altLang="en-US" dirty="0"/>
              <a:t> </a:t>
            </a:r>
            <a:r>
              <a:rPr kumimoji="1" lang="en-US" altLang="zh-CN" dirty="0"/>
              <a:t>fragmentation.</a:t>
            </a:r>
            <a:endParaRPr kumimoji="1" lang="en-US" altLang="zh-CN" dirty="0"/>
          </a:p>
          <a:p>
            <a:r>
              <a:rPr kumimoji="1" lang="en-US" altLang="zh-CN" dirty="0"/>
              <a:t>Nowadays,</a:t>
            </a:r>
            <a:r>
              <a:rPr kumimoji="1" lang="zh-CN" altLang="en-US" dirty="0"/>
              <a:t> </a:t>
            </a:r>
            <a:r>
              <a:rPr kumimoji="1" lang="en-US" altLang="zh-CN" dirty="0"/>
              <a:t>there</a:t>
            </a:r>
            <a:r>
              <a:rPr kumimoji="1" lang="zh-CN" altLang="en-US" dirty="0"/>
              <a:t> </a:t>
            </a:r>
            <a:r>
              <a:rPr kumimoji="1" lang="en-US" altLang="zh-CN" dirty="0"/>
              <a:t>are</a:t>
            </a:r>
            <a:r>
              <a:rPr kumimoji="1" lang="zh-CN" altLang="en-US" dirty="0"/>
              <a:t> </a:t>
            </a:r>
            <a:r>
              <a:rPr kumimoji="1" lang="en-US" altLang="zh-CN" dirty="0"/>
              <a:t>many</a:t>
            </a:r>
            <a:r>
              <a:rPr kumimoji="1" lang="zh-CN" altLang="en-US" dirty="0"/>
              <a:t> </a:t>
            </a:r>
            <a:r>
              <a:rPr kumimoji="1" lang="en-US" altLang="zh-CN" dirty="0"/>
              <a:t>different</a:t>
            </a:r>
            <a:r>
              <a:rPr kumimoji="1" lang="zh-CN" altLang="en-US" dirty="0"/>
              <a:t> </a:t>
            </a:r>
            <a:r>
              <a:rPr kumimoji="1" lang="en-US" altLang="zh-CN" dirty="0"/>
              <a:t>kinds</a:t>
            </a:r>
            <a:r>
              <a:rPr kumimoji="1" lang="zh-CN" altLang="en-US" dirty="0"/>
              <a:t> </a:t>
            </a:r>
            <a:r>
              <a:rPr kumimoji="1" lang="en-US" altLang="zh-CN" dirty="0"/>
              <a:t>of</a:t>
            </a:r>
            <a:r>
              <a:rPr kumimoji="1" lang="zh-CN" altLang="en-US" dirty="0"/>
              <a:t> </a:t>
            </a:r>
            <a:r>
              <a:rPr kumimoji="1" lang="en-US" altLang="zh-CN" dirty="0"/>
              <a:t>TEE</a:t>
            </a:r>
            <a:r>
              <a:rPr kumimoji="1" lang="zh-CN" altLang="en-US" dirty="0"/>
              <a:t> </a:t>
            </a:r>
            <a:r>
              <a:rPr kumimoji="1" lang="en-US" altLang="zh-CN" dirty="0"/>
              <a:t>OS,</a:t>
            </a:r>
            <a:r>
              <a:rPr kumimoji="1" lang="zh-CN" altLang="en-US" dirty="0"/>
              <a:t> </a:t>
            </a:r>
            <a:r>
              <a:rPr kumimoji="1" lang="en-US" altLang="zh-CN" dirty="0"/>
              <a:t>from</a:t>
            </a:r>
            <a:r>
              <a:rPr kumimoji="1" lang="zh-CN" altLang="en-US" dirty="0"/>
              <a:t> </a:t>
            </a:r>
            <a:r>
              <a:rPr kumimoji="1" lang="en-US" altLang="zh-CN" dirty="0"/>
              <a:t>different</a:t>
            </a:r>
            <a:r>
              <a:rPr kumimoji="1" lang="zh-CN" altLang="en-US" dirty="0"/>
              <a:t> </a:t>
            </a:r>
            <a:r>
              <a:rPr kumimoji="1" lang="en-US" altLang="zh-CN" dirty="0"/>
              <a:t>venders.</a:t>
            </a:r>
            <a:endParaRPr kumimoji="1" lang="en-US" altLang="zh-CN" dirty="0"/>
          </a:p>
          <a:p>
            <a:r>
              <a:rPr kumimoji="1" lang="en-US" altLang="zh-CN" dirty="0"/>
              <a:t>Also,</a:t>
            </a:r>
            <a:r>
              <a:rPr kumimoji="1" lang="zh-CN" altLang="en-US" dirty="0"/>
              <a:t> </a:t>
            </a:r>
            <a:r>
              <a:rPr kumimoji="1" lang="en-US" altLang="zh-CN" dirty="0"/>
              <a:t>many</a:t>
            </a:r>
            <a:r>
              <a:rPr kumimoji="1" lang="zh-CN" altLang="en-US" dirty="0"/>
              <a:t> </a:t>
            </a:r>
            <a:r>
              <a:rPr kumimoji="1" lang="en-US" altLang="zh-CN" dirty="0"/>
              <a:t>other</a:t>
            </a:r>
            <a:r>
              <a:rPr kumimoji="1" lang="zh-CN" altLang="en-US" dirty="0"/>
              <a:t> </a:t>
            </a:r>
            <a:r>
              <a:rPr kumimoji="1" lang="en-US" altLang="zh-CN" dirty="0"/>
              <a:t>implementations</a:t>
            </a:r>
            <a:r>
              <a:rPr kumimoji="1" lang="zh-CN" altLang="en-US" dirty="0"/>
              <a:t> </a:t>
            </a:r>
            <a:r>
              <a:rPr kumimoji="1" lang="en-US" altLang="zh-CN" dirty="0"/>
              <a:t>based</a:t>
            </a:r>
            <a:r>
              <a:rPr kumimoji="1" lang="zh-CN" altLang="en-US" dirty="0"/>
              <a:t> </a:t>
            </a:r>
            <a:r>
              <a:rPr kumimoji="1" lang="en-US" altLang="zh-CN" dirty="0"/>
              <a:t>on</a:t>
            </a:r>
            <a:r>
              <a:rPr kumimoji="1" lang="zh-CN" altLang="en-US" dirty="0"/>
              <a:t> </a:t>
            </a:r>
            <a:r>
              <a:rPr kumimoji="1" lang="en-US" altLang="zh-CN" dirty="0"/>
              <a:t>OP-TEE.</a:t>
            </a:r>
            <a:endParaRPr kumimoji="1" lang="en-US" altLang="zh-CN" dirty="0"/>
          </a:p>
          <a:p>
            <a:r>
              <a:rPr kumimoji="1" lang="en-US" altLang="zh-CN" dirty="0"/>
              <a:t>This</a:t>
            </a:r>
            <a:r>
              <a:rPr kumimoji="1" lang="zh-CN" altLang="en-US" dirty="0"/>
              <a:t> </a:t>
            </a:r>
            <a:r>
              <a:rPr kumimoji="1" lang="en-US" altLang="zh-CN" dirty="0"/>
              <a:t>is</a:t>
            </a:r>
            <a:r>
              <a:rPr kumimoji="1" lang="zh-CN" altLang="en-US" dirty="0"/>
              <a:t> </a:t>
            </a:r>
            <a:r>
              <a:rPr kumimoji="1" lang="en-US" altLang="zh-CN" dirty="0"/>
              <a:t>not</a:t>
            </a:r>
            <a:r>
              <a:rPr kumimoji="1" lang="zh-CN" altLang="en-US" dirty="0"/>
              <a:t> </a:t>
            </a:r>
            <a:r>
              <a:rPr kumimoji="1" lang="en-US" altLang="zh-CN" dirty="0"/>
              <a:t>a</a:t>
            </a:r>
            <a:r>
              <a:rPr kumimoji="1" lang="zh-CN" altLang="en-US" dirty="0"/>
              <a:t> </a:t>
            </a:r>
            <a:r>
              <a:rPr kumimoji="1" lang="en-US" altLang="zh-CN" dirty="0"/>
              <a:t>good</a:t>
            </a:r>
            <a:r>
              <a:rPr kumimoji="1" lang="zh-CN" altLang="en-US" dirty="0"/>
              <a:t> </a:t>
            </a:r>
            <a:r>
              <a:rPr kumimoji="1" lang="en-US" altLang="zh-CN" dirty="0"/>
              <a:t>news</a:t>
            </a:r>
            <a:r>
              <a:rPr kumimoji="1" lang="zh-CN" altLang="en-US" dirty="0"/>
              <a:t> </a:t>
            </a:r>
            <a:r>
              <a:rPr kumimoji="1" lang="en-US" altLang="zh-CN" dirty="0"/>
              <a:t>for</a:t>
            </a:r>
            <a:r>
              <a:rPr kumimoji="1" lang="zh-CN" altLang="en-US" dirty="0"/>
              <a:t> </a:t>
            </a:r>
            <a:r>
              <a:rPr kumimoji="1" lang="en-US" altLang="zh-CN" dirty="0"/>
              <a:t>trusted</a:t>
            </a:r>
            <a:r>
              <a:rPr kumimoji="1" lang="zh-CN" altLang="en-US" dirty="0"/>
              <a:t> </a:t>
            </a:r>
            <a:r>
              <a:rPr kumimoji="1" lang="en-US" altLang="zh-CN" dirty="0"/>
              <a:t>app</a:t>
            </a:r>
            <a:r>
              <a:rPr kumimoji="1" lang="zh-CN" altLang="en-US" dirty="0"/>
              <a:t> </a:t>
            </a:r>
            <a:r>
              <a:rPr kumimoji="1" lang="en-US" altLang="zh-CN" dirty="0"/>
              <a:t>developers,</a:t>
            </a:r>
            <a:r>
              <a:rPr kumimoji="1" lang="zh-CN" altLang="en-US" dirty="0"/>
              <a:t> </a:t>
            </a:r>
            <a:r>
              <a:rPr kumimoji="1" lang="en-US" altLang="zh-CN" dirty="0"/>
              <a:t>since</a:t>
            </a:r>
            <a:r>
              <a:rPr kumimoji="1" lang="zh-CN" altLang="en-US" dirty="0"/>
              <a:t> </a:t>
            </a:r>
            <a:r>
              <a:rPr kumimoji="1" lang="en-US" altLang="zh-CN" dirty="0"/>
              <a:t>they</a:t>
            </a:r>
            <a:r>
              <a:rPr kumimoji="1" lang="zh-CN" altLang="en-US" dirty="0"/>
              <a:t> </a:t>
            </a:r>
            <a:r>
              <a:rPr kumimoji="1" lang="en-US" altLang="zh-CN" dirty="0"/>
              <a:t>need</a:t>
            </a:r>
            <a:r>
              <a:rPr kumimoji="1" lang="zh-CN" altLang="en-US" dirty="0"/>
              <a:t> </a:t>
            </a:r>
            <a:r>
              <a:rPr kumimoji="1" lang="en-US" altLang="zh-CN" dirty="0"/>
              <a:t>to</a:t>
            </a:r>
            <a:r>
              <a:rPr kumimoji="1" lang="zh-CN" altLang="en-US" dirty="0"/>
              <a:t> </a:t>
            </a:r>
            <a:r>
              <a:rPr kumimoji="1" lang="en-US" altLang="zh-CN" dirty="0"/>
              <a:t>port</a:t>
            </a:r>
            <a:r>
              <a:rPr kumimoji="1" lang="zh-CN" altLang="en-US" dirty="0"/>
              <a:t> </a:t>
            </a:r>
            <a:r>
              <a:rPr kumimoji="1" lang="en-US" altLang="zh-CN" dirty="0"/>
              <a:t>and</a:t>
            </a:r>
            <a:r>
              <a:rPr kumimoji="1" lang="zh-CN" altLang="en-US" dirty="0"/>
              <a:t> </a:t>
            </a:r>
            <a:r>
              <a:rPr kumimoji="1" lang="en-US" altLang="zh-CN" dirty="0"/>
              <a:t>trust.</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Arial" panose="020B0604020202020204" pitchFamily="34" charset="0"/>
                <a:cs typeface="Arial" panose="020B0604020202020204" pitchFamily="34" charset="0"/>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28866"/>
            <a:ext cx="8229600" cy="900442"/>
          </a:xfrm>
        </p:spPr>
        <p:txBody>
          <a:bodyPr>
            <a:normAutofit/>
          </a:bodyPr>
          <a:lstStyle>
            <a:lvl1pPr>
              <a:defRPr sz="2400" b="1">
                <a:solidFill>
                  <a:schemeClr val="accent1"/>
                </a:solidFill>
                <a:latin typeface="Arial" panose="020B0604020202020204" pitchFamily="34" charset="0"/>
                <a:ea typeface="+mn-ea"/>
                <a:cs typeface="Arial" panose="020B0604020202020204" pitchFamily="34" charset="0"/>
              </a:defRPr>
            </a:lvl1pPr>
          </a:lstStyle>
          <a:p>
            <a:r>
              <a:rPr lang="en-US" altLang="zh-CN" dirty="0"/>
              <a:t>xx</a:t>
            </a:r>
            <a:endParaRPr lang="zh-CN" altLang="en-US" dirty="0"/>
          </a:p>
        </p:txBody>
      </p:sp>
      <p:sp>
        <p:nvSpPr>
          <p:cNvPr id="3" name="内容占位符 2"/>
          <p:cNvSpPr>
            <a:spLocks noGrp="1"/>
          </p:cNvSpPr>
          <p:nvPr>
            <p:ph idx="1" hasCustomPrompt="1"/>
          </p:nvPr>
        </p:nvSpPr>
        <p:spPr>
          <a:xfrm>
            <a:off x="457200" y="1129308"/>
            <a:ext cx="8229600" cy="3771636"/>
          </a:xfrm>
        </p:spPr>
        <p:txBody>
          <a:bodyPr>
            <a:normAutofit/>
          </a:bodyPr>
          <a:lstStyle>
            <a:lvl1pPr marL="0" indent="0">
              <a:lnSpc>
                <a:spcPct val="120000"/>
              </a:lnSpc>
              <a:buFontTx/>
              <a:buNone/>
              <a:defRPr sz="1800" b="1" i="0">
                <a:latin typeface="Arial" panose="020B0604020202020204" pitchFamily="34" charset="0"/>
                <a:ea typeface="+mn-ea"/>
                <a:cs typeface="Arial" panose="020B0604020202020204" pitchFamily="34" charset="0"/>
              </a:defRPr>
            </a:lvl1pPr>
            <a:lvl2pPr marL="360045">
              <a:lnSpc>
                <a:spcPct val="120000"/>
              </a:lnSpc>
              <a:defRPr sz="1800" b="0" i="0">
                <a:latin typeface="Arial" panose="020B0604020202020204" pitchFamily="34" charset="0"/>
                <a:ea typeface="+mn-ea"/>
                <a:cs typeface="Arial" panose="020B0604020202020204" pitchFamily="34" charset="0"/>
              </a:defRPr>
            </a:lvl2pPr>
            <a:lvl3pPr marL="582930" indent="-225425">
              <a:lnSpc>
                <a:spcPct val="120000"/>
              </a:lnSpc>
              <a:defRPr sz="1800" b="0" i="0">
                <a:latin typeface="Arial" panose="020B0604020202020204" pitchFamily="34" charset="0"/>
                <a:ea typeface="+mn-ea"/>
                <a:cs typeface="Arial" panose="020B0604020202020204" pitchFamily="34" charset="0"/>
              </a:defRPr>
            </a:lvl3pPr>
            <a:lvl4pPr>
              <a:lnSpc>
                <a:spcPct val="120000"/>
              </a:lnSpc>
              <a:defRPr sz="1800" b="0" i="0">
                <a:latin typeface="+mn-ea"/>
                <a:ea typeface="+mn-ea"/>
                <a:cs typeface="PingFang SC" panose="020B0400000000000000" pitchFamily="34" charset="-122"/>
              </a:defRPr>
            </a:lvl4pPr>
            <a:lvl5pPr>
              <a:lnSpc>
                <a:spcPct val="120000"/>
              </a:lnSpc>
              <a:defRPr sz="1800" b="0" i="0">
                <a:latin typeface="+mn-ea"/>
                <a:ea typeface="+mn-ea"/>
                <a:cs typeface="PingFang SC" panose="020B0400000000000000" pitchFamily="34" charset="-122"/>
              </a:defRPr>
            </a:lvl5pPr>
          </a:lstStyle>
          <a:p>
            <a:pPr lvl="0"/>
            <a:r>
              <a:rPr lang="en-US" altLang="zh-CN" dirty="0" err="1"/>
              <a:t>yy</a:t>
            </a:r>
            <a:endParaRPr lang="zh-CN" altLang="en-US" dirty="0"/>
          </a:p>
          <a:p>
            <a:pPr lvl="1"/>
            <a:r>
              <a:rPr lang="en-US" altLang="zh-CN" dirty="0"/>
              <a:t>xx</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8" name="三角形 7"/>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6A7A40B-EA42-4A59-BDB5-85EFA65BC5F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等线" panose="02010600030101010101" charset="-122"/>
                <a:ea typeface="等线" panose="02010600030101010101" charset="-122"/>
                <a:cs typeface="等线" panose="02010600030101010101" charset="-122"/>
              </a:defRPr>
            </a:lvl1pPr>
          </a:lstStyle>
          <a:p>
            <a:endParaRPr lang="zh-CN" altLang="en-US" dirty="0"/>
          </a:p>
        </p:txBody>
      </p:sp>
      <p:sp>
        <p:nvSpPr>
          <p:cNvPr id="5" name="页脚占位符 4"/>
          <p:cNvSpPr>
            <a:spLocks noGrp="1"/>
          </p:cNvSpPr>
          <p:nvPr>
            <p:ph type="ftr" sz="quarter" idx="3"/>
          </p:nvPr>
        </p:nvSpPr>
        <p:spPr>
          <a:xfrm>
            <a:off x="3124201" y="5296962"/>
            <a:ext cx="2895600" cy="304271"/>
          </a:xfrm>
          <a:prstGeom prst="rect">
            <a:avLst/>
          </a:prstGeom>
        </p:spPr>
        <p:txBody>
          <a:bodyPr vert="horz" lIns="91440" tIns="45720" rIns="91440" bIns="45720" rtlCol="0" anchor="ctr"/>
          <a:lstStyle>
            <a:lvl1pPr algn="ctr">
              <a:defRPr sz="1200">
                <a:solidFill>
                  <a:schemeClr val="tx1">
                    <a:tint val="75000"/>
                  </a:schemeClr>
                </a:solidFill>
                <a:latin typeface="等线" panose="02010600030101010101" charset="-122"/>
                <a:ea typeface="等线" panose="02010600030101010101" charset="-122"/>
                <a:cs typeface="等线" panose="02010600030101010101" charset="-122"/>
              </a:defRPr>
            </a:lvl1pPr>
          </a:lstStyle>
          <a:p>
            <a:endParaRPr lang="zh-CN" altLang="en-US"/>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等线" panose="02010600030101010101" charset="-122"/>
                <a:ea typeface="等线" panose="02010600030101010101" charset="-122"/>
                <a:cs typeface="等线" panose="02010600030101010101" charset="-122"/>
              </a:defRPr>
            </a:lvl1pPr>
          </a:lstStyle>
          <a:p>
            <a:fld id="{ADE361C3-C043-4A6E-BDCE-8DA1E7D90A3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anose="020B0604020202020204" pitchFamily="34" charset="0"/>
        <a:buChar char="•"/>
        <a:defRPr sz="2600" b="0" kern="1200">
          <a:solidFill>
            <a:schemeClr val="tx1">
              <a:lumMod val="75000"/>
              <a:lumOff val="25000"/>
            </a:schemeClr>
          </a:solidFill>
          <a:latin typeface="+mn-lt"/>
          <a:ea typeface="+mn-ea"/>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kern="1200">
          <a:solidFill>
            <a:schemeClr val="tx1">
              <a:lumMod val="75000"/>
              <a:lumOff val="25000"/>
            </a:schemeClr>
          </a:solidFill>
          <a:latin typeface="+mn-lt"/>
          <a:ea typeface="+mn-ea"/>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kern="1200">
          <a:solidFill>
            <a:schemeClr val="tx1">
              <a:lumMod val="75000"/>
              <a:lumOff val="25000"/>
            </a:schemeClr>
          </a:solidFill>
          <a:latin typeface="+mn-lt"/>
          <a:ea typeface="+mn-ea"/>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2" Type="http://schemas.openxmlformats.org/officeDocument/2006/relationships/notesSlide" Target="../notesSlides/notesSlide11.xml"/><Relationship Id="rId11" Type="http://schemas.openxmlformats.org/officeDocument/2006/relationships/slideLayout" Target="../slideLayouts/slideLayout2.xml"/><Relationship Id="rId10" Type="http://schemas.openxmlformats.org/officeDocument/2006/relationships/image" Target="../media/image9.png"/><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8.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8.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8.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8.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emf"/></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emf"/></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emf"/><Relationship Id="rId1" Type="http://schemas.openxmlformats.org/officeDocument/2006/relationships/image" Target="../media/image31.emf"/></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emf"/><Relationship Id="rId1" Type="http://schemas.openxmlformats.org/officeDocument/2006/relationships/image" Target="../media/image33.emf"/></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31048" y="1492992"/>
            <a:ext cx="9112952" cy="1580532"/>
          </a:xfrm>
        </p:spPr>
        <p:txBody>
          <a:bodyPr>
            <a:noAutofit/>
          </a:bodyPr>
          <a:lstStyle/>
          <a:p>
            <a:pPr>
              <a:lnSpc>
                <a:spcPct val="110000"/>
              </a:lnSpc>
            </a:pPr>
            <a:r>
              <a:rPr kumimoji="1" lang="en-US" altLang="zh-CN" sz="3600" dirty="0"/>
              <a:t>Privacy</a:t>
            </a:r>
            <a:r>
              <a:rPr kumimoji="1" lang="zh-CN" altLang="en-US" sz="3600" dirty="0"/>
              <a:t> </a:t>
            </a:r>
            <a:r>
              <a:rPr kumimoji="1" lang="en-US" altLang="zh-CN" sz="3600" dirty="0"/>
              <a:t>&amp;</a:t>
            </a:r>
            <a:r>
              <a:rPr kumimoji="1" lang="zh-CN" altLang="en-US" sz="3600" dirty="0"/>
              <a:t> </a:t>
            </a:r>
            <a:r>
              <a:rPr kumimoji="1" lang="en-US" altLang="zh-CN" sz="3600" dirty="0"/>
              <a:t>Review</a:t>
            </a:r>
            <a:endParaRPr kumimoji="1" lang="zh-CN" altLang="en-US" sz="3600" dirty="0">
              <a:latin typeface="+mn-lt"/>
            </a:endParaRPr>
          </a:p>
        </p:txBody>
      </p:sp>
      <p:sp>
        <p:nvSpPr>
          <p:cNvPr id="6" name="副标题 5"/>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en-US" altLang="zh-CN" sz="1800" dirty="0">
                <a:solidFill>
                  <a:schemeClr val="tx1">
                    <a:lumMod val="75000"/>
                    <a:lumOff val="25000"/>
                  </a:schemeClr>
                </a:solidFill>
                <a:latin typeface="+mj-lt"/>
              </a:rPr>
              <a:t>IPADS,</a:t>
            </a:r>
            <a:r>
              <a:rPr kumimoji="1" lang="zh-CN" altLang="en-US" sz="1800" dirty="0">
                <a:solidFill>
                  <a:schemeClr val="tx1">
                    <a:lumMod val="75000"/>
                    <a:lumOff val="25000"/>
                  </a:schemeClr>
                </a:solidFill>
                <a:latin typeface="+mj-lt"/>
              </a:rPr>
              <a:t> </a:t>
            </a:r>
            <a:r>
              <a:rPr kumimoji="1" lang="en-US" altLang="zh-CN" sz="1800" dirty="0">
                <a:solidFill>
                  <a:schemeClr val="tx1">
                    <a:lumMod val="75000"/>
                    <a:lumOff val="25000"/>
                  </a:schemeClr>
                </a:solidFill>
                <a:latin typeface="+mj-lt"/>
              </a:rPr>
              <a:t>Shanghai</a:t>
            </a:r>
            <a:r>
              <a:rPr kumimoji="1" lang="zh-CN" altLang="en-US" sz="1800" dirty="0">
                <a:solidFill>
                  <a:schemeClr val="tx1">
                    <a:lumMod val="75000"/>
                    <a:lumOff val="25000"/>
                  </a:schemeClr>
                </a:solidFill>
                <a:latin typeface="+mj-lt"/>
              </a:rPr>
              <a:t> </a:t>
            </a:r>
            <a:r>
              <a:rPr kumimoji="1" lang="en-US" altLang="zh-CN" sz="1800" dirty="0">
                <a:solidFill>
                  <a:schemeClr val="tx1">
                    <a:lumMod val="75000"/>
                    <a:lumOff val="25000"/>
                  </a:schemeClr>
                </a:solidFill>
                <a:latin typeface="+mj-lt"/>
              </a:rPr>
              <a:t>Jiao</a:t>
            </a:r>
            <a:r>
              <a:rPr kumimoji="1" lang="zh-CN" altLang="en-US" sz="1800" dirty="0">
                <a:solidFill>
                  <a:schemeClr val="tx1">
                    <a:lumMod val="75000"/>
                    <a:lumOff val="25000"/>
                  </a:schemeClr>
                </a:solidFill>
                <a:latin typeface="+mj-lt"/>
              </a:rPr>
              <a:t> </a:t>
            </a:r>
            <a:r>
              <a:rPr kumimoji="1" lang="en-US" altLang="zh-CN" sz="1800" dirty="0">
                <a:solidFill>
                  <a:schemeClr val="tx1">
                    <a:lumMod val="75000"/>
                    <a:lumOff val="25000"/>
                  </a:schemeClr>
                </a:solidFill>
                <a:latin typeface="+mj-lt"/>
              </a:rPr>
              <a:t>Tong</a:t>
            </a:r>
            <a:r>
              <a:rPr kumimoji="1" lang="zh-CN" altLang="en-US" sz="1800" dirty="0">
                <a:solidFill>
                  <a:schemeClr val="tx1">
                    <a:lumMod val="75000"/>
                    <a:lumOff val="25000"/>
                  </a:schemeClr>
                </a:solidFill>
                <a:latin typeface="+mj-lt"/>
              </a:rPr>
              <a:t> </a:t>
            </a:r>
            <a:r>
              <a:rPr kumimoji="1" lang="en-US" altLang="zh-CN" sz="1800" dirty="0">
                <a:solidFill>
                  <a:schemeClr val="tx1">
                    <a:lumMod val="75000"/>
                    <a:lumOff val="25000"/>
                  </a:schemeClr>
                </a:solidFill>
                <a:latin typeface="+mj-lt"/>
              </a:rPr>
              <a:t>University</a:t>
            </a:r>
            <a:endParaRPr kumimoji="1" lang="en-US" altLang="zh-CN" sz="1800" dirty="0">
              <a:solidFill>
                <a:schemeClr val="tx1">
                  <a:lumMod val="75000"/>
                  <a:lumOff val="25000"/>
                </a:schemeClr>
              </a:solidFill>
              <a:latin typeface="+mj-lt"/>
            </a:endParaRPr>
          </a:p>
          <a:p>
            <a:pPr>
              <a:lnSpc>
                <a:spcPct val="150000"/>
              </a:lnSpc>
              <a:spcBef>
                <a:spcPts val="0"/>
              </a:spcBef>
            </a:pPr>
            <a:r>
              <a:rPr kumimoji="1" lang="en-US" altLang="zh-CN" sz="1800" dirty="0">
                <a:solidFill>
                  <a:schemeClr val="tx1">
                    <a:lumMod val="50000"/>
                    <a:lumOff val="50000"/>
                  </a:schemeClr>
                </a:solidFill>
                <a:latin typeface="+mj-lt"/>
              </a:rPr>
              <a:t>https://</a:t>
            </a:r>
            <a:r>
              <a:rPr kumimoji="1" lang="en-US" altLang="zh-CN" sz="1800" dirty="0" err="1">
                <a:solidFill>
                  <a:schemeClr val="tx1">
                    <a:lumMod val="50000"/>
                    <a:lumOff val="50000"/>
                  </a:schemeClr>
                </a:solidFill>
                <a:latin typeface="+mj-lt"/>
              </a:rPr>
              <a:t>www.sjtu.edu.cn</a:t>
            </a:r>
            <a:endParaRPr kumimoji="1" lang="en-GB" altLang="zh-CN" sz="1800" dirty="0">
              <a:solidFill>
                <a:schemeClr val="tx1">
                  <a:lumMod val="50000"/>
                  <a:lumOff val="50000"/>
                </a:schemeClr>
              </a:solidFill>
              <a:latin typeface="+mj-lt"/>
            </a:endParaRPr>
          </a:p>
        </p:txBody>
      </p:sp>
      <p:pic>
        <p:nvPicPr>
          <p:cNvPr id="9" name="图片 8"/>
          <p:cNvPicPr>
            <a:picLocks noChangeAspect="1"/>
          </p:cNvPicPr>
          <p:nvPr/>
        </p:nvPicPr>
        <p:blipFill>
          <a:blip r:embed="rId1" cstate="screen">
            <a:duotone>
              <a:schemeClr val="accent1">
                <a:shade val="45000"/>
                <a:satMod val="135000"/>
              </a:schemeClr>
              <a:prstClr val="white"/>
            </a:duotone>
          </a:blip>
          <a:stretch>
            <a:fillRect/>
          </a:stretch>
        </p:blipFill>
        <p:spPr>
          <a:xfrm>
            <a:off x="5652120" y="252561"/>
            <a:ext cx="1362088" cy="492009"/>
          </a:xfrm>
          <a:prstGeom prst="rect">
            <a:avLst/>
          </a:prstGeom>
        </p:spPr>
      </p:pic>
      <p:sp>
        <p:nvSpPr>
          <p:cNvPr id="7" name="副标题 2"/>
          <p:cNvSpPr txBox="1"/>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anose="020B0604020202020204" pitchFamily="34" charset="0"/>
              <a:buNone/>
              <a:defRPr sz="2600" b="0" kern="1200">
                <a:solidFill>
                  <a:schemeClr val="tx1">
                    <a:tint val="75000"/>
                  </a:schemeClr>
                </a:solidFill>
                <a:latin typeface="+mn-ea"/>
                <a:ea typeface="+mn-ea"/>
                <a:cs typeface="等线" panose="02010600030101010101" charset="-122"/>
              </a:defRPr>
            </a:lvl1pPr>
            <a:lvl2pPr marL="457200" indent="0" algn="ctr" defTabSz="914400" rtl="0" eaLnBrk="1" latinLnBrk="0" hangingPunct="1">
              <a:lnSpc>
                <a:spcPct val="120000"/>
              </a:lnSpc>
              <a:spcBef>
                <a:spcPct val="20000"/>
              </a:spcBef>
              <a:buFont typeface="Arial" panose="020B0604020202020204" pitchFamily="34" charset="0"/>
              <a:buNone/>
              <a:defRPr sz="2400" kern="1200">
                <a:solidFill>
                  <a:schemeClr val="tx1">
                    <a:tint val="75000"/>
                  </a:schemeClr>
                </a:solidFill>
                <a:latin typeface="+mn-ea"/>
                <a:ea typeface="+mn-ea"/>
                <a:cs typeface="等线" panose="02010600030101010101" charset="-122"/>
              </a:defRPr>
            </a:lvl2pPr>
            <a:lvl3pPr marL="914400" indent="0" algn="ctr" defTabSz="914400" rtl="0" eaLnBrk="1" latinLnBrk="0" hangingPunct="1">
              <a:lnSpc>
                <a:spcPct val="120000"/>
              </a:lnSpc>
              <a:spcBef>
                <a:spcPct val="20000"/>
              </a:spcBef>
              <a:buFont typeface="Arial" panose="020B0604020202020204" pitchFamily="34" charset="0"/>
              <a:buNone/>
              <a:defRPr sz="2000" kern="1200">
                <a:solidFill>
                  <a:schemeClr val="tx1">
                    <a:tint val="75000"/>
                  </a:schemeClr>
                </a:solidFill>
                <a:latin typeface="+mn-ea"/>
                <a:ea typeface="+mn-ea"/>
                <a:cs typeface="等线" panose="02010600030101010101" charset="-122"/>
              </a:defRPr>
            </a:lvl3pPr>
            <a:lvl4pPr marL="1371600" indent="0" algn="ctr" defTabSz="914400" rtl="0" eaLnBrk="1" latinLnBrk="0" hangingPunct="1">
              <a:lnSpc>
                <a:spcPct val="120000"/>
              </a:lnSpc>
              <a:spcBef>
                <a:spcPct val="20000"/>
              </a:spcBef>
              <a:buFont typeface="Arial" panose="020B0604020202020204" pitchFamily="34" charset="0"/>
              <a:buNone/>
              <a:defRPr sz="1800" kern="1200">
                <a:solidFill>
                  <a:schemeClr val="tx1">
                    <a:tint val="75000"/>
                  </a:schemeClr>
                </a:solidFill>
                <a:latin typeface="+mn-ea"/>
                <a:ea typeface="+mn-ea"/>
                <a:cs typeface="等线" panose="02010600030101010101" charset="-122"/>
              </a:defRPr>
            </a:lvl4pPr>
            <a:lvl5pPr marL="1828800" indent="0" algn="ctr" defTabSz="914400" rtl="0" eaLnBrk="1" latinLnBrk="0" hangingPunct="1">
              <a:lnSpc>
                <a:spcPct val="120000"/>
              </a:lnSpc>
              <a:spcBef>
                <a:spcPct val="20000"/>
              </a:spcBef>
              <a:buFont typeface="Arial" panose="020B0604020202020204" pitchFamily="34" charset="0"/>
              <a:buNone/>
              <a:defRPr sz="1800" kern="1200">
                <a:solidFill>
                  <a:schemeClr val="tx1">
                    <a:tint val="75000"/>
                  </a:schemeClr>
                </a:solidFill>
                <a:latin typeface="+mn-ea"/>
                <a:ea typeface="+mn-ea"/>
                <a:cs typeface="等线" panose="02010600030101010101" charset="-122"/>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defRPr/>
            </a:pPr>
            <a:r>
              <a:rPr lang="en-US" altLang="zh-CN" sz="1400" dirty="0">
                <a:solidFill>
                  <a:srgbClr val="000000">
                    <a:lumMod val="75000"/>
                    <a:lumOff val="25000"/>
                  </a:srgbClr>
                </a:solidFill>
                <a:latin typeface="+mj-lt"/>
              </a:rPr>
              <a:t>SE3331-1 (2024 Fall)</a:t>
            </a:r>
            <a:endParaRPr kumimoji="0" lang="zh-CN" altLang="en-US" sz="1400" b="0" i="0" u="none" strike="noStrike" kern="1200" cap="none" spc="0" normalizeH="0" baseline="0" noProof="0" dirty="0">
              <a:ln>
                <a:noFill/>
              </a:ln>
              <a:solidFill>
                <a:srgbClr val="000000">
                  <a:lumMod val="75000"/>
                  <a:lumOff val="25000"/>
                </a:srgbClr>
              </a:solidFill>
              <a:effectLst/>
              <a:uLnTx/>
              <a:uFillTx/>
              <a:latin typeface="+mj-lt"/>
              <a:ea typeface="微软雅黑" panose="020B0503020204020204" charset="-122"/>
            </a:endParaRPr>
          </a:p>
        </p:txBody>
      </p:sp>
      <p:pic>
        <p:nvPicPr>
          <p:cNvPr id="8" name="Picture 6" descr="http://korean.onlinesjtu.com/%E6%A0%A1%E5%BE%BD%E7%B3%BB%E5%88%97/%E7%BC%A9%E5%B0%8F%E7%89%88/%E8%93%9D%E8%89%B2%E7%B3%BB%20%E5%B0%8F%E5%B0%BA%E5%AF%B8%E6%A0%A1%E5%BE%BD%E5%B1%95%E5%BC%80%E5%BC%8F%20(10mm%E4%BB%A5%E4%B8%8B%E4%BD%BF%E7%94%A8)%20%5b%E8%BD%AC%E6%8D%A2%5d.png"/>
          <p:cNvPicPr>
            <a:picLocks noChangeAspect="1" noChangeArrowheads="1"/>
          </p:cNvPicPr>
          <p:nvPr/>
        </p:nvPicPr>
        <p:blipFill>
          <a:blip r:embed="rId2" cstate="screen">
            <a:duotone>
              <a:schemeClr val="accent1">
                <a:shade val="45000"/>
                <a:satMod val="135000"/>
              </a:schemeClr>
              <a:prstClr val="white"/>
            </a:duotone>
          </a:blip>
          <a:srcRect/>
          <a:stretch>
            <a:fillRect/>
          </a:stretch>
        </p:blipFill>
        <p:spPr bwMode="auto">
          <a:xfrm>
            <a:off x="7164288" y="282539"/>
            <a:ext cx="1642840" cy="432048"/>
          </a:xfrm>
          <a:prstGeom prst="rect">
            <a:avLst/>
          </a:prstGeom>
          <a:noFill/>
        </p:spPr>
      </p:pic>
      <p:sp>
        <p:nvSpPr>
          <p:cNvPr id="10" name="副标题 5"/>
          <p:cNvSpPr txBox="1"/>
          <p:nvPr/>
        </p:nvSpPr>
        <p:spPr>
          <a:xfrm>
            <a:off x="-6647" y="5210411"/>
            <a:ext cx="8224524" cy="504056"/>
          </a:xfrm>
          <a:prstGeom prst="rect">
            <a:avLst/>
          </a:prstGeom>
        </p:spPr>
        <p:txBody>
          <a:bodyPr vert="horz" lIns="91440" tIns="45720" rIns="91440" bIns="45720" rtlCol="0">
            <a:noAutofit/>
          </a:bodyPr>
          <a:lstStyle>
            <a:lvl1pPr marL="0" indent="0" algn="ctr" defTabSz="914400" rtl="0" eaLnBrk="1" latinLnBrk="0" hangingPunct="1">
              <a:lnSpc>
                <a:spcPct val="120000"/>
              </a:lnSpc>
              <a:spcBef>
                <a:spcPts val="1200"/>
              </a:spcBef>
              <a:buFont typeface="Arial" panose="020B0604020202020204" pitchFamily="34" charset="0"/>
              <a:buNone/>
              <a:defRPr sz="2600" b="0" kern="1200">
                <a:solidFill>
                  <a:schemeClr val="tx1">
                    <a:tint val="75000"/>
                  </a:schemeClr>
                </a:solidFill>
                <a:latin typeface="+mn-lt"/>
                <a:ea typeface="+mn-ea"/>
                <a:cs typeface="等线" panose="02010600030101010101" charset="-122"/>
              </a:defRPr>
            </a:lvl1pPr>
            <a:lvl2pPr marL="457200" indent="0" algn="ctr" defTabSz="914400" rtl="0" eaLnBrk="1" latinLnBrk="0" hangingPunct="1">
              <a:lnSpc>
                <a:spcPct val="120000"/>
              </a:lnSpc>
              <a:spcBef>
                <a:spcPct val="20000"/>
              </a:spcBef>
              <a:buFont typeface="Arial" panose="020B0604020202020204" pitchFamily="34" charset="0"/>
              <a:buNone/>
              <a:defRPr sz="2400" kern="1200">
                <a:solidFill>
                  <a:schemeClr val="tx1">
                    <a:tint val="75000"/>
                  </a:schemeClr>
                </a:solidFill>
                <a:latin typeface="+mn-lt"/>
                <a:ea typeface="+mn-ea"/>
                <a:cs typeface="等线" panose="02010600030101010101" charset="-122"/>
              </a:defRPr>
            </a:lvl2pPr>
            <a:lvl3pPr marL="914400" indent="0" algn="ctr" defTabSz="914400" rtl="0" eaLnBrk="1" latinLnBrk="0" hangingPunct="1">
              <a:lnSpc>
                <a:spcPct val="120000"/>
              </a:lnSpc>
              <a:spcBef>
                <a:spcPct val="20000"/>
              </a:spcBef>
              <a:buFont typeface="Arial" panose="020B0604020202020204" pitchFamily="34" charset="0"/>
              <a:buNone/>
              <a:defRPr sz="2000" kern="1200">
                <a:solidFill>
                  <a:schemeClr val="tx1">
                    <a:tint val="75000"/>
                  </a:schemeClr>
                </a:solidFill>
                <a:latin typeface="+mn-lt"/>
                <a:ea typeface="+mn-ea"/>
                <a:cs typeface="等线" panose="02010600030101010101" charset="-122"/>
              </a:defRPr>
            </a:lvl3pPr>
            <a:lvl4pPr marL="1371600" indent="0" algn="ctr" defTabSz="914400" rtl="0" eaLnBrk="1" latinLnBrk="0" hangingPunct="1">
              <a:lnSpc>
                <a:spcPct val="120000"/>
              </a:lnSpc>
              <a:spcBef>
                <a:spcPct val="20000"/>
              </a:spcBef>
              <a:buFont typeface="Arial" panose="020B0604020202020204" pitchFamily="34" charset="0"/>
              <a:buNone/>
              <a:defRPr sz="1800" kern="1200">
                <a:solidFill>
                  <a:schemeClr val="tx1">
                    <a:tint val="75000"/>
                  </a:schemeClr>
                </a:solidFill>
                <a:latin typeface="+mn-lt"/>
                <a:ea typeface="+mn-ea"/>
                <a:cs typeface="等线" panose="02010600030101010101" charset="-122"/>
              </a:defRPr>
            </a:lvl4pPr>
            <a:lvl5pPr marL="1828800" indent="0" algn="ctr" defTabSz="914400" rtl="0" eaLnBrk="1" latinLnBrk="0" hangingPunct="1">
              <a:lnSpc>
                <a:spcPct val="120000"/>
              </a:lnSpc>
              <a:spcBef>
                <a:spcPct val="20000"/>
              </a:spcBef>
              <a:buFont typeface="Arial" panose="020B0604020202020204" pitchFamily="34" charset="0"/>
              <a:buNone/>
              <a:defRPr sz="1800" kern="1200">
                <a:solidFill>
                  <a:schemeClr val="tx1">
                    <a:tint val="75000"/>
                  </a:schemeClr>
                </a:solidFill>
                <a:latin typeface="+mn-lt"/>
                <a:ea typeface="+mn-ea"/>
                <a:cs typeface="等线" panose="02010600030101010101" charset="-122"/>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50000"/>
              </a:lnSpc>
              <a:spcBef>
                <a:spcPts val="0"/>
              </a:spcBef>
            </a:pPr>
            <a:endParaRPr kumimoji="1" lang="en-GB" altLang="zh-CN" sz="1800" dirty="0">
              <a:solidFill>
                <a:schemeClr val="tx1">
                  <a:lumMod val="50000"/>
                  <a:lumOff val="50000"/>
                </a:schemeClr>
              </a:solidFill>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advTm="11626"/>
    </mc:Choice>
    <mc:Fallback>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kumimoji="1" lang="en-US" altLang="zh-CN" dirty="0"/>
              <a:t>Secure</a:t>
            </a:r>
            <a:r>
              <a:rPr kumimoji="1" lang="zh-CN" altLang="en-US" dirty="0"/>
              <a:t> </a:t>
            </a:r>
            <a:r>
              <a:rPr kumimoji="1" lang="en-US" altLang="zh-CN" dirty="0"/>
              <a:t>Channel</a:t>
            </a:r>
            <a:endParaRPr kumimoji="1" lang="zh-CN" altLang="en-US" dirty="0"/>
          </a:p>
        </p:txBody>
      </p:sp>
      <p:sp>
        <p:nvSpPr>
          <p:cNvPr id="5" name="文本占位符 4"/>
          <p:cNvSpPr>
            <a:spLocks noGrp="1"/>
          </p:cNvSpPr>
          <p:nvPr>
            <p:ph type="body" idx="1"/>
          </p:nvPr>
        </p:nvSpPr>
        <p:spPr/>
        <p:txBody>
          <a:bodyPr/>
          <a:lstStyle/>
          <a:p>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079612" y="1181366"/>
            <a:ext cx="6984776" cy="4380556"/>
          </a:xfrm>
          <a:prstGeom prst="rect">
            <a:avLst/>
          </a:prstGeom>
        </p:spPr>
      </p:pic>
      <p:sp>
        <p:nvSpPr>
          <p:cNvPr id="7" name="标题 1"/>
          <p:cNvSpPr>
            <a:spLocks noGrp="1"/>
          </p:cNvSpPr>
          <p:nvPr>
            <p:ph type="title"/>
          </p:nvPr>
        </p:nvSpPr>
        <p:spPr>
          <a:xfrm>
            <a:off x="457200" y="228866"/>
            <a:ext cx="8229600" cy="952500"/>
          </a:xfrm>
        </p:spPr>
        <p:txBody>
          <a:bodyPr/>
          <a:lstStyle/>
          <a:p>
            <a:r>
              <a:rPr kumimoji="1" lang="en-US" altLang="zh-CN" dirty="0"/>
              <a:t>Encryption</a:t>
            </a:r>
            <a:r>
              <a:rPr kumimoji="1" lang="zh-CN" altLang="en-US" dirty="0"/>
              <a:t> </a:t>
            </a:r>
            <a:r>
              <a:rPr kumimoji="1" lang="en-US" altLang="zh-CN" dirty="0"/>
              <a:t>Properties</a:t>
            </a:r>
            <a:endParaRPr kumimoji="1" lang="zh-CN" altLang="en-US" dirty="0"/>
          </a:p>
        </p:txBody>
      </p:sp>
      <p:cxnSp>
        <p:nvCxnSpPr>
          <p:cNvPr id="3" name="直线连接符 2"/>
          <p:cNvCxnSpPr/>
          <p:nvPr/>
        </p:nvCxnSpPr>
        <p:spPr>
          <a:xfrm>
            <a:off x="179512" y="3433564"/>
            <a:ext cx="878497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线连接符 4"/>
          <p:cNvCxnSpPr/>
          <p:nvPr/>
        </p:nvCxnSpPr>
        <p:spPr>
          <a:xfrm>
            <a:off x="1763688" y="1057300"/>
            <a:ext cx="0" cy="381642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269925" y="481236"/>
            <a:ext cx="1071127"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Alice</a:t>
            </a:r>
            <a:r>
              <a:rPr lang="en-US" altLang="zh-CN" b="1" dirty="0">
                <a:latin typeface="Consolas" panose="020B0609020204030204" charset="0"/>
              </a:rPr>
              <a:t> </a:t>
            </a:r>
            <a:endParaRPr lang="en-US" altLang="zh-CN" dirty="0">
              <a:effectLst/>
            </a:endParaRPr>
          </a:p>
        </p:txBody>
      </p:sp>
      <p:cxnSp>
        <p:nvCxnSpPr>
          <p:cNvPr id="10" name="直线连接符 9"/>
          <p:cNvCxnSpPr/>
          <p:nvPr/>
        </p:nvCxnSpPr>
        <p:spPr>
          <a:xfrm>
            <a:off x="7236296" y="1053999"/>
            <a:ext cx="0" cy="374771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873977" y="477935"/>
            <a:ext cx="808235"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Bob</a:t>
            </a:r>
            <a:endParaRPr lang="en-US" altLang="zh-CN" dirty="0">
              <a:effectLst/>
            </a:endParaRPr>
          </a:p>
        </p:txBody>
      </p:sp>
      <p:sp>
        <p:nvSpPr>
          <p:cNvPr id="12" name="矩形 11"/>
          <p:cNvSpPr/>
          <p:nvPr/>
        </p:nvSpPr>
        <p:spPr>
          <a:xfrm>
            <a:off x="755576" y="1345332"/>
            <a:ext cx="2060179" cy="923330"/>
          </a:xfrm>
          <a:prstGeom prst="rect">
            <a:avLst/>
          </a:prstGeom>
          <a:solidFill>
            <a:schemeClr val="bg1"/>
          </a:solidFill>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dirty="0">
                <a:solidFill>
                  <a:srgbClr val="0093FF"/>
                </a:solidFill>
                <a:latin typeface="Consolas" panose="020B0609020204030204" charset="0"/>
              </a:rPr>
              <a:t> </a:t>
            </a:r>
            <a:r>
              <a:rPr lang="en-US" altLang="zh-CN" b="1" dirty="0">
                <a:latin typeface="Consolas" panose="020B0609020204030204" charset="0"/>
              </a:rPr>
              <a:t>= </a:t>
            </a:r>
            <a:r>
              <a:rPr lang="en-US" altLang="zh-CN" b="1" dirty="0" err="1">
                <a:latin typeface="Consolas" panose="020B0609020204030204" charset="0"/>
              </a:rPr>
              <a:t>encrypt</a:t>
            </a:r>
            <a:r>
              <a:rPr lang="en-US" altLang="zh-CN" b="1" dirty="0">
                <a:latin typeface="Consolas" panose="020B0609020204030204" charset="0"/>
              </a:rPr>
              <a:t>(</a:t>
            </a:r>
            <a:r>
              <a:rPr lang="en-US" altLang="zh-CN" b="1" dirty="0" err="1">
                <a:solidFill>
                  <a:srgbClr val="4C8E00"/>
                </a:solidFill>
                <a:latin typeface="Consolas" panose="020B0609020204030204" charset="0"/>
              </a:rPr>
              <a:t>k</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en-US" altLang="zh-CN" b="1" dirty="0">
                <a:latin typeface="Consolas" panose="020B0609020204030204" charset="0"/>
              </a:rPr>
              <a:t>) </a:t>
            </a:r>
            <a:endParaRPr lang="zh-CN" altLang="en-US" b="1" dirty="0">
              <a:latin typeface="Consolas" panose="020B0609020204030204" charset="0"/>
            </a:endParaRPr>
          </a:p>
          <a:p>
            <a:pPr>
              <a:lnSpc>
                <a:spcPct val="150000"/>
              </a:lnSpc>
            </a:pPr>
            <a:r>
              <a:rPr lang="en-US" altLang="zh-CN" b="1" dirty="0" err="1">
                <a:solidFill>
                  <a:srgbClr val="9335FF"/>
                </a:solidFill>
                <a:latin typeface="Consolas" panose="020B0609020204030204" charset="0"/>
              </a:rPr>
              <a:t>h</a:t>
            </a:r>
            <a:r>
              <a:rPr lang="en-US" altLang="zh-CN" b="1" dirty="0">
                <a:solidFill>
                  <a:srgbClr val="9335FF"/>
                </a:solidFill>
                <a:latin typeface="Consolas" panose="020B0609020204030204" charset="0"/>
              </a:rPr>
              <a:t> </a:t>
            </a:r>
            <a:r>
              <a:rPr lang="en-US" altLang="zh-CN" b="1" dirty="0">
                <a:latin typeface="Consolas" panose="020B0609020204030204" charset="0"/>
              </a:rPr>
              <a:t>= MAC(</a:t>
            </a:r>
            <a:r>
              <a:rPr lang="en-US" altLang="zh-CN" b="1" dirty="0" err="1">
                <a:solidFill>
                  <a:srgbClr val="4C8E00"/>
                </a:solidFill>
                <a:latin typeface="Consolas" panose="020B0609020204030204" charset="0"/>
              </a:rPr>
              <a:t>k</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en-US" altLang="zh-CN" b="1" dirty="0">
                <a:latin typeface="Consolas" panose="020B0609020204030204" charset="0"/>
              </a:rPr>
              <a:t>) </a:t>
            </a:r>
            <a:endParaRPr lang="en-US" altLang="zh-CN" dirty="0">
              <a:effectLst/>
            </a:endParaRPr>
          </a:p>
        </p:txBody>
      </p:sp>
      <p:cxnSp>
        <p:nvCxnSpPr>
          <p:cNvPr id="16" name="直线箭头连接符 15"/>
          <p:cNvCxnSpPr/>
          <p:nvPr/>
        </p:nvCxnSpPr>
        <p:spPr>
          <a:xfrm>
            <a:off x="1805487" y="2425452"/>
            <a:ext cx="535880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4049870" y="2137420"/>
            <a:ext cx="755335"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dirty="0">
                <a:solidFill>
                  <a:srgbClr val="0093FF"/>
                </a:solidFill>
                <a:latin typeface="Consolas" panose="020B0609020204030204" charset="0"/>
              </a:rPr>
              <a:t> </a:t>
            </a:r>
            <a:r>
              <a:rPr lang="en-US" altLang="zh-CN" b="1" dirty="0">
                <a:latin typeface="Consolas" panose="020B0609020204030204" charset="0"/>
              </a:rPr>
              <a:t>|</a:t>
            </a:r>
            <a:r>
              <a:rPr lang="zh-CN" altLang="en-US" b="1" dirty="0">
                <a:latin typeface="Consolas" panose="020B0609020204030204" charset="0"/>
              </a:rPr>
              <a:t> </a:t>
            </a:r>
            <a:r>
              <a:rPr lang="en-US" altLang="zh-CN" b="1" dirty="0" err="1">
                <a:solidFill>
                  <a:srgbClr val="9335FF"/>
                </a:solidFill>
                <a:latin typeface="Consolas" panose="020B0609020204030204" charset="0"/>
              </a:rPr>
              <a:t>h</a:t>
            </a:r>
            <a:endParaRPr lang="en-US" altLang="zh-CN" dirty="0">
              <a:effectLst/>
            </a:endParaRPr>
          </a:p>
        </p:txBody>
      </p:sp>
      <p:sp>
        <p:nvSpPr>
          <p:cNvPr id="19" name="矩形 18"/>
          <p:cNvSpPr/>
          <p:nvPr/>
        </p:nvSpPr>
        <p:spPr>
          <a:xfrm>
            <a:off x="6228184" y="2857500"/>
            <a:ext cx="2387192" cy="923330"/>
          </a:xfrm>
          <a:prstGeom prst="rect">
            <a:avLst/>
          </a:prstGeom>
          <a:solidFill>
            <a:schemeClr val="bg1"/>
          </a:solidFill>
        </p:spPr>
        <p:txBody>
          <a:bodyPr wrap="none">
            <a:spAutoFit/>
          </a:bodyPr>
          <a:lstStyle/>
          <a:p>
            <a:pPr>
              <a:lnSpc>
                <a:spcPct val="150000"/>
              </a:lnSpc>
            </a:pPr>
            <a:r>
              <a:rPr lang="en-US" altLang="zh-CN" b="1" dirty="0" err="1">
                <a:solidFill>
                  <a:srgbClr val="FF7C77"/>
                </a:solidFill>
                <a:latin typeface="Consolas" panose="020B0609020204030204" charset="0"/>
              </a:rPr>
              <a:t>m</a:t>
            </a:r>
            <a:r>
              <a:rPr lang="en-US" altLang="zh-CN" b="1" dirty="0">
                <a:solidFill>
                  <a:srgbClr val="FF7C77"/>
                </a:solidFill>
                <a:latin typeface="Consolas" panose="020B0609020204030204" charset="0"/>
              </a:rPr>
              <a:t> </a:t>
            </a:r>
            <a:r>
              <a:rPr lang="en-US" altLang="zh-CN" b="1" dirty="0">
                <a:latin typeface="Consolas" panose="020B0609020204030204" charset="0"/>
              </a:rPr>
              <a:t>= </a:t>
            </a:r>
            <a:r>
              <a:rPr lang="en-US" altLang="zh-CN" b="1" dirty="0" err="1">
                <a:latin typeface="Consolas" panose="020B0609020204030204" charset="0"/>
              </a:rPr>
              <a:t>decrypt</a:t>
            </a:r>
            <a:r>
              <a:rPr lang="en-US" altLang="zh-CN" b="1" dirty="0">
                <a:latin typeface="Consolas" panose="020B0609020204030204" charset="0"/>
              </a:rPr>
              <a:t>(</a:t>
            </a:r>
            <a:r>
              <a:rPr lang="en-US" altLang="zh-CN" b="1" dirty="0" err="1">
                <a:solidFill>
                  <a:srgbClr val="008E4F"/>
                </a:solidFill>
                <a:latin typeface="Consolas" panose="020B0609020204030204" charset="0"/>
              </a:rPr>
              <a:t>k</a:t>
            </a:r>
            <a:r>
              <a:rPr lang="en-US" altLang="zh-CN" b="1" dirty="0">
                <a:latin typeface="Consolas" panose="020B0609020204030204" charset="0"/>
              </a:rPr>
              <a:t>, </a:t>
            </a:r>
            <a:r>
              <a:rPr lang="en-US" altLang="zh-CN" b="1" dirty="0" err="1">
                <a:solidFill>
                  <a:srgbClr val="0093FF"/>
                </a:solidFill>
                <a:latin typeface="Consolas" panose="020B0609020204030204" charset="0"/>
              </a:rPr>
              <a:t>c</a:t>
            </a:r>
            <a:r>
              <a:rPr lang="en-US" altLang="zh-CN" b="1" dirty="0">
                <a:latin typeface="Consolas" panose="020B0609020204030204" charset="0"/>
              </a:rPr>
              <a:t>) </a:t>
            </a:r>
            <a:endParaRPr lang="zh-CN" altLang="en-US" b="1" dirty="0">
              <a:latin typeface="Consolas" panose="020B0609020204030204" charset="0"/>
            </a:endParaRPr>
          </a:p>
          <a:p>
            <a:pPr>
              <a:lnSpc>
                <a:spcPct val="150000"/>
              </a:lnSpc>
            </a:pPr>
            <a:r>
              <a:rPr lang="en-US" altLang="zh-CN" b="1" dirty="0">
                <a:latin typeface="Consolas" panose="020B0609020204030204" charset="0"/>
              </a:rPr>
              <a:t>MAC(</a:t>
            </a:r>
            <a:r>
              <a:rPr lang="en-US" altLang="zh-CN" b="1" dirty="0">
                <a:solidFill>
                  <a:srgbClr val="008E00"/>
                </a:solidFill>
                <a:latin typeface="Consolas" panose="020B0609020204030204" charset="0"/>
              </a:rPr>
              <a:t>k</a:t>
            </a:r>
            <a:r>
              <a:rPr lang="en-US" altLang="zh-CN" b="1" dirty="0">
                <a:latin typeface="Consolas" panose="020B0609020204030204" charset="0"/>
              </a:rPr>
              <a:t>, </a:t>
            </a:r>
            <a:r>
              <a:rPr lang="en-US" altLang="zh-CN" b="1" dirty="0">
                <a:solidFill>
                  <a:srgbClr val="FF7C77"/>
                </a:solidFill>
                <a:latin typeface="Consolas" panose="020B0609020204030204" charset="0"/>
              </a:rPr>
              <a:t>m</a:t>
            </a:r>
            <a:r>
              <a:rPr lang="en-US" altLang="zh-CN" b="1" dirty="0">
                <a:latin typeface="Consolas" panose="020B0609020204030204" charset="0"/>
              </a:rPr>
              <a:t>) == </a:t>
            </a:r>
            <a:r>
              <a:rPr lang="en-US" altLang="zh-CN" b="1" dirty="0">
                <a:solidFill>
                  <a:srgbClr val="9335FF"/>
                </a:solidFill>
                <a:latin typeface="Consolas" panose="020B0609020204030204" charset="0"/>
              </a:rPr>
              <a:t>h</a:t>
            </a:r>
            <a:r>
              <a:rPr lang="en-US" altLang="zh-CN" b="1" dirty="0">
                <a:solidFill>
                  <a:srgbClr val="9335FF"/>
                </a:solidFill>
                <a:latin typeface="Consolas" panose="020B0609020204030204" charset="0"/>
              </a:rPr>
              <a:t> </a:t>
            </a:r>
            <a:r>
              <a:rPr lang="en-US" altLang="zh-CN" b="1" dirty="0">
                <a:latin typeface="Consolas" panose="020B0609020204030204" charset="0"/>
              </a:rPr>
              <a:t>?</a:t>
            </a:r>
            <a:endParaRPr lang="en-US" altLang="zh-CN" dirty="0">
              <a:effectLst/>
            </a:endParaRPr>
          </a:p>
        </p:txBody>
      </p:sp>
      <p:sp>
        <p:nvSpPr>
          <p:cNvPr id="2" name="矩形 1"/>
          <p:cNvSpPr/>
          <p:nvPr/>
        </p:nvSpPr>
        <p:spPr>
          <a:xfrm>
            <a:off x="3822686" y="339435"/>
            <a:ext cx="1324402" cy="646331"/>
          </a:xfrm>
          <a:prstGeom prst="rect">
            <a:avLst/>
          </a:prstGeom>
        </p:spPr>
        <p:txBody>
          <a:bodyPr wrap="none">
            <a:spAutoFit/>
          </a:bodyPr>
          <a:lstStyle/>
          <a:p>
            <a:r>
              <a:rPr lang="en-US" altLang="zh-CN" b="1" dirty="0">
                <a:solidFill>
                  <a:srgbClr val="4C8E00"/>
                </a:solidFill>
                <a:latin typeface="Consolas" panose="020B0609020204030204" charset="0"/>
              </a:rPr>
              <a:t>k=key</a:t>
            </a:r>
            <a:endParaRPr lang="zh-CN" altLang="en-US" b="1" dirty="0">
              <a:solidFill>
                <a:srgbClr val="4C8E00"/>
              </a:solidFill>
              <a:latin typeface="Consolas" panose="020B0609020204030204" charset="0"/>
            </a:endParaRPr>
          </a:p>
          <a:p>
            <a:r>
              <a:rPr lang="en-US" altLang="zh-CN" b="1" dirty="0" err="1">
                <a:solidFill>
                  <a:srgbClr val="FF7C77"/>
                </a:solidFill>
                <a:latin typeface="Consolas" panose="020B0609020204030204" charset="0"/>
              </a:rPr>
              <a:t>m</a:t>
            </a:r>
            <a:r>
              <a:rPr lang="en-US" altLang="zh-CN" b="1" dirty="0">
                <a:solidFill>
                  <a:srgbClr val="FF7C77"/>
                </a:solidFill>
                <a:latin typeface="Consolas" panose="020B0609020204030204" charset="0"/>
              </a:rPr>
              <a:t>=message</a:t>
            </a:r>
            <a:endParaRPr lang="zh-CN" altLang="en-US" dirty="0"/>
          </a:p>
        </p:txBody>
      </p:sp>
      <p:sp>
        <p:nvSpPr>
          <p:cNvPr id="13" name="文本框 12"/>
          <p:cNvSpPr txBox="1"/>
          <p:nvPr/>
        </p:nvSpPr>
        <p:spPr>
          <a:xfrm>
            <a:off x="1361036" y="118438"/>
            <a:ext cx="980016" cy="369332"/>
          </a:xfrm>
          <a:prstGeom prst="rect">
            <a:avLst/>
          </a:prstGeom>
          <a:noFill/>
        </p:spPr>
        <p:txBody>
          <a:bodyPr wrap="square">
            <a:spAutoFit/>
          </a:bodyPr>
          <a:lstStyle/>
          <a:p>
            <a:r>
              <a:rPr lang="en-US" altLang="zh-CN" dirty="0">
                <a:solidFill>
                  <a:srgbClr val="4C8E00"/>
                </a:solidFill>
                <a:latin typeface="Consolas" panose="020B0609020204030204" charset="0"/>
              </a:rPr>
              <a:t>has</a:t>
            </a:r>
            <a:r>
              <a:rPr lang="zh-CN" altLang="en-US" b="1" dirty="0">
                <a:solidFill>
                  <a:srgbClr val="4C8E00"/>
                </a:solidFill>
                <a:latin typeface="Consolas" panose="020B0609020204030204" charset="0"/>
              </a:rPr>
              <a:t> </a:t>
            </a:r>
            <a:r>
              <a:rPr lang="en-US" altLang="zh-CN" b="1" dirty="0">
                <a:solidFill>
                  <a:srgbClr val="4C8E00"/>
                </a:solidFill>
                <a:latin typeface="Consolas" panose="020B0609020204030204" charset="0"/>
              </a:rPr>
              <a:t>k</a:t>
            </a:r>
            <a:endParaRPr lang="zh-CN" altLang="en-US" b="1" dirty="0">
              <a:solidFill>
                <a:srgbClr val="4C8E00"/>
              </a:solidFill>
              <a:latin typeface="Consolas" panose="020B0609020204030204" charset="0"/>
            </a:endParaRPr>
          </a:p>
        </p:txBody>
      </p:sp>
      <p:sp>
        <p:nvSpPr>
          <p:cNvPr id="14" name="文本框 13"/>
          <p:cNvSpPr txBox="1"/>
          <p:nvPr/>
        </p:nvSpPr>
        <p:spPr>
          <a:xfrm>
            <a:off x="6873977" y="88239"/>
            <a:ext cx="980016" cy="369332"/>
          </a:xfrm>
          <a:prstGeom prst="rect">
            <a:avLst/>
          </a:prstGeom>
          <a:noFill/>
        </p:spPr>
        <p:txBody>
          <a:bodyPr wrap="square">
            <a:spAutoFit/>
          </a:bodyPr>
          <a:lstStyle/>
          <a:p>
            <a:r>
              <a:rPr lang="en-US" altLang="zh-CN" dirty="0">
                <a:solidFill>
                  <a:srgbClr val="4C8E00"/>
                </a:solidFill>
                <a:latin typeface="Consolas" panose="020B0609020204030204" charset="0"/>
              </a:rPr>
              <a:t>has</a:t>
            </a:r>
            <a:r>
              <a:rPr lang="zh-CN" altLang="en-US" b="1" dirty="0">
                <a:solidFill>
                  <a:srgbClr val="4C8E00"/>
                </a:solidFill>
                <a:latin typeface="Consolas" panose="020B0609020204030204" charset="0"/>
              </a:rPr>
              <a:t> </a:t>
            </a:r>
            <a:r>
              <a:rPr lang="en-US" altLang="zh-CN" b="1" dirty="0">
                <a:solidFill>
                  <a:srgbClr val="4C8E00"/>
                </a:solidFill>
                <a:latin typeface="Consolas" panose="020B0609020204030204" charset="0"/>
              </a:rPr>
              <a:t>k</a:t>
            </a:r>
            <a:endParaRPr lang="zh-CN" altLang="en-US" b="1" dirty="0">
              <a:solidFill>
                <a:srgbClr val="4C8E00"/>
              </a:solidFill>
              <a:latin typeface="Consolas" panose="020B060902020403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线连接符 13"/>
          <p:cNvCxnSpPr/>
          <p:nvPr/>
        </p:nvCxnSpPr>
        <p:spPr>
          <a:xfrm>
            <a:off x="4446216" y="1057300"/>
            <a:ext cx="0" cy="3816424"/>
          </a:xfrm>
          <a:prstGeom prst="line">
            <a:avLst/>
          </a:prstGeom>
          <a:ln w="2857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5" name="直线连接符 4"/>
          <p:cNvCxnSpPr/>
          <p:nvPr/>
        </p:nvCxnSpPr>
        <p:spPr>
          <a:xfrm>
            <a:off x="1763688" y="1057300"/>
            <a:ext cx="0" cy="3308593"/>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269925" y="481236"/>
            <a:ext cx="1071127"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Alice</a:t>
            </a:r>
            <a:r>
              <a:rPr lang="en-US" altLang="zh-CN" b="1" dirty="0">
                <a:latin typeface="Consolas" panose="020B0609020204030204" charset="0"/>
              </a:rPr>
              <a:t> </a:t>
            </a:r>
            <a:endParaRPr lang="en-US" altLang="zh-CN" dirty="0">
              <a:effectLst/>
            </a:endParaRPr>
          </a:p>
        </p:txBody>
      </p:sp>
      <p:cxnSp>
        <p:nvCxnSpPr>
          <p:cNvPr id="10" name="直线连接符 9"/>
          <p:cNvCxnSpPr/>
          <p:nvPr/>
        </p:nvCxnSpPr>
        <p:spPr>
          <a:xfrm>
            <a:off x="7236296" y="1053999"/>
            <a:ext cx="0" cy="374771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873977" y="477935"/>
            <a:ext cx="808235"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Bob</a:t>
            </a:r>
            <a:endParaRPr lang="en-US" altLang="zh-CN" dirty="0">
              <a:effectLst/>
            </a:endParaRPr>
          </a:p>
        </p:txBody>
      </p:sp>
      <p:sp>
        <p:nvSpPr>
          <p:cNvPr id="12" name="矩形 11"/>
          <p:cNvSpPr/>
          <p:nvPr/>
        </p:nvSpPr>
        <p:spPr>
          <a:xfrm>
            <a:off x="755576" y="1345332"/>
            <a:ext cx="2060179" cy="923330"/>
          </a:xfrm>
          <a:prstGeom prst="rect">
            <a:avLst/>
          </a:prstGeom>
          <a:solidFill>
            <a:schemeClr val="bg1"/>
          </a:solidFill>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dirty="0">
                <a:solidFill>
                  <a:srgbClr val="0093FF"/>
                </a:solidFill>
                <a:latin typeface="Consolas" panose="020B0609020204030204" charset="0"/>
              </a:rPr>
              <a:t> </a:t>
            </a:r>
            <a:r>
              <a:rPr lang="en-US" altLang="zh-CN" b="1" dirty="0">
                <a:latin typeface="Consolas" panose="020B0609020204030204" charset="0"/>
              </a:rPr>
              <a:t>= </a:t>
            </a:r>
            <a:r>
              <a:rPr lang="en-US" altLang="zh-CN" b="1" dirty="0" err="1">
                <a:latin typeface="Consolas" panose="020B0609020204030204" charset="0"/>
              </a:rPr>
              <a:t>encrypt</a:t>
            </a:r>
            <a:r>
              <a:rPr lang="en-US" altLang="zh-CN" b="1" dirty="0">
                <a:latin typeface="Consolas" panose="020B0609020204030204" charset="0"/>
              </a:rPr>
              <a:t>(</a:t>
            </a:r>
            <a:r>
              <a:rPr lang="en-US" altLang="zh-CN" b="1" dirty="0" err="1">
                <a:solidFill>
                  <a:srgbClr val="4C8E00"/>
                </a:solidFill>
                <a:latin typeface="Consolas" panose="020B0609020204030204" charset="0"/>
              </a:rPr>
              <a:t>k</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en-US" altLang="zh-CN" b="1" dirty="0">
                <a:latin typeface="Consolas" panose="020B0609020204030204" charset="0"/>
              </a:rPr>
              <a:t>) </a:t>
            </a:r>
            <a:endParaRPr lang="zh-CN" altLang="en-US" b="1" dirty="0">
              <a:latin typeface="Consolas" panose="020B0609020204030204" charset="0"/>
            </a:endParaRPr>
          </a:p>
          <a:p>
            <a:pPr>
              <a:lnSpc>
                <a:spcPct val="150000"/>
              </a:lnSpc>
            </a:pPr>
            <a:r>
              <a:rPr lang="en-US" altLang="zh-CN" b="1" dirty="0" err="1">
                <a:solidFill>
                  <a:srgbClr val="9335FF"/>
                </a:solidFill>
                <a:latin typeface="Consolas" panose="020B0609020204030204" charset="0"/>
              </a:rPr>
              <a:t>h</a:t>
            </a:r>
            <a:r>
              <a:rPr lang="en-US" altLang="zh-CN" b="1" dirty="0">
                <a:solidFill>
                  <a:srgbClr val="9335FF"/>
                </a:solidFill>
                <a:latin typeface="Consolas" panose="020B0609020204030204" charset="0"/>
              </a:rPr>
              <a:t> </a:t>
            </a:r>
            <a:r>
              <a:rPr lang="en-US" altLang="zh-CN" b="1" dirty="0">
                <a:latin typeface="Consolas" panose="020B0609020204030204" charset="0"/>
              </a:rPr>
              <a:t>= MAC(</a:t>
            </a:r>
            <a:r>
              <a:rPr lang="en-US" altLang="zh-CN" b="1" dirty="0" err="1">
                <a:solidFill>
                  <a:srgbClr val="4C8E00"/>
                </a:solidFill>
                <a:latin typeface="Consolas" panose="020B0609020204030204" charset="0"/>
              </a:rPr>
              <a:t>k</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en-US" altLang="zh-CN" b="1" dirty="0">
                <a:latin typeface="Consolas" panose="020B0609020204030204" charset="0"/>
              </a:rPr>
              <a:t>) </a:t>
            </a:r>
            <a:endParaRPr lang="en-US" altLang="zh-CN" dirty="0">
              <a:effectLst/>
            </a:endParaRPr>
          </a:p>
        </p:txBody>
      </p:sp>
      <p:cxnSp>
        <p:nvCxnSpPr>
          <p:cNvPr id="16" name="直线箭头连接符 15"/>
          <p:cNvCxnSpPr/>
          <p:nvPr/>
        </p:nvCxnSpPr>
        <p:spPr>
          <a:xfrm>
            <a:off x="1805487" y="2425452"/>
            <a:ext cx="535880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4049870" y="2137420"/>
            <a:ext cx="755335"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dirty="0">
                <a:solidFill>
                  <a:srgbClr val="0093FF"/>
                </a:solidFill>
                <a:latin typeface="Consolas" panose="020B0609020204030204" charset="0"/>
              </a:rPr>
              <a:t> </a:t>
            </a:r>
            <a:r>
              <a:rPr lang="en-US" altLang="zh-CN" b="1" dirty="0">
                <a:latin typeface="Consolas" panose="020B0609020204030204" charset="0"/>
              </a:rPr>
              <a:t>|</a:t>
            </a:r>
            <a:r>
              <a:rPr lang="zh-CN" altLang="en-US" b="1" dirty="0">
                <a:latin typeface="Consolas" panose="020B0609020204030204" charset="0"/>
              </a:rPr>
              <a:t> </a:t>
            </a:r>
            <a:r>
              <a:rPr lang="en-US" altLang="zh-CN" b="1" dirty="0" err="1">
                <a:solidFill>
                  <a:srgbClr val="9335FF"/>
                </a:solidFill>
                <a:latin typeface="Consolas" panose="020B0609020204030204" charset="0"/>
              </a:rPr>
              <a:t>h</a:t>
            </a:r>
            <a:endParaRPr lang="en-US" altLang="zh-CN" dirty="0">
              <a:effectLst/>
            </a:endParaRPr>
          </a:p>
        </p:txBody>
      </p:sp>
      <p:sp>
        <p:nvSpPr>
          <p:cNvPr id="19" name="矩形 18"/>
          <p:cNvSpPr/>
          <p:nvPr/>
        </p:nvSpPr>
        <p:spPr>
          <a:xfrm>
            <a:off x="6228184" y="2870274"/>
            <a:ext cx="2387192" cy="923330"/>
          </a:xfrm>
          <a:prstGeom prst="rect">
            <a:avLst/>
          </a:prstGeom>
          <a:solidFill>
            <a:schemeClr val="bg1"/>
          </a:solidFill>
        </p:spPr>
        <p:txBody>
          <a:bodyPr wrap="none">
            <a:spAutoFit/>
          </a:bodyPr>
          <a:lstStyle/>
          <a:p>
            <a:pPr>
              <a:lnSpc>
                <a:spcPct val="150000"/>
              </a:lnSpc>
            </a:pPr>
            <a:r>
              <a:rPr lang="en-US" altLang="zh-CN" b="1" dirty="0" err="1">
                <a:solidFill>
                  <a:srgbClr val="FF7C77"/>
                </a:solidFill>
                <a:latin typeface="Consolas" panose="020B0609020204030204" charset="0"/>
              </a:rPr>
              <a:t>m</a:t>
            </a:r>
            <a:r>
              <a:rPr lang="en-US" altLang="zh-CN" b="1" dirty="0">
                <a:solidFill>
                  <a:srgbClr val="FF7C77"/>
                </a:solidFill>
                <a:latin typeface="Consolas" panose="020B0609020204030204" charset="0"/>
              </a:rPr>
              <a:t> </a:t>
            </a:r>
            <a:r>
              <a:rPr lang="en-US" altLang="zh-CN" b="1" dirty="0">
                <a:latin typeface="Consolas" panose="020B0609020204030204" charset="0"/>
              </a:rPr>
              <a:t>= </a:t>
            </a:r>
            <a:r>
              <a:rPr lang="en-US" altLang="zh-CN" b="1" dirty="0" err="1">
                <a:latin typeface="Consolas" panose="020B0609020204030204" charset="0"/>
              </a:rPr>
              <a:t>decrypt</a:t>
            </a:r>
            <a:r>
              <a:rPr lang="en-US" altLang="zh-CN" b="1" dirty="0">
                <a:latin typeface="Consolas" panose="020B0609020204030204" charset="0"/>
              </a:rPr>
              <a:t>(</a:t>
            </a:r>
            <a:r>
              <a:rPr lang="en-US" altLang="zh-CN" b="1" dirty="0" err="1">
                <a:solidFill>
                  <a:srgbClr val="008E4F"/>
                </a:solidFill>
                <a:latin typeface="Consolas" panose="020B0609020204030204" charset="0"/>
              </a:rPr>
              <a:t>k</a:t>
            </a:r>
            <a:r>
              <a:rPr lang="en-US" altLang="zh-CN" b="1" dirty="0">
                <a:latin typeface="Consolas" panose="020B0609020204030204" charset="0"/>
              </a:rPr>
              <a:t>, </a:t>
            </a:r>
            <a:r>
              <a:rPr lang="en-US" altLang="zh-CN" b="1" dirty="0" err="1">
                <a:solidFill>
                  <a:srgbClr val="0093FF"/>
                </a:solidFill>
                <a:latin typeface="Consolas" panose="020B0609020204030204" charset="0"/>
              </a:rPr>
              <a:t>c</a:t>
            </a:r>
            <a:r>
              <a:rPr lang="en-US" altLang="zh-CN" b="1" dirty="0">
                <a:latin typeface="Consolas" panose="020B0609020204030204" charset="0"/>
              </a:rPr>
              <a:t>) </a:t>
            </a:r>
            <a:endParaRPr lang="zh-CN" altLang="en-US" b="1" dirty="0">
              <a:latin typeface="Consolas" panose="020B0609020204030204" charset="0"/>
            </a:endParaRPr>
          </a:p>
          <a:p>
            <a:pPr>
              <a:lnSpc>
                <a:spcPct val="150000"/>
              </a:lnSpc>
            </a:pPr>
            <a:r>
              <a:rPr lang="en-US" altLang="zh-CN" b="1" dirty="0">
                <a:latin typeface="Consolas" panose="020B0609020204030204" charset="0"/>
              </a:rPr>
              <a:t>MAC(</a:t>
            </a:r>
            <a:r>
              <a:rPr lang="en-US" altLang="zh-CN" b="1" dirty="0">
                <a:solidFill>
                  <a:srgbClr val="008E00"/>
                </a:solidFill>
                <a:latin typeface="Consolas" panose="020B0609020204030204" charset="0"/>
              </a:rPr>
              <a:t>k</a:t>
            </a:r>
            <a:r>
              <a:rPr lang="en-US" altLang="zh-CN" b="1" dirty="0">
                <a:latin typeface="Consolas" panose="020B0609020204030204" charset="0"/>
              </a:rPr>
              <a:t>, </a:t>
            </a:r>
            <a:r>
              <a:rPr lang="en-US" altLang="zh-CN" b="1" dirty="0">
                <a:solidFill>
                  <a:srgbClr val="FF7C77"/>
                </a:solidFill>
                <a:latin typeface="Consolas" panose="020B0609020204030204" charset="0"/>
              </a:rPr>
              <a:t>m</a:t>
            </a:r>
            <a:r>
              <a:rPr lang="en-US" altLang="zh-CN" b="1" dirty="0">
                <a:latin typeface="Consolas" panose="020B0609020204030204" charset="0"/>
              </a:rPr>
              <a:t>) == </a:t>
            </a:r>
            <a:r>
              <a:rPr lang="en-US" altLang="zh-CN" b="1" dirty="0">
                <a:solidFill>
                  <a:srgbClr val="9335FF"/>
                </a:solidFill>
                <a:latin typeface="Consolas" panose="020B0609020204030204" charset="0"/>
              </a:rPr>
              <a:t>h </a:t>
            </a:r>
            <a:r>
              <a:rPr lang="en-US" altLang="zh-CN" b="1" dirty="0">
                <a:latin typeface="Consolas" panose="020B0609020204030204" charset="0"/>
              </a:rPr>
              <a:t>?</a:t>
            </a:r>
            <a:r>
              <a:rPr lang="en-US" altLang="zh-CN" b="1" dirty="0">
                <a:latin typeface="Consolas" panose="020B0609020204030204" charset="0"/>
              </a:rPr>
              <a:t> </a:t>
            </a:r>
            <a:endParaRPr lang="en-US" altLang="zh-CN" dirty="0">
              <a:effectLst/>
            </a:endParaRPr>
          </a:p>
        </p:txBody>
      </p:sp>
      <p:cxnSp>
        <p:nvCxnSpPr>
          <p:cNvPr id="13" name="直线箭头连接符 12"/>
          <p:cNvCxnSpPr/>
          <p:nvPr/>
        </p:nvCxnSpPr>
        <p:spPr>
          <a:xfrm>
            <a:off x="4572000" y="4009628"/>
            <a:ext cx="259228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125577" y="481236"/>
            <a:ext cx="724878" cy="507831"/>
          </a:xfrm>
          <a:prstGeom prst="rect">
            <a:avLst/>
          </a:prstGeom>
        </p:spPr>
        <p:txBody>
          <a:bodyPr wrap="none">
            <a:spAutoFit/>
          </a:bodyPr>
          <a:lstStyle/>
          <a:p>
            <a:pPr algn="ctr"/>
            <a:r>
              <a:rPr kumimoji="1" lang="en-US" altLang="zh-CN" sz="2700" b="1" dirty="0">
                <a:solidFill>
                  <a:schemeClr val="accent1"/>
                </a:solidFill>
                <a:latin typeface="等线" panose="02010600030101010101" charset="-122"/>
                <a:ea typeface="楷体" panose="02010609060101010101" charset="-122"/>
                <a:cs typeface="Myriad Pro Light SemiCond"/>
              </a:rPr>
              <a:t>Eve</a:t>
            </a:r>
            <a:endParaRPr lang="en-US" altLang="zh-CN" dirty="0">
              <a:solidFill>
                <a:schemeClr val="accent1"/>
              </a:solidFill>
              <a:effectLst/>
            </a:endParaRPr>
          </a:p>
        </p:txBody>
      </p:sp>
      <p:sp>
        <p:nvSpPr>
          <p:cNvPr id="17" name="矩形 16"/>
          <p:cNvSpPr/>
          <p:nvPr/>
        </p:nvSpPr>
        <p:spPr>
          <a:xfrm>
            <a:off x="5371724" y="3755712"/>
            <a:ext cx="755335"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dirty="0">
                <a:solidFill>
                  <a:srgbClr val="0093FF"/>
                </a:solidFill>
                <a:latin typeface="Consolas" panose="020B0609020204030204" charset="0"/>
              </a:rPr>
              <a:t> </a:t>
            </a:r>
            <a:r>
              <a:rPr lang="en-US" altLang="zh-CN" b="1" dirty="0">
                <a:latin typeface="Consolas" panose="020B0609020204030204" charset="0"/>
              </a:rPr>
              <a:t>|</a:t>
            </a:r>
            <a:r>
              <a:rPr lang="zh-CN" altLang="en-US" b="1" dirty="0">
                <a:latin typeface="Consolas" panose="020B0609020204030204" charset="0"/>
              </a:rPr>
              <a:t> </a:t>
            </a:r>
            <a:r>
              <a:rPr lang="en-US" altLang="zh-CN" b="1" dirty="0" err="1">
                <a:solidFill>
                  <a:srgbClr val="9335FF"/>
                </a:solidFill>
                <a:latin typeface="Consolas" panose="020B0609020204030204" charset="0"/>
              </a:rPr>
              <a:t>h</a:t>
            </a:r>
            <a:endParaRPr lang="en-US" altLang="zh-CN" dirty="0">
              <a:effectLst/>
            </a:endParaRPr>
          </a:p>
        </p:txBody>
      </p:sp>
      <p:cxnSp>
        <p:nvCxnSpPr>
          <p:cNvPr id="20" name="直线箭头连接符 19"/>
          <p:cNvCxnSpPr/>
          <p:nvPr/>
        </p:nvCxnSpPr>
        <p:spPr>
          <a:xfrm>
            <a:off x="4572000" y="4619809"/>
            <a:ext cx="259228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5371724" y="4365893"/>
            <a:ext cx="755335"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dirty="0">
                <a:solidFill>
                  <a:srgbClr val="0093FF"/>
                </a:solidFill>
                <a:latin typeface="Consolas" panose="020B0609020204030204" charset="0"/>
              </a:rPr>
              <a:t> </a:t>
            </a:r>
            <a:r>
              <a:rPr lang="en-US" altLang="zh-CN" b="1" dirty="0">
                <a:latin typeface="Consolas" panose="020B0609020204030204" charset="0"/>
              </a:rPr>
              <a:t>|</a:t>
            </a:r>
            <a:r>
              <a:rPr lang="zh-CN" altLang="en-US" b="1" dirty="0">
                <a:latin typeface="Consolas" panose="020B0609020204030204" charset="0"/>
              </a:rPr>
              <a:t> </a:t>
            </a:r>
            <a:r>
              <a:rPr lang="en-US" altLang="zh-CN" b="1" dirty="0" err="1">
                <a:solidFill>
                  <a:srgbClr val="9335FF"/>
                </a:solidFill>
                <a:latin typeface="Consolas" panose="020B0609020204030204" charset="0"/>
              </a:rPr>
              <a:t>h</a:t>
            </a:r>
            <a:endParaRPr lang="en-US" altLang="zh-CN" dirty="0">
              <a:effectLst/>
            </a:endParaRPr>
          </a:p>
        </p:txBody>
      </p:sp>
      <p:sp>
        <p:nvSpPr>
          <p:cNvPr id="6" name="矩形 5"/>
          <p:cNvSpPr/>
          <p:nvPr/>
        </p:nvSpPr>
        <p:spPr>
          <a:xfrm>
            <a:off x="323528" y="4226410"/>
            <a:ext cx="8136904" cy="1200329"/>
          </a:xfrm>
          <a:prstGeom prst="rect">
            <a:avLst/>
          </a:prstGeom>
        </p:spPr>
        <p:txBody>
          <a:bodyPr wrap="square">
            <a:spAutoFit/>
          </a:bodyPr>
          <a:lstStyle/>
          <a:p>
            <a:pPr>
              <a:lnSpc>
                <a:spcPct val="150000"/>
              </a:lnSpc>
            </a:pPr>
            <a:r>
              <a:rPr lang="en-US" altLang="zh-CN" sz="2800" b="1" dirty="0">
                <a:latin typeface="Helvetica" charset="0"/>
              </a:rPr>
              <a:t>Problem: </a:t>
            </a:r>
            <a:r>
              <a:rPr lang="en-US" altLang="zh-CN" sz="2800" dirty="0">
                <a:latin typeface="Helvetica" charset="0"/>
              </a:rPr>
              <a:t>replay attacks</a:t>
            </a:r>
            <a:br>
              <a:rPr lang="en-US" altLang="zh-CN" sz="2800" dirty="0">
                <a:latin typeface="Helvetica" charset="0"/>
              </a:rPr>
            </a:br>
            <a:r>
              <a:rPr lang="en-US" altLang="zh-CN" sz="2000" dirty="0">
                <a:latin typeface="Helvetica" charset="0"/>
              </a:rPr>
              <a:t>(adversary could intercept a message, re-send it at a later time) </a:t>
            </a:r>
            <a:endParaRPr lang="en-US" altLang="zh-CN" sz="2000" dirty="0">
              <a:effectLst/>
            </a:endParaRPr>
          </a:p>
        </p:txBody>
      </p:sp>
      <p:sp>
        <p:nvSpPr>
          <p:cNvPr id="22" name="文本框 21"/>
          <p:cNvSpPr txBox="1"/>
          <p:nvPr/>
        </p:nvSpPr>
        <p:spPr>
          <a:xfrm>
            <a:off x="1361036" y="118438"/>
            <a:ext cx="980016" cy="369332"/>
          </a:xfrm>
          <a:prstGeom prst="rect">
            <a:avLst/>
          </a:prstGeom>
          <a:noFill/>
        </p:spPr>
        <p:txBody>
          <a:bodyPr wrap="square">
            <a:spAutoFit/>
          </a:bodyPr>
          <a:lstStyle/>
          <a:p>
            <a:r>
              <a:rPr lang="en-US" altLang="zh-CN" dirty="0">
                <a:solidFill>
                  <a:srgbClr val="4C8E00"/>
                </a:solidFill>
                <a:latin typeface="Consolas" panose="020B0609020204030204" charset="0"/>
              </a:rPr>
              <a:t>has</a:t>
            </a:r>
            <a:r>
              <a:rPr lang="zh-CN" altLang="en-US" b="1" dirty="0">
                <a:solidFill>
                  <a:srgbClr val="4C8E00"/>
                </a:solidFill>
                <a:latin typeface="Consolas" panose="020B0609020204030204" charset="0"/>
              </a:rPr>
              <a:t> </a:t>
            </a:r>
            <a:r>
              <a:rPr lang="en-US" altLang="zh-CN" b="1" dirty="0">
                <a:solidFill>
                  <a:srgbClr val="4C8E00"/>
                </a:solidFill>
                <a:latin typeface="Consolas" panose="020B0609020204030204" charset="0"/>
              </a:rPr>
              <a:t>k</a:t>
            </a:r>
            <a:endParaRPr lang="zh-CN" altLang="en-US" b="1" dirty="0">
              <a:solidFill>
                <a:srgbClr val="4C8E00"/>
              </a:solidFill>
              <a:latin typeface="Consolas" panose="020B0609020204030204" charset="0"/>
            </a:endParaRPr>
          </a:p>
        </p:txBody>
      </p:sp>
      <p:sp>
        <p:nvSpPr>
          <p:cNvPr id="23" name="文本框 22"/>
          <p:cNvSpPr txBox="1"/>
          <p:nvPr/>
        </p:nvSpPr>
        <p:spPr>
          <a:xfrm>
            <a:off x="6873977" y="88239"/>
            <a:ext cx="980016" cy="369332"/>
          </a:xfrm>
          <a:prstGeom prst="rect">
            <a:avLst/>
          </a:prstGeom>
          <a:noFill/>
        </p:spPr>
        <p:txBody>
          <a:bodyPr wrap="square">
            <a:spAutoFit/>
          </a:bodyPr>
          <a:lstStyle/>
          <a:p>
            <a:r>
              <a:rPr lang="en-US" altLang="zh-CN" dirty="0">
                <a:solidFill>
                  <a:srgbClr val="4C8E00"/>
                </a:solidFill>
                <a:latin typeface="Consolas" panose="020B0609020204030204" charset="0"/>
              </a:rPr>
              <a:t>has</a:t>
            </a:r>
            <a:r>
              <a:rPr lang="zh-CN" altLang="en-US" b="1" dirty="0">
                <a:solidFill>
                  <a:srgbClr val="4C8E00"/>
                </a:solidFill>
                <a:latin typeface="Consolas" panose="020B0609020204030204" charset="0"/>
              </a:rPr>
              <a:t> </a:t>
            </a:r>
            <a:r>
              <a:rPr lang="en-US" altLang="zh-CN" b="1" dirty="0">
                <a:solidFill>
                  <a:srgbClr val="4C8E00"/>
                </a:solidFill>
                <a:latin typeface="Consolas" panose="020B0609020204030204" charset="0"/>
              </a:rPr>
              <a:t>k</a:t>
            </a:r>
            <a:endParaRPr lang="zh-CN" altLang="en-US" b="1" dirty="0">
              <a:solidFill>
                <a:srgbClr val="4C8E00"/>
              </a:solidFill>
              <a:latin typeface="Consolas" panose="020B0609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线连接符 4"/>
          <p:cNvCxnSpPr/>
          <p:nvPr/>
        </p:nvCxnSpPr>
        <p:spPr>
          <a:xfrm>
            <a:off x="1763688" y="1057300"/>
            <a:ext cx="0" cy="381642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269925" y="481236"/>
            <a:ext cx="1071127"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Alice</a:t>
            </a:r>
            <a:r>
              <a:rPr lang="en-US" altLang="zh-CN" b="1" dirty="0">
                <a:latin typeface="Consolas" panose="020B0609020204030204" charset="0"/>
              </a:rPr>
              <a:t> </a:t>
            </a:r>
            <a:endParaRPr lang="en-US" altLang="zh-CN" dirty="0">
              <a:effectLst/>
            </a:endParaRPr>
          </a:p>
        </p:txBody>
      </p:sp>
      <p:cxnSp>
        <p:nvCxnSpPr>
          <p:cNvPr id="10" name="直线连接符 9"/>
          <p:cNvCxnSpPr/>
          <p:nvPr/>
        </p:nvCxnSpPr>
        <p:spPr>
          <a:xfrm>
            <a:off x="7236296" y="1053999"/>
            <a:ext cx="0" cy="374771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873977" y="477935"/>
            <a:ext cx="808235"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Bob</a:t>
            </a:r>
            <a:endParaRPr lang="en-US" altLang="zh-CN" dirty="0">
              <a:effectLst/>
            </a:endParaRPr>
          </a:p>
        </p:txBody>
      </p:sp>
      <p:sp>
        <p:nvSpPr>
          <p:cNvPr id="12" name="矩形 11"/>
          <p:cNvSpPr/>
          <p:nvPr/>
        </p:nvSpPr>
        <p:spPr>
          <a:xfrm>
            <a:off x="755576" y="1345332"/>
            <a:ext cx="2820003" cy="923330"/>
          </a:xfrm>
          <a:prstGeom prst="rect">
            <a:avLst/>
          </a:prstGeom>
          <a:solidFill>
            <a:schemeClr val="bg1"/>
          </a:solidFill>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dirty="0">
                <a:solidFill>
                  <a:srgbClr val="0093FF"/>
                </a:solidFill>
                <a:latin typeface="Consolas" panose="020B0609020204030204" charset="0"/>
              </a:rPr>
              <a:t> </a:t>
            </a:r>
            <a:r>
              <a:rPr lang="en-US" altLang="zh-CN" b="1" dirty="0">
                <a:latin typeface="Consolas" panose="020B0609020204030204" charset="0"/>
              </a:rPr>
              <a:t>= </a:t>
            </a:r>
            <a:r>
              <a:rPr lang="en-US" altLang="zh-CN" b="1" dirty="0" err="1">
                <a:latin typeface="Consolas" panose="020B0609020204030204" charset="0"/>
              </a:rPr>
              <a:t>encrypt</a:t>
            </a:r>
            <a:r>
              <a:rPr lang="en-US" altLang="zh-CN" b="1" dirty="0">
                <a:latin typeface="Consolas" panose="020B0609020204030204" charset="0"/>
              </a:rPr>
              <a:t>(</a:t>
            </a:r>
            <a:r>
              <a:rPr lang="en-US" altLang="zh-CN" b="1" dirty="0" err="1">
                <a:solidFill>
                  <a:srgbClr val="4C8E00"/>
                </a:solidFill>
                <a:latin typeface="Consolas" panose="020B0609020204030204" charset="0"/>
              </a:rPr>
              <a:t>k</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zh-CN" altLang="en-US" b="1" dirty="0">
                <a:solidFill>
                  <a:srgbClr val="FF7C77"/>
                </a:solidFill>
                <a:latin typeface="Consolas" panose="020B0609020204030204" charset="0"/>
              </a:rPr>
              <a:t> </a:t>
            </a:r>
            <a:r>
              <a:rPr lang="en-US" altLang="zh-CN" b="1" dirty="0">
                <a:latin typeface="Consolas" panose="020B0609020204030204" charset="0"/>
              </a:rPr>
              <a:t>|</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dirty="0">
                <a:latin typeface="Consolas" panose="020B0609020204030204" charset="0"/>
              </a:rPr>
              <a:t>) </a:t>
            </a:r>
            <a:endParaRPr lang="zh-CN" altLang="en-US" b="1" dirty="0">
              <a:latin typeface="Consolas" panose="020B0609020204030204" charset="0"/>
            </a:endParaRPr>
          </a:p>
          <a:p>
            <a:pPr>
              <a:lnSpc>
                <a:spcPct val="150000"/>
              </a:lnSpc>
            </a:pPr>
            <a:r>
              <a:rPr lang="en-US" altLang="zh-CN" b="1" dirty="0" err="1">
                <a:solidFill>
                  <a:srgbClr val="9335FF"/>
                </a:solidFill>
                <a:latin typeface="Consolas" panose="020B0609020204030204" charset="0"/>
              </a:rPr>
              <a:t>h</a:t>
            </a:r>
            <a:r>
              <a:rPr lang="en-US" altLang="zh-CN" b="1" dirty="0">
                <a:solidFill>
                  <a:srgbClr val="9335FF"/>
                </a:solidFill>
                <a:latin typeface="Consolas" panose="020B0609020204030204" charset="0"/>
              </a:rPr>
              <a:t> </a:t>
            </a:r>
            <a:r>
              <a:rPr lang="en-US" altLang="zh-CN" b="1" dirty="0">
                <a:latin typeface="Consolas" panose="020B0609020204030204" charset="0"/>
              </a:rPr>
              <a:t>= MAC(</a:t>
            </a:r>
            <a:r>
              <a:rPr lang="en-US" altLang="zh-CN" b="1" dirty="0" err="1">
                <a:solidFill>
                  <a:srgbClr val="4C8E00"/>
                </a:solidFill>
                <a:latin typeface="Consolas" panose="020B0609020204030204" charset="0"/>
              </a:rPr>
              <a:t>k</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zh-CN" altLang="en-US" b="1" dirty="0">
                <a:solidFill>
                  <a:srgbClr val="FF7C77"/>
                </a:solidFill>
                <a:latin typeface="Consolas" panose="020B0609020204030204" charset="0"/>
              </a:rPr>
              <a:t> </a:t>
            </a:r>
            <a:r>
              <a:rPr lang="en-US" altLang="zh-CN" b="1" dirty="0">
                <a:latin typeface="Consolas" panose="020B0609020204030204" charset="0"/>
              </a:rPr>
              <a:t>|</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dirty="0">
                <a:latin typeface="Consolas" panose="020B0609020204030204" charset="0"/>
              </a:rPr>
              <a:t>) </a:t>
            </a:r>
            <a:endParaRPr lang="en-US" altLang="zh-CN" dirty="0">
              <a:effectLst/>
            </a:endParaRPr>
          </a:p>
        </p:txBody>
      </p:sp>
      <p:cxnSp>
        <p:nvCxnSpPr>
          <p:cNvPr id="16" name="直线箭头连接符 15"/>
          <p:cNvCxnSpPr/>
          <p:nvPr/>
        </p:nvCxnSpPr>
        <p:spPr>
          <a:xfrm>
            <a:off x="1805487" y="2425452"/>
            <a:ext cx="535880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4049870" y="2137420"/>
            <a:ext cx="755335"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dirty="0">
                <a:solidFill>
                  <a:srgbClr val="0093FF"/>
                </a:solidFill>
                <a:latin typeface="Consolas" panose="020B0609020204030204" charset="0"/>
              </a:rPr>
              <a:t> </a:t>
            </a:r>
            <a:r>
              <a:rPr lang="en-US" altLang="zh-CN" b="1" dirty="0">
                <a:latin typeface="Consolas" panose="020B0609020204030204" charset="0"/>
              </a:rPr>
              <a:t>|</a:t>
            </a:r>
            <a:r>
              <a:rPr lang="zh-CN" altLang="en-US" b="1" dirty="0">
                <a:latin typeface="Consolas" panose="020B0609020204030204" charset="0"/>
              </a:rPr>
              <a:t> </a:t>
            </a:r>
            <a:r>
              <a:rPr lang="en-US" altLang="zh-CN" b="1" dirty="0" err="1">
                <a:solidFill>
                  <a:srgbClr val="9335FF"/>
                </a:solidFill>
                <a:latin typeface="Consolas" panose="020B0609020204030204" charset="0"/>
              </a:rPr>
              <a:t>h</a:t>
            </a:r>
            <a:endParaRPr lang="en-US" altLang="zh-CN" dirty="0">
              <a:effectLst/>
            </a:endParaRPr>
          </a:p>
        </p:txBody>
      </p:sp>
      <p:sp>
        <p:nvSpPr>
          <p:cNvPr id="19" name="矩形 18"/>
          <p:cNvSpPr/>
          <p:nvPr/>
        </p:nvSpPr>
        <p:spPr>
          <a:xfrm>
            <a:off x="6228184" y="2857500"/>
            <a:ext cx="3147015" cy="923330"/>
          </a:xfrm>
          <a:prstGeom prst="rect">
            <a:avLst/>
          </a:prstGeom>
          <a:solidFill>
            <a:schemeClr val="bg1"/>
          </a:solidFill>
        </p:spPr>
        <p:txBody>
          <a:bodyPr wrap="none">
            <a:spAutoFit/>
          </a:bodyPr>
          <a:lstStyle/>
          <a:p>
            <a:pPr>
              <a:lnSpc>
                <a:spcPct val="150000"/>
              </a:lnSpc>
            </a:pPr>
            <a:r>
              <a:rPr lang="en-US" altLang="zh-CN" b="1" dirty="0" err="1">
                <a:solidFill>
                  <a:srgbClr val="FF7C77"/>
                </a:solidFill>
                <a:latin typeface="Consolas" panose="020B0609020204030204" charset="0"/>
              </a:rPr>
              <a:t>m</a:t>
            </a:r>
            <a:r>
              <a:rPr lang="zh-CN" altLang="en-US" b="1" dirty="0">
                <a:solidFill>
                  <a:srgbClr val="FF7C77"/>
                </a:solidFill>
                <a:latin typeface="Consolas" panose="020B0609020204030204" charset="0"/>
              </a:rPr>
              <a:t> </a:t>
            </a:r>
            <a:r>
              <a:rPr lang="en-US" altLang="zh-CN" b="1" dirty="0">
                <a:latin typeface="Consolas" panose="020B0609020204030204" charset="0"/>
              </a:rPr>
              <a:t>|</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dirty="0">
                <a:solidFill>
                  <a:srgbClr val="FF7C77"/>
                </a:solidFill>
                <a:latin typeface="Consolas" panose="020B0609020204030204" charset="0"/>
              </a:rPr>
              <a:t> </a:t>
            </a:r>
            <a:r>
              <a:rPr lang="en-US" altLang="zh-CN" b="1" dirty="0">
                <a:latin typeface="Consolas" panose="020B0609020204030204" charset="0"/>
              </a:rPr>
              <a:t>= </a:t>
            </a:r>
            <a:r>
              <a:rPr lang="en-US" altLang="zh-CN" b="1" dirty="0" err="1">
                <a:latin typeface="Consolas" panose="020B0609020204030204" charset="0"/>
              </a:rPr>
              <a:t>decrypt</a:t>
            </a:r>
            <a:r>
              <a:rPr lang="en-US" altLang="zh-CN" b="1" dirty="0">
                <a:latin typeface="Consolas" panose="020B0609020204030204" charset="0"/>
              </a:rPr>
              <a:t>(</a:t>
            </a:r>
            <a:r>
              <a:rPr lang="en-US" altLang="zh-CN" b="1" dirty="0" err="1">
                <a:solidFill>
                  <a:srgbClr val="008E4F"/>
                </a:solidFill>
                <a:latin typeface="Consolas" panose="020B0609020204030204" charset="0"/>
              </a:rPr>
              <a:t>k</a:t>
            </a:r>
            <a:r>
              <a:rPr lang="en-US" altLang="zh-CN" b="1" dirty="0">
                <a:latin typeface="Consolas" panose="020B0609020204030204" charset="0"/>
              </a:rPr>
              <a:t>, </a:t>
            </a:r>
            <a:r>
              <a:rPr lang="en-US" altLang="zh-CN" b="1" dirty="0" err="1">
                <a:solidFill>
                  <a:srgbClr val="0093FF"/>
                </a:solidFill>
                <a:latin typeface="Consolas" panose="020B0609020204030204" charset="0"/>
              </a:rPr>
              <a:t>c</a:t>
            </a:r>
            <a:r>
              <a:rPr lang="en-US" altLang="zh-CN" b="1" dirty="0">
                <a:latin typeface="Consolas" panose="020B0609020204030204" charset="0"/>
              </a:rPr>
              <a:t>) </a:t>
            </a:r>
            <a:endParaRPr lang="zh-CN" altLang="en-US" b="1" dirty="0">
              <a:latin typeface="Consolas" panose="020B0609020204030204" charset="0"/>
            </a:endParaRPr>
          </a:p>
          <a:p>
            <a:pPr>
              <a:lnSpc>
                <a:spcPct val="150000"/>
              </a:lnSpc>
            </a:pPr>
            <a:r>
              <a:rPr lang="en-US" altLang="zh-CN" b="1" dirty="0">
                <a:latin typeface="Consolas" panose="020B0609020204030204" charset="0"/>
              </a:rPr>
              <a:t>MAC(</a:t>
            </a:r>
            <a:r>
              <a:rPr lang="en-US" altLang="zh-CN" b="1" dirty="0" err="1">
                <a:solidFill>
                  <a:srgbClr val="008E00"/>
                </a:solidFill>
                <a:latin typeface="Consolas" panose="020B0609020204030204" charset="0"/>
              </a:rPr>
              <a:t>k</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en-US" altLang="zh-CN" b="1" dirty="0">
                <a:latin typeface="Consolas" panose="020B0609020204030204" charset="0"/>
              </a:rPr>
              <a:t> |</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dirty="0">
                <a:latin typeface="Consolas" panose="020B0609020204030204" charset="0"/>
              </a:rPr>
              <a:t>) == </a:t>
            </a:r>
            <a:r>
              <a:rPr lang="en-US" altLang="zh-CN" b="1" dirty="0" err="1">
                <a:solidFill>
                  <a:srgbClr val="9335FF"/>
                </a:solidFill>
                <a:latin typeface="Consolas" panose="020B0609020204030204" charset="0"/>
              </a:rPr>
              <a:t>h</a:t>
            </a:r>
            <a:r>
              <a:rPr lang="en-US" altLang="zh-CN" b="1" dirty="0">
                <a:solidFill>
                  <a:srgbClr val="9335FF"/>
                </a:solidFill>
                <a:latin typeface="Consolas" panose="020B0609020204030204" charset="0"/>
              </a:rPr>
              <a:t> </a:t>
            </a:r>
            <a:r>
              <a:rPr lang="en-US" altLang="zh-CN" b="1" dirty="0">
                <a:latin typeface="Consolas" panose="020B0609020204030204" charset="0"/>
              </a:rPr>
              <a:t>?</a:t>
            </a:r>
            <a:r>
              <a:rPr lang="en-US" altLang="zh-CN" b="1" dirty="0">
                <a:latin typeface="Consolas" panose="020B0609020204030204" charset="0"/>
              </a:rPr>
              <a:t> </a:t>
            </a:r>
            <a:endParaRPr lang="en-US" altLang="zh-CN" dirty="0">
              <a:effectLst/>
            </a:endParaRPr>
          </a:p>
        </p:txBody>
      </p:sp>
      <p:sp>
        <p:nvSpPr>
          <p:cNvPr id="13" name="文本框 12"/>
          <p:cNvSpPr txBox="1"/>
          <p:nvPr/>
        </p:nvSpPr>
        <p:spPr>
          <a:xfrm>
            <a:off x="1361036" y="118438"/>
            <a:ext cx="980016" cy="369332"/>
          </a:xfrm>
          <a:prstGeom prst="rect">
            <a:avLst/>
          </a:prstGeom>
          <a:noFill/>
        </p:spPr>
        <p:txBody>
          <a:bodyPr wrap="square">
            <a:spAutoFit/>
          </a:bodyPr>
          <a:lstStyle/>
          <a:p>
            <a:r>
              <a:rPr lang="en-US" altLang="zh-CN" dirty="0">
                <a:solidFill>
                  <a:srgbClr val="4C8E00"/>
                </a:solidFill>
                <a:latin typeface="Consolas" panose="020B0609020204030204" charset="0"/>
              </a:rPr>
              <a:t>has</a:t>
            </a:r>
            <a:r>
              <a:rPr lang="zh-CN" altLang="en-US" b="1" dirty="0">
                <a:solidFill>
                  <a:srgbClr val="4C8E00"/>
                </a:solidFill>
                <a:latin typeface="Consolas" panose="020B0609020204030204" charset="0"/>
              </a:rPr>
              <a:t> </a:t>
            </a:r>
            <a:r>
              <a:rPr lang="en-US" altLang="zh-CN" b="1" dirty="0">
                <a:solidFill>
                  <a:srgbClr val="4C8E00"/>
                </a:solidFill>
                <a:latin typeface="Consolas" panose="020B0609020204030204" charset="0"/>
              </a:rPr>
              <a:t>k</a:t>
            </a:r>
            <a:endParaRPr lang="zh-CN" altLang="en-US" b="1" dirty="0">
              <a:solidFill>
                <a:srgbClr val="4C8E00"/>
              </a:solidFill>
              <a:latin typeface="Consolas" panose="020B0609020204030204" charset="0"/>
            </a:endParaRPr>
          </a:p>
        </p:txBody>
      </p:sp>
      <p:sp>
        <p:nvSpPr>
          <p:cNvPr id="14" name="文本框 13"/>
          <p:cNvSpPr txBox="1"/>
          <p:nvPr/>
        </p:nvSpPr>
        <p:spPr>
          <a:xfrm>
            <a:off x="6873977" y="88239"/>
            <a:ext cx="980016" cy="369332"/>
          </a:xfrm>
          <a:prstGeom prst="rect">
            <a:avLst/>
          </a:prstGeom>
          <a:noFill/>
        </p:spPr>
        <p:txBody>
          <a:bodyPr wrap="square">
            <a:spAutoFit/>
          </a:bodyPr>
          <a:lstStyle/>
          <a:p>
            <a:r>
              <a:rPr lang="en-US" altLang="zh-CN" dirty="0">
                <a:solidFill>
                  <a:srgbClr val="4C8E00"/>
                </a:solidFill>
                <a:latin typeface="Consolas" panose="020B0609020204030204" charset="0"/>
              </a:rPr>
              <a:t>has</a:t>
            </a:r>
            <a:r>
              <a:rPr lang="zh-CN" altLang="en-US" b="1" dirty="0">
                <a:solidFill>
                  <a:srgbClr val="4C8E00"/>
                </a:solidFill>
                <a:latin typeface="Consolas" panose="020B0609020204030204" charset="0"/>
              </a:rPr>
              <a:t> </a:t>
            </a:r>
            <a:r>
              <a:rPr lang="en-US" altLang="zh-CN" b="1" dirty="0">
                <a:solidFill>
                  <a:srgbClr val="4C8E00"/>
                </a:solidFill>
                <a:latin typeface="Consolas" panose="020B0609020204030204" charset="0"/>
              </a:rPr>
              <a:t>k</a:t>
            </a:r>
            <a:endParaRPr lang="zh-CN" altLang="en-US" b="1" dirty="0">
              <a:solidFill>
                <a:srgbClr val="4C8E00"/>
              </a:solidFill>
              <a:latin typeface="Consolas" panose="020B060902020403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线连接符 4"/>
          <p:cNvCxnSpPr/>
          <p:nvPr/>
        </p:nvCxnSpPr>
        <p:spPr>
          <a:xfrm>
            <a:off x="1763688" y="1057300"/>
            <a:ext cx="0" cy="3238326"/>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269925" y="481236"/>
            <a:ext cx="1071127"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Alice</a:t>
            </a:r>
            <a:r>
              <a:rPr lang="en-US" altLang="zh-CN" b="1" dirty="0">
                <a:latin typeface="Consolas" panose="020B0609020204030204" charset="0"/>
              </a:rPr>
              <a:t> </a:t>
            </a:r>
            <a:endParaRPr lang="en-US" altLang="zh-CN" dirty="0">
              <a:effectLst/>
            </a:endParaRPr>
          </a:p>
        </p:txBody>
      </p:sp>
      <p:cxnSp>
        <p:nvCxnSpPr>
          <p:cNvPr id="10" name="直线连接符 9"/>
          <p:cNvCxnSpPr/>
          <p:nvPr/>
        </p:nvCxnSpPr>
        <p:spPr>
          <a:xfrm>
            <a:off x="7236296" y="1053999"/>
            <a:ext cx="0" cy="374771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873977" y="477935"/>
            <a:ext cx="808235"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Bob</a:t>
            </a:r>
            <a:endParaRPr lang="en-US" altLang="zh-CN" dirty="0">
              <a:effectLst/>
            </a:endParaRPr>
          </a:p>
        </p:txBody>
      </p:sp>
      <p:sp>
        <p:nvSpPr>
          <p:cNvPr id="12" name="矩形 11"/>
          <p:cNvSpPr/>
          <p:nvPr/>
        </p:nvSpPr>
        <p:spPr>
          <a:xfrm>
            <a:off x="755576" y="1345332"/>
            <a:ext cx="2820003" cy="923330"/>
          </a:xfrm>
          <a:prstGeom prst="rect">
            <a:avLst/>
          </a:prstGeom>
          <a:solidFill>
            <a:schemeClr val="bg1"/>
          </a:solidFill>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dirty="0">
                <a:solidFill>
                  <a:srgbClr val="0093FF"/>
                </a:solidFill>
                <a:latin typeface="Consolas" panose="020B0609020204030204" charset="0"/>
              </a:rPr>
              <a:t> </a:t>
            </a:r>
            <a:r>
              <a:rPr lang="en-US" altLang="zh-CN" b="1" dirty="0">
                <a:latin typeface="Consolas" panose="020B0609020204030204" charset="0"/>
              </a:rPr>
              <a:t>= </a:t>
            </a:r>
            <a:r>
              <a:rPr lang="en-US" altLang="zh-CN" b="1" dirty="0" err="1">
                <a:latin typeface="Consolas" panose="020B0609020204030204" charset="0"/>
              </a:rPr>
              <a:t>encrypt</a:t>
            </a:r>
            <a:r>
              <a:rPr lang="en-US" altLang="zh-CN" b="1" dirty="0">
                <a:latin typeface="Consolas" panose="020B0609020204030204" charset="0"/>
              </a:rPr>
              <a:t>(</a:t>
            </a:r>
            <a:r>
              <a:rPr lang="en-US" altLang="zh-CN" b="1" dirty="0" err="1">
                <a:solidFill>
                  <a:srgbClr val="4C8E00"/>
                </a:solidFill>
                <a:latin typeface="Consolas" panose="020B0609020204030204" charset="0"/>
              </a:rPr>
              <a:t>k</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zh-CN" altLang="en-US" b="1" dirty="0">
                <a:solidFill>
                  <a:srgbClr val="FF7C77"/>
                </a:solidFill>
                <a:latin typeface="Consolas" panose="020B0609020204030204" charset="0"/>
              </a:rPr>
              <a:t> </a:t>
            </a:r>
            <a:r>
              <a:rPr lang="en-US" altLang="zh-CN" b="1" dirty="0">
                <a:latin typeface="Consolas" panose="020B0609020204030204" charset="0"/>
              </a:rPr>
              <a:t>|</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dirty="0">
                <a:latin typeface="Consolas" panose="020B0609020204030204" charset="0"/>
              </a:rPr>
              <a:t>) </a:t>
            </a:r>
            <a:endParaRPr lang="zh-CN" altLang="en-US" b="1" dirty="0">
              <a:latin typeface="Consolas" panose="020B0609020204030204" charset="0"/>
            </a:endParaRPr>
          </a:p>
          <a:p>
            <a:pPr>
              <a:lnSpc>
                <a:spcPct val="150000"/>
              </a:lnSpc>
            </a:pPr>
            <a:r>
              <a:rPr lang="en-US" altLang="zh-CN" b="1" dirty="0" err="1">
                <a:solidFill>
                  <a:srgbClr val="9335FF"/>
                </a:solidFill>
                <a:latin typeface="Consolas" panose="020B0609020204030204" charset="0"/>
              </a:rPr>
              <a:t>h</a:t>
            </a:r>
            <a:r>
              <a:rPr lang="en-US" altLang="zh-CN" b="1" dirty="0">
                <a:solidFill>
                  <a:srgbClr val="9335FF"/>
                </a:solidFill>
                <a:latin typeface="Consolas" panose="020B0609020204030204" charset="0"/>
              </a:rPr>
              <a:t> </a:t>
            </a:r>
            <a:r>
              <a:rPr lang="en-US" altLang="zh-CN" b="1" dirty="0">
                <a:latin typeface="Consolas" panose="020B0609020204030204" charset="0"/>
              </a:rPr>
              <a:t>= MAC(</a:t>
            </a:r>
            <a:r>
              <a:rPr lang="en-US" altLang="zh-CN" b="1" dirty="0" err="1">
                <a:solidFill>
                  <a:srgbClr val="4C8E00"/>
                </a:solidFill>
                <a:latin typeface="Consolas" panose="020B0609020204030204" charset="0"/>
              </a:rPr>
              <a:t>k</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zh-CN" altLang="en-US" b="1" dirty="0">
                <a:solidFill>
                  <a:srgbClr val="FF7C77"/>
                </a:solidFill>
                <a:latin typeface="Consolas" panose="020B0609020204030204" charset="0"/>
              </a:rPr>
              <a:t> </a:t>
            </a:r>
            <a:r>
              <a:rPr lang="en-US" altLang="zh-CN" b="1" dirty="0">
                <a:latin typeface="Consolas" panose="020B0609020204030204" charset="0"/>
              </a:rPr>
              <a:t>|</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dirty="0">
                <a:latin typeface="Consolas" panose="020B0609020204030204" charset="0"/>
              </a:rPr>
              <a:t>) </a:t>
            </a:r>
            <a:endParaRPr lang="en-US" altLang="zh-CN" dirty="0">
              <a:effectLst/>
            </a:endParaRPr>
          </a:p>
        </p:txBody>
      </p:sp>
      <p:cxnSp>
        <p:nvCxnSpPr>
          <p:cNvPr id="16" name="直线箭头连接符 15"/>
          <p:cNvCxnSpPr/>
          <p:nvPr/>
        </p:nvCxnSpPr>
        <p:spPr>
          <a:xfrm>
            <a:off x="1805487" y="2425452"/>
            <a:ext cx="535880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4049870" y="2137420"/>
            <a:ext cx="755335"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dirty="0">
                <a:solidFill>
                  <a:srgbClr val="0093FF"/>
                </a:solidFill>
                <a:latin typeface="Consolas" panose="020B0609020204030204" charset="0"/>
              </a:rPr>
              <a:t> </a:t>
            </a:r>
            <a:r>
              <a:rPr lang="en-US" altLang="zh-CN" b="1" dirty="0">
                <a:latin typeface="Consolas" panose="020B0609020204030204" charset="0"/>
              </a:rPr>
              <a:t>|</a:t>
            </a:r>
            <a:r>
              <a:rPr lang="zh-CN" altLang="en-US" b="1" dirty="0">
                <a:latin typeface="Consolas" panose="020B0609020204030204" charset="0"/>
              </a:rPr>
              <a:t> </a:t>
            </a:r>
            <a:r>
              <a:rPr lang="en-US" altLang="zh-CN" b="1" dirty="0" err="1">
                <a:solidFill>
                  <a:srgbClr val="9335FF"/>
                </a:solidFill>
                <a:latin typeface="Consolas" panose="020B0609020204030204" charset="0"/>
              </a:rPr>
              <a:t>h</a:t>
            </a:r>
            <a:endParaRPr lang="en-US" altLang="zh-CN" dirty="0">
              <a:effectLst/>
            </a:endParaRPr>
          </a:p>
        </p:txBody>
      </p:sp>
      <p:sp>
        <p:nvSpPr>
          <p:cNvPr id="19" name="矩形 18"/>
          <p:cNvSpPr/>
          <p:nvPr/>
        </p:nvSpPr>
        <p:spPr>
          <a:xfrm>
            <a:off x="6228184" y="2857500"/>
            <a:ext cx="3092513" cy="888577"/>
          </a:xfrm>
          <a:prstGeom prst="rect">
            <a:avLst/>
          </a:prstGeom>
          <a:solidFill>
            <a:schemeClr val="bg1"/>
          </a:solidFill>
        </p:spPr>
        <p:txBody>
          <a:bodyPr wrap="none">
            <a:spAutoFit/>
          </a:bodyPr>
          <a:lstStyle/>
          <a:p>
            <a:pPr>
              <a:lnSpc>
                <a:spcPct val="150000"/>
              </a:lnSpc>
            </a:pPr>
            <a:r>
              <a:rPr lang="en-US" altLang="zh-CN" b="1" dirty="0" err="1">
                <a:solidFill>
                  <a:srgbClr val="FF7C77"/>
                </a:solidFill>
                <a:latin typeface="Consolas" panose="020B0609020204030204" charset="0"/>
              </a:rPr>
              <a:t>m</a:t>
            </a:r>
            <a:r>
              <a:rPr lang="zh-CN" altLang="en-US" b="1" dirty="0">
                <a:solidFill>
                  <a:srgbClr val="FF7C77"/>
                </a:solidFill>
                <a:latin typeface="Consolas" panose="020B0609020204030204" charset="0"/>
              </a:rPr>
              <a:t> </a:t>
            </a:r>
            <a:r>
              <a:rPr lang="en-US" altLang="zh-CN" b="1" dirty="0">
                <a:latin typeface="Consolas" panose="020B0609020204030204" charset="0"/>
              </a:rPr>
              <a:t>|</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dirty="0">
                <a:solidFill>
                  <a:srgbClr val="FF7C77"/>
                </a:solidFill>
                <a:latin typeface="Consolas" panose="020B0609020204030204" charset="0"/>
              </a:rPr>
              <a:t> </a:t>
            </a:r>
            <a:r>
              <a:rPr lang="en-US" altLang="zh-CN" b="1" dirty="0">
                <a:latin typeface="Consolas" panose="020B0609020204030204" charset="0"/>
              </a:rPr>
              <a:t>= </a:t>
            </a:r>
            <a:r>
              <a:rPr lang="en-US" altLang="zh-CN" b="1" dirty="0" err="1">
                <a:latin typeface="Consolas" panose="020B0609020204030204" charset="0"/>
              </a:rPr>
              <a:t>decrypt</a:t>
            </a:r>
            <a:r>
              <a:rPr lang="en-US" altLang="zh-CN" b="1" dirty="0">
                <a:latin typeface="Consolas" panose="020B0609020204030204" charset="0"/>
              </a:rPr>
              <a:t>(</a:t>
            </a:r>
            <a:r>
              <a:rPr lang="en-US" altLang="zh-CN" b="1" dirty="0" err="1">
                <a:solidFill>
                  <a:srgbClr val="008E4F"/>
                </a:solidFill>
                <a:latin typeface="Consolas" panose="020B0609020204030204" charset="0"/>
              </a:rPr>
              <a:t>k</a:t>
            </a:r>
            <a:r>
              <a:rPr lang="en-US" altLang="zh-CN" b="1" dirty="0">
                <a:latin typeface="Consolas" panose="020B0609020204030204" charset="0"/>
              </a:rPr>
              <a:t>, </a:t>
            </a:r>
            <a:r>
              <a:rPr lang="en-US" altLang="zh-CN" b="1" dirty="0" err="1">
                <a:solidFill>
                  <a:srgbClr val="0093FF"/>
                </a:solidFill>
                <a:latin typeface="Consolas" panose="020B0609020204030204" charset="0"/>
              </a:rPr>
              <a:t>c</a:t>
            </a:r>
            <a:r>
              <a:rPr lang="en-US" altLang="zh-CN" b="1" dirty="0">
                <a:latin typeface="Consolas" panose="020B0609020204030204" charset="0"/>
              </a:rPr>
              <a:t>) </a:t>
            </a:r>
            <a:endParaRPr lang="zh-CN" altLang="en-US" b="1" dirty="0">
              <a:latin typeface="Consolas" panose="020B0609020204030204" charset="0"/>
            </a:endParaRPr>
          </a:p>
          <a:p>
            <a:pPr>
              <a:lnSpc>
                <a:spcPct val="150000"/>
              </a:lnSpc>
            </a:pPr>
            <a:r>
              <a:rPr lang="en-US" altLang="zh-CN" b="1" dirty="0">
                <a:latin typeface="Consolas" panose="020B0609020204030204" charset="0"/>
              </a:rPr>
              <a:t>MAC(</a:t>
            </a:r>
            <a:r>
              <a:rPr lang="en-US" altLang="zh-CN" b="1" dirty="0" err="1">
                <a:solidFill>
                  <a:srgbClr val="008E00"/>
                </a:solidFill>
                <a:latin typeface="Consolas" panose="020B0609020204030204" charset="0"/>
              </a:rPr>
              <a:t>k</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en-US" altLang="zh-CN" b="1" dirty="0">
                <a:latin typeface="Consolas" panose="020B0609020204030204" charset="0"/>
              </a:rPr>
              <a:t> |</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dirty="0">
                <a:latin typeface="Consolas" panose="020B0609020204030204" charset="0"/>
              </a:rPr>
              <a:t>) == </a:t>
            </a:r>
            <a:r>
              <a:rPr lang="en-US" altLang="zh-CN" b="1" dirty="0" err="1">
                <a:solidFill>
                  <a:srgbClr val="9335FF"/>
                </a:solidFill>
                <a:latin typeface="Consolas" panose="020B0609020204030204" charset="0"/>
              </a:rPr>
              <a:t>h</a:t>
            </a:r>
            <a:r>
              <a:rPr lang="en-US" altLang="zh-CN" b="1" dirty="0">
                <a:solidFill>
                  <a:srgbClr val="9335FF"/>
                </a:solidFill>
                <a:latin typeface="Consolas" panose="020B0609020204030204" charset="0"/>
              </a:rPr>
              <a:t> </a:t>
            </a:r>
            <a:r>
              <a:rPr lang="en-US" altLang="zh-CN" b="1" dirty="0">
                <a:latin typeface="Consolas" panose="020B0609020204030204" charset="0"/>
              </a:rPr>
              <a:t>?</a:t>
            </a:r>
            <a:r>
              <a:rPr lang="en-US" altLang="zh-CN" b="1" dirty="0">
                <a:latin typeface="Consolas" panose="020B0609020204030204" charset="0"/>
              </a:rPr>
              <a:t> </a:t>
            </a:r>
            <a:endParaRPr lang="en-US" altLang="zh-CN" dirty="0">
              <a:effectLst/>
            </a:endParaRPr>
          </a:p>
        </p:txBody>
      </p:sp>
      <p:cxnSp>
        <p:nvCxnSpPr>
          <p:cNvPr id="13" name="直线连接符 12"/>
          <p:cNvCxnSpPr/>
          <p:nvPr/>
        </p:nvCxnSpPr>
        <p:spPr>
          <a:xfrm>
            <a:off x="4446216" y="1057300"/>
            <a:ext cx="0" cy="3816424"/>
          </a:xfrm>
          <a:prstGeom prst="line">
            <a:avLst/>
          </a:prstGeom>
          <a:ln w="28575">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4125577" y="481236"/>
            <a:ext cx="724878" cy="507831"/>
          </a:xfrm>
          <a:prstGeom prst="rect">
            <a:avLst/>
          </a:prstGeom>
        </p:spPr>
        <p:txBody>
          <a:bodyPr wrap="none">
            <a:spAutoFit/>
          </a:bodyPr>
          <a:lstStyle/>
          <a:p>
            <a:pPr algn="ctr"/>
            <a:r>
              <a:rPr kumimoji="1" lang="en-US" altLang="zh-CN" sz="2700" b="1" dirty="0">
                <a:solidFill>
                  <a:schemeClr val="accent1"/>
                </a:solidFill>
                <a:latin typeface="等线" panose="02010600030101010101" charset="-122"/>
                <a:ea typeface="楷体" panose="02010609060101010101" charset="-122"/>
                <a:cs typeface="Myriad Pro Light SemiCond"/>
              </a:rPr>
              <a:t>Eve</a:t>
            </a:r>
            <a:endParaRPr lang="en-US" altLang="zh-CN" dirty="0">
              <a:solidFill>
                <a:schemeClr val="accent1"/>
              </a:solidFill>
              <a:effectLst/>
            </a:endParaRPr>
          </a:p>
        </p:txBody>
      </p:sp>
      <p:cxnSp>
        <p:nvCxnSpPr>
          <p:cNvPr id="15" name="直线箭头连接符 14"/>
          <p:cNvCxnSpPr/>
          <p:nvPr/>
        </p:nvCxnSpPr>
        <p:spPr>
          <a:xfrm flipH="1">
            <a:off x="1835698" y="3529322"/>
            <a:ext cx="2520278" cy="6389"/>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2742803" y="3272999"/>
            <a:ext cx="755335"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dirty="0">
                <a:solidFill>
                  <a:srgbClr val="0093FF"/>
                </a:solidFill>
                <a:latin typeface="Consolas" panose="020B0609020204030204" charset="0"/>
              </a:rPr>
              <a:t> </a:t>
            </a:r>
            <a:r>
              <a:rPr lang="en-US" altLang="zh-CN" b="1" dirty="0">
                <a:latin typeface="Consolas" panose="020B0609020204030204" charset="0"/>
              </a:rPr>
              <a:t>|</a:t>
            </a:r>
            <a:r>
              <a:rPr lang="zh-CN" altLang="en-US" b="1" dirty="0">
                <a:latin typeface="Consolas" panose="020B0609020204030204" charset="0"/>
              </a:rPr>
              <a:t> </a:t>
            </a:r>
            <a:r>
              <a:rPr lang="en-US" altLang="zh-CN" b="1" dirty="0" err="1">
                <a:solidFill>
                  <a:srgbClr val="9335FF"/>
                </a:solidFill>
                <a:latin typeface="Consolas" panose="020B0609020204030204" charset="0"/>
              </a:rPr>
              <a:t>h</a:t>
            </a:r>
            <a:endParaRPr lang="en-US" altLang="zh-CN" dirty="0">
              <a:effectLst/>
            </a:endParaRPr>
          </a:p>
        </p:txBody>
      </p:sp>
      <p:sp>
        <p:nvSpPr>
          <p:cNvPr id="6" name="矩形 5"/>
          <p:cNvSpPr/>
          <p:nvPr/>
        </p:nvSpPr>
        <p:spPr>
          <a:xfrm>
            <a:off x="467544" y="4369668"/>
            <a:ext cx="8280920" cy="1021626"/>
          </a:xfrm>
          <a:prstGeom prst="rect">
            <a:avLst/>
          </a:prstGeom>
        </p:spPr>
        <p:txBody>
          <a:bodyPr wrap="square">
            <a:spAutoFit/>
          </a:bodyPr>
          <a:lstStyle/>
          <a:p>
            <a:pPr>
              <a:lnSpc>
                <a:spcPct val="150000"/>
              </a:lnSpc>
            </a:pPr>
            <a:r>
              <a:rPr lang="en-US" altLang="zh-CN" sz="2400" b="1" dirty="0">
                <a:latin typeface="Helvetica" charset="0"/>
              </a:rPr>
              <a:t>problem: </a:t>
            </a:r>
            <a:r>
              <a:rPr lang="en-US" altLang="zh-CN" sz="2400" dirty="0">
                <a:latin typeface="Helvetica" charset="0"/>
              </a:rPr>
              <a:t>reflection attacks</a:t>
            </a:r>
            <a:br>
              <a:rPr lang="en-US" altLang="zh-CN" sz="2400" dirty="0">
                <a:latin typeface="Helvetica" charset="0"/>
              </a:rPr>
            </a:br>
            <a:r>
              <a:rPr lang="en-US" altLang="zh-CN" dirty="0">
                <a:latin typeface="Helvetica" charset="0"/>
              </a:rPr>
              <a:t>(adversary could intercept a message, re-send it later</a:t>
            </a:r>
            <a:r>
              <a:rPr lang="zh-CN" altLang="en-US" dirty="0">
                <a:latin typeface="Helvetica" charset="0"/>
              </a:rPr>
              <a:t> </a:t>
            </a:r>
            <a:r>
              <a:rPr lang="en-US" altLang="zh-CN" dirty="0">
                <a:latin typeface="Helvetica" charset="0"/>
              </a:rPr>
              <a:t>in the opposite direction) </a:t>
            </a:r>
            <a:endParaRPr lang="en-US" altLang="zh-CN" dirty="0">
              <a:latin typeface="Helvetica" charset="0"/>
            </a:endParaRPr>
          </a:p>
        </p:txBody>
      </p:sp>
      <p:sp>
        <p:nvSpPr>
          <p:cNvPr id="20" name="文本框 19"/>
          <p:cNvSpPr txBox="1"/>
          <p:nvPr/>
        </p:nvSpPr>
        <p:spPr>
          <a:xfrm>
            <a:off x="1361036" y="118438"/>
            <a:ext cx="980016" cy="369332"/>
          </a:xfrm>
          <a:prstGeom prst="rect">
            <a:avLst/>
          </a:prstGeom>
          <a:noFill/>
        </p:spPr>
        <p:txBody>
          <a:bodyPr wrap="square">
            <a:spAutoFit/>
          </a:bodyPr>
          <a:lstStyle/>
          <a:p>
            <a:r>
              <a:rPr lang="en-US" altLang="zh-CN" dirty="0">
                <a:solidFill>
                  <a:srgbClr val="4C8E00"/>
                </a:solidFill>
                <a:latin typeface="Consolas" panose="020B0609020204030204" charset="0"/>
              </a:rPr>
              <a:t>has</a:t>
            </a:r>
            <a:r>
              <a:rPr lang="zh-CN" altLang="en-US" b="1" dirty="0">
                <a:solidFill>
                  <a:srgbClr val="4C8E00"/>
                </a:solidFill>
                <a:latin typeface="Consolas" panose="020B0609020204030204" charset="0"/>
              </a:rPr>
              <a:t> </a:t>
            </a:r>
            <a:r>
              <a:rPr lang="en-US" altLang="zh-CN" b="1" dirty="0">
                <a:solidFill>
                  <a:srgbClr val="4C8E00"/>
                </a:solidFill>
                <a:latin typeface="Consolas" panose="020B0609020204030204" charset="0"/>
              </a:rPr>
              <a:t>k</a:t>
            </a:r>
            <a:endParaRPr lang="zh-CN" altLang="en-US" b="1" dirty="0">
              <a:solidFill>
                <a:srgbClr val="4C8E00"/>
              </a:solidFill>
              <a:latin typeface="Consolas" panose="020B0609020204030204" charset="0"/>
            </a:endParaRPr>
          </a:p>
        </p:txBody>
      </p:sp>
      <p:sp>
        <p:nvSpPr>
          <p:cNvPr id="21" name="文本框 20"/>
          <p:cNvSpPr txBox="1"/>
          <p:nvPr/>
        </p:nvSpPr>
        <p:spPr>
          <a:xfrm>
            <a:off x="6873977" y="88239"/>
            <a:ext cx="980016" cy="369332"/>
          </a:xfrm>
          <a:prstGeom prst="rect">
            <a:avLst/>
          </a:prstGeom>
          <a:noFill/>
        </p:spPr>
        <p:txBody>
          <a:bodyPr wrap="square">
            <a:spAutoFit/>
          </a:bodyPr>
          <a:lstStyle/>
          <a:p>
            <a:r>
              <a:rPr lang="en-US" altLang="zh-CN" dirty="0">
                <a:solidFill>
                  <a:srgbClr val="4C8E00"/>
                </a:solidFill>
                <a:latin typeface="Consolas" panose="020B0609020204030204" charset="0"/>
              </a:rPr>
              <a:t>has</a:t>
            </a:r>
            <a:r>
              <a:rPr lang="zh-CN" altLang="en-US" b="1" dirty="0">
                <a:solidFill>
                  <a:srgbClr val="4C8E00"/>
                </a:solidFill>
                <a:latin typeface="Consolas" panose="020B0609020204030204" charset="0"/>
              </a:rPr>
              <a:t> </a:t>
            </a:r>
            <a:r>
              <a:rPr lang="en-US" altLang="zh-CN" b="1" dirty="0">
                <a:solidFill>
                  <a:srgbClr val="4C8E00"/>
                </a:solidFill>
                <a:latin typeface="Consolas" panose="020B0609020204030204" charset="0"/>
              </a:rPr>
              <a:t>k</a:t>
            </a:r>
            <a:endParaRPr lang="zh-CN" altLang="en-US" b="1" dirty="0">
              <a:solidFill>
                <a:srgbClr val="4C8E00"/>
              </a:solidFill>
              <a:latin typeface="Consolas" panose="020B0609020204030204" charset="0"/>
            </a:endParaRPr>
          </a:p>
        </p:txBody>
      </p:sp>
      <p:sp>
        <p:nvSpPr>
          <p:cNvPr id="22" name="文本框 21"/>
          <p:cNvSpPr txBox="1"/>
          <p:nvPr/>
        </p:nvSpPr>
        <p:spPr>
          <a:xfrm>
            <a:off x="2348060" y="3807628"/>
            <a:ext cx="1513785" cy="523220"/>
          </a:xfrm>
          <a:prstGeom prst="rect">
            <a:avLst/>
          </a:prstGeom>
          <a:noFill/>
        </p:spPr>
        <p:txBody>
          <a:bodyPr wrap="square">
            <a:spAutoFit/>
          </a:bodyPr>
          <a:lstStyle/>
          <a:p>
            <a:pPr algn="ctr"/>
            <a:r>
              <a:rPr lang="en-US" altLang="zh-CN" sz="1400" dirty="0">
                <a:latin typeface="Consolas" panose="020B0609020204030204" charset="0"/>
              </a:rPr>
              <a:t>if</a:t>
            </a:r>
            <a:r>
              <a:rPr lang="zh-CN" altLang="en-US" sz="1400" dirty="0">
                <a:latin typeface="Consolas" panose="020B0609020204030204" charset="0"/>
              </a:rPr>
              <a:t> </a:t>
            </a:r>
            <a:r>
              <a:rPr lang="en-US" altLang="zh-CN" sz="1400" dirty="0">
                <a:latin typeface="Consolas" panose="020B0609020204030204" charset="0"/>
              </a:rPr>
              <a:t>reuse</a:t>
            </a:r>
            <a:r>
              <a:rPr lang="zh-CN" altLang="en-US" sz="1400" dirty="0">
                <a:latin typeface="Consolas" panose="020B0609020204030204" charset="0"/>
              </a:rPr>
              <a:t> </a:t>
            </a:r>
            <a:r>
              <a:rPr lang="en-US" altLang="zh-CN" sz="1400" dirty="0">
                <a:latin typeface="Consolas" panose="020B0609020204030204" charset="0"/>
              </a:rPr>
              <a:t>seq</a:t>
            </a:r>
            <a:br>
              <a:rPr lang="en-US" altLang="zh-CN" sz="1400" dirty="0">
                <a:latin typeface="Consolas" panose="020B0609020204030204" charset="0"/>
              </a:rPr>
            </a:br>
            <a:r>
              <a:rPr lang="en-US" altLang="zh-CN" sz="1400" dirty="0">
                <a:latin typeface="Consolas" panose="020B0609020204030204" charset="0"/>
              </a:rPr>
              <a:t>(e.g.,</a:t>
            </a:r>
            <a:r>
              <a:rPr lang="zh-CN" altLang="en-US" sz="1400" dirty="0">
                <a:latin typeface="Consolas" panose="020B0609020204030204" charset="0"/>
              </a:rPr>
              <a:t> </a:t>
            </a:r>
            <a:r>
              <a:rPr lang="en-US" altLang="zh-CN" sz="1400" dirty="0">
                <a:latin typeface="Consolas" panose="020B0609020204030204" charset="0"/>
              </a:rPr>
              <a:t>date)</a:t>
            </a:r>
            <a:endParaRPr lang="zh-CN" alt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线连接符 4"/>
          <p:cNvCxnSpPr/>
          <p:nvPr/>
        </p:nvCxnSpPr>
        <p:spPr>
          <a:xfrm>
            <a:off x="1749216" y="773043"/>
            <a:ext cx="13828" cy="4748753"/>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269925" y="333445"/>
            <a:ext cx="1071127"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Alice</a:t>
            </a:r>
            <a:r>
              <a:rPr lang="en-US" altLang="zh-CN" b="1" dirty="0">
                <a:latin typeface="Consolas" panose="020B0609020204030204" charset="0"/>
              </a:rPr>
              <a:t> </a:t>
            </a:r>
            <a:endParaRPr lang="en-US" altLang="zh-CN" dirty="0">
              <a:effectLst/>
            </a:endParaRPr>
          </a:p>
        </p:txBody>
      </p:sp>
      <p:cxnSp>
        <p:nvCxnSpPr>
          <p:cNvPr id="10" name="直线连接符 9"/>
          <p:cNvCxnSpPr/>
          <p:nvPr/>
        </p:nvCxnSpPr>
        <p:spPr>
          <a:xfrm>
            <a:off x="7236296" y="913284"/>
            <a:ext cx="0" cy="3888432"/>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873977" y="265212"/>
            <a:ext cx="808235"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Bob</a:t>
            </a:r>
            <a:endParaRPr lang="en-US" altLang="zh-CN" dirty="0">
              <a:effectLst/>
            </a:endParaRPr>
          </a:p>
        </p:txBody>
      </p:sp>
      <p:sp>
        <p:nvSpPr>
          <p:cNvPr id="12" name="矩形 11"/>
          <p:cNvSpPr/>
          <p:nvPr/>
        </p:nvSpPr>
        <p:spPr>
          <a:xfrm>
            <a:off x="251520" y="913284"/>
            <a:ext cx="3159839" cy="923330"/>
          </a:xfrm>
          <a:prstGeom prst="rect">
            <a:avLst/>
          </a:prstGeom>
          <a:solidFill>
            <a:schemeClr val="bg1"/>
          </a:solidFill>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baseline="-25000" dirty="0">
                <a:solidFill>
                  <a:srgbClr val="0093FF"/>
                </a:solidFill>
                <a:latin typeface="Consolas" panose="020B0609020204030204" charset="0"/>
              </a:rPr>
              <a:t>a</a:t>
            </a:r>
            <a:r>
              <a:rPr lang="en-US" altLang="zh-CN" b="1" dirty="0">
                <a:solidFill>
                  <a:srgbClr val="0093FF"/>
                </a:solidFill>
                <a:latin typeface="Consolas" panose="020B0609020204030204" charset="0"/>
              </a:rPr>
              <a:t> </a:t>
            </a:r>
            <a:r>
              <a:rPr lang="en-US" altLang="zh-CN" b="1" dirty="0">
                <a:latin typeface="Consolas" panose="020B0609020204030204" charset="0"/>
              </a:rPr>
              <a:t>= </a:t>
            </a:r>
            <a:r>
              <a:rPr lang="en-US" altLang="zh-CN" b="1" dirty="0" err="1">
                <a:latin typeface="Consolas" panose="020B0609020204030204" charset="0"/>
              </a:rPr>
              <a:t>encrypt</a:t>
            </a:r>
            <a:r>
              <a:rPr lang="en-US" altLang="zh-CN" b="1" dirty="0">
                <a:latin typeface="Consolas" panose="020B0609020204030204" charset="0"/>
              </a:rPr>
              <a:t>(</a:t>
            </a:r>
            <a:r>
              <a:rPr lang="en-US" altLang="zh-CN" b="1" dirty="0" err="1">
                <a:solidFill>
                  <a:srgbClr val="4C8E00"/>
                </a:solidFill>
                <a:latin typeface="Consolas" panose="020B0609020204030204" charset="0"/>
              </a:rPr>
              <a:t>k</a:t>
            </a:r>
            <a:r>
              <a:rPr lang="en-US" altLang="zh-CN" b="1" baseline="-25000" dirty="0">
                <a:solidFill>
                  <a:srgbClr val="4C8E00"/>
                </a:solidFill>
                <a:latin typeface="Consolas" panose="020B0609020204030204" charset="0"/>
              </a:rPr>
              <a:t>a</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en-US" altLang="zh-CN" b="1" baseline="-25000" dirty="0">
                <a:solidFill>
                  <a:srgbClr val="FF7C77"/>
                </a:solidFill>
                <a:latin typeface="Consolas" panose="020B0609020204030204" charset="0"/>
              </a:rPr>
              <a:t>a</a:t>
            </a:r>
            <a:r>
              <a:rPr lang="zh-CN" altLang="en-US" b="1" dirty="0">
                <a:solidFill>
                  <a:srgbClr val="FF7C77"/>
                </a:solidFill>
                <a:latin typeface="Consolas" panose="020B0609020204030204" charset="0"/>
              </a:rPr>
              <a:t> </a:t>
            </a:r>
            <a:r>
              <a:rPr lang="en-US" altLang="zh-CN" b="1" dirty="0">
                <a:latin typeface="Consolas" panose="020B0609020204030204" charset="0"/>
              </a:rPr>
              <a:t>|</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baseline="-25000" dirty="0" err="1">
                <a:solidFill>
                  <a:schemeClr val="accent1"/>
                </a:solidFill>
                <a:latin typeface="Consolas" panose="020B0609020204030204" charset="0"/>
              </a:rPr>
              <a:t>a</a:t>
            </a:r>
            <a:r>
              <a:rPr lang="en-US" altLang="zh-CN" b="1" dirty="0">
                <a:latin typeface="Consolas" panose="020B0609020204030204" charset="0"/>
              </a:rPr>
              <a:t>) </a:t>
            </a:r>
            <a:endParaRPr lang="zh-CN" altLang="en-US" b="1" dirty="0">
              <a:latin typeface="Consolas" panose="020B0609020204030204" charset="0"/>
            </a:endParaRPr>
          </a:p>
          <a:p>
            <a:pPr>
              <a:lnSpc>
                <a:spcPct val="150000"/>
              </a:lnSpc>
            </a:pPr>
            <a:r>
              <a:rPr lang="en-US" altLang="zh-CN" b="1" dirty="0" err="1">
                <a:solidFill>
                  <a:srgbClr val="9335FF"/>
                </a:solidFill>
                <a:latin typeface="Consolas" panose="020B0609020204030204" charset="0"/>
              </a:rPr>
              <a:t>h</a:t>
            </a:r>
            <a:r>
              <a:rPr lang="en-US" altLang="zh-CN" b="1" baseline="-25000" dirty="0">
                <a:solidFill>
                  <a:srgbClr val="9335FF"/>
                </a:solidFill>
                <a:latin typeface="Consolas" panose="020B0609020204030204" charset="0"/>
              </a:rPr>
              <a:t>a</a:t>
            </a:r>
            <a:r>
              <a:rPr lang="en-US" altLang="zh-CN" b="1" dirty="0">
                <a:solidFill>
                  <a:srgbClr val="9335FF"/>
                </a:solidFill>
                <a:latin typeface="Consolas" panose="020B0609020204030204" charset="0"/>
              </a:rPr>
              <a:t> </a:t>
            </a:r>
            <a:r>
              <a:rPr lang="en-US" altLang="zh-CN" b="1" dirty="0">
                <a:latin typeface="Consolas" panose="020B0609020204030204" charset="0"/>
              </a:rPr>
              <a:t>= MAC(</a:t>
            </a:r>
            <a:r>
              <a:rPr lang="en-US" altLang="zh-CN" b="1" dirty="0" err="1">
                <a:solidFill>
                  <a:srgbClr val="4C8E00"/>
                </a:solidFill>
                <a:latin typeface="Consolas" panose="020B0609020204030204" charset="0"/>
              </a:rPr>
              <a:t>k</a:t>
            </a:r>
            <a:r>
              <a:rPr lang="en-US" altLang="zh-CN" b="1" baseline="-25000" dirty="0">
                <a:solidFill>
                  <a:srgbClr val="4C8E00"/>
                </a:solidFill>
                <a:latin typeface="Consolas" panose="020B0609020204030204" charset="0"/>
              </a:rPr>
              <a:t>a</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en-US" altLang="zh-CN" b="1" baseline="-25000" dirty="0">
                <a:solidFill>
                  <a:srgbClr val="FF7C77"/>
                </a:solidFill>
                <a:latin typeface="Consolas" panose="020B0609020204030204" charset="0"/>
              </a:rPr>
              <a:t>a</a:t>
            </a:r>
            <a:r>
              <a:rPr lang="zh-CN" altLang="en-US" b="1" dirty="0">
                <a:solidFill>
                  <a:srgbClr val="FF7C77"/>
                </a:solidFill>
                <a:latin typeface="Consolas" panose="020B0609020204030204" charset="0"/>
              </a:rPr>
              <a:t> </a:t>
            </a:r>
            <a:r>
              <a:rPr lang="en-US" altLang="zh-CN" b="1" dirty="0">
                <a:latin typeface="Consolas" panose="020B0609020204030204" charset="0"/>
              </a:rPr>
              <a:t>|</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baseline="-25000" dirty="0" err="1">
                <a:solidFill>
                  <a:schemeClr val="accent1"/>
                </a:solidFill>
                <a:latin typeface="Consolas" panose="020B0609020204030204" charset="0"/>
              </a:rPr>
              <a:t>a</a:t>
            </a:r>
            <a:r>
              <a:rPr lang="en-US" altLang="zh-CN" b="1" dirty="0">
                <a:latin typeface="Consolas" panose="020B0609020204030204" charset="0"/>
              </a:rPr>
              <a:t>) </a:t>
            </a:r>
            <a:endParaRPr lang="en-US" altLang="zh-CN" dirty="0">
              <a:effectLst/>
            </a:endParaRPr>
          </a:p>
        </p:txBody>
      </p:sp>
      <p:cxnSp>
        <p:nvCxnSpPr>
          <p:cNvPr id="16" name="直线箭头连接符 15"/>
          <p:cNvCxnSpPr/>
          <p:nvPr/>
        </p:nvCxnSpPr>
        <p:spPr>
          <a:xfrm>
            <a:off x="1805487" y="1849388"/>
            <a:ext cx="535880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4049870" y="1561356"/>
            <a:ext cx="925253"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baseline="-25000" dirty="0">
                <a:solidFill>
                  <a:srgbClr val="0093FF"/>
                </a:solidFill>
                <a:latin typeface="Consolas" panose="020B0609020204030204" charset="0"/>
              </a:rPr>
              <a:t>a</a:t>
            </a:r>
            <a:r>
              <a:rPr lang="en-US" altLang="zh-CN" b="1" dirty="0">
                <a:solidFill>
                  <a:srgbClr val="0093FF"/>
                </a:solidFill>
                <a:latin typeface="Consolas" panose="020B0609020204030204" charset="0"/>
              </a:rPr>
              <a:t> </a:t>
            </a:r>
            <a:r>
              <a:rPr lang="en-US" altLang="zh-CN" b="1" dirty="0">
                <a:latin typeface="Consolas" panose="020B0609020204030204" charset="0"/>
              </a:rPr>
              <a:t>|</a:t>
            </a:r>
            <a:r>
              <a:rPr lang="zh-CN" altLang="en-US" b="1" dirty="0">
                <a:latin typeface="Consolas" panose="020B0609020204030204" charset="0"/>
              </a:rPr>
              <a:t> </a:t>
            </a:r>
            <a:r>
              <a:rPr lang="en-US" altLang="zh-CN" b="1" dirty="0" err="1">
                <a:solidFill>
                  <a:srgbClr val="9335FF"/>
                </a:solidFill>
                <a:latin typeface="Consolas" panose="020B0609020204030204" charset="0"/>
              </a:rPr>
              <a:t>h</a:t>
            </a:r>
            <a:r>
              <a:rPr lang="en-US" altLang="zh-CN" b="1" baseline="-25000" dirty="0">
                <a:solidFill>
                  <a:srgbClr val="9335FF"/>
                </a:solidFill>
                <a:latin typeface="Consolas" panose="020B0609020204030204" charset="0"/>
              </a:rPr>
              <a:t>a</a:t>
            </a:r>
            <a:endParaRPr lang="en-US" altLang="zh-CN" baseline="-25000" dirty="0">
              <a:effectLst/>
            </a:endParaRPr>
          </a:p>
        </p:txBody>
      </p:sp>
      <p:sp>
        <p:nvSpPr>
          <p:cNvPr id="19" name="矩形 18"/>
          <p:cNvSpPr/>
          <p:nvPr/>
        </p:nvSpPr>
        <p:spPr>
          <a:xfrm>
            <a:off x="5724128" y="2065412"/>
            <a:ext cx="3251211" cy="923330"/>
          </a:xfrm>
          <a:prstGeom prst="rect">
            <a:avLst/>
          </a:prstGeom>
          <a:solidFill>
            <a:schemeClr val="bg1"/>
          </a:solidFill>
        </p:spPr>
        <p:txBody>
          <a:bodyPr wrap="none">
            <a:spAutoFit/>
          </a:bodyPr>
          <a:lstStyle/>
          <a:p>
            <a:pPr>
              <a:lnSpc>
                <a:spcPct val="150000"/>
              </a:lnSpc>
            </a:pPr>
            <a:r>
              <a:rPr lang="en-US" altLang="zh-CN" b="1" dirty="0" err="1">
                <a:solidFill>
                  <a:srgbClr val="FF7C77"/>
                </a:solidFill>
                <a:latin typeface="Consolas" panose="020B0609020204030204" charset="0"/>
              </a:rPr>
              <a:t>m</a:t>
            </a:r>
            <a:r>
              <a:rPr lang="en-US" altLang="zh-CN" b="1" baseline="-25000" dirty="0">
                <a:solidFill>
                  <a:srgbClr val="FF7C77"/>
                </a:solidFill>
                <a:latin typeface="Consolas" panose="020B0609020204030204" charset="0"/>
              </a:rPr>
              <a:t>a</a:t>
            </a:r>
            <a:r>
              <a:rPr lang="zh-CN" altLang="en-US" b="1" dirty="0">
                <a:solidFill>
                  <a:srgbClr val="FF7C77"/>
                </a:solidFill>
                <a:latin typeface="Consolas" panose="020B0609020204030204" charset="0"/>
              </a:rPr>
              <a:t> </a:t>
            </a:r>
            <a:r>
              <a:rPr lang="en-US" altLang="zh-CN" b="1" dirty="0">
                <a:latin typeface="Consolas" panose="020B0609020204030204" charset="0"/>
              </a:rPr>
              <a:t>|</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baseline="-25000" dirty="0" err="1">
                <a:solidFill>
                  <a:schemeClr val="accent1"/>
                </a:solidFill>
                <a:latin typeface="Consolas" panose="020B0609020204030204" charset="0"/>
              </a:rPr>
              <a:t>a</a:t>
            </a:r>
            <a:r>
              <a:rPr lang="en-US" altLang="zh-CN" b="1" dirty="0">
                <a:solidFill>
                  <a:srgbClr val="FF7C77"/>
                </a:solidFill>
                <a:latin typeface="Consolas" panose="020B0609020204030204" charset="0"/>
              </a:rPr>
              <a:t> </a:t>
            </a:r>
            <a:r>
              <a:rPr lang="en-US" altLang="zh-CN" b="1" dirty="0">
                <a:latin typeface="Consolas" panose="020B0609020204030204" charset="0"/>
              </a:rPr>
              <a:t>= </a:t>
            </a:r>
            <a:r>
              <a:rPr lang="en-US" altLang="zh-CN" b="1" dirty="0" err="1">
                <a:latin typeface="Consolas" panose="020B0609020204030204" charset="0"/>
              </a:rPr>
              <a:t>decrypt</a:t>
            </a:r>
            <a:r>
              <a:rPr lang="en-US" altLang="zh-CN" b="1" dirty="0">
                <a:latin typeface="Consolas" panose="020B0609020204030204" charset="0"/>
              </a:rPr>
              <a:t>(</a:t>
            </a:r>
            <a:r>
              <a:rPr lang="en-US" altLang="zh-CN" b="1" dirty="0" err="1">
                <a:solidFill>
                  <a:srgbClr val="008E4F"/>
                </a:solidFill>
                <a:latin typeface="Consolas" panose="020B0609020204030204" charset="0"/>
              </a:rPr>
              <a:t>k</a:t>
            </a:r>
            <a:r>
              <a:rPr lang="en-US" altLang="zh-CN" b="1" baseline="-25000" dirty="0">
                <a:solidFill>
                  <a:srgbClr val="008E4F"/>
                </a:solidFill>
                <a:latin typeface="Consolas" panose="020B0609020204030204" charset="0"/>
              </a:rPr>
              <a:t>a</a:t>
            </a:r>
            <a:r>
              <a:rPr lang="en-US" altLang="zh-CN" b="1" dirty="0">
                <a:latin typeface="Consolas" panose="020B0609020204030204" charset="0"/>
              </a:rPr>
              <a:t>, </a:t>
            </a:r>
            <a:r>
              <a:rPr lang="en-US" altLang="zh-CN" b="1" dirty="0" err="1">
                <a:solidFill>
                  <a:srgbClr val="0093FF"/>
                </a:solidFill>
                <a:latin typeface="Consolas" panose="020B0609020204030204" charset="0"/>
              </a:rPr>
              <a:t>c</a:t>
            </a:r>
            <a:r>
              <a:rPr lang="en-US" altLang="zh-CN" b="1" baseline="-25000" dirty="0">
                <a:solidFill>
                  <a:srgbClr val="0093FF"/>
                </a:solidFill>
                <a:latin typeface="Consolas" panose="020B0609020204030204" charset="0"/>
              </a:rPr>
              <a:t>a</a:t>
            </a:r>
            <a:r>
              <a:rPr lang="en-US" altLang="zh-CN" b="1" dirty="0">
                <a:latin typeface="Consolas" panose="020B0609020204030204" charset="0"/>
              </a:rPr>
              <a:t>) </a:t>
            </a:r>
            <a:endParaRPr lang="zh-CN" altLang="en-US" b="1" dirty="0">
              <a:latin typeface="Consolas" panose="020B0609020204030204" charset="0"/>
            </a:endParaRPr>
          </a:p>
          <a:p>
            <a:pPr>
              <a:lnSpc>
                <a:spcPct val="150000"/>
              </a:lnSpc>
            </a:pPr>
            <a:r>
              <a:rPr lang="en-US" altLang="zh-CN" b="1" dirty="0">
                <a:latin typeface="Consolas" panose="020B0609020204030204" charset="0"/>
              </a:rPr>
              <a:t>MAC(</a:t>
            </a:r>
            <a:r>
              <a:rPr lang="en-US" altLang="zh-CN" b="1" dirty="0" err="1">
                <a:solidFill>
                  <a:srgbClr val="008E00"/>
                </a:solidFill>
                <a:latin typeface="Consolas" panose="020B0609020204030204" charset="0"/>
              </a:rPr>
              <a:t>k</a:t>
            </a:r>
            <a:r>
              <a:rPr lang="en-US" altLang="zh-CN" b="1" baseline="-25000" dirty="0">
                <a:solidFill>
                  <a:srgbClr val="008E00"/>
                </a:solidFill>
                <a:latin typeface="Consolas" panose="020B0609020204030204" charset="0"/>
              </a:rPr>
              <a:t>a</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en-US" altLang="zh-CN" b="1" baseline="-25000" dirty="0">
                <a:solidFill>
                  <a:srgbClr val="FF7C77"/>
                </a:solidFill>
                <a:latin typeface="Consolas" panose="020B0609020204030204" charset="0"/>
              </a:rPr>
              <a:t>a</a:t>
            </a:r>
            <a:r>
              <a:rPr lang="en-US" altLang="zh-CN" b="1" dirty="0">
                <a:latin typeface="Consolas" panose="020B0609020204030204" charset="0"/>
              </a:rPr>
              <a:t> |</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baseline="-25000" dirty="0" err="1">
                <a:solidFill>
                  <a:schemeClr val="accent1"/>
                </a:solidFill>
                <a:latin typeface="Consolas" panose="020B0609020204030204" charset="0"/>
              </a:rPr>
              <a:t>a</a:t>
            </a:r>
            <a:r>
              <a:rPr lang="en-US" altLang="zh-CN" b="1" dirty="0">
                <a:latin typeface="Consolas" panose="020B0609020204030204" charset="0"/>
              </a:rPr>
              <a:t>) == </a:t>
            </a:r>
            <a:r>
              <a:rPr lang="en-US" altLang="zh-CN" b="1" dirty="0" err="1">
                <a:solidFill>
                  <a:srgbClr val="9335FF"/>
                </a:solidFill>
                <a:latin typeface="Consolas" panose="020B0609020204030204" charset="0"/>
              </a:rPr>
              <a:t>h</a:t>
            </a:r>
            <a:r>
              <a:rPr lang="en-US" altLang="zh-CN" b="1" baseline="-25000" dirty="0">
                <a:solidFill>
                  <a:srgbClr val="9335FF"/>
                </a:solidFill>
                <a:latin typeface="Consolas" panose="020B0609020204030204" charset="0"/>
              </a:rPr>
              <a:t>a</a:t>
            </a:r>
            <a:r>
              <a:rPr lang="en-US" altLang="zh-CN" b="1" dirty="0">
                <a:solidFill>
                  <a:srgbClr val="9335FF"/>
                </a:solidFill>
                <a:latin typeface="Consolas" panose="020B0609020204030204" charset="0"/>
              </a:rPr>
              <a:t> </a:t>
            </a:r>
            <a:r>
              <a:rPr lang="en-US" altLang="zh-CN" b="1" dirty="0">
                <a:latin typeface="Consolas" panose="020B0609020204030204" charset="0"/>
              </a:rPr>
              <a:t>? </a:t>
            </a:r>
            <a:endParaRPr lang="en-US" altLang="zh-CN" dirty="0">
              <a:effectLst/>
            </a:endParaRPr>
          </a:p>
        </p:txBody>
      </p:sp>
      <p:sp>
        <p:nvSpPr>
          <p:cNvPr id="13" name="矩形 12"/>
          <p:cNvSpPr/>
          <p:nvPr/>
        </p:nvSpPr>
        <p:spPr>
          <a:xfrm>
            <a:off x="251520" y="4238426"/>
            <a:ext cx="3251211" cy="923330"/>
          </a:xfrm>
          <a:prstGeom prst="rect">
            <a:avLst/>
          </a:prstGeom>
          <a:solidFill>
            <a:schemeClr val="bg1"/>
          </a:solidFill>
        </p:spPr>
        <p:txBody>
          <a:bodyPr wrap="none">
            <a:spAutoFit/>
          </a:bodyPr>
          <a:lstStyle/>
          <a:p>
            <a:pPr>
              <a:lnSpc>
                <a:spcPct val="150000"/>
              </a:lnSpc>
            </a:pPr>
            <a:r>
              <a:rPr lang="en-US" altLang="zh-CN" b="1" dirty="0" err="1">
                <a:solidFill>
                  <a:srgbClr val="FF7C77"/>
                </a:solidFill>
                <a:latin typeface="Consolas" panose="020B0609020204030204" charset="0"/>
              </a:rPr>
              <a:t>m</a:t>
            </a:r>
            <a:r>
              <a:rPr lang="en-US" altLang="zh-CN" b="1" baseline="-25000" dirty="0">
                <a:solidFill>
                  <a:srgbClr val="FF7C77"/>
                </a:solidFill>
                <a:latin typeface="Consolas" panose="020B0609020204030204" charset="0"/>
              </a:rPr>
              <a:t>b</a:t>
            </a:r>
            <a:r>
              <a:rPr lang="zh-CN" altLang="en-US" b="1" dirty="0">
                <a:solidFill>
                  <a:srgbClr val="FF7C77"/>
                </a:solidFill>
                <a:latin typeface="Consolas" panose="020B0609020204030204" charset="0"/>
              </a:rPr>
              <a:t> </a:t>
            </a:r>
            <a:r>
              <a:rPr lang="en-US" altLang="zh-CN" b="1" dirty="0">
                <a:latin typeface="Consolas" panose="020B0609020204030204" charset="0"/>
              </a:rPr>
              <a:t>|</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baseline="-25000" dirty="0" err="1">
                <a:solidFill>
                  <a:schemeClr val="accent1"/>
                </a:solidFill>
                <a:latin typeface="Consolas" panose="020B0609020204030204" charset="0"/>
              </a:rPr>
              <a:t>b</a:t>
            </a:r>
            <a:r>
              <a:rPr lang="en-US" altLang="zh-CN" b="1" dirty="0">
                <a:solidFill>
                  <a:srgbClr val="FF7C77"/>
                </a:solidFill>
                <a:latin typeface="Consolas" panose="020B0609020204030204" charset="0"/>
              </a:rPr>
              <a:t> </a:t>
            </a:r>
            <a:r>
              <a:rPr lang="en-US" altLang="zh-CN" b="1" dirty="0">
                <a:latin typeface="Consolas" panose="020B0609020204030204" charset="0"/>
              </a:rPr>
              <a:t>= </a:t>
            </a:r>
            <a:r>
              <a:rPr lang="en-US" altLang="zh-CN" b="1" dirty="0" err="1">
                <a:latin typeface="Consolas" panose="020B0609020204030204" charset="0"/>
              </a:rPr>
              <a:t>decrypt</a:t>
            </a:r>
            <a:r>
              <a:rPr lang="en-US" altLang="zh-CN" b="1" dirty="0">
                <a:latin typeface="Consolas" panose="020B0609020204030204" charset="0"/>
              </a:rPr>
              <a:t>(</a:t>
            </a:r>
            <a:r>
              <a:rPr lang="en-US" altLang="zh-CN" b="1" dirty="0" err="1">
                <a:solidFill>
                  <a:srgbClr val="008E4F"/>
                </a:solidFill>
                <a:latin typeface="Consolas" panose="020B0609020204030204" charset="0"/>
              </a:rPr>
              <a:t>k</a:t>
            </a:r>
            <a:r>
              <a:rPr lang="en-US" altLang="zh-CN" b="1" baseline="-25000" dirty="0">
                <a:solidFill>
                  <a:srgbClr val="008E4F"/>
                </a:solidFill>
                <a:latin typeface="Consolas" panose="020B0609020204030204" charset="0"/>
              </a:rPr>
              <a:t>b</a:t>
            </a:r>
            <a:r>
              <a:rPr lang="en-US" altLang="zh-CN" b="1" dirty="0">
                <a:latin typeface="Consolas" panose="020B0609020204030204" charset="0"/>
              </a:rPr>
              <a:t>, </a:t>
            </a:r>
            <a:r>
              <a:rPr lang="en-US" altLang="zh-CN" b="1" dirty="0" err="1">
                <a:solidFill>
                  <a:srgbClr val="0093FF"/>
                </a:solidFill>
                <a:latin typeface="Consolas" panose="020B0609020204030204" charset="0"/>
              </a:rPr>
              <a:t>c</a:t>
            </a:r>
            <a:r>
              <a:rPr lang="en-US" altLang="zh-CN" b="1" baseline="-25000" dirty="0">
                <a:solidFill>
                  <a:srgbClr val="0093FF"/>
                </a:solidFill>
                <a:latin typeface="Consolas" panose="020B0609020204030204" charset="0"/>
              </a:rPr>
              <a:t>b</a:t>
            </a:r>
            <a:r>
              <a:rPr lang="en-US" altLang="zh-CN" b="1" dirty="0">
                <a:latin typeface="Consolas" panose="020B0609020204030204" charset="0"/>
              </a:rPr>
              <a:t>) </a:t>
            </a:r>
            <a:endParaRPr lang="zh-CN" altLang="en-US" b="1" dirty="0">
              <a:latin typeface="Consolas" panose="020B0609020204030204" charset="0"/>
            </a:endParaRPr>
          </a:p>
          <a:p>
            <a:pPr>
              <a:lnSpc>
                <a:spcPct val="150000"/>
              </a:lnSpc>
            </a:pPr>
            <a:r>
              <a:rPr lang="en-US" altLang="zh-CN" b="1" dirty="0">
                <a:latin typeface="Consolas" panose="020B0609020204030204" charset="0"/>
              </a:rPr>
              <a:t>MAC(</a:t>
            </a:r>
            <a:r>
              <a:rPr lang="en-US" altLang="zh-CN" b="1" dirty="0" err="1">
                <a:solidFill>
                  <a:srgbClr val="008E00"/>
                </a:solidFill>
                <a:latin typeface="Consolas" panose="020B0609020204030204" charset="0"/>
              </a:rPr>
              <a:t>k</a:t>
            </a:r>
            <a:r>
              <a:rPr lang="en-US" altLang="zh-CN" b="1" baseline="-25000" dirty="0">
                <a:solidFill>
                  <a:srgbClr val="008E00"/>
                </a:solidFill>
                <a:latin typeface="Consolas" panose="020B0609020204030204" charset="0"/>
              </a:rPr>
              <a:t>b</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en-US" altLang="zh-CN" b="1" baseline="-25000" dirty="0">
                <a:solidFill>
                  <a:srgbClr val="FF7C77"/>
                </a:solidFill>
                <a:latin typeface="Consolas" panose="020B0609020204030204" charset="0"/>
              </a:rPr>
              <a:t>b</a:t>
            </a:r>
            <a:r>
              <a:rPr lang="en-US" altLang="zh-CN" b="1" dirty="0">
                <a:latin typeface="Consolas" panose="020B0609020204030204" charset="0"/>
              </a:rPr>
              <a:t> |</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baseline="-25000" dirty="0" err="1">
                <a:solidFill>
                  <a:schemeClr val="accent1"/>
                </a:solidFill>
                <a:latin typeface="Consolas" panose="020B0609020204030204" charset="0"/>
              </a:rPr>
              <a:t>b</a:t>
            </a:r>
            <a:r>
              <a:rPr lang="en-US" altLang="zh-CN" b="1" dirty="0">
                <a:latin typeface="Consolas" panose="020B0609020204030204" charset="0"/>
              </a:rPr>
              <a:t>) == </a:t>
            </a:r>
            <a:r>
              <a:rPr lang="en-US" altLang="zh-CN" b="1" dirty="0" err="1">
                <a:solidFill>
                  <a:srgbClr val="9335FF"/>
                </a:solidFill>
                <a:latin typeface="Consolas" panose="020B0609020204030204" charset="0"/>
              </a:rPr>
              <a:t>h</a:t>
            </a:r>
            <a:r>
              <a:rPr lang="en-US" altLang="zh-CN" b="1" baseline="-25000" dirty="0">
                <a:solidFill>
                  <a:srgbClr val="9335FF"/>
                </a:solidFill>
                <a:latin typeface="Consolas" panose="020B0609020204030204" charset="0"/>
              </a:rPr>
              <a:t>b</a:t>
            </a:r>
            <a:r>
              <a:rPr lang="en-US" altLang="zh-CN" b="1" dirty="0">
                <a:solidFill>
                  <a:srgbClr val="9335FF"/>
                </a:solidFill>
                <a:latin typeface="Consolas" panose="020B0609020204030204" charset="0"/>
              </a:rPr>
              <a:t> </a:t>
            </a:r>
            <a:r>
              <a:rPr lang="en-US" altLang="zh-CN" b="1" dirty="0">
                <a:latin typeface="Consolas" panose="020B0609020204030204" charset="0"/>
              </a:rPr>
              <a:t>? </a:t>
            </a:r>
            <a:endParaRPr lang="en-US" altLang="zh-CN" dirty="0">
              <a:effectLst/>
            </a:endParaRPr>
          </a:p>
        </p:txBody>
      </p:sp>
      <p:sp>
        <p:nvSpPr>
          <p:cNvPr id="14" name="矩形 13"/>
          <p:cNvSpPr/>
          <p:nvPr/>
        </p:nvSpPr>
        <p:spPr>
          <a:xfrm>
            <a:off x="5724128" y="3345007"/>
            <a:ext cx="3244799" cy="923330"/>
          </a:xfrm>
          <a:prstGeom prst="rect">
            <a:avLst/>
          </a:prstGeom>
          <a:solidFill>
            <a:schemeClr val="bg1"/>
          </a:solidFill>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baseline="-25000" dirty="0">
                <a:solidFill>
                  <a:srgbClr val="0093FF"/>
                </a:solidFill>
                <a:latin typeface="Consolas" panose="020B0609020204030204" charset="0"/>
              </a:rPr>
              <a:t>b</a:t>
            </a:r>
            <a:r>
              <a:rPr lang="en-US" altLang="zh-CN" b="1" dirty="0">
                <a:solidFill>
                  <a:srgbClr val="0093FF"/>
                </a:solidFill>
                <a:latin typeface="Consolas" panose="020B0609020204030204" charset="0"/>
              </a:rPr>
              <a:t> </a:t>
            </a:r>
            <a:r>
              <a:rPr lang="en-US" altLang="zh-CN" b="1" dirty="0">
                <a:latin typeface="Consolas" panose="020B0609020204030204" charset="0"/>
              </a:rPr>
              <a:t>= </a:t>
            </a:r>
            <a:r>
              <a:rPr lang="en-US" altLang="zh-CN" b="1" dirty="0" err="1">
                <a:latin typeface="Consolas" panose="020B0609020204030204" charset="0"/>
              </a:rPr>
              <a:t>encrypt</a:t>
            </a:r>
            <a:r>
              <a:rPr lang="en-US" altLang="zh-CN" b="1" dirty="0">
                <a:latin typeface="Consolas" panose="020B0609020204030204" charset="0"/>
              </a:rPr>
              <a:t>(</a:t>
            </a:r>
            <a:r>
              <a:rPr lang="en-US" altLang="zh-CN" b="1" dirty="0" err="1">
                <a:solidFill>
                  <a:srgbClr val="4C8E00"/>
                </a:solidFill>
                <a:latin typeface="Consolas" panose="020B0609020204030204" charset="0"/>
              </a:rPr>
              <a:t>k</a:t>
            </a:r>
            <a:r>
              <a:rPr lang="en-US" altLang="zh-CN" b="1" baseline="-25000" dirty="0">
                <a:solidFill>
                  <a:srgbClr val="4C8E00"/>
                </a:solidFill>
                <a:latin typeface="Consolas" panose="020B0609020204030204" charset="0"/>
              </a:rPr>
              <a:t>b</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en-US" altLang="zh-CN" b="1" baseline="-25000" dirty="0">
                <a:solidFill>
                  <a:srgbClr val="FF7C77"/>
                </a:solidFill>
                <a:latin typeface="Consolas" panose="020B0609020204030204" charset="0"/>
              </a:rPr>
              <a:t>b</a:t>
            </a:r>
            <a:r>
              <a:rPr lang="zh-CN" altLang="en-US" b="1" dirty="0">
                <a:solidFill>
                  <a:srgbClr val="FF7C77"/>
                </a:solidFill>
                <a:latin typeface="Consolas" panose="020B0609020204030204" charset="0"/>
              </a:rPr>
              <a:t> </a:t>
            </a:r>
            <a:r>
              <a:rPr lang="en-US" altLang="zh-CN" b="1" dirty="0">
                <a:latin typeface="Consolas" panose="020B0609020204030204" charset="0"/>
              </a:rPr>
              <a:t>|</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baseline="-25000" dirty="0" err="1">
                <a:solidFill>
                  <a:schemeClr val="accent1"/>
                </a:solidFill>
                <a:latin typeface="Consolas" panose="020B0609020204030204" charset="0"/>
              </a:rPr>
              <a:t>b</a:t>
            </a:r>
            <a:r>
              <a:rPr lang="en-US" altLang="zh-CN" b="1" dirty="0">
                <a:latin typeface="Consolas" panose="020B0609020204030204" charset="0"/>
              </a:rPr>
              <a:t>) </a:t>
            </a:r>
            <a:endParaRPr lang="zh-CN" altLang="en-US" b="1" dirty="0">
              <a:latin typeface="Consolas" panose="020B0609020204030204" charset="0"/>
            </a:endParaRPr>
          </a:p>
          <a:p>
            <a:pPr>
              <a:lnSpc>
                <a:spcPct val="150000"/>
              </a:lnSpc>
            </a:pPr>
            <a:r>
              <a:rPr lang="en-US" altLang="zh-CN" b="1" dirty="0" err="1">
                <a:solidFill>
                  <a:srgbClr val="9335FF"/>
                </a:solidFill>
                <a:latin typeface="Consolas" panose="020B0609020204030204" charset="0"/>
              </a:rPr>
              <a:t>h</a:t>
            </a:r>
            <a:r>
              <a:rPr lang="en-US" altLang="zh-CN" b="1" baseline="-25000" dirty="0">
                <a:solidFill>
                  <a:srgbClr val="9335FF"/>
                </a:solidFill>
                <a:latin typeface="Consolas" panose="020B0609020204030204" charset="0"/>
              </a:rPr>
              <a:t>b</a:t>
            </a:r>
            <a:r>
              <a:rPr lang="en-US" altLang="zh-CN" b="1" dirty="0">
                <a:solidFill>
                  <a:srgbClr val="9335FF"/>
                </a:solidFill>
                <a:latin typeface="Consolas" panose="020B0609020204030204" charset="0"/>
              </a:rPr>
              <a:t> </a:t>
            </a:r>
            <a:r>
              <a:rPr lang="en-US" altLang="zh-CN" b="1" dirty="0">
                <a:latin typeface="Consolas" panose="020B0609020204030204" charset="0"/>
              </a:rPr>
              <a:t>= MAC(</a:t>
            </a:r>
            <a:r>
              <a:rPr lang="en-US" altLang="zh-CN" b="1" dirty="0" err="1">
                <a:solidFill>
                  <a:srgbClr val="4C8E00"/>
                </a:solidFill>
                <a:latin typeface="Consolas" panose="020B0609020204030204" charset="0"/>
              </a:rPr>
              <a:t>k</a:t>
            </a:r>
            <a:r>
              <a:rPr lang="en-US" altLang="zh-CN" b="1" baseline="-25000" dirty="0">
                <a:solidFill>
                  <a:srgbClr val="4C8E00"/>
                </a:solidFill>
                <a:latin typeface="Consolas" panose="020B0609020204030204" charset="0"/>
              </a:rPr>
              <a:t>b</a:t>
            </a:r>
            <a:r>
              <a:rPr lang="en-US" altLang="zh-CN" b="1" dirty="0">
                <a:latin typeface="Consolas" panose="020B0609020204030204" charset="0"/>
              </a:rPr>
              <a:t>, </a:t>
            </a:r>
            <a:r>
              <a:rPr lang="en-US" altLang="zh-CN" b="1" dirty="0" err="1">
                <a:solidFill>
                  <a:srgbClr val="FF7C77"/>
                </a:solidFill>
                <a:latin typeface="Consolas" panose="020B0609020204030204" charset="0"/>
              </a:rPr>
              <a:t>m</a:t>
            </a:r>
            <a:r>
              <a:rPr lang="en-US" altLang="zh-CN" b="1" baseline="-25000" dirty="0">
                <a:solidFill>
                  <a:srgbClr val="FF7C77"/>
                </a:solidFill>
                <a:latin typeface="Consolas" panose="020B0609020204030204" charset="0"/>
              </a:rPr>
              <a:t>b</a:t>
            </a:r>
            <a:r>
              <a:rPr lang="zh-CN" altLang="en-US" b="1" dirty="0">
                <a:solidFill>
                  <a:srgbClr val="FF7C77"/>
                </a:solidFill>
                <a:latin typeface="Consolas" panose="020B0609020204030204" charset="0"/>
              </a:rPr>
              <a:t> </a:t>
            </a:r>
            <a:r>
              <a:rPr lang="en-US" altLang="zh-CN" b="1" dirty="0">
                <a:latin typeface="Consolas" panose="020B0609020204030204" charset="0"/>
              </a:rPr>
              <a:t>|</a:t>
            </a:r>
            <a:r>
              <a:rPr lang="zh-CN" altLang="en-US" b="1" dirty="0">
                <a:solidFill>
                  <a:srgbClr val="FF7C77"/>
                </a:solidFill>
                <a:latin typeface="Consolas" panose="020B0609020204030204" charset="0"/>
              </a:rPr>
              <a:t> </a:t>
            </a:r>
            <a:r>
              <a:rPr lang="en-US" altLang="zh-CN" b="1" dirty="0" err="1">
                <a:solidFill>
                  <a:schemeClr val="accent1"/>
                </a:solidFill>
                <a:latin typeface="Consolas" panose="020B0609020204030204" charset="0"/>
              </a:rPr>
              <a:t>seq</a:t>
            </a:r>
            <a:r>
              <a:rPr lang="en-US" altLang="zh-CN" b="1" baseline="-25000" dirty="0" err="1">
                <a:solidFill>
                  <a:schemeClr val="accent1"/>
                </a:solidFill>
                <a:latin typeface="Consolas" panose="020B0609020204030204" charset="0"/>
              </a:rPr>
              <a:t>b</a:t>
            </a:r>
            <a:r>
              <a:rPr lang="en-US" altLang="zh-CN" b="1" dirty="0">
                <a:latin typeface="Consolas" panose="020B0609020204030204" charset="0"/>
              </a:rPr>
              <a:t>) </a:t>
            </a:r>
            <a:endParaRPr lang="en-US" altLang="zh-CN" dirty="0">
              <a:effectLst/>
            </a:endParaRPr>
          </a:p>
        </p:txBody>
      </p:sp>
      <p:cxnSp>
        <p:nvCxnSpPr>
          <p:cNvPr id="15" name="直线箭头连接符 14"/>
          <p:cNvCxnSpPr/>
          <p:nvPr/>
        </p:nvCxnSpPr>
        <p:spPr>
          <a:xfrm flipH="1">
            <a:off x="1877126" y="4336570"/>
            <a:ext cx="5287162" cy="33098"/>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049869" y="4077861"/>
            <a:ext cx="925253"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charset="0"/>
              </a:rPr>
              <a:t>c</a:t>
            </a:r>
            <a:r>
              <a:rPr lang="en-US" altLang="zh-CN" b="1" baseline="-25000" dirty="0">
                <a:solidFill>
                  <a:srgbClr val="0093FF"/>
                </a:solidFill>
                <a:latin typeface="Consolas" panose="020B0609020204030204" charset="0"/>
              </a:rPr>
              <a:t>b</a:t>
            </a:r>
            <a:r>
              <a:rPr lang="en-US" altLang="zh-CN" b="1" dirty="0">
                <a:solidFill>
                  <a:srgbClr val="0093FF"/>
                </a:solidFill>
                <a:latin typeface="Consolas" panose="020B0609020204030204" charset="0"/>
              </a:rPr>
              <a:t> </a:t>
            </a:r>
            <a:r>
              <a:rPr lang="en-US" altLang="zh-CN" b="1" dirty="0">
                <a:latin typeface="Consolas" panose="020B0609020204030204" charset="0"/>
              </a:rPr>
              <a:t>|</a:t>
            </a:r>
            <a:r>
              <a:rPr lang="zh-CN" altLang="en-US" b="1" dirty="0">
                <a:latin typeface="Consolas" panose="020B0609020204030204" charset="0"/>
              </a:rPr>
              <a:t> </a:t>
            </a:r>
            <a:r>
              <a:rPr lang="en-US" altLang="zh-CN" b="1" dirty="0" err="1">
                <a:solidFill>
                  <a:srgbClr val="9335FF"/>
                </a:solidFill>
                <a:latin typeface="Consolas" panose="020B0609020204030204" charset="0"/>
              </a:rPr>
              <a:t>h</a:t>
            </a:r>
            <a:r>
              <a:rPr lang="en-US" altLang="zh-CN" b="1" baseline="-25000" dirty="0">
                <a:solidFill>
                  <a:srgbClr val="9335FF"/>
                </a:solidFill>
                <a:latin typeface="Consolas" panose="020B0609020204030204" charset="0"/>
              </a:rPr>
              <a:t>b</a:t>
            </a:r>
            <a:endParaRPr lang="en-US" altLang="zh-CN" baseline="-25000" dirty="0">
              <a:effectLst/>
            </a:endParaRPr>
          </a:p>
        </p:txBody>
      </p:sp>
      <p:sp>
        <p:nvSpPr>
          <p:cNvPr id="20" name="文本框 19"/>
          <p:cNvSpPr txBox="1"/>
          <p:nvPr/>
        </p:nvSpPr>
        <p:spPr>
          <a:xfrm>
            <a:off x="1031873" y="50205"/>
            <a:ext cx="1599132" cy="369332"/>
          </a:xfrm>
          <a:prstGeom prst="rect">
            <a:avLst/>
          </a:prstGeom>
          <a:noFill/>
        </p:spPr>
        <p:txBody>
          <a:bodyPr wrap="square">
            <a:spAutoFit/>
          </a:bodyPr>
          <a:lstStyle/>
          <a:p>
            <a:pPr algn="ctr"/>
            <a:r>
              <a:rPr lang="en-US" altLang="zh-CN" dirty="0">
                <a:solidFill>
                  <a:srgbClr val="4C8E00"/>
                </a:solidFill>
                <a:latin typeface="Consolas" panose="020B0609020204030204" charset="0"/>
              </a:rPr>
              <a:t>has</a:t>
            </a:r>
            <a:r>
              <a:rPr lang="zh-CN" altLang="en-US" b="1" dirty="0">
                <a:solidFill>
                  <a:srgbClr val="4C8E00"/>
                </a:solidFill>
                <a:latin typeface="Consolas" panose="020B0609020204030204" charset="0"/>
              </a:rPr>
              <a:t> </a:t>
            </a:r>
            <a:r>
              <a:rPr lang="en-US" altLang="zh-CN" b="1" dirty="0" err="1">
                <a:solidFill>
                  <a:srgbClr val="4C8E00"/>
                </a:solidFill>
                <a:latin typeface="Consolas" panose="020B0609020204030204" charset="0"/>
              </a:rPr>
              <a:t>k</a:t>
            </a:r>
            <a:r>
              <a:rPr lang="en-US" altLang="zh-CN" b="1" baseline="-25000" dirty="0">
                <a:solidFill>
                  <a:srgbClr val="4C8E00"/>
                </a:solidFill>
                <a:latin typeface="Consolas" panose="020B0609020204030204" charset="0"/>
              </a:rPr>
              <a:t>a</a:t>
            </a:r>
            <a:r>
              <a:rPr lang="zh-CN" altLang="en-US" b="1" baseline="-25000" dirty="0">
                <a:solidFill>
                  <a:srgbClr val="4C8E00"/>
                </a:solidFill>
                <a:latin typeface="Consolas" panose="020B0609020204030204" charset="0"/>
              </a:rPr>
              <a:t> </a:t>
            </a:r>
            <a:r>
              <a:rPr lang="en-US" altLang="zh-CN" b="1" dirty="0">
                <a:solidFill>
                  <a:srgbClr val="4C8E00"/>
                </a:solidFill>
                <a:latin typeface="Consolas" panose="020B0609020204030204" charset="0"/>
              </a:rPr>
              <a:t>&amp; </a:t>
            </a:r>
            <a:r>
              <a:rPr lang="en-US" altLang="zh-CN" b="1" dirty="0" err="1">
                <a:solidFill>
                  <a:srgbClr val="4C8E00"/>
                </a:solidFill>
                <a:latin typeface="Consolas" panose="020B0609020204030204" charset="0"/>
              </a:rPr>
              <a:t>k</a:t>
            </a:r>
            <a:r>
              <a:rPr lang="en-US" altLang="zh-CN" b="1" baseline="-25000" dirty="0">
                <a:solidFill>
                  <a:srgbClr val="4C8E00"/>
                </a:solidFill>
                <a:latin typeface="Consolas" panose="020B0609020204030204" charset="0"/>
              </a:rPr>
              <a:t>b </a:t>
            </a:r>
            <a:endParaRPr lang="zh-CN" altLang="en-US" b="1" dirty="0">
              <a:solidFill>
                <a:srgbClr val="4C8E00"/>
              </a:solidFill>
              <a:latin typeface="Consolas" panose="020B0609020204030204" charset="0"/>
            </a:endParaRPr>
          </a:p>
        </p:txBody>
      </p:sp>
      <p:sp>
        <p:nvSpPr>
          <p:cNvPr id="22" name="文本框 21"/>
          <p:cNvSpPr txBox="1"/>
          <p:nvPr/>
        </p:nvSpPr>
        <p:spPr>
          <a:xfrm>
            <a:off x="6436730" y="12313"/>
            <a:ext cx="1599132" cy="369332"/>
          </a:xfrm>
          <a:prstGeom prst="rect">
            <a:avLst/>
          </a:prstGeom>
          <a:noFill/>
        </p:spPr>
        <p:txBody>
          <a:bodyPr wrap="square">
            <a:spAutoFit/>
          </a:bodyPr>
          <a:lstStyle/>
          <a:p>
            <a:pPr algn="ctr"/>
            <a:r>
              <a:rPr lang="en-US" altLang="zh-CN" dirty="0">
                <a:solidFill>
                  <a:srgbClr val="4C8E00"/>
                </a:solidFill>
                <a:latin typeface="Consolas" panose="020B0609020204030204" charset="0"/>
              </a:rPr>
              <a:t>has</a:t>
            </a:r>
            <a:r>
              <a:rPr lang="zh-CN" altLang="en-US" b="1" dirty="0">
                <a:solidFill>
                  <a:srgbClr val="4C8E00"/>
                </a:solidFill>
                <a:latin typeface="Consolas" panose="020B0609020204030204" charset="0"/>
              </a:rPr>
              <a:t> </a:t>
            </a:r>
            <a:r>
              <a:rPr lang="en-US" altLang="zh-CN" b="1" dirty="0" err="1">
                <a:solidFill>
                  <a:srgbClr val="4C8E00"/>
                </a:solidFill>
                <a:latin typeface="Consolas" panose="020B0609020204030204" charset="0"/>
              </a:rPr>
              <a:t>k</a:t>
            </a:r>
            <a:r>
              <a:rPr lang="en-US" altLang="zh-CN" b="1" baseline="-25000" dirty="0">
                <a:solidFill>
                  <a:srgbClr val="4C8E00"/>
                </a:solidFill>
                <a:latin typeface="Consolas" panose="020B0609020204030204" charset="0"/>
              </a:rPr>
              <a:t>a</a:t>
            </a:r>
            <a:r>
              <a:rPr lang="zh-CN" altLang="en-US" b="1" baseline="-25000" dirty="0">
                <a:solidFill>
                  <a:srgbClr val="4C8E00"/>
                </a:solidFill>
                <a:latin typeface="Consolas" panose="020B0609020204030204" charset="0"/>
              </a:rPr>
              <a:t> </a:t>
            </a:r>
            <a:r>
              <a:rPr lang="en-US" altLang="zh-CN" b="1" dirty="0">
                <a:solidFill>
                  <a:srgbClr val="4C8E00"/>
                </a:solidFill>
                <a:latin typeface="Consolas" panose="020B0609020204030204" charset="0"/>
              </a:rPr>
              <a:t>&amp; </a:t>
            </a:r>
            <a:r>
              <a:rPr lang="en-US" altLang="zh-CN" b="1" dirty="0" err="1">
                <a:solidFill>
                  <a:srgbClr val="4C8E00"/>
                </a:solidFill>
                <a:latin typeface="Consolas" panose="020B0609020204030204" charset="0"/>
              </a:rPr>
              <a:t>k</a:t>
            </a:r>
            <a:r>
              <a:rPr lang="en-US" altLang="zh-CN" b="1" baseline="-25000" dirty="0">
                <a:solidFill>
                  <a:srgbClr val="4C8E00"/>
                </a:solidFill>
                <a:latin typeface="Consolas" panose="020B0609020204030204" charset="0"/>
              </a:rPr>
              <a:t>b </a:t>
            </a:r>
            <a:endParaRPr lang="zh-CN" altLang="en-US" b="1" dirty="0">
              <a:solidFill>
                <a:srgbClr val="4C8E00"/>
              </a:solidFill>
              <a:latin typeface="Consolas" panose="020B060902020403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259632" y="265212"/>
            <a:ext cx="6624736" cy="4686528"/>
          </a:xfrm>
          <a:prstGeom prst="rect">
            <a:avLst/>
          </a:prstGeom>
        </p:spPr>
      </p:pic>
      <p:sp>
        <p:nvSpPr>
          <p:cNvPr id="2" name="文本框 1"/>
          <p:cNvSpPr txBox="1"/>
          <p:nvPr/>
        </p:nvSpPr>
        <p:spPr>
          <a:xfrm>
            <a:off x="1403648" y="5161756"/>
            <a:ext cx="6840760" cy="369332"/>
          </a:xfrm>
          <a:prstGeom prst="rect">
            <a:avLst/>
          </a:prstGeom>
          <a:noFill/>
          <a:ln>
            <a:solidFill>
              <a:schemeClr val="accent1"/>
            </a:solidFill>
          </a:ln>
        </p:spPr>
        <p:txBody>
          <a:bodyPr wrap="square" rtlCol="0">
            <a:spAutoFit/>
          </a:bodyPr>
          <a:lstStyle/>
          <a:p>
            <a:pPr algn="ctr"/>
            <a:r>
              <a:rPr kumimoji="1" lang="en-US" altLang="zh-CN" dirty="0">
                <a:latin typeface="Arial" panose="020B0604020202020204" pitchFamily="34" charset="0"/>
                <a:cs typeface="Arial" panose="020B0604020202020204" pitchFamily="34" charset="0"/>
              </a:rPr>
              <a:t>(</a:t>
            </a:r>
            <a:r>
              <a:rPr kumimoji="1" lang="en-US" altLang="zh-CN" dirty="0" err="1">
                <a:latin typeface="Arial" panose="020B0604020202020204" pitchFamily="34" charset="0"/>
                <a:cs typeface="Arial" panose="020B0604020202020204" pitchFamily="34" charset="0"/>
              </a:rPr>
              <a:t>g</a:t>
            </a:r>
            <a:r>
              <a:rPr kumimoji="1" lang="en-US" altLang="zh-CN" baseline="30000" dirty="0" err="1">
                <a:latin typeface="Arial" panose="020B0604020202020204" pitchFamily="34" charset="0"/>
                <a:cs typeface="Arial" panose="020B0604020202020204" pitchFamily="34" charset="0"/>
              </a:rPr>
              <a:t>b</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mod</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p)</a:t>
            </a:r>
            <a:r>
              <a:rPr kumimoji="1" lang="en-US" altLang="zh-CN" baseline="30000" dirty="0">
                <a:latin typeface="Arial" panose="020B0604020202020204" pitchFamily="34" charset="0"/>
                <a:cs typeface="Arial" panose="020B0604020202020204" pitchFamily="34" charset="0"/>
              </a:rPr>
              <a:t>a</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mod</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p</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a:t>
            </a:r>
            <a:r>
              <a:rPr kumimoji="1" lang="zh-CN" altLang="en-US" dirty="0">
                <a:latin typeface="Arial" panose="020B0604020202020204" pitchFamily="34" charset="0"/>
                <a:cs typeface="Arial" panose="020B0604020202020204" pitchFamily="34" charset="0"/>
              </a:rPr>
              <a:t>    </a:t>
            </a:r>
            <a:r>
              <a:rPr kumimoji="1" lang="en-US" altLang="zh-CN" dirty="0">
                <a:highlight>
                  <a:srgbClr val="FFFF00"/>
                </a:highlight>
                <a:latin typeface="Arial" panose="020B0604020202020204" pitchFamily="34" charset="0"/>
                <a:cs typeface="Arial" panose="020B0604020202020204" pitchFamily="34" charset="0"/>
              </a:rPr>
              <a:t>g</a:t>
            </a:r>
            <a:r>
              <a:rPr kumimoji="1" lang="en-US" altLang="zh-CN" baseline="30000" dirty="0">
                <a:highlight>
                  <a:srgbClr val="FFFF00"/>
                </a:highlight>
                <a:latin typeface="Arial" panose="020B0604020202020204" pitchFamily="34" charset="0"/>
                <a:cs typeface="Arial" panose="020B0604020202020204" pitchFamily="34" charset="0"/>
              </a:rPr>
              <a:t>ab</a:t>
            </a:r>
            <a:r>
              <a:rPr kumimoji="1" lang="zh-CN" altLang="en-US" dirty="0">
                <a:highlight>
                  <a:srgbClr val="FFFF00"/>
                </a:highlight>
                <a:latin typeface="Arial" panose="020B0604020202020204" pitchFamily="34" charset="0"/>
                <a:cs typeface="Arial" panose="020B0604020202020204" pitchFamily="34" charset="0"/>
              </a:rPr>
              <a:t> </a:t>
            </a:r>
            <a:r>
              <a:rPr kumimoji="1" lang="en-US" altLang="zh-CN" dirty="0">
                <a:highlight>
                  <a:srgbClr val="FFFF00"/>
                </a:highlight>
                <a:latin typeface="Arial" panose="020B0604020202020204" pitchFamily="34" charset="0"/>
                <a:cs typeface="Arial" panose="020B0604020202020204" pitchFamily="34" charset="0"/>
              </a:rPr>
              <a:t>mod</a:t>
            </a:r>
            <a:r>
              <a:rPr kumimoji="1" lang="zh-CN" altLang="en-US" dirty="0">
                <a:highlight>
                  <a:srgbClr val="FFFF00"/>
                </a:highlight>
                <a:latin typeface="Arial" panose="020B0604020202020204" pitchFamily="34" charset="0"/>
                <a:cs typeface="Arial" panose="020B0604020202020204" pitchFamily="34" charset="0"/>
              </a:rPr>
              <a:t> </a:t>
            </a:r>
            <a:r>
              <a:rPr kumimoji="1" lang="en-US" altLang="zh-CN" dirty="0">
                <a:highlight>
                  <a:srgbClr val="FFFF00"/>
                </a:highlight>
                <a:latin typeface="Arial" panose="020B0604020202020204" pitchFamily="34" charset="0"/>
                <a:cs typeface="Arial" panose="020B0604020202020204" pitchFamily="34" charset="0"/>
              </a:rPr>
              <a:t>p</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a:t>
            </a:r>
            <a:r>
              <a:rPr kumimoji="1" lang="en-US" altLang="zh-CN" dirty="0" err="1">
                <a:latin typeface="Arial" panose="020B0604020202020204" pitchFamily="34" charset="0"/>
                <a:cs typeface="Arial" panose="020B0604020202020204" pitchFamily="34" charset="0"/>
              </a:rPr>
              <a:t>g</a:t>
            </a:r>
            <a:r>
              <a:rPr kumimoji="1" lang="en-US" altLang="zh-CN" baseline="30000" dirty="0" err="1">
                <a:latin typeface="Arial" panose="020B0604020202020204" pitchFamily="34" charset="0"/>
                <a:cs typeface="Arial" panose="020B0604020202020204" pitchFamily="34" charset="0"/>
              </a:rPr>
              <a:t>a</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mod</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p)</a:t>
            </a:r>
            <a:r>
              <a:rPr kumimoji="1" lang="en-US" altLang="zh-CN" baseline="30000" dirty="0">
                <a:latin typeface="Arial" panose="020B0604020202020204" pitchFamily="34" charset="0"/>
                <a:cs typeface="Arial" panose="020B0604020202020204" pitchFamily="34" charset="0"/>
              </a:rPr>
              <a:t>b</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mod</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p</a:t>
            </a:r>
            <a:endParaRPr kumimoji="1" lang="zh-CN" altLang="en-US" dirty="0">
              <a:latin typeface="Arial" panose="020B0604020202020204" pitchFamily="34" charset="0"/>
              <a:cs typeface="Arial" panose="020B0604020202020204" pitchFamily="34" charset="0"/>
            </a:endParaRPr>
          </a:p>
        </p:txBody>
      </p:sp>
      <p:sp>
        <p:nvSpPr>
          <p:cNvPr id="5" name="文本框 4"/>
          <p:cNvSpPr txBox="1"/>
          <p:nvPr/>
        </p:nvSpPr>
        <p:spPr>
          <a:xfrm>
            <a:off x="270588" y="3073524"/>
            <a:ext cx="4661452" cy="646331"/>
          </a:xfrm>
          <a:prstGeom prst="rect">
            <a:avLst/>
          </a:prstGeom>
          <a:noFill/>
        </p:spPr>
        <p:txBody>
          <a:bodyPr wrap="square">
            <a:spAutoFit/>
          </a:bodyPr>
          <a:lstStyle/>
          <a:p>
            <a:r>
              <a:rPr kumimoji="1" lang="en-US" altLang="zh-CN" dirty="0">
                <a:solidFill>
                  <a:schemeClr val="accent1"/>
                </a:solidFill>
              </a:rPr>
              <a:t>Diffie-Hellman</a:t>
            </a:r>
            <a:endParaRPr kumimoji="1" lang="en-US" altLang="zh-CN" dirty="0">
              <a:solidFill>
                <a:schemeClr val="accent1"/>
              </a:solidFill>
            </a:endParaRPr>
          </a:p>
          <a:p>
            <a:r>
              <a:rPr kumimoji="1" lang="en-US" altLang="zh-CN" dirty="0">
                <a:solidFill>
                  <a:schemeClr val="accent1"/>
                </a:solidFill>
              </a:rPr>
              <a:t>Key Exchange</a:t>
            </a:r>
            <a:endParaRPr lang="zh-CN" altLang="en-US" dirty="0">
              <a:solidFill>
                <a:schemeClr val="accent1"/>
              </a:solidFill>
            </a:endParaRPr>
          </a:p>
        </p:txBody>
      </p:sp>
      <p:sp>
        <p:nvSpPr>
          <p:cNvPr id="6" name="矩形 5"/>
          <p:cNvSpPr/>
          <p:nvPr/>
        </p:nvSpPr>
        <p:spPr>
          <a:xfrm>
            <a:off x="162576" y="1921396"/>
            <a:ext cx="8873920" cy="3030344"/>
          </a:xfrm>
          <a:prstGeom prst="rect">
            <a:avLst/>
          </a:prstGeom>
          <a:noFill/>
          <a:ln w="19050">
            <a:solidFill>
              <a:srgbClr val="BE374B"/>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187624" y="985292"/>
            <a:ext cx="6480720" cy="4634340"/>
          </a:xfrm>
          <a:prstGeom prst="rect">
            <a:avLst/>
          </a:prstGeom>
        </p:spPr>
      </p:pic>
      <p:sp>
        <p:nvSpPr>
          <p:cNvPr id="6" name="标题 1"/>
          <p:cNvSpPr>
            <a:spLocks noGrp="1"/>
          </p:cNvSpPr>
          <p:nvPr>
            <p:ph type="title"/>
          </p:nvPr>
        </p:nvSpPr>
        <p:spPr>
          <a:xfrm>
            <a:off x="457200" y="228866"/>
            <a:ext cx="8229600" cy="952500"/>
          </a:xfrm>
        </p:spPr>
        <p:txBody>
          <a:bodyPr/>
          <a:lstStyle/>
          <a:p>
            <a:r>
              <a:rPr kumimoji="1" lang="en-US" altLang="zh-CN" dirty="0"/>
              <a:t>Diffie-Hellman Key Exchange</a:t>
            </a:r>
            <a:r>
              <a:rPr kumimoji="1" lang="zh-CN" altLang="en-US" dirty="0"/>
              <a:t> </a:t>
            </a:r>
            <a:r>
              <a:rPr kumimoji="1" lang="en-US" altLang="zh-CN" dirty="0"/>
              <a:t>&amp;</a:t>
            </a:r>
            <a:r>
              <a:rPr kumimoji="1" lang="zh-CN" altLang="en-US" dirty="0"/>
              <a:t> </a:t>
            </a:r>
            <a:r>
              <a:rPr kumimoji="1" lang="en-US" altLang="zh-CN" dirty="0"/>
              <a:t>Man-in-the-Middle</a:t>
            </a:r>
            <a:endParaRPr kumimoji="1"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srcRect l="190" t="-158" r="-190" b="14656"/>
          <a:stretch>
            <a:fillRect/>
          </a:stretch>
        </p:blipFill>
        <p:spPr>
          <a:xfrm>
            <a:off x="1056401" y="1201316"/>
            <a:ext cx="6742273" cy="4112075"/>
          </a:xfrm>
          <a:prstGeom prst="rect">
            <a:avLst/>
          </a:prstGeom>
        </p:spPr>
      </p:pic>
      <p:sp>
        <p:nvSpPr>
          <p:cNvPr id="3" name="标题 1"/>
          <p:cNvSpPr>
            <a:spLocks noGrp="1"/>
          </p:cNvSpPr>
          <p:nvPr>
            <p:ph type="title"/>
          </p:nvPr>
        </p:nvSpPr>
        <p:spPr>
          <a:xfrm>
            <a:off x="457200" y="228866"/>
            <a:ext cx="8229600" cy="952500"/>
          </a:xfrm>
        </p:spPr>
        <p:txBody>
          <a:bodyPr/>
          <a:lstStyle/>
          <a:p>
            <a:r>
              <a:rPr kumimoji="1" lang="en-US" altLang="zh-CN" dirty="0"/>
              <a:t>RSA</a:t>
            </a:r>
            <a:r>
              <a:rPr kumimoji="1" lang="zh-CN" altLang="en-US" dirty="0"/>
              <a:t> </a:t>
            </a:r>
            <a:r>
              <a:rPr kumimoji="1" lang="en-US" altLang="zh-CN" dirty="0"/>
              <a:t>Algorithm</a:t>
            </a:r>
            <a:endParaRPr kumimoji="1"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Public</a:t>
            </a:r>
            <a:r>
              <a:rPr kumimoji="1" lang="zh-CN" altLang="en-US" dirty="0"/>
              <a:t> </a:t>
            </a:r>
            <a:r>
              <a:rPr kumimoji="1" lang="en-US" altLang="zh-CN" dirty="0"/>
              <a:t>Key</a:t>
            </a:r>
            <a:r>
              <a:rPr kumimoji="1" lang="zh-CN" altLang="en-US" dirty="0"/>
              <a:t> </a:t>
            </a:r>
            <a:r>
              <a:rPr kumimoji="1" lang="en-US" altLang="zh-CN" dirty="0"/>
              <a:t>Distribution</a:t>
            </a:r>
            <a:endParaRPr kumimoji="1" lang="zh-CN" altLang="en-US" dirty="0"/>
          </a:p>
        </p:txBody>
      </p:sp>
      <p:sp>
        <p:nvSpPr>
          <p:cNvPr id="3" name="内容占位符 2"/>
          <p:cNvSpPr>
            <a:spLocks noGrp="1"/>
          </p:cNvSpPr>
          <p:nvPr>
            <p:ph idx="1"/>
          </p:nvPr>
        </p:nvSpPr>
        <p:spPr/>
        <p:txBody>
          <a:bodyPr>
            <a:normAutofit/>
          </a:bodyPr>
          <a:lstStyle/>
          <a:p>
            <a:r>
              <a:rPr kumimoji="1" lang="en-US" altLang="zh-CN" sz="2000" dirty="0"/>
              <a:t>1. Alice remembers the key she used last time</a:t>
            </a:r>
            <a:endParaRPr kumimoji="1" lang="zh-CN" altLang="en-US" sz="2000" dirty="0"/>
          </a:p>
          <a:p>
            <a:pPr lvl="1"/>
            <a:r>
              <a:rPr kumimoji="1" lang="en-US" altLang="zh-CN" sz="1800" dirty="0"/>
              <a:t>Easy to implement</a:t>
            </a:r>
            <a:endParaRPr kumimoji="1" lang="zh-CN" altLang="en-US" sz="1800" dirty="0"/>
          </a:p>
          <a:p>
            <a:pPr lvl="1"/>
            <a:r>
              <a:rPr kumimoji="1" lang="en-US" altLang="zh-CN" sz="1800" dirty="0"/>
              <a:t>Effective against subsequent</a:t>
            </a:r>
            <a:r>
              <a:rPr kumimoji="1" lang="zh-CN" altLang="en-US" sz="1800" dirty="0"/>
              <a:t> </a:t>
            </a:r>
            <a:r>
              <a:rPr kumimoji="1" lang="en-US" altLang="zh-CN" sz="1800" dirty="0"/>
              <a:t>man-in-the-middle attacks      </a:t>
            </a:r>
            <a:endParaRPr kumimoji="1" lang="zh-CN" altLang="en-US" sz="1800" dirty="0"/>
          </a:p>
          <a:p>
            <a:pPr lvl="1"/>
            <a:r>
              <a:rPr kumimoji="1" lang="en-US" altLang="zh-CN" sz="1800" dirty="0"/>
              <a:t>Doesn't protect against MITM attacks the first time around</a:t>
            </a:r>
            <a:endParaRPr kumimoji="1" lang="zh-CN" altLang="en-US" sz="1800" dirty="0"/>
          </a:p>
          <a:p>
            <a:pPr lvl="1"/>
            <a:r>
              <a:rPr kumimoji="1" lang="en-US" altLang="zh-CN" sz="1800" dirty="0"/>
              <a:t>Doesn't allow parties to change keys   </a:t>
            </a:r>
            <a:endParaRPr kumimoji="1" lang="zh-CN" altLang="en-US" sz="1800" dirty="0"/>
          </a:p>
          <a:p>
            <a:r>
              <a:rPr kumimoji="1" lang="en-US" altLang="zh-CN" sz="2000" dirty="0"/>
              <a:t>2. Consult some authority that knows everyone's public key </a:t>
            </a:r>
            <a:endParaRPr kumimoji="1" lang="zh-CN" altLang="en-US" sz="2000" dirty="0"/>
          </a:p>
          <a:p>
            <a:pPr lvl="1"/>
            <a:r>
              <a:rPr kumimoji="1" lang="en-US" altLang="zh-CN" sz="1800" dirty="0"/>
              <a:t>Does not scale (client asks for a PK for every new</a:t>
            </a:r>
            <a:r>
              <a:rPr kumimoji="1" lang="zh-CN" altLang="en-US" sz="1800" dirty="0"/>
              <a:t> </a:t>
            </a:r>
            <a:r>
              <a:rPr kumimoji="1" lang="en-US" altLang="zh-CN" sz="1800" dirty="0"/>
              <a:t>name)      </a:t>
            </a:r>
            <a:endParaRPr kumimoji="1" lang="zh-CN" altLang="en-US" sz="1800" dirty="0"/>
          </a:p>
          <a:p>
            <a:pPr lvl="1"/>
            <a:r>
              <a:rPr kumimoji="1" lang="en-US" altLang="zh-CN" sz="1800" dirty="0"/>
              <a:t>Alice needs server's public key beforehand   </a:t>
            </a:r>
            <a:endParaRPr kumimoji="1" lang="zh-CN" alt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Public</a:t>
            </a:r>
            <a:r>
              <a:rPr kumimoji="1" lang="zh-CN" altLang="en-US" dirty="0"/>
              <a:t> </a:t>
            </a:r>
            <a:r>
              <a:rPr kumimoji="1" lang="en-US" altLang="zh-CN" dirty="0"/>
              <a:t>Key</a:t>
            </a:r>
            <a:r>
              <a:rPr kumimoji="1" lang="zh-CN" altLang="en-US" dirty="0"/>
              <a:t> </a:t>
            </a:r>
            <a:r>
              <a:rPr kumimoji="1" lang="en-US" altLang="zh-CN" dirty="0"/>
              <a:t>Distribution</a:t>
            </a:r>
            <a:endParaRPr kumimoji="1" lang="zh-CN" altLang="en-US" dirty="0"/>
          </a:p>
        </p:txBody>
      </p:sp>
      <p:sp>
        <p:nvSpPr>
          <p:cNvPr id="3" name="内容占位符 2"/>
          <p:cNvSpPr>
            <a:spLocks noGrp="1"/>
          </p:cNvSpPr>
          <p:nvPr>
            <p:ph idx="1"/>
          </p:nvPr>
        </p:nvSpPr>
        <p:spPr/>
        <p:txBody>
          <a:bodyPr>
            <a:noAutofit/>
          </a:bodyPr>
          <a:lstStyle/>
          <a:p>
            <a:r>
              <a:rPr kumimoji="1" lang="en-US" altLang="zh-CN" sz="2400" dirty="0"/>
              <a:t>3. Authority, but pre-compute responses </a:t>
            </a:r>
            <a:endParaRPr kumimoji="1" lang="zh-CN" altLang="en-US" sz="2400" dirty="0"/>
          </a:p>
          <a:p>
            <a:pPr lvl="1"/>
            <a:r>
              <a:rPr kumimoji="1" lang="en-US" altLang="zh-CN" sz="2000" dirty="0"/>
              <a:t>Authority creates signed</a:t>
            </a:r>
            <a:r>
              <a:rPr kumimoji="1" lang="zh-CN" altLang="en-US" sz="2000" dirty="0"/>
              <a:t> </a:t>
            </a:r>
            <a:r>
              <a:rPr kumimoji="1" lang="en-US" altLang="zh-CN" sz="2000" dirty="0"/>
              <a:t>messages: {Bob, </a:t>
            </a:r>
            <a:r>
              <a:rPr kumimoji="1" lang="en-US" altLang="zh-CN" sz="2000" dirty="0" err="1"/>
              <a:t>PK_bob</a:t>
            </a:r>
            <a:r>
              <a:rPr kumimoji="1" lang="en-US" altLang="zh-CN" sz="2000" dirty="0"/>
              <a:t>}_{</a:t>
            </a:r>
            <a:r>
              <a:rPr kumimoji="1" lang="en-US" altLang="zh-CN" sz="2000" dirty="0" err="1"/>
              <a:t>SK_as</a:t>
            </a:r>
            <a:r>
              <a:rPr kumimoji="1" lang="en-US" altLang="zh-CN" sz="2000" dirty="0"/>
              <a:t>}</a:t>
            </a:r>
            <a:endParaRPr kumimoji="1" lang="zh-CN" altLang="en-US" sz="2000" dirty="0"/>
          </a:p>
          <a:p>
            <a:pPr lvl="1"/>
            <a:r>
              <a:rPr kumimoji="1" lang="en-US" altLang="zh-CN" sz="2000" dirty="0"/>
              <a:t>Anyone can verify the</a:t>
            </a:r>
            <a:r>
              <a:rPr kumimoji="1" lang="zh-CN" altLang="en-US" sz="2000" dirty="0"/>
              <a:t> </a:t>
            </a:r>
            <a:r>
              <a:rPr kumimoji="1" lang="en-US" altLang="zh-CN" sz="2000" dirty="0"/>
              <a:t>authority signed this message, given </a:t>
            </a:r>
            <a:r>
              <a:rPr kumimoji="1" lang="en-US" altLang="zh-CN" sz="2000" dirty="0" err="1"/>
              <a:t>PK_as</a:t>
            </a:r>
            <a:endParaRPr kumimoji="1" lang="zh-CN" altLang="en-US" sz="2000" dirty="0"/>
          </a:p>
          <a:p>
            <a:pPr lvl="1"/>
            <a:r>
              <a:rPr kumimoji="1" lang="en-US" altLang="zh-CN" sz="2000" dirty="0"/>
              <a:t>When Alice wants to</a:t>
            </a:r>
            <a:r>
              <a:rPr kumimoji="1" lang="zh-CN" altLang="en-US" sz="2000" dirty="0"/>
              <a:t> </a:t>
            </a:r>
            <a:r>
              <a:rPr kumimoji="1" lang="en-US" altLang="zh-CN" sz="2000" dirty="0"/>
              <a:t>talk to Bob, she needs a signed message from the authority, but</a:t>
            </a:r>
            <a:r>
              <a:rPr kumimoji="1" lang="zh-CN" altLang="en-US" sz="2000" dirty="0"/>
              <a:t> </a:t>
            </a:r>
            <a:r>
              <a:rPr kumimoji="1" lang="en-US" altLang="zh-CN" sz="2000" dirty="0"/>
              <a:t>it doesn't matter where this message comes from as long as the</a:t>
            </a:r>
            <a:r>
              <a:rPr kumimoji="1" lang="zh-CN" altLang="en-US" sz="2000" dirty="0"/>
              <a:t> </a:t>
            </a:r>
            <a:r>
              <a:rPr kumimoji="1" lang="en-US" altLang="zh-CN" sz="2000" dirty="0"/>
              <a:t>signature checks out</a:t>
            </a:r>
            <a:endParaRPr kumimoji="1" lang="zh-CN" altLang="en-US" sz="2000" dirty="0"/>
          </a:p>
          <a:p>
            <a:pPr lvl="2"/>
            <a:r>
              <a:rPr kumimoji="1" lang="en-US" altLang="zh-CN" sz="1800" dirty="0"/>
              <a:t>I.e., Alice could retrieve the message</a:t>
            </a:r>
            <a:r>
              <a:rPr kumimoji="1" lang="zh-CN" altLang="en-US" sz="1800" dirty="0"/>
              <a:t> </a:t>
            </a:r>
            <a:r>
              <a:rPr kumimoji="1" lang="en-US" altLang="zh-CN" sz="1800" dirty="0"/>
              <a:t>from a different server</a:t>
            </a:r>
            <a:endParaRPr kumimoji="1" lang="zh-CN" altLang="en-US" sz="1800" dirty="0"/>
          </a:p>
          <a:p>
            <a:pPr lvl="1"/>
            <a:r>
              <a:rPr kumimoji="1" lang="en-US" altLang="zh-CN" sz="2000" dirty="0"/>
              <a:t>This signed message is a </a:t>
            </a:r>
            <a:r>
              <a:rPr kumimoji="1" lang="en-US" altLang="zh-CN" sz="2000" b="1" dirty="0">
                <a:solidFill>
                  <a:schemeClr val="accent1"/>
                </a:solidFill>
              </a:rPr>
              <a:t>certificate</a:t>
            </a:r>
            <a:r>
              <a:rPr kumimoji="1" lang="en-US" altLang="zh-CN" sz="2000" b="1" dirty="0">
                <a:solidFill>
                  <a:schemeClr val="accent2"/>
                </a:solidFill>
              </a:rPr>
              <a:t>      </a:t>
            </a:r>
            <a:endParaRPr kumimoji="1" lang="zh-CN" altLang="en-US" sz="2000" b="1" dirty="0">
              <a:solidFill>
                <a:schemeClr val="accent2"/>
              </a:solidFill>
            </a:endParaRPr>
          </a:p>
          <a:p>
            <a:pPr lvl="1"/>
            <a:r>
              <a:rPr kumimoji="1" lang="en-US" altLang="zh-CN" sz="2000" dirty="0"/>
              <a:t>More scalable</a:t>
            </a:r>
            <a:endParaRPr kumimoji="1" lang="zh-CN" alt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Review:</a:t>
            </a:r>
            <a:r>
              <a:rPr kumimoji="1" lang="zh-CN" altLang="en-US" dirty="0"/>
              <a:t> </a:t>
            </a:r>
            <a:r>
              <a:rPr kumimoji="1" lang="en-US" altLang="zh-CN" dirty="0"/>
              <a:t>Two</a:t>
            </a:r>
            <a:r>
              <a:rPr kumimoji="1" lang="zh-CN" altLang="en-US" dirty="0"/>
              <a:t> </a:t>
            </a:r>
            <a:r>
              <a:rPr kumimoji="1" lang="en-US" altLang="zh-CN" dirty="0"/>
              <a:t>Types</a:t>
            </a:r>
            <a:r>
              <a:rPr kumimoji="1" lang="zh-CN" altLang="en-US" dirty="0"/>
              <a:t> </a:t>
            </a:r>
            <a:r>
              <a:rPr kumimoji="1" lang="en-US" altLang="zh-CN" dirty="0"/>
              <a:t>of</a:t>
            </a:r>
            <a:r>
              <a:rPr kumimoji="1" lang="zh-CN" altLang="en-US" dirty="0"/>
              <a:t> </a:t>
            </a:r>
            <a:r>
              <a:rPr kumimoji="1" lang="en-US" altLang="zh-CN" dirty="0"/>
              <a:t>Encryption</a:t>
            </a:r>
            <a:endParaRPr kumimoji="1" lang="zh-CN" altLang="en-US" dirty="0"/>
          </a:p>
        </p:txBody>
      </p:sp>
      <p:sp>
        <p:nvSpPr>
          <p:cNvPr id="3" name="内容占位符 2"/>
          <p:cNvSpPr>
            <a:spLocks noGrp="1"/>
          </p:cNvSpPr>
          <p:nvPr>
            <p:ph idx="1"/>
          </p:nvPr>
        </p:nvSpPr>
        <p:spPr/>
        <p:txBody>
          <a:bodyPr>
            <a:normAutofit/>
          </a:bodyPr>
          <a:lstStyle/>
          <a:p>
            <a:r>
              <a:rPr kumimoji="1" lang="en-GB" altLang="zh-CN" dirty="0"/>
              <a:t>Symmetric encryption</a:t>
            </a:r>
            <a:endParaRPr kumimoji="1" lang="en-GB" altLang="zh-CN" dirty="0"/>
          </a:p>
          <a:p>
            <a:pPr lvl="1"/>
            <a:r>
              <a:rPr kumimoji="1" lang="en-GB" altLang="zh-CN" dirty="0"/>
              <a:t>Single key (symmetric) is shared between parties, kept secret from everyone else</a:t>
            </a:r>
            <a:endParaRPr kumimoji="1" lang="en-GB" altLang="zh-CN" dirty="0"/>
          </a:p>
          <a:p>
            <a:pPr lvl="1"/>
            <a:r>
              <a:rPr kumimoji="1" lang="en-GB" altLang="zh-CN" dirty="0"/>
              <a:t>Ciphertext = (M)^K </a:t>
            </a:r>
            <a:endParaRPr kumimoji="1" lang="en-GB" altLang="zh-CN" dirty="0"/>
          </a:p>
          <a:p>
            <a:r>
              <a:rPr kumimoji="1" lang="en-US" altLang="zh-CN" dirty="0"/>
              <a:t>As</a:t>
            </a:r>
            <a:r>
              <a:rPr kumimoji="1" lang="en-GB" altLang="zh-CN" dirty="0" err="1"/>
              <a:t>ymmetric</a:t>
            </a:r>
            <a:r>
              <a:rPr kumimoji="1" lang="en-GB" altLang="zh-CN" dirty="0"/>
              <a:t> encryption</a:t>
            </a:r>
            <a:endParaRPr kumimoji="1" lang="en-GB" altLang="zh-CN" dirty="0"/>
          </a:p>
          <a:p>
            <a:pPr lvl="1"/>
            <a:r>
              <a:rPr kumimoji="1" lang="en-GB" altLang="zh-CN" dirty="0"/>
              <a:t>Keys come in pairs, public and private</a:t>
            </a:r>
            <a:endParaRPr kumimoji="1" lang="en-GB" altLang="zh-CN" dirty="0"/>
          </a:p>
          <a:p>
            <a:pPr lvl="1"/>
            <a:r>
              <a:rPr kumimoji="1" lang="en-GB" altLang="zh-CN" dirty="0"/>
              <a:t>Secret: (M)^K-public</a:t>
            </a:r>
            <a:endParaRPr kumimoji="1" lang="en-GB" altLang="zh-CN" dirty="0"/>
          </a:p>
          <a:p>
            <a:pPr lvl="1"/>
            <a:r>
              <a:rPr kumimoji="1" lang="en-GB" altLang="zh-CN" dirty="0"/>
              <a:t>Authentic: (M)^K-private</a:t>
            </a:r>
            <a:endParaRPr kumimoji="1"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Questions</a:t>
            </a:r>
            <a:r>
              <a:rPr kumimoji="1" lang="zh-CN" altLang="en-US" dirty="0"/>
              <a:t> </a:t>
            </a:r>
            <a:r>
              <a:rPr kumimoji="1" lang="en-US" altLang="zh-CN" dirty="0"/>
              <a:t>on</a:t>
            </a:r>
            <a:r>
              <a:rPr kumimoji="1" lang="zh-CN" altLang="en-US" dirty="0"/>
              <a:t> </a:t>
            </a:r>
            <a:r>
              <a:rPr kumimoji="1" lang="en-US" altLang="zh-CN" dirty="0"/>
              <a:t>Certificate Authorities</a:t>
            </a:r>
            <a:endParaRPr kumimoji="1" lang="zh-CN" altLang="en-US" dirty="0"/>
          </a:p>
        </p:txBody>
      </p:sp>
      <p:sp>
        <p:nvSpPr>
          <p:cNvPr id="3" name="内容占位符 2"/>
          <p:cNvSpPr>
            <a:spLocks noGrp="1"/>
          </p:cNvSpPr>
          <p:nvPr>
            <p:ph idx="1"/>
          </p:nvPr>
        </p:nvSpPr>
        <p:spPr>
          <a:xfrm>
            <a:off x="457200" y="1333500"/>
            <a:ext cx="8229600" cy="4260303"/>
          </a:xfrm>
        </p:spPr>
        <p:txBody>
          <a:bodyPr>
            <a:noAutofit/>
          </a:bodyPr>
          <a:lstStyle/>
          <a:p>
            <a:pPr>
              <a:lnSpc>
                <a:spcPct val="100000"/>
              </a:lnSpc>
            </a:pPr>
            <a:r>
              <a:rPr kumimoji="1" lang="en-US" altLang="zh-CN" sz="1800" b="1" dirty="0"/>
              <a:t>Who should run the certificate authority?</a:t>
            </a:r>
            <a:endParaRPr kumimoji="1" lang="zh-CN" altLang="en-US" sz="1800" b="1" dirty="0"/>
          </a:p>
          <a:p>
            <a:pPr>
              <a:lnSpc>
                <a:spcPct val="100000"/>
              </a:lnSpc>
            </a:pPr>
            <a:r>
              <a:rPr kumimoji="1" lang="en-US" altLang="zh-CN" sz="1800" b="1" dirty="0"/>
              <a:t>How does the browser get this list of CAs?       </a:t>
            </a:r>
            <a:endParaRPr kumimoji="1" lang="zh-CN" altLang="en-US" sz="1800" b="1" dirty="0"/>
          </a:p>
          <a:p>
            <a:pPr lvl="1">
              <a:lnSpc>
                <a:spcPct val="100000"/>
              </a:lnSpc>
            </a:pPr>
            <a:r>
              <a:rPr kumimoji="1" lang="en-US" altLang="zh-CN" sz="1600" dirty="0"/>
              <a:t>Generally they come with the browser     </a:t>
            </a:r>
            <a:endParaRPr kumimoji="1" lang="zh-CN" altLang="en-US" sz="1600" dirty="0"/>
          </a:p>
          <a:p>
            <a:pPr>
              <a:lnSpc>
                <a:spcPct val="100000"/>
              </a:lnSpc>
            </a:pPr>
            <a:r>
              <a:rPr kumimoji="1" lang="en-US" altLang="zh-CN" sz="1800" b="1" dirty="0"/>
              <a:t>How does the CA build its table of names &lt;-&gt; public keys?      </a:t>
            </a:r>
            <a:endParaRPr kumimoji="1" lang="zh-CN" altLang="en-US" sz="1800" b="1" dirty="0"/>
          </a:p>
          <a:p>
            <a:pPr lvl="1">
              <a:lnSpc>
                <a:spcPct val="100000"/>
              </a:lnSpc>
            </a:pPr>
            <a:r>
              <a:rPr kumimoji="1" lang="en-US" altLang="zh-CN" sz="1600" dirty="0"/>
              <a:t>Have to agree on how to name principals, and </a:t>
            </a:r>
            <a:endParaRPr kumimoji="1" lang="zh-CN" altLang="en-US" sz="1600" dirty="0"/>
          </a:p>
          <a:p>
            <a:pPr lvl="1">
              <a:lnSpc>
                <a:spcPct val="100000"/>
              </a:lnSpc>
            </a:pPr>
            <a:r>
              <a:rPr kumimoji="1" lang="en-US" altLang="zh-CN" sz="1600" dirty="0"/>
              <a:t>Need a mechanism</a:t>
            </a:r>
            <a:r>
              <a:rPr kumimoji="1" lang="zh-CN" altLang="en-US" sz="1600" dirty="0"/>
              <a:t> </a:t>
            </a:r>
            <a:r>
              <a:rPr kumimoji="1" lang="en-US" altLang="zh-CN" sz="1600" dirty="0"/>
              <a:t>to check that a key corresponds to a name    </a:t>
            </a:r>
            <a:endParaRPr kumimoji="1" lang="zh-CN" altLang="en-US" sz="1600" dirty="0"/>
          </a:p>
          <a:p>
            <a:pPr>
              <a:lnSpc>
                <a:spcPct val="100000"/>
              </a:lnSpc>
            </a:pPr>
            <a:r>
              <a:rPr kumimoji="1" lang="en-US" altLang="zh-CN" sz="1800" b="1" dirty="0"/>
              <a:t> What if a CA makes a mistake?       </a:t>
            </a:r>
            <a:endParaRPr kumimoji="1" lang="zh-CN" altLang="en-US" sz="1800" b="1" dirty="0"/>
          </a:p>
          <a:p>
            <a:pPr lvl="1">
              <a:lnSpc>
                <a:spcPct val="100000"/>
              </a:lnSpc>
            </a:pPr>
            <a:r>
              <a:rPr kumimoji="1" lang="en-US" altLang="zh-CN" sz="1600" dirty="0"/>
              <a:t>Need a way to revoke certificates:</a:t>
            </a:r>
            <a:r>
              <a:rPr kumimoji="1" lang="zh-CN" altLang="en-US" sz="1600" dirty="0"/>
              <a:t> </a:t>
            </a:r>
            <a:r>
              <a:rPr kumimoji="1" lang="en-US" altLang="zh-CN" sz="1600" dirty="0"/>
              <a:t>Expiration date? </a:t>
            </a:r>
            <a:r>
              <a:rPr kumimoji="1" lang="zh-CN" altLang="en-US" sz="1600" dirty="0"/>
              <a:t> </a:t>
            </a:r>
            <a:r>
              <a:rPr kumimoji="1" lang="en-US" altLang="zh-CN" sz="1600" dirty="0"/>
              <a:t>Not</a:t>
            </a:r>
            <a:r>
              <a:rPr kumimoji="1" lang="zh-CN" altLang="en-US" sz="1600" dirty="0"/>
              <a:t> </a:t>
            </a:r>
            <a:r>
              <a:rPr kumimoji="1" lang="en-US" altLang="zh-CN" sz="1600" dirty="0"/>
              <a:t>useful for immediate  problems      </a:t>
            </a:r>
            <a:endParaRPr kumimoji="1" lang="zh-CN" altLang="en-US" sz="1600" dirty="0"/>
          </a:p>
          <a:p>
            <a:pPr lvl="1">
              <a:lnSpc>
                <a:spcPct val="100000"/>
              </a:lnSpc>
            </a:pPr>
            <a:r>
              <a:rPr kumimoji="1" lang="en-US" altLang="zh-CN" sz="1600" dirty="0"/>
              <a:t>Publish certificate revocation list?  Works in theory, not as well in practice</a:t>
            </a:r>
            <a:endParaRPr kumimoji="1" lang="zh-CN" altLang="en-US" sz="1600" dirty="0"/>
          </a:p>
          <a:p>
            <a:pPr lvl="1">
              <a:lnSpc>
                <a:spcPct val="100000"/>
              </a:lnSpc>
            </a:pPr>
            <a:r>
              <a:rPr kumimoji="1" lang="en-US" altLang="zh-CN" sz="1600" dirty="0"/>
              <a:t>Query online server to check certificate freshness?  Not a</a:t>
            </a:r>
            <a:r>
              <a:rPr kumimoji="1" lang="zh-CN" altLang="en-US" sz="1600" dirty="0"/>
              <a:t> </a:t>
            </a:r>
            <a:r>
              <a:rPr kumimoji="1" lang="en-US" altLang="zh-CN" sz="1600" dirty="0"/>
              <a:t>bad idea   </a:t>
            </a:r>
            <a:endParaRPr kumimoji="1" lang="zh-CN" alt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82368" y="0"/>
            <a:ext cx="7979263" cy="5715000"/>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en-US" altLang="zh-CN" dirty="0"/>
              <a:t>Privacy</a:t>
            </a:r>
            <a:endParaRPr lang="zh-CN" altLang="en-US" dirty="0"/>
          </a:p>
        </p:txBody>
      </p:sp>
      <p:sp>
        <p:nvSpPr>
          <p:cNvPr id="5" name="文本占位符 4"/>
          <p:cNvSpPr>
            <a:spLocks noGrp="1"/>
          </p:cNvSpPr>
          <p:nvPr>
            <p:ph type="body" idx="1"/>
          </p:nvPr>
        </p:nvSpPr>
        <p:spPr/>
        <p:txBody>
          <a:bodyPr/>
          <a:lstStyle/>
          <a:p>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6088" y="1149856"/>
            <a:ext cx="8229600" cy="3771636"/>
          </a:xfrm>
        </p:spPr>
        <p:txBody>
          <a:bodyPr>
            <a:noAutofit/>
          </a:bodyPr>
          <a:lstStyle/>
          <a:p>
            <a:r>
              <a:rPr lang="en-US" altLang="zh-CN" sz="2000" b="0" dirty="0"/>
              <a:t>Data can </a:t>
            </a:r>
            <a:r>
              <a:rPr lang="en-US" altLang="zh-CN" sz="2000" b="0" dirty="0">
                <a:solidFill>
                  <a:schemeClr val="accent1"/>
                </a:solidFill>
              </a:rPr>
              <a:t>be used everywhere</a:t>
            </a:r>
            <a:endParaRPr lang="en-US" altLang="zh-CN" sz="2000" b="0" dirty="0">
              <a:solidFill>
                <a:schemeClr val="accent1"/>
              </a:solidFill>
            </a:endParaRPr>
          </a:p>
          <a:p>
            <a:pPr lvl="1"/>
            <a:r>
              <a:rPr lang="en-US" altLang="zh-CN" sz="2000" dirty="0"/>
              <a:t>Risk management</a:t>
            </a:r>
            <a:endParaRPr lang="en-US" altLang="zh-CN" sz="2000" dirty="0"/>
          </a:p>
          <a:p>
            <a:pPr lvl="1"/>
            <a:r>
              <a:rPr lang="en-US" altLang="zh-CN" sz="2000" dirty="0"/>
              <a:t>Medicine</a:t>
            </a:r>
            <a:endParaRPr lang="en-US" altLang="zh-CN" sz="2000" dirty="0"/>
          </a:p>
          <a:p>
            <a:pPr lvl="1"/>
            <a:r>
              <a:rPr lang="en-US" altLang="zh-CN" sz="2000" dirty="0"/>
              <a:t>Recommended system</a:t>
            </a:r>
            <a:endParaRPr lang="en-US" altLang="zh-CN" sz="2000" dirty="0"/>
          </a:p>
          <a:p>
            <a:pPr lvl="1"/>
            <a:r>
              <a:rPr lang="en-US" altLang="zh-CN" sz="2000" dirty="0"/>
              <a:t>…</a:t>
            </a:r>
            <a:endParaRPr lang="en-US" altLang="zh-CN" sz="2000" dirty="0"/>
          </a:p>
          <a:p>
            <a:r>
              <a:rPr lang="en-US" altLang="zh-CN" sz="2000" b="0" dirty="0"/>
              <a:t>Data can </a:t>
            </a:r>
            <a:r>
              <a:rPr lang="en-US" altLang="zh-CN" sz="2000" b="0" dirty="0">
                <a:solidFill>
                  <a:srgbClr val="C00000"/>
                </a:solidFill>
              </a:rPr>
              <a:t>be stolen easily</a:t>
            </a:r>
            <a:endParaRPr lang="en-US" altLang="zh-CN" sz="2000" b="0" dirty="0">
              <a:solidFill>
                <a:srgbClr val="C00000"/>
              </a:solidFill>
            </a:endParaRPr>
          </a:p>
          <a:p>
            <a:pPr lvl="1"/>
            <a:r>
              <a:rPr lang="en-US" altLang="zh-CN" sz="2000" dirty="0"/>
              <a:t>Everyone who uses your data can steal it</a:t>
            </a:r>
            <a:endParaRPr lang="en-US" altLang="zh-CN" sz="2000" dirty="0"/>
          </a:p>
          <a:p>
            <a:endParaRPr lang="en-US" altLang="zh-CN" sz="2000" b="0" dirty="0"/>
          </a:p>
        </p:txBody>
      </p:sp>
      <p:sp>
        <p:nvSpPr>
          <p:cNvPr id="2" name="标题 1"/>
          <p:cNvSpPr>
            <a:spLocks noGrp="1"/>
          </p:cNvSpPr>
          <p:nvPr>
            <p:ph type="title"/>
          </p:nvPr>
        </p:nvSpPr>
        <p:spPr/>
        <p:txBody>
          <a:bodyPr>
            <a:normAutofit/>
          </a:bodyPr>
          <a:lstStyle/>
          <a:p>
            <a:r>
              <a:rPr lang="en-US" altLang="zh-CN" sz="3200" dirty="0"/>
              <a:t>Data Privacy</a:t>
            </a:r>
            <a:endParaRPr lang="zh-CN" altLang="en-US" sz="3200"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Data Privacy</a:t>
            </a:r>
            <a:endParaRPr lang="zh-CN" altLang="en-US" sz="3200" dirty="0"/>
          </a:p>
        </p:txBody>
      </p:sp>
      <p:sp>
        <p:nvSpPr>
          <p:cNvPr id="3" name="内容占位符 2"/>
          <p:cNvSpPr>
            <a:spLocks noGrp="1"/>
          </p:cNvSpPr>
          <p:nvPr>
            <p:ph idx="1"/>
          </p:nvPr>
        </p:nvSpPr>
        <p:spPr/>
        <p:txBody>
          <a:bodyPr>
            <a:noAutofit/>
          </a:bodyPr>
          <a:lstStyle/>
          <a:p>
            <a:r>
              <a:rPr lang="en-US" altLang="zh-CN" sz="2000" dirty="0"/>
              <a:t>What</a:t>
            </a:r>
            <a:r>
              <a:rPr lang="en-US" altLang="zh-CN" sz="2000" dirty="0">
                <a:latin typeface="+mn-lt"/>
              </a:rPr>
              <a:t>’</a:t>
            </a:r>
            <a:r>
              <a:rPr lang="en-US" altLang="zh-CN" sz="2000" dirty="0"/>
              <a:t>s the target of data privacy system?</a:t>
            </a:r>
            <a:endParaRPr lang="en-US" altLang="zh-CN" sz="2000" dirty="0"/>
          </a:p>
          <a:p>
            <a:pPr lvl="1"/>
            <a:r>
              <a:rPr lang="en-US" altLang="zh-CN" dirty="0"/>
              <a:t>Allow data </a:t>
            </a:r>
            <a:r>
              <a:rPr lang="en-US" altLang="zh-CN" b="1" dirty="0"/>
              <a:t>to be used</a:t>
            </a:r>
            <a:r>
              <a:rPr lang="en-US" altLang="zh-CN" dirty="0"/>
              <a:t>, and </a:t>
            </a:r>
            <a:r>
              <a:rPr lang="en-US" altLang="zh-CN" b="1" dirty="0">
                <a:solidFill>
                  <a:srgbClr val="C00000"/>
                </a:solidFill>
              </a:rPr>
              <a:t>protect it from being stolen</a:t>
            </a:r>
            <a:endParaRPr lang="en-US" altLang="zh-CN" b="1" dirty="0">
              <a:solidFill>
                <a:srgbClr val="C00000"/>
              </a:solidFill>
            </a:endParaRPr>
          </a:p>
          <a:p>
            <a:r>
              <a:rPr lang="en-US" altLang="zh-CN" sz="2000" dirty="0"/>
              <a:t>Today's</a:t>
            </a:r>
            <a:r>
              <a:rPr lang="zh-CN" altLang="en-US" sz="2000" dirty="0"/>
              <a:t> </a:t>
            </a:r>
            <a:r>
              <a:rPr lang="en-US" altLang="zh-CN" sz="2000" dirty="0"/>
              <a:t>contents</a:t>
            </a:r>
            <a:endParaRPr lang="en-US" altLang="zh-CN" sz="2000" dirty="0"/>
          </a:p>
          <a:p>
            <a:pPr lvl="1"/>
            <a:r>
              <a:rPr lang="en-US" altLang="zh-CN" dirty="0"/>
              <a:t>Basic data privacy method </a:t>
            </a:r>
            <a:endParaRPr lang="en-US" altLang="zh-CN" dirty="0"/>
          </a:p>
          <a:p>
            <a:pPr lvl="2"/>
            <a:r>
              <a:rPr lang="en-US" altLang="zh-CN" sz="1600" dirty="0"/>
              <a:t>ZKP, OT, HE, </a:t>
            </a:r>
            <a:r>
              <a:rPr lang="en-US" altLang="zh-CN" sz="1600" dirty="0" err="1"/>
              <a:t>sMPC</a:t>
            </a:r>
            <a:r>
              <a:rPr lang="en-US" altLang="zh-CN" sz="1600" dirty="0"/>
              <a:t>, TEE, DP</a:t>
            </a:r>
            <a:endParaRPr lang="en-US" altLang="zh-CN" sz="1600" dirty="0"/>
          </a:p>
          <a:p>
            <a:pPr lvl="1"/>
            <a:r>
              <a:rPr lang="en-US" altLang="zh-CN" dirty="0"/>
              <a:t>Systems which try to enforce data privacy</a:t>
            </a:r>
            <a:endParaRPr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sz="3200" dirty="0"/>
              <a:t>Common Attacks</a:t>
            </a:r>
            <a:endParaRPr kumimoji="1" lang="zh-CN" altLang="en-US" sz="3200" dirty="0"/>
          </a:p>
        </p:txBody>
      </p:sp>
      <p:sp>
        <p:nvSpPr>
          <p:cNvPr id="3" name="内容占位符 2"/>
          <p:cNvSpPr>
            <a:spLocks noGrp="1"/>
          </p:cNvSpPr>
          <p:nvPr>
            <p:ph idx="1"/>
          </p:nvPr>
        </p:nvSpPr>
        <p:spPr>
          <a:xfrm>
            <a:off x="332609" y="1129308"/>
            <a:ext cx="8478782" cy="3672408"/>
          </a:xfrm>
        </p:spPr>
        <p:txBody>
          <a:bodyPr>
            <a:normAutofit/>
          </a:bodyPr>
          <a:lstStyle/>
          <a:p>
            <a:pPr marL="0" indent="0">
              <a:buNone/>
            </a:pPr>
            <a:r>
              <a:rPr kumimoji="1" lang="en-US" altLang="zh-CN" sz="1800" b="0" dirty="0"/>
              <a:t>An adversary may learn about data:</a:t>
            </a:r>
            <a:endParaRPr kumimoji="1" lang="en-US" altLang="zh-CN" sz="1800" b="0" dirty="0"/>
          </a:p>
          <a:p>
            <a:r>
              <a:rPr kumimoji="1" lang="en-US" altLang="zh-CN" sz="1800" b="0" dirty="0"/>
              <a:t>From ciphertext (</a:t>
            </a:r>
            <a:r>
              <a:rPr kumimoji="1" lang="en-US" altLang="zh-CN" sz="1800" b="0" dirty="0">
                <a:solidFill>
                  <a:srgbClr val="BE384B"/>
                </a:solidFill>
              </a:rPr>
              <a:t>ciphertext representation-based attack, e.g., order of values</a:t>
            </a:r>
            <a:r>
              <a:rPr kumimoji="1" lang="en-US" altLang="zh-CN" sz="1800" b="0" dirty="0"/>
              <a:t>)</a:t>
            </a:r>
            <a:endParaRPr kumimoji="1" lang="en-US" altLang="zh-CN" sz="1800" b="0" dirty="0"/>
          </a:p>
          <a:p>
            <a:r>
              <a:rPr kumimoji="1" lang="en-US" altLang="zh-CN" sz="1800" b="0" dirty="0"/>
              <a:t>From prior knowledge of data distribution (</a:t>
            </a:r>
            <a:r>
              <a:rPr kumimoji="1" lang="en-US" altLang="zh-CN" sz="1800" b="0" dirty="0">
                <a:solidFill>
                  <a:srgbClr val="BE384B"/>
                </a:solidFill>
              </a:rPr>
              <a:t>frequency-count attack</a:t>
            </a:r>
            <a:r>
              <a:rPr kumimoji="1" lang="en-US" altLang="zh-CN" sz="1800" b="0" dirty="0"/>
              <a:t>)</a:t>
            </a:r>
            <a:endParaRPr kumimoji="1" lang="en-US" altLang="zh-CN" sz="1800" b="0" dirty="0"/>
          </a:p>
          <a:p>
            <a:r>
              <a:rPr kumimoji="1" lang="en-US" altLang="zh-CN" sz="1800" b="0" dirty="0"/>
              <a:t>From knowledge of frequency of queries (</a:t>
            </a:r>
            <a:r>
              <a:rPr kumimoji="1" lang="en-US" altLang="zh-CN" sz="1800" b="0" dirty="0">
                <a:solidFill>
                  <a:srgbClr val="C00000"/>
                </a:solidFill>
              </a:rPr>
              <a:t>workload-skew attack</a:t>
            </a:r>
            <a:r>
              <a:rPr kumimoji="1" lang="en-US" altLang="zh-CN" sz="1800" b="0" dirty="0"/>
              <a:t>)</a:t>
            </a:r>
            <a:endParaRPr kumimoji="1" lang="en-US" altLang="zh-CN" sz="1800" b="0" dirty="0"/>
          </a:p>
          <a:p>
            <a:r>
              <a:rPr kumimoji="1" lang="en-US" altLang="zh-CN" sz="1800" b="0" dirty="0"/>
              <a:t>From the size of the output to a query (</a:t>
            </a:r>
            <a:r>
              <a:rPr kumimoji="1" lang="en-US" altLang="zh-CN" sz="1800" b="0" dirty="0">
                <a:solidFill>
                  <a:srgbClr val="C00000"/>
                </a:solidFill>
              </a:rPr>
              <a:t>output-size attack</a:t>
            </a:r>
            <a:r>
              <a:rPr kumimoji="1" lang="en-US" altLang="zh-CN" sz="1800" b="0" dirty="0"/>
              <a:t>)</a:t>
            </a:r>
            <a:endParaRPr kumimoji="1" lang="en-US" altLang="zh-CN" sz="1800" b="0" dirty="0"/>
          </a:p>
          <a:p>
            <a:r>
              <a:rPr kumimoji="1" lang="en-US" altLang="zh-CN" sz="1800" b="0" dirty="0"/>
              <a:t>From the access pattern used by the mechanism in answering a query (</a:t>
            </a:r>
            <a:r>
              <a:rPr kumimoji="1" lang="en-US" altLang="zh-CN" sz="1800" b="0" dirty="0">
                <a:solidFill>
                  <a:srgbClr val="C00000"/>
                </a:solidFill>
              </a:rPr>
              <a:t>access-pattern attack</a:t>
            </a:r>
            <a:r>
              <a:rPr kumimoji="1" lang="en-US" altLang="zh-CN" sz="1800" b="0" dirty="0"/>
              <a:t>)</a:t>
            </a:r>
            <a:endParaRPr kumimoji="1" lang="en-US" altLang="zh-CN" sz="1800" b="0" dirty="0"/>
          </a:p>
          <a:p>
            <a:r>
              <a:rPr kumimoji="1" lang="en-US" altLang="zh-CN" sz="1800" b="0" dirty="0"/>
              <a:t>From knowledge of queries that have executed (</a:t>
            </a:r>
            <a:r>
              <a:rPr kumimoji="1" lang="en-US" altLang="zh-CN" sz="1800" b="0" dirty="0">
                <a:solidFill>
                  <a:srgbClr val="C00000"/>
                </a:solidFill>
              </a:rPr>
              <a:t>search-pattern attack</a:t>
            </a:r>
            <a:r>
              <a:rPr kumimoji="1" lang="en-US" altLang="zh-CN" sz="1800" b="0" dirty="0"/>
              <a:t>)</a:t>
            </a:r>
            <a:endParaRPr kumimoji="1" lang="en-GB" altLang="zh-CN" sz="1200" b="0"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5" name="矩形 4"/>
          <p:cNvSpPr/>
          <p:nvPr/>
        </p:nvSpPr>
        <p:spPr>
          <a:xfrm>
            <a:off x="438946" y="4945732"/>
            <a:ext cx="4609491" cy="369332"/>
          </a:xfrm>
          <a:prstGeom prst="rect">
            <a:avLst/>
          </a:prstGeom>
        </p:spPr>
        <p:txBody>
          <a:bodyPr wrap="square">
            <a:spAutoFit/>
          </a:bodyPr>
          <a:lstStyle/>
          <a:p>
            <a:r>
              <a:rPr kumimoji="1" lang="en-US" altLang="zh-CN" dirty="0">
                <a:solidFill>
                  <a:srgbClr val="BE384B"/>
                </a:solidFill>
                <a:latin typeface="Arial" panose="020B0604020202020204" pitchFamily="34" charset="0"/>
                <a:cs typeface="Arial" panose="020B0604020202020204" pitchFamily="34" charset="0"/>
              </a:rPr>
              <a:t>Mix with adversarial background knowledge</a:t>
            </a:r>
            <a:endParaRPr lang="zh-CN" altLang="en-US" dirty="0">
              <a:latin typeface="Arial" panose="020B0604020202020204" pitchFamily="34" charset="0"/>
              <a:cs typeface="Arial" panose="020B0604020202020204" pitchFamily="34" charset="0"/>
            </a:endParaRPr>
          </a:p>
        </p:txBody>
      </p:sp>
      <p:sp>
        <p:nvSpPr>
          <p:cNvPr id="7" name="箭头: 右 6"/>
          <p:cNvSpPr/>
          <p:nvPr/>
        </p:nvSpPr>
        <p:spPr>
          <a:xfrm>
            <a:off x="5102933" y="4990788"/>
            <a:ext cx="576064" cy="279220"/>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8" name="矩形 7"/>
          <p:cNvSpPr/>
          <p:nvPr/>
        </p:nvSpPr>
        <p:spPr>
          <a:xfrm>
            <a:off x="5733493" y="4945732"/>
            <a:ext cx="3014971" cy="369332"/>
          </a:xfrm>
          <a:prstGeom prst="rect">
            <a:avLst/>
          </a:prstGeom>
        </p:spPr>
        <p:txBody>
          <a:bodyPr wrap="square">
            <a:spAutoFit/>
          </a:bodyPr>
          <a:lstStyle/>
          <a:p>
            <a:r>
              <a:rPr kumimoji="1" lang="en-US" altLang="zh-CN" dirty="0">
                <a:solidFill>
                  <a:srgbClr val="BE384B"/>
                </a:solidFill>
                <a:latin typeface="Arial" panose="020B0604020202020204" pitchFamily="34" charset="0"/>
                <a:cs typeface="Arial" panose="020B0604020202020204" pitchFamily="34" charset="0"/>
              </a:rPr>
              <a:t>Data Privacy compromised!! </a:t>
            </a:r>
            <a:endParaRPr lang="zh-CN" altLang="en-US" dirty="0">
              <a:latin typeface="Arial" panose="020B0604020202020204" pitchFamily="34" charset="0"/>
              <a:cs typeface="Arial" panose="020B0604020202020204" pitchFamily="3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OT</a:t>
            </a:r>
            <a:endParaRPr lang="zh-CN" altLang="en-US" dirty="0"/>
          </a:p>
        </p:txBody>
      </p:sp>
      <p:sp>
        <p:nvSpPr>
          <p:cNvPr id="5" name="文本占位符 4"/>
          <p:cNvSpPr>
            <a:spLocks noGrp="1"/>
          </p:cNvSpPr>
          <p:nvPr>
            <p:ph type="body" idx="1"/>
          </p:nvPr>
        </p:nvSpPr>
        <p:spPr/>
        <p:txBody>
          <a:bodyPr/>
          <a:lstStyle/>
          <a:p>
            <a:r>
              <a:rPr lang="en-US" altLang="zh-CN" dirty="0"/>
              <a:t>Oblivious</a:t>
            </a:r>
            <a:r>
              <a:rPr lang="zh-CN" altLang="en-US" dirty="0"/>
              <a:t> </a:t>
            </a:r>
            <a:r>
              <a:rPr lang="en-US" altLang="zh-CN" dirty="0"/>
              <a:t>Transfer</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normAutofit/>
          </a:bodyPr>
          <a:lstStyle/>
          <a:p>
            <a:r>
              <a:rPr kumimoji="1" lang="en-US" altLang="zh-CN" sz="3200" dirty="0"/>
              <a:t>Problem</a:t>
            </a:r>
            <a:endParaRPr kumimoji="1" lang="zh-CN" altLang="en-US" sz="3200" dirty="0"/>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50745" y="2353444"/>
            <a:ext cx="720000" cy="720000"/>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9116" y="2353444"/>
            <a:ext cx="720000" cy="720000"/>
          </a:xfrm>
          <a:prstGeom prst="rect">
            <a:avLst/>
          </a:prstGeom>
        </p:spPr>
      </p:pic>
      <p:sp>
        <p:nvSpPr>
          <p:cNvPr id="9" name="对话气泡: 椭圆形 8"/>
          <p:cNvSpPr/>
          <p:nvPr/>
        </p:nvSpPr>
        <p:spPr>
          <a:xfrm>
            <a:off x="179512" y="1273324"/>
            <a:ext cx="2448272" cy="1224136"/>
          </a:xfrm>
          <a:prstGeom prst="wedgeEllipseCallout">
            <a:avLst>
              <a:gd name="adj1" fmla="val 65102"/>
              <a:gd name="adj2" fmla="val 5368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I have {m</a:t>
            </a:r>
            <a:r>
              <a:rPr lang="en-US" altLang="zh-CN" baseline="-25000" dirty="0"/>
              <a:t>0</a:t>
            </a:r>
            <a:r>
              <a:rPr lang="en-US" altLang="zh-CN" dirty="0"/>
              <a:t>, m</a:t>
            </a:r>
            <a:r>
              <a:rPr lang="en-US" altLang="zh-CN" baseline="-25000" dirty="0"/>
              <a:t>1</a:t>
            </a:r>
            <a:r>
              <a:rPr lang="en-US" altLang="zh-CN" dirty="0"/>
              <a:t>}</a:t>
            </a:r>
            <a:endParaRPr lang="zh-CN" altLang="en-US" dirty="0"/>
          </a:p>
        </p:txBody>
      </p:sp>
      <mc:AlternateContent xmlns:mc="http://schemas.openxmlformats.org/markup-compatibility/2006">
        <mc:Choice xmlns:a14="http://schemas.microsoft.com/office/drawing/2010/main" Requires="a14">
          <p:sp>
            <p:nvSpPr>
              <p:cNvPr id="10" name="对话气泡: 椭圆形 9"/>
              <p:cNvSpPr/>
              <p:nvPr/>
            </p:nvSpPr>
            <p:spPr>
              <a:xfrm>
                <a:off x="5868144" y="1273324"/>
                <a:ext cx="2520280" cy="1224136"/>
              </a:xfrm>
              <a:prstGeom prst="wedgeEllipseCallout">
                <a:avLst>
                  <a:gd name="adj1" fmla="val -68155"/>
                  <a:gd name="adj2" fmla="val 4814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solidFill>
                      <a:schemeClr val="tx1"/>
                    </a:solidFill>
                  </a:rPr>
                  <a:t>I want to get m</a:t>
                </a:r>
                <a14:m>
                  <m:oMath xmlns:m="http://schemas.openxmlformats.org/officeDocument/2006/math">
                    <m:r>
                      <m:rPr>
                        <m:sty m:val="p"/>
                      </m:rPr>
                      <a:rPr lang="en-US" altLang="zh-CN" baseline="-25000">
                        <a:solidFill>
                          <a:schemeClr val="tx1"/>
                        </a:solidFill>
                        <a:latin typeface="Cambria Math" panose="02040503050406030204" pitchFamily="18" charset="0"/>
                        <a:ea typeface="Cambria Math" panose="02040503050406030204" pitchFamily="18" charset="0"/>
                      </a:rPr>
                      <m:t>σ</m:t>
                    </m:r>
                  </m:oMath>
                </a14:m>
                <a:endParaRPr kumimoji="1" lang="zh-CN" altLang="en-US" baseline="-25000" dirty="0">
                  <a:solidFill>
                    <a:schemeClr val="tx1"/>
                  </a:solidFill>
                </a:endParaRPr>
              </a:p>
            </p:txBody>
          </p:sp>
        </mc:Choice>
        <mc:Fallback>
          <p:sp>
            <p:nvSpPr>
              <p:cNvPr id="10" name="对话气泡: 椭圆形 9"/>
              <p:cNvSpPr>
                <a:spLocks noRot="1" noChangeAspect="1" noMove="1" noResize="1" noEditPoints="1" noAdjustHandles="1" noChangeArrowheads="1" noChangeShapeType="1" noTextEdit="1"/>
              </p:cNvSpPr>
              <p:nvPr/>
            </p:nvSpPr>
            <p:spPr>
              <a:xfrm>
                <a:off x="5868144" y="1273324"/>
                <a:ext cx="2520280" cy="1224136"/>
              </a:xfrm>
              <a:prstGeom prst="wedgeEllipseCallout">
                <a:avLst>
                  <a:gd name="adj1" fmla="val -68155"/>
                  <a:gd name="adj2" fmla="val 48149"/>
                </a:avLst>
              </a:prstGeom>
              <a:blipFill rotWithShape="1">
                <a:blip r:embed="rId3"/>
                <a:stretch>
                  <a:fillRect l="-18674" t="-1102" r="-501" b="-985"/>
                </a:stretch>
              </a:blipFill>
            </p:spPr>
            <p:style>
              <a:lnRef idx="2">
                <a:schemeClr val="accent6"/>
              </a:lnRef>
              <a:fillRef idx="1">
                <a:schemeClr val="lt1"/>
              </a:fillRef>
              <a:effectRef idx="0">
                <a:schemeClr val="accent6"/>
              </a:effectRef>
              <a:fontRef idx="minor">
                <a:schemeClr val="dk1"/>
              </a:fontRef>
            </p:style>
            <p:txBody>
              <a:bodyPr/>
              <a:lstStyle/>
              <a:p>
                <a:r>
                  <a:rPr lang="zh-CN" altLang="en-US">
                    <a:noFill/>
                  </a:rPr>
                  <a:t> </a:t>
                </a:r>
              </a:p>
            </p:txBody>
          </p:sp>
        </mc:Fallback>
      </mc:AlternateContent>
      <p:sp>
        <p:nvSpPr>
          <p:cNvPr id="11" name="内容占位符 2"/>
          <p:cNvSpPr txBox="1"/>
          <p:nvPr/>
        </p:nvSpPr>
        <p:spPr>
          <a:xfrm>
            <a:off x="2850745" y="2946838"/>
            <a:ext cx="720000"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Alice</a:t>
            </a:r>
            <a:endParaRPr kumimoji="1" lang="en-GB" altLang="zh-CN" sz="1800" dirty="0">
              <a:latin typeface="+mn-lt"/>
            </a:endParaRPr>
          </a:p>
        </p:txBody>
      </p:sp>
      <p:sp>
        <p:nvSpPr>
          <p:cNvPr id="12" name="内容占位符 2"/>
          <p:cNvSpPr txBox="1"/>
          <p:nvPr/>
        </p:nvSpPr>
        <p:spPr>
          <a:xfrm>
            <a:off x="4799116" y="2935330"/>
            <a:ext cx="720080"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Bob</a:t>
            </a:r>
            <a:endParaRPr kumimoji="1" lang="en-GB" altLang="zh-CN" sz="1800" dirty="0">
              <a:latin typeface="+mn-lt"/>
            </a:endParaRPr>
          </a:p>
        </p:txBody>
      </p:sp>
      <mc:AlternateContent xmlns:mc="http://schemas.openxmlformats.org/markup-compatibility/2006">
        <mc:Choice xmlns:a14="http://schemas.microsoft.com/office/drawing/2010/main" Requires="a14">
          <p:sp>
            <p:nvSpPr>
              <p:cNvPr id="13" name="内容占位符 2"/>
              <p:cNvSpPr txBox="1"/>
              <p:nvPr/>
            </p:nvSpPr>
            <p:spPr>
              <a:xfrm>
                <a:off x="457200" y="3658037"/>
                <a:ext cx="8229600" cy="1467716"/>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000" dirty="0">
                    <a:solidFill>
                      <a:schemeClr val="tx1"/>
                    </a:solidFill>
                    <a:latin typeface="+mn-lt"/>
                  </a:rPr>
                  <a:t>Alice has </a:t>
                </a:r>
                <a:r>
                  <a:rPr kumimoji="1" lang="en-US" altLang="zh-CN" sz="2000" dirty="0">
                    <a:solidFill>
                      <a:schemeClr val="tx1"/>
                    </a:solidFill>
                    <a:latin typeface="+mn-lt"/>
                  </a:rPr>
                  <a:t>{m</a:t>
                </a:r>
                <a:r>
                  <a:rPr kumimoji="1" lang="en-US" altLang="zh-CN" sz="2000" baseline="-25000" dirty="0">
                    <a:solidFill>
                      <a:schemeClr val="tx1"/>
                    </a:solidFill>
                    <a:latin typeface="+mn-lt"/>
                  </a:rPr>
                  <a:t>0</a:t>
                </a:r>
                <a:r>
                  <a:rPr kumimoji="1" lang="en-US" altLang="zh-CN" sz="2000" dirty="0">
                    <a:solidFill>
                      <a:schemeClr val="tx1"/>
                    </a:solidFill>
                    <a:latin typeface="+mn-lt"/>
                  </a:rPr>
                  <a:t>, m</a:t>
                </a:r>
                <a:r>
                  <a:rPr kumimoji="1" lang="en-US" altLang="zh-CN" sz="2000" baseline="-25000" dirty="0">
                    <a:solidFill>
                      <a:schemeClr val="tx1"/>
                    </a:solidFill>
                    <a:latin typeface="+mn-lt"/>
                  </a:rPr>
                  <a:t>1</a:t>
                </a:r>
                <a:r>
                  <a:rPr kumimoji="1" lang="en-US" altLang="zh-CN" sz="2000" dirty="0">
                    <a:solidFill>
                      <a:schemeClr val="tx1"/>
                    </a:solidFill>
                    <a:latin typeface="+mn-lt"/>
                  </a:rPr>
                  <a:t>}</a:t>
                </a:r>
                <a:r>
                  <a:rPr kumimoji="1" lang="en-US" altLang="zh-CN" sz="2000" i="1" dirty="0">
                    <a:solidFill>
                      <a:schemeClr val="tx1"/>
                    </a:solidFill>
                    <a:latin typeface="+mn-lt"/>
                  </a:rPr>
                  <a:t>  </a:t>
                </a:r>
                <a:r>
                  <a:rPr kumimoji="1" lang="en-US" altLang="zh-CN" sz="2000" dirty="0">
                    <a:solidFill>
                      <a:schemeClr val="tx1"/>
                    </a:solidFill>
                    <a:latin typeface="+mn-lt"/>
                  </a:rPr>
                  <a:t>and </a:t>
                </a:r>
                <a:r>
                  <a:rPr lang="en-US" altLang="zh-CN" sz="2000" dirty="0">
                    <a:solidFill>
                      <a:schemeClr val="tx1"/>
                    </a:solidFill>
                    <a:latin typeface="+mn-lt"/>
                  </a:rPr>
                  <a:t>Bob wants to get </a:t>
                </a:r>
                <a:r>
                  <a:rPr kumimoji="1" lang="en-US" altLang="zh-CN" sz="2000" dirty="0">
                    <a:solidFill>
                      <a:schemeClr val="tx1"/>
                    </a:solidFill>
                  </a:rPr>
                  <a:t>m</a:t>
                </a:r>
                <a14:m>
                  <m:oMath xmlns:m="http://schemas.openxmlformats.org/officeDocument/2006/math">
                    <m:r>
                      <m:rPr>
                        <m:sty m:val="p"/>
                      </m:rPr>
                      <a:rPr lang="en-US" altLang="zh-CN" sz="2000" baseline="-25000" smtClean="0">
                        <a:solidFill>
                          <a:schemeClr val="tx1"/>
                        </a:solidFill>
                        <a:latin typeface="Cambria Math" panose="02040503050406030204" pitchFamily="18" charset="0"/>
                        <a:ea typeface="Cambria Math" panose="02040503050406030204" pitchFamily="18" charset="0"/>
                      </a:rPr>
                      <m:t>σ</m:t>
                    </m:r>
                  </m:oMath>
                </a14:m>
                <a:r>
                  <a:rPr kumimoji="1" lang="zh-CN" altLang="en-US" sz="2000" dirty="0">
                    <a:solidFill>
                      <a:schemeClr val="tx1"/>
                    </a:solidFill>
                  </a:rPr>
                  <a:t> </a:t>
                </a:r>
                <a:r>
                  <a:rPr kumimoji="1" lang="en-US" altLang="zh-CN" sz="2000" dirty="0">
                    <a:solidFill>
                      <a:schemeClr val="tx1"/>
                    </a:solidFill>
                    <a:latin typeface="+mn-lt"/>
                  </a:rPr>
                  <a:t>,</a:t>
                </a:r>
                <a14:m>
                  <m:oMath xmlns:m="http://schemas.openxmlformats.org/officeDocument/2006/math">
                    <m:r>
                      <m:rPr>
                        <m:sty m:val="p"/>
                      </m:rPr>
                      <a:rPr lang="en-US" altLang="zh-CN" sz="2000">
                        <a:solidFill>
                          <a:schemeClr val="tx1"/>
                        </a:solidFill>
                        <a:latin typeface="Cambria Math" panose="02040503050406030204" pitchFamily="18" charset="0"/>
                        <a:ea typeface="Cambria Math" panose="02040503050406030204" pitchFamily="18" charset="0"/>
                      </a:rPr>
                      <m:t>σ</m:t>
                    </m:r>
                  </m:oMath>
                </a14:m>
                <a:r>
                  <a:rPr kumimoji="1" lang="zh-CN" altLang="en-US" sz="1600" dirty="0">
                    <a:solidFill>
                      <a:schemeClr val="tx1"/>
                    </a:solidFill>
                    <a:latin typeface="+mn-lt"/>
                  </a:rPr>
                  <a:t>∈</a:t>
                </a:r>
                <a:r>
                  <a:rPr kumimoji="1" lang="en-US" altLang="zh-CN" sz="2000" dirty="0">
                    <a:solidFill>
                      <a:schemeClr val="tx1"/>
                    </a:solidFill>
                    <a:latin typeface="+mn-lt"/>
                  </a:rPr>
                  <a:t>{0,1}</a:t>
                </a:r>
                <a:endParaRPr kumimoji="1" lang="en-US" altLang="zh-CN" sz="2000" dirty="0">
                  <a:solidFill>
                    <a:schemeClr val="tx1"/>
                  </a:solidFill>
                  <a:latin typeface="+mn-lt"/>
                </a:endParaRPr>
              </a:p>
              <a:p>
                <a:r>
                  <a:rPr lang="en-US" altLang="zh-CN" sz="1800" dirty="0">
                    <a:solidFill>
                      <a:schemeClr val="tx1"/>
                    </a:solidFill>
                    <a:latin typeface="+mn-lt"/>
                  </a:rPr>
                  <a:t>Alice may know the </a:t>
                </a:r>
                <a:r>
                  <a:rPr kumimoji="1" lang="en-US" altLang="zh-CN" sz="1800" b="1" dirty="0">
                    <a:solidFill>
                      <a:schemeClr val="tx1"/>
                    </a:solidFill>
                    <a:latin typeface="+mn-lt"/>
                  </a:rPr>
                  <a:t>m</a:t>
                </a:r>
                <a14:m>
                  <m:oMath xmlns:m="http://schemas.openxmlformats.org/officeDocument/2006/math">
                    <m:r>
                      <a:rPr lang="en-US" altLang="zh-CN" sz="1800" b="1" i="1" baseline="-25000">
                        <a:solidFill>
                          <a:schemeClr val="tx1"/>
                        </a:solidFill>
                        <a:latin typeface="Cambria Math" panose="02040503050406030204" pitchFamily="18" charset="0"/>
                        <a:ea typeface="Cambria Math" panose="02040503050406030204" pitchFamily="18" charset="0"/>
                      </a:rPr>
                      <m:t>𝛔</m:t>
                    </m:r>
                  </m:oMath>
                </a14:m>
                <a:endParaRPr lang="en-US" altLang="zh-CN" sz="1800" b="1" dirty="0">
                  <a:solidFill>
                    <a:schemeClr val="tx1"/>
                  </a:solidFill>
                  <a:latin typeface="+mn-lt"/>
                </a:endParaRPr>
              </a:p>
              <a:p>
                <a:r>
                  <a:rPr lang="en-US" altLang="zh-CN" sz="1800" dirty="0">
                    <a:solidFill>
                      <a:schemeClr val="tx1"/>
                    </a:solidFill>
                    <a:latin typeface="+mn-lt"/>
                  </a:rPr>
                  <a:t>Bob may get both </a:t>
                </a:r>
                <a:r>
                  <a:rPr kumimoji="1" lang="en-US" altLang="zh-CN" sz="1800" b="1" dirty="0">
                    <a:solidFill>
                      <a:schemeClr val="tx1"/>
                    </a:solidFill>
                    <a:latin typeface="+mn-lt"/>
                  </a:rPr>
                  <a:t>m</a:t>
                </a:r>
                <a:r>
                  <a:rPr kumimoji="1" lang="en-US" altLang="zh-CN" sz="1800" b="1" baseline="-25000" dirty="0">
                    <a:solidFill>
                      <a:schemeClr val="tx1"/>
                    </a:solidFill>
                    <a:latin typeface="+mn-lt"/>
                  </a:rPr>
                  <a:t>0</a:t>
                </a:r>
                <a:r>
                  <a:rPr kumimoji="1" lang="en-US" altLang="zh-CN" sz="1800" dirty="0">
                    <a:solidFill>
                      <a:schemeClr val="tx1"/>
                    </a:solidFill>
                    <a:latin typeface="+mn-lt"/>
                  </a:rPr>
                  <a:t> and </a:t>
                </a:r>
                <a:r>
                  <a:rPr kumimoji="1" lang="en-US" altLang="zh-CN" sz="1800" b="1" dirty="0">
                    <a:solidFill>
                      <a:schemeClr val="tx1"/>
                    </a:solidFill>
                    <a:latin typeface="+mn-lt"/>
                  </a:rPr>
                  <a:t>m</a:t>
                </a:r>
                <a:r>
                  <a:rPr kumimoji="1" lang="en-US" altLang="zh-CN" sz="1800" b="1" baseline="-25000" dirty="0">
                    <a:solidFill>
                      <a:schemeClr val="tx1"/>
                    </a:solidFill>
                    <a:latin typeface="+mn-lt"/>
                  </a:rPr>
                  <a:t>1</a:t>
                </a:r>
                <a:endParaRPr lang="en-US" altLang="zh-CN" sz="1800" b="1" dirty="0">
                  <a:solidFill>
                    <a:schemeClr val="tx1"/>
                  </a:solidFill>
                  <a:latin typeface="+mn-lt"/>
                </a:endParaRPr>
              </a:p>
            </p:txBody>
          </p:sp>
        </mc:Choice>
        <mc:Fallback>
          <p:sp>
            <p:nvSpPr>
              <p:cNvPr id="13" name="内容占位符 2"/>
              <p:cNvSpPr txBox="1">
                <a:spLocks noRot="1" noChangeAspect="1" noMove="1" noResize="1" noEditPoints="1" noAdjustHandles="1" noChangeArrowheads="1" noChangeShapeType="1" noTextEdit="1"/>
              </p:cNvSpPr>
              <p:nvPr/>
            </p:nvSpPr>
            <p:spPr>
              <a:xfrm>
                <a:off x="457200" y="3658037"/>
                <a:ext cx="8229600" cy="1467716"/>
              </a:xfrm>
              <a:prstGeom prst="rect">
                <a:avLst/>
              </a:prstGeom>
              <a:blipFill rotWithShape="1">
                <a:blip r:embed="rId4"/>
                <a:stretch>
                  <a:fillRect t="-30" b="2"/>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normAutofit/>
          </a:bodyPr>
          <a:lstStyle/>
          <a:p>
            <a:r>
              <a:rPr kumimoji="1" lang="en-US" altLang="zh-CN" sz="3200" dirty="0"/>
              <a:t>Oblivious Transfer (OT)</a:t>
            </a:r>
            <a:endParaRPr kumimoji="1" lang="zh-CN" altLang="en-US" sz="3200" dirty="0"/>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sp>
        <p:nvSpPr>
          <p:cNvPr id="14" name="内容占位符 2"/>
          <p:cNvSpPr txBox="1"/>
          <p:nvPr/>
        </p:nvSpPr>
        <p:spPr>
          <a:xfrm>
            <a:off x="427504" y="1321621"/>
            <a:ext cx="8229600" cy="4164513"/>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000" dirty="0">
                <a:latin typeface="+mn-lt"/>
              </a:rPr>
              <a:t>Introduced by Michael O. Rabin, 1981</a:t>
            </a:r>
            <a:endParaRPr lang="en-US" altLang="zh-CN" sz="2000" dirty="0">
              <a:latin typeface="+mn-lt"/>
            </a:endParaRPr>
          </a:p>
          <a:p>
            <a:r>
              <a:rPr lang="en-US" altLang="zh-CN" sz="2000" dirty="0">
                <a:latin typeface="+mn-lt"/>
              </a:rPr>
              <a:t>Scenario: message transfer</a:t>
            </a:r>
            <a:endParaRPr lang="en-US" altLang="zh-CN" sz="2000" dirty="0">
              <a:latin typeface="+mn-lt"/>
            </a:endParaRPr>
          </a:p>
          <a:p>
            <a:pPr lvl="1"/>
            <a:r>
              <a:rPr lang="en-US" altLang="zh-CN" sz="1800" dirty="0">
                <a:latin typeface="+mn-lt"/>
              </a:rPr>
              <a:t>A</a:t>
            </a:r>
            <a:r>
              <a:rPr lang="zh-CN" altLang="en-US" sz="1800" dirty="0">
                <a:latin typeface="+mn-lt"/>
              </a:rPr>
              <a:t> </a:t>
            </a:r>
            <a:r>
              <a:rPr lang="en-US" altLang="zh-CN" sz="1800" dirty="0">
                <a:latin typeface="+mn-lt"/>
              </a:rPr>
              <a:t>sender</a:t>
            </a:r>
            <a:r>
              <a:rPr lang="zh-CN" altLang="en-US" sz="1800" dirty="0">
                <a:latin typeface="+mn-lt"/>
              </a:rPr>
              <a:t> </a:t>
            </a:r>
            <a:r>
              <a:rPr lang="en-US" altLang="zh-CN" sz="1800" dirty="0">
                <a:latin typeface="+mn-lt"/>
              </a:rPr>
              <a:t>has a message list </a:t>
            </a:r>
            <a:r>
              <a:rPr kumimoji="1" lang="en-US" altLang="zh-CN" sz="1800" b="1" dirty="0">
                <a:latin typeface="+mn-lt"/>
              </a:rPr>
              <a:t>{m</a:t>
            </a:r>
            <a:r>
              <a:rPr kumimoji="1" lang="en-US" altLang="zh-CN" sz="1800" b="1" baseline="-25000" dirty="0">
                <a:latin typeface="+mn-lt"/>
              </a:rPr>
              <a:t>0</a:t>
            </a:r>
            <a:r>
              <a:rPr kumimoji="1" lang="en-US" altLang="zh-CN" sz="1800" b="1" dirty="0">
                <a:latin typeface="+mn-lt"/>
              </a:rPr>
              <a:t>, m</a:t>
            </a:r>
            <a:r>
              <a:rPr kumimoji="1" lang="en-US" altLang="zh-CN" sz="1800" b="1" baseline="-25000" dirty="0">
                <a:latin typeface="+mn-lt"/>
              </a:rPr>
              <a:t>1</a:t>
            </a:r>
            <a:r>
              <a:rPr kumimoji="1" lang="en-US" altLang="zh-CN" sz="1800" b="1" dirty="0">
                <a:latin typeface="+mn-lt"/>
              </a:rPr>
              <a:t>, … , </a:t>
            </a:r>
            <a:r>
              <a:rPr kumimoji="1" lang="en-US" altLang="zh-CN" sz="1800" b="1" dirty="0" err="1">
                <a:latin typeface="+mn-lt"/>
              </a:rPr>
              <a:t>m</a:t>
            </a:r>
            <a:r>
              <a:rPr kumimoji="1" lang="en-US" altLang="zh-CN" sz="1800" b="1" baseline="-25000" dirty="0" err="1">
                <a:latin typeface="+mn-lt"/>
              </a:rPr>
              <a:t>n</a:t>
            </a:r>
            <a:r>
              <a:rPr kumimoji="1" lang="en-US" altLang="zh-CN" sz="1800" b="1" dirty="0">
                <a:latin typeface="+mn-lt"/>
              </a:rPr>
              <a:t>}</a:t>
            </a:r>
            <a:endParaRPr kumimoji="1" lang="en-US" altLang="zh-CN" sz="1800" b="1" dirty="0">
              <a:latin typeface="+mn-lt"/>
            </a:endParaRPr>
          </a:p>
          <a:p>
            <a:pPr lvl="1"/>
            <a:r>
              <a:rPr kumimoji="1" lang="en-US" altLang="zh-CN" sz="1800" dirty="0">
                <a:latin typeface="+mn-lt"/>
              </a:rPr>
              <a:t>A receiver wants to get </a:t>
            </a:r>
            <a:r>
              <a:rPr kumimoji="1" lang="en-US" altLang="zh-CN" sz="1800" b="1" dirty="0">
                <a:latin typeface="+mn-lt"/>
              </a:rPr>
              <a:t>k</a:t>
            </a:r>
            <a:r>
              <a:rPr kumimoji="1" lang="en-US" altLang="zh-CN" sz="1800" dirty="0">
                <a:latin typeface="+mn-lt"/>
              </a:rPr>
              <a:t> target messages from sender</a:t>
            </a:r>
            <a:endParaRPr kumimoji="1" lang="en-US" altLang="zh-CN" sz="1800" dirty="0">
              <a:latin typeface="+mn-lt"/>
            </a:endParaRPr>
          </a:p>
          <a:p>
            <a:pPr lvl="1"/>
            <a:endParaRPr kumimoji="1" lang="en-US" altLang="zh-CN" sz="1800" dirty="0">
              <a:latin typeface="+mn-lt"/>
            </a:endParaRPr>
          </a:p>
          <a:p>
            <a:r>
              <a:rPr kumimoji="1" lang="en-US" altLang="zh-CN" sz="2000" dirty="0">
                <a:latin typeface="+mn-lt"/>
              </a:rPr>
              <a:t>Properties: </a:t>
            </a:r>
            <a:r>
              <a:rPr kumimoji="1" lang="en-US" altLang="zh-CN" sz="1800" dirty="0">
                <a:latin typeface="+mn-lt"/>
              </a:rPr>
              <a:t>o</a:t>
            </a:r>
            <a:r>
              <a:rPr lang="en-US" altLang="zh-CN" sz="1800" dirty="0">
                <a:latin typeface="+mn-lt"/>
              </a:rPr>
              <a:t>blivious and secure</a:t>
            </a:r>
            <a:endParaRPr lang="en-US" altLang="zh-CN" sz="1800" dirty="0">
              <a:latin typeface="+mn-lt"/>
            </a:endParaRPr>
          </a:p>
          <a:p>
            <a:pPr lvl="1"/>
            <a:r>
              <a:rPr lang="en-US" altLang="zh-CN" sz="1800" dirty="0">
                <a:latin typeface="+mn-lt"/>
              </a:rPr>
              <a:t>Oblivious: sender </a:t>
            </a:r>
            <a:r>
              <a:rPr lang="en-US" altLang="zh-CN" sz="1800" b="1" dirty="0">
                <a:latin typeface="+mn-lt"/>
              </a:rPr>
              <a:t>cannot know which messages are received</a:t>
            </a:r>
            <a:endParaRPr lang="en-US" altLang="zh-CN" sz="1800" b="1" dirty="0">
              <a:latin typeface="+mn-lt"/>
            </a:endParaRPr>
          </a:p>
          <a:p>
            <a:pPr lvl="1"/>
            <a:r>
              <a:rPr lang="en-US" altLang="zh-CN" sz="1800" dirty="0">
                <a:latin typeface="+mn-lt"/>
                <a:ea typeface="等线" panose="02010600030101010101" charset="-122"/>
              </a:rPr>
              <a:t>Secure: receiver can </a:t>
            </a:r>
            <a:r>
              <a:rPr lang="en-US" altLang="zh-CN" sz="1800" b="1" dirty="0">
                <a:latin typeface="+mn-lt"/>
                <a:ea typeface="等线" panose="02010600030101010101" charset="-122"/>
              </a:rPr>
              <a:t>only get the target messages</a:t>
            </a:r>
            <a:endParaRPr lang="en-US" altLang="zh-CN" sz="1800" b="1" dirty="0">
              <a:latin typeface="+mn-lt"/>
              <a:ea typeface="等线" panose="0201060003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normAutofit/>
          </a:bodyPr>
          <a:lstStyle/>
          <a:p>
            <a:r>
              <a:rPr kumimoji="1" lang="en-US" altLang="zh-CN" sz="3200" dirty="0"/>
              <a:t>1-out-of-2 OT</a:t>
            </a:r>
            <a:endParaRPr kumimoji="1" lang="zh-CN" altLang="en-US" sz="3200" dirty="0"/>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02594" y="2005392"/>
            <a:ext cx="720000" cy="720000"/>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5080" y="2001785"/>
            <a:ext cx="720000" cy="720000"/>
          </a:xfrm>
          <a:prstGeom prst="rect">
            <a:avLst/>
          </a:prstGeom>
        </p:spPr>
      </p:pic>
      <p:sp>
        <p:nvSpPr>
          <p:cNvPr id="9" name="对话气泡: 椭圆形 8"/>
          <p:cNvSpPr/>
          <p:nvPr/>
        </p:nvSpPr>
        <p:spPr>
          <a:xfrm>
            <a:off x="239473" y="1365848"/>
            <a:ext cx="1440160" cy="783559"/>
          </a:xfrm>
          <a:prstGeom prst="wedgeEllipseCallout">
            <a:avLst>
              <a:gd name="adj1" fmla="val 65102"/>
              <a:gd name="adj2" fmla="val 5368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{m</a:t>
            </a:r>
            <a:r>
              <a:rPr lang="en-US" altLang="zh-CN" baseline="-25000" dirty="0"/>
              <a:t>0</a:t>
            </a:r>
            <a:r>
              <a:rPr lang="en-US" altLang="zh-CN" dirty="0"/>
              <a:t>, m</a:t>
            </a:r>
            <a:r>
              <a:rPr lang="en-US" altLang="zh-CN" baseline="-25000" dirty="0"/>
              <a:t>1</a:t>
            </a:r>
            <a:r>
              <a:rPr lang="en-US" altLang="zh-CN" dirty="0"/>
              <a:t>}</a:t>
            </a:r>
            <a:endParaRPr lang="zh-CN" altLang="en-US" dirty="0"/>
          </a:p>
        </p:txBody>
      </p:sp>
      <mc:AlternateContent xmlns:mc="http://schemas.openxmlformats.org/markup-compatibility/2006">
        <mc:Choice xmlns:a14="http://schemas.microsoft.com/office/drawing/2010/main" Requires="a14">
          <p:sp>
            <p:nvSpPr>
              <p:cNvPr id="10" name="对话气泡: 椭圆形 9"/>
              <p:cNvSpPr/>
              <p:nvPr/>
            </p:nvSpPr>
            <p:spPr>
              <a:xfrm>
                <a:off x="7270092" y="1438020"/>
                <a:ext cx="1440160" cy="720000"/>
              </a:xfrm>
              <a:prstGeom prst="wedgeEllipseCallout">
                <a:avLst>
                  <a:gd name="adj1" fmla="val -68155"/>
                  <a:gd name="adj2" fmla="val 4814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solidFill>
                      <a:schemeClr val="tx1"/>
                    </a:solidFill>
                  </a:rPr>
                  <a:t>m</a:t>
                </a:r>
                <a14:m>
                  <m:oMath xmlns:m="http://schemas.openxmlformats.org/officeDocument/2006/math">
                    <m:r>
                      <m:rPr>
                        <m:sty m:val="p"/>
                      </m:rPr>
                      <a:rPr lang="en-US" altLang="zh-CN" baseline="-25000">
                        <a:solidFill>
                          <a:schemeClr val="tx1"/>
                        </a:solidFill>
                        <a:latin typeface="Cambria Math" panose="02040503050406030204" pitchFamily="18" charset="0"/>
                        <a:ea typeface="Cambria Math" panose="02040503050406030204" pitchFamily="18" charset="0"/>
                      </a:rPr>
                      <m:t>σ</m:t>
                    </m:r>
                    <m:r>
                      <a:rPr lang="en-US" altLang="zh-CN" i="1" baseline="-25000">
                        <a:solidFill>
                          <a:schemeClr val="tx1"/>
                        </a:solidFill>
                        <a:latin typeface="Cambria Math" panose="02040503050406030204" pitchFamily="18" charset="0"/>
                        <a:ea typeface="Cambria Math" panose="02040503050406030204" pitchFamily="18" charset="0"/>
                      </a:rPr>
                      <m:t> </m:t>
                    </m:r>
                  </m:oMath>
                </a14:m>
                <a:r>
                  <a:rPr kumimoji="1" lang="zh-CN" altLang="en-US" dirty="0">
                    <a:solidFill>
                      <a:schemeClr val="tx1"/>
                    </a:solidFill>
                  </a:rPr>
                  <a:t> </a:t>
                </a:r>
                <a:r>
                  <a:rPr kumimoji="1" lang="en-US" altLang="zh-CN" dirty="0">
                    <a:solidFill>
                      <a:schemeClr val="tx1"/>
                    </a:solidFill>
                  </a:rPr>
                  <a:t>=</a:t>
                </a:r>
                <a:r>
                  <a:rPr kumimoji="1" lang="zh-CN" altLang="en-US" dirty="0">
                    <a:solidFill>
                      <a:schemeClr val="tx1"/>
                    </a:solidFill>
                  </a:rPr>
                  <a:t> </a:t>
                </a:r>
                <a:r>
                  <a:rPr kumimoji="1" lang="en-US" altLang="zh-CN" dirty="0">
                    <a:solidFill>
                      <a:schemeClr val="tx1"/>
                    </a:solidFill>
                  </a:rPr>
                  <a:t>?</a:t>
                </a:r>
                <a:endParaRPr kumimoji="1" lang="zh-CN" altLang="en-US" dirty="0">
                  <a:solidFill>
                    <a:schemeClr val="tx1"/>
                  </a:solidFill>
                </a:endParaRPr>
              </a:p>
            </p:txBody>
          </p:sp>
        </mc:Choice>
        <mc:Fallback>
          <p:sp>
            <p:nvSpPr>
              <p:cNvPr id="10" name="对话气泡: 椭圆形 9"/>
              <p:cNvSpPr>
                <a:spLocks noRot="1" noChangeAspect="1" noMove="1" noResize="1" noEditPoints="1" noAdjustHandles="1" noChangeArrowheads="1" noChangeShapeType="1" noTextEdit="1"/>
              </p:cNvSpPr>
              <p:nvPr/>
            </p:nvSpPr>
            <p:spPr>
              <a:xfrm>
                <a:off x="7270092" y="1438020"/>
                <a:ext cx="1440160" cy="720000"/>
              </a:xfrm>
              <a:prstGeom prst="wedgeEllipseCallout">
                <a:avLst>
                  <a:gd name="adj1" fmla="val -68155"/>
                  <a:gd name="adj2" fmla="val 48149"/>
                </a:avLst>
              </a:prstGeom>
              <a:blipFill rotWithShape="1">
                <a:blip r:embed="rId3"/>
                <a:stretch>
                  <a:fillRect l="-19046" t="-1817" r="-885" b="-1724"/>
                </a:stretch>
              </a:blipFill>
            </p:spPr>
            <p:style>
              <a:lnRef idx="2">
                <a:schemeClr val="accent6"/>
              </a:lnRef>
              <a:fillRef idx="1">
                <a:schemeClr val="lt1"/>
              </a:fillRef>
              <a:effectRef idx="0">
                <a:schemeClr val="accent6"/>
              </a:effectRef>
              <a:fontRef idx="minor">
                <a:schemeClr val="dk1"/>
              </a:fontRef>
            </p:style>
            <p:txBody>
              <a:bodyPr/>
              <a:lstStyle/>
              <a:p>
                <a:r>
                  <a:rPr lang="zh-CN" altLang="en-US">
                    <a:noFill/>
                  </a:rPr>
                  <a:t> </a:t>
                </a:r>
              </a:p>
            </p:txBody>
          </p:sp>
        </mc:Fallback>
      </mc:AlternateContent>
      <p:sp>
        <p:nvSpPr>
          <p:cNvPr id="11" name="内容占位符 2"/>
          <p:cNvSpPr txBox="1"/>
          <p:nvPr/>
        </p:nvSpPr>
        <p:spPr>
          <a:xfrm>
            <a:off x="1902594" y="2598786"/>
            <a:ext cx="720000"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Alice</a:t>
            </a:r>
            <a:endParaRPr kumimoji="1" lang="en-GB" altLang="zh-CN" sz="1800" dirty="0">
              <a:latin typeface="+mn-lt"/>
            </a:endParaRPr>
          </a:p>
        </p:txBody>
      </p:sp>
      <p:sp>
        <p:nvSpPr>
          <p:cNvPr id="12" name="内容占位符 2"/>
          <p:cNvSpPr txBox="1"/>
          <p:nvPr/>
        </p:nvSpPr>
        <p:spPr>
          <a:xfrm>
            <a:off x="6345080" y="2583671"/>
            <a:ext cx="720080"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Bob</a:t>
            </a:r>
            <a:endParaRPr kumimoji="1" lang="en-GB" altLang="zh-CN" sz="1800" dirty="0">
              <a:latin typeface="+mn-lt"/>
            </a:endParaRPr>
          </a:p>
        </p:txBody>
      </p:sp>
      <p:sp>
        <p:nvSpPr>
          <p:cNvPr id="13" name="内容占位符 2"/>
          <p:cNvSpPr txBox="1"/>
          <p:nvPr/>
        </p:nvSpPr>
        <p:spPr>
          <a:xfrm>
            <a:off x="239473" y="941333"/>
            <a:ext cx="3250704" cy="495607"/>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000" dirty="0">
                <a:latin typeface="+mn-lt"/>
              </a:rPr>
              <a:t>Scenario: </a:t>
            </a:r>
            <a:r>
              <a:rPr lang="en-US" altLang="zh-CN" sz="2000" b="1" dirty="0">
                <a:latin typeface="+mn-lt"/>
              </a:rPr>
              <a:t>RSA encryption</a:t>
            </a:r>
            <a:endParaRPr lang="en-US" altLang="zh-CN" sz="2200" b="1" dirty="0">
              <a:latin typeface="+mn-lt"/>
            </a:endParaRPr>
          </a:p>
        </p:txBody>
      </p:sp>
      <p:sp>
        <p:nvSpPr>
          <p:cNvPr id="14" name="内容占位符 2"/>
          <p:cNvSpPr txBox="1"/>
          <p:nvPr/>
        </p:nvSpPr>
        <p:spPr>
          <a:xfrm>
            <a:off x="1111317" y="3030041"/>
            <a:ext cx="2302553" cy="7200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altLang="zh-CN" sz="1400" dirty="0">
                <a:solidFill>
                  <a:schemeClr val="tx1"/>
                </a:solidFill>
                <a:latin typeface="+mn-lt"/>
              </a:rPr>
              <a:t>Generate 2 key pairs {K0</a:t>
            </a:r>
            <a:r>
              <a:rPr lang="en-US" altLang="zh-CN" sz="1400" baseline="-25000" dirty="0">
                <a:solidFill>
                  <a:schemeClr val="tx1"/>
                </a:solidFill>
                <a:latin typeface="+mn-lt"/>
              </a:rPr>
              <a:t>pub</a:t>
            </a:r>
            <a:r>
              <a:rPr lang="en-US" altLang="zh-CN" sz="1400" dirty="0">
                <a:solidFill>
                  <a:schemeClr val="tx1"/>
                </a:solidFill>
                <a:latin typeface="+mn-lt"/>
              </a:rPr>
              <a:t>, K0</a:t>
            </a:r>
            <a:r>
              <a:rPr lang="en-US" altLang="zh-CN" sz="1400" baseline="-25000" dirty="0">
                <a:solidFill>
                  <a:schemeClr val="tx1"/>
                </a:solidFill>
                <a:latin typeface="+mn-lt"/>
              </a:rPr>
              <a:t>prv</a:t>
            </a:r>
            <a:r>
              <a:rPr lang="en-US" altLang="zh-CN" sz="1400" dirty="0">
                <a:solidFill>
                  <a:schemeClr val="tx1"/>
                </a:solidFill>
                <a:latin typeface="+mn-lt"/>
              </a:rPr>
              <a:t>}, {K1</a:t>
            </a:r>
            <a:r>
              <a:rPr lang="en-US" altLang="zh-CN" sz="1400" baseline="-25000" dirty="0">
                <a:solidFill>
                  <a:schemeClr val="tx1"/>
                </a:solidFill>
                <a:latin typeface="+mn-lt"/>
              </a:rPr>
              <a:t>pub</a:t>
            </a:r>
            <a:r>
              <a:rPr lang="en-US" altLang="zh-CN" sz="1400" dirty="0">
                <a:solidFill>
                  <a:schemeClr val="tx1"/>
                </a:solidFill>
                <a:latin typeface="+mn-lt"/>
              </a:rPr>
              <a:t>, K1</a:t>
            </a:r>
            <a:r>
              <a:rPr lang="en-US" altLang="zh-CN" sz="1400" baseline="-25000" dirty="0">
                <a:solidFill>
                  <a:schemeClr val="tx1"/>
                </a:solidFill>
                <a:latin typeface="+mn-lt"/>
              </a:rPr>
              <a:t>prv</a:t>
            </a:r>
            <a:r>
              <a:rPr lang="en-US" altLang="zh-CN" sz="1400" dirty="0">
                <a:solidFill>
                  <a:schemeClr val="tx1"/>
                </a:solidFill>
                <a:latin typeface="+mn-lt"/>
              </a:rPr>
              <a:t>} </a:t>
            </a:r>
            <a:endParaRPr lang="en-US" altLang="zh-CN" sz="1400" dirty="0">
              <a:solidFill>
                <a:schemeClr val="tx1"/>
              </a:solidFill>
              <a:latin typeface="+mn-lt"/>
            </a:endParaRPr>
          </a:p>
        </p:txBody>
      </p:sp>
      <p:sp>
        <p:nvSpPr>
          <p:cNvPr id="15" name="内容占位符 2"/>
          <p:cNvSpPr txBox="1"/>
          <p:nvPr/>
        </p:nvSpPr>
        <p:spPr>
          <a:xfrm>
            <a:off x="5762912" y="3436896"/>
            <a:ext cx="2604335" cy="62629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altLang="zh-CN" sz="1400" dirty="0">
                <a:solidFill>
                  <a:schemeClr val="tx1"/>
                </a:solidFill>
                <a:latin typeface="+mn-lt"/>
              </a:rPr>
              <a:t>Generate a random number </a:t>
            </a:r>
            <a:r>
              <a:rPr lang="en-US" altLang="zh-CN" sz="1400" b="1" dirty="0">
                <a:solidFill>
                  <a:schemeClr val="tx1"/>
                </a:solidFill>
                <a:latin typeface="+mn-lt"/>
              </a:rPr>
              <a:t>r</a:t>
            </a:r>
            <a:endParaRPr lang="en-US" altLang="zh-CN" sz="1400" b="1" dirty="0">
              <a:solidFill>
                <a:schemeClr val="tx1"/>
              </a:solidFill>
              <a:latin typeface="+mn-lt"/>
            </a:endParaRPr>
          </a:p>
          <a:p>
            <a:pPr marL="0" indent="0">
              <a:spcBef>
                <a:spcPts val="0"/>
              </a:spcBef>
              <a:buNone/>
            </a:pPr>
            <a:r>
              <a:rPr lang="en-US" altLang="zh-CN" sz="1400" dirty="0">
                <a:solidFill>
                  <a:schemeClr val="tx1"/>
                </a:solidFill>
                <a:latin typeface="+mn-lt"/>
              </a:rPr>
              <a:t>c ← Enc(K</a:t>
            </a:r>
            <a:r>
              <a:rPr lang="el-GR" altLang="zh-CN" sz="1400" dirty="0">
                <a:solidFill>
                  <a:schemeClr val="tx1"/>
                </a:solidFill>
                <a:latin typeface="+mn-lt"/>
              </a:rPr>
              <a:t>σ</a:t>
            </a:r>
            <a:r>
              <a:rPr lang="en-US" altLang="zh-CN" sz="1400" baseline="-25000" dirty="0">
                <a:solidFill>
                  <a:schemeClr val="tx1"/>
                </a:solidFill>
                <a:latin typeface="+mn-lt"/>
              </a:rPr>
              <a:t>pub</a:t>
            </a:r>
            <a:r>
              <a:rPr lang="en-US" altLang="zh-CN" sz="1400" dirty="0">
                <a:solidFill>
                  <a:schemeClr val="tx1"/>
                </a:solidFill>
                <a:latin typeface="+mn-lt"/>
              </a:rPr>
              <a:t>, r)</a:t>
            </a:r>
            <a:endParaRPr lang="en-US" altLang="zh-CN" sz="1400" dirty="0">
              <a:solidFill>
                <a:schemeClr val="tx1"/>
              </a:solidFill>
              <a:latin typeface="+mn-lt"/>
            </a:endParaRPr>
          </a:p>
        </p:txBody>
      </p:sp>
      <p:sp>
        <p:nvSpPr>
          <p:cNvPr id="16" name="内容占位符 2"/>
          <p:cNvSpPr txBox="1"/>
          <p:nvPr/>
        </p:nvSpPr>
        <p:spPr>
          <a:xfrm>
            <a:off x="1111317" y="3863820"/>
            <a:ext cx="2604335" cy="1147104"/>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altLang="zh-CN" sz="1400" dirty="0">
                <a:solidFill>
                  <a:schemeClr val="tx1"/>
                </a:solidFill>
                <a:latin typeface="+mn-lt"/>
              </a:rPr>
              <a:t>k</a:t>
            </a:r>
            <a:r>
              <a:rPr lang="en-US" altLang="zh-CN" sz="1400" baseline="-25000" dirty="0">
                <a:solidFill>
                  <a:schemeClr val="tx1"/>
                </a:solidFill>
                <a:latin typeface="+mn-lt"/>
              </a:rPr>
              <a:t>0</a:t>
            </a:r>
            <a:r>
              <a:rPr lang="en-US" altLang="zh-CN" sz="1400" dirty="0">
                <a:solidFill>
                  <a:schemeClr val="tx1"/>
                </a:solidFill>
                <a:latin typeface="+mn-lt"/>
              </a:rPr>
              <a:t> ← Dec(K0</a:t>
            </a:r>
            <a:r>
              <a:rPr lang="en-US" altLang="zh-CN" sz="1400" baseline="-25000" dirty="0">
                <a:solidFill>
                  <a:schemeClr val="tx1"/>
                </a:solidFill>
                <a:latin typeface="+mn-lt"/>
              </a:rPr>
              <a:t>prv</a:t>
            </a:r>
            <a:r>
              <a:rPr lang="en-US" altLang="zh-CN" sz="1400" dirty="0">
                <a:solidFill>
                  <a:schemeClr val="tx1"/>
                </a:solidFill>
                <a:latin typeface="+mn-lt"/>
              </a:rPr>
              <a:t>, c)</a:t>
            </a:r>
            <a:endParaRPr lang="en-US" altLang="zh-CN" sz="1400" dirty="0">
              <a:solidFill>
                <a:schemeClr val="tx1"/>
              </a:solidFill>
              <a:latin typeface="+mn-lt"/>
            </a:endParaRPr>
          </a:p>
          <a:p>
            <a:pPr marL="0" indent="0">
              <a:spcBef>
                <a:spcPts val="0"/>
              </a:spcBef>
              <a:buNone/>
            </a:pPr>
            <a:r>
              <a:rPr lang="en-US" altLang="zh-CN" sz="1400" dirty="0">
                <a:solidFill>
                  <a:schemeClr val="tx1"/>
                </a:solidFill>
                <a:latin typeface="+mn-lt"/>
              </a:rPr>
              <a:t>k</a:t>
            </a:r>
            <a:r>
              <a:rPr lang="en-US" altLang="zh-CN" sz="1400" baseline="-25000" dirty="0">
                <a:solidFill>
                  <a:schemeClr val="tx1"/>
                </a:solidFill>
                <a:latin typeface="+mn-lt"/>
              </a:rPr>
              <a:t>1</a:t>
            </a:r>
            <a:r>
              <a:rPr lang="en-US" altLang="zh-CN" sz="1400" dirty="0">
                <a:solidFill>
                  <a:schemeClr val="tx1"/>
                </a:solidFill>
                <a:latin typeface="+mn-lt"/>
              </a:rPr>
              <a:t> ← Dec(K1</a:t>
            </a:r>
            <a:r>
              <a:rPr lang="en-US" altLang="zh-CN" sz="1400" baseline="-25000" dirty="0">
                <a:solidFill>
                  <a:schemeClr val="tx1"/>
                </a:solidFill>
                <a:latin typeface="+mn-lt"/>
              </a:rPr>
              <a:t>prv</a:t>
            </a:r>
            <a:r>
              <a:rPr lang="en-US" altLang="zh-CN" sz="1400" dirty="0">
                <a:solidFill>
                  <a:schemeClr val="tx1"/>
                </a:solidFill>
                <a:latin typeface="+mn-lt"/>
              </a:rPr>
              <a:t>, c)</a:t>
            </a:r>
            <a:endParaRPr lang="en-US" altLang="zh-CN" sz="1400" dirty="0">
              <a:solidFill>
                <a:schemeClr val="tx1"/>
              </a:solidFill>
              <a:latin typeface="+mn-lt"/>
            </a:endParaRPr>
          </a:p>
          <a:p>
            <a:pPr marL="0" indent="0">
              <a:spcBef>
                <a:spcPts val="0"/>
              </a:spcBef>
              <a:buNone/>
            </a:pPr>
            <a:r>
              <a:rPr lang="en-US" altLang="zh-CN" sz="1400" dirty="0">
                <a:solidFill>
                  <a:schemeClr val="tx1"/>
                </a:solidFill>
                <a:latin typeface="+mn-lt"/>
              </a:rPr>
              <a:t>e</a:t>
            </a:r>
            <a:r>
              <a:rPr lang="en-US" altLang="zh-CN" sz="1400" baseline="-25000" dirty="0">
                <a:solidFill>
                  <a:schemeClr val="tx1"/>
                </a:solidFill>
                <a:latin typeface="+mn-lt"/>
              </a:rPr>
              <a:t>0</a:t>
            </a:r>
            <a:r>
              <a:rPr lang="en-US" altLang="zh-CN" sz="1400" dirty="0">
                <a:solidFill>
                  <a:schemeClr val="tx1"/>
                </a:solidFill>
                <a:latin typeface="+mn-lt"/>
              </a:rPr>
              <a:t> ← k</a:t>
            </a:r>
            <a:r>
              <a:rPr lang="en-US" altLang="zh-CN" sz="1400" baseline="-25000" dirty="0">
                <a:solidFill>
                  <a:schemeClr val="tx1"/>
                </a:solidFill>
                <a:latin typeface="+mn-lt"/>
              </a:rPr>
              <a:t>0 </a:t>
            </a:r>
            <a:r>
              <a:rPr lang="en-US" altLang="zh-CN" sz="1400" dirty="0">
                <a:solidFill>
                  <a:schemeClr val="tx1"/>
                </a:solidFill>
                <a:latin typeface="+mn-lt"/>
              </a:rPr>
              <a:t>⊕ m</a:t>
            </a:r>
            <a:r>
              <a:rPr lang="en-US" altLang="zh-CN" sz="1400" baseline="-25000" dirty="0">
                <a:solidFill>
                  <a:schemeClr val="tx1"/>
                </a:solidFill>
                <a:latin typeface="+mn-lt"/>
              </a:rPr>
              <a:t>0</a:t>
            </a:r>
            <a:endParaRPr lang="en-US" altLang="zh-CN" sz="1400" baseline="-25000" dirty="0">
              <a:solidFill>
                <a:schemeClr val="tx1"/>
              </a:solidFill>
              <a:latin typeface="+mn-lt"/>
            </a:endParaRPr>
          </a:p>
          <a:p>
            <a:pPr marL="0" indent="0">
              <a:spcBef>
                <a:spcPts val="0"/>
              </a:spcBef>
              <a:buNone/>
            </a:pPr>
            <a:r>
              <a:rPr lang="en-US" altLang="zh-CN" sz="1400" dirty="0">
                <a:solidFill>
                  <a:schemeClr val="tx1"/>
                </a:solidFill>
                <a:latin typeface="+mn-lt"/>
              </a:rPr>
              <a:t>e</a:t>
            </a:r>
            <a:r>
              <a:rPr lang="en-US" altLang="zh-CN" sz="1400" baseline="-25000" dirty="0">
                <a:solidFill>
                  <a:schemeClr val="tx1"/>
                </a:solidFill>
                <a:latin typeface="+mn-lt"/>
              </a:rPr>
              <a:t>1</a:t>
            </a:r>
            <a:r>
              <a:rPr lang="en-US" altLang="zh-CN" sz="1400" dirty="0">
                <a:solidFill>
                  <a:schemeClr val="tx1"/>
                </a:solidFill>
                <a:latin typeface="+mn-lt"/>
              </a:rPr>
              <a:t> ← k</a:t>
            </a:r>
            <a:r>
              <a:rPr lang="en-US" altLang="zh-CN" sz="1400" baseline="-25000" dirty="0">
                <a:solidFill>
                  <a:schemeClr val="tx1"/>
                </a:solidFill>
                <a:latin typeface="+mn-lt"/>
              </a:rPr>
              <a:t>1 </a:t>
            </a:r>
            <a:r>
              <a:rPr lang="en-US" altLang="zh-CN" sz="1400" dirty="0">
                <a:solidFill>
                  <a:schemeClr val="tx1"/>
                </a:solidFill>
                <a:latin typeface="+mn-lt"/>
              </a:rPr>
              <a:t>⊕ m</a:t>
            </a:r>
            <a:r>
              <a:rPr lang="en-US" altLang="zh-CN" sz="1400" baseline="-25000" dirty="0">
                <a:solidFill>
                  <a:schemeClr val="tx1"/>
                </a:solidFill>
                <a:latin typeface="+mn-lt"/>
              </a:rPr>
              <a:t>1</a:t>
            </a:r>
            <a:endParaRPr lang="en-US" altLang="zh-CN" sz="1400" baseline="-25000" dirty="0">
              <a:solidFill>
                <a:schemeClr val="tx1"/>
              </a:solidFill>
              <a:latin typeface="+mn-lt"/>
            </a:endParaRPr>
          </a:p>
        </p:txBody>
      </p:sp>
      <p:sp>
        <p:nvSpPr>
          <p:cNvPr id="17" name="内容占位符 2"/>
          <p:cNvSpPr txBox="1"/>
          <p:nvPr/>
        </p:nvSpPr>
        <p:spPr>
          <a:xfrm>
            <a:off x="5768840" y="4976026"/>
            <a:ext cx="2604335" cy="62629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altLang="zh-CN" sz="1400" dirty="0">
                <a:solidFill>
                  <a:schemeClr val="tx1"/>
                </a:solidFill>
                <a:latin typeface="+mn-lt"/>
              </a:rPr>
              <a:t>m</a:t>
            </a:r>
            <a:r>
              <a:rPr lang="el-GR" altLang="zh-CN" sz="1400" baseline="-25000" dirty="0">
                <a:solidFill>
                  <a:schemeClr val="tx1"/>
                </a:solidFill>
                <a:latin typeface="+mn-lt"/>
              </a:rPr>
              <a:t>σ</a:t>
            </a:r>
            <a:r>
              <a:rPr lang="el-GR" altLang="zh-CN" sz="1400" dirty="0">
                <a:solidFill>
                  <a:schemeClr val="tx1"/>
                </a:solidFill>
                <a:latin typeface="+mn-lt"/>
              </a:rPr>
              <a:t> ← </a:t>
            </a:r>
            <a:r>
              <a:rPr lang="en-US" altLang="zh-CN" sz="1400" dirty="0">
                <a:solidFill>
                  <a:schemeClr val="tx1"/>
                </a:solidFill>
                <a:latin typeface="+mn-lt"/>
              </a:rPr>
              <a:t>e</a:t>
            </a:r>
            <a:r>
              <a:rPr lang="el-GR" altLang="zh-CN" sz="1400" baseline="-25000" dirty="0">
                <a:solidFill>
                  <a:schemeClr val="tx1"/>
                </a:solidFill>
                <a:latin typeface="+mn-lt"/>
              </a:rPr>
              <a:t>σ</a:t>
            </a:r>
            <a:r>
              <a:rPr lang="en-US" altLang="zh-CN" sz="1400" baseline="-25000" dirty="0">
                <a:solidFill>
                  <a:schemeClr val="tx1"/>
                </a:solidFill>
                <a:latin typeface="+mn-lt"/>
              </a:rPr>
              <a:t> </a:t>
            </a:r>
            <a:r>
              <a:rPr lang="el-GR" altLang="zh-CN" sz="1400" dirty="0">
                <a:solidFill>
                  <a:schemeClr val="tx1"/>
                </a:solidFill>
                <a:latin typeface="+mn-lt"/>
              </a:rPr>
              <a:t>⊕</a:t>
            </a:r>
            <a:r>
              <a:rPr lang="en-US" altLang="zh-CN" sz="1400" dirty="0">
                <a:solidFill>
                  <a:schemeClr val="tx1"/>
                </a:solidFill>
                <a:latin typeface="+mn-lt"/>
              </a:rPr>
              <a:t> r</a:t>
            </a:r>
            <a:endParaRPr lang="en-US" altLang="zh-CN" sz="1400" dirty="0">
              <a:solidFill>
                <a:schemeClr val="tx1"/>
              </a:solidFill>
              <a:latin typeface="+mn-lt"/>
            </a:endParaRPr>
          </a:p>
        </p:txBody>
      </p:sp>
      <p:cxnSp>
        <p:nvCxnSpPr>
          <p:cNvPr id="18" name="直接箭头连接符 17"/>
          <p:cNvCxnSpPr/>
          <p:nvPr/>
        </p:nvCxnSpPr>
        <p:spPr>
          <a:xfrm flipV="1">
            <a:off x="3455876" y="3390040"/>
            <a:ext cx="2232248" cy="1"/>
          </a:xfrm>
          <a:prstGeom prst="straightConnector1">
            <a:avLst/>
          </a:prstGeom>
          <a:ln w="15875">
            <a:solidFill>
              <a:schemeClr val="tx1"/>
            </a:solidFill>
            <a:headEnd w="lg" len="lg"/>
            <a:tailEnd type="triangle" w="med" len="med"/>
          </a:ln>
        </p:spPr>
        <p:style>
          <a:lnRef idx="1">
            <a:schemeClr val="accent1"/>
          </a:lnRef>
          <a:fillRef idx="0">
            <a:schemeClr val="accent1"/>
          </a:fillRef>
          <a:effectRef idx="0">
            <a:schemeClr val="accent1"/>
          </a:effectRef>
          <a:fontRef idx="minor">
            <a:schemeClr val="tx1"/>
          </a:fontRef>
        </p:style>
      </p:cxnSp>
      <p:sp>
        <p:nvSpPr>
          <p:cNvPr id="19" name="内容占位符 2"/>
          <p:cNvSpPr txBox="1"/>
          <p:nvPr/>
        </p:nvSpPr>
        <p:spPr>
          <a:xfrm>
            <a:off x="3851920" y="3043244"/>
            <a:ext cx="1180283" cy="384395"/>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altLang="zh-CN" sz="1400" dirty="0">
                <a:solidFill>
                  <a:schemeClr val="tx1"/>
                </a:solidFill>
                <a:latin typeface="+mn-lt"/>
              </a:rPr>
              <a:t>K0</a:t>
            </a:r>
            <a:r>
              <a:rPr lang="en-US" altLang="zh-CN" sz="1400" baseline="-25000" dirty="0">
                <a:solidFill>
                  <a:schemeClr val="tx1"/>
                </a:solidFill>
                <a:latin typeface="+mn-lt"/>
              </a:rPr>
              <a:t>pub</a:t>
            </a:r>
            <a:r>
              <a:rPr lang="en-US" altLang="zh-CN" sz="1400" dirty="0">
                <a:solidFill>
                  <a:schemeClr val="tx1"/>
                </a:solidFill>
                <a:latin typeface="+mn-lt"/>
              </a:rPr>
              <a:t>, K1</a:t>
            </a:r>
            <a:r>
              <a:rPr lang="en-US" altLang="zh-CN" sz="1400" baseline="-25000" dirty="0">
                <a:solidFill>
                  <a:schemeClr val="tx1"/>
                </a:solidFill>
                <a:latin typeface="+mn-lt"/>
              </a:rPr>
              <a:t>pub</a:t>
            </a:r>
            <a:endParaRPr lang="en-US" altLang="zh-CN" sz="1400" dirty="0">
              <a:solidFill>
                <a:schemeClr val="tx1"/>
              </a:solidFill>
              <a:latin typeface="+mn-lt"/>
            </a:endParaRPr>
          </a:p>
        </p:txBody>
      </p:sp>
      <p:cxnSp>
        <p:nvCxnSpPr>
          <p:cNvPr id="20" name="直接箭头连接符 19"/>
          <p:cNvCxnSpPr/>
          <p:nvPr/>
        </p:nvCxnSpPr>
        <p:spPr>
          <a:xfrm flipV="1">
            <a:off x="3455876" y="3901418"/>
            <a:ext cx="2232248" cy="1"/>
          </a:xfrm>
          <a:prstGeom prst="straightConnector1">
            <a:avLst/>
          </a:prstGeom>
          <a:ln w="158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内容占位符 2"/>
          <p:cNvSpPr txBox="1"/>
          <p:nvPr/>
        </p:nvSpPr>
        <p:spPr>
          <a:xfrm>
            <a:off x="4244643" y="3582237"/>
            <a:ext cx="1180283" cy="384395"/>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altLang="zh-CN" sz="1400" dirty="0">
                <a:solidFill>
                  <a:schemeClr val="tx1"/>
                </a:solidFill>
                <a:latin typeface="+mn-lt"/>
              </a:rPr>
              <a:t>c</a:t>
            </a:r>
            <a:endParaRPr lang="en-US" altLang="zh-CN" sz="1400" dirty="0">
              <a:solidFill>
                <a:schemeClr val="tx1"/>
              </a:solidFill>
              <a:latin typeface="+mn-lt"/>
            </a:endParaRPr>
          </a:p>
        </p:txBody>
      </p:sp>
      <p:cxnSp>
        <p:nvCxnSpPr>
          <p:cNvPr id="22" name="直接箭头连接符 21"/>
          <p:cNvCxnSpPr/>
          <p:nvPr/>
        </p:nvCxnSpPr>
        <p:spPr>
          <a:xfrm flipV="1">
            <a:off x="3455876" y="4975197"/>
            <a:ext cx="2232248" cy="1"/>
          </a:xfrm>
          <a:prstGeom prst="straightConnector1">
            <a:avLst/>
          </a:prstGeom>
          <a:ln w="15875">
            <a:solidFill>
              <a:schemeClr val="tx1"/>
            </a:solidFill>
            <a:headEnd w="lg" len="lg"/>
            <a:tailEnd type="triangle" w="med" len="med"/>
          </a:ln>
        </p:spPr>
        <p:style>
          <a:lnRef idx="1">
            <a:schemeClr val="accent1"/>
          </a:lnRef>
          <a:fillRef idx="0">
            <a:schemeClr val="accent1"/>
          </a:fillRef>
          <a:effectRef idx="0">
            <a:schemeClr val="accent1"/>
          </a:effectRef>
          <a:fontRef idx="minor">
            <a:schemeClr val="tx1"/>
          </a:fontRef>
        </p:style>
      </p:cxnSp>
      <p:sp>
        <p:nvSpPr>
          <p:cNvPr id="23" name="内容占位符 2"/>
          <p:cNvSpPr txBox="1"/>
          <p:nvPr/>
        </p:nvSpPr>
        <p:spPr>
          <a:xfrm>
            <a:off x="4074512" y="4657365"/>
            <a:ext cx="1180283" cy="384395"/>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altLang="zh-CN" sz="1400" dirty="0">
                <a:solidFill>
                  <a:schemeClr val="tx1"/>
                </a:solidFill>
                <a:latin typeface="+mn-lt"/>
              </a:rPr>
              <a:t>e</a:t>
            </a:r>
            <a:r>
              <a:rPr lang="en-US" altLang="zh-CN" sz="1400" baseline="-25000" dirty="0">
                <a:solidFill>
                  <a:schemeClr val="tx1"/>
                </a:solidFill>
                <a:latin typeface="+mn-lt"/>
              </a:rPr>
              <a:t>0</a:t>
            </a:r>
            <a:r>
              <a:rPr lang="en-US" altLang="zh-CN" sz="1400" dirty="0">
                <a:solidFill>
                  <a:schemeClr val="tx1"/>
                </a:solidFill>
                <a:latin typeface="+mn-lt"/>
              </a:rPr>
              <a:t>, e</a:t>
            </a:r>
            <a:r>
              <a:rPr lang="en-US" altLang="zh-CN" sz="1400" baseline="-25000" dirty="0">
                <a:solidFill>
                  <a:schemeClr val="tx1"/>
                </a:solidFill>
                <a:latin typeface="+mn-lt"/>
              </a:rPr>
              <a:t>1</a:t>
            </a:r>
            <a:endParaRPr lang="en-US" altLang="zh-CN" sz="1400" baseline="-25000" dirty="0">
              <a:solidFill>
                <a:schemeClr val="tx1"/>
              </a:solidFill>
              <a:latin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dirty="0"/>
              <a:t>1-out-of-2 OT</a:t>
            </a:r>
            <a:r>
              <a:rPr lang="zh-CN" altLang="en-US" dirty="0"/>
              <a:t> </a:t>
            </a:r>
            <a:r>
              <a:rPr lang="en-US" altLang="zh-CN" dirty="0"/>
              <a:t>(Solution-2)</a:t>
            </a:r>
            <a:endParaRPr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14" name="内容占位符 2"/>
          <p:cNvSpPr txBox="1"/>
          <p:nvPr/>
        </p:nvSpPr>
        <p:spPr>
          <a:xfrm>
            <a:off x="462897" y="6972483"/>
            <a:ext cx="8229600" cy="409600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altLang="zh-CN" sz="2200" dirty="0"/>
          </a:p>
        </p:txBody>
      </p:sp>
      <p:sp>
        <p:nvSpPr>
          <p:cNvPr id="18" name="椭圆形标注 17"/>
          <p:cNvSpPr/>
          <p:nvPr/>
        </p:nvSpPr>
        <p:spPr>
          <a:xfrm>
            <a:off x="355395" y="1060601"/>
            <a:ext cx="1440160" cy="855649"/>
          </a:xfrm>
          <a:prstGeom prst="wedgeEllipseCallout">
            <a:avLst>
              <a:gd name="adj1" fmla="val 50496"/>
              <a:gd name="adj2" fmla="val 4437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{m</a:t>
            </a:r>
            <a:r>
              <a:rPr kumimoji="1" lang="en-US" altLang="zh-CN" baseline="-25000" dirty="0">
                <a:solidFill>
                  <a:schemeClr val="tx1"/>
                </a:solidFill>
              </a:rPr>
              <a:t>0</a:t>
            </a:r>
            <a:r>
              <a:rPr kumimoji="1" lang="en-US" altLang="zh-CN" dirty="0">
                <a:solidFill>
                  <a:schemeClr val="tx1"/>
                </a:solidFill>
              </a:rPr>
              <a:t>, m</a:t>
            </a:r>
            <a:r>
              <a:rPr kumimoji="1" lang="en-US" altLang="zh-CN" baseline="-25000" dirty="0">
                <a:solidFill>
                  <a:schemeClr val="tx1"/>
                </a:solidFill>
              </a:rPr>
              <a:t>1</a:t>
            </a:r>
            <a:r>
              <a:rPr kumimoji="1" lang="en-US" altLang="zh-CN" dirty="0">
                <a:solidFill>
                  <a:schemeClr val="tx1"/>
                </a:solidFill>
              </a:rPr>
              <a:t>}</a:t>
            </a:r>
            <a:endParaRPr kumimoji="1" lang="zh-CN" altLang="en-US" dirty="0">
              <a:solidFill>
                <a:schemeClr val="tx1"/>
              </a:solidFill>
            </a:endParaRPr>
          </a:p>
        </p:txBody>
      </p:sp>
      <mc:AlternateContent xmlns:mc="http://schemas.openxmlformats.org/markup-compatibility/2006">
        <mc:Choice xmlns:a14="http://schemas.microsoft.com/office/drawing/2010/main" Requires="a14">
          <p:sp>
            <p:nvSpPr>
              <p:cNvPr id="9" name="椭圆形标注 8"/>
              <p:cNvSpPr/>
              <p:nvPr/>
            </p:nvSpPr>
            <p:spPr>
              <a:xfrm>
                <a:off x="7181105" y="845524"/>
                <a:ext cx="1440160" cy="855649"/>
              </a:xfrm>
              <a:prstGeom prst="wedgeEllipseCallout">
                <a:avLst>
                  <a:gd name="adj1" fmla="val -62271"/>
                  <a:gd name="adj2" fmla="val 5776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m</a:t>
                </a:r>
                <a14:m>
                  <m:oMath xmlns:m="http://schemas.openxmlformats.org/officeDocument/2006/math">
                    <m:r>
                      <m:rPr>
                        <m:sty m:val="p"/>
                      </m:rPr>
                      <a:rPr lang="en-US" altLang="zh-CN" baseline="-25000">
                        <a:solidFill>
                          <a:schemeClr val="tx1"/>
                        </a:solidFill>
                        <a:latin typeface="Cambria Math" panose="02040503050406030204" pitchFamily="18" charset="0"/>
                        <a:ea typeface="Cambria Math" panose="02040503050406030204" pitchFamily="18" charset="0"/>
                      </a:rPr>
                      <m:t>σ</m:t>
                    </m:r>
                    <m:r>
                      <a:rPr lang="en-US" altLang="zh-CN" i="1" baseline="-25000">
                        <a:solidFill>
                          <a:schemeClr val="tx1"/>
                        </a:solidFill>
                        <a:latin typeface="Cambria Math" panose="02040503050406030204" pitchFamily="18" charset="0"/>
                        <a:ea typeface="Cambria Math" panose="02040503050406030204" pitchFamily="18" charset="0"/>
                      </a:rPr>
                      <m:t> </m:t>
                    </m:r>
                  </m:oMath>
                </a14:m>
                <a:r>
                  <a:rPr kumimoji="1" lang="zh-CN" altLang="en-US" dirty="0">
                    <a:solidFill>
                      <a:schemeClr val="tx1"/>
                    </a:solidFill>
                  </a:rPr>
                  <a:t> </a:t>
                </a:r>
                <a:r>
                  <a:rPr kumimoji="1" lang="en-US" altLang="zh-CN" dirty="0">
                    <a:solidFill>
                      <a:schemeClr val="tx1"/>
                    </a:solidFill>
                  </a:rPr>
                  <a:t>=</a:t>
                </a:r>
                <a:r>
                  <a:rPr kumimoji="1" lang="zh-CN" altLang="en-US" dirty="0">
                    <a:solidFill>
                      <a:schemeClr val="tx1"/>
                    </a:solidFill>
                  </a:rPr>
                  <a:t> </a:t>
                </a:r>
                <a:r>
                  <a:rPr kumimoji="1" lang="en-US" altLang="zh-CN" dirty="0">
                    <a:solidFill>
                      <a:schemeClr val="tx1"/>
                    </a:solidFill>
                  </a:rPr>
                  <a:t>?</a:t>
                </a:r>
                <a:endParaRPr kumimoji="1" lang="zh-CN" altLang="en-US" dirty="0">
                  <a:solidFill>
                    <a:schemeClr val="tx1"/>
                  </a:solidFill>
                </a:endParaRPr>
              </a:p>
            </p:txBody>
          </p:sp>
        </mc:Choice>
        <mc:Fallback>
          <p:sp>
            <p:nvSpPr>
              <p:cNvPr id="9" name="椭圆形标注 8"/>
              <p:cNvSpPr>
                <a:spLocks noRot="1" noChangeAspect="1" noMove="1" noResize="1" noEditPoints="1" noAdjustHandles="1" noChangeArrowheads="1" noChangeShapeType="1" noTextEdit="1"/>
              </p:cNvSpPr>
              <p:nvPr/>
            </p:nvSpPr>
            <p:spPr>
              <a:xfrm>
                <a:off x="7181105" y="845524"/>
                <a:ext cx="1440160" cy="855649"/>
              </a:xfrm>
              <a:prstGeom prst="wedgeEllipseCallout">
                <a:avLst>
                  <a:gd name="adj1" fmla="val -62271"/>
                  <a:gd name="adj2" fmla="val 57765"/>
                </a:avLst>
              </a:prstGeom>
              <a:blipFill rotWithShape="1">
                <a:blip r:embed="rId1"/>
                <a:stretch>
                  <a:fillRect l="-13176" t="-1524" r="-847" b="-9201"/>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内容占位符 2"/>
              <p:cNvSpPr>
                <a:spLocks noGrp="1"/>
              </p:cNvSpPr>
              <p:nvPr>
                <p:ph idx="1"/>
              </p:nvPr>
            </p:nvSpPr>
            <p:spPr>
              <a:xfrm>
                <a:off x="761972" y="2658472"/>
                <a:ext cx="3089948" cy="983932"/>
              </a:xfrm>
            </p:spPr>
            <p:txBody>
              <a:bodyPr>
                <a:noAutofit/>
              </a:bodyPr>
              <a:lstStyle/>
              <a:p>
                <a:pPr>
                  <a:lnSpc>
                    <a:spcPct val="150000"/>
                  </a:lnSpc>
                  <a:spcBef>
                    <a:spcPts val="0"/>
                  </a:spcBef>
                  <a:buFont typeface="Wingdings" panose="05000000000000000000" pitchFamily="2" charset="2"/>
                  <a:buChar char="l"/>
                </a:pPr>
                <a:r>
                  <a:rPr lang="en-US" altLang="zh-CN" sz="1400" dirty="0">
                    <a:solidFill>
                      <a:schemeClr val="tx1"/>
                    </a:solidFill>
                  </a:rPr>
                  <a:t>Generate </a:t>
                </a:r>
                <a14:m>
                  <m:oMath xmlns:m="http://schemas.openxmlformats.org/officeDocument/2006/math">
                    <m:sSub>
                      <m:sSubPr>
                        <m:ctrlPr>
                          <a:rPr lang="en-US" altLang="zh-CN" sz="1400" b="1" i="1">
                            <a:solidFill>
                              <a:schemeClr val="tx1"/>
                            </a:solidFill>
                            <a:latin typeface="Cambria Math" panose="02040503050406030204" pitchFamily="18" charset="0"/>
                          </a:rPr>
                        </m:ctrlPr>
                      </m:sSubPr>
                      <m:e>
                        <m:r>
                          <a:rPr lang="en-US" altLang="zh-CN" sz="1400" b="1" i="1" smtClean="0">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𝑲</m:t>
                        </m:r>
                      </m:e>
                      <m:sub>
                        <m:r>
                          <a:rPr lang="en-US" altLang="zh-CN" sz="1400" b="1" i="1" smtClean="0">
                            <a:solidFill>
                              <a:schemeClr val="tx1"/>
                            </a:solidFill>
                            <a:latin typeface="Cambria Math" panose="02040503050406030204" pitchFamily="18" charset="0"/>
                          </a:rPr>
                          <m:t>𝒑𝒖𝒃</m:t>
                        </m:r>
                      </m:sub>
                    </m:sSub>
                    <m:r>
                      <a:rPr lang="en-US" altLang="zh-CN" sz="1400" b="1" i="1" smtClean="0">
                        <a:solidFill>
                          <a:schemeClr val="tx1"/>
                        </a:solidFill>
                        <a:latin typeface="Cambria Math" panose="02040503050406030204" pitchFamily="18" charset="0"/>
                      </a:rPr>
                      <m:t>, </m:t>
                    </m:r>
                    <m:sSub>
                      <m:sSubPr>
                        <m:ctrlPr>
                          <a:rPr lang="en-US" altLang="zh-CN" sz="1400" b="1" i="1" smtClean="0">
                            <a:solidFill>
                              <a:schemeClr val="tx1"/>
                            </a:solidFill>
                            <a:latin typeface="Cambria Math" panose="02040503050406030204" pitchFamily="18" charset="0"/>
                          </a:rPr>
                        </m:ctrlPr>
                      </m:sSubPr>
                      <m:e>
                        <m:r>
                          <a:rPr lang="en-US" altLang="zh-CN" sz="1400" b="1" i="1" smtClean="0">
                            <a:solidFill>
                              <a:schemeClr val="tx1"/>
                            </a:solidFill>
                            <a:latin typeface="Cambria Math" panose="02040503050406030204" pitchFamily="18" charset="0"/>
                          </a:rPr>
                          <m:t>𝑲</m:t>
                        </m:r>
                      </m:e>
                      <m:sub>
                        <m:r>
                          <a:rPr lang="en-US" altLang="zh-CN" sz="1400" b="1" i="1" smtClean="0">
                            <a:solidFill>
                              <a:schemeClr val="tx1"/>
                            </a:solidFill>
                            <a:latin typeface="Cambria Math" panose="02040503050406030204" pitchFamily="18" charset="0"/>
                          </a:rPr>
                          <m:t>𝒑𝒓𝒗</m:t>
                        </m:r>
                      </m:sub>
                    </m:sSub>
                    <m:r>
                      <a:rPr lang="en-US" altLang="zh-CN" sz="1400" b="1" i="1" smtClean="0">
                        <a:solidFill>
                          <a:schemeClr val="tx1"/>
                        </a:solidFill>
                        <a:latin typeface="Cambria Math" panose="02040503050406030204" pitchFamily="18" charset="0"/>
                      </a:rPr>
                      <m:t>)</m:t>
                    </m:r>
                  </m:oMath>
                </a14:m>
                <a:endParaRPr lang="en-US" altLang="zh-CN" sz="1400" b="1" dirty="0">
                  <a:solidFill>
                    <a:schemeClr val="tx1"/>
                  </a:solidFill>
                </a:endParaRPr>
              </a:p>
              <a:p>
                <a:pPr>
                  <a:lnSpc>
                    <a:spcPct val="150000"/>
                  </a:lnSpc>
                  <a:spcBef>
                    <a:spcPts val="0"/>
                  </a:spcBef>
                  <a:buFont typeface="Wingdings" panose="05000000000000000000" pitchFamily="2" charset="2"/>
                  <a:buChar char="l"/>
                </a:pPr>
                <a:r>
                  <a:rPr lang="en-US" altLang="zh-CN" sz="1400" dirty="0">
                    <a:solidFill>
                      <a:schemeClr val="tx1"/>
                    </a:solidFill>
                  </a:rPr>
                  <a:t>Select random numbers </a:t>
                </a:r>
                <a14:m>
                  <m:oMath xmlns:m="http://schemas.openxmlformats.org/officeDocument/2006/math">
                    <m:sSub>
                      <m:sSubPr>
                        <m:ctrlPr>
                          <a:rPr lang="en-US" altLang="zh-CN" sz="1400" b="1" i="1">
                            <a:solidFill>
                              <a:schemeClr val="tx1"/>
                            </a:solidFill>
                            <a:latin typeface="Cambria Math" panose="02040503050406030204" pitchFamily="18" charset="0"/>
                          </a:rPr>
                        </m:ctrlPr>
                      </m:sSubPr>
                      <m:e>
                        <m:r>
                          <a:rPr lang="en-US" altLang="zh-CN" sz="1400" b="1" i="1" smtClean="0">
                            <a:solidFill>
                              <a:schemeClr val="tx1"/>
                            </a:solidFill>
                            <a:latin typeface="Cambria Math" panose="02040503050406030204" pitchFamily="18" charset="0"/>
                          </a:rPr>
                          <m:t>𝒓</m:t>
                        </m:r>
                      </m:e>
                      <m:sub>
                        <m:r>
                          <a:rPr lang="en-US" altLang="zh-CN" sz="1400" b="1" i="1" smtClean="0">
                            <a:solidFill>
                              <a:schemeClr val="tx1"/>
                            </a:solidFill>
                            <a:latin typeface="Cambria Math" panose="02040503050406030204" pitchFamily="18" charset="0"/>
                          </a:rPr>
                          <m:t>𝟎</m:t>
                        </m:r>
                      </m:sub>
                    </m:sSub>
                    <m:r>
                      <a:rPr lang="en-US" altLang="zh-CN" sz="1400" b="1" i="1" smtClean="0">
                        <a:solidFill>
                          <a:schemeClr val="tx1"/>
                        </a:solidFill>
                        <a:latin typeface="Cambria Math" panose="02040503050406030204" pitchFamily="18" charset="0"/>
                      </a:rPr>
                      <m:t>,</m:t>
                    </m:r>
                  </m:oMath>
                </a14:m>
                <a:r>
                  <a:rPr lang="en-US" altLang="zh-CN" sz="1400" b="1" dirty="0">
                    <a:solidFill>
                      <a:schemeClr val="tx1"/>
                    </a:solidFill>
                  </a:rPr>
                  <a:t> </a:t>
                </a:r>
                <a14:m>
                  <m:oMath xmlns:m="http://schemas.openxmlformats.org/officeDocument/2006/math">
                    <m:sSub>
                      <m:sSubPr>
                        <m:ctrlPr>
                          <a:rPr lang="en-US" altLang="zh-CN" sz="1400" b="1" i="1">
                            <a:solidFill>
                              <a:schemeClr val="tx1"/>
                            </a:solidFill>
                            <a:latin typeface="Cambria Math" panose="02040503050406030204" pitchFamily="18" charset="0"/>
                          </a:rPr>
                        </m:ctrlPr>
                      </m:sSubPr>
                      <m:e>
                        <m:r>
                          <a:rPr lang="en-US" altLang="zh-CN" sz="1400" b="1" i="1" smtClean="0">
                            <a:solidFill>
                              <a:schemeClr val="tx1"/>
                            </a:solidFill>
                            <a:latin typeface="Cambria Math" panose="02040503050406030204" pitchFamily="18" charset="0"/>
                          </a:rPr>
                          <m:t>𝒓</m:t>
                        </m:r>
                      </m:e>
                      <m:sub>
                        <m:r>
                          <a:rPr lang="en-US" altLang="zh-CN" sz="1400" b="1" i="1" smtClean="0">
                            <a:solidFill>
                              <a:schemeClr val="tx1"/>
                            </a:solidFill>
                            <a:latin typeface="Cambria Math" panose="02040503050406030204" pitchFamily="18" charset="0"/>
                          </a:rPr>
                          <m:t>𝟏</m:t>
                        </m:r>
                      </m:sub>
                    </m:sSub>
                  </m:oMath>
                </a14:m>
                <a:endParaRPr lang="en-US" altLang="zh-CN" sz="1400" b="1" baseline="-25000" dirty="0">
                  <a:solidFill>
                    <a:schemeClr val="tx1"/>
                  </a:solidFill>
                  <a:latin typeface="+mn-lt"/>
                </a:endParaRPr>
              </a:p>
            </p:txBody>
          </p:sp>
        </mc:Choice>
        <mc:Fallback>
          <p:sp>
            <p:nvSpPr>
              <p:cNvPr id="10" name="内容占位符 2"/>
              <p:cNvSpPr>
                <a:spLocks noRot="1" noChangeAspect="1" noMove="1" noResize="1" noEditPoints="1" noAdjustHandles="1" noChangeArrowheads="1" noChangeShapeType="1" noTextEdit="1"/>
              </p:cNvSpPr>
              <p:nvPr>
                <p:ph idx="1"/>
              </p:nvPr>
            </p:nvSpPr>
            <p:spPr>
              <a:xfrm>
                <a:off x="761972" y="2658472"/>
                <a:ext cx="3089948" cy="983932"/>
              </a:xfrm>
              <a:blipFill rotWithShape="1">
                <a:blip r:embed="rId2"/>
                <a:stretch>
                  <a:fillRect l="-20" t="-37" b="4"/>
                </a:stretch>
              </a:blipFill>
            </p:spPr>
            <p:txBody>
              <a:bodyPr/>
              <a:lstStyle/>
              <a:p>
                <a:r>
                  <a:rPr lang="zh-CN" altLang="en-US">
                    <a:noFill/>
                  </a:rPr>
                  <a:t> </a:t>
                </a:r>
              </a:p>
            </p:txBody>
          </p:sp>
        </mc:Fallback>
      </mc:AlternateContent>
      <p:cxnSp>
        <p:nvCxnSpPr>
          <p:cNvPr id="11" name="直线箭头连接符 10"/>
          <p:cNvCxnSpPr/>
          <p:nvPr/>
        </p:nvCxnSpPr>
        <p:spPr>
          <a:xfrm>
            <a:off x="3599892" y="3041901"/>
            <a:ext cx="194421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内容占位符 2"/>
              <p:cNvSpPr txBox="1"/>
              <p:nvPr/>
            </p:nvSpPr>
            <p:spPr>
              <a:xfrm>
                <a:off x="3419872" y="2641476"/>
                <a:ext cx="2304256" cy="353493"/>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1600" b="1" i="1">
                              <a:solidFill>
                                <a:schemeClr val="tx1"/>
                              </a:solidFill>
                              <a:latin typeface="Cambria Math" panose="02040503050406030204" pitchFamily="18" charset="0"/>
                            </a:rPr>
                          </m:ctrlPr>
                        </m:sSubPr>
                        <m:e>
                          <m:r>
                            <a:rPr lang="en-US" altLang="zh-CN" sz="1600" b="1" i="1">
                              <a:solidFill>
                                <a:schemeClr val="tx1"/>
                              </a:solidFill>
                              <a:latin typeface="Cambria Math" panose="02040503050406030204" pitchFamily="18" charset="0"/>
                            </a:rPr>
                            <m:t>𝑲</m:t>
                          </m:r>
                        </m:e>
                        <m:sub>
                          <m:r>
                            <a:rPr lang="en-US" altLang="zh-CN" sz="1600" b="1" i="1">
                              <a:solidFill>
                                <a:schemeClr val="tx1"/>
                              </a:solidFill>
                              <a:latin typeface="Cambria Math" panose="02040503050406030204" pitchFamily="18" charset="0"/>
                            </a:rPr>
                            <m:t>𝒑𝒖𝒃</m:t>
                          </m:r>
                        </m:sub>
                      </m:sSub>
                      <m:r>
                        <a:rPr lang="en-US" altLang="zh-CN" sz="1600" b="1" i="1">
                          <a:solidFill>
                            <a:schemeClr val="tx1"/>
                          </a:solidFill>
                          <a:latin typeface="Cambria Math" panose="02040503050406030204" pitchFamily="18" charset="0"/>
                        </a:rPr>
                        <m:t>, </m:t>
                      </m:r>
                      <m:sSub>
                        <m:sSubPr>
                          <m:ctrlPr>
                            <a:rPr lang="en-US" altLang="zh-CN" sz="1600" b="1" i="1">
                              <a:solidFill>
                                <a:schemeClr val="tx1"/>
                              </a:solidFill>
                              <a:latin typeface="Cambria Math" panose="02040503050406030204" pitchFamily="18" charset="0"/>
                              <a:ea typeface="Cambria Math" panose="02040503050406030204" pitchFamily="18" charset="0"/>
                            </a:rPr>
                          </m:ctrlPr>
                        </m:sSubPr>
                        <m:e>
                          <m:r>
                            <a:rPr lang="en-US" altLang="zh-CN" sz="1600" b="1" i="1">
                              <a:solidFill>
                                <a:schemeClr val="tx1"/>
                              </a:solidFill>
                              <a:latin typeface="Cambria Math" panose="02040503050406030204" pitchFamily="18" charset="0"/>
                              <a:ea typeface="Cambria Math" panose="02040503050406030204" pitchFamily="18" charset="0"/>
                            </a:rPr>
                            <m:t>𝒓</m:t>
                          </m:r>
                        </m:e>
                        <m:sub>
                          <m:r>
                            <a:rPr lang="en-US" altLang="zh-CN" sz="1600" b="1" i="1">
                              <a:solidFill>
                                <a:schemeClr val="tx1"/>
                              </a:solidFill>
                              <a:latin typeface="Cambria Math" panose="02040503050406030204" pitchFamily="18" charset="0"/>
                              <a:ea typeface="Cambria Math" panose="02040503050406030204" pitchFamily="18" charset="0"/>
                            </a:rPr>
                            <m:t>𝟎</m:t>
                          </m:r>
                        </m:sub>
                      </m:sSub>
                      <m:r>
                        <a:rPr lang="en-US" altLang="zh-CN" sz="1600" b="1" i="1">
                          <a:solidFill>
                            <a:schemeClr val="tx1"/>
                          </a:solidFill>
                          <a:latin typeface="Cambria Math" panose="02040503050406030204" pitchFamily="18" charset="0"/>
                          <a:ea typeface="Cambria Math" panose="02040503050406030204" pitchFamily="18" charset="0"/>
                        </a:rPr>
                        <m:t>,</m:t>
                      </m:r>
                      <m:sSub>
                        <m:sSubPr>
                          <m:ctrlPr>
                            <a:rPr lang="en-US" altLang="zh-CN" sz="1600" b="1" i="1">
                              <a:solidFill>
                                <a:schemeClr val="tx1"/>
                              </a:solidFill>
                              <a:latin typeface="Cambria Math" panose="02040503050406030204" pitchFamily="18" charset="0"/>
                              <a:ea typeface="Cambria Math" panose="02040503050406030204" pitchFamily="18" charset="0"/>
                            </a:rPr>
                          </m:ctrlPr>
                        </m:sSubPr>
                        <m:e>
                          <m:r>
                            <a:rPr lang="en-US" altLang="zh-CN" sz="1600" b="1" i="1">
                              <a:solidFill>
                                <a:schemeClr val="tx1"/>
                              </a:solidFill>
                              <a:latin typeface="Cambria Math" panose="02040503050406030204" pitchFamily="18" charset="0"/>
                              <a:ea typeface="Cambria Math" panose="02040503050406030204" pitchFamily="18" charset="0"/>
                            </a:rPr>
                            <m:t>𝒓</m:t>
                          </m:r>
                        </m:e>
                        <m:sub>
                          <m:r>
                            <a:rPr lang="en-US" altLang="zh-CN" sz="1600" b="1" i="1">
                              <a:solidFill>
                                <a:schemeClr val="tx1"/>
                              </a:solidFill>
                              <a:latin typeface="Cambria Math" panose="02040503050406030204" pitchFamily="18" charset="0"/>
                              <a:ea typeface="Cambria Math" panose="02040503050406030204" pitchFamily="18" charset="0"/>
                            </a:rPr>
                            <m:t>𝟏</m:t>
                          </m:r>
                        </m:sub>
                      </m:sSub>
                    </m:oMath>
                  </m:oMathPara>
                </a14:m>
                <a:endParaRPr lang="en-US" altLang="zh-CN" sz="1600" b="1" baseline="-25000" dirty="0">
                  <a:latin typeface="+mn-lt"/>
                </a:endParaRPr>
              </a:p>
            </p:txBody>
          </p:sp>
        </mc:Choice>
        <mc:Fallback>
          <p:sp>
            <p:nvSpPr>
              <p:cNvPr id="12" name="内容占位符 2"/>
              <p:cNvSpPr txBox="1">
                <a:spLocks noRot="1" noChangeAspect="1" noMove="1" noResize="1" noEditPoints="1" noAdjustHandles="1" noChangeArrowheads="1" noChangeShapeType="1" noTextEdit="1"/>
              </p:cNvSpPr>
              <p:nvPr/>
            </p:nvSpPr>
            <p:spPr>
              <a:xfrm>
                <a:off x="3419872" y="2641476"/>
                <a:ext cx="2304256" cy="353493"/>
              </a:xfrm>
              <a:prstGeom prst="rect">
                <a:avLst/>
              </a:prstGeom>
              <a:blipFill rotWithShape="1">
                <a:blip r:embed="rId3"/>
                <a:stretch>
                  <a:fillRect l="-17" t="-145" r="10" b="8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内容占位符 2"/>
              <p:cNvSpPr txBox="1"/>
              <p:nvPr/>
            </p:nvSpPr>
            <p:spPr>
              <a:xfrm>
                <a:off x="5909650" y="3367099"/>
                <a:ext cx="2542909" cy="983932"/>
              </a:xfrm>
              <a:prstGeom prst="rect">
                <a:avLst/>
              </a:prstGeom>
            </p:spPr>
            <p:txBody>
              <a:bodyPr vert="horz" lIns="91440" tIns="45720" rIns="91440" bIns="45720" rtlCol="0" anchor="ctr" anchorCtr="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l"/>
                </a:pPr>
                <a:r>
                  <a:rPr lang="en-US" altLang="zh-CN" sz="1400" dirty="0">
                    <a:solidFill>
                      <a:schemeClr val="tx1"/>
                    </a:solidFill>
                  </a:rPr>
                  <a:t>Genearte a key </a:t>
                </a:r>
                <a14:m>
                  <m:oMath xmlns:m="http://schemas.openxmlformats.org/officeDocument/2006/math">
                    <m:r>
                      <a:rPr lang="en-US" altLang="zh-CN" sz="1400" b="1" i="1" smtClean="0">
                        <a:solidFill>
                          <a:schemeClr val="tx1"/>
                        </a:solidFill>
                        <a:latin typeface="Cambria Math" panose="02040503050406030204" pitchFamily="18" charset="0"/>
                      </a:rPr>
                      <m:t>𝒌</m:t>
                    </m:r>
                  </m:oMath>
                </a14:m>
                <a:endParaRPr lang="en-US" altLang="zh-CN" sz="1400" b="1" dirty="0">
                  <a:solidFill>
                    <a:schemeClr val="tx1"/>
                  </a:solidFill>
                </a:endParaRPr>
              </a:p>
              <a:p>
                <a:pPr>
                  <a:lnSpc>
                    <a:spcPct val="150000"/>
                  </a:lnSpc>
                  <a:spcBef>
                    <a:spcPts val="0"/>
                  </a:spcBef>
                  <a:buFont typeface="Wingdings" panose="05000000000000000000" pitchFamily="2" charset="2"/>
                  <a:buChar char="l"/>
                </a:pPr>
                <a14:m>
                  <m:oMath xmlns:m="http://schemas.openxmlformats.org/officeDocument/2006/math">
                    <m:r>
                      <a:rPr lang="en-US" altLang="zh-CN" sz="1400" b="1" i="0" smtClean="0">
                        <a:solidFill>
                          <a:schemeClr val="tx1"/>
                        </a:solidFill>
                        <a:latin typeface="Cambria Math" panose="02040503050406030204" pitchFamily="18" charset="0"/>
                      </a:rPr>
                      <m:t>𝐕</m:t>
                    </m:r>
                    <m:r>
                      <a:rPr lang="en-US" altLang="zh-CN" sz="1400" b="1" i="0" smtClean="0">
                        <a:solidFill>
                          <a:schemeClr val="tx1"/>
                        </a:solidFill>
                        <a:latin typeface="Cambria Math" panose="02040503050406030204" pitchFamily="18" charset="0"/>
                      </a:rPr>
                      <m:t>=</m:t>
                    </m:r>
                    <m:r>
                      <a:rPr lang="en-US" altLang="zh-CN" sz="1400" b="1" i="1" smtClean="0">
                        <a:solidFill>
                          <a:schemeClr val="tx1"/>
                        </a:solidFill>
                        <a:latin typeface="Cambria Math" panose="02040503050406030204" pitchFamily="18" charset="0"/>
                      </a:rPr>
                      <m:t>𝑬𝒏𝒄</m:t>
                    </m:r>
                    <m:d>
                      <m:dPr>
                        <m:ctrlPr>
                          <a:rPr lang="en-US" altLang="zh-CN" sz="1400" b="1" i="1" smtClean="0">
                            <a:solidFill>
                              <a:schemeClr val="tx1"/>
                            </a:solidFill>
                            <a:latin typeface="Cambria Math" panose="02040503050406030204" pitchFamily="18" charset="0"/>
                          </a:rPr>
                        </m:ctrlPr>
                      </m:dPr>
                      <m:e>
                        <m:sSub>
                          <m:sSubPr>
                            <m:ctrlPr>
                              <a:rPr lang="en-US" altLang="zh-CN" sz="1400" b="1" i="1" smtClean="0">
                                <a:solidFill>
                                  <a:schemeClr val="tx1"/>
                                </a:solidFill>
                                <a:latin typeface="Cambria Math" panose="02040503050406030204" pitchFamily="18" charset="0"/>
                              </a:rPr>
                            </m:ctrlPr>
                          </m:sSubPr>
                          <m:e>
                            <m:r>
                              <a:rPr lang="en-US" altLang="zh-CN" sz="1400" b="1" i="1" smtClean="0">
                                <a:solidFill>
                                  <a:schemeClr val="tx1"/>
                                </a:solidFill>
                                <a:latin typeface="Cambria Math" panose="02040503050406030204" pitchFamily="18" charset="0"/>
                              </a:rPr>
                              <m:t>𝑲</m:t>
                            </m:r>
                          </m:e>
                          <m:sub>
                            <m:r>
                              <a:rPr lang="en-US" altLang="zh-CN" sz="1400" b="1" i="1" smtClean="0">
                                <a:solidFill>
                                  <a:schemeClr val="tx1"/>
                                </a:solidFill>
                                <a:latin typeface="Cambria Math" panose="02040503050406030204" pitchFamily="18" charset="0"/>
                              </a:rPr>
                              <m:t>𝒑𝒖𝒃</m:t>
                            </m:r>
                          </m:sub>
                        </m:sSub>
                        <m:r>
                          <a:rPr lang="en-US" altLang="zh-CN" sz="1400" b="1" i="1" smtClean="0">
                            <a:solidFill>
                              <a:schemeClr val="tx1"/>
                            </a:solidFill>
                            <a:latin typeface="Cambria Math" panose="02040503050406030204" pitchFamily="18" charset="0"/>
                          </a:rPr>
                          <m:t>, </m:t>
                        </m:r>
                        <m:r>
                          <a:rPr lang="en-US" altLang="zh-CN" sz="1400" b="1" i="1" smtClean="0">
                            <a:solidFill>
                              <a:schemeClr val="tx1"/>
                            </a:solidFill>
                            <a:latin typeface="Cambria Math" panose="02040503050406030204" pitchFamily="18" charset="0"/>
                          </a:rPr>
                          <m:t>𝒌</m:t>
                        </m:r>
                      </m:e>
                    </m:d>
                    <m:r>
                      <a:rPr lang="en-US" altLang="zh-CN" sz="1400" b="1" i="1" smtClean="0">
                        <a:solidFill>
                          <a:schemeClr val="tx1"/>
                        </a:solidFill>
                        <a:latin typeface="Cambria Math" panose="02040503050406030204" pitchFamily="18" charset="0"/>
                        <a:ea typeface="Cambria Math" panose="02040503050406030204" pitchFamily="18" charset="0"/>
                      </a:rPr>
                      <m:t>⊕</m:t>
                    </m:r>
                    <m:sSub>
                      <m:sSubPr>
                        <m:ctrlPr>
                          <a:rPr lang="en-US" altLang="zh-CN" sz="1400" b="1" i="1" smtClean="0">
                            <a:solidFill>
                              <a:schemeClr val="tx1"/>
                            </a:solidFill>
                            <a:latin typeface="Cambria Math" panose="02040503050406030204" pitchFamily="18" charset="0"/>
                            <a:ea typeface="Cambria Math" panose="02040503050406030204" pitchFamily="18" charset="0"/>
                          </a:rPr>
                        </m:ctrlPr>
                      </m:sSubPr>
                      <m:e>
                        <m:r>
                          <a:rPr lang="en-US" altLang="zh-CN" sz="1400" b="1" i="1" smtClean="0">
                            <a:solidFill>
                              <a:schemeClr val="tx1"/>
                            </a:solidFill>
                            <a:latin typeface="Cambria Math" panose="02040503050406030204" pitchFamily="18" charset="0"/>
                            <a:ea typeface="Cambria Math" panose="02040503050406030204" pitchFamily="18" charset="0"/>
                          </a:rPr>
                          <m:t>𝒓</m:t>
                        </m:r>
                      </m:e>
                      <m:sub>
                        <m:r>
                          <a:rPr lang="en-US" altLang="zh-CN" sz="1400" b="1" i="1" smtClean="0">
                            <a:solidFill>
                              <a:schemeClr val="tx1"/>
                            </a:solidFill>
                            <a:latin typeface="Cambria Math" panose="02040503050406030204" pitchFamily="18" charset="0"/>
                            <a:ea typeface="Cambria Math" panose="02040503050406030204" pitchFamily="18" charset="0"/>
                          </a:rPr>
                          <m:t>𝝈</m:t>
                        </m:r>
                      </m:sub>
                    </m:sSub>
                    <m:r>
                      <a:rPr lang="en-US" altLang="zh-CN" sz="1400" b="1" i="1" smtClean="0">
                        <a:solidFill>
                          <a:schemeClr val="tx1"/>
                        </a:solidFill>
                        <a:latin typeface="Cambria Math" panose="02040503050406030204" pitchFamily="18" charset="0"/>
                        <a:ea typeface="Cambria Math" panose="02040503050406030204" pitchFamily="18" charset="0"/>
                      </a:rPr>
                      <m:t>,  </m:t>
                    </m:r>
                    <m:r>
                      <a:rPr lang="en-US" altLang="zh-CN" sz="1400" b="1" i="1">
                        <a:solidFill>
                          <a:schemeClr val="tx1"/>
                        </a:solidFill>
                        <a:latin typeface="Cambria Math" panose="02040503050406030204" pitchFamily="18" charset="0"/>
                        <a:ea typeface="Cambria Math" panose="02040503050406030204" pitchFamily="18" charset="0"/>
                      </a:rPr>
                      <m:t>𝝈</m:t>
                    </m:r>
                    <m:r>
                      <a:rPr lang="en-US" altLang="zh-CN" sz="1400" b="1" i="1" smtClean="0">
                        <a:solidFill>
                          <a:schemeClr val="tx1"/>
                        </a:solidFill>
                        <a:latin typeface="Cambria Math" panose="02040503050406030204" pitchFamily="18" charset="0"/>
                        <a:ea typeface="Cambria Math" panose="02040503050406030204" pitchFamily="18" charset="0"/>
                      </a:rPr>
                      <m:t>∈{</m:t>
                    </m:r>
                    <m:r>
                      <a:rPr lang="en-US" altLang="zh-CN" sz="1400" b="1" i="1" smtClean="0">
                        <a:solidFill>
                          <a:schemeClr val="tx1"/>
                        </a:solidFill>
                        <a:latin typeface="Cambria Math" panose="02040503050406030204" pitchFamily="18" charset="0"/>
                        <a:ea typeface="Cambria Math" panose="02040503050406030204" pitchFamily="18" charset="0"/>
                      </a:rPr>
                      <m:t>𝟎</m:t>
                    </m:r>
                    <m:r>
                      <a:rPr lang="en-US" altLang="zh-CN" sz="1400" b="1" i="1" smtClean="0">
                        <a:solidFill>
                          <a:schemeClr val="tx1"/>
                        </a:solidFill>
                        <a:latin typeface="Cambria Math" panose="02040503050406030204" pitchFamily="18" charset="0"/>
                        <a:ea typeface="Cambria Math" panose="02040503050406030204" pitchFamily="18" charset="0"/>
                      </a:rPr>
                      <m:t>,</m:t>
                    </m:r>
                    <m:r>
                      <a:rPr lang="en-US" altLang="zh-CN" sz="1400" b="1" i="1" smtClean="0">
                        <a:solidFill>
                          <a:schemeClr val="tx1"/>
                        </a:solidFill>
                        <a:latin typeface="Cambria Math" panose="02040503050406030204" pitchFamily="18" charset="0"/>
                        <a:ea typeface="Cambria Math" panose="02040503050406030204" pitchFamily="18" charset="0"/>
                      </a:rPr>
                      <m:t>𝟏</m:t>
                    </m:r>
                    <m:r>
                      <a:rPr lang="en-US" altLang="zh-CN" sz="1400" b="1" i="1" smtClean="0">
                        <a:solidFill>
                          <a:schemeClr val="tx1"/>
                        </a:solidFill>
                        <a:latin typeface="Cambria Math" panose="02040503050406030204" pitchFamily="18" charset="0"/>
                        <a:ea typeface="Cambria Math" panose="02040503050406030204" pitchFamily="18" charset="0"/>
                      </a:rPr>
                      <m:t>}</m:t>
                    </m:r>
                  </m:oMath>
                </a14:m>
                <a:endParaRPr lang="en-US" altLang="zh-CN" sz="1400" b="1" dirty="0">
                  <a:solidFill>
                    <a:schemeClr val="tx1"/>
                  </a:solidFill>
                </a:endParaRPr>
              </a:p>
            </p:txBody>
          </p:sp>
        </mc:Choice>
        <mc:Fallback>
          <p:sp>
            <p:nvSpPr>
              <p:cNvPr id="13" name="内容占位符 2"/>
              <p:cNvSpPr txBox="1">
                <a:spLocks noRot="1" noChangeAspect="1" noMove="1" noResize="1" noEditPoints="1" noAdjustHandles="1" noChangeArrowheads="1" noChangeShapeType="1" noTextEdit="1"/>
              </p:cNvSpPr>
              <p:nvPr/>
            </p:nvSpPr>
            <p:spPr>
              <a:xfrm>
                <a:off x="5909650" y="3367099"/>
                <a:ext cx="2542909" cy="983932"/>
              </a:xfrm>
              <a:prstGeom prst="rect">
                <a:avLst/>
              </a:prstGeom>
              <a:blipFill rotWithShape="1">
                <a:blip r:embed="rId4"/>
                <a:stretch>
                  <a:fillRect l="-13" t="-1001" r="3" b="-1031"/>
                </a:stretch>
              </a:blipFill>
            </p:spPr>
            <p:txBody>
              <a:bodyPr/>
              <a:lstStyle/>
              <a:p>
                <a:r>
                  <a:rPr lang="zh-CN" altLang="en-US">
                    <a:noFill/>
                  </a:rPr>
                  <a:t> </a:t>
                </a:r>
              </a:p>
            </p:txBody>
          </p:sp>
        </mc:Fallback>
      </mc:AlternateContent>
      <p:cxnSp>
        <p:nvCxnSpPr>
          <p:cNvPr id="15" name="直线箭头连接符 14"/>
          <p:cNvCxnSpPr/>
          <p:nvPr/>
        </p:nvCxnSpPr>
        <p:spPr>
          <a:xfrm>
            <a:off x="3599892" y="3860012"/>
            <a:ext cx="1944216"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0" name="内容占位符 2"/>
              <p:cNvSpPr txBox="1"/>
              <p:nvPr/>
            </p:nvSpPr>
            <p:spPr>
              <a:xfrm>
                <a:off x="3779912" y="3505572"/>
                <a:ext cx="1584176" cy="353493"/>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Bef>
                    <a:spcPts val="0"/>
                  </a:spcBef>
                  <a:buNone/>
                </a:pPr>
                <a14:m>
                  <m:oMathPara xmlns:m="http://schemas.openxmlformats.org/officeDocument/2006/math">
                    <m:oMathParaPr>
                      <m:jc m:val="centerGroup"/>
                    </m:oMathParaPr>
                    <m:oMath xmlns:m="http://schemas.openxmlformats.org/officeDocument/2006/math">
                      <m:r>
                        <a:rPr lang="en-US" altLang="zh-CN" sz="1600" b="1" i="1">
                          <a:solidFill>
                            <a:schemeClr val="tx1"/>
                          </a:solidFill>
                          <a:latin typeface="Cambria Math" panose="02040503050406030204" pitchFamily="18" charset="0"/>
                        </a:rPr>
                        <m:t>𝐕</m:t>
                      </m:r>
                    </m:oMath>
                  </m:oMathPara>
                </a14:m>
                <a:endParaRPr lang="en-US" altLang="zh-CN" sz="1600" b="1" baseline="-25000" dirty="0">
                  <a:latin typeface="+mn-lt"/>
                </a:endParaRPr>
              </a:p>
            </p:txBody>
          </p:sp>
        </mc:Choice>
        <mc:Fallback>
          <p:sp>
            <p:nvSpPr>
              <p:cNvPr id="20" name="内容占位符 2"/>
              <p:cNvSpPr txBox="1">
                <a:spLocks noRot="1" noChangeAspect="1" noMove="1" noResize="1" noEditPoints="1" noAdjustHandles="1" noChangeArrowheads="1" noChangeShapeType="1" noTextEdit="1"/>
              </p:cNvSpPr>
              <p:nvPr/>
            </p:nvSpPr>
            <p:spPr>
              <a:xfrm>
                <a:off x="3779912" y="3505572"/>
                <a:ext cx="1584176" cy="353493"/>
              </a:xfrm>
              <a:prstGeom prst="rect">
                <a:avLst/>
              </a:prstGeom>
              <a:blipFill rotWithShape="1">
                <a:blip r:embed="rId5"/>
                <a:stretch>
                  <a:fillRect l="-25" t="-105" r="15" b="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内容占位符 2"/>
              <p:cNvSpPr txBox="1"/>
              <p:nvPr/>
            </p:nvSpPr>
            <p:spPr>
              <a:xfrm>
                <a:off x="761971" y="4092826"/>
                <a:ext cx="2879127" cy="1778203"/>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l"/>
                </a:pPr>
                <a14:m>
                  <m:oMath xmlns:m="http://schemas.openxmlformats.org/officeDocument/2006/math">
                    <m:sSub>
                      <m:sSubPr>
                        <m:ctrlPr>
                          <a:rPr lang="en-US" altLang="zh-CN" sz="1400" b="1" i="1" smtClean="0">
                            <a:solidFill>
                              <a:schemeClr val="tx1"/>
                            </a:solidFill>
                            <a:latin typeface="Cambria Math" panose="02040503050406030204" pitchFamily="18" charset="0"/>
                          </a:rPr>
                        </m:ctrlPr>
                      </m:sSubPr>
                      <m:e>
                        <m:r>
                          <a:rPr lang="en-US" altLang="zh-CN" sz="1400" b="1" i="1" smtClean="0">
                            <a:solidFill>
                              <a:schemeClr val="tx1"/>
                            </a:solidFill>
                            <a:latin typeface="Cambria Math" panose="02040503050406030204" pitchFamily="18" charset="0"/>
                          </a:rPr>
                          <m:t>𝒌</m:t>
                        </m:r>
                      </m:e>
                      <m:sub>
                        <m:r>
                          <a:rPr lang="en-US" altLang="zh-CN" sz="1400" b="1" i="1" smtClean="0">
                            <a:solidFill>
                              <a:schemeClr val="tx1"/>
                            </a:solidFill>
                            <a:latin typeface="Cambria Math" panose="02040503050406030204" pitchFamily="18" charset="0"/>
                          </a:rPr>
                          <m:t>𝟎</m:t>
                        </m:r>
                      </m:sub>
                    </m:sSub>
                    <m:r>
                      <a:rPr lang="en-US" altLang="zh-CN" sz="1400" b="1" i="1" smtClean="0">
                        <a:solidFill>
                          <a:schemeClr val="tx1"/>
                        </a:solidFill>
                        <a:latin typeface="Cambria Math" panose="02040503050406030204" pitchFamily="18" charset="0"/>
                      </a:rPr>
                      <m:t>=</m:t>
                    </m:r>
                    <m:r>
                      <a:rPr lang="en-US" altLang="zh-CN" sz="1400" b="1" i="1" smtClean="0">
                        <a:solidFill>
                          <a:schemeClr val="tx1"/>
                        </a:solidFill>
                        <a:latin typeface="Cambria Math" panose="02040503050406030204" pitchFamily="18" charset="0"/>
                      </a:rPr>
                      <m:t>𝑫𝒆𝒄</m:t>
                    </m:r>
                    <m:d>
                      <m:dPr>
                        <m:ctrlPr>
                          <a:rPr lang="en-US" altLang="zh-CN" sz="1400" b="1" i="1" smtClean="0">
                            <a:solidFill>
                              <a:schemeClr val="tx1"/>
                            </a:solidFill>
                            <a:latin typeface="Cambria Math" panose="02040503050406030204" pitchFamily="18" charset="0"/>
                          </a:rPr>
                        </m:ctrlPr>
                      </m:dPr>
                      <m:e>
                        <m:sSub>
                          <m:sSubPr>
                            <m:ctrlPr>
                              <a:rPr lang="en-US" altLang="zh-CN" sz="1400" b="1" i="1" smtClean="0">
                                <a:solidFill>
                                  <a:schemeClr val="tx1"/>
                                </a:solidFill>
                                <a:latin typeface="Cambria Math" panose="02040503050406030204" pitchFamily="18" charset="0"/>
                              </a:rPr>
                            </m:ctrlPr>
                          </m:sSubPr>
                          <m:e>
                            <m:r>
                              <a:rPr lang="en-US" altLang="zh-CN" sz="1400" b="1" i="1" smtClean="0">
                                <a:solidFill>
                                  <a:schemeClr val="tx1"/>
                                </a:solidFill>
                                <a:latin typeface="Cambria Math" panose="02040503050406030204" pitchFamily="18" charset="0"/>
                              </a:rPr>
                              <m:t>𝑲</m:t>
                            </m:r>
                          </m:e>
                          <m:sub>
                            <m:r>
                              <a:rPr lang="en-US" altLang="zh-CN" sz="1400" b="1" i="1" smtClean="0">
                                <a:solidFill>
                                  <a:schemeClr val="tx1"/>
                                </a:solidFill>
                                <a:latin typeface="Cambria Math" panose="02040503050406030204" pitchFamily="18" charset="0"/>
                              </a:rPr>
                              <m:t>𝒑𝒓𝒗</m:t>
                            </m:r>
                          </m:sub>
                        </m:sSub>
                        <m:r>
                          <a:rPr lang="en-US" altLang="zh-CN" sz="1400" b="1" i="1" smtClean="0">
                            <a:solidFill>
                              <a:schemeClr val="tx1"/>
                            </a:solidFill>
                            <a:latin typeface="Cambria Math" panose="02040503050406030204" pitchFamily="18" charset="0"/>
                          </a:rPr>
                          <m:t>,</m:t>
                        </m:r>
                        <m:r>
                          <a:rPr lang="en-US" altLang="zh-CN" sz="1400" b="1" i="1" smtClean="0">
                            <a:solidFill>
                              <a:schemeClr val="tx1"/>
                            </a:solidFill>
                            <a:latin typeface="Cambria Math" panose="02040503050406030204" pitchFamily="18" charset="0"/>
                          </a:rPr>
                          <m:t>𝑽</m:t>
                        </m:r>
                        <m:r>
                          <a:rPr lang="en-US" altLang="zh-CN" sz="1400" b="1" i="1" smtClean="0">
                            <a:solidFill>
                              <a:schemeClr val="tx1"/>
                            </a:solidFill>
                            <a:latin typeface="Cambria Math" panose="02040503050406030204" pitchFamily="18" charset="0"/>
                            <a:ea typeface="Cambria Math" panose="02040503050406030204" pitchFamily="18" charset="0"/>
                          </a:rPr>
                          <m:t>⨁</m:t>
                        </m:r>
                        <m:sSub>
                          <m:sSubPr>
                            <m:ctrlPr>
                              <a:rPr lang="en-US" altLang="zh-CN" sz="1400" b="1" i="1" smtClean="0">
                                <a:solidFill>
                                  <a:schemeClr val="tx1"/>
                                </a:solidFill>
                                <a:latin typeface="Cambria Math" panose="02040503050406030204" pitchFamily="18" charset="0"/>
                                <a:ea typeface="Cambria Math" panose="02040503050406030204" pitchFamily="18" charset="0"/>
                              </a:rPr>
                            </m:ctrlPr>
                          </m:sSubPr>
                          <m:e>
                            <m:r>
                              <a:rPr lang="en-US" altLang="zh-CN" sz="1400" b="1" i="1" smtClean="0">
                                <a:solidFill>
                                  <a:schemeClr val="tx1"/>
                                </a:solidFill>
                                <a:latin typeface="Cambria Math" panose="02040503050406030204" pitchFamily="18" charset="0"/>
                                <a:ea typeface="Cambria Math" panose="02040503050406030204" pitchFamily="18" charset="0"/>
                              </a:rPr>
                              <m:t> </m:t>
                            </m:r>
                            <m:r>
                              <a:rPr lang="en-US" altLang="zh-CN" sz="1400" b="1" i="1" smtClean="0">
                                <a:solidFill>
                                  <a:schemeClr val="tx1"/>
                                </a:solidFill>
                                <a:latin typeface="Cambria Math" panose="02040503050406030204" pitchFamily="18" charset="0"/>
                                <a:ea typeface="Cambria Math" panose="02040503050406030204" pitchFamily="18" charset="0"/>
                              </a:rPr>
                              <m:t>𝒓</m:t>
                            </m:r>
                          </m:e>
                          <m:sub>
                            <m:r>
                              <a:rPr lang="en-US" altLang="zh-CN" sz="1400" b="1" i="1" smtClean="0">
                                <a:solidFill>
                                  <a:schemeClr val="tx1"/>
                                </a:solidFill>
                                <a:latin typeface="Cambria Math" panose="02040503050406030204" pitchFamily="18" charset="0"/>
                                <a:ea typeface="Cambria Math" panose="02040503050406030204" pitchFamily="18" charset="0"/>
                              </a:rPr>
                              <m:t>𝟎</m:t>
                            </m:r>
                          </m:sub>
                        </m:sSub>
                      </m:e>
                    </m:d>
                  </m:oMath>
                </a14:m>
                <a:endParaRPr lang="en-US" altLang="zh-CN" sz="1400" b="1" dirty="0">
                  <a:solidFill>
                    <a:schemeClr val="tx1"/>
                  </a:solidFill>
                  <a:ea typeface="Cambria Math" panose="02040503050406030204" pitchFamily="18" charset="0"/>
                </a:endParaRPr>
              </a:p>
              <a:p>
                <a:pPr>
                  <a:lnSpc>
                    <a:spcPct val="150000"/>
                  </a:lnSpc>
                  <a:spcBef>
                    <a:spcPts val="0"/>
                  </a:spcBef>
                  <a:buFont typeface="Wingdings" panose="05000000000000000000" pitchFamily="2" charset="2"/>
                  <a:buChar char="l"/>
                </a:pPr>
                <a14:m>
                  <m:oMath xmlns:m="http://schemas.openxmlformats.org/officeDocument/2006/math">
                    <m:sSub>
                      <m:sSubPr>
                        <m:ctrlPr>
                          <a:rPr lang="en-US" altLang="zh-CN" sz="1400" b="1" i="1">
                            <a:solidFill>
                              <a:schemeClr val="tx1"/>
                            </a:solidFill>
                            <a:latin typeface="Cambria Math" panose="02040503050406030204" pitchFamily="18" charset="0"/>
                          </a:rPr>
                        </m:ctrlPr>
                      </m:sSubPr>
                      <m:e>
                        <m:r>
                          <a:rPr lang="en-US" altLang="zh-CN" sz="1400" b="1" i="1">
                            <a:solidFill>
                              <a:schemeClr val="tx1"/>
                            </a:solidFill>
                            <a:latin typeface="Cambria Math" panose="02040503050406030204" pitchFamily="18" charset="0"/>
                          </a:rPr>
                          <m:t>𝒌</m:t>
                        </m:r>
                      </m:e>
                      <m:sub>
                        <m:r>
                          <a:rPr lang="en-US" altLang="zh-CN" sz="1400" b="1" i="1" smtClean="0">
                            <a:solidFill>
                              <a:schemeClr val="tx1"/>
                            </a:solidFill>
                            <a:latin typeface="Cambria Math" panose="02040503050406030204" pitchFamily="18" charset="0"/>
                          </a:rPr>
                          <m:t>𝟏</m:t>
                        </m:r>
                      </m:sub>
                    </m:sSub>
                    <m:r>
                      <a:rPr lang="en-US" altLang="zh-CN" sz="1400" b="1"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𝑫𝒆𝒄</m:t>
                    </m:r>
                    <m:d>
                      <m:dPr>
                        <m:ctrlPr>
                          <a:rPr lang="en-US" altLang="zh-CN" sz="1400" b="1" i="1">
                            <a:solidFill>
                              <a:schemeClr val="tx1"/>
                            </a:solidFill>
                            <a:latin typeface="Cambria Math" panose="02040503050406030204" pitchFamily="18" charset="0"/>
                          </a:rPr>
                        </m:ctrlPr>
                      </m:dPr>
                      <m:e>
                        <m:sSub>
                          <m:sSubPr>
                            <m:ctrlPr>
                              <a:rPr lang="en-US" altLang="zh-CN" sz="1400" b="1" i="1">
                                <a:solidFill>
                                  <a:schemeClr val="tx1"/>
                                </a:solidFill>
                                <a:latin typeface="Cambria Math" panose="02040503050406030204" pitchFamily="18" charset="0"/>
                              </a:rPr>
                            </m:ctrlPr>
                          </m:sSubPr>
                          <m:e>
                            <m:r>
                              <a:rPr lang="en-US" altLang="zh-CN" sz="1400" b="1" i="1">
                                <a:solidFill>
                                  <a:schemeClr val="tx1"/>
                                </a:solidFill>
                                <a:latin typeface="Cambria Math" panose="02040503050406030204" pitchFamily="18" charset="0"/>
                              </a:rPr>
                              <m:t>𝑲</m:t>
                            </m:r>
                          </m:e>
                          <m:sub>
                            <m:r>
                              <a:rPr lang="en-US" altLang="zh-CN" sz="1400" b="1" i="1">
                                <a:solidFill>
                                  <a:schemeClr val="tx1"/>
                                </a:solidFill>
                                <a:latin typeface="Cambria Math" panose="02040503050406030204" pitchFamily="18" charset="0"/>
                              </a:rPr>
                              <m:t>𝒑𝒓𝒗</m:t>
                            </m:r>
                          </m:sub>
                        </m:sSub>
                        <m:r>
                          <a:rPr lang="en-US" altLang="zh-CN" sz="1400" b="1"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𝑽</m:t>
                        </m:r>
                        <m:r>
                          <a:rPr lang="en-US" altLang="zh-CN" sz="1400" b="1" i="1">
                            <a:solidFill>
                              <a:schemeClr val="tx1"/>
                            </a:solidFill>
                            <a:latin typeface="Cambria Math" panose="02040503050406030204" pitchFamily="18" charset="0"/>
                            <a:ea typeface="Cambria Math" panose="02040503050406030204" pitchFamily="18" charset="0"/>
                          </a:rPr>
                          <m:t>⨁</m:t>
                        </m:r>
                        <m:sSub>
                          <m:sSubPr>
                            <m:ctrlPr>
                              <a:rPr lang="en-US" altLang="zh-CN" sz="1400" b="1" i="1">
                                <a:solidFill>
                                  <a:schemeClr val="tx1"/>
                                </a:solidFill>
                                <a:latin typeface="Cambria Math" panose="02040503050406030204" pitchFamily="18" charset="0"/>
                                <a:ea typeface="Cambria Math" panose="02040503050406030204" pitchFamily="18" charset="0"/>
                              </a:rPr>
                            </m:ctrlPr>
                          </m:sSubPr>
                          <m:e>
                            <m:r>
                              <a:rPr lang="en-US" altLang="zh-CN" sz="1400" b="1" i="1" smtClean="0">
                                <a:solidFill>
                                  <a:schemeClr val="tx1"/>
                                </a:solidFill>
                                <a:latin typeface="Cambria Math" panose="02040503050406030204" pitchFamily="18" charset="0"/>
                                <a:ea typeface="Cambria Math" panose="02040503050406030204" pitchFamily="18" charset="0"/>
                              </a:rPr>
                              <m:t> </m:t>
                            </m:r>
                            <m:r>
                              <a:rPr lang="en-US" altLang="zh-CN" sz="1400" b="1" i="1">
                                <a:solidFill>
                                  <a:schemeClr val="tx1"/>
                                </a:solidFill>
                                <a:latin typeface="Cambria Math" panose="02040503050406030204" pitchFamily="18" charset="0"/>
                                <a:ea typeface="Cambria Math" panose="02040503050406030204" pitchFamily="18" charset="0"/>
                              </a:rPr>
                              <m:t>𝒓</m:t>
                            </m:r>
                          </m:e>
                          <m:sub>
                            <m:r>
                              <a:rPr lang="en-US" altLang="zh-CN" sz="1400" b="1" i="1" smtClean="0">
                                <a:solidFill>
                                  <a:schemeClr val="tx1"/>
                                </a:solidFill>
                                <a:latin typeface="Cambria Math" panose="02040503050406030204" pitchFamily="18" charset="0"/>
                                <a:ea typeface="Cambria Math" panose="02040503050406030204" pitchFamily="18" charset="0"/>
                              </a:rPr>
                              <m:t>𝟏</m:t>
                            </m:r>
                          </m:sub>
                        </m:sSub>
                      </m:e>
                    </m:d>
                  </m:oMath>
                </a14:m>
                <a:endParaRPr lang="en-US" altLang="zh-CN" sz="1400" b="1" dirty="0">
                  <a:solidFill>
                    <a:schemeClr val="tx1"/>
                  </a:solidFill>
                  <a:ea typeface="Cambria Math" panose="02040503050406030204" pitchFamily="18" charset="0"/>
                </a:endParaRPr>
              </a:p>
              <a:p>
                <a:pPr>
                  <a:lnSpc>
                    <a:spcPct val="150000"/>
                  </a:lnSpc>
                  <a:spcBef>
                    <a:spcPts val="0"/>
                  </a:spcBef>
                  <a:buFont typeface="Wingdings" panose="05000000000000000000" pitchFamily="2" charset="2"/>
                  <a:buChar char="l"/>
                </a:pPr>
                <a14:m>
                  <m:oMath xmlns:m="http://schemas.openxmlformats.org/officeDocument/2006/math">
                    <m:sSub>
                      <m:sSubPr>
                        <m:ctrlPr>
                          <a:rPr lang="en-US" altLang="zh-CN" sz="1400" b="1" i="1">
                            <a:solidFill>
                              <a:schemeClr val="tx1"/>
                            </a:solidFill>
                            <a:latin typeface="Cambria Math" panose="02040503050406030204" pitchFamily="18" charset="0"/>
                          </a:rPr>
                        </m:ctrlPr>
                      </m:sSubPr>
                      <m:e>
                        <m:r>
                          <a:rPr lang="en-US" altLang="zh-CN" sz="1400" b="1" i="1" smtClean="0">
                            <a:solidFill>
                              <a:schemeClr val="tx1"/>
                            </a:solidFill>
                            <a:latin typeface="Cambria Math" panose="02040503050406030204" pitchFamily="18" charset="0"/>
                          </a:rPr>
                          <m:t>𝑪</m:t>
                        </m:r>
                      </m:e>
                      <m:sub>
                        <m:r>
                          <a:rPr lang="en-US" altLang="zh-CN" sz="1400" b="1" i="1" smtClean="0">
                            <a:solidFill>
                              <a:schemeClr val="tx1"/>
                            </a:solidFill>
                            <a:latin typeface="Cambria Math" panose="02040503050406030204" pitchFamily="18" charset="0"/>
                          </a:rPr>
                          <m:t>𝟎</m:t>
                        </m:r>
                      </m:sub>
                    </m:sSub>
                    <m:r>
                      <a:rPr lang="en-US" altLang="zh-CN" sz="1400" b="1" i="1">
                        <a:solidFill>
                          <a:schemeClr val="tx1"/>
                        </a:solidFill>
                        <a:latin typeface="Cambria Math" panose="02040503050406030204" pitchFamily="18" charset="0"/>
                      </a:rPr>
                      <m:t>=</m:t>
                    </m:r>
                    <m:r>
                      <a:rPr lang="en-US" altLang="zh-CN" sz="1400" b="1" i="1" smtClean="0">
                        <a:solidFill>
                          <a:schemeClr val="tx1"/>
                        </a:solidFill>
                        <a:latin typeface="Cambria Math" panose="02040503050406030204" pitchFamily="18" charset="0"/>
                      </a:rPr>
                      <m:t>𝑬𝒏𝒄</m:t>
                    </m:r>
                    <m:d>
                      <m:dPr>
                        <m:ctrlPr>
                          <a:rPr lang="en-US" altLang="zh-CN" sz="1400" b="1" i="1">
                            <a:solidFill>
                              <a:schemeClr val="tx1"/>
                            </a:solidFill>
                            <a:latin typeface="Cambria Math" panose="02040503050406030204" pitchFamily="18" charset="0"/>
                          </a:rPr>
                        </m:ctrlPr>
                      </m:dPr>
                      <m:e>
                        <m:sSub>
                          <m:sSubPr>
                            <m:ctrlPr>
                              <a:rPr lang="en-US" altLang="zh-CN" sz="1400" b="1" i="1">
                                <a:solidFill>
                                  <a:schemeClr val="tx1"/>
                                </a:solidFill>
                                <a:latin typeface="Cambria Math" panose="02040503050406030204" pitchFamily="18" charset="0"/>
                              </a:rPr>
                            </m:ctrlPr>
                          </m:sSubPr>
                          <m:e>
                            <m:r>
                              <a:rPr lang="en-US" altLang="zh-CN" sz="1400" b="1" i="1" smtClean="0">
                                <a:solidFill>
                                  <a:schemeClr val="tx1"/>
                                </a:solidFill>
                                <a:latin typeface="Cambria Math" panose="02040503050406030204" pitchFamily="18" charset="0"/>
                              </a:rPr>
                              <m:t>𝒌</m:t>
                            </m:r>
                          </m:e>
                          <m:sub>
                            <m:r>
                              <a:rPr lang="en-US" altLang="zh-CN" sz="1400" b="1" i="1" smtClean="0">
                                <a:solidFill>
                                  <a:schemeClr val="tx1"/>
                                </a:solidFill>
                                <a:latin typeface="Cambria Math" panose="02040503050406030204" pitchFamily="18" charset="0"/>
                              </a:rPr>
                              <m:t>𝒐</m:t>
                            </m:r>
                          </m:sub>
                        </m:sSub>
                        <m:r>
                          <a:rPr lang="en-US" altLang="zh-CN" sz="1400" b="1" i="1">
                            <a:solidFill>
                              <a:schemeClr val="tx1"/>
                            </a:solidFill>
                            <a:latin typeface="Cambria Math" panose="02040503050406030204" pitchFamily="18" charset="0"/>
                          </a:rPr>
                          <m:t>,</m:t>
                        </m:r>
                        <m:r>
                          <a:rPr lang="en-US" altLang="zh-CN" sz="1400" b="1" i="1" smtClean="0">
                            <a:solidFill>
                              <a:schemeClr val="tx1"/>
                            </a:solidFill>
                            <a:latin typeface="Cambria Math" panose="02040503050406030204" pitchFamily="18" charset="0"/>
                          </a:rPr>
                          <m:t> </m:t>
                        </m:r>
                        <m:sSub>
                          <m:sSubPr>
                            <m:ctrlPr>
                              <a:rPr lang="en-US" altLang="zh-CN" sz="1400" b="1" i="1" smtClean="0">
                                <a:solidFill>
                                  <a:schemeClr val="tx1"/>
                                </a:solidFill>
                                <a:latin typeface="Cambria Math" panose="02040503050406030204" pitchFamily="18" charset="0"/>
                                <a:ea typeface="Cambria Math" panose="02040503050406030204" pitchFamily="18" charset="0"/>
                              </a:rPr>
                            </m:ctrlPr>
                          </m:sSubPr>
                          <m:e>
                            <m:r>
                              <a:rPr lang="en-US" altLang="zh-CN" sz="1400" b="1" i="1" smtClean="0">
                                <a:solidFill>
                                  <a:schemeClr val="tx1"/>
                                </a:solidFill>
                                <a:latin typeface="Cambria Math" panose="02040503050406030204" pitchFamily="18" charset="0"/>
                                <a:ea typeface="Cambria Math" panose="02040503050406030204" pitchFamily="18" charset="0"/>
                              </a:rPr>
                              <m:t> </m:t>
                            </m:r>
                            <m:r>
                              <a:rPr lang="en-US" altLang="zh-CN" sz="1400" b="1" i="1" smtClean="0">
                                <a:solidFill>
                                  <a:schemeClr val="tx1"/>
                                </a:solidFill>
                                <a:latin typeface="Cambria Math" panose="02040503050406030204" pitchFamily="18" charset="0"/>
                                <a:ea typeface="Cambria Math" panose="02040503050406030204" pitchFamily="18" charset="0"/>
                              </a:rPr>
                              <m:t>𝒎</m:t>
                            </m:r>
                          </m:e>
                          <m:sub>
                            <m:r>
                              <a:rPr lang="en-US" altLang="zh-CN" sz="1400" b="1" i="1" smtClean="0">
                                <a:solidFill>
                                  <a:schemeClr val="tx1"/>
                                </a:solidFill>
                                <a:latin typeface="Cambria Math" panose="02040503050406030204" pitchFamily="18" charset="0"/>
                                <a:ea typeface="Cambria Math" panose="02040503050406030204" pitchFamily="18" charset="0"/>
                              </a:rPr>
                              <m:t>𝟎</m:t>
                            </m:r>
                          </m:sub>
                        </m:sSub>
                      </m:e>
                    </m:d>
                  </m:oMath>
                </a14:m>
                <a:endParaRPr lang="en-US" altLang="zh-CN" sz="1400" b="1" dirty="0">
                  <a:solidFill>
                    <a:schemeClr val="tx1"/>
                  </a:solidFill>
                  <a:ea typeface="Cambria Math" panose="02040503050406030204" pitchFamily="18" charset="0"/>
                </a:endParaRPr>
              </a:p>
              <a:p>
                <a:pPr>
                  <a:lnSpc>
                    <a:spcPct val="150000"/>
                  </a:lnSpc>
                  <a:spcBef>
                    <a:spcPts val="0"/>
                  </a:spcBef>
                  <a:buFont typeface="Wingdings" panose="05000000000000000000" pitchFamily="2" charset="2"/>
                  <a:buChar char="l"/>
                </a:pPr>
                <a14:m>
                  <m:oMath xmlns:m="http://schemas.openxmlformats.org/officeDocument/2006/math">
                    <m:sSub>
                      <m:sSubPr>
                        <m:ctrlPr>
                          <a:rPr lang="en-US" altLang="zh-CN" sz="1400" b="1" i="1">
                            <a:solidFill>
                              <a:schemeClr val="tx1"/>
                            </a:solidFill>
                            <a:latin typeface="Cambria Math" panose="02040503050406030204" pitchFamily="18" charset="0"/>
                          </a:rPr>
                        </m:ctrlPr>
                      </m:sSubPr>
                      <m:e>
                        <m:r>
                          <a:rPr lang="en-US" altLang="zh-CN" sz="1400" b="1" i="1">
                            <a:solidFill>
                              <a:schemeClr val="tx1"/>
                            </a:solidFill>
                            <a:latin typeface="Cambria Math" panose="02040503050406030204" pitchFamily="18" charset="0"/>
                          </a:rPr>
                          <m:t>𝑪</m:t>
                        </m:r>
                      </m:e>
                      <m:sub>
                        <m:r>
                          <a:rPr lang="en-US" altLang="zh-CN" sz="1400" b="1" i="1" smtClean="0">
                            <a:solidFill>
                              <a:schemeClr val="tx1"/>
                            </a:solidFill>
                            <a:latin typeface="Cambria Math" panose="02040503050406030204" pitchFamily="18" charset="0"/>
                          </a:rPr>
                          <m:t>𝟏</m:t>
                        </m:r>
                      </m:sub>
                    </m:sSub>
                    <m:r>
                      <a:rPr lang="en-US" altLang="zh-CN" sz="1400" b="1"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𝑬𝒏𝒄</m:t>
                    </m:r>
                    <m:d>
                      <m:dPr>
                        <m:ctrlPr>
                          <a:rPr lang="en-US" altLang="zh-CN" sz="1400" b="1" i="1">
                            <a:solidFill>
                              <a:schemeClr val="tx1"/>
                            </a:solidFill>
                            <a:latin typeface="Cambria Math" panose="02040503050406030204" pitchFamily="18" charset="0"/>
                          </a:rPr>
                        </m:ctrlPr>
                      </m:dPr>
                      <m:e>
                        <m:sSub>
                          <m:sSubPr>
                            <m:ctrlPr>
                              <a:rPr lang="en-US" altLang="zh-CN" sz="1400" b="1" i="1">
                                <a:solidFill>
                                  <a:schemeClr val="tx1"/>
                                </a:solidFill>
                                <a:latin typeface="Cambria Math" panose="02040503050406030204" pitchFamily="18" charset="0"/>
                              </a:rPr>
                            </m:ctrlPr>
                          </m:sSubPr>
                          <m:e>
                            <m:r>
                              <a:rPr lang="en-US" altLang="zh-CN" sz="1400" b="1" i="1" smtClean="0">
                                <a:solidFill>
                                  <a:schemeClr val="tx1"/>
                                </a:solidFill>
                                <a:latin typeface="Cambria Math" panose="02040503050406030204" pitchFamily="18" charset="0"/>
                              </a:rPr>
                              <m:t>𝒌</m:t>
                            </m:r>
                          </m:e>
                          <m:sub>
                            <m:r>
                              <a:rPr lang="en-US" altLang="zh-CN" sz="1400" b="1" i="1" smtClean="0">
                                <a:solidFill>
                                  <a:schemeClr val="tx1"/>
                                </a:solidFill>
                                <a:latin typeface="Cambria Math" panose="02040503050406030204" pitchFamily="18" charset="0"/>
                              </a:rPr>
                              <m:t>𝟏</m:t>
                            </m:r>
                          </m:sub>
                        </m:sSub>
                        <m:r>
                          <a:rPr lang="en-US" altLang="zh-CN" sz="1400" b="1" i="1">
                            <a:solidFill>
                              <a:schemeClr val="tx1"/>
                            </a:solidFill>
                            <a:latin typeface="Cambria Math" panose="02040503050406030204" pitchFamily="18" charset="0"/>
                          </a:rPr>
                          <m:t>, </m:t>
                        </m:r>
                        <m:sSub>
                          <m:sSubPr>
                            <m:ctrlPr>
                              <a:rPr lang="en-US" altLang="zh-CN" sz="1400" b="1" i="1">
                                <a:solidFill>
                                  <a:schemeClr val="tx1"/>
                                </a:solidFill>
                                <a:latin typeface="Cambria Math" panose="02040503050406030204" pitchFamily="18" charset="0"/>
                                <a:ea typeface="Cambria Math" panose="02040503050406030204" pitchFamily="18" charset="0"/>
                              </a:rPr>
                            </m:ctrlPr>
                          </m:sSubPr>
                          <m:e>
                            <m:r>
                              <a:rPr lang="en-US" altLang="zh-CN" sz="1400" b="1" i="1">
                                <a:solidFill>
                                  <a:schemeClr val="tx1"/>
                                </a:solidFill>
                                <a:latin typeface="Cambria Math" panose="02040503050406030204" pitchFamily="18" charset="0"/>
                                <a:ea typeface="Cambria Math" panose="02040503050406030204" pitchFamily="18" charset="0"/>
                              </a:rPr>
                              <m:t> </m:t>
                            </m:r>
                            <m:r>
                              <a:rPr lang="en-US" altLang="zh-CN" sz="1400" b="1" i="1">
                                <a:solidFill>
                                  <a:schemeClr val="tx1"/>
                                </a:solidFill>
                                <a:latin typeface="Cambria Math" panose="02040503050406030204" pitchFamily="18" charset="0"/>
                                <a:ea typeface="Cambria Math" panose="02040503050406030204" pitchFamily="18" charset="0"/>
                              </a:rPr>
                              <m:t>𝒎</m:t>
                            </m:r>
                          </m:e>
                          <m:sub>
                            <m:r>
                              <a:rPr lang="en-US" altLang="zh-CN" sz="1400" b="1" i="1" smtClean="0">
                                <a:solidFill>
                                  <a:schemeClr val="tx1"/>
                                </a:solidFill>
                                <a:latin typeface="Cambria Math" panose="02040503050406030204" pitchFamily="18" charset="0"/>
                                <a:ea typeface="Cambria Math" panose="02040503050406030204" pitchFamily="18" charset="0"/>
                              </a:rPr>
                              <m:t>𝟏</m:t>
                            </m:r>
                          </m:sub>
                        </m:sSub>
                      </m:e>
                    </m:d>
                  </m:oMath>
                </a14:m>
                <a:endParaRPr lang="en-US" altLang="zh-CN" sz="1400" b="1" dirty="0">
                  <a:solidFill>
                    <a:schemeClr val="tx1"/>
                  </a:solidFill>
                  <a:ea typeface="Cambria Math" panose="02040503050406030204" pitchFamily="18" charset="0"/>
                </a:endParaRPr>
              </a:p>
            </p:txBody>
          </p:sp>
        </mc:Choice>
        <mc:Fallback>
          <p:sp>
            <p:nvSpPr>
              <p:cNvPr id="21" name="内容占位符 2"/>
              <p:cNvSpPr txBox="1">
                <a:spLocks noRot="1" noChangeAspect="1" noMove="1" noResize="1" noEditPoints="1" noAdjustHandles="1" noChangeArrowheads="1" noChangeShapeType="1" noTextEdit="1"/>
              </p:cNvSpPr>
              <p:nvPr/>
            </p:nvSpPr>
            <p:spPr>
              <a:xfrm>
                <a:off x="761971" y="4092826"/>
                <a:ext cx="2879127" cy="1778203"/>
              </a:xfrm>
              <a:prstGeom prst="rect">
                <a:avLst/>
              </a:prstGeom>
              <a:blipFill rotWithShape="1">
                <a:blip r:embed="rId6"/>
                <a:stretch>
                  <a:fillRect l="-21" t="-14" b="26"/>
                </a:stretch>
              </a:blipFill>
            </p:spPr>
            <p:txBody>
              <a:bodyPr/>
              <a:lstStyle/>
              <a:p>
                <a:r>
                  <a:rPr lang="zh-CN" altLang="en-US">
                    <a:noFill/>
                  </a:rPr>
                  <a:t> </a:t>
                </a:r>
              </a:p>
            </p:txBody>
          </p:sp>
        </mc:Fallback>
      </mc:AlternateContent>
      <p:cxnSp>
        <p:nvCxnSpPr>
          <p:cNvPr id="24" name="直线箭头连接符 23"/>
          <p:cNvCxnSpPr/>
          <p:nvPr/>
        </p:nvCxnSpPr>
        <p:spPr>
          <a:xfrm>
            <a:off x="3599892" y="4981927"/>
            <a:ext cx="1944216"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5" name="内容占位符 2"/>
              <p:cNvSpPr txBox="1"/>
              <p:nvPr/>
            </p:nvSpPr>
            <p:spPr>
              <a:xfrm>
                <a:off x="3779912" y="4607026"/>
                <a:ext cx="1584176" cy="353493"/>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𝑪</m:t>
                          </m:r>
                        </m:e>
                        <m:sub>
                          <m:r>
                            <a:rPr lang="en-US" altLang="zh-CN" sz="1600" b="1" i="1" smtClean="0">
                              <a:solidFill>
                                <a:schemeClr val="tx1"/>
                              </a:solidFill>
                              <a:latin typeface="Cambria Math" panose="02040503050406030204" pitchFamily="18" charset="0"/>
                            </a:rPr>
                            <m:t>𝒐</m:t>
                          </m:r>
                        </m:sub>
                      </m:sSub>
                      <m:r>
                        <a:rPr lang="en-US" altLang="zh-CN" sz="1600" b="1" i="1" smtClean="0">
                          <a:solidFill>
                            <a:schemeClr val="tx1"/>
                          </a:solidFill>
                          <a:latin typeface="Cambria Math" panose="02040503050406030204" pitchFamily="18" charset="0"/>
                        </a:rPr>
                        <m:t>,</m:t>
                      </m:r>
                      <m:sSub>
                        <m:sSubPr>
                          <m:ctrlPr>
                            <a:rPr lang="en-US" altLang="zh-CN" sz="1600" b="1" i="1" smtClean="0">
                              <a:solidFill>
                                <a:schemeClr val="tx1"/>
                              </a:solidFill>
                              <a:latin typeface="Cambria Math" panose="02040503050406030204" pitchFamily="18" charset="0"/>
                            </a:rPr>
                          </m:ctrlPr>
                        </m:sSubPr>
                        <m:e>
                          <m:r>
                            <a:rPr lang="en-US" altLang="zh-CN" sz="1600" b="1" i="1" smtClean="0">
                              <a:solidFill>
                                <a:schemeClr val="tx1"/>
                              </a:solidFill>
                              <a:latin typeface="Cambria Math" panose="02040503050406030204" pitchFamily="18" charset="0"/>
                            </a:rPr>
                            <m:t>𝑪</m:t>
                          </m:r>
                        </m:e>
                        <m:sub>
                          <m:r>
                            <a:rPr lang="en-US" altLang="zh-CN" sz="1600" b="1" i="1" smtClean="0">
                              <a:solidFill>
                                <a:schemeClr val="tx1"/>
                              </a:solidFill>
                              <a:latin typeface="Cambria Math" panose="02040503050406030204" pitchFamily="18" charset="0"/>
                            </a:rPr>
                            <m:t>𝟏</m:t>
                          </m:r>
                        </m:sub>
                      </m:sSub>
                    </m:oMath>
                  </m:oMathPara>
                </a14:m>
                <a:endParaRPr lang="en-US" altLang="zh-CN" sz="1600" b="1" baseline="-25000" dirty="0">
                  <a:latin typeface="+mn-lt"/>
                </a:endParaRPr>
              </a:p>
            </p:txBody>
          </p:sp>
        </mc:Choice>
        <mc:Fallback>
          <p:sp>
            <p:nvSpPr>
              <p:cNvPr id="25" name="内容占位符 2"/>
              <p:cNvSpPr txBox="1">
                <a:spLocks noRot="1" noChangeAspect="1" noMove="1" noResize="1" noEditPoints="1" noAdjustHandles="1" noChangeArrowheads="1" noChangeShapeType="1" noTextEdit="1"/>
              </p:cNvSpPr>
              <p:nvPr/>
            </p:nvSpPr>
            <p:spPr>
              <a:xfrm>
                <a:off x="3779912" y="4607026"/>
                <a:ext cx="1584176" cy="353493"/>
              </a:xfrm>
              <a:prstGeom prst="rect">
                <a:avLst/>
              </a:prstGeom>
              <a:blipFill rotWithShape="1">
                <a:blip r:embed="rId7"/>
                <a:stretch>
                  <a:fillRect l="-25" t="-29" r="15" b="1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内容占位符 2"/>
              <p:cNvSpPr txBox="1"/>
              <p:nvPr/>
            </p:nvSpPr>
            <p:spPr>
              <a:xfrm>
                <a:off x="5866150" y="4805181"/>
                <a:ext cx="2542909" cy="353492"/>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l"/>
                </a:pPr>
                <a14:m>
                  <m:oMath xmlns:m="http://schemas.openxmlformats.org/officeDocument/2006/math">
                    <m:sSub>
                      <m:sSubPr>
                        <m:ctrlPr>
                          <a:rPr lang="en-US" altLang="zh-CN" sz="1400" b="1" i="1" smtClean="0">
                            <a:solidFill>
                              <a:schemeClr val="tx1"/>
                            </a:solidFill>
                            <a:latin typeface="Cambria Math" panose="02040503050406030204" pitchFamily="18" charset="0"/>
                            <a:ea typeface="Cambria Math" panose="02040503050406030204" pitchFamily="18" charset="0"/>
                          </a:rPr>
                        </m:ctrlPr>
                      </m:sSubPr>
                      <m:e>
                        <m:r>
                          <a:rPr lang="en-US" altLang="zh-CN" sz="1400" b="1" i="1" smtClean="0">
                            <a:solidFill>
                              <a:schemeClr val="tx1"/>
                            </a:solidFill>
                            <a:latin typeface="Cambria Math" panose="02040503050406030204" pitchFamily="18" charset="0"/>
                            <a:ea typeface="Cambria Math" panose="02040503050406030204" pitchFamily="18" charset="0"/>
                          </a:rPr>
                          <m:t>𝒎</m:t>
                        </m:r>
                      </m:e>
                      <m:sub>
                        <m:r>
                          <a:rPr lang="en-US" altLang="zh-CN" sz="1400" b="1" i="1">
                            <a:solidFill>
                              <a:schemeClr val="tx1"/>
                            </a:solidFill>
                            <a:latin typeface="Cambria Math" panose="02040503050406030204" pitchFamily="18" charset="0"/>
                            <a:ea typeface="Cambria Math" panose="02040503050406030204" pitchFamily="18" charset="0"/>
                          </a:rPr>
                          <m:t>𝝈</m:t>
                        </m:r>
                      </m:sub>
                    </m:sSub>
                    <m:r>
                      <a:rPr lang="en-US" altLang="zh-CN" sz="1400" b="1" i="1">
                        <a:solidFill>
                          <a:schemeClr val="tx1"/>
                        </a:solidFill>
                        <a:latin typeface="Cambria Math" panose="02040503050406030204" pitchFamily="18" charset="0"/>
                        <a:ea typeface="Cambria Math" panose="02040503050406030204" pitchFamily="18" charset="0"/>
                      </a:rPr>
                      <m:t> </m:t>
                    </m:r>
                    <m:r>
                      <a:rPr lang="en-US" altLang="zh-CN" sz="1400" b="1" i="0" smtClean="0">
                        <a:solidFill>
                          <a:schemeClr val="tx1"/>
                        </a:solidFill>
                        <a:latin typeface="Cambria Math" panose="02040503050406030204" pitchFamily="18" charset="0"/>
                      </a:rPr>
                      <m:t>=</m:t>
                    </m:r>
                    <m:r>
                      <a:rPr lang="en-US" altLang="zh-CN" sz="1400" b="1" i="1" smtClean="0">
                        <a:solidFill>
                          <a:schemeClr val="tx1"/>
                        </a:solidFill>
                        <a:latin typeface="Cambria Math" panose="02040503050406030204" pitchFamily="18" charset="0"/>
                      </a:rPr>
                      <m:t>𝑫𝒆𝒄</m:t>
                    </m:r>
                    <m:d>
                      <m:dPr>
                        <m:ctrlPr>
                          <a:rPr lang="en-US" altLang="zh-CN" sz="1400" b="1" i="1" smtClean="0">
                            <a:solidFill>
                              <a:schemeClr val="tx1"/>
                            </a:solidFill>
                            <a:latin typeface="Cambria Math" panose="02040503050406030204" pitchFamily="18" charset="0"/>
                          </a:rPr>
                        </m:ctrlPr>
                      </m:dPr>
                      <m:e>
                        <m:r>
                          <a:rPr lang="en-US" altLang="zh-CN" sz="1400" b="1" i="1" smtClean="0">
                            <a:solidFill>
                              <a:schemeClr val="tx1"/>
                            </a:solidFill>
                            <a:latin typeface="Cambria Math" panose="02040503050406030204" pitchFamily="18" charset="0"/>
                          </a:rPr>
                          <m:t>𝒌</m:t>
                        </m:r>
                        <m:r>
                          <a:rPr lang="en-US" altLang="zh-CN" sz="1400" b="1" i="1" smtClean="0">
                            <a:solidFill>
                              <a:schemeClr val="tx1"/>
                            </a:solidFill>
                            <a:latin typeface="Cambria Math" panose="02040503050406030204" pitchFamily="18" charset="0"/>
                          </a:rPr>
                          <m:t>, </m:t>
                        </m:r>
                        <m:sSub>
                          <m:sSubPr>
                            <m:ctrlPr>
                              <a:rPr lang="en-US" altLang="zh-CN" sz="1400" b="1" i="1">
                                <a:solidFill>
                                  <a:schemeClr val="tx1"/>
                                </a:solidFill>
                                <a:latin typeface="Cambria Math" panose="02040503050406030204" pitchFamily="18" charset="0"/>
                                <a:ea typeface="Cambria Math" panose="02040503050406030204" pitchFamily="18" charset="0"/>
                              </a:rPr>
                            </m:ctrlPr>
                          </m:sSubPr>
                          <m:e>
                            <m:r>
                              <a:rPr lang="en-US" altLang="zh-CN" sz="1400" b="1" i="1" smtClean="0">
                                <a:solidFill>
                                  <a:schemeClr val="tx1"/>
                                </a:solidFill>
                                <a:latin typeface="Cambria Math" panose="02040503050406030204" pitchFamily="18" charset="0"/>
                                <a:ea typeface="Cambria Math" panose="02040503050406030204" pitchFamily="18" charset="0"/>
                              </a:rPr>
                              <m:t>𝑪</m:t>
                            </m:r>
                          </m:e>
                          <m:sub>
                            <m:r>
                              <a:rPr lang="en-US" altLang="zh-CN" sz="1400" b="1" i="1">
                                <a:solidFill>
                                  <a:schemeClr val="tx1"/>
                                </a:solidFill>
                                <a:latin typeface="Cambria Math" panose="02040503050406030204" pitchFamily="18" charset="0"/>
                                <a:ea typeface="Cambria Math" panose="02040503050406030204" pitchFamily="18" charset="0"/>
                              </a:rPr>
                              <m:t>𝝈</m:t>
                            </m:r>
                          </m:sub>
                        </m:sSub>
                      </m:e>
                    </m:d>
                  </m:oMath>
                </a14:m>
                <a:endParaRPr lang="en-US" altLang="zh-CN" sz="1400" b="1" dirty="0">
                  <a:solidFill>
                    <a:schemeClr val="tx1"/>
                  </a:solidFill>
                </a:endParaRPr>
              </a:p>
            </p:txBody>
          </p:sp>
        </mc:Choice>
        <mc:Fallback>
          <p:sp>
            <p:nvSpPr>
              <p:cNvPr id="26" name="内容占位符 2"/>
              <p:cNvSpPr txBox="1">
                <a:spLocks noRot="1" noChangeAspect="1" noMove="1" noResize="1" noEditPoints="1" noAdjustHandles="1" noChangeArrowheads="1" noChangeShapeType="1" noTextEdit="1"/>
              </p:cNvSpPr>
              <p:nvPr/>
            </p:nvSpPr>
            <p:spPr>
              <a:xfrm>
                <a:off x="5866150" y="4805181"/>
                <a:ext cx="2542909" cy="353492"/>
              </a:xfrm>
              <a:prstGeom prst="rect">
                <a:avLst/>
              </a:prstGeom>
              <a:blipFill rotWithShape="1">
                <a:blip r:embed="rId8"/>
                <a:stretch>
                  <a:fillRect l="-1" t="-38" r="15" b="-3432"/>
                </a:stretch>
              </a:blipFill>
            </p:spPr>
            <p:txBody>
              <a:bodyPr/>
              <a:lstStyle/>
              <a:p>
                <a:r>
                  <a:rPr lang="zh-CN" altLang="en-US">
                    <a:noFill/>
                  </a:rPr>
                  <a:t> </a:t>
                </a:r>
              </a:p>
            </p:txBody>
          </p:sp>
        </mc:Fallback>
      </mc:AlternateContent>
      <p:pic>
        <p:nvPicPr>
          <p:cNvPr id="19" name="图片 1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02594" y="1636971"/>
            <a:ext cx="720000" cy="720000"/>
          </a:xfrm>
          <a:prstGeom prst="rect">
            <a:avLst/>
          </a:prstGeom>
        </p:spPr>
      </p:pic>
      <p:pic>
        <p:nvPicPr>
          <p:cNvPr id="22" name="图片 21"/>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345080" y="1633364"/>
            <a:ext cx="720000" cy="720000"/>
          </a:xfrm>
          <a:prstGeom prst="rect">
            <a:avLst/>
          </a:prstGeom>
        </p:spPr>
      </p:pic>
      <p:sp>
        <p:nvSpPr>
          <p:cNvPr id="23" name="内容占位符 2"/>
          <p:cNvSpPr txBox="1"/>
          <p:nvPr/>
        </p:nvSpPr>
        <p:spPr>
          <a:xfrm>
            <a:off x="1902594" y="2230365"/>
            <a:ext cx="720000"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Alice</a:t>
            </a:r>
            <a:endParaRPr kumimoji="1" lang="en-GB" altLang="zh-CN" sz="1800" dirty="0">
              <a:latin typeface="+mn-lt"/>
            </a:endParaRPr>
          </a:p>
        </p:txBody>
      </p:sp>
      <p:sp>
        <p:nvSpPr>
          <p:cNvPr id="27" name="内容占位符 2"/>
          <p:cNvSpPr txBox="1"/>
          <p:nvPr/>
        </p:nvSpPr>
        <p:spPr>
          <a:xfrm>
            <a:off x="6345080" y="2215250"/>
            <a:ext cx="720080"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Bob</a:t>
            </a:r>
            <a:endParaRPr kumimoji="1" lang="en-GB" altLang="zh-CN" sz="1800" dirty="0">
              <a:latin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22" presetClass="entr" presetSubtype="8"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par>
                                <p:cTn id="28" presetID="22" presetClass="entr" presetSubtype="2"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right)">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xEl>
                                              <p:pRg st="1" end="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22" presetClass="entr" presetSubtype="8"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left)">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0" grpId="0"/>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normAutofit/>
          </a:bodyPr>
          <a:lstStyle/>
          <a:p>
            <a:r>
              <a:rPr kumimoji="1" lang="en-US" altLang="zh-CN" sz="3200" dirty="0"/>
              <a:t>More OT Protocols</a:t>
            </a:r>
            <a:endParaRPr kumimoji="1" lang="zh-CN" altLang="en-US" sz="3200" dirty="0"/>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sp>
        <p:nvSpPr>
          <p:cNvPr id="5" name="内容占位符 2"/>
          <p:cNvSpPr txBox="1"/>
          <p:nvPr/>
        </p:nvSpPr>
        <p:spPr>
          <a:xfrm>
            <a:off x="457200" y="1179624"/>
            <a:ext cx="8229600" cy="4164513"/>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000" dirty="0">
                <a:solidFill>
                  <a:schemeClr val="tx1"/>
                </a:solidFill>
                <a:latin typeface="+mn-lt"/>
              </a:rPr>
              <a:t>Different numbers of selected messages</a:t>
            </a:r>
            <a:endParaRPr lang="en-US" altLang="zh-CN" sz="2000" dirty="0">
              <a:solidFill>
                <a:schemeClr val="tx1"/>
              </a:solidFill>
              <a:latin typeface="+mn-lt"/>
            </a:endParaRPr>
          </a:p>
          <a:p>
            <a:pPr lvl="1"/>
            <a:r>
              <a:rPr lang="en-US" altLang="zh-CN" sz="1800" dirty="0">
                <a:solidFill>
                  <a:schemeClr val="tx1"/>
                </a:solidFill>
                <a:latin typeface="+mn-lt"/>
              </a:rPr>
              <a:t>1-out-of-2 OT</a:t>
            </a:r>
            <a:endParaRPr lang="en-US" altLang="zh-CN" sz="1800" dirty="0">
              <a:solidFill>
                <a:schemeClr val="tx1"/>
              </a:solidFill>
              <a:latin typeface="+mn-lt"/>
            </a:endParaRPr>
          </a:p>
          <a:p>
            <a:pPr lvl="1"/>
            <a:r>
              <a:rPr lang="en-US" altLang="zh-CN" sz="1800" dirty="0">
                <a:solidFill>
                  <a:schemeClr val="tx1"/>
                </a:solidFill>
                <a:latin typeface="+mn-lt"/>
              </a:rPr>
              <a:t>1-out-of-n OT</a:t>
            </a:r>
            <a:endParaRPr lang="en-US" altLang="zh-CN" sz="1800" dirty="0">
              <a:solidFill>
                <a:schemeClr val="tx1"/>
              </a:solidFill>
              <a:latin typeface="+mn-lt"/>
            </a:endParaRPr>
          </a:p>
          <a:p>
            <a:pPr lvl="1"/>
            <a:r>
              <a:rPr lang="en-US" altLang="zh-CN" sz="1800" dirty="0">
                <a:solidFill>
                  <a:schemeClr val="tx1"/>
                </a:solidFill>
                <a:latin typeface="+mn-lt"/>
              </a:rPr>
              <a:t>k-out-of-n OT</a:t>
            </a:r>
            <a:endParaRPr lang="en-US" altLang="zh-CN" sz="2000" dirty="0">
              <a:solidFill>
                <a:schemeClr val="tx1"/>
              </a:solidFill>
              <a:latin typeface="+mn-lt"/>
            </a:endParaRPr>
          </a:p>
          <a:p>
            <a:r>
              <a:rPr lang="en-US" altLang="zh-CN" sz="2000" dirty="0">
                <a:solidFill>
                  <a:schemeClr val="tx1"/>
                </a:solidFill>
                <a:latin typeface="+mn-lt"/>
              </a:rPr>
              <a:t>Implementation method</a:t>
            </a:r>
            <a:endParaRPr lang="en-US" altLang="zh-CN" sz="2000" dirty="0">
              <a:solidFill>
                <a:schemeClr val="tx1"/>
              </a:solidFill>
              <a:latin typeface="+mn-lt"/>
            </a:endParaRPr>
          </a:p>
          <a:p>
            <a:pPr lvl="1"/>
            <a:r>
              <a:rPr lang="en-US" altLang="zh-CN" sz="1800" dirty="0">
                <a:solidFill>
                  <a:schemeClr val="tx1"/>
                </a:solidFill>
                <a:latin typeface="+mn-lt"/>
              </a:rPr>
              <a:t>Non-adaptive OT</a:t>
            </a:r>
            <a:endParaRPr lang="en-US" altLang="zh-CN" sz="1800" dirty="0">
              <a:solidFill>
                <a:schemeClr val="tx1"/>
              </a:solidFill>
              <a:latin typeface="+mn-lt"/>
            </a:endParaRPr>
          </a:p>
          <a:p>
            <a:pPr lvl="1"/>
            <a:r>
              <a:rPr lang="en-US" altLang="zh-CN" sz="1800" dirty="0">
                <a:solidFill>
                  <a:schemeClr val="tx1"/>
                </a:solidFill>
                <a:latin typeface="+mn-lt"/>
              </a:rPr>
              <a:t>Adaptive OT</a:t>
            </a:r>
            <a:endParaRPr lang="en-US" altLang="zh-CN" sz="1800" dirty="0">
              <a:solidFill>
                <a:schemeClr val="tx1"/>
              </a:solidFill>
              <a:latin typeface="+mn-lt"/>
            </a:endParaRPr>
          </a:p>
          <a:p>
            <a:pPr lvl="1"/>
            <a:r>
              <a:rPr lang="en-US" altLang="zh-CN" sz="1800" dirty="0">
                <a:solidFill>
                  <a:schemeClr val="tx1"/>
                </a:solidFill>
                <a:latin typeface="+mn-lt"/>
              </a:rPr>
              <a:t>Publicly Verifiable</a:t>
            </a:r>
            <a:r>
              <a:rPr lang="zh-CN" altLang="en-US" sz="1800" dirty="0">
                <a:solidFill>
                  <a:schemeClr val="tx1"/>
                </a:solidFill>
                <a:latin typeface="+mn-lt"/>
              </a:rPr>
              <a:t> </a:t>
            </a:r>
            <a:r>
              <a:rPr lang="en-US" altLang="zh-CN" sz="1800" dirty="0">
                <a:solidFill>
                  <a:schemeClr val="tx1"/>
                </a:solidFill>
                <a:latin typeface="+mn-lt"/>
              </a:rPr>
              <a:t>OT</a:t>
            </a:r>
            <a:endParaRPr lang="en-US" altLang="zh-CN" sz="1800" dirty="0">
              <a:solidFill>
                <a:schemeClr val="tx1"/>
              </a:solidFill>
              <a:latin typeface="+mn-lt"/>
            </a:endParaRPr>
          </a:p>
          <a:p>
            <a:pPr lvl="1"/>
            <a:r>
              <a:rPr lang="en-US" altLang="zh-CN" sz="1800" dirty="0">
                <a:solidFill>
                  <a:schemeClr val="tx1"/>
                </a:solidFill>
                <a:latin typeface="+mn-lt"/>
              </a:rPr>
              <a:t>…</a:t>
            </a:r>
            <a:endParaRPr lang="en-US" altLang="zh-CN" sz="1800" dirty="0">
              <a:solidFill>
                <a:schemeClr val="tx1"/>
              </a:solidFill>
              <a:latin typeface="+mn-lt"/>
              <a:ea typeface="等线" panose="0201060003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en-US" altLang="zh-CN" dirty="0"/>
              <a:t>DP</a:t>
            </a:r>
            <a:endParaRPr lang="zh-CN" altLang="en-US" dirty="0"/>
          </a:p>
        </p:txBody>
      </p:sp>
      <p:sp>
        <p:nvSpPr>
          <p:cNvPr id="7" name="文本占位符 6"/>
          <p:cNvSpPr>
            <a:spLocks noGrp="1"/>
          </p:cNvSpPr>
          <p:nvPr>
            <p:ph type="body" idx="1"/>
          </p:nvPr>
        </p:nvSpPr>
        <p:spPr/>
        <p:txBody>
          <a:bodyPr>
            <a:normAutofit/>
          </a:bodyPr>
          <a:lstStyle/>
          <a:p>
            <a:r>
              <a:rPr lang="en-US" altLang="zh-CN" dirty="0"/>
              <a:t>Differential privacy</a:t>
            </a:r>
            <a:endParaRPr lang="en-US" altLang="zh-CN" dirty="0"/>
          </a:p>
        </p:txBody>
      </p:sp>
      <p:sp>
        <p:nvSpPr>
          <p:cNvPr id="8" name="灯片编号占位符 7"/>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dirty="0"/>
              <a:t>Problem</a:t>
            </a:r>
            <a:endParaRPr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14" name="内容占位符 2"/>
          <p:cNvSpPr txBox="1"/>
          <p:nvPr/>
        </p:nvSpPr>
        <p:spPr>
          <a:xfrm>
            <a:off x="171822" y="3441860"/>
            <a:ext cx="8229600" cy="2558473"/>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000" dirty="0"/>
              <a:t>Alice can perform queries on Bob</a:t>
            </a:r>
            <a:r>
              <a:rPr lang="en-US" altLang="zh-CN" sz="2000" dirty="0">
                <a:latin typeface="+mn-lt"/>
              </a:rPr>
              <a:t>’</a:t>
            </a:r>
            <a:r>
              <a:rPr lang="en-US" altLang="zh-CN" sz="2000" dirty="0"/>
              <a:t>s database, but cannot access a single database entry</a:t>
            </a:r>
            <a:endParaRPr lang="en-US" altLang="zh-CN" sz="2000" dirty="0"/>
          </a:p>
        </p:txBody>
      </p:sp>
      <p:pic>
        <p:nvPicPr>
          <p:cNvPr id="16" name="图片 15"/>
          <p:cNvPicPr>
            <a:picLocks noChangeAspect="1"/>
          </p:cNvPicPr>
          <p:nvPr/>
        </p:nvPicPr>
        <p:blipFill>
          <a:blip r:embed="rId1"/>
          <a:stretch>
            <a:fillRect/>
          </a:stretch>
        </p:blipFill>
        <p:spPr>
          <a:xfrm>
            <a:off x="1686753" y="2096975"/>
            <a:ext cx="725007" cy="983938"/>
          </a:xfrm>
          <a:prstGeom prst="rect">
            <a:avLst/>
          </a:prstGeom>
        </p:spPr>
      </p:pic>
      <p:pic>
        <p:nvPicPr>
          <p:cNvPr id="17" name="图片 16"/>
          <p:cNvPicPr>
            <a:picLocks noChangeAspect="1"/>
          </p:cNvPicPr>
          <p:nvPr/>
        </p:nvPicPr>
        <p:blipFill>
          <a:blip r:embed="rId2"/>
          <a:stretch>
            <a:fillRect/>
          </a:stretch>
        </p:blipFill>
        <p:spPr>
          <a:xfrm>
            <a:off x="5615325" y="2057140"/>
            <a:ext cx="756875" cy="1063609"/>
          </a:xfrm>
          <a:prstGeom prst="rect">
            <a:avLst/>
          </a:prstGeom>
        </p:spPr>
      </p:pic>
      <p:graphicFrame>
        <p:nvGraphicFramePr>
          <p:cNvPr id="23" name="表格 22"/>
          <p:cNvGraphicFramePr>
            <a:graphicFrameLocks noGrp="1"/>
          </p:cNvGraphicFramePr>
          <p:nvPr/>
        </p:nvGraphicFramePr>
        <p:xfrm>
          <a:off x="6876256" y="1374033"/>
          <a:ext cx="1996066" cy="1706880"/>
        </p:xfrm>
        <a:graphic>
          <a:graphicData uri="http://schemas.openxmlformats.org/drawingml/2006/table">
            <a:tbl>
              <a:tblPr firstRow="1" bandRow="1">
                <a:tableStyleId>{5C22544A-7EE6-4342-B048-85BDC9FD1C3A}</a:tableStyleId>
              </a:tblPr>
              <a:tblGrid>
                <a:gridCol w="998033"/>
                <a:gridCol w="998033"/>
              </a:tblGrid>
              <a:tr h="293613">
                <a:tc>
                  <a:txBody>
                    <a:bodyPr/>
                    <a:lstStyle/>
                    <a:p>
                      <a:pPr algn="ctr"/>
                      <a:r>
                        <a:rPr lang="en-US" altLang="zh-CN" sz="1600" dirty="0"/>
                        <a:t>Name</a:t>
                      </a:r>
                      <a:endParaRPr lang="zh-CN" altLang="en-US" sz="1600" dirty="0"/>
                    </a:p>
                  </a:txBody>
                  <a:tcPr/>
                </a:tc>
                <a:tc>
                  <a:txBody>
                    <a:bodyPr/>
                    <a:lstStyle/>
                    <a:p>
                      <a:pPr algn="ctr"/>
                      <a:r>
                        <a:rPr lang="en-GB" altLang="zh-CN" sz="1800" b="0" i="0" kern="1200">
                          <a:solidFill>
                            <a:schemeClr val="lt1"/>
                          </a:solidFill>
                          <a:effectLst/>
                          <a:latin typeface="+mn-lt"/>
                          <a:ea typeface="+mn-ea"/>
                          <a:cs typeface="+mn-cs"/>
                        </a:rPr>
                        <a:t>Salary</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a:t>Alice</a:t>
                      </a:r>
                      <a:endParaRPr lang="en-US" altLang="zh-CN" sz="1600" dirty="0"/>
                    </a:p>
                  </a:txBody>
                  <a:tcPr/>
                </a:tc>
                <a:tc>
                  <a:txBody>
                    <a:bodyPr/>
                    <a:lstStyle/>
                    <a:p>
                      <a:pPr algn="ctr"/>
                      <a:r>
                        <a:rPr lang="en-US" altLang="zh-CN" sz="1600" dirty="0"/>
                        <a:t>100</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t>Bob</a:t>
                      </a:r>
                      <a:endParaRPr lang="zh-CN" altLang="en-US" sz="1600" baseline="30000" dirty="0"/>
                    </a:p>
                  </a:txBody>
                  <a:tcPr/>
                </a:tc>
                <a:tc>
                  <a:txBody>
                    <a:bodyPr/>
                    <a:lstStyle/>
                    <a:p>
                      <a:pPr algn="ctr"/>
                      <a:r>
                        <a:rPr lang="en-US" altLang="zh-CN" sz="1600" dirty="0"/>
                        <a:t>80</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GB" altLang="zh-CN" sz="1600" baseline="0"/>
                        <a:t>Brown</a:t>
                      </a:r>
                      <a:endParaRPr lang="zh-CN" altLang="en-US" sz="1600" baseline="0" dirty="0"/>
                    </a:p>
                  </a:txBody>
                  <a:tcPr/>
                </a:tc>
                <a:tc>
                  <a:txBody>
                    <a:bodyPr/>
                    <a:lstStyle/>
                    <a:p>
                      <a:pPr algn="ctr"/>
                      <a:r>
                        <a:rPr lang="en-US" altLang="zh-CN" sz="1600" dirty="0"/>
                        <a:t>200</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aseline="0"/>
                        <a:t>Tom</a:t>
                      </a:r>
                      <a:endParaRPr lang="zh-CN" altLang="en-US" sz="1600" baseline="0" dirty="0"/>
                    </a:p>
                  </a:txBody>
                  <a:tcPr/>
                </a:tc>
                <a:tc>
                  <a:txBody>
                    <a:bodyPr/>
                    <a:lstStyle/>
                    <a:p>
                      <a:pPr algn="ctr"/>
                      <a:r>
                        <a:rPr lang="en-US" altLang="zh-CN" sz="1600" dirty="0"/>
                        <a:t>120</a:t>
                      </a:r>
                      <a:endParaRPr lang="zh-CN" altLang="en-US" sz="1600" dirty="0"/>
                    </a:p>
                  </a:txBody>
                  <a:tcPr/>
                </a:tc>
              </a:tr>
            </a:tbl>
          </a:graphicData>
        </a:graphic>
      </p:graphicFrame>
      <p:cxnSp>
        <p:nvCxnSpPr>
          <p:cNvPr id="24" name="直线箭头连接符 23"/>
          <p:cNvCxnSpPr/>
          <p:nvPr/>
        </p:nvCxnSpPr>
        <p:spPr>
          <a:xfrm>
            <a:off x="2577409" y="2270274"/>
            <a:ext cx="29306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19"/>
          <p:cNvSpPr/>
          <p:nvPr/>
        </p:nvSpPr>
        <p:spPr>
          <a:xfrm>
            <a:off x="2577409" y="1921396"/>
            <a:ext cx="2930695" cy="348878"/>
          </a:xfrm>
          <a:prstGeom prst="rect">
            <a:avLst/>
          </a:prstGeom>
        </p:spPr>
        <p:txBody>
          <a:bodyPr wrap="square">
            <a:spAutoFit/>
          </a:bodyPr>
          <a:lstStyle/>
          <a:p>
            <a:pPr algn="ctr"/>
            <a:r>
              <a:rPr lang="en-US" altLang="zh-CN" sz="1665" dirty="0">
                <a:latin typeface="Candara" panose="020E0502030303020204"/>
                <a:cs typeface="Candara" panose="020E0502030303020204"/>
              </a:rPr>
              <a:t>SUM(Salary)</a:t>
            </a:r>
            <a:endParaRPr lang="en-US" altLang="zh-CN" sz="1500" dirty="0">
              <a:latin typeface="Candara" panose="020E0502030303020204"/>
              <a:cs typeface="Candara" panose="020E0502030303020204"/>
            </a:endParaRPr>
          </a:p>
        </p:txBody>
      </p:sp>
      <p:cxnSp>
        <p:nvCxnSpPr>
          <p:cNvPr id="26" name="直线箭头连接符 25"/>
          <p:cNvCxnSpPr/>
          <p:nvPr/>
        </p:nvCxnSpPr>
        <p:spPr>
          <a:xfrm>
            <a:off x="2577409" y="2765824"/>
            <a:ext cx="2930695"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7" name="Rectangle 19"/>
          <p:cNvSpPr/>
          <p:nvPr/>
        </p:nvSpPr>
        <p:spPr>
          <a:xfrm>
            <a:off x="2577409" y="2416946"/>
            <a:ext cx="2930695" cy="348878"/>
          </a:xfrm>
          <a:prstGeom prst="rect">
            <a:avLst/>
          </a:prstGeom>
        </p:spPr>
        <p:txBody>
          <a:bodyPr wrap="square">
            <a:spAutoFit/>
          </a:bodyPr>
          <a:lstStyle/>
          <a:p>
            <a:pPr algn="ctr"/>
            <a:r>
              <a:rPr lang="en-US" altLang="zh-CN" sz="1665" dirty="0">
                <a:latin typeface="Candara" panose="020E0502030303020204"/>
                <a:cs typeface="Candara" panose="020E0502030303020204"/>
              </a:rPr>
              <a:t>500</a:t>
            </a:r>
            <a:endParaRPr lang="en-US" altLang="zh-CN" sz="1500" dirty="0">
              <a:latin typeface="Candara" panose="020E0502030303020204"/>
              <a:cs typeface="Candara" panose="020E0502030303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par>
                                <p:cTn id="8" presetID="1"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right)">
                                      <p:cBhvr>
                                        <p:cTn id="14" dur="500"/>
                                        <p:tgtEl>
                                          <p:spTgt spid="26"/>
                                        </p:tgtEl>
                                      </p:cBhvr>
                                    </p:animEffec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dirty="0"/>
              <a:t>Problem</a:t>
            </a:r>
            <a:endParaRPr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14" name="内容占位符 2"/>
          <p:cNvSpPr txBox="1"/>
          <p:nvPr/>
        </p:nvSpPr>
        <p:spPr>
          <a:xfrm>
            <a:off x="171822" y="3441860"/>
            <a:ext cx="8229600" cy="2558473"/>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000" dirty="0"/>
              <a:t>Alice can perform queries on Bob</a:t>
            </a:r>
            <a:r>
              <a:rPr lang="en-US" altLang="zh-CN" sz="2000" dirty="0">
                <a:latin typeface="+mn-lt"/>
              </a:rPr>
              <a:t>’</a:t>
            </a:r>
            <a:r>
              <a:rPr lang="en-US" altLang="zh-CN" sz="2000" dirty="0"/>
              <a:t>s database, but cannot access a single database entry</a:t>
            </a:r>
            <a:endParaRPr lang="en-US" altLang="zh-CN" sz="2000" dirty="0"/>
          </a:p>
          <a:p>
            <a:pPr lvl="1"/>
            <a:r>
              <a:rPr lang="en-US" altLang="zh-CN" sz="1800" dirty="0"/>
              <a:t>Naïve method: reject Alice to access single entry</a:t>
            </a:r>
            <a:endParaRPr lang="en-US" altLang="zh-CN" sz="1800" dirty="0"/>
          </a:p>
        </p:txBody>
      </p:sp>
      <p:pic>
        <p:nvPicPr>
          <p:cNvPr id="16" name="图片 15"/>
          <p:cNvPicPr>
            <a:picLocks noChangeAspect="1"/>
          </p:cNvPicPr>
          <p:nvPr/>
        </p:nvPicPr>
        <p:blipFill>
          <a:blip r:embed="rId1"/>
          <a:stretch>
            <a:fillRect/>
          </a:stretch>
        </p:blipFill>
        <p:spPr>
          <a:xfrm>
            <a:off x="1686753" y="2096975"/>
            <a:ext cx="725007" cy="983938"/>
          </a:xfrm>
          <a:prstGeom prst="rect">
            <a:avLst/>
          </a:prstGeom>
        </p:spPr>
      </p:pic>
      <p:pic>
        <p:nvPicPr>
          <p:cNvPr id="17" name="图片 16"/>
          <p:cNvPicPr>
            <a:picLocks noChangeAspect="1"/>
          </p:cNvPicPr>
          <p:nvPr/>
        </p:nvPicPr>
        <p:blipFill>
          <a:blip r:embed="rId2"/>
          <a:stretch>
            <a:fillRect/>
          </a:stretch>
        </p:blipFill>
        <p:spPr>
          <a:xfrm>
            <a:off x="5615325" y="2057140"/>
            <a:ext cx="756875" cy="1063609"/>
          </a:xfrm>
          <a:prstGeom prst="rect">
            <a:avLst/>
          </a:prstGeom>
        </p:spPr>
      </p:pic>
      <p:graphicFrame>
        <p:nvGraphicFramePr>
          <p:cNvPr id="23" name="表格 22"/>
          <p:cNvGraphicFramePr>
            <a:graphicFrameLocks noGrp="1"/>
          </p:cNvGraphicFramePr>
          <p:nvPr/>
        </p:nvGraphicFramePr>
        <p:xfrm>
          <a:off x="6876256" y="1374033"/>
          <a:ext cx="1996066" cy="1706880"/>
        </p:xfrm>
        <a:graphic>
          <a:graphicData uri="http://schemas.openxmlformats.org/drawingml/2006/table">
            <a:tbl>
              <a:tblPr firstRow="1" bandRow="1">
                <a:tableStyleId>{5C22544A-7EE6-4342-B048-85BDC9FD1C3A}</a:tableStyleId>
              </a:tblPr>
              <a:tblGrid>
                <a:gridCol w="998033"/>
                <a:gridCol w="998033"/>
              </a:tblGrid>
              <a:tr h="293613">
                <a:tc>
                  <a:txBody>
                    <a:bodyPr/>
                    <a:lstStyle/>
                    <a:p>
                      <a:pPr algn="ctr"/>
                      <a:r>
                        <a:rPr lang="en-US" altLang="zh-CN" sz="1600" dirty="0"/>
                        <a:t>Name</a:t>
                      </a:r>
                      <a:endParaRPr lang="zh-CN" altLang="en-US" sz="1600" dirty="0"/>
                    </a:p>
                  </a:txBody>
                  <a:tcPr/>
                </a:tc>
                <a:tc>
                  <a:txBody>
                    <a:bodyPr/>
                    <a:lstStyle/>
                    <a:p>
                      <a:pPr algn="ctr"/>
                      <a:r>
                        <a:rPr lang="en-GB" altLang="zh-CN" sz="1800" b="0" i="0" kern="1200">
                          <a:solidFill>
                            <a:schemeClr val="lt1"/>
                          </a:solidFill>
                          <a:effectLst/>
                          <a:latin typeface="+mn-lt"/>
                          <a:ea typeface="+mn-ea"/>
                          <a:cs typeface="+mn-cs"/>
                        </a:rPr>
                        <a:t>Salary</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a:t>Alice</a:t>
                      </a:r>
                      <a:endParaRPr lang="en-US" altLang="zh-CN" sz="1600" dirty="0"/>
                    </a:p>
                  </a:txBody>
                  <a:tcPr/>
                </a:tc>
                <a:tc>
                  <a:txBody>
                    <a:bodyPr/>
                    <a:lstStyle/>
                    <a:p>
                      <a:pPr algn="ctr"/>
                      <a:r>
                        <a:rPr lang="en-US" altLang="zh-CN" sz="1600" dirty="0"/>
                        <a:t>100</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t>Bob</a:t>
                      </a:r>
                      <a:endParaRPr lang="zh-CN" altLang="en-US" sz="1600" baseline="30000" dirty="0"/>
                    </a:p>
                  </a:txBody>
                  <a:tcPr/>
                </a:tc>
                <a:tc>
                  <a:txBody>
                    <a:bodyPr/>
                    <a:lstStyle/>
                    <a:p>
                      <a:pPr algn="ctr"/>
                      <a:r>
                        <a:rPr lang="en-US" altLang="zh-CN" sz="1600" dirty="0"/>
                        <a:t>80</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GB" altLang="zh-CN" sz="1600" baseline="0"/>
                        <a:t>Brown</a:t>
                      </a:r>
                      <a:endParaRPr lang="zh-CN" altLang="en-US" sz="1600" baseline="0" dirty="0"/>
                    </a:p>
                  </a:txBody>
                  <a:tcPr/>
                </a:tc>
                <a:tc>
                  <a:txBody>
                    <a:bodyPr/>
                    <a:lstStyle/>
                    <a:p>
                      <a:pPr algn="ctr"/>
                      <a:r>
                        <a:rPr lang="en-US" altLang="zh-CN" sz="1600" dirty="0"/>
                        <a:t>200</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aseline="0"/>
                        <a:t>Tom</a:t>
                      </a:r>
                      <a:endParaRPr lang="zh-CN" altLang="en-US" sz="1600" baseline="0" dirty="0"/>
                    </a:p>
                  </a:txBody>
                  <a:tcPr/>
                </a:tc>
                <a:tc>
                  <a:txBody>
                    <a:bodyPr/>
                    <a:lstStyle/>
                    <a:p>
                      <a:pPr algn="ctr"/>
                      <a:r>
                        <a:rPr lang="en-US" altLang="zh-CN" sz="1600" dirty="0"/>
                        <a:t>120</a:t>
                      </a:r>
                      <a:endParaRPr lang="zh-CN" altLang="en-US" sz="1600" dirty="0"/>
                    </a:p>
                  </a:txBody>
                  <a:tcPr/>
                </a:tc>
              </a:tr>
            </a:tbl>
          </a:graphicData>
        </a:graphic>
      </p:graphicFrame>
      <p:cxnSp>
        <p:nvCxnSpPr>
          <p:cNvPr id="24" name="直线箭头连接符 23"/>
          <p:cNvCxnSpPr/>
          <p:nvPr/>
        </p:nvCxnSpPr>
        <p:spPr>
          <a:xfrm>
            <a:off x="2577409" y="2270274"/>
            <a:ext cx="29306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19"/>
          <p:cNvSpPr/>
          <p:nvPr/>
        </p:nvSpPr>
        <p:spPr>
          <a:xfrm>
            <a:off x="2206552" y="1909536"/>
            <a:ext cx="3672407" cy="348878"/>
          </a:xfrm>
          <a:prstGeom prst="rect">
            <a:avLst/>
          </a:prstGeom>
        </p:spPr>
        <p:txBody>
          <a:bodyPr wrap="square">
            <a:spAutoFit/>
          </a:bodyPr>
          <a:lstStyle/>
          <a:p>
            <a:pPr algn="ctr"/>
            <a:r>
              <a:rPr lang="en-US" altLang="zh-CN" sz="1665" dirty="0">
                <a:latin typeface="Candara" panose="020E0502030303020204"/>
                <a:cs typeface="Candara" panose="020E0502030303020204"/>
              </a:rPr>
              <a:t>SUM(Salary) where Name == </a:t>
            </a:r>
            <a:r>
              <a:rPr lang="zh-CN" altLang="en-US" sz="1665" dirty="0">
                <a:latin typeface="Candara" panose="020E0502030303020204"/>
                <a:cs typeface="Candara" panose="020E0502030303020204"/>
              </a:rPr>
              <a:t>“</a:t>
            </a:r>
            <a:r>
              <a:rPr lang="en-US" altLang="zh-CN" sz="1665" dirty="0">
                <a:latin typeface="Candara" panose="020E0502030303020204"/>
                <a:cs typeface="Candara" panose="020E0502030303020204"/>
              </a:rPr>
              <a:t>Tom”</a:t>
            </a:r>
            <a:endParaRPr lang="en-US" altLang="zh-CN" sz="1500" dirty="0">
              <a:latin typeface="Candara" panose="020E0502030303020204"/>
              <a:cs typeface="Candara" panose="020E0502030303020204"/>
            </a:endParaRPr>
          </a:p>
        </p:txBody>
      </p:sp>
      <p:cxnSp>
        <p:nvCxnSpPr>
          <p:cNvPr id="26" name="直线箭头连接符 25"/>
          <p:cNvCxnSpPr/>
          <p:nvPr/>
        </p:nvCxnSpPr>
        <p:spPr>
          <a:xfrm>
            <a:off x="2577409" y="2765824"/>
            <a:ext cx="2930695"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7" name="Rectangle 19"/>
          <p:cNvSpPr/>
          <p:nvPr/>
        </p:nvSpPr>
        <p:spPr>
          <a:xfrm>
            <a:off x="2577409" y="2416946"/>
            <a:ext cx="2930695" cy="348878"/>
          </a:xfrm>
          <a:prstGeom prst="rect">
            <a:avLst/>
          </a:prstGeom>
        </p:spPr>
        <p:txBody>
          <a:bodyPr wrap="square">
            <a:spAutoFit/>
          </a:bodyPr>
          <a:lstStyle/>
          <a:p>
            <a:pPr algn="ctr"/>
            <a:r>
              <a:rPr lang="en-US" altLang="zh-CN" sz="1665" dirty="0">
                <a:latin typeface="Candara" panose="020E0502030303020204"/>
                <a:cs typeface="Candara" panose="020E0502030303020204"/>
              </a:rPr>
              <a:t>Reject</a:t>
            </a:r>
            <a:endParaRPr lang="en-US" altLang="zh-CN" sz="1500" dirty="0">
              <a:latin typeface="Candara" panose="020E0502030303020204"/>
              <a:cs typeface="Candara" panose="020E0502030303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par>
                                <p:cTn id="8" presetID="1"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right)">
                                      <p:cBhvr>
                                        <p:cTn id="14" dur="500"/>
                                        <p:tgtEl>
                                          <p:spTgt spid="26"/>
                                        </p:tgtEl>
                                      </p:cBhvr>
                                    </p:animEffec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dirty="0"/>
              <a:t>Problem</a:t>
            </a:r>
            <a:endParaRPr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14" name="内容占位符 2"/>
          <p:cNvSpPr txBox="1"/>
          <p:nvPr/>
        </p:nvSpPr>
        <p:spPr>
          <a:xfrm>
            <a:off x="171822" y="3441860"/>
            <a:ext cx="8229600" cy="2558473"/>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000" dirty="0"/>
              <a:t>Alice can perform queries on Bob</a:t>
            </a:r>
            <a:r>
              <a:rPr lang="en-US" altLang="zh-CN" sz="2000" dirty="0">
                <a:latin typeface="+mn-lt"/>
              </a:rPr>
              <a:t>’</a:t>
            </a:r>
            <a:r>
              <a:rPr lang="en-US" altLang="zh-CN" sz="2000" dirty="0"/>
              <a:t>s database, but cannot access a single database entry</a:t>
            </a:r>
            <a:endParaRPr lang="en-US" altLang="zh-CN" sz="2000" dirty="0"/>
          </a:p>
          <a:p>
            <a:pPr lvl="1"/>
            <a:r>
              <a:rPr lang="en-US" altLang="zh-CN" sz="1800" dirty="0"/>
              <a:t>Naïve method: reject Alice to access single entry</a:t>
            </a:r>
            <a:endParaRPr lang="en-US" altLang="zh-CN" sz="1800" dirty="0"/>
          </a:p>
        </p:txBody>
      </p:sp>
      <p:pic>
        <p:nvPicPr>
          <p:cNvPr id="16" name="图片 15"/>
          <p:cNvPicPr>
            <a:picLocks noChangeAspect="1"/>
          </p:cNvPicPr>
          <p:nvPr/>
        </p:nvPicPr>
        <p:blipFill>
          <a:blip r:embed="rId1"/>
          <a:stretch>
            <a:fillRect/>
          </a:stretch>
        </p:blipFill>
        <p:spPr>
          <a:xfrm>
            <a:off x="1686753" y="2096975"/>
            <a:ext cx="725007" cy="983938"/>
          </a:xfrm>
          <a:prstGeom prst="rect">
            <a:avLst/>
          </a:prstGeom>
        </p:spPr>
      </p:pic>
      <p:pic>
        <p:nvPicPr>
          <p:cNvPr id="17" name="图片 16"/>
          <p:cNvPicPr>
            <a:picLocks noChangeAspect="1"/>
          </p:cNvPicPr>
          <p:nvPr/>
        </p:nvPicPr>
        <p:blipFill>
          <a:blip r:embed="rId2"/>
          <a:stretch>
            <a:fillRect/>
          </a:stretch>
        </p:blipFill>
        <p:spPr>
          <a:xfrm>
            <a:off x="5615325" y="2057140"/>
            <a:ext cx="756875" cy="1063609"/>
          </a:xfrm>
          <a:prstGeom prst="rect">
            <a:avLst/>
          </a:prstGeom>
        </p:spPr>
      </p:pic>
      <p:graphicFrame>
        <p:nvGraphicFramePr>
          <p:cNvPr id="23" name="表格 22"/>
          <p:cNvGraphicFramePr>
            <a:graphicFrameLocks noGrp="1"/>
          </p:cNvGraphicFramePr>
          <p:nvPr/>
        </p:nvGraphicFramePr>
        <p:xfrm>
          <a:off x="6876256" y="1374033"/>
          <a:ext cx="1996066" cy="1706880"/>
        </p:xfrm>
        <a:graphic>
          <a:graphicData uri="http://schemas.openxmlformats.org/drawingml/2006/table">
            <a:tbl>
              <a:tblPr firstRow="1" bandRow="1">
                <a:tableStyleId>{5C22544A-7EE6-4342-B048-85BDC9FD1C3A}</a:tableStyleId>
              </a:tblPr>
              <a:tblGrid>
                <a:gridCol w="998033"/>
                <a:gridCol w="998033"/>
              </a:tblGrid>
              <a:tr h="293613">
                <a:tc>
                  <a:txBody>
                    <a:bodyPr/>
                    <a:lstStyle/>
                    <a:p>
                      <a:pPr algn="ctr"/>
                      <a:r>
                        <a:rPr lang="en-US" altLang="zh-CN" sz="1600" dirty="0"/>
                        <a:t>Name</a:t>
                      </a:r>
                      <a:endParaRPr lang="zh-CN" altLang="en-US" sz="1600" dirty="0"/>
                    </a:p>
                  </a:txBody>
                  <a:tcPr/>
                </a:tc>
                <a:tc>
                  <a:txBody>
                    <a:bodyPr/>
                    <a:lstStyle/>
                    <a:p>
                      <a:pPr algn="ctr"/>
                      <a:r>
                        <a:rPr lang="en-GB" altLang="zh-CN" sz="1800" b="0" i="0" kern="1200">
                          <a:solidFill>
                            <a:schemeClr val="lt1"/>
                          </a:solidFill>
                          <a:effectLst/>
                          <a:latin typeface="+mn-lt"/>
                          <a:ea typeface="+mn-ea"/>
                          <a:cs typeface="+mn-cs"/>
                        </a:rPr>
                        <a:t>Salary</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a:t>Alice</a:t>
                      </a:r>
                      <a:endParaRPr lang="en-US" altLang="zh-CN" sz="1600" dirty="0"/>
                    </a:p>
                  </a:txBody>
                  <a:tcPr/>
                </a:tc>
                <a:tc>
                  <a:txBody>
                    <a:bodyPr/>
                    <a:lstStyle/>
                    <a:p>
                      <a:pPr algn="ctr"/>
                      <a:r>
                        <a:rPr lang="en-US" altLang="zh-CN" sz="1600" dirty="0"/>
                        <a:t>100</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t>Bob</a:t>
                      </a:r>
                      <a:endParaRPr lang="zh-CN" altLang="en-US" sz="1600" baseline="30000" dirty="0"/>
                    </a:p>
                  </a:txBody>
                  <a:tcPr/>
                </a:tc>
                <a:tc>
                  <a:txBody>
                    <a:bodyPr/>
                    <a:lstStyle/>
                    <a:p>
                      <a:pPr algn="ctr"/>
                      <a:r>
                        <a:rPr lang="en-US" altLang="zh-CN" sz="1600" dirty="0"/>
                        <a:t>80</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GB" altLang="zh-CN" sz="1600" baseline="0"/>
                        <a:t>Brown</a:t>
                      </a:r>
                      <a:endParaRPr lang="zh-CN" altLang="en-US" sz="1600" baseline="0" dirty="0"/>
                    </a:p>
                  </a:txBody>
                  <a:tcPr/>
                </a:tc>
                <a:tc>
                  <a:txBody>
                    <a:bodyPr/>
                    <a:lstStyle/>
                    <a:p>
                      <a:pPr algn="ctr"/>
                      <a:r>
                        <a:rPr lang="en-US" altLang="zh-CN" sz="1600" dirty="0"/>
                        <a:t>200</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aseline="0"/>
                        <a:t>Tom</a:t>
                      </a:r>
                      <a:endParaRPr lang="zh-CN" altLang="en-US" sz="1600" baseline="0" dirty="0"/>
                    </a:p>
                  </a:txBody>
                  <a:tcPr/>
                </a:tc>
                <a:tc>
                  <a:txBody>
                    <a:bodyPr/>
                    <a:lstStyle/>
                    <a:p>
                      <a:pPr algn="ctr"/>
                      <a:r>
                        <a:rPr lang="en-US" altLang="zh-CN" sz="1600" dirty="0"/>
                        <a:t>120</a:t>
                      </a:r>
                      <a:endParaRPr lang="zh-CN" altLang="en-US" sz="1600" dirty="0"/>
                    </a:p>
                  </a:txBody>
                  <a:tcPr/>
                </a:tc>
              </a:tr>
            </a:tbl>
          </a:graphicData>
        </a:graphic>
      </p:graphicFrame>
      <p:cxnSp>
        <p:nvCxnSpPr>
          <p:cNvPr id="24" name="直线箭头连接符 23"/>
          <p:cNvCxnSpPr/>
          <p:nvPr/>
        </p:nvCxnSpPr>
        <p:spPr>
          <a:xfrm>
            <a:off x="2577409" y="1922094"/>
            <a:ext cx="29306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19"/>
          <p:cNvSpPr/>
          <p:nvPr/>
        </p:nvSpPr>
        <p:spPr>
          <a:xfrm>
            <a:off x="2206552" y="1561356"/>
            <a:ext cx="3672407" cy="348878"/>
          </a:xfrm>
          <a:prstGeom prst="rect">
            <a:avLst/>
          </a:prstGeom>
        </p:spPr>
        <p:txBody>
          <a:bodyPr wrap="square">
            <a:spAutoFit/>
          </a:bodyPr>
          <a:lstStyle/>
          <a:p>
            <a:pPr algn="ctr"/>
            <a:r>
              <a:rPr lang="en-US" altLang="zh-CN" sz="1665" dirty="0">
                <a:latin typeface="Candara" panose="020E0502030303020204"/>
                <a:cs typeface="Candara" panose="020E0502030303020204"/>
              </a:rPr>
              <a:t>SUM(Salary)</a:t>
            </a:r>
            <a:endParaRPr lang="en-US" altLang="zh-CN" sz="1500" dirty="0">
              <a:latin typeface="Candara" panose="020E0502030303020204"/>
              <a:cs typeface="Candara" panose="020E0502030303020204"/>
            </a:endParaRPr>
          </a:p>
        </p:txBody>
      </p:sp>
      <p:cxnSp>
        <p:nvCxnSpPr>
          <p:cNvPr id="26" name="直线箭头连接符 25"/>
          <p:cNvCxnSpPr/>
          <p:nvPr/>
        </p:nvCxnSpPr>
        <p:spPr>
          <a:xfrm>
            <a:off x="2577409" y="2293296"/>
            <a:ext cx="2930695"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7" name="Rectangle 19"/>
          <p:cNvSpPr/>
          <p:nvPr/>
        </p:nvSpPr>
        <p:spPr>
          <a:xfrm>
            <a:off x="2577409" y="1944418"/>
            <a:ext cx="2930695" cy="348878"/>
          </a:xfrm>
          <a:prstGeom prst="rect">
            <a:avLst/>
          </a:prstGeom>
        </p:spPr>
        <p:txBody>
          <a:bodyPr wrap="square">
            <a:spAutoFit/>
          </a:bodyPr>
          <a:lstStyle/>
          <a:p>
            <a:pPr algn="ctr"/>
            <a:r>
              <a:rPr lang="en-US" altLang="zh-CN" sz="1665" dirty="0">
                <a:latin typeface="Candara" panose="020E0502030303020204"/>
                <a:cs typeface="Candara" panose="020E0502030303020204"/>
              </a:rPr>
              <a:t>500</a:t>
            </a:r>
            <a:endParaRPr lang="en-US" altLang="zh-CN" sz="1500" dirty="0">
              <a:latin typeface="Candara" panose="020E0502030303020204"/>
              <a:cs typeface="Candara" panose="020E0502030303020204"/>
            </a:endParaRPr>
          </a:p>
        </p:txBody>
      </p:sp>
      <p:cxnSp>
        <p:nvCxnSpPr>
          <p:cNvPr id="12" name="直线箭头连接符 11"/>
          <p:cNvCxnSpPr/>
          <p:nvPr/>
        </p:nvCxnSpPr>
        <p:spPr>
          <a:xfrm>
            <a:off x="2577409" y="2729077"/>
            <a:ext cx="29306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9"/>
          <p:cNvSpPr/>
          <p:nvPr/>
        </p:nvSpPr>
        <p:spPr>
          <a:xfrm>
            <a:off x="2206552" y="2368339"/>
            <a:ext cx="3672407" cy="348878"/>
          </a:xfrm>
          <a:prstGeom prst="rect">
            <a:avLst/>
          </a:prstGeom>
        </p:spPr>
        <p:txBody>
          <a:bodyPr wrap="square">
            <a:spAutoFit/>
          </a:bodyPr>
          <a:lstStyle/>
          <a:p>
            <a:pPr algn="ctr"/>
            <a:r>
              <a:rPr lang="en-US" altLang="zh-CN" sz="1665" dirty="0">
                <a:latin typeface="Candara" panose="020E0502030303020204"/>
                <a:cs typeface="Candara" panose="020E0502030303020204"/>
              </a:rPr>
              <a:t>SUM(Salary) where Name != “Tom”</a:t>
            </a:r>
            <a:endParaRPr lang="en-US" altLang="zh-CN" sz="1500" dirty="0">
              <a:latin typeface="Candara" panose="020E0502030303020204"/>
              <a:cs typeface="Candara" panose="020E0502030303020204"/>
            </a:endParaRPr>
          </a:p>
        </p:txBody>
      </p:sp>
      <p:cxnSp>
        <p:nvCxnSpPr>
          <p:cNvPr id="15" name="直线箭头连接符 14"/>
          <p:cNvCxnSpPr/>
          <p:nvPr/>
        </p:nvCxnSpPr>
        <p:spPr>
          <a:xfrm>
            <a:off x="2577409" y="3100279"/>
            <a:ext cx="2930695"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8" name="Rectangle 19"/>
          <p:cNvSpPr/>
          <p:nvPr/>
        </p:nvSpPr>
        <p:spPr>
          <a:xfrm>
            <a:off x="2577409" y="2751401"/>
            <a:ext cx="2930695" cy="348878"/>
          </a:xfrm>
          <a:prstGeom prst="rect">
            <a:avLst/>
          </a:prstGeom>
        </p:spPr>
        <p:txBody>
          <a:bodyPr wrap="square">
            <a:spAutoFit/>
          </a:bodyPr>
          <a:lstStyle/>
          <a:p>
            <a:pPr algn="ctr"/>
            <a:r>
              <a:rPr lang="en-US" altLang="zh-CN" sz="1665" dirty="0">
                <a:latin typeface="Candara" panose="020E0502030303020204"/>
                <a:cs typeface="Candara" panose="020E0502030303020204"/>
              </a:rPr>
              <a:t>380</a:t>
            </a:r>
            <a:endParaRPr lang="en-US" altLang="zh-CN" sz="1500" dirty="0">
              <a:latin typeface="Candara" panose="020E0502030303020204"/>
              <a:cs typeface="Candara" panose="020E0502030303020204"/>
            </a:endParaRPr>
          </a:p>
        </p:txBody>
      </p:sp>
      <p:sp>
        <p:nvSpPr>
          <p:cNvPr id="19" name="椭圆形标注 18"/>
          <p:cNvSpPr/>
          <p:nvPr/>
        </p:nvSpPr>
        <p:spPr>
          <a:xfrm>
            <a:off x="0" y="1066445"/>
            <a:ext cx="1944216" cy="855649"/>
          </a:xfrm>
          <a:prstGeom prst="wedgeEllipseCallout">
            <a:avLst>
              <a:gd name="adj1" fmla="val 46734"/>
              <a:gd name="adj2" fmla="val 81458"/>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Tom has 120</a:t>
            </a:r>
            <a:endParaRPr kumimoji="1" lang="zh-CN"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par>
                                <p:cTn id="8" presetID="1"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right)">
                                      <p:cBhvr>
                                        <p:cTn id="14" dur="500"/>
                                        <p:tgtEl>
                                          <p:spTgt spid="26"/>
                                        </p:tgtEl>
                                      </p:cBhvr>
                                    </p:animEffec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right)">
                                      <p:cBhvr>
                                        <p:cTn id="28" dur="500"/>
                                        <p:tgtEl>
                                          <p:spTgt spid="15"/>
                                        </p:tgtEl>
                                      </p:cBhvr>
                                    </p:animEffec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13" grpId="0"/>
      <p:bldP spid="18" grpId="0"/>
      <p:bldP spid="19"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dirty="0"/>
              <a:t>Differential privacy </a:t>
            </a:r>
            <a:endParaRPr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mc:AlternateContent xmlns:mc="http://schemas.openxmlformats.org/markup-compatibility/2006">
        <mc:Choice xmlns:a14="http://schemas.microsoft.com/office/drawing/2010/main" Requires="a14">
          <p:sp>
            <p:nvSpPr>
              <p:cNvPr id="20" name="内容占位符 2"/>
              <p:cNvSpPr>
                <a:spLocks noGrp="1"/>
              </p:cNvSpPr>
              <p:nvPr>
                <p:ph idx="1"/>
              </p:nvPr>
            </p:nvSpPr>
            <p:spPr>
              <a:xfrm>
                <a:off x="457200" y="1273324"/>
                <a:ext cx="8327268" cy="4023636"/>
              </a:xfrm>
            </p:spPr>
            <p:txBody>
              <a:bodyPr>
                <a:noAutofit/>
              </a:bodyPr>
              <a:lstStyle/>
              <a:p>
                <a:r>
                  <a:rPr kumimoji="1" lang="en-US" altLang="zh-CN" sz="2000" dirty="0"/>
                  <a:t>Allow user to perform a </a:t>
                </a:r>
                <a:r>
                  <a:rPr kumimoji="1" lang="en-US" altLang="zh-CN" sz="2000" b="1" dirty="0">
                    <a:solidFill>
                      <a:schemeClr val="tx1"/>
                    </a:solidFill>
                  </a:rPr>
                  <a:t>random function M </a:t>
                </a:r>
                <a:r>
                  <a:rPr kumimoji="1" lang="en-US" altLang="zh-CN" sz="2000" dirty="0"/>
                  <a:t>on data set </a:t>
                </a:r>
                <a:r>
                  <a:rPr kumimoji="1" lang="en-US" altLang="zh-CN" sz="2000" b="1" dirty="0">
                    <a:solidFill>
                      <a:schemeClr val="tx1"/>
                    </a:solidFill>
                  </a:rPr>
                  <a:t>D = {a</a:t>
                </a:r>
                <a:r>
                  <a:rPr kumimoji="1" lang="en-US" altLang="zh-CN" sz="2000" b="1" baseline="-25000" dirty="0">
                    <a:solidFill>
                      <a:schemeClr val="tx1"/>
                    </a:solidFill>
                  </a:rPr>
                  <a:t>1</a:t>
                </a:r>
                <a:r>
                  <a:rPr kumimoji="1" lang="en-US" altLang="zh-CN" sz="2000" b="1" dirty="0">
                    <a:solidFill>
                      <a:schemeClr val="tx1"/>
                    </a:solidFill>
                  </a:rPr>
                  <a:t>, … a</a:t>
                </a:r>
                <a:r>
                  <a:rPr kumimoji="1" lang="en-US" altLang="zh-CN" sz="2000" b="1" baseline="-25000" dirty="0">
                    <a:solidFill>
                      <a:schemeClr val="tx1"/>
                    </a:solidFill>
                  </a:rPr>
                  <a:t>n</a:t>
                </a:r>
                <a:r>
                  <a:rPr kumimoji="1" lang="en-US" altLang="zh-CN" sz="2000" b="1" dirty="0">
                    <a:solidFill>
                      <a:schemeClr val="tx1"/>
                    </a:solidFill>
                  </a:rPr>
                  <a:t>}</a:t>
                </a:r>
                <a:r>
                  <a:rPr kumimoji="1" lang="en-US" altLang="zh-CN" sz="2000" dirty="0"/>
                  <a:t>, but get nothing about any individual</a:t>
                </a:r>
                <a:r>
                  <a:rPr kumimoji="1" lang="zh-CN" altLang="en-US" sz="2000" dirty="0"/>
                  <a:t> </a:t>
                </a:r>
                <a:r>
                  <a:rPr kumimoji="1" lang="en-US" altLang="zh-CN" sz="2000" dirty="0"/>
                  <a:t>entry of </a:t>
                </a:r>
                <a:r>
                  <a:rPr kumimoji="1" lang="en-US" altLang="zh-CN" sz="2000" b="1" dirty="0">
                    <a:solidFill>
                      <a:schemeClr val="tx1"/>
                    </a:solidFill>
                  </a:rPr>
                  <a:t>D</a:t>
                </a:r>
                <a:endParaRPr kumimoji="1" lang="en-US" altLang="zh-CN" sz="2000" b="1" dirty="0">
                  <a:solidFill>
                    <a:schemeClr val="tx1"/>
                  </a:solidFill>
                </a:endParaRPr>
              </a:p>
              <a:p>
                <a:r>
                  <a:rPr kumimoji="1" lang="en-US" altLang="zh-CN" sz="2000" b="1" dirty="0">
                    <a:solidFill>
                      <a:schemeClr val="tx1"/>
                    </a:solidFill>
                  </a:rPr>
                  <a:t>M</a:t>
                </a:r>
                <a:r>
                  <a:rPr kumimoji="1" lang="en-US" altLang="zh-CN" sz="2000" dirty="0"/>
                  <a:t> is </a:t>
                </a:r>
                <a14:m>
                  <m:oMath xmlns:m="http://schemas.openxmlformats.org/officeDocument/2006/math">
                    <m:r>
                      <a:rPr kumimoji="1" lang="en-US" altLang="zh-CN" sz="2000" b="1" i="1" smtClean="0">
                        <a:solidFill>
                          <a:schemeClr val="tx1"/>
                        </a:solidFill>
                        <a:latin typeface="Cambria Math" panose="02040503050406030204" pitchFamily="18" charset="0"/>
                        <a:ea typeface="Cambria Math" panose="02040503050406030204" pitchFamily="18" charset="0"/>
                      </a:rPr>
                      <m:t>𝜺</m:t>
                    </m:r>
                  </m:oMath>
                </a14:m>
                <a:r>
                  <a:rPr kumimoji="1" lang="en-US" altLang="zh-CN" sz="2000" dirty="0"/>
                  <a:t>-DP if:</a:t>
                </a:r>
                <a:endParaRPr kumimoji="1" lang="en-US" altLang="zh-CN" sz="2000" dirty="0"/>
              </a:p>
              <a:p>
                <a:pPr lvl="1"/>
                <a14:m>
                  <m:oMath xmlns:m="http://schemas.openxmlformats.org/officeDocument/2006/math">
                    <m:func>
                      <m:funcPr>
                        <m:ctrlPr>
                          <a:rPr kumimoji="1" lang="en-US" altLang="zh-CN" sz="1800" b="0" i="1" smtClean="0">
                            <a:latin typeface="Cambria Math" panose="02040503050406030204" pitchFamily="18" charset="0"/>
                          </a:rPr>
                        </m:ctrlPr>
                      </m:funcPr>
                      <m:fName>
                        <m:r>
                          <a:rPr kumimoji="1" lang="en-US" altLang="zh-CN" sz="1800" b="0" i="1" smtClean="0">
                            <a:latin typeface="Cambria Math" panose="02040503050406030204" pitchFamily="18" charset="0"/>
                          </a:rPr>
                          <m:t> </m:t>
                        </m:r>
                      </m:fName>
                      <m:e>
                        <m:r>
                          <a:rPr kumimoji="1" lang="en-US" altLang="zh-CN" sz="1800" b="1" smtClean="0">
                            <a:solidFill>
                              <a:schemeClr val="tx1"/>
                            </a:solidFill>
                            <a:latin typeface="Cambria Math" panose="02040503050406030204" pitchFamily="18" charset="0"/>
                          </a:rPr>
                          <m:t>𝐏𝐫</m:t>
                        </m:r>
                        <m:d>
                          <m:dPr>
                            <m:ctrlPr>
                              <a:rPr kumimoji="1" lang="en-US" altLang="zh-CN" sz="1800" b="1" i="1" smtClean="0">
                                <a:solidFill>
                                  <a:schemeClr val="tx1"/>
                                </a:solidFill>
                                <a:latin typeface="Cambria Math" panose="02040503050406030204" pitchFamily="18" charset="0"/>
                              </a:rPr>
                            </m:ctrlPr>
                          </m:dPr>
                          <m:e>
                            <m:r>
                              <a:rPr kumimoji="1" lang="en-US" altLang="zh-CN" sz="1800" b="1" i="1" smtClean="0">
                                <a:solidFill>
                                  <a:schemeClr val="tx1"/>
                                </a:solidFill>
                                <a:latin typeface="Cambria Math" panose="02040503050406030204" pitchFamily="18" charset="0"/>
                              </a:rPr>
                              <m:t>𝑴</m:t>
                            </m:r>
                            <m:d>
                              <m:dPr>
                                <m:ctrlPr>
                                  <a:rPr kumimoji="1" lang="en-US" altLang="zh-CN" sz="1800" b="1" i="1" smtClean="0">
                                    <a:solidFill>
                                      <a:schemeClr val="tx1"/>
                                    </a:solidFill>
                                    <a:latin typeface="Cambria Math" panose="02040503050406030204" pitchFamily="18" charset="0"/>
                                  </a:rPr>
                                </m:ctrlPr>
                              </m:dPr>
                              <m:e>
                                <m:r>
                                  <a:rPr kumimoji="1" lang="en-US" altLang="zh-CN" sz="1800" b="1" i="1" smtClean="0">
                                    <a:solidFill>
                                      <a:schemeClr val="tx1"/>
                                    </a:solidFill>
                                    <a:latin typeface="Cambria Math" panose="02040503050406030204" pitchFamily="18" charset="0"/>
                                  </a:rPr>
                                  <m:t>𝑫</m:t>
                                </m:r>
                              </m:e>
                            </m:d>
                            <m:r>
                              <a:rPr kumimoji="1" lang="en-US" altLang="zh-CN" sz="1800" b="1" i="1" smtClean="0">
                                <a:solidFill>
                                  <a:schemeClr val="tx1"/>
                                </a:solidFill>
                                <a:latin typeface="Cambria Math" panose="02040503050406030204" pitchFamily="18" charset="0"/>
                              </a:rPr>
                              <m:t>=</m:t>
                            </m:r>
                            <m:r>
                              <a:rPr kumimoji="1" lang="en-US" altLang="zh-CN" sz="1800" b="1" i="1" smtClean="0">
                                <a:solidFill>
                                  <a:schemeClr val="tx1"/>
                                </a:solidFill>
                                <a:latin typeface="Cambria Math" panose="02040503050406030204" pitchFamily="18" charset="0"/>
                              </a:rPr>
                              <m:t>𝒙</m:t>
                            </m:r>
                          </m:e>
                        </m:d>
                      </m:e>
                    </m:func>
                    <m:r>
                      <a:rPr kumimoji="1" lang="en-US" altLang="zh-CN" sz="1800" b="1" i="1" smtClean="0">
                        <a:solidFill>
                          <a:schemeClr val="tx1"/>
                        </a:solidFill>
                        <a:latin typeface="Cambria Math" panose="02040503050406030204" pitchFamily="18" charset="0"/>
                        <a:ea typeface="Cambria Math" panose="02040503050406030204" pitchFamily="18" charset="0"/>
                      </a:rPr>
                      <m:t>≤</m:t>
                    </m:r>
                    <m:sSup>
                      <m:sSupPr>
                        <m:ctrlPr>
                          <a:rPr kumimoji="1" lang="en-US" altLang="zh-CN" sz="1800" b="1" i="1" smtClean="0">
                            <a:solidFill>
                              <a:schemeClr val="tx1"/>
                            </a:solidFill>
                            <a:latin typeface="Cambria Math" panose="02040503050406030204" pitchFamily="18" charset="0"/>
                            <a:ea typeface="Cambria Math" panose="02040503050406030204" pitchFamily="18" charset="0"/>
                          </a:rPr>
                        </m:ctrlPr>
                      </m:sSupPr>
                      <m:e>
                        <m:r>
                          <a:rPr kumimoji="1" lang="en-US" altLang="zh-CN" sz="1800" b="1" i="1" smtClean="0">
                            <a:solidFill>
                              <a:schemeClr val="tx1"/>
                            </a:solidFill>
                            <a:latin typeface="Cambria Math" panose="02040503050406030204" pitchFamily="18" charset="0"/>
                            <a:ea typeface="Cambria Math" panose="02040503050406030204" pitchFamily="18" charset="0"/>
                          </a:rPr>
                          <m:t>𝒆</m:t>
                        </m:r>
                      </m:e>
                      <m:sup>
                        <m:r>
                          <a:rPr kumimoji="1" lang="en-US" altLang="zh-CN" sz="1800" b="1" i="1" smtClean="0">
                            <a:solidFill>
                              <a:schemeClr val="tx1"/>
                            </a:solidFill>
                            <a:latin typeface="Cambria Math" panose="02040503050406030204" pitchFamily="18" charset="0"/>
                            <a:ea typeface="Cambria Math" panose="02040503050406030204" pitchFamily="18" charset="0"/>
                          </a:rPr>
                          <m:t>𝜺</m:t>
                        </m:r>
                      </m:sup>
                    </m:sSup>
                    <m:r>
                      <a:rPr kumimoji="1" lang="en-US" altLang="zh-CN" sz="1800" b="1" i="1" smtClean="0">
                        <a:solidFill>
                          <a:schemeClr val="tx1"/>
                        </a:solidFill>
                        <a:latin typeface="Cambria Math" panose="02040503050406030204" pitchFamily="18" charset="0"/>
                        <a:ea typeface="Cambria Math" panose="02040503050406030204" pitchFamily="18" charset="0"/>
                      </a:rPr>
                      <m:t>∗</m:t>
                    </m:r>
                    <m:r>
                      <a:rPr kumimoji="1" lang="en-US" altLang="zh-CN" sz="1800" b="1" i="0" smtClean="0">
                        <a:solidFill>
                          <a:schemeClr val="tx1"/>
                        </a:solidFill>
                        <a:latin typeface="Cambria Math" panose="02040503050406030204" pitchFamily="18" charset="0"/>
                        <a:ea typeface="Cambria Math" panose="02040503050406030204" pitchFamily="18" charset="0"/>
                      </a:rPr>
                      <m:t>𝐏𝐫</m:t>
                    </m:r>
                    <m:r>
                      <a:rPr kumimoji="1" lang="en-US" altLang="zh-CN" sz="1800" b="1" i="1" smtClean="0">
                        <a:solidFill>
                          <a:schemeClr val="tx1"/>
                        </a:solidFill>
                        <a:latin typeface="Cambria Math" panose="02040503050406030204" pitchFamily="18" charset="0"/>
                        <a:ea typeface="Cambria Math" panose="02040503050406030204" pitchFamily="18" charset="0"/>
                      </a:rPr>
                      <m:t>⁡(</m:t>
                    </m:r>
                    <m:r>
                      <a:rPr kumimoji="1" lang="en-US" altLang="zh-CN" sz="1800" b="1" i="1" smtClean="0">
                        <a:solidFill>
                          <a:schemeClr val="tx1"/>
                        </a:solidFill>
                        <a:latin typeface="Cambria Math" panose="02040503050406030204" pitchFamily="18" charset="0"/>
                        <a:ea typeface="Cambria Math" panose="02040503050406030204" pitchFamily="18" charset="0"/>
                      </a:rPr>
                      <m:t>𝑴</m:t>
                    </m:r>
                    <m:d>
                      <m:dPr>
                        <m:ctrlPr>
                          <a:rPr kumimoji="1" lang="en-US" altLang="zh-CN" sz="1800" b="1" i="1" smtClean="0">
                            <a:solidFill>
                              <a:schemeClr val="tx1"/>
                            </a:solidFill>
                            <a:latin typeface="Cambria Math" panose="02040503050406030204" pitchFamily="18" charset="0"/>
                            <a:ea typeface="Cambria Math" panose="02040503050406030204" pitchFamily="18" charset="0"/>
                          </a:rPr>
                        </m:ctrlPr>
                      </m:dPr>
                      <m:e>
                        <m:sSup>
                          <m:sSupPr>
                            <m:ctrlPr>
                              <a:rPr kumimoji="1" lang="en-US" altLang="zh-CN" sz="1800" b="1" i="1" smtClean="0">
                                <a:solidFill>
                                  <a:schemeClr val="tx1"/>
                                </a:solidFill>
                                <a:latin typeface="Cambria Math" panose="02040503050406030204" pitchFamily="18" charset="0"/>
                                <a:ea typeface="Cambria Math" panose="02040503050406030204" pitchFamily="18" charset="0"/>
                              </a:rPr>
                            </m:ctrlPr>
                          </m:sSupPr>
                          <m:e>
                            <m:r>
                              <a:rPr kumimoji="1" lang="en-US" altLang="zh-CN" sz="1800" b="1" i="1" smtClean="0">
                                <a:solidFill>
                                  <a:schemeClr val="tx1"/>
                                </a:solidFill>
                                <a:latin typeface="Cambria Math" panose="02040503050406030204" pitchFamily="18" charset="0"/>
                                <a:ea typeface="Cambria Math" panose="02040503050406030204" pitchFamily="18" charset="0"/>
                              </a:rPr>
                              <m:t>𝑫</m:t>
                            </m:r>
                          </m:e>
                          <m:sup>
                            <m:r>
                              <a:rPr kumimoji="1" lang="en-US" altLang="zh-CN" sz="1800" b="1" i="1" smtClean="0">
                                <a:solidFill>
                                  <a:schemeClr val="tx1"/>
                                </a:solidFill>
                                <a:latin typeface="Cambria Math" panose="02040503050406030204" pitchFamily="18" charset="0"/>
                                <a:ea typeface="Cambria Math" panose="02040503050406030204" pitchFamily="18" charset="0"/>
                              </a:rPr>
                              <m:t>′</m:t>
                            </m:r>
                          </m:sup>
                        </m:sSup>
                      </m:e>
                    </m:d>
                    <m:r>
                      <a:rPr kumimoji="1" lang="en-US" altLang="zh-CN" sz="1800" b="1" i="1" smtClean="0">
                        <a:solidFill>
                          <a:schemeClr val="tx1"/>
                        </a:solidFill>
                        <a:latin typeface="Cambria Math" panose="02040503050406030204" pitchFamily="18" charset="0"/>
                        <a:ea typeface="Cambria Math" panose="02040503050406030204" pitchFamily="18" charset="0"/>
                      </a:rPr>
                      <m:t>=</m:t>
                    </m:r>
                    <m:r>
                      <a:rPr kumimoji="1" lang="en-US" altLang="zh-CN" sz="1800" b="1" i="1" smtClean="0">
                        <a:solidFill>
                          <a:schemeClr val="tx1"/>
                        </a:solidFill>
                        <a:latin typeface="Cambria Math" panose="02040503050406030204" pitchFamily="18" charset="0"/>
                        <a:ea typeface="Cambria Math" panose="02040503050406030204" pitchFamily="18" charset="0"/>
                      </a:rPr>
                      <m:t>𝒙</m:t>
                    </m:r>
                    <m:r>
                      <a:rPr kumimoji="1" lang="en-US" altLang="zh-CN" sz="1800" b="1" i="1" smtClean="0">
                        <a:solidFill>
                          <a:schemeClr val="tx1"/>
                        </a:solidFill>
                        <a:latin typeface="Cambria Math" panose="02040503050406030204" pitchFamily="18" charset="0"/>
                        <a:ea typeface="Cambria Math" panose="02040503050406030204" pitchFamily="18" charset="0"/>
                      </a:rPr>
                      <m:t>)</m:t>
                    </m:r>
                  </m:oMath>
                </a14:m>
                <a:r>
                  <a:rPr kumimoji="1" lang="zh-CN" altLang="en-US" sz="1800" b="1" dirty="0">
                    <a:solidFill>
                      <a:schemeClr val="tx1"/>
                    </a:solidFill>
                  </a:rPr>
                  <a:t> </a:t>
                </a:r>
                <a:br>
                  <a:rPr kumimoji="1" lang="en-US" altLang="zh-CN" sz="1800" b="1" dirty="0">
                    <a:solidFill>
                      <a:schemeClr val="tx1"/>
                    </a:solidFill>
                  </a:rPr>
                </a:br>
                <a14:m>
                  <m:oMathPara xmlns:m="http://schemas.openxmlformats.org/officeDocument/2006/math">
                    <m:oMathParaPr>
                      <m:jc m:val="centerGroup"/>
                    </m:oMathParaPr>
                    <m:oMath xmlns:m="http://schemas.openxmlformats.org/officeDocument/2006/math">
                      <m:r>
                        <m:rPr>
                          <m:sty m:val="p"/>
                        </m:rPr>
                        <a:rPr kumimoji="1" lang="en-US" altLang="zh-CN">
                          <a:latin typeface="Cambria Math" panose="02040503050406030204" pitchFamily="18" charset="0"/>
                        </a:rPr>
                        <m:t>For</m:t>
                      </m:r>
                      <m:r>
                        <a:rPr kumimoji="1" lang="en-US" altLang="zh-CN">
                          <a:latin typeface="Cambria Math" panose="02040503050406030204" pitchFamily="18" charset="0"/>
                        </a:rPr>
                        <m:t> </m:t>
                      </m:r>
                      <m:r>
                        <m:rPr>
                          <m:sty m:val="p"/>
                        </m:rPr>
                        <a:rPr kumimoji="1" lang="en-US" altLang="zh-CN">
                          <a:latin typeface="Cambria Math" panose="02040503050406030204" pitchFamily="18" charset="0"/>
                        </a:rPr>
                        <m:t>all</m:t>
                      </m:r>
                      <m:r>
                        <a:rPr kumimoji="1" lang="en-US" altLang="zh-CN">
                          <a:latin typeface="Cambria Math" panose="02040503050406030204" pitchFamily="18" charset="0"/>
                        </a:rPr>
                        <m:t> </m:t>
                      </m:r>
                      <m:r>
                        <m:rPr>
                          <m:sty m:val="p"/>
                        </m:rPr>
                        <a:rPr kumimoji="1" lang="en-US" altLang="zh-CN">
                          <a:latin typeface="Cambria Math" panose="02040503050406030204" pitchFamily="18" charset="0"/>
                        </a:rPr>
                        <m:t>datasets</m:t>
                      </m:r>
                      <m:r>
                        <a:rPr kumimoji="1" lang="en-US" altLang="zh-CN">
                          <a:latin typeface="Cambria Math" panose="02040503050406030204" pitchFamily="18" charset="0"/>
                        </a:rPr>
                        <m:t> </m:t>
                      </m:r>
                      <m:r>
                        <a:rPr kumimoji="1" lang="en-US" altLang="zh-CN" b="1" i="1">
                          <a:solidFill>
                            <a:schemeClr val="tx1"/>
                          </a:solidFill>
                          <a:latin typeface="Cambria Math" panose="02040503050406030204" pitchFamily="18" charset="0"/>
                        </a:rPr>
                        <m:t>𝐃</m:t>
                      </m:r>
                      <m:r>
                        <a:rPr kumimoji="1" lang="en-US" altLang="zh-CN">
                          <a:latin typeface="Cambria Math" panose="02040503050406030204" pitchFamily="18" charset="0"/>
                        </a:rPr>
                        <m:t> </m:t>
                      </m:r>
                      <m:r>
                        <m:rPr>
                          <m:sty m:val="p"/>
                        </m:rPr>
                        <a:rPr kumimoji="1" lang="en-US" altLang="zh-CN">
                          <a:latin typeface="Cambria Math" panose="02040503050406030204" pitchFamily="18" charset="0"/>
                        </a:rPr>
                        <m:t>and</m:t>
                      </m:r>
                      <m:r>
                        <a:rPr kumimoji="1" lang="en-US" altLang="zh-CN">
                          <a:latin typeface="Cambria Math" panose="02040503050406030204" pitchFamily="18" charset="0"/>
                        </a:rPr>
                        <m:t> </m:t>
                      </m:r>
                      <m:sSup>
                        <m:sSupPr>
                          <m:ctrlPr>
                            <a:rPr kumimoji="1" lang="en-US" altLang="zh-CN" b="1" i="1">
                              <a:solidFill>
                                <a:schemeClr val="tx1"/>
                              </a:solidFill>
                              <a:latin typeface="Cambria Math" panose="02040503050406030204" pitchFamily="18" charset="0"/>
                            </a:rPr>
                          </m:ctrlPr>
                        </m:sSupPr>
                        <m:e>
                          <m:r>
                            <a:rPr kumimoji="1" lang="en-US" altLang="zh-CN" b="1" i="1">
                              <a:solidFill>
                                <a:schemeClr val="tx1"/>
                              </a:solidFill>
                              <a:latin typeface="Cambria Math" panose="02040503050406030204" pitchFamily="18" charset="0"/>
                            </a:rPr>
                            <m:t>𝐃</m:t>
                          </m:r>
                        </m:e>
                        <m:sup>
                          <m:r>
                            <a:rPr kumimoji="1" lang="en-US" altLang="zh-CN" b="1">
                              <a:solidFill>
                                <a:schemeClr val="tx1"/>
                              </a:solidFill>
                              <a:latin typeface="Cambria Math" panose="02040503050406030204" pitchFamily="18" charset="0"/>
                            </a:rPr>
                            <m:t>′</m:t>
                          </m:r>
                        </m:sup>
                      </m:sSup>
                      <m:r>
                        <m:rPr>
                          <m:sty m:val="p"/>
                        </m:rPr>
                        <a:rPr kumimoji="1" lang="en-US" altLang="zh-CN" i="1">
                          <a:latin typeface="Cambria Math" panose="02040503050406030204" pitchFamily="18" charset="0"/>
                        </a:rPr>
                        <m:t>that</m:t>
                      </m:r>
                      <m:r>
                        <a:rPr kumimoji="1" lang="en-US" altLang="zh-CN" b="1">
                          <a:latin typeface="Cambria Math" panose="02040503050406030204" pitchFamily="18" charset="0"/>
                        </a:rPr>
                        <m:t> </m:t>
                      </m:r>
                      <m:r>
                        <a:rPr kumimoji="1" lang="en-US" altLang="zh-CN" b="1">
                          <a:solidFill>
                            <a:srgbClr val="C00000"/>
                          </a:solidFill>
                          <a:latin typeface="Cambria Math" panose="02040503050406030204" pitchFamily="18" charset="0"/>
                        </a:rPr>
                        <m:t>𝐝𝐢𝐟𝐟𝐞𝐫</m:t>
                      </m:r>
                      <m:r>
                        <a:rPr kumimoji="1" lang="en-US" altLang="zh-CN" b="1">
                          <a:solidFill>
                            <a:srgbClr val="C00000"/>
                          </a:solidFill>
                          <a:latin typeface="Cambria Math" panose="02040503050406030204" pitchFamily="18" charset="0"/>
                        </a:rPr>
                        <m:t> </m:t>
                      </m:r>
                      <m:r>
                        <a:rPr kumimoji="1" lang="en-US" altLang="zh-CN" b="1">
                          <a:solidFill>
                            <a:srgbClr val="C00000"/>
                          </a:solidFill>
                          <a:latin typeface="Cambria Math" panose="02040503050406030204" pitchFamily="18" charset="0"/>
                        </a:rPr>
                        <m:t>𝐨𝐧</m:t>
                      </m:r>
                      <m:r>
                        <a:rPr kumimoji="1" lang="en-US" altLang="zh-CN" b="1">
                          <a:solidFill>
                            <a:srgbClr val="C00000"/>
                          </a:solidFill>
                          <a:latin typeface="Cambria Math" panose="02040503050406030204" pitchFamily="18" charset="0"/>
                        </a:rPr>
                        <m:t> </m:t>
                      </m:r>
                      <m:r>
                        <a:rPr kumimoji="1" lang="en-US" altLang="zh-CN" b="1">
                          <a:solidFill>
                            <a:srgbClr val="C00000"/>
                          </a:solidFill>
                          <a:latin typeface="Cambria Math" panose="02040503050406030204" pitchFamily="18" charset="0"/>
                        </a:rPr>
                        <m:t>𝐚</m:t>
                      </m:r>
                      <m:r>
                        <a:rPr kumimoji="1" lang="en-US" altLang="zh-CN" b="1">
                          <a:solidFill>
                            <a:srgbClr val="C00000"/>
                          </a:solidFill>
                          <a:latin typeface="Cambria Math" panose="02040503050406030204" pitchFamily="18" charset="0"/>
                        </a:rPr>
                        <m:t> </m:t>
                      </m:r>
                      <m:r>
                        <a:rPr kumimoji="1" lang="en-US" altLang="zh-CN" b="1">
                          <a:solidFill>
                            <a:srgbClr val="C00000"/>
                          </a:solidFill>
                          <a:latin typeface="Cambria Math" panose="02040503050406030204" pitchFamily="18" charset="0"/>
                        </a:rPr>
                        <m:t>𝐬𝐢𝐧𝐠𝐥𝐞</m:t>
                      </m:r>
                      <m:r>
                        <a:rPr kumimoji="1" lang="en-US" altLang="zh-CN" b="1">
                          <a:solidFill>
                            <a:srgbClr val="C00000"/>
                          </a:solidFill>
                          <a:latin typeface="Cambria Math" panose="02040503050406030204" pitchFamily="18" charset="0"/>
                        </a:rPr>
                        <m:t> </m:t>
                      </m:r>
                      <m:r>
                        <a:rPr kumimoji="1" lang="en-US" altLang="zh-CN" b="1">
                          <a:solidFill>
                            <a:srgbClr val="C00000"/>
                          </a:solidFill>
                          <a:latin typeface="Cambria Math" panose="02040503050406030204" pitchFamily="18" charset="0"/>
                        </a:rPr>
                        <m:t>𝐞𝐥𝐞𝐦𝐞𝐧𝐭</m:t>
                      </m:r>
                    </m:oMath>
                  </m:oMathPara>
                </a14:m>
                <a:endParaRPr kumimoji="1" lang="en-US" altLang="zh-CN" sz="1800" b="1" dirty="0">
                  <a:solidFill>
                    <a:schemeClr val="tx1"/>
                  </a:solidFill>
                </a:endParaRPr>
              </a:p>
              <a:p>
                <a:r>
                  <a:rPr kumimoji="1" lang="en-US" altLang="zh-CN" sz="2000" dirty="0"/>
                  <a:t>Security properties</a:t>
                </a:r>
                <a:endParaRPr kumimoji="1" lang="en-US" altLang="zh-CN" sz="2000" dirty="0"/>
              </a:p>
              <a:p>
                <a:pPr lvl="1"/>
                <a:r>
                  <a:rPr kumimoji="1" lang="en-US" altLang="zh-CN" sz="1800" dirty="0"/>
                  <a:t>Robustness to post-processing</a:t>
                </a:r>
                <a:endParaRPr kumimoji="1" lang="en-US" altLang="zh-CN" sz="1800" dirty="0"/>
              </a:p>
              <a:p>
                <a:pPr lvl="2"/>
                <a:r>
                  <a:rPr kumimoji="1" lang="en-US" altLang="zh-CN" sz="1400" b="1" dirty="0"/>
                  <a:t>User can perform any operation on the result of </a:t>
                </a:r>
                <a:r>
                  <a:rPr kumimoji="1" lang="en-US" altLang="zh-CN" sz="1400" b="1" dirty="0">
                    <a:solidFill>
                      <a:schemeClr val="tx1"/>
                    </a:solidFill>
                  </a:rPr>
                  <a:t>M</a:t>
                </a:r>
                <a:r>
                  <a:rPr kumimoji="1" lang="en-US" altLang="zh-CN" sz="1400" b="1" dirty="0"/>
                  <a:t>, and get nothing about the individual entry of D</a:t>
                </a:r>
                <a:endParaRPr kumimoji="1" lang="en-US" altLang="zh-CN" sz="1400" b="1" dirty="0"/>
              </a:p>
              <a:p>
                <a:pPr lvl="1"/>
                <a:r>
                  <a:rPr kumimoji="1" lang="en-US" altLang="zh-CN" sz="1800" dirty="0"/>
                  <a:t>Composability</a:t>
                </a:r>
                <a:endParaRPr kumimoji="1" lang="en-US" altLang="zh-CN" sz="1800" dirty="0"/>
              </a:p>
              <a:p>
                <a:pPr lvl="1"/>
                <a:r>
                  <a:rPr kumimoji="1" lang="en-US" altLang="zh-CN" sz="1800" dirty="0"/>
                  <a:t>Group privacy</a:t>
                </a:r>
                <a:endParaRPr kumimoji="1" lang="en-US" altLang="zh-CN" sz="1800" dirty="0"/>
              </a:p>
              <a:p>
                <a:pPr lvl="1"/>
                <a:endParaRPr kumimoji="1" lang="en-US" altLang="zh-CN" sz="1800" dirty="0"/>
              </a:p>
            </p:txBody>
          </p:sp>
        </mc:Choice>
        <mc:Fallback>
          <p:sp>
            <p:nvSpPr>
              <p:cNvPr id="20" name="内容占位符 2"/>
              <p:cNvSpPr>
                <a:spLocks noRot="1" noChangeAspect="1" noMove="1" noResize="1" noEditPoints="1" noAdjustHandles="1" noChangeArrowheads="1" noChangeShapeType="1" noTextEdit="1"/>
              </p:cNvSpPr>
              <p:nvPr>
                <p:ph idx="1"/>
              </p:nvPr>
            </p:nvSpPr>
            <p:spPr>
              <a:xfrm>
                <a:off x="457200" y="1273324"/>
                <a:ext cx="8327268" cy="4023636"/>
              </a:xfrm>
              <a:blipFill rotWithShape="1">
                <a:blip r:embed="rId1"/>
                <a:stretch>
                  <a:fillRect t="-4" r="6" b="-13325"/>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dirty="0"/>
              <a:t>Properties of Differential privacy </a:t>
            </a:r>
            <a:endParaRPr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mc:AlternateContent xmlns:mc="http://schemas.openxmlformats.org/markup-compatibility/2006">
        <mc:Choice xmlns:a14="http://schemas.microsoft.com/office/drawing/2010/main" Requires="a14">
          <p:sp>
            <p:nvSpPr>
              <p:cNvPr id="20" name="内容占位符 2"/>
              <p:cNvSpPr>
                <a:spLocks noGrp="1"/>
              </p:cNvSpPr>
              <p:nvPr>
                <p:ph idx="1"/>
              </p:nvPr>
            </p:nvSpPr>
            <p:spPr>
              <a:xfrm>
                <a:off x="457200" y="1273324"/>
                <a:ext cx="8327268" cy="4212810"/>
              </a:xfrm>
            </p:spPr>
            <p:txBody>
              <a:bodyPr>
                <a:noAutofit/>
              </a:bodyPr>
              <a:lstStyle/>
              <a:p>
                <a:r>
                  <a:rPr kumimoji="1" lang="en-US" altLang="zh-CN" sz="2000" dirty="0"/>
                  <a:t>Robustness to post-processing</a:t>
                </a:r>
                <a:endParaRPr kumimoji="1" lang="en-US" altLang="zh-CN" sz="2000" dirty="0"/>
              </a:p>
              <a:p>
                <a:pPr lvl="1"/>
                <a:r>
                  <a:rPr kumimoji="1" lang="en-US" altLang="zh-CN" sz="1800" dirty="0"/>
                  <a:t>User can perform </a:t>
                </a:r>
                <a:r>
                  <a:rPr kumimoji="1" lang="en-US" altLang="zh-CN" sz="1800" b="1" dirty="0">
                    <a:solidFill>
                      <a:srgbClr val="C00000"/>
                    </a:solidFill>
                  </a:rPr>
                  <a:t>any operation</a:t>
                </a:r>
                <a:r>
                  <a:rPr kumimoji="1" lang="en-US" altLang="zh-CN" sz="1800" dirty="0">
                    <a:solidFill>
                      <a:srgbClr val="C00000"/>
                    </a:solidFill>
                  </a:rPr>
                  <a:t> </a:t>
                </a:r>
                <a:r>
                  <a:rPr kumimoji="1" lang="en-US" altLang="zh-CN" sz="1800" dirty="0"/>
                  <a:t>on the result of </a:t>
                </a:r>
                <a:r>
                  <a:rPr kumimoji="1" lang="en-US" altLang="zh-CN" sz="1800" b="1" dirty="0">
                    <a:solidFill>
                      <a:schemeClr val="tx1"/>
                    </a:solidFill>
                  </a:rPr>
                  <a:t>M</a:t>
                </a:r>
                <a:endParaRPr kumimoji="1" lang="en-US" altLang="zh-CN" sz="1800" b="1" dirty="0">
                  <a:solidFill>
                    <a:schemeClr val="tx1"/>
                  </a:solidFill>
                </a:endParaRPr>
              </a:p>
              <a:p>
                <a:r>
                  <a:rPr kumimoji="1" lang="en-US" altLang="zh-CN" sz="2000" dirty="0"/>
                  <a:t>Composability</a:t>
                </a:r>
                <a:endParaRPr kumimoji="1" lang="en-US" altLang="zh-CN" sz="2000" dirty="0"/>
              </a:p>
              <a:p>
                <a:pPr lvl="1"/>
                <a:r>
                  <a:rPr kumimoji="1" lang="en-US" altLang="zh-CN" sz="1800" dirty="0"/>
                  <a:t>Let </a:t>
                </a:r>
                <a:r>
                  <a:rPr kumimoji="1" lang="en-US" altLang="zh-CN" sz="1800" b="1" dirty="0">
                    <a:solidFill>
                      <a:schemeClr val="tx1"/>
                    </a:solidFill>
                  </a:rPr>
                  <a:t>g = (M</a:t>
                </a:r>
                <a:r>
                  <a:rPr kumimoji="1" lang="en-US" altLang="zh-CN" sz="1800" b="1" baseline="-25000" dirty="0">
                    <a:solidFill>
                      <a:schemeClr val="tx1"/>
                    </a:solidFill>
                  </a:rPr>
                  <a:t>1</a:t>
                </a:r>
                <a:r>
                  <a:rPr kumimoji="1" lang="en-US" altLang="zh-CN" sz="1800" b="1" dirty="0">
                    <a:solidFill>
                      <a:schemeClr val="tx1"/>
                    </a:solidFill>
                  </a:rPr>
                  <a:t>, … M</a:t>
                </a:r>
                <a:r>
                  <a:rPr kumimoji="1" lang="en-US" altLang="zh-CN" sz="1800" b="1" baseline="-25000" dirty="0">
                    <a:solidFill>
                      <a:schemeClr val="tx1"/>
                    </a:solidFill>
                  </a:rPr>
                  <a:t>n</a:t>
                </a:r>
                <a:r>
                  <a:rPr kumimoji="1" lang="en-US" altLang="zh-CN" sz="1800" b="1" dirty="0">
                    <a:solidFill>
                      <a:schemeClr val="tx1"/>
                    </a:solidFill>
                  </a:rPr>
                  <a:t>)</a:t>
                </a:r>
                <a:endParaRPr kumimoji="1" lang="en-US" altLang="zh-CN" sz="1800" b="1" dirty="0">
                  <a:solidFill>
                    <a:schemeClr val="tx1"/>
                  </a:solidFill>
                </a:endParaRPr>
              </a:p>
              <a:p>
                <a:pPr lvl="1"/>
                <a:r>
                  <a:rPr kumimoji="1" lang="en-US" altLang="zh-CN" sz="1800" dirty="0"/>
                  <a:t>If all </a:t>
                </a:r>
                <a:r>
                  <a:rPr kumimoji="1" lang="en-US" altLang="zh-CN" sz="1800" b="1" dirty="0">
                    <a:solidFill>
                      <a:schemeClr val="tx1"/>
                    </a:solidFill>
                  </a:rPr>
                  <a:t>M</a:t>
                </a:r>
                <a:r>
                  <a:rPr kumimoji="1" lang="en-US" altLang="zh-CN" sz="1800" b="1" baseline="-25000" dirty="0">
                    <a:solidFill>
                      <a:schemeClr val="tx1"/>
                    </a:solidFill>
                  </a:rPr>
                  <a:t>i</a:t>
                </a:r>
                <a:r>
                  <a:rPr kumimoji="1" lang="en-US" altLang="zh-CN" sz="1800" dirty="0"/>
                  <a:t> perform on the same </a:t>
                </a:r>
                <a:r>
                  <a:rPr kumimoji="1" lang="en-US" altLang="zh-CN" sz="1800" b="1" dirty="0">
                    <a:solidFill>
                      <a:schemeClr val="tx1"/>
                    </a:solidFill>
                  </a:rPr>
                  <a:t>D</a:t>
                </a:r>
                <a:r>
                  <a:rPr kumimoji="1" lang="en-US" altLang="zh-CN" sz="1800" dirty="0"/>
                  <a:t>, then </a:t>
                </a:r>
                <a:r>
                  <a:rPr kumimoji="1" lang="en-US" altLang="zh-CN" sz="1800" b="1" dirty="0">
                    <a:solidFill>
                      <a:schemeClr val="tx1"/>
                    </a:solidFill>
                  </a:rPr>
                  <a:t>g</a:t>
                </a:r>
                <a:r>
                  <a:rPr kumimoji="1" lang="en-US" altLang="zh-CN" sz="1800" dirty="0"/>
                  <a:t> is </a:t>
                </a:r>
                <a14:m>
                  <m:oMath xmlns:m="http://schemas.openxmlformats.org/officeDocument/2006/math">
                    <m:sSub>
                      <m:sSubPr>
                        <m:ctrlPr>
                          <a:rPr kumimoji="1" lang="en-US" altLang="zh-CN" sz="1800" b="1" i="1" smtClean="0">
                            <a:solidFill>
                              <a:schemeClr val="tx1"/>
                            </a:solidFill>
                            <a:latin typeface="Cambria Math" panose="02040503050406030204" pitchFamily="18" charset="0"/>
                            <a:ea typeface="Cambria Math" panose="02040503050406030204" pitchFamily="18" charset="0"/>
                          </a:rPr>
                        </m:ctrlPr>
                      </m:sSubPr>
                      <m:e>
                        <m:r>
                          <a:rPr kumimoji="1" lang="en-US" altLang="zh-CN" sz="1800" b="1" i="1" smtClean="0">
                            <a:solidFill>
                              <a:schemeClr val="tx1"/>
                            </a:solidFill>
                            <a:latin typeface="Cambria Math" panose="02040503050406030204" pitchFamily="18" charset="0"/>
                            <a:ea typeface="Cambria Math" panose="02040503050406030204" pitchFamily="18" charset="0"/>
                          </a:rPr>
                          <m:t>𝜺</m:t>
                        </m:r>
                      </m:e>
                      <m:sub>
                        <m:r>
                          <a:rPr kumimoji="1" lang="en-US" altLang="zh-CN" sz="1800" b="1" i="1" smtClean="0">
                            <a:solidFill>
                              <a:schemeClr val="tx1"/>
                            </a:solidFill>
                            <a:latin typeface="Cambria Math" panose="02040503050406030204" pitchFamily="18" charset="0"/>
                            <a:ea typeface="Cambria Math" panose="02040503050406030204" pitchFamily="18" charset="0"/>
                          </a:rPr>
                          <m:t>𝟏</m:t>
                        </m:r>
                      </m:sub>
                    </m:sSub>
                    <m:r>
                      <a:rPr kumimoji="1" lang="en-US" altLang="zh-CN" sz="1800" b="1" i="1">
                        <a:solidFill>
                          <a:schemeClr val="tx1"/>
                        </a:solidFill>
                        <a:latin typeface="Cambria Math" panose="02040503050406030204" pitchFamily="18" charset="0"/>
                        <a:ea typeface="Cambria Math" panose="02040503050406030204" pitchFamily="18" charset="0"/>
                      </a:rPr>
                      <m:t>+</m:t>
                    </m:r>
                    <m:r>
                      <a:rPr kumimoji="1" lang="en-US" altLang="zh-CN" sz="1800" b="1" i="1" smtClean="0">
                        <a:solidFill>
                          <a:schemeClr val="tx1"/>
                        </a:solidFill>
                        <a:latin typeface="Cambria Math" panose="02040503050406030204" pitchFamily="18" charset="0"/>
                        <a:ea typeface="Cambria Math" panose="02040503050406030204" pitchFamily="18" charset="0"/>
                      </a:rPr>
                      <m:t>…</m:t>
                    </m:r>
                    <m:r>
                      <a:rPr kumimoji="1" lang="en-US" altLang="zh-CN" sz="1800" b="1" i="1">
                        <a:solidFill>
                          <a:schemeClr val="tx1"/>
                        </a:solidFill>
                        <a:latin typeface="Cambria Math" panose="02040503050406030204" pitchFamily="18" charset="0"/>
                        <a:ea typeface="Cambria Math" panose="02040503050406030204" pitchFamily="18" charset="0"/>
                      </a:rPr>
                      <m:t>+</m:t>
                    </m:r>
                    <m:sSub>
                      <m:sSubPr>
                        <m:ctrlPr>
                          <a:rPr kumimoji="1" lang="en-US" altLang="zh-CN" sz="1800" b="1" i="1">
                            <a:solidFill>
                              <a:schemeClr val="tx1"/>
                            </a:solidFill>
                            <a:latin typeface="Cambria Math" panose="02040503050406030204" pitchFamily="18" charset="0"/>
                            <a:ea typeface="Cambria Math" panose="02040503050406030204" pitchFamily="18" charset="0"/>
                          </a:rPr>
                        </m:ctrlPr>
                      </m:sSubPr>
                      <m:e>
                        <m:r>
                          <a:rPr kumimoji="1" lang="en-US" altLang="zh-CN" sz="1800" b="1" i="1">
                            <a:solidFill>
                              <a:schemeClr val="tx1"/>
                            </a:solidFill>
                            <a:latin typeface="Cambria Math" panose="02040503050406030204" pitchFamily="18" charset="0"/>
                            <a:ea typeface="Cambria Math" panose="02040503050406030204" pitchFamily="18" charset="0"/>
                          </a:rPr>
                          <m:t>𝜺</m:t>
                        </m:r>
                      </m:e>
                      <m:sub>
                        <m:r>
                          <a:rPr kumimoji="1" lang="en-US" altLang="zh-CN" sz="1800" b="1" i="1" smtClean="0">
                            <a:solidFill>
                              <a:schemeClr val="tx1"/>
                            </a:solidFill>
                            <a:latin typeface="Cambria Math" panose="02040503050406030204" pitchFamily="18" charset="0"/>
                            <a:ea typeface="Cambria Math" panose="02040503050406030204" pitchFamily="18" charset="0"/>
                          </a:rPr>
                          <m:t>𝒏</m:t>
                        </m:r>
                      </m:sub>
                    </m:sSub>
                  </m:oMath>
                </a14:m>
                <a:r>
                  <a:rPr kumimoji="1" lang="en-US" altLang="zh-CN" sz="1800" dirty="0">
                    <a:solidFill>
                      <a:schemeClr val="tx1"/>
                    </a:solidFill>
                  </a:rPr>
                  <a:t>-</a:t>
                </a:r>
                <a:r>
                  <a:rPr kumimoji="1" lang="en-US" altLang="zh-CN" sz="1800" dirty="0"/>
                  <a:t>DP</a:t>
                </a:r>
                <a:endParaRPr kumimoji="1" lang="en-US" altLang="zh-CN" sz="1800" dirty="0"/>
              </a:p>
              <a:p>
                <a:pPr lvl="1"/>
                <a:r>
                  <a:rPr kumimoji="1" lang="en-US" altLang="zh-CN" sz="1800" dirty="0"/>
                  <a:t>If each </a:t>
                </a:r>
                <a:r>
                  <a:rPr kumimoji="1" lang="en-US" altLang="zh-CN" sz="1800" b="1" dirty="0">
                    <a:solidFill>
                      <a:schemeClr val="tx1"/>
                    </a:solidFill>
                  </a:rPr>
                  <a:t>M</a:t>
                </a:r>
                <a:r>
                  <a:rPr kumimoji="1" lang="en-US" altLang="zh-CN" sz="1800" b="1" baseline="-25000" dirty="0">
                    <a:solidFill>
                      <a:schemeClr val="tx1"/>
                    </a:solidFill>
                  </a:rPr>
                  <a:t>i</a:t>
                </a:r>
                <a:r>
                  <a:rPr kumimoji="1" lang="en-US" altLang="zh-CN" sz="1800" dirty="0"/>
                  <a:t> performs on the </a:t>
                </a:r>
                <a:r>
                  <a:rPr kumimoji="1" lang="en-US" altLang="zh-CN" sz="1800" b="1" dirty="0">
                    <a:solidFill>
                      <a:schemeClr val="tx1"/>
                    </a:solidFill>
                  </a:rPr>
                  <a:t>D</a:t>
                </a:r>
                <a:r>
                  <a:rPr kumimoji="1" lang="en-US" altLang="zh-CN" sz="1800" b="1" baseline="-25000" dirty="0"/>
                  <a:t>i</a:t>
                </a:r>
                <a:r>
                  <a:rPr kumimoji="1" lang="en-US" altLang="zh-CN" sz="1800" dirty="0"/>
                  <a:t>, then </a:t>
                </a:r>
                <a:r>
                  <a:rPr kumimoji="1" lang="en-US" altLang="zh-CN" sz="1800" b="1" dirty="0">
                    <a:solidFill>
                      <a:schemeClr val="tx1"/>
                    </a:solidFill>
                  </a:rPr>
                  <a:t>g</a:t>
                </a:r>
                <a:r>
                  <a:rPr kumimoji="1" lang="en-US" altLang="zh-CN" sz="1800" dirty="0"/>
                  <a:t> is </a:t>
                </a:r>
                <a14:m>
                  <m:oMath xmlns:m="http://schemas.openxmlformats.org/officeDocument/2006/math">
                    <m:sSub>
                      <m:sSubPr>
                        <m:ctrlPr>
                          <a:rPr kumimoji="1" lang="en-US" altLang="zh-CN" sz="1800" b="1" i="1" smtClean="0">
                            <a:solidFill>
                              <a:schemeClr val="tx1"/>
                            </a:solidFill>
                            <a:latin typeface="Cambria Math" panose="02040503050406030204" pitchFamily="18" charset="0"/>
                            <a:ea typeface="Cambria Math" panose="02040503050406030204" pitchFamily="18" charset="0"/>
                          </a:rPr>
                        </m:ctrlPr>
                      </m:sSubPr>
                      <m:e>
                        <m:r>
                          <a:rPr kumimoji="1" lang="en-US" altLang="zh-CN" sz="1800" b="1" i="1" smtClean="0">
                            <a:solidFill>
                              <a:schemeClr val="tx1"/>
                            </a:solidFill>
                            <a:latin typeface="Cambria Math" panose="02040503050406030204" pitchFamily="18" charset="0"/>
                            <a:ea typeface="Cambria Math" panose="02040503050406030204" pitchFamily="18" charset="0"/>
                          </a:rPr>
                          <m:t>𝒎𝒂𝒙</m:t>
                        </m:r>
                        <m:r>
                          <a:rPr kumimoji="1" lang="en-US" altLang="zh-CN" sz="1800" b="1" i="1" smtClean="0">
                            <a:solidFill>
                              <a:schemeClr val="tx1"/>
                            </a:solidFill>
                            <a:latin typeface="Cambria Math" panose="02040503050406030204" pitchFamily="18" charset="0"/>
                            <a:ea typeface="Cambria Math" panose="02040503050406030204" pitchFamily="18" charset="0"/>
                          </a:rPr>
                          <m:t>(</m:t>
                        </m:r>
                        <m:r>
                          <a:rPr kumimoji="1" lang="en-US" altLang="zh-CN" sz="1800" b="1" i="1">
                            <a:solidFill>
                              <a:schemeClr val="tx1"/>
                            </a:solidFill>
                            <a:latin typeface="Cambria Math" panose="02040503050406030204" pitchFamily="18" charset="0"/>
                            <a:ea typeface="Cambria Math" panose="02040503050406030204" pitchFamily="18" charset="0"/>
                          </a:rPr>
                          <m:t>𝜺</m:t>
                        </m:r>
                      </m:e>
                      <m:sub>
                        <m:r>
                          <a:rPr kumimoji="1" lang="en-US" altLang="zh-CN" sz="1800" b="1" i="1">
                            <a:solidFill>
                              <a:schemeClr val="tx1"/>
                            </a:solidFill>
                            <a:latin typeface="Cambria Math" panose="02040503050406030204" pitchFamily="18" charset="0"/>
                            <a:ea typeface="Cambria Math" panose="02040503050406030204" pitchFamily="18" charset="0"/>
                          </a:rPr>
                          <m:t>𝟏</m:t>
                        </m:r>
                      </m:sub>
                    </m:sSub>
                    <m:r>
                      <a:rPr kumimoji="1" lang="en-US" altLang="zh-CN" sz="1800" b="1" i="1" smtClean="0">
                        <a:solidFill>
                          <a:schemeClr val="tx1"/>
                        </a:solidFill>
                        <a:latin typeface="Cambria Math" panose="02040503050406030204" pitchFamily="18" charset="0"/>
                        <a:ea typeface="Cambria Math" panose="02040503050406030204" pitchFamily="18" charset="0"/>
                      </a:rPr>
                      <m:t>,</m:t>
                    </m:r>
                    <m:r>
                      <a:rPr kumimoji="1" lang="en-US" altLang="zh-CN" sz="1800" b="1" i="1">
                        <a:solidFill>
                          <a:schemeClr val="tx1"/>
                        </a:solidFill>
                        <a:latin typeface="Cambria Math" panose="02040503050406030204" pitchFamily="18" charset="0"/>
                        <a:ea typeface="Cambria Math" panose="02040503050406030204" pitchFamily="18" charset="0"/>
                      </a:rPr>
                      <m:t>…</m:t>
                    </m:r>
                    <m:r>
                      <a:rPr kumimoji="1" lang="en-US" altLang="zh-CN" sz="18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1800" b="1" i="1" smtClean="0">
                            <a:solidFill>
                              <a:schemeClr val="tx1"/>
                            </a:solidFill>
                            <a:latin typeface="Cambria Math" panose="02040503050406030204" pitchFamily="18" charset="0"/>
                            <a:ea typeface="Cambria Math" panose="02040503050406030204" pitchFamily="18" charset="0"/>
                          </a:rPr>
                        </m:ctrlPr>
                      </m:sSubPr>
                      <m:e>
                        <m:r>
                          <a:rPr kumimoji="1" lang="en-US" altLang="zh-CN" sz="1800" b="1" i="1">
                            <a:solidFill>
                              <a:schemeClr val="tx1"/>
                            </a:solidFill>
                            <a:latin typeface="Cambria Math" panose="02040503050406030204" pitchFamily="18" charset="0"/>
                            <a:ea typeface="Cambria Math" panose="02040503050406030204" pitchFamily="18" charset="0"/>
                          </a:rPr>
                          <m:t>𝜺</m:t>
                        </m:r>
                      </m:e>
                      <m:sub>
                        <m:r>
                          <a:rPr kumimoji="1" lang="en-US" altLang="zh-CN" sz="1800" b="1" i="1">
                            <a:solidFill>
                              <a:schemeClr val="tx1"/>
                            </a:solidFill>
                            <a:latin typeface="Cambria Math" panose="02040503050406030204" pitchFamily="18" charset="0"/>
                            <a:ea typeface="Cambria Math" panose="02040503050406030204" pitchFamily="18" charset="0"/>
                          </a:rPr>
                          <m:t>𝒏</m:t>
                        </m:r>
                      </m:sub>
                    </m:sSub>
                    <m:r>
                      <a:rPr kumimoji="1" lang="en-US" altLang="zh-CN" sz="1800" b="1" i="1" smtClean="0">
                        <a:solidFill>
                          <a:schemeClr val="tx1"/>
                        </a:solidFill>
                        <a:latin typeface="Cambria Math" panose="02040503050406030204" pitchFamily="18" charset="0"/>
                        <a:ea typeface="Cambria Math" panose="02040503050406030204" pitchFamily="18" charset="0"/>
                      </a:rPr>
                      <m:t>)</m:t>
                    </m:r>
                  </m:oMath>
                </a14:m>
                <a:r>
                  <a:rPr kumimoji="1" lang="en-US" altLang="zh-CN" sz="1800" dirty="0">
                    <a:solidFill>
                      <a:schemeClr val="tx1"/>
                    </a:solidFill>
                  </a:rPr>
                  <a:t>-</a:t>
                </a:r>
                <a:r>
                  <a:rPr kumimoji="1" lang="en-US" altLang="zh-CN" sz="1800" dirty="0"/>
                  <a:t>DP</a:t>
                </a:r>
                <a:endParaRPr kumimoji="1" lang="en-US" altLang="zh-CN" sz="1800" dirty="0"/>
              </a:p>
              <a:p>
                <a:r>
                  <a:rPr kumimoji="1" lang="en-US" altLang="zh-CN" sz="2000" dirty="0"/>
                  <a:t>Group privacy</a:t>
                </a:r>
                <a:endParaRPr kumimoji="1" lang="en-US" altLang="zh-CN" sz="2000" dirty="0"/>
              </a:p>
              <a:p>
                <a:pPr lvl="1"/>
                <a:r>
                  <a:rPr kumimoji="1" lang="en-US" altLang="zh-CN" sz="1800" dirty="0"/>
                  <a:t>If </a:t>
                </a:r>
                <a:r>
                  <a:rPr kumimoji="1" lang="en-US" altLang="zh-CN" sz="1800" b="1" dirty="0">
                    <a:solidFill>
                      <a:schemeClr val="tx1"/>
                    </a:solidFill>
                  </a:rPr>
                  <a:t>M</a:t>
                </a:r>
                <a:r>
                  <a:rPr kumimoji="1" lang="en-US" altLang="zh-CN" sz="1800" dirty="0"/>
                  <a:t> is </a:t>
                </a:r>
                <a14:m>
                  <m:oMath xmlns:m="http://schemas.openxmlformats.org/officeDocument/2006/math">
                    <m:r>
                      <a:rPr kumimoji="1" lang="en-US" altLang="zh-CN" sz="1800" b="1" i="1" smtClean="0">
                        <a:solidFill>
                          <a:schemeClr val="tx1"/>
                        </a:solidFill>
                        <a:latin typeface="Cambria Math" panose="02040503050406030204" pitchFamily="18" charset="0"/>
                        <a:ea typeface="Cambria Math" panose="02040503050406030204" pitchFamily="18" charset="0"/>
                      </a:rPr>
                      <m:t>𝜺</m:t>
                    </m:r>
                  </m:oMath>
                </a14:m>
                <a:r>
                  <a:rPr kumimoji="1" lang="en-US" altLang="zh-CN" sz="1800" dirty="0"/>
                  <a:t>-DP for all datasets </a:t>
                </a:r>
                <a:r>
                  <a:rPr kumimoji="1" lang="en-US" altLang="zh-CN" sz="1800" b="1" dirty="0">
                    <a:solidFill>
                      <a:schemeClr val="tx1"/>
                    </a:solidFill>
                  </a:rPr>
                  <a:t>D</a:t>
                </a:r>
                <a:r>
                  <a:rPr kumimoji="1" lang="en-US" altLang="zh-CN" sz="1800" dirty="0"/>
                  <a:t> and </a:t>
                </a:r>
                <a:r>
                  <a:rPr kumimoji="1" lang="en-US" altLang="zh-CN" sz="1800" b="1" dirty="0">
                    <a:solidFill>
                      <a:schemeClr val="tx1"/>
                    </a:solidFill>
                  </a:rPr>
                  <a:t>D</a:t>
                </a:r>
                <a:r>
                  <a:rPr kumimoji="1" lang="en-US" altLang="zh-CN" sz="1800" b="1" baseline="30000" dirty="0">
                    <a:solidFill>
                      <a:schemeClr val="tx1"/>
                    </a:solidFill>
                    <a:latin typeface="+mn-lt"/>
                  </a:rPr>
                  <a:t>’</a:t>
                </a:r>
                <a:r>
                  <a:rPr kumimoji="1" lang="en-US" altLang="zh-CN" sz="1800" dirty="0"/>
                  <a:t> that differ on one element</a:t>
                </a:r>
                <a:endParaRPr kumimoji="1" lang="en-US" altLang="zh-CN" sz="1800" dirty="0"/>
              </a:p>
              <a:p>
                <a:pPr lvl="1"/>
                <a:r>
                  <a:rPr kumimoji="1" lang="en-US" altLang="zh-CN" sz="1800" dirty="0"/>
                  <a:t>-&gt; </a:t>
                </a:r>
                <a:r>
                  <a:rPr kumimoji="1" lang="en-US" altLang="zh-CN" sz="1800" b="1" dirty="0">
                    <a:solidFill>
                      <a:schemeClr val="tx1"/>
                    </a:solidFill>
                  </a:rPr>
                  <a:t>M</a:t>
                </a:r>
                <a:r>
                  <a:rPr kumimoji="1" lang="en-US" altLang="zh-CN" sz="1800" dirty="0"/>
                  <a:t> is </a:t>
                </a:r>
                <a14:m>
                  <m:oMath xmlns:m="http://schemas.openxmlformats.org/officeDocument/2006/math">
                    <m:r>
                      <a:rPr kumimoji="1" lang="en-US" altLang="zh-CN" sz="1800" b="1" i="1" smtClean="0">
                        <a:solidFill>
                          <a:schemeClr val="tx1"/>
                        </a:solidFill>
                        <a:latin typeface="Cambria Math" panose="02040503050406030204" pitchFamily="18" charset="0"/>
                        <a:ea typeface="Cambria Math" panose="02040503050406030204" pitchFamily="18" charset="0"/>
                      </a:rPr>
                      <m:t>𝜺</m:t>
                    </m:r>
                  </m:oMath>
                </a14:m>
                <a:r>
                  <a:rPr kumimoji="1" lang="en-US" altLang="zh-CN" sz="1800" b="1" dirty="0">
                    <a:solidFill>
                      <a:schemeClr val="tx1"/>
                    </a:solidFill>
                  </a:rPr>
                  <a:t>c</a:t>
                </a:r>
                <a:r>
                  <a:rPr kumimoji="1" lang="en-US" altLang="zh-CN" sz="1800" dirty="0"/>
                  <a:t>-DP for all datasets </a:t>
                </a:r>
                <a:r>
                  <a:rPr kumimoji="1" lang="en-US" altLang="zh-CN" sz="1800" b="1" dirty="0">
                    <a:solidFill>
                      <a:schemeClr val="tx1"/>
                    </a:solidFill>
                  </a:rPr>
                  <a:t>D</a:t>
                </a:r>
                <a:r>
                  <a:rPr kumimoji="1" lang="en-US" altLang="zh-CN" sz="1800" dirty="0"/>
                  <a:t> and </a:t>
                </a:r>
                <a:r>
                  <a:rPr kumimoji="1" lang="en-US" altLang="zh-CN" sz="1800" b="1" dirty="0">
                    <a:solidFill>
                      <a:schemeClr val="tx1"/>
                    </a:solidFill>
                  </a:rPr>
                  <a:t>D</a:t>
                </a:r>
                <a:r>
                  <a:rPr kumimoji="1" lang="en-US" altLang="zh-CN" sz="1800" b="1" baseline="30000" dirty="0">
                    <a:solidFill>
                      <a:schemeClr val="tx1"/>
                    </a:solidFill>
                    <a:latin typeface="+mn-lt"/>
                  </a:rPr>
                  <a:t>’</a:t>
                </a:r>
                <a:r>
                  <a:rPr kumimoji="1" lang="en-US" altLang="zh-CN" sz="1800" dirty="0"/>
                  <a:t> that differ on </a:t>
                </a:r>
                <a:r>
                  <a:rPr kumimoji="1" lang="en-US" altLang="zh-CN" sz="1800" b="1" dirty="0"/>
                  <a:t>c</a:t>
                </a:r>
                <a:r>
                  <a:rPr kumimoji="1" lang="en-US" altLang="zh-CN" sz="1800" dirty="0"/>
                  <a:t> elements</a:t>
                </a:r>
                <a:endParaRPr kumimoji="1" lang="en-US" altLang="zh-CN" sz="1800" dirty="0"/>
              </a:p>
              <a:p>
                <a:pPr lvl="1"/>
                <a:endParaRPr kumimoji="1" lang="en-US" altLang="zh-CN" sz="2000" dirty="0"/>
              </a:p>
            </p:txBody>
          </p:sp>
        </mc:Choice>
        <mc:Fallback>
          <p:sp>
            <p:nvSpPr>
              <p:cNvPr id="20" name="内容占位符 2"/>
              <p:cNvSpPr>
                <a:spLocks noRot="1" noChangeAspect="1" noMove="1" noResize="1" noEditPoints="1" noAdjustHandles="1" noChangeArrowheads="1" noChangeShapeType="1" noTextEdit="1"/>
              </p:cNvSpPr>
              <p:nvPr>
                <p:ph idx="1"/>
              </p:nvPr>
            </p:nvSpPr>
            <p:spPr>
              <a:xfrm>
                <a:off x="457200" y="1273324"/>
                <a:ext cx="8327268" cy="4212810"/>
              </a:xfrm>
              <a:blipFill rotWithShape="1">
                <a:blip r:embed="rId1"/>
                <a:stretch>
                  <a:fillRect t="-4" r="6" b="9"/>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GB" altLang="zh-CN" dirty="0"/>
              <a:t>How to Implement a </a:t>
            </a:r>
            <a:r>
              <a:rPr kumimoji="1" lang="en-US" altLang="zh-CN" dirty="0"/>
              <a:t>DP Algorithm</a:t>
            </a:r>
            <a:endParaRPr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20" name="内容占位符 2"/>
          <p:cNvSpPr>
            <a:spLocks noGrp="1"/>
          </p:cNvSpPr>
          <p:nvPr>
            <p:ph idx="1"/>
          </p:nvPr>
        </p:nvSpPr>
        <p:spPr>
          <a:xfrm>
            <a:off x="457200" y="1273324"/>
            <a:ext cx="8327268" cy="3394472"/>
          </a:xfrm>
        </p:spPr>
        <p:txBody>
          <a:bodyPr>
            <a:noAutofit/>
          </a:bodyPr>
          <a:lstStyle/>
          <a:p>
            <a:r>
              <a:rPr kumimoji="1" lang="en-US" altLang="zh-CN" sz="2000" dirty="0"/>
              <a:t>Adding noisy to the function that we want to compute</a:t>
            </a:r>
            <a:endParaRPr kumimoji="1" lang="en-US" altLang="zh-CN" sz="2000" dirty="0"/>
          </a:p>
          <a:p>
            <a:pPr lvl="1"/>
            <a:r>
              <a:rPr kumimoji="1" lang="en-US" altLang="zh-CN" sz="1800" dirty="0"/>
              <a:t>Translate the function </a:t>
            </a:r>
            <a:r>
              <a:rPr kumimoji="1" lang="en-US" altLang="zh-CN" sz="1800" b="1" dirty="0"/>
              <a:t>f</a:t>
            </a:r>
            <a:r>
              <a:rPr kumimoji="1" lang="en-US" altLang="zh-CN" sz="1800" dirty="0"/>
              <a:t> to a </a:t>
            </a:r>
            <a:r>
              <a:rPr kumimoji="1" lang="en-US" altLang="zh-CN" sz="1800" dirty="0">
                <a:solidFill>
                  <a:schemeClr val="accent1"/>
                </a:solidFill>
              </a:rPr>
              <a:t>random algorithm</a:t>
            </a:r>
            <a:r>
              <a:rPr kumimoji="1" lang="en-US" altLang="zh-CN" sz="1800" dirty="0">
                <a:solidFill>
                  <a:srgbClr val="0096FF"/>
                </a:solidFill>
              </a:rPr>
              <a:t> </a:t>
            </a:r>
            <a:r>
              <a:rPr kumimoji="1" lang="en-US" altLang="zh-CN" sz="1800" b="1" dirty="0"/>
              <a:t>M</a:t>
            </a:r>
            <a:endParaRPr kumimoji="1" lang="en-US" altLang="zh-CN" sz="1800" b="1" dirty="0"/>
          </a:p>
          <a:p>
            <a:r>
              <a:rPr kumimoji="1" lang="en-US" altLang="zh-CN" sz="2000" dirty="0"/>
              <a:t>Existing Mechanism </a:t>
            </a:r>
            <a:endParaRPr kumimoji="1" lang="en-US" altLang="zh-CN" sz="2000" dirty="0"/>
          </a:p>
          <a:p>
            <a:pPr lvl="1"/>
            <a:r>
              <a:rPr kumimoji="1" lang="en-US" altLang="zh-CN" sz="1800" dirty="0"/>
              <a:t>Laplace mechanism</a:t>
            </a:r>
            <a:endParaRPr kumimoji="1" lang="en-US" altLang="zh-CN" sz="1800" dirty="0"/>
          </a:p>
          <a:p>
            <a:pPr lvl="1"/>
            <a:r>
              <a:rPr kumimoji="1" lang="en-US" altLang="zh-CN" sz="1800" dirty="0"/>
              <a:t>Gaussian mechanism</a:t>
            </a:r>
            <a:endParaRPr kumimoji="1" lang="en-US" altLang="zh-CN" sz="1800" dirty="0"/>
          </a:p>
          <a:p>
            <a:pPr lvl="1"/>
            <a:r>
              <a:rPr kumimoji="1" lang="en-US" altLang="zh-CN" sz="1800" dirty="0"/>
              <a:t>…</a:t>
            </a:r>
            <a:endParaRPr kumimoji="1" lang="en-US" altLang="zh-CN"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dirty="0"/>
              <a:t>When DP is Enabled</a:t>
            </a:r>
            <a:endParaRPr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14" name="内容占位符 2"/>
          <p:cNvSpPr txBox="1"/>
          <p:nvPr/>
        </p:nvSpPr>
        <p:spPr>
          <a:xfrm>
            <a:off x="171822" y="3441860"/>
            <a:ext cx="8229600" cy="2558473"/>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altLang="zh-CN" sz="1800" dirty="0"/>
          </a:p>
        </p:txBody>
      </p:sp>
      <p:pic>
        <p:nvPicPr>
          <p:cNvPr id="16" name="图片 15"/>
          <p:cNvPicPr>
            <a:picLocks noChangeAspect="1"/>
          </p:cNvPicPr>
          <p:nvPr/>
        </p:nvPicPr>
        <p:blipFill>
          <a:blip r:embed="rId1"/>
          <a:stretch>
            <a:fillRect/>
          </a:stretch>
        </p:blipFill>
        <p:spPr>
          <a:xfrm>
            <a:off x="1701944" y="2961071"/>
            <a:ext cx="725007" cy="983938"/>
          </a:xfrm>
          <a:prstGeom prst="rect">
            <a:avLst/>
          </a:prstGeom>
        </p:spPr>
      </p:pic>
      <p:pic>
        <p:nvPicPr>
          <p:cNvPr id="17" name="图片 16"/>
          <p:cNvPicPr>
            <a:picLocks noChangeAspect="1"/>
          </p:cNvPicPr>
          <p:nvPr/>
        </p:nvPicPr>
        <p:blipFill>
          <a:blip r:embed="rId2"/>
          <a:stretch>
            <a:fillRect/>
          </a:stretch>
        </p:blipFill>
        <p:spPr>
          <a:xfrm>
            <a:off x="5630516" y="2921236"/>
            <a:ext cx="756875" cy="1063609"/>
          </a:xfrm>
          <a:prstGeom prst="rect">
            <a:avLst/>
          </a:prstGeom>
        </p:spPr>
      </p:pic>
      <p:graphicFrame>
        <p:nvGraphicFramePr>
          <p:cNvPr id="23" name="表格 22"/>
          <p:cNvGraphicFramePr>
            <a:graphicFrameLocks noGrp="1"/>
          </p:cNvGraphicFramePr>
          <p:nvPr/>
        </p:nvGraphicFramePr>
        <p:xfrm>
          <a:off x="6891447" y="2238129"/>
          <a:ext cx="1996066" cy="1706880"/>
        </p:xfrm>
        <a:graphic>
          <a:graphicData uri="http://schemas.openxmlformats.org/drawingml/2006/table">
            <a:tbl>
              <a:tblPr firstRow="1" bandRow="1">
                <a:tableStyleId>{5C22544A-7EE6-4342-B048-85BDC9FD1C3A}</a:tableStyleId>
              </a:tblPr>
              <a:tblGrid>
                <a:gridCol w="998033"/>
                <a:gridCol w="998033"/>
              </a:tblGrid>
              <a:tr h="293613">
                <a:tc>
                  <a:txBody>
                    <a:bodyPr/>
                    <a:lstStyle/>
                    <a:p>
                      <a:pPr algn="ctr"/>
                      <a:r>
                        <a:rPr lang="en-US" altLang="zh-CN" sz="1600" dirty="0"/>
                        <a:t>Name</a:t>
                      </a:r>
                      <a:endParaRPr lang="zh-CN" altLang="en-US" sz="1600" dirty="0"/>
                    </a:p>
                  </a:txBody>
                  <a:tcPr/>
                </a:tc>
                <a:tc>
                  <a:txBody>
                    <a:bodyPr/>
                    <a:lstStyle/>
                    <a:p>
                      <a:pPr algn="ctr"/>
                      <a:r>
                        <a:rPr lang="en-GB" altLang="zh-CN" sz="1800" b="0" i="0" kern="1200">
                          <a:solidFill>
                            <a:schemeClr val="lt1"/>
                          </a:solidFill>
                          <a:effectLst/>
                          <a:latin typeface="+mn-lt"/>
                          <a:ea typeface="+mn-ea"/>
                          <a:cs typeface="+mn-cs"/>
                        </a:rPr>
                        <a:t>Salary</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a:t>Alice</a:t>
                      </a:r>
                      <a:endParaRPr lang="en-US" altLang="zh-CN" sz="1600" dirty="0"/>
                    </a:p>
                  </a:txBody>
                  <a:tcPr/>
                </a:tc>
                <a:tc>
                  <a:txBody>
                    <a:bodyPr/>
                    <a:lstStyle/>
                    <a:p>
                      <a:pPr algn="ctr"/>
                      <a:r>
                        <a:rPr lang="en-US" altLang="zh-CN" sz="1600" dirty="0"/>
                        <a:t>100</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dirty="0"/>
                        <a:t>Bob</a:t>
                      </a:r>
                      <a:endParaRPr lang="zh-CN" altLang="en-US" sz="1600" baseline="30000" dirty="0"/>
                    </a:p>
                  </a:txBody>
                  <a:tcPr/>
                </a:tc>
                <a:tc>
                  <a:txBody>
                    <a:bodyPr/>
                    <a:lstStyle/>
                    <a:p>
                      <a:pPr algn="ctr"/>
                      <a:r>
                        <a:rPr lang="en-US" altLang="zh-CN" sz="1600" dirty="0"/>
                        <a:t>80</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GB" altLang="zh-CN" sz="1600" baseline="0"/>
                        <a:t>Brown</a:t>
                      </a:r>
                      <a:endParaRPr lang="zh-CN" altLang="en-US" sz="1600" baseline="0" dirty="0"/>
                    </a:p>
                  </a:txBody>
                  <a:tcPr/>
                </a:tc>
                <a:tc>
                  <a:txBody>
                    <a:bodyPr/>
                    <a:lstStyle/>
                    <a:p>
                      <a:pPr algn="ctr"/>
                      <a:r>
                        <a:rPr lang="en-US" altLang="zh-CN" sz="1600" dirty="0"/>
                        <a:t>200</a:t>
                      </a:r>
                      <a:endParaRPr lang="zh-CN" altLang="en-US" sz="1600" dirty="0"/>
                    </a:p>
                  </a:txBody>
                  <a:tcPr/>
                </a:tc>
              </a:tr>
              <a:tr h="29361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aseline="0"/>
                        <a:t>Tom</a:t>
                      </a:r>
                      <a:endParaRPr lang="zh-CN" altLang="en-US" sz="1600" baseline="0" dirty="0"/>
                    </a:p>
                  </a:txBody>
                  <a:tcPr/>
                </a:tc>
                <a:tc>
                  <a:txBody>
                    <a:bodyPr/>
                    <a:lstStyle/>
                    <a:p>
                      <a:pPr algn="ctr"/>
                      <a:r>
                        <a:rPr lang="en-US" altLang="zh-CN" sz="1600" dirty="0"/>
                        <a:t>120</a:t>
                      </a:r>
                      <a:endParaRPr lang="zh-CN" altLang="en-US" sz="1600" dirty="0"/>
                    </a:p>
                  </a:txBody>
                  <a:tcPr/>
                </a:tc>
              </a:tr>
            </a:tbl>
          </a:graphicData>
        </a:graphic>
      </p:graphicFrame>
      <p:cxnSp>
        <p:nvCxnSpPr>
          <p:cNvPr id="24" name="直线箭头连接符 23"/>
          <p:cNvCxnSpPr/>
          <p:nvPr/>
        </p:nvCxnSpPr>
        <p:spPr>
          <a:xfrm>
            <a:off x="2592600" y="2786190"/>
            <a:ext cx="29306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19"/>
          <p:cNvSpPr/>
          <p:nvPr/>
        </p:nvSpPr>
        <p:spPr>
          <a:xfrm>
            <a:off x="2221743" y="2425452"/>
            <a:ext cx="3672407" cy="348878"/>
          </a:xfrm>
          <a:prstGeom prst="rect">
            <a:avLst/>
          </a:prstGeom>
        </p:spPr>
        <p:txBody>
          <a:bodyPr wrap="square">
            <a:spAutoFit/>
          </a:bodyPr>
          <a:lstStyle/>
          <a:p>
            <a:pPr algn="ctr"/>
            <a:r>
              <a:rPr lang="en-US" altLang="zh-CN" sz="1665" dirty="0">
                <a:latin typeface="Candara" panose="020E0502030303020204"/>
                <a:cs typeface="Candara" panose="020E0502030303020204"/>
              </a:rPr>
              <a:t>SUM(Salary)</a:t>
            </a:r>
            <a:endParaRPr lang="en-US" altLang="zh-CN" sz="1500" dirty="0">
              <a:latin typeface="Candara" panose="020E0502030303020204"/>
              <a:cs typeface="Candara" panose="020E0502030303020204"/>
            </a:endParaRPr>
          </a:p>
        </p:txBody>
      </p:sp>
      <p:cxnSp>
        <p:nvCxnSpPr>
          <p:cNvPr id="26" name="直线箭头连接符 25"/>
          <p:cNvCxnSpPr/>
          <p:nvPr/>
        </p:nvCxnSpPr>
        <p:spPr>
          <a:xfrm>
            <a:off x="2592600" y="3157392"/>
            <a:ext cx="2930695"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7" name="Rectangle 19"/>
          <p:cNvSpPr/>
          <p:nvPr/>
        </p:nvSpPr>
        <p:spPr>
          <a:xfrm>
            <a:off x="2592600" y="2808514"/>
            <a:ext cx="2930695" cy="348878"/>
          </a:xfrm>
          <a:prstGeom prst="rect">
            <a:avLst/>
          </a:prstGeom>
        </p:spPr>
        <p:txBody>
          <a:bodyPr wrap="square">
            <a:spAutoFit/>
          </a:bodyPr>
          <a:lstStyle/>
          <a:p>
            <a:pPr algn="ctr"/>
            <a:r>
              <a:rPr lang="en-US" altLang="zh-CN" sz="1665" dirty="0">
                <a:latin typeface="Candara" panose="020E0502030303020204"/>
                <a:cs typeface="Candara" panose="020E0502030303020204"/>
              </a:rPr>
              <a:t>~480</a:t>
            </a:r>
            <a:endParaRPr lang="en-US" altLang="zh-CN" sz="1500" dirty="0">
              <a:latin typeface="Candara" panose="020E0502030303020204"/>
              <a:cs typeface="Candara" panose="020E0502030303020204"/>
            </a:endParaRPr>
          </a:p>
        </p:txBody>
      </p:sp>
      <p:cxnSp>
        <p:nvCxnSpPr>
          <p:cNvPr id="12" name="直线箭头连接符 11"/>
          <p:cNvCxnSpPr/>
          <p:nvPr/>
        </p:nvCxnSpPr>
        <p:spPr>
          <a:xfrm>
            <a:off x="2592600" y="3593173"/>
            <a:ext cx="29306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9"/>
          <p:cNvSpPr/>
          <p:nvPr/>
        </p:nvSpPr>
        <p:spPr>
          <a:xfrm>
            <a:off x="2221743" y="3232435"/>
            <a:ext cx="3672407" cy="348878"/>
          </a:xfrm>
          <a:prstGeom prst="rect">
            <a:avLst/>
          </a:prstGeom>
        </p:spPr>
        <p:txBody>
          <a:bodyPr wrap="square">
            <a:spAutoFit/>
          </a:bodyPr>
          <a:lstStyle/>
          <a:p>
            <a:pPr algn="ctr"/>
            <a:r>
              <a:rPr lang="en-US" altLang="zh-CN" sz="1665" dirty="0">
                <a:latin typeface="Candara" panose="020E0502030303020204"/>
                <a:cs typeface="Candara" panose="020E0502030303020204"/>
              </a:rPr>
              <a:t>SUM(Salary) where Name != “Tom”</a:t>
            </a:r>
            <a:endParaRPr lang="en-US" altLang="zh-CN" sz="1500" dirty="0">
              <a:latin typeface="Candara" panose="020E0502030303020204"/>
              <a:cs typeface="Candara" panose="020E0502030303020204"/>
            </a:endParaRPr>
          </a:p>
        </p:txBody>
      </p:sp>
      <p:cxnSp>
        <p:nvCxnSpPr>
          <p:cNvPr id="15" name="直线箭头连接符 14"/>
          <p:cNvCxnSpPr/>
          <p:nvPr/>
        </p:nvCxnSpPr>
        <p:spPr>
          <a:xfrm>
            <a:off x="2592600" y="3964375"/>
            <a:ext cx="2930695"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8" name="Rectangle 19"/>
          <p:cNvSpPr/>
          <p:nvPr/>
        </p:nvSpPr>
        <p:spPr>
          <a:xfrm>
            <a:off x="2592600" y="3615497"/>
            <a:ext cx="2930695" cy="348878"/>
          </a:xfrm>
          <a:prstGeom prst="rect">
            <a:avLst/>
          </a:prstGeom>
        </p:spPr>
        <p:txBody>
          <a:bodyPr wrap="square">
            <a:spAutoFit/>
          </a:bodyPr>
          <a:lstStyle/>
          <a:p>
            <a:pPr algn="ctr"/>
            <a:r>
              <a:rPr lang="en-US" altLang="zh-CN" sz="1665" dirty="0">
                <a:latin typeface="Candara" panose="020E0502030303020204"/>
                <a:cs typeface="Candara" panose="020E0502030303020204"/>
              </a:rPr>
              <a:t>~480</a:t>
            </a:r>
            <a:endParaRPr lang="en-US" altLang="zh-CN" sz="1500" dirty="0">
              <a:latin typeface="Candara" panose="020E0502030303020204"/>
              <a:cs typeface="Candara" panose="020E0502030303020204"/>
            </a:endParaRPr>
          </a:p>
        </p:txBody>
      </p:sp>
      <p:sp>
        <p:nvSpPr>
          <p:cNvPr id="19" name="椭圆形标注 18"/>
          <p:cNvSpPr/>
          <p:nvPr/>
        </p:nvSpPr>
        <p:spPr>
          <a:xfrm>
            <a:off x="15191" y="1930541"/>
            <a:ext cx="1944216" cy="855649"/>
          </a:xfrm>
          <a:prstGeom prst="wedgeEllipseCallout">
            <a:avLst>
              <a:gd name="adj1" fmla="val 46734"/>
              <a:gd name="adj2" fmla="val 81458"/>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a:t>
            </a:r>
            <a:endParaRPr kumimoji="1" lang="zh-CN"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par>
                                <p:cTn id="8" presetID="1"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right)">
                                      <p:cBhvr>
                                        <p:cTn id="14" dur="500"/>
                                        <p:tgtEl>
                                          <p:spTgt spid="26"/>
                                        </p:tgtEl>
                                      </p:cBhvr>
                                    </p:animEffec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right)">
                                      <p:cBhvr>
                                        <p:cTn id="28" dur="500"/>
                                        <p:tgtEl>
                                          <p:spTgt spid="15"/>
                                        </p:tgtEl>
                                      </p:cBhvr>
                                    </p:animEffec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13" grpId="0"/>
      <p:bldP spid="18" grpId="0"/>
      <p:bldP spid="1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Secret</a:t>
            </a:r>
            <a:r>
              <a:rPr lang="zh-CN" altLang="en-US" dirty="0"/>
              <a:t> </a:t>
            </a:r>
            <a:r>
              <a:rPr lang="en-US" altLang="zh-CN" dirty="0"/>
              <a:t>Sharing</a:t>
            </a:r>
            <a:endParaRPr lang="zh-CN" altLang="en-US" dirty="0"/>
          </a:p>
        </p:txBody>
      </p:sp>
      <p:sp>
        <p:nvSpPr>
          <p:cNvPr id="5" name="文本占位符 4"/>
          <p:cNvSpPr>
            <a:spLocks noGrp="1"/>
          </p:cNvSpPr>
          <p:nvPr>
            <p:ph type="body" idx="1"/>
          </p:nvPr>
        </p:nvSpPr>
        <p:spPr/>
        <p:txBody>
          <a:bodyPr/>
          <a:lstStyle/>
          <a:p>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normAutofit/>
          </a:bodyPr>
          <a:lstStyle/>
          <a:p>
            <a:r>
              <a:rPr kumimoji="1" lang="en-US" altLang="zh-CN" sz="3200" dirty="0"/>
              <a:t>Secret Sharing</a:t>
            </a:r>
            <a:endParaRPr kumimoji="1" lang="zh-CN" altLang="en-US" sz="3200" dirty="0"/>
          </a:p>
        </p:txBody>
      </p:sp>
      <p:sp>
        <p:nvSpPr>
          <p:cNvPr id="3" name="内容占位符 2"/>
          <p:cNvSpPr>
            <a:spLocks noGrp="1"/>
          </p:cNvSpPr>
          <p:nvPr>
            <p:ph idx="1"/>
          </p:nvPr>
        </p:nvSpPr>
        <p:spPr>
          <a:xfrm>
            <a:off x="323528" y="1258084"/>
            <a:ext cx="8061211" cy="3886028"/>
          </a:xfrm>
        </p:spPr>
        <p:txBody>
          <a:bodyPr>
            <a:normAutofit/>
          </a:bodyPr>
          <a:lstStyle/>
          <a:p>
            <a:r>
              <a:rPr kumimoji="1" lang="en-US" altLang="zh-CN" sz="2000" b="0" dirty="0">
                <a:solidFill>
                  <a:schemeClr val="tx1"/>
                </a:solidFill>
                <a:latin typeface="+mn-lt"/>
              </a:rPr>
              <a:t>Introduced by Adi Shamir, 1979</a:t>
            </a:r>
            <a:endParaRPr kumimoji="1" lang="en-US" altLang="zh-CN" sz="2000" b="0" dirty="0">
              <a:solidFill>
                <a:schemeClr val="tx1"/>
              </a:solidFill>
              <a:latin typeface="+mn-lt"/>
            </a:endParaRPr>
          </a:p>
          <a:p>
            <a:r>
              <a:rPr kumimoji="1" lang="en-US" altLang="zh-CN" sz="2000" b="0" dirty="0">
                <a:solidFill>
                  <a:srgbClr val="C00000"/>
                </a:solidFill>
                <a:latin typeface="+mn-lt"/>
              </a:rPr>
              <a:t>Key Insight: </a:t>
            </a:r>
            <a:r>
              <a:rPr kumimoji="1" lang="en-US" altLang="zh-CN" sz="2000" b="0" dirty="0">
                <a:solidFill>
                  <a:schemeClr val="tx1"/>
                </a:solidFill>
                <a:latin typeface="+mn-lt"/>
              </a:rPr>
              <a:t>One point constructs infinite number of lines, two points construct only one line</a:t>
            </a:r>
            <a:endParaRPr kumimoji="1" lang="en-US" altLang="zh-CN" sz="2000" b="0" dirty="0">
              <a:solidFill>
                <a:schemeClr val="tx1"/>
              </a:solidFill>
              <a:latin typeface="+mn-lt"/>
            </a:endParaRPr>
          </a:p>
          <a:p>
            <a:r>
              <a:rPr kumimoji="1" lang="en-US" altLang="zh-CN" sz="2000" b="0" dirty="0">
                <a:solidFill>
                  <a:srgbClr val="C00000"/>
                </a:solidFill>
                <a:latin typeface="+mn-lt"/>
              </a:rPr>
              <a:t>Key Idea</a:t>
            </a:r>
            <a:r>
              <a:rPr kumimoji="1" lang="en-US" altLang="zh-CN" sz="2000" b="0" dirty="0">
                <a:latin typeface="+mn-lt"/>
              </a:rPr>
              <a:t>: Split a secret data into </a:t>
            </a:r>
            <a:r>
              <a:rPr kumimoji="1" lang="en-US" altLang="zh-CN" sz="2000" b="0" i="1" dirty="0">
                <a:latin typeface="+mn-lt"/>
              </a:rPr>
              <a:t>n</a:t>
            </a:r>
            <a:r>
              <a:rPr kumimoji="1" lang="en-US" altLang="zh-CN" sz="2000" b="0" dirty="0">
                <a:latin typeface="+mn-lt"/>
              </a:rPr>
              <a:t> shares, at least </a:t>
            </a:r>
            <a:r>
              <a:rPr kumimoji="1" lang="en-US" altLang="zh-CN" sz="2000" b="0" i="1" dirty="0">
                <a:latin typeface="+mn-lt"/>
              </a:rPr>
              <a:t>k</a:t>
            </a:r>
            <a:r>
              <a:rPr kumimoji="1" lang="en-US" altLang="zh-CN" sz="2000" b="0" dirty="0">
                <a:latin typeface="+mn-lt"/>
              </a:rPr>
              <a:t> shares can reconstruct the secret ((</a:t>
            </a:r>
            <a:r>
              <a:rPr kumimoji="1" lang="en-US" altLang="zh-CN" sz="2000" b="0" i="1" dirty="0" err="1">
                <a:latin typeface="+mn-lt"/>
              </a:rPr>
              <a:t>k</a:t>
            </a:r>
            <a:r>
              <a:rPr kumimoji="1" lang="en-US" altLang="zh-CN" sz="2000" b="0" dirty="0" err="1">
                <a:latin typeface="+mn-lt"/>
              </a:rPr>
              <a:t>,</a:t>
            </a:r>
            <a:r>
              <a:rPr kumimoji="1" lang="en-US" altLang="zh-CN" sz="2000" b="0" i="1" dirty="0" err="1">
                <a:latin typeface="+mn-lt"/>
              </a:rPr>
              <a:t>n</a:t>
            </a:r>
            <a:r>
              <a:rPr kumimoji="1" lang="en-US" altLang="zh-CN" sz="2000" b="0" dirty="0">
                <a:latin typeface="+mn-lt"/>
              </a:rPr>
              <a:t>)-SS)</a:t>
            </a:r>
            <a:endParaRPr kumimoji="1" lang="en-US" altLang="zh-CN" sz="2000" b="0" dirty="0">
              <a:latin typeface="+mn-lt"/>
            </a:endParaRPr>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normAutofit/>
          </a:bodyPr>
          <a:lstStyle/>
          <a:p>
            <a:r>
              <a:rPr kumimoji="1" lang="en-US" altLang="zh-CN" sz="3200" dirty="0"/>
              <a:t>Secret Sharing</a:t>
            </a:r>
            <a:endParaRPr kumimoji="1" lang="zh-CN" altLang="en-US" sz="3200" dirty="0"/>
          </a:p>
        </p:txBody>
      </p:sp>
      <p:sp>
        <p:nvSpPr>
          <p:cNvPr id="3" name="内容占位符 2"/>
          <p:cNvSpPr>
            <a:spLocks noGrp="1"/>
          </p:cNvSpPr>
          <p:nvPr>
            <p:ph idx="1"/>
          </p:nvPr>
        </p:nvSpPr>
        <p:spPr>
          <a:xfrm>
            <a:off x="327213" y="1233895"/>
            <a:ext cx="4663414" cy="575892"/>
          </a:xfrm>
        </p:spPr>
        <p:txBody>
          <a:bodyPr>
            <a:normAutofit lnSpcReduction="10000"/>
          </a:bodyPr>
          <a:lstStyle/>
          <a:p>
            <a:pPr marL="0" indent="0">
              <a:lnSpc>
                <a:spcPct val="100000"/>
              </a:lnSpc>
              <a:spcBef>
                <a:spcPts val="0"/>
              </a:spcBef>
              <a:buNone/>
            </a:pPr>
            <a:r>
              <a:rPr kumimoji="1" lang="en-US" altLang="zh-CN" sz="1800" dirty="0">
                <a:solidFill>
                  <a:srgbClr val="C00000"/>
                </a:solidFill>
                <a:latin typeface="+mn-lt"/>
              </a:rPr>
              <a:t>Secret-Share Creation:</a:t>
            </a:r>
            <a:endParaRPr kumimoji="1" lang="en-US" altLang="zh-CN" sz="1800" dirty="0">
              <a:solidFill>
                <a:srgbClr val="C00000"/>
              </a:solidFill>
              <a:latin typeface="+mn-lt"/>
            </a:endParaRPr>
          </a:p>
          <a:p>
            <a:pPr marL="0" indent="0">
              <a:lnSpc>
                <a:spcPct val="100000"/>
              </a:lnSpc>
              <a:spcBef>
                <a:spcPts val="0"/>
              </a:spcBef>
              <a:buNone/>
            </a:pPr>
            <a:r>
              <a:rPr kumimoji="1" lang="en-US" altLang="zh-CN" sz="1600" b="0" dirty="0">
                <a:solidFill>
                  <a:schemeClr val="tx1"/>
                </a:solidFill>
                <a:latin typeface="+mn-lt"/>
              </a:rPr>
              <a:t>(under the assumption that no part will collude)</a:t>
            </a:r>
            <a:endParaRPr kumimoji="1" lang="en-US" altLang="zh-CN" sz="1600" b="0" dirty="0">
              <a:solidFill>
                <a:schemeClr val="tx1"/>
              </a:solidFill>
              <a:latin typeface="+mn-lt"/>
            </a:endParaRPr>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07704" y="3200215"/>
            <a:ext cx="502968" cy="502968"/>
          </a:xfrm>
          <a:prstGeom prst="rect">
            <a:avLst/>
          </a:prstGeom>
        </p:spPr>
      </p:pic>
      <p:sp>
        <p:nvSpPr>
          <p:cNvPr id="7" name="内容占位符 2"/>
          <p:cNvSpPr txBox="1"/>
          <p:nvPr/>
        </p:nvSpPr>
        <p:spPr>
          <a:xfrm>
            <a:off x="1331640" y="2606016"/>
            <a:ext cx="1728192" cy="502968"/>
          </a:xfrm>
          <a:prstGeom prst="rect">
            <a:avLst/>
          </a:prstGeom>
          <a:solidFill>
            <a:srgbClr val="BE384B"/>
          </a:solidFill>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2000" b="0" dirty="0">
                <a:solidFill>
                  <a:schemeClr val="bg1"/>
                </a:solidFill>
                <a:latin typeface="+mn-lt"/>
              </a:rPr>
              <a:t>secret data </a:t>
            </a:r>
            <a:r>
              <a:rPr kumimoji="1" lang="en-US" altLang="zh-CN" sz="2000" dirty="0">
                <a:solidFill>
                  <a:schemeClr val="bg1"/>
                </a:solidFill>
                <a:latin typeface="+mn-lt"/>
              </a:rPr>
              <a:t>S</a:t>
            </a:r>
            <a:endParaRPr kumimoji="1" lang="en-GB" altLang="zh-CN" sz="2000" dirty="0">
              <a:solidFill>
                <a:schemeClr val="bg1"/>
              </a:solidFill>
              <a:latin typeface="+mn-lt"/>
            </a:endParaRPr>
          </a:p>
        </p:txBody>
      </p:sp>
      <p:sp>
        <p:nvSpPr>
          <p:cNvPr id="8" name="内容占位符 2"/>
          <p:cNvSpPr txBox="1"/>
          <p:nvPr/>
        </p:nvSpPr>
        <p:spPr>
          <a:xfrm>
            <a:off x="1295092" y="3602174"/>
            <a:ext cx="1872208" cy="504056"/>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secret owner</a:t>
            </a:r>
            <a:endParaRPr kumimoji="1" lang="en-GB" altLang="zh-CN" sz="1800" dirty="0">
              <a:latin typeface="+mn-lt"/>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38444" y="1487697"/>
            <a:ext cx="502968" cy="502968"/>
          </a:xfrm>
          <a:prstGeom prst="rect">
            <a:avLst/>
          </a:prstGeom>
        </p:spPr>
      </p:pic>
      <p:sp>
        <p:nvSpPr>
          <p:cNvPr id="10" name="内容占位符 2"/>
          <p:cNvSpPr txBox="1"/>
          <p:nvPr/>
        </p:nvSpPr>
        <p:spPr>
          <a:xfrm>
            <a:off x="5874522" y="1890367"/>
            <a:ext cx="849782"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part 1</a:t>
            </a:r>
            <a:endParaRPr kumimoji="1" lang="en-GB" altLang="zh-CN" sz="1800" dirty="0">
              <a:latin typeface="+mn-lt"/>
            </a:endParaRPr>
          </a:p>
        </p:txBody>
      </p:sp>
      <p:cxnSp>
        <p:nvCxnSpPr>
          <p:cNvPr id="12" name="直接箭头连接符 11"/>
          <p:cNvCxnSpPr>
            <a:stCxn id="7" idx="3"/>
            <a:endCxn id="9" idx="1"/>
          </p:cNvCxnSpPr>
          <p:nvPr/>
        </p:nvCxnSpPr>
        <p:spPr>
          <a:xfrm flipV="1">
            <a:off x="3059832" y="1739181"/>
            <a:ext cx="2978612" cy="1118319"/>
          </a:xfrm>
          <a:prstGeom prst="straightConnector1">
            <a:avLst/>
          </a:prstGeom>
          <a:ln w="15875">
            <a:headEnd w="lg" len="lg"/>
            <a:tailEnd type="triangle" w="med" len="med"/>
          </a:ln>
        </p:spPr>
        <p:style>
          <a:lnRef idx="1">
            <a:schemeClr val="accent1"/>
          </a:lnRef>
          <a:fillRef idx="0">
            <a:schemeClr val="accent1"/>
          </a:fillRef>
          <a:effectRef idx="0">
            <a:schemeClr val="accent1"/>
          </a:effectRef>
          <a:fontRef idx="minor">
            <a:schemeClr val="tx1"/>
          </a:fontRef>
        </p:style>
      </p:cxnSp>
      <p:sp>
        <p:nvSpPr>
          <p:cNvPr id="16" name="内容占位符 2"/>
          <p:cNvSpPr txBox="1"/>
          <p:nvPr/>
        </p:nvSpPr>
        <p:spPr>
          <a:xfrm rot="20391546">
            <a:off x="4045106" y="1964156"/>
            <a:ext cx="936104"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600" b="0" dirty="0">
                <a:latin typeface="+mn-lt"/>
              </a:rPr>
              <a:t>share 1</a:t>
            </a:r>
            <a:endParaRPr kumimoji="1" lang="en-GB" altLang="zh-CN" sz="1600" dirty="0">
              <a:latin typeface="+mn-lt"/>
            </a:endParaRPr>
          </a:p>
        </p:txBody>
      </p:sp>
      <p:pic>
        <p:nvPicPr>
          <p:cNvPr id="18" name="图片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38444" y="2437301"/>
            <a:ext cx="502968" cy="502968"/>
          </a:xfrm>
          <a:prstGeom prst="rect">
            <a:avLst/>
          </a:prstGeom>
        </p:spPr>
      </p:pic>
      <p:sp>
        <p:nvSpPr>
          <p:cNvPr id="19" name="内容占位符 2"/>
          <p:cNvSpPr txBox="1"/>
          <p:nvPr/>
        </p:nvSpPr>
        <p:spPr>
          <a:xfrm>
            <a:off x="5827998" y="2838346"/>
            <a:ext cx="933398"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part 2</a:t>
            </a:r>
            <a:endParaRPr kumimoji="1" lang="en-GB" altLang="zh-CN" sz="1800" dirty="0">
              <a:latin typeface="+mn-lt"/>
            </a:endParaRPr>
          </a:p>
        </p:txBody>
      </p:sp>
      <p:pic>
        <p:nvPicPr>
          <p:cNvPr id="20" name="图片 1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38444" y="3386905"/>
            <a:ext cx="502968" cy="502968"/>
          </a:xfrm>
          <a:prstGeom prst="rect">
            <a:avLst/>
          </a:prstGeom>
        </p:spPr>
      </p:pic>
      <p:sp>
        <p:nvSpPr>
          <p:cNvPr id="21" name="内容占位符 2"/>
          <p:cNvSpPr txBox="1"/>
          <p:nvPr/>
        </p:nvSpPr>
        <p:spPr>
          <a:xfrm>
            <a:off x="5838475" y="3795522"/>
            <a:ext cx="902906"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part 3</a:t>
            </a:r>
            <a:endParaRPr kumimoji="1" lang="en-GB" altLang="zh-CN" sz="1800" dirty="0">
              <a:latin typeface="+mn-lt"/>
            </a:endParaRPr>
          </a:p>
        </p:txBody>
      </p:sp>
      <p:pic>
        <p:nvPicPr>
          <p:cNvPr id="22" name="图片 2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52195" y="4837176"/>
            <a:ext cx="502968" cy="502968"/>
          </a:xfrm>
          <a:prstGeom prst="rect">
            <a:avLst/>
          </a:prstGeom>
        </p:spPr>
      </p:pic>
      <p:sp>
        <p:nvSpPr>
          <p:cNvPr id="23" name="内容占位符 2"/>
          <p:cNvSpPr txBox="1"/>
          <p:nvPr/>
        </p:nvSpPr>
        <p:spPr>
          <a:xfrm>
            <a:off x="5857362" y="5272447"/>
            <a:ext cx="892634"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part n</a:t>
            </a:r>
            <a:endParaRPr kumimoji="1" lang="en-GB" altLang="zh-CN" sz="1800" dirty="0">
              <a:latin typeface="+mn-lt"/>
            </a:endParaRPr>
          </a:p>
        </p:txBody>
      </p:sp>
      <p:cxnSp>
        <p:nvCxnSpPr>
          <p:cNvPr id="25" name="直接箭头连接符 24"/>
          <p:cNvCxnSpPr>
            <a:stCxn id="7" idx="3"/>
            <a:endCxn id="18" idx="1"/>
          </p:cNvCxnSpPr>
          <p:nvPr/>
        </p:nvCxnSpPr>
        <p:spPr>
          <a:xfrm flipV="1">
            <a:off x="3059832" y="2688785"/>
            <a:ext cx="2978612" cy="168715"/>
          </a:xfrm>
          <a:prstGeom prst="straightConnector1">
            <a:avLst/>
          </a:prstGeom>
          <a:ln w="15875">
            <a:headEnd w="lg" len="lg"/>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7" idx="3"/>
            <a:endCxn id="20" idx="1"/>
          </p:cNvCxnSpPr>
          <p:nvPr/>
        </p:nvCxnSpPr>
        <p:spPr>
          <a:xfrm>
            <a:off x="3059832" y="2857500"/>
            <a:ext cx="2978612" cy="780889"/>
          </a:xfrm>
          <a:prstGeom prst="straightConnector1">
            <a:avLst/>
          </a:prstGeom>
          <a:ln w="15875">
            <a:headEnd w="lg" len="lg"/>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7" idx="3"/>
            <a:endCxn id="22" idx="1"/>
          </p:cNvCxnSpPr>
          <p:nvPr/>
        </p:nvCxnSpPr>
        <p:spPr>
          <a:xfrm>
            <a:off x="3059832" y="2857500"/>
            <a:ext cx="2992363" cy="2231160"/>
          </a:xfrm>
          <a:prstGeom prst="straightConnector1">
            <a:avLst/>
          </a:prstGeom>
          <a:ln w="15875">
            <a:headEnd w="lg" len="lg"/>
            <a:tailEnd type="triangle" w="med" len="med"/>
          </a:ln>
        </p:spPr>
        <p:style>
          <a:lnRef idx="1">
            <a:schemeClr val="accent1"/>
          </a:lnRef>
          <a:fillRef idx="0">
            <a:schemeClr val="accent1"/>
          </a:fillRef>
          <a:effectRef idx="0">
            <a:schemeClr val="accent1"/>
          </a:effectRef>
          <a:fontRef idx="minor">
            <a:schemeClr val="tx1"/>
          </a:fontRef>
        </p:style>
      </p:cxnSp>
      <p:sp>
        <p:nvSpPr>
          <p:cNvPr id="34" name="内容占位符 2"/>
          <p:cNvSpPr txBox="1"/>
          <p:nvPr/>
        </p:nvSpPr>
        <p:spPr>
          <a:xfrm rot="21376961">
            <a:off x="4087961" y="2443394"/>
            <a:ext cx="936104"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600" b="0" dirty="0">
                <a:latin typeface="+mn-lt"/>
              </a:rPr>
              <a:t>share 2</a:t>
            </a:r>
            <a:endParaRPr kumimoji="1" lang="en-GB" altLang="zh-CN" sz="1600" dirty="0">
              <a:latin typeface="+mn-lt"/>
            </a:endParaRPr>
          </a:p>
        </p:txBody>
      </p:sp>
      <p:sp>
        <p:nvSpPr>
          <p:cNvPr id="35" name="内容占位符 2"/>
          <p:cNvSpPr txBox="1"/>
          <p:nvPr/>
        </p:nvSpPr>
        <p:spPr>
          <a:xfrm rot="839739">
            <a:off x="4218388" y="2955833"/>
            <a:ext cx="936104"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600" b="0" dirty="0">
                <a:latin typeface="+mn-lt"/>
              </a:rPr>
              <a:t>share 3</a:t>
            </a:r>
            <a:endParaRPr kumimoji="1" lang="en-GB" altLang="zh-CN" sz="1600" dirty="0">
              <a:latin typeface="+mn-lt"/>
            </a:endParaRPr>
          </a:p>
        </p:txBody>
      </p:sp>
      <p:sp>
        <p:nvSpPr>
          <p:cNvPr id="36" name="内容占位符 2"/>
          <p:cNvSpPr txBox="1"/>
          <p:nvPr/>
        </p:nvSpPr>
        <p:spPr>
          <a:xfrm rot="2174247">
            <a:off x="4034343" y="3529666"/>
            <a:ext cx="936104"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600" b="0" dirty="0">
                <a:latin typeface="+mn-lt"/>
              </a:rPr>
              <a:t>share n</a:t>
            </a:r>
            <a:endParaRPr kumimoji="1" lang="en-GB" altLang="zh-CN" sz="1600" dirty="0">
              <a:latin typeface="+mn-lt"/>
            </a:endParaRPr>
          </a:p>
        </p:txBody>
      </p:sp>
      <p:sp>
        <p:nvSpPr>
          <p:cNvPr id="39" name="内容占位符 2"/>
          <p:cNvSpPr txBox="1"/>
          <p:nvPr/>
        </p:nvSpPr>
        <p:spPr>
          <a:xfrm>
            <a:off x="5848830" y="4244963"/>
            <a:ext cx="902906"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a:t>
            </a:r>
            <a:endParaRPr kumimoji="1" lang="en-GB" altLang="zh-CN" sz="1800" dirty="0">
              <a:latin typeface="+mn-lt"/>
            </a:endParaRPr>
          </a:p>
        </p:txBody>
      </p:sp>
      <p:sp>
        <p:nvSpPr>
          <p:cNvPr id="5" name="对话气泡: 矩形 4"/>
          <p:cNvSpPr/>
          <p:nvPr/>
        </p:nvSpPr>
        <p:spPr>
          <a:xfrm>
            <a:off x="7241073" y="1013942"/>
            <a:ext cx="1750510" cy="1047197"/>
          </a:xfrm>
          <a:prstGeom prst="wedgeRectCallout">
            <a:avLst>
              <a:gd name="adj1" fmla="val -87212"/>
              <a:gd name="adj2" fmla="val 32035"/>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Each part cannot learn the secret </a:t>
            </a:r>
            <a:r>
              <a:rPr lang="en-US" altLang="zh-CN" b="1" dirty="0"/>
              <a:t>S</a:t>
            </a:r>
            <a:endParaRPr lang="zh-CN" altLang="en-US" b="1" dirty="0"/>
          </a:p>
        </p:txBody>
      </p:sp>
      <p:sp>
        <p:nvSpPr>
          <p:cNvPr id="26" name="内容占位符 2"/>
          <p:cNvSpPr txBox="1"/>
          <p:nvPr/>
        </p:nvSpPr>
        <p:spPr>
          <a:xfrm>
            <a:off x="237838" y="4103842"/>
            <a:ext cx="4104456" cy="85548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kumimoji="1" lang="en-US" altLang="zh-CN" sz="1800" b="0" dirty="0">
                <a:latin typeface="+mn-lt"/>
              </a:rPr>
              <a:t>Mathematical operations</a:t>
            </a:r>
            <a:endParaRPr kumimoji="1" lang="en-US" altLang="zh-CN" sz="1800" b="0" dirty="0">
              <a:latin typeface="+mn-lt"/>
            </a:endParaRPr>
          </a:p>
          <a:p>
            <a:pPr marL="0" indent="0" algn="ctr">
              <a:spcBef>
                <a:spcPts val="0"/>
              </a:spcBef>
              <a:buNone/>
            </a:pPr>
            <a:r>
              <a:rPr kumimoji="1" lang="en-US" altLang="zh-CN" sz="1800" b="0" dirty="0">
                <a:latin typeface="+mn-lt"/>
              </a:rPr>
              <a:t>f(x) = S + a</a:t>
            </a:r>
            <a:r>
              <a:rPr kumimoji="1" lang="en-US" altLang="zh-CN" sz="1800" b="0" baseline="-25000" dirty="0">
                <a:latin typeface="+mn-lt"/>
              </a:rPr>
              <a:t>1</a:t>
            </a:r>
            <a:r>
              <a:rPr kumimoji="1" lang="en-US" altLang="zh-CN" sz="1800" b="0" dirty="0">
                <a:latin typeface="+mn-lt"/>
              </a:rPr>
              <a:t>x + a</a:t>
            </a:r>
            <a:r>
              <a:rPr kumimoji="1" lang="en-US" altLang="zh-CN" sz="1800" b="0" baseline="-25000" dirty="0">
                <a:latin typeface="+mn-lt"/>
              </a:rPr>
              <a:t>2</a:t>
            </a:r>
            <a:r>
              <a:rPr kumimoji="1" lang="en-US" altLang="zh-CN" sz="1800" b="0" dirty="0">
                <a:latin typeface="+mn-lt"/>
              </a:rPr>
              <a:t>x + ... + a</a:t>
            </a:r>
            <a:r>
              <a:rPr kumimoji="1" lang="en-US" altLang="zh-CN" sz="1800" b="0" baseline="-25000" dirty="0">
                <a:latin typeface="+mn-lt"/>
              </a:rPr>
              <a:t>k-1</a:t>
            </a:r>
            <a:r>
              <a:rPr kumimoji="1" lang="en-US" altLang="zh-CN" sz="1800" b="0" dirty="0">
                <a:latin typeface="+mn-lt"/>
              </a:rPr>
              <a:t>x</a:t>
            </a:r>
            <a:r>
              <a:rPr kumimoji="1" lang="en-US" altLang="zh-CN" sz="1800" b="0" baseline="30000" dirty="0">
                <a:latin typeface="+mn-lt"/>
              </a:rPr>
              <a:t>k-1</a:t>
            </a:r>
            <a:endParaRPr kumimoji="1" lang="en-GB" altLang="zh-CN" sz="1800" baseline="30000" dirty="0">
              <a:latin typeface="+mn-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normAutofit/>
          </a:bodyPr>
          <a:lstStyle/>
          <a:p>
            <a:r>
              <a:rPr kumimoji="1" lang="en-US" altLang="zh-CN" sz="3200" dirty="0"/>
              <a:t>Secret Sharing</a:t>
            </a:r>
            <a:endParaRPr kumimoji="1" lang="zh-CN" altLang="en-US" sz="3200" dirty="0"/>
          </a:p>
        </p:txBody>
      </p:sp>
      <p:sp>
        <p:nvSpPr>
          <p:cNvPr id="3" name="内容占位符 2"/>
          <p:cNvSpPr>
            <a:spLocks noGrp="1"/>
          </p:cNvSpPr>
          <p:nvPr>
            <p:ph idx="1"/>
          </p:nvPr>
        </p:nvSpPr>
        <p:spPr>
          <a:xfrm>
            <a:off x="327213" y="1233895"/>
            <a:ext cx="4663414" cy="575892"/>
          </a:xfrm>
        </p:spPr>
        <p:txBody>
          <a:bodyPr>
            <a:normAutofit lnSpcReduction="10000"/>
          </a:bodyPr>
          <a:lstStyle/>
          <a:p>
            <a:pPr marL="0" indent="0">
              <a:lnSpc>
                <a:spcPct val="100000"/>
              </a:lnSpc>
              <a:spcBef>
                <a:spcPts val="0"/>
              </a:spcBef>
              <a:buNone/>
            </a:pPr>
            <a:r>
              <a:rPr kumimoji="1" lang="en-US" altLang="zh-CN" sz="1800" dirty="0">
                <a:solidFill>
                  <a:srgbClr val="C00000"/>
                </a:solidFill>
                <a:latin typeface="+mn-lt"/>
              </a:rPr>
              <a:t>Secret Reconstruction:</a:t>
            </a:r>
            <a:endParaRPr kumimoji="1" lang="en-US" altLang="zh-CN" sz="1800" dirty="0">
              <a:solidFill>
                <a:srgbClr val="C00000"/>
              </a:solidFill>
              <a:latin typeface="+mn-lt"/>
            </a:endParaRPr>
          </a:p>
          <a:p>
            <a:pPr marL="0" indent="0">
              <a:lnSpc>
                <a:spcPct val="100000"/>
              </a:lnSpc>
              <a:spcBef>
                <a:spcPts val="0"/>
              </a:spcBef>
              <a:buNone/>
            </a:pPr>
            <a:r>
              <a:rPr kumimoji="1" lang="en-US" altLang="zh-CN" sz="1600" b="0" dirty="0">
                <a:solidFill>
                  <a:schemeClr val="tx1"/>
                </a:solidFill>
                <a:latin typeface="+mn-lt"/>
              </a:rPr>
              <a:t>(under the assumption that no part will collude)</a:t>
            </a:r>
            <a:endParaRPr kumimoji="1" lang="en-US" altLang="zh-CN" sz="1600" b="0" dirty="0">
              <a:solidFill>
                <a:schemeClr val="tx1"/>
              </a:solidFill>
              <a:latin typeface="+mn-lt"/>
            </a:endParaRPr>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07704" y="3200215"/>
            <a:ext cx="502968" cy="502968"/>
          </a:xfrm>
          <a:prstGeom prst="rect">
            <a:avLst/>
          </a:prstGeom>
        </p:spPr>
      </p:pic>
      <p:sp>
        <p:nvSpPr>
          <p:cNvPr id="7" name="内容占位符 2"/>
          <p:cNvSpPr txBox="1"/>
          <p:nvPr/>
        </p:nvSpPr>
        <p:spPr>
          <a:xfrm>
            <a:off x="1331640" y="2606016"/>
            <a:ext cx="1728192" cy="502968"/>
          </a:xfrm>
          <a:prstGeom prst="rect">
            <a:avLst/>
          </a:prstGeom>
          <a:solidFill>
            <a:srgbClr val="BE384B"/>
          </a:solidFill>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2000" b="0" dirty="0">
                <a:solidFill>
                  <a:schemeClr val="bg1"/>
                </a:solidFill>
                <a:latin typeface="+mn-lt"/>
              </a:rPr>
              <a:t>secret data </a:t>
            </a:r>
            <a:r>
              <a:rPr kumimoji="1" lang="en-US" altLang="zh-CN" sz="2000" dirty="0">
                <a:solidFill>
                  <a:schemeClr val="bg1"/>
                </a:solidFill>
                <a:latin typeface="+mn-lt"/>
              </a:rPr>
              <a:t>S</a:t>
            </a:r>
            <a:endParaRPr kumimoji="1" lang="en-GB" altLang="zh-CN" sz="2000" dirty="0">
              <a:solidFill>
                <a:schemeClr val="bg1"/>
              </a:solidFill>
              <a:latin typeface="+mn-lt"/>
            </a:endParaRPr>
          </a:p>
        </p:txBody>
      </p:sp>
      <p:sp>
        <p:nvSpPr>
          <p:cNvPr id="8" name="内容占位符 2"/>
          <p:cNvSpPr txBox="1"/>
          <p:nvPr/>
        </p:nvSpPr>
        <p:spPr>
          <a:xfrm>
            <a:off x="1295092" y="3602174"/>
            <a:ext cx="1872208" cy="504056"/>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secret owner</a:t>
            </a:r>
            <a:endParaRPr kumimoji="1" lang="en-GB" altLang="zh-CN" sz="1800" dirty="0">
              <a:latin typeface="+mn-lt"/>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38444" y="1487697"/>
            <a:ext cx="502968" cy="502968"/>
          </a:xfrm>
          <a:prstGeom prst="rect">
            <a:avLst/>
          </a:prstGeom>
        </p:spPr>
      </p:pic>
      <p:sp>
        <p:nvSpPr>
          <p:cNvPr id="10" name="内容占位符 2"/>
          <p:cNvSpPr txBox="1"/>
          <p:nvPr/>
        </p:nvSpPr>
        <p:spPr>
          <a:xfrm>
            <a:off x="5874522" y="1890367"/>
            <a:ext cx="849782"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part 1</a:t>
            </a:r>
            <a:endParaRPr kumimoji="1" lang="en-GB" altLang="zh-CN" sz="1800" dirty="0">
              <a:latin typeface="+mn-lt"/>
            </a:endParaRPr>
          </a:p>
        </p:txBody>
      </p:sp>
      <p:cxnSp>
        <p:nvCxnSpPr>
          <p:cNvPr id="12" name="直接箭头连接符 11"/>
          <p:cNvCxnSpPr>
            <a:stCxn id="7" idx="3"/>
            <a:endCxn id="9" idx="1"/>
          </p:cNvCxnSpPr>
          <p:nvPr/>
        </p:nvCxnSpPr>
        <p:spPr>
          <a:xfrm flipV="1">
            <a:off x="3059832" y="1739181"/>
            <a:ext cx="2978612" cy="1118319"/>
          </a:xfrm>
          <a:prstGeom prst="straightConnector1">
            <a:avLst/>
          </a:prstGeom>
          <a:ln w="15875">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内容占位符 2"/>
          <p:cNvSpPr txBox="1"/>
          <p:nvPr/>
        </p:nvSpPr>
        <p:spPr>
          <a:xfrm rot="20391546">
            <a:off x="4045106" y="1964156"/>
            <a:ext cx="936104"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600" b="0" dirty="0">
                <a:latin typeface="+mn-lt"/>
              </a:rPr>
              <a:t>share 1</a:t>
            </a:r>
            <a:endParaRPr kumimoji="1" lang="en-GB" altLang="zh-CN" sz="1600" dirty="0">
              <a:latin typeface="+mn-lt"/>
            </a:endParaRPr>
          </a:p>
        </p:txBody>
      </p:sp>
      <p:pic>
        <p:nvPicPr>
          <p:cNvPr id="18" name="图片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38444" y="2437301"/>
            <a:ext cx="502968" cy="502968"/>
          </a:xfrm>
          <a:prstGeom prst="rect">
            <a:avLst/>
          </a:prstGeom>
        </p:spPr>
      </p:pic>
      <p:sp>
        <p:nvSpPr>
          <p:cNvPr id="19" name="内容占位符 2"/>
          <p:cNvSpPr txBox="1"/>
          <p:nvPr/>
        </p:nvSpPr>
        <p:spPr>
          <a:xfrm>
            <a:off x="5827998" y="2838346"/>
            <a:ext cx="933398"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part 2</a:t>
            </a:r>
            <a:endParaRPr kumimoji="1" lang="en-GB" altLang="zh-CN" sz="1800" dirty="0">
              <a:latin typeface="+mn-lt"/>
            </a:endParaRPr>
          </a:p>
        </p:txBody>
      </p:sp>
      <p:pic>
        <p:nvPicPr>
          <p:cNvPr id="20" name="图片 1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38444" y="3386905"/>
            <a:ext cx="502968" cy="502968"/>
          </a:xfrm>
          <a:prstGeom prst="rect">
            <a:avLst/>
          </a:prstGeom>
        </p:spPr>
      </p:pic>
      <p:sp>
        <p:nvSpPr>
          <p:cNvPr id="21" name="内容占位符 2"/>
          <p:cNvSpPr txBox="1"/>
          <p:nvPr/>
        </p:nvSpPr>
        <p:spPr>
          <a:xfrm>
            <a:off x="5838475" y="3795522"/>
            <a:ext cx="902906"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part 3</a:t>
            </a:r>
            <a:endParaRPr kumimoji="1" lang="en-GB" altLang="zh-CN" sz="1800" dirty="0">
              <a:latin typeface="+mn-lt"/>
            </a:endParaRPr>
          </a:p>
        </p:txBody>
      </p:sp>
      <p:pic>
        <p:nvPicPr>
          <p:cNvPr id="22" name="图片 2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52195" y="4837176"/>
            <a:ext cx="502968" cy="502968"/>
          </a:xfrm>
          <a:prstGeom prst="rect">
            <a:avLst/>
          </a:prstGeom>
        </p:spPr>
      </p:pic>
      <p:sp>
        <p:nvSpPr>
          <p:cNvPr id="23" name="内容占位符 2"/>
          <p:cNvSpPr txBox="1"/>
          <p:nvPr/>
        </p:nvSpPr>
        <p:spPr>
          <a:xfrm>
            <a:off x="5857362" y="5272447"/>
            <a:ext cx="892634"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part n</a:t>
            </a:r>
            <a:endParaRPr kumimoji="1" lang="en-GB" altLang="zh-CN" sz="1800" dirty="0">
              <a:latin typeface="+mn-lt"/>
            </a:endParaRPr>
          </a:p>
        </p:txBody>
      </p:sp>
      <p:cxnSp>
        <p:nvCxnSpPr>
          <p:cNvPr id="25" name="直接箭头连接符 24"/>
          <p:cNvCxnSpPr>
            <a:stCxn id="7" idx="3"/>
            <a:endCxn id="18" idx="1"/>
          </p:cNvCxnSpPr>
          <p:nvPr/>
        </p:nvCxnSpPr>
        <p:spPr>
          <a:xfrm flipV="1">
            <a:off x="3059832" y="2688785"/>
            <a:ext cx="2978612" cy="168715"/>
          </a:xfrm>
          <a:prstGeom prst="straightConnector1">
            <a:avLst/>
          </a:prstGeom>
          <a:ln w="15875">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7" idx="3"/>
          </p:cNvCxnSpPr>
          <p:nvPr/>
        </p:nvCxnSpPr>
        <p:spPr>
          <a:xfrm>
            <a:off x="3059832" y="2857500"/>
            <a:ext cx="2916870" cy="1623605"/>
          </a:xfrm>
          <a:prstGeom prst="straightConnector1">
            <a:avLst/>
          </a:prstGeom>
          <a:ln w="15875">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内容占位符 2"/>
          <p:cNvSpPr txBox="1"/>
          <p:nvPr/>
        </p:nvSpPr>
        <p:spPr>
          <a:xfrm rot="21376961">
            <a:off x="4087961" y="2443394"/>
            <a:ext cx="936104"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600" b="0" dirty="0">
                <a:latin typeface="+mn-lt"/>
              </a:rPr>
              <a:t>share 2</a:t>
            </a:r>
            <a:endParaRPr kumimoji="1" lang="en-GB" altLang="zh-CN" sz="1600" dirty="0">
              <a:latin typeface="+mn-lt"/>
            </a:endParaRPr>
          </a:p>
        </p:txBody>
      </p:sp>
      <p:sp>
        <p:nvSpPr>
          <p:cNvPr id="36" name="内容占位符 2"/>
          <p:cNvSpPr txBox="1"/>
          <p:nvPr/>
        </p:nvSpPr>
        <p:spPr>
          <a:xfrm rot="1696903">
            <a:off x="4209868" y="3391418"/>
            <a:ext cx="936104"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600" b="0" dirty="0">
                <a:latin typeface="+mn-lt"/>
              </a:rPr>
              <a:t>share k</a:t>
            </a:r>
            <a:endParaRPr kumimoji="1" lang="en-GB" altLang="zh-CN" sz="1600" dirty="0">
              <a:latin typeface="+mn-lt"/>
            </a:endParaRPr>
          </a:p>
        </p:txBody>
      </p:sp>
      <p:sp>
        <p:nvSpPr>
          <p:cNvPr id="39" name="内容占位符 2"/>
          <p:cNvSpPr txBox="1"/>
          <p:nvPr/>
        </p:nvSpPr>
        <p:spPr>
          <a:xfrm>
            <a:off x="5848830" y="4244963"/>
            <a:ext cx="902906"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a:t>
            </a:r>
            <a:endParaRPr kumimoji="1" lang="en-GB" altLang="zh-CN" sz="1800" dirty="0">
              <a:latin typeface="+mn-lt"/>
            </a:endParaRPr>
          </a:p>
        </p:txBody>
      </p:sp>
      <p:sp>
        <p:nvSpPr>
          <p:cNvPr id="5" name="对话气泡: 矩形 4"/>
          <p:cNvSpPr/>
          <p:nvPr/>
        </p:nvSpPr>
        <p:spPr>
          <a:xfrm>
            <a:off x="7241073" y="1013942"/>
            <a:ext cx="1750510" cy="1047197"/>
          </a:xfrm>
          <a:prstGeom prst="wedgeRectCallout">
            <a:avLst>
              <a:gd name="adj1" fmla="val -87212"/>
              <a:gd name="adj2" fmla="val 32035"/>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Each part cannot learn the secret </a:t>
            </a:r>
            <a:r>
              <a:rPr lang="en-US" altLang="zh-CN" b="1" dirty="0"/>
              <a:t>S</a:t>
            </a:r>
            <a:endParaRPr lang="zh-CN" altLang="en-US" b="1" dirty="0"/>
          </a:p>
        </p:txBody>
      </p:sp>
      <p:sp>
        <p:nvSpPr>
          <p:cNvPr id="26" name="内容占位符 2"/>
          <p:cNvSpPr txBox="1"/>
          <p:nvPr/>
        </p:nvSpPr>
        <p:spPr>
          <a:xfrm>
            <a:off x="237838" y="4103842"/>
            <a:ext cx="4104456" cy="85548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kumimoji="1" lang="en-US" altLang="zh-CN" sz="1800" b="0" dirty="0">
                <a:latin typeface="+mn-lt"/>
              </a:rPr>
              <a:t>Lagrange Interpolation</a:t>
            </a:r>
            <a:endParaRPr kumimoji="1" lang="en-GB" altLang="zh-CN" sz="1800" baseline="30000" dirty="0">
              <a:latin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normAutofit/>
          </a:bodyPr>
          <a:lstStyle/>
          <a:p>
            <a:r>
              <a:rPr kumimoji="1" lang="en-US" altLang="zh-CN" sz="3200" dirty="0"/>
              <a:t>Secret Sharing</a:t>
            </a:r>
            <a:endParaRPr kumimoji="1" lang="zh-CN" altLang="en-US" sz="3200" dirty="0"/>
          </a:p>
        </p:txBody>
      </p:sp>
      <p:sp>
        <p:nvSpPr>
          <p:cNvPr id="3" name="内容占位符 2"/>
          <p:cNvSpPr>
            <a:spLocks noGrp="1"/>
          </p:cNvSpPr>
          <p:nvPr>
            <p:ph idx="1"/>
          </p:nvPr>
        </p:nvSpPr>
        <p:spPr>
          <a:xfrm>
            <a:off x="327213" y="1233895"/>
            <a:ext cx="4663414" cy="575892"/>
          </a:xfrm>
        </p:spPr>
        <p:txBody>
          <a:bodyPr>
            <a:normAutofit lnSpcReduction="10000"/>
          </a:bodyPr>
          <a:lstStyle/>
          <a:p>
            <a:pPr marL="0" indent="0">
              <a:lnSpc>
                <a:spcPct val="100000"/>
              </a:lnSpc>
              <a:spcBef>
                <a:spcPts val="0"/>
              </a:spcBef>
              <a:buNone/>
            </a:pPr>
            <a:r>
              <a:rPr kumimoji="1" lang="en-US" altLang="zh-CN" sz="1800" dirty="0">
                <a:solidFill>
                  <a:srgbClr val="C00000"/>
                </a:solidFill>
                <a:latin typeface="+mn-lt"/>
              </a:rPr>
              <a:t>Secret Reconstruction:</a:t>
            </a:r>
            <a:endParaRPr kumimoji="1" lang="en-US" altLang="zh-CN" sz="1800" dirty="0">
              <a:solidFill>
                <a:srgbClr val="C00000"/>
              </a:solidFill>
              <a:latin typeface="+mn-lt"/>
            </a:endParaRPr>
          </a:p>
          <a:p>
            <a:pPr marL="0" indent="0">
              <a:lnSpc>
                <a:spcPct val="100000"/>
              </a:lnSpc>
              <a:spcBef>
                <a:spcPts val="0"/>
              </a:spcBef>
              <a:buNone/>
            </a:pPr>
            <a:r>
              <a:rPr kumimoji="1" lang="en-US" altLang="zh-CN" sz="1600" b="0" dirty="0">
                <a:solidFill>
                  <a:schemeClr val="tx1"/>
                </a:solidFill>
                <a:latin typeface="+mn-lt"/>
              </a:rPr>
              <a:t>(under the assumption that no part will collude)</a:t>
            </a:r>
            <a:endParaRPr kumimoji="1" lang="en-US" altLang="zh-CN" sz="1600" b="0" dirty="0">
              <a:solidFill>
                <a:schemeClr val="tx1"/>
              </a:solidFill>
              <a:latin typeface="+mn-lt"/>
            </a:endParaRPr>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07704" y="3200215"/>
            <a:ext cx="502968" cy="502968"/>
          </a:xfrm>
          <a:prstGeom prst="rect">
            <a:avLst/>
          </a:prstGeom>
        </p:spPr>
      </p:pic>
      <p:sp>
        <p:nvSpPr>
          <p:cNvPr id="7" name="内容占位符 2"/>
          <p:cNvSpPr txBox="1"/>
          <p:nvPr/>
        </p:nvSpPr>
        <p:spPr>
          <a:xfrm>
            <a:off x="1331640" y="2606016"/>
            <a:ext cx="1728192" cy="502968"/>
          </a:xfrm>
          <a:prstGeom prst="rect">
            <a:avLst/>
          </a:prstGeom>
          <a:solidFill>
            <a:srgbClr val="BE384B"/>
          </a:solidFill>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2000" b="0" dirty="0">
                <a:solidFill>
                  <a:schemeClr val="bg1"/>
                </a:solidFill>
                <a:latin typeface="+mn-lt"/>
              </a:rPr>
              <a:t>secret data </a:t>
            </a:r>
            <a:r>
              <a:rPr kumimoji="1" lang="en-US" altLang="zh-CN" sz="2000" dirty="0">
                <a:solidFill>
                  <a:schemeClr val="bg1"/>
                </a:solidFill>
                <a:latin typeface="+mn-lt"/>
              </a:rPr>
              <a:t>S</a:t>
            </a:r>
            <a:endParaRPr kumimoji="1" lang="en-GB" altLang="zh-CN" sz="2000" dirty="0">
              <a:solidFill>
                <a:schemeClr val="bg1"/>
              </a:solidFill>
              <a:latin typeface="+mn-lt"/>
            </a:endParaRPr>
          </a:p>
        </p:txBody>
      </p:sp>
      <p:sp>
        <p:nvSpPr>
          <p:cNvPr id="8" name="内容占位符 2"/>
          <p:cNvSpPr txBox="1"/>
          <p:nvPr/>
        </p:nvSpPr>
        <p:spPr>
          <a:xfrm>
            <a:off x="1295092" y="3602174"/>
            <a:ext cx="1872208" cy="504056"/>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secret owner</a:t>
            </a:r>
            <a:endParaRPr kumimoji="1" lang="en-GB" altLang="zh-CN" sz="1800" dirty="0">
              <a:latin typeface="+mn-lt"/>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38444" y="1487697"/>
            <a:ext cx="502968" cy="502968"/>
          </a:xfrm>
          <a:prstGeom prst="rect">
            <a:avLst/>
          </a:prstGeom>
        </p:spPr>
      </p:pic>
      <p:sp>
        <p:nvSpPr>
          <p:cNvPr id="10" name="内容占位符 2"/>
          <p:cNvSpPr txBox="1"/>
          <p:nvPr/>
        </p:nvSpPr>
        <p:spPr>
          <a:xfrm>
            <a:off x="5874522" y="1890367"/>
            <a:ext cx="849782"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part 1</a:t>
            </a:r>
            <a:endParaRPr kumimoji="1" lang="en-GB" altLang="zh-CN" sz="1800" dirty="0">
              <a:latin typeface="+mn-lt"/>
            </a:endParaRPr>
          </a:p>
        </p:txBody>
      </p:sp>
      <p:cxnSp>
        <p:nvCxnSpPr>
          <p:cNvPr id="12" name="直接箭头连接符 11"/>
          <p:cNvCxnSpPr>
            <a:stCxn id="7" idx="3"/>
            <a:endCxn id="9" idx="1"/>
          </p:cNvCxnSpPr>
          <p:nvPr/>
        </p:nvCxnSpPr>
        <p:spPr>
          <a:xfrm flipV="1">
            <a:off x="3059832" y="1739181"/>
            <a:ext cx="2978612" cy="1118319"/>
          </a:xfrm>
          <a:prstGeom prst="straightConnector1">
            <a:avLst/>
          </a:prstGeom>
          <a:ln w="15875">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内容占位符 2"/>
          <p:cNvSpPr txBox="1"/>
          <p:nvPr/>
        </p:nvSpPr>
        <p:spPr>
          <a:xfrm rot="20391546">
            <a:off x="4045106" y="1964156"/>
            <a:ext cx="936104"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600" b="0" dirty="0">
                <a:latin typeface="+mn-lt"/>
              </a:rPr>
              <a:t>share 1</a:t>
            </a:r>
            <a:endParaRPr kumimoji="1" lang="en-GB" altLang="zh-CN" sz="1600" dirty="0">
              <a:latin typeface="+mn-lt"/>
            </a:endParaRPr>
          </a:p>
        </p:txBody>
      </p:sp>
      <p:pic>
        <p:nvPicPr>
          <p:cNvPr id="18" name="图片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38444" y="2437301"/>
            <a:ext cx="502968" cy="502968"/>
          </a:xfrm>
          <a:prstGeom prst="rect">
            <a:avLst/>
          </a:prstGeom>
        </p:spPr>
      </p:pic>
      <p:sp>
        <p:nvSpPr>
          <p:cNvPr id="19" name="内容占位符 2"/>
          <p:cNvSpPr txBox="1"/>
          <p:nvPr/>
        </p:nvSpPr>
        <p:spPr>
          <a:xfrm>
            <a:off x="5827998" y="2838346"/>
            <a:ext cx="933398"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part 2</a:t>
            </a:r>
            <a:endParaRPr kumimoji="1" lang="en-GB" altLang="zh-CN" sz="1800" dirty="0">
              <a:latin typeface="+mn-lt"/>
            </a:endParaRPr>
          </a:p>
        </p:txBody>
      </p:sp>
      <p:pic>
        <p:nvPicPr>
          <p:cNvPr id="20" name="图片 1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38444" y="3386905"/>
            <a:ext cx="502968" cy="502968"/>
          </a:xfrm>
          <a:prstGeom prst="rect">
            <a:avLst/>
          </a:prstGeom>
        </p:spPr>
      </p:pic>
      <p:sp>
        <p:nvSpPr>
          <p:cNvPr id="21" name="内容占位符 2"/>
          <p:cNvSpPr txBox="1"/>
          <p:nvPr/>
        </p:nvSpPr>
        <p:spPr>
          <a:xfrm>
            <a:off x="5838475" y="3795522"/>
            <a:ext cx="902906"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part 3</a:t>
            </a:r>
            <a:endParaRPr kumimoji="1" lang="en-GB" altLang="zh-CN" sz="1800" dirty="0">
              <a:latin typeface="+mn-lt"/>
            </a:endParaRPr>
          </a:p>
        </p:txBody>
      </p:sp>
      <p:pic>
        <p:nvPicPr>
          <p:cNvPr id="22" name="图片 2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52195" y="4837176"/>
            <a:ext cx="502968" cy="502968"/>
          </a:xfrm>
          <a:prstGeom prst="rect">
            <a:avLst/>
          </a:prstGeom>
        </p:spPr>
      </p:pic>
      <p:sp>
        <p:nvSpPr>
          <p:cNvPr id="23" name="内容占位符 2"/>
          <p:cNvSpPr txBox="1"/>
          <p:nvPr/>
        </p:nvSpPr>
        <p:spPr>
          <a:xfrm>
            <a:off x="5857362" y="5272447"/>
            <a:ext cx="892634"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part n</a:t>
            </a:r>
            <a:endParaRPr kumimoji="1" lang="en-GB" altLang="zh-CN" sz="1800" dirty="0">
              <a:latin typeface="+mn-lt"/>
            </a:endParaRPr>
          </a:p>
        </p:txBody>
      </p:sp>
      <p:cxnSp>
        <p:nvCxnSpPr>
          <p:cNvPr id="25" name="直接箭头连接符 24"/>
          <p:cNvCxnSpPr>
            <a:stCxn id="7" idx="3"/>
            <a:endCxn id="20" idx="1"/>
          </p:cNvCxnSpPr>
          <p:nvPr/>
        </p:nvCxnSpPr>
        <p:spPr>
          <a:xfrm>
            <a:off x="3059832" y="2857500"/>
            <a:ext cx="2978612" cy="780889"/>
          </a:xfrm>
          <a:prstGeom prst="straightConnector1">
            <a:avLst/>
          </a:prstGeom>
          <a:ln w="15875">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7" idx="3"/>
          </p:cNvCxnSpPr>
          <p:nvPr/>
        </p:nvCxnSpPr>
        <p:spPr>
          <a:xfrm>
            <a:off x="3059832" y="2857500"/>
            <a:ext cx="2916870" cy="1623605"/>
          </a:xfrm>
          <a:prstGeom prst="straightConnector1">
            <a:avLst/>
          </a:prstGeom>
          <a:ln w="15875">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内容占位符 2"/>
          <p:cNvSpPr txBox="1"/>
          <p:nvPr/>
        </p:nvSpPr>
        <p:spPr>
          <a:xfrm rot="911882">
            <a:off x="4269577" y="2980535"/>
            <a:ext cx="936104"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600" b="0" dirty="0">
                <a:latin typeface="+mn-lt"/>
              </a:rPr>
              <a:t>share 3</a:t>
            </a:r>
            <a:endParaRPr kumimoji="1" lang="en-GB" altLang="zh-CN" sz="1600" dirty="0">
              <a:latin typeface="+mn-lt"/>
            </a:endParaRPr>
          </a:p>
        </p:txBody>
      </p:sp>
      <p:sp>
        <p:nvSpPr>
          <p:cNvPr id="36" name="内容占位符 2"/>
          <p:cNvSpPr txBox="1"/>
          <p:nvPr/>
        </p:nvSpPr>
        <p:spPr>
          <a:xfrm rot="1760798">
            <a:off x="4194164" y="3406564"/>
            <a:ext cx="936104"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600" b="0" dirty="0">
                <a:latin typeface="+mn-lt"/>
              </a:rPr>
              <a:t>share k</a:t>
            </a:r>
            <a:endParaRPr kumimoji="1" lang="en-GB" altLang="zh-CN" sz="1600" dirty="0">
              <a:latin typeface="+mn-lt"/>
            </a:endParaRPr>
          </a:p>
        </p:txBody>
      </p:sp>
      <p:sp>
        <p:nvSpPr>
          <p:cNvPr id="39" name="内容占位符 2"/>
          <p:cNvSpPr txBox="1"/>
          <p:nvPr/>
        </p:nvSpPr>
        <p:spPr>
          <a:xfrm>
            <a:off x="5848830" y="4244963"/>
            <a:ext cx="902906" cy="37457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a:t>
            </a:r>
            <a:endParaRPr kumimoji="1" lang="en-GB" altLang="zh-CN" sz="1800" dirty="0">
              <a:latin typeface="+mn-lt"/>
            </a:endParaRPr>
          </a:p>
        </p:txBody>
      </p:sp>
      <p:sp>
        <p:nvSpPr>
          <p:cNvPr id="5" name="对话气泡: 矩形 4"/>
          <p:cNvSpPr/>
          <p:nvPr/>
        </p:nvSpPr>
        <p:spPr>
          <a:xfrm>
            <a:off x="7241073" y="1013942"/>
            <a:ext cx="1750510" cy="1047197"/>
          </a:xfrm>
          <a:prstGeom prst="wedgeRectCallout">
            <a:avLst>
              <a:gd name="adj1" fmla="val -87212"/>
              <a:gd name="adj2" fmla="val 32035"/>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Each part cannot learn the secret </a:t>
            </a:r>
            <a:r>
              <a:rPr lang="en-US" altLang="zh-CN" b="1" dirty="0"/>
              <a:t>S</a:t>
            </a:r>
            <a:endParaRPr lang="zh-CN" altLang="en-US" b="1" dirty="0"/>
          </a:p>
        </p:txBody>
      </p:sp>
      <p:sp>
        <p:nvSpPr>
          <p:cNvPr id="26" name="内容占位符 2"/>
          <p:cNvSpPr txBox="1"/>
          <p:nvPr/>
        </p:nvSpPr>
        <p:spPr>
          <a:xfrm>
            <a:off x="237838" y="4103842"/>
            <a:ext cx="4104456" cy="855488"/>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kumimoji="1" lang="en-US" altLang="zh-CN" sz="1800" b="0" dirty="0">
                <a:latin typeface="+mn-lt"/>
              </a:rPr>
              <a:t>Lagrange Interpolation</a:t>
            </a:r>
            <a:endParaRPr kumimoji="1" lang="en-GB" altLang="zh-CN" sz="1800" baseline="30000" dirty="0">
              <a:latin typeface="+mn-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normAutofit/>
          </a:bodyPr>
          <a:lstStyle/>
          <a:p>
            <a:r>
              <a:rPr kumimoji="1" lang="en-US" altLang="zh-CN" sz="3200" dirty="0"/>
              <a:t>Pros and Cons</a:t>
            </a:r>
            <a:endParaRPr kumimoji="1" lang="zh-CN" altLang="en-US" sz="3200" dirty="0"/>
          </a:p>
        </p:txBody>
      </p:sp>
      <p:sp>
        <p:nvSpPr>
          <p:cNvPr id="3" name="内容占位符 2"/>
          <p:cNvSpPr>
            <a:spLocks noGrp="1"/>
          </p:cNvSpPr>
          <p:nvPr>
            <p:ph idx="1"/>
          </p:nvPr>
        </p:nvSpPr>
        <p:spPr>
          <a:xfrm>
            <a:off x="323528" y="1255796"/>
            <a:ext cx="8061211" cy="3886028"/>
          </a:xfrm>
        </p:spPr>
        <p:txBody>
          <a:bodyPr>
            <a:normAutofit/>
          </a:bodyPr>
          <a:lstStyle/>
          <a:p>
            <a:r>
              <a:rPr kumimoji="1" lang="en-US" altLang="zh-CN" sz="2000" b="0" dirty="0">
                <a:solidFill>
                  <a:schemeClr val="tx1"/>
                </a:solidFill>
                <a:latin typeface="+mn-lt"/>
              </a:rPr>
              <a:t>An information-theoretically secure protocol (unconditionally secure, independent of adversary's computational capabilities → quantum-safe)</a:t>
            </a:r>
            <a:endParaRPr kumimoji="1" lang="en-US" altLang="zh-CN" sz="2000" b="0" dirty="0">
              <a:solidFill>
                <a:schemeClr val="tx1"/>
              </a:solidFill>
              <a:latin typeface="+mn-lt"/>
            </a:endParaRPr>
          </a:p>
          <a:p>
            <a:r>
              <a:rPr kumimoji="1" lang="en-US" altLang="zh-CN" sz="2000" b="0" dirty="0">
                <a:solidFill>
                  <a:schemeClr val="tx1"/>
                </a:solidFill>
                <a:latin typeface="+mn-lt"/>
              </a:rPr>
              <a:t>Ideal assumption (At least </a:t>
            </a:r>
            <a:r>
              <a:rPr kumimoji="1" lang="en-US" altLang="zh-CN" sz="2000" b="0" i="1" dirty="0">
                <a:solidFill>
                  <a:schemeClr val="tx1"/>
                </a:solidFill>
                <a:latin typeface="+mn-lt"/>
              </a:rPr>
              <a:t>k</a:t>
            </a:r>
            <a:r>
              <a:rPr kumimoji="1" lang="en-US" altLang="zh-CN" sz="2000" b="0" dirty="0">
                <a:solidFill>
                  <a:schemeClr val="tx1"/>
                </a:solidFill>
                <a:latin typeface="+mn-lt"/>
              </a:rPr>
              <a:t> parts never collude)</a:t>
            </a:r>
            <a:endParaRPr kumimoji="1" lang="en-US" altLang="zh-CN" sz="2000" b="0" dirty="0">
              <a:solidFill>
                <a:schemeClr val="tx1"/>
              </a:solidFill>
              <a:latin typeface="+mn-lt"/>
            </a:endParaRPr>
          </a:p>
          <a:p>
            <a:r>
              <a:rPr kumimoji="1" lang="en-US" altLang="zh-CN" sz="2000" b="0" dirty="0">
                <a:solidFill>
                  <a:schemeClr val="tx1"/>
                </a:solidFill>
                <a:latin typeface="+mn-lt"/>
              </a:rPr>
              <a:t>Communication overhead </a:t>
            </a:r>
            <a:endParaRPr kumimoji="1" lang="en-US" altLang="zh-CN" sz="2000" b="0" dirty="0">
              <a:latin typeface="+mn-lt"/>
            </a:endParaRPr>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Secure</a:t>
            </a:r>
            <a:r>
              <a:rPr lang="zh-CN" altLang="en-US" dirty="0"/>
              <a:t> </a:t>
            </a:r>
            <a:r>
              <a:rPr lang="en-US" altLang="zh-CN" dirty="0"/>
              <a:t>MPC</a:t>
            </a:r>
            <a:endParaRPr lang="zh-CN" altLang="en-US" dirty="0"/>
          </a:p>
        </p:txBody>
      </p:sp>
      <p:sp>
        <p:nvSpPr>
          <p:cNvPr id="5" name="文本占位符 4"/>
          <p:cNvSpPr>
            <a:spLocks noGrp="1"/>
          </p:cNvSpPr>
          <p:nvPr>
            <p:ph type="body" idx="1"/>
          </p:nvPr>
        </p:nvSpPr>
        <p:spPr/>
        <p:txBody>
          <a:bodyPr/>
          <a:lstStyle/>
          <a:p>
            <a:r>
              <a:rPr lang="en-US" altLang="zh-CN" dirty="0"/>
              <a:t>Multi-Party</a:t>
            </a:r>
            <a:r>
              <a:rPr lang="zh-CN" altLang="en-US" dirty="0"/>
              <a:t> </a:t>
            </a:r>
            <a:r>
              <a:rPr lang="en-US" altLang="zh-CN" dirty="0"/>
              <a:t>Computing</a:t>
            </a:r>
            <a:endParaRPr lang="zh-CN" altLang="en-US"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对话气泡: 椭圆形 12"/>
          <p:cNvSpPr/>
          <p:nvPr/>
        </p:nvSpPr>
        <p:spPr>
          <a:xfrm>
            <a:off x="2939006" y="1352575"/>
            <a:ext cx="2026735" cy="928861"/>
          </a:xfrm>
          <a:prstGeom prst="wedgeEllipseCallout">
            <a:avLst>
              <a:gd name="adj1" fmla="val -67591"/>
              <a:gd name="adj2" fmla="val 61685"/>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b="1" dirty="0"/>
          </a:p>
        </p:txBody>
      </p:sp>
      <p:sp>
        <p:nvSpPr>
          <p:cNvPr id="2" name="标题 1"/>
          <p:cNvSpPr>
            <a:spLocks noGrp="1"/>
          </p:cNvSpPr>
          <p:nvPr>
            <p:ph type="title"/>
          </p:nvPr>
        </p:nvSpPr>
        <p:spPr>
          <a:xfrm>
            <a:off x="457200" y="228866"/>
            <a:ext cx="8229600" cy="900442"/>
          </a:xfrm>
        </p:spPr>
        <p:txBody>
          <a:bodyPr>
            <a:normAutofit/>
          </a:bodyPr>
          <a:lstStyle/>
          <a:p>
            <a:r>
              <a:rPr kumimoji="1" lang="en-US" altLang="zh-CN" sz="3200" dirty="0"/>
              <a:t>secure Multi-Party Computation (</a:t>
            </a:r>
            <a:r>
              <a:rPr kumimoji="1" lang="en-US" altLang="zh-CN" sz="3200" dirty="0" err="1"/>
              <a:t>sMPC</a:t>
            </a:r>
            <a:r>
              <a:rPr kumimoji="1" lang="en-US" altLang="zh-CN" sz="3200" dirty="0"/>
              <a:t>)</a:t>
            </a:r>
            <a:endParaRPr kumimoji="1" lang="zh-CN" altLang="en-US" sz="3200" dirty="0"/>
          </a:p>
        </p:txBody>
      </p:sp>
      <p:sp>
        <p:nvSpPr>
          <p:cNvPr id="3" name="内容占位符 2"/>
          <p:cNvSpPr>
            <a:spLocks noGrp="1"/>
          </p:cNvSpPr>
          <p:nvPr>
            <p:ph idx="1"/>
          </p:nvPr>
        </p:nvSpPr>
        <p:spPr>
          <a:xfrm>
            <a:off x="429786" y="3932538"/>
            <a:ext cx="8061211" cy="900442"/>
          </a:xfrm>
        </p:spPr>
        <p:txBody>
          <a:bodyPr>
            <a:normAutofit/>
          </a:bodyPr>
          <a:lstStyle/>
          <a:p>
            <a:r>
              <a:rPr kumimoji="1" lang="en-US" altLang="zh-CN" sz="2000" b="0" dirty="0">
                <a:solidFill>
                  <a:schemeClr val="tx1"/>
                </a:solidFill>
                <a:latin typeface="+mn-lt"/>
              </a:rPr>
              <a:t>Multiple parties (at least 2) work together to calculate a function</a:t>
            </a:r>
            <a:endParaRPr kumimoji="1" lang="en-US" altLang="zh-CN" sz="2000" b="0" dirty="0">
              <a:solidFill>
                <a:schemeClr val="tx1"/>
              </a:solidFill>
              <a:latin typeface="+mn-lt"/>
            </a:endParaRPr>
          </a:p>
          <a:p>
            <a:pPr lvl="1"/>
            <a:r>
              <a:rPr kumimoji="1" lang="en-US" altLang="zh-CN" sz="1800" b="0" dirty="0">
                <a:solidFill>
                  <a:schemeClr val="tx1"/>
                </a:solidFill>
                <a:latin typeface="+mn-lt"/>
              </a:rPr>
              <a:t>Enforce the </a:t>
            </a:r>
            <a:r>
              <a:rPr kumimoji="1" lang="en-US" altLang="zh-CN" sz="1800" b="1" dirty="0">
                <a:solidFill>
                  <a:schemeClr val="tx1"/>
                </a:solidFill>
                <a:latin typeface="+mn-lt"/>
              </a:rPr>
              <a:t>data privacy</a:t>
            </a:r>
            <a:r>
              <a:rPr kumimoji="1" lang="en-US" altLang="zh-CN" sz="1800" b="0" dirty="0">
                <a:solidFill>
                  <a:schemeClr val="tx1"/>
                </a:solidFill>
                <a:latin typeface="+mn-lt"/>
              </a:rPr>
              <a:t> for each party</a:t>
            </a:r>
            <a:endParaRPr kumimoji="1" lang="en-US" altLang="zh-CN" sz="1800" b="0" dirty="0">
              <a:latin typeface="+mn-lt"/>
            </a:endParaRPr>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02594" y="2005392"/>
            <a:ext cx="720000" cy="720000"/>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3200" y="2016815"/>
            <a:ext cx="720000" cy="720000"/>
          </a:xfrm>
          <a:prstGeom prst="rect">
            <a:avLst/>
          </a:prstGeom>
        </p:spPr>
      </p:pic>
      <p:sp>
        <p:nvSpPr>
          <p:cNvPr id="7" name="对话气泡: 椭圆形 6"/>
          <p:cNvSpPr/>
          <p:nvPr/>
        </p:nvSpPr>
        <p:spPr>
          <a:xfrm>
            <a:off x="239473" y="1365848"/>
            <a:ext cx="1440160" cy="783559"/>
          </a:xfrm>
          <a:prstGeom prst="wedgeEllipseCallout">
            <a:avLst>
              <a:gd name="adj1" fmla="val 65102"/>
              <a:gd name="adj2" fmla="val 5368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I have </a:t>
            </a:r>
            <a:r>
              <a:rPr lang="en-US" altLang="zh-CN" b="1" dirty="0"/>
              <a:t>data</a:t>
            </a:r>
            <a:r>
              <a:rPr lang="en-US" altLang="zh-CN" b="1" baseline="-25000" dirty="0"/>
              <a:t>1</a:t>
            </a:r>
            <a:endParaRPr lang="zh-CN" altLang="en-US" b="1" dirty="0"/>
          </a:p>
        </p:txBody>
      </p:sp>
      <p:sp>
        <p:nvSpPr>
          <p:cNvPr id="8" name="对话气泡: 椭圆形 7"/>
          <p:cNvSpPr/>
          <p:nvPr/>
        </p:nvSpPr>
        <p:spPr>
          <a:xfrm>
            <a:off x="6758212" y="1453050"/>
            <a:ext cx="1440160" cy="720000"/>
          </a:xfrm>
          <a:prstGeom prst="wedgeEllipseCallout">
            <a:avLst>
              <a:gd name="adj1" fmla="val -68155"/>
              <a:gd name="adj2" fmla="val 4814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I have </a:t>
            </a:r>
            <a:r>
              <a:rPr lang="en-US" altLang="zh-CN" b="1" dirty="0"/>
              <a:t>data</a:t>
            </a:r>
            <a:r>
              <a:rPr lang="en-US" altLang="zh-CN" b="1" baseline="-25000" dirty="0"/>
              <a:t>2</a:t>
            </a:r>
            <a:endParaRPr lang="zh-CN" altLang="en-US" b="1" dirty="0"/>
          </a:p>
        </p:txBody>
      </p:sp>
      <p:sp>
        <p:nvSpPr>
          <p:cNvPr id="9" name="内容占位符 2"/>
          <p:cNvSpPr txBox="1"/>
          <p:nvPr/>
        </p:nvSpPr>
        <p:spPr>
          <a:xfrm>
            <a:off x="1902594" y="2598786"/>
            <a:ext cx="720000"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Alice</a:t>
            </a:r>
            <a:endParaRPr kumimoji="1" lang="en-GB" altLang="zh-CN" sz="1800" dirty="0">
              <a:latin typeface="+mn-lt"/>
            </a:endParaRPr>
          </a:p>
        </p:txBody>
      </p:sp>
      <p:sp>
        <p:nvSpPr>
          <p:cNvPr id="10" name="内容占位符 2"/>
          <p:cNvSpPr txBox="1"/>
          <p:nvPr/>
        </p:nvSpPr>
        <p:spPr>
          <a:xfrm>
            <a:off x="5833200" y="2598701"/>
            <a:ext cx="720080"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Bob</a:t>
            </a:r>
            <a:endParaRPr kumimoji="1" lang="en-GB" altLang="zh-CN" sz="1800" dirty="0">
              <a:latin typeface="+mn-lt"/>
            </a:endParaRPr>
          </a:p>
        </p:txBody>
      </p:sp>
      <p:sp>
        <p:nvSpPr>
          <p:cNvPr id="12" name="对话气泡: 椭圆形 11"/>
          <p:cNvSpPr/>
          <p:nvPr/>
        </p:nvSpPr>
        <p:spPr>
          <a:xfrm>
            <a:off x="2827606" y="1233256"/>
            <a:ext cx="2600826" cy="1154248"/>
          </a:xfrm>
          <a:prstGeom prst="wedgeEllipseCallout">
            <a:avLst>
              <a:gd name="adj1" fmla="val 60268"/>
              <a:gd name="adj2" fmla="val 4080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solidFill>
                  <a:schemeClr val="tx1"/>
                </a:solidFill>
              </a:rPr>
              <a:t>We want to calculate </a:t>
            </a:r>
            <a:endParaRPr kumimoji="1" lang="en-US" altLang="zh-CN" dirty="0">
              <a:solidFill>
                <a:schemeClr val="tx1"/>
              </a:solidFill>
            </a:endParaRPr>
          </a:p>
          <a:p>
            <a:pPr algn="ctr"/>
            <a:r>
              <a:rPr kumimoji="1" lang="en-US" altLang="zh-CN" b="1" dirty="0">
                <a:solidFill>
                  <a:srgbClr val="C1514D"/>
                </a:solidFill>
              </a:rPr>
              <a:t>f(data</a:t>
            </a:r>
            <a:r>
              <a:rPr kumimoji="1" lang="en-US" altLang="zh-CN" b="1" baseline="-25000" dirty="0">
                <a:solidFill>
                  <a:srgbClr val="C1514D"/>
                </a:solidFill>
              </a:rPr>
              <a:t>1</a:t>
            </a:r>
            <a:r>
              <a:rPr kumimoji="1" lang="en-US" altLang="zh-CN" b="1" dirty="0">
                <a:solidFill>
                  <a:srgbClr val="C1514D"/>
                </a:solidFill>
              </a:rPr>
              <a:t>, data</a:t>
            </a:r>
            <a:r>
              <a:rPr kumimoji="1" lang="en-US" altLang="zh-CN" b="1" baseline="-25000" dirty="0">
                <a:solidFill>
                  <a:srgbClr val="C1514D"/>
                </a:solidFill>
              </a:rPr>
              <a:t>2</a:t>
            </a:r>
            <a:r>
              <a:rPr kumimoji="1" lang="en-US" altLang="zh-CN" b="1" dirty="0">
                <a:solidFill>
                  <a:srgbClr val="C1514D"/>
                </a:solidFill>
              </a:rPr>
              <a:t>)</a:t>
            </a:r>
            <a:endParaRPr kumimoji="1" lang="zh-CN" altLang="en-US" b="1" dirty="0">
              <a:solidFill>
                <a:srgbClr val="C1514D"/>
              </a:solidFill>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normAutofit/>
          </a:bodyPr>
          <a:lstStyle/>
          <a:p>
            <a:r>
              <a:rPr kumimoji="1" lang="en-US" altLang="zh-CN" sz="3200" dirty="0"/>
              <a:t>Millionaire Problem</a:t>
            </a:r>
            <a:endParaRPr kumimoji="1" lang="en-US" altLang="zh-CN" sz="3200" dirty="0"/>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35696" y="1387093"/>
            <a:ext cx="720000" cy="720000"/>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8182" y="1383486"/>
            <a:ext cx="720000" cy="720000"/>
          </a:xfrm>
          <a:prstGeom prst="rect">
            <a:avLst/>
          </a:prstGeom>
        </p:spPr>
      </p:pic>
      <p:sp>
        <p:nvSpPr>
          <p:cNvPr id="8" name="内容占位符 2"/>
          <p:cNvSpPr txBox="1"/>
          <p:nvPr/>
        </p:nvSpPr>
        <p:spPr>
          <a:xfrm>
            <a:off x="1835696" y="1980487"/>
            <a:ext cx="720000"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Alice</a:t>
            </a:r>
            <a:endParaRPr kumimoji="1" lang="en-GB" altLang="zh-CN" sz="1800" dirty="0">
              <a:latin typeface="+mn-lt"/>
            </a:endParaRPr>
          </a:p>
        </p:txBody>
      </p:sp>
      <p:sp>
        <p:nvSpPr>
          <p:cNvPr id="9" name="内容占位符 2"/>
          <p:cNvSpPr txBox="1"/>
          <p:nvPr/>
        </p:nvSpPr>
        <p:spPr>
          <a:xfrm>
            <a:off x="6278182" y="1965372"/>
            <a:ext cx="720080"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Bob</a:t>
            </a:r>
            <a:endParaRPr kumimoji="1" lang="en-GB" altLang="zh-CN" sz="1800" dirty="0">
              <a:latin typeface="+mn-lt"/>
            </a:endParaRPr>
          </a:p>
        </p:txBody>
      </p:sp>
      <p:sp>
        <p:nvSpPr>
          <p:cNvPr id="10" name="内容占位符 2"/>
          <p:cNvSpPr txBox="1"/>
          <p:nvPr/>
        </p:nvSpPr>
        <p:spPr>
          <a:xfrm>
            <a:off x="447848" y="2384181"/>
            <a:ext cx="3368056" cy="908969"/>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kumimoji="1" lang="en-US" altLang="zh-CN" sz="1400" dirty="0">
                <a:latin typeface="+mn-lt"/>
              </a:rPr>
              <a:t>Chose</a:t>
            </a:r>
            <a:r>
              <a:rPr kumimoji="1" lang="zh-CN" altLang="en-US" sz="1400" dirty="0">
                <a:latin typeface="+mn-lt"/>
              </a:rPr>
              <a:t> </a:t>
            </a:r>
            <a:r>
              <a:rPr kumimoji="1" lang="en-US" altLang="zh-CN" sz="1400" dirty="0">
                <a:latin typeface="+mn-lt"/>
              </a:rPr>
              <a:t>a</a:t>
            </a:r>
            <a:r>
              <a:rPr kumimoji="1" lang="zh-CN" altLang="en-US" sz="1400" dirty="0">
                <a:latin typeface="+mn-lt"/>
              </a:rPr>
              <a:t> </a:t>
            </a:r>
            <a:r>
              <a:rPr kumimoji="1" lang="en-US" altLang="zh-CN" sz="1400" dirty="0">
                <a:latin typeface="+mn-lt"/>
              </a:rPr>
              <a:t>random</a:t>
            </a:r>
            <a:r>
              <a:rPr kumimoji="1" lang="zh-CN" altLang="en-US" sz="1400" dirty="0">
                <a:latin typeface="+mn-lt"/>
              </a:rPr>
              <a:t> </a:t>
            </a:r>
            <a:r>
              <a:rPr kumimoji="1" lang="en-US" altLang="zh-CN" sz="1400" dirty="0">
                <a:latin typeface="+mn-lt"/>
              </a:rPr>
              <a:t>big</a:t>
            </a:r>
            <a:r>
              <a:rPr kumimoji="1" lang="zh-CN" altLang="en-US" sz="1400" dirty="0">
                <a:latin typeface="+mn-lt"/>
              </a:rPr>
              <a:t> </a:t>
            </a:r>
            <a:r>
              <a:rPr kumimoji="1" lang="en-US" altLang="zh-CN" sz="1400" dirty="0">
                <a:latin typeface="+mn-lt"/>
              </a:rPr>
              <a:t>integer</a:t>
            </a:r>
            <a:r>
              <a:rPr kumimoji="1" lang="zh-CN" altLang="en-US" sz="1400" dirty="0">
                <a:latin typeface="+mn-lt"/>
              </a:rPr>
              <a:t> </a:t>
            </a:r>
            <a:r>
              <a:rPr kumimoji="1" lang="en-US" altLang="zh-CN" sz="1400" dirty="0">
                <a:latin typeface="+mn-lt"/>
              </a:rPr>
              <a:t>x</a:t>
            </a:r>
            <a:endParaRPr kumimoji="1" lang="en-US" altLang="zh-CN" sz="1400" dirty="0">
              <a:latin typeface="+mn-lt"/>
            </a:endParaRPr>
          </a:p>
          <a:p>
            <a:pPr lvl="1"/>
            <a:r>
              <a:rPr kumimoji="1" lang="en-US" altLang="zh-CN" sz="1400" dirty="0">
                <a:latin typeface="+mn-lt"/>
              </a:rPr>
              <a:t>K</a:t>
            </a:r>
            <a:r>
              <a:rPr kumimoji="1" lang="zh-CN" altLang="en-US" sz="1400" dirty="0">
                <a:latin typeface="+mn-lt"/>
              </a:rPr>
              <a:t> </a:t>
            </a:r>
            <a:r>
              <a:rPr kumimoji="1" lang="en-US" altLang="zh-CN" sz="1400" dirty="0">
                <a:latin typeface="+mn-lt"/>
              </a:rPr>
              <a:t>=</a:t>
            </a:r>
            <a:r>
              <a:rPr kumimoji="1" lang="zh-CN" altLang="en-US" sz="1400" dirty="0">
                <a:latin typeface="+mn-lt"/>
              </a:rPr>
              <a:t> </a:t>
            </a:r>
            <a:r>
              <a:rPr kumimoji="1" lang="en-US" altLang="zh-CN" sz="1400" dirty="0">
                <a:latin typeface="+mn-lt"/>
              </a:rPr>
              <a:t>enc{</a:t>
            </a:r>
            <a:r>
              <a:rPr kumimoji="1" lang="en-US" altLang="zh-CN" sz="1400" dirty="0" err="1">
                <a:latin typeface="+mn-lt"/>
              </a:rPr>
              <a:t>Key</a:t>
            </a:r>
            <a:r>
              <a:rPr kumimoji="1" lang="en-US" altLang="zh-CN" sz="1400" baseline="-25000" dirty="0" err="1">
                <a:latin typeface="+mn-lt"/>
              </a:rPr>
              <a:t>pub</a:t>
            </a:r>
            <a:r>
              <a:rPr kumimoji="1" lang="zh-CN" altLang="en-US" sz="1400" dirty="0">
                <a:latin typeface="+mn-lt"/>
              </a:rPr>
              <a:t> </a:t>
            </a:r>
            <a:r>
              <a:rPr kumimoji="1" lang="en-US" altLang="zh-CN" sz="1400" dirty="0">
                <a:latin typeface="+mn-lt"/>
              </a:rPr>
              <a:t>of</a:t>
            </a:r>
            <a:r>
              <a:rPr kumimoji="1" lang="zh-CN" altLang="en-US" sz="1400" dirty="0">
                <a:latin typeface="+mn-lt"/>
              </a:rPr>
              <a:t> </a:t>
            </a:r>
            <a:r>
              <a:rPr kumimoji="1" lang="en-US" altLang="zh-CN" sz="1400" dirty="0">
                <a:latin typeface="+mn-lt"/>
              </a:rPr>
              <a:t>Bob,</a:t>
            </a:r>
            <a:r>
              <a:rPr kumimoji="1" lang="zh-CN" altLang="en-US" sz="1400" dirty="0">
                <a:latin typeface="+mn-lt"/>
              </a:rPr>
              <a:t> </a:t>
            </a:r>
            <a:r>
              <a:rPr kumimoji="1" lang="en-US" altLang="zh-CN" sz="1400" dirty="0">
                <a:latin typeface="+mn-lt"/>
              </a:rPr>
              <a:t>x}</a:t>
            </a:r>
            <a:endParaRPr kumimoji="1" lang="en-US" altLang="zh-CN" sz="1400" dirty="0">
              <a:latin typeface="+mn-lt"/>
            </a:endParaRPr>
          </a:p>
        </p:txBody>
      </p:sp>
      <p:sp>
        <p:nvSpPr>
          <p:cNvPr id="11" name="内容占位符 2"/>
          <p:cNvSpPr txBox="1"/>
          <p:nvPr/>
        </p:nvSpPr>
        <p:spPr>
          <a:xfrm>
            <a:off x="5546757" y="2663630"/>
            <a:ext cx="3368056" cy="2055101"/>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kumimoji="1" lang="en-US" altLang="zh-CN" sz="1400" dirty="0">
                <a:latin typeface="+mn-lt"/>
              </a:rPr>
              <a:t>Decrypt</a:t>
            </a:r>
            <a:r>
              <a:rPr kumimoji="1" lang="zh-CN" altLang="en-US" sz="1400" dirty="0">
                <a:latin typeface="+mn-lt"/>
              </a:rPr>
              <a:t> </a:t>
            </a:r>
            <a:r>
              <a:rPr kumimoji="1" lang="en-US" altLang="zh-CN" sz="1400" dirty="0">
                <a:latin typeface="+mn-lt"/>
              </a:rPr>
              <a:t>with</a:t>
            </a:r>
            <a:r>
              <a:rPr kumimoji="1" lang="zh-CN" altLang="en-US" sz="1400" dirty="0">
                <a:latin typeface="+mn-lt"/>
              </a:rPr>
              <a:t> </a:t>
            </a:r>
            <a:r>
              <a:rPr kumimoji="1" lang="en-US" altLang="zh-CN" sz="1400" dirty="0" err="1">
                <a:latin typeface="+mn-lt"/>
              </a:rPr>
              <a:t>Key</a:t>
            </a:r>
            <a:r>
              <a:rPr kumimoji="1" lang="en-US" altLang="zh-CN" sz="1400" baseline="-25000" dirty="0" err="1">
                <a:latin typeface="+mn-lt"/>
              </a:rPr>
              <a:t>prv</a:t>
            </a:r>
            <a:r>
              <a:rPr kumimoji="1" lang="zh-CN" altLang="en-US" sz="1400" dirty="0">
                <a:latin typeface="+mn-lt"/>
              </a:rPr>
              <a:t> </a:t>
            </a:r>
            <a:r>
              <a:rPr kumimoji="1" lang="en-US" altLang="zh-CN" sz="1400" dirty="0">
                <a:latin typeface="+mn-lt"/>
              </a:rPr>
              <a:t>of</a:t>
            </a:r>
            <a:r>
              <a:rPr kumimoji="1" lang="zh-CN" altLang="en-US" sz="1400" dirty="0">
                <a:latin typeface="+mn-lt"/>
              </a:rPr>
              <a:t> </a:t>
            </a:r>
            <a:r>
              <a:rPr kumimoji="1" lang="en-US" altLang="zh-CN" sz="1400" dirty="0">
                <a:latin typeface="+mn-lt"/>
              </a:rPr>
              <a:t>Bob ten</a:t>
            </a:r>
            <a:r>
              <a:rPr kumimoji="1" lang="zh-CN" altLang="en-US" sz="1400" dirty="0">
                <a:latin typeface="+mn-lt"/>
              </a:rPr>
              <a:t> </a:t>
            </a:r>
            <a:r>
              <a:rPr kumimoji="1" lang="en-US" altLang="zh-CN" sz="1400" dirty="0">
                <a:latin typeface="+mn-lt"/>
              </a:rPr>
              <a:t>number:</a:t>
            </a:r>
            <a:r>
              <a:rPr kumimoji="1" lang="zh-CN" altLang="en-US" sz="1400" dirty="0">
                <a:latin typeface="+mn-lt"/>
              </a:rPr>
              <a:t> </a:t>
            </a:r>
            <a:r>
              <a:rPr kumimoji="1" lang="en-US" altLang="zh-CN" sz="1400" dirty="0">
                <a:latin typeface="+mn-lt"/>
              </a:rPr>
              <a:t>c+1,</a:t>
            </a:r>
            <a:r>
              <a:rPr kumimoji="1" lang="zh-CN" altLang="en-US" sz="1400" dirty="0">
                <a:latin typeface="+mn-lt"/>
              </a:rPr>
              <a:t> </a:t>
            </a:r>
            <a:r>
              <a:rPr kumimoji="1" lang="en-US" altLang="zh-CN" sz="1400" dirty="0">
                <a:latin typeface="+mn-lt"/>
              </a:rPr>
              <a:t>c+2...c+10,</a:t>
            </a:r>
            <a:r>
              <a:rPr kumimoji="1" lang="zh-CN" altLang="en-US" sz="1400" dirty="0">
                <a:latin typeface="+mn-lt"/>
              </a:rPr>
              <a:t> </a:t>
            </a:r>
            <a:r>
              <a:rPr kumimoji="1" lang="en-US" altLang="zh-CN" sz="1400" dirty="0">
                <a:latin typeface="+mn-lt"/>
              </a:rPr>
              <a:t>get</a:t>
            </a:r>
            <a:r>
              <a:rPr kumimoji="1" lang="zh-CN" altLang="en-US" sz="1400" dirty="0">
                <a:latin typeface="+mn-lt"/>
              </a:rPr>
              <a:t> </a:t>
            </a:r>
            <a:r>
              <a:rPr kumimoji="1" lang="en-US" altLang="zh-CN" sz="1400" dirty="0">
                <a:latin typeface="+mn-lt"/>
              </a:rPr>
              <a:t>y1,</a:t>
            </a:r>
            <a:r>
              <a:rPr kumimoji="1" lang="zh-CN" altLang="en-US" sz="1400" dirty="0">
                <a:latin typeface="+mn-lt"/>
              </a:rPr>
              <a:t> </a:t>
            </a:r>
            <a:r>
              <a:rPr kumimoji="1" lang="en-US" altLang="zh-CN" sz="1400" dirty="0">
                <a:latin typeface="+mn-lt"/>
              </a:rPr>
              <a:t>y2...</a:t>
            </a:r>
            <a:r>
              <a:rPr kumimoji="1" lang="zh-CN" altLang="en-US" sz="1400" dirty="0">
                <a:latin typeface="+mn-lt"/>
              </a:rPr>
              <a:t> </a:t>
            </a:r>
            <a:r>
              <a:rPr kumimoji="1" lang="en-US" altLang="zh-CN" sz="1400" dirty="0">
                <a:latin typeface="+mn-lt"/>
              </a:rPr>
              <a:t>y10</a:t>
            </a:r>
            <a:endParaRPr kumimoji="1" lang="en-US" altLang="zh-CN" sz="1400" dirty="0">
              <a:latin typeface="+mn-lt"/>
            </a:endParaRPr>
          </a:p>
          <a:p>
            <a:pPr lvl="1"/>
            <a:r>
              <a:rPr kumimoji="1" lang="en-US" altLang="zh-CN" sz="1400" dirty="0">
                <a:latin typeface="+mn-lt"/>
              </a:rPr>
              <a:t>Chose</a:t>
            </a:r>
            <a:r>
              <a:rPr kumimoji="1" lang="zh-CN" altLang="en-US" sz="1400" dirty="0">
                <a:latin typeface="+mn-lt"/>
              </a:rPr>
              <a:t> </a:t>
            </a:r>
            <a:r>
              <a:rPr kumimoji="1" lang="en-US" altLang="zh-CN" sz="1400" dirty="0">
                <a:latin typeface="+mn-lt"/>
              </a:rPr>
              <a:t>a</a:t>
            </a:r>
            <a:r>
              <a:rPr kumimoji="1" lang="zh-CN" altLang="en-US" sz="1400" dirty="0">
                <a:latin typeface="+mn-lt"/>
              </a:rPr>
              <a:t> </a:t>
            </a:r>
            <a:r>
              <a:rPr kumimoji="1" lang="en-US" altLang="zh-CN" sz="1400" dirty="0">
                <a:latin typeface="+mn-lt"/>
              </a:rPr>
              <a:t>prime</a:t>
            </a:r>
            <a:r>
              <a:rPr kumimoji="1" lang="zh-CN" altLang="en-US" sz="1400" dirty="0">
                <a:latin typeface="+mn-lt"/>
              </a:rPr>
              <a:t> </a:t>
            </a:r>
            <a:r>
              <a:rPr kumimoji="1" lang="en-US" altLang="zh-CN" sz="1400" dirty="0">
                <a:latin typeface="+mn-lt"/>
              </a:rPr>
              <a:t>number</a:t>
            </a:r>
            <a:r>
              <a:rPr kumimoji="1" lang="zh-CN" altLang="en-US" sz="1400" dirty="0">
                <a:latin typeface="+mn-lt"/>
              </a:rPr>
              <a:t> </a:t>
            </a:r>
            <a:r>
              <a:rPr kumimoji="1" lang="en-US" altLang="zh-CN" sz="1400" dirty="0">
                <a:latin typeface="+mn-lt"/>
              </a:rPr>
              <a:t>p</a:t>
            </a:r>
            <a:endParaRPr kumimoji="1" lang="en-US" altLang="zh-CN" sz="1400" dirty="0">
              <a:latin typeface="+mn-lt"/>
            </a:endParaRPr>
          </a:p>
          <a:p>
            <a:pPr lvl="1"/>
            <a:r>
              <a:rPr kumimoji="1" lang="en-US" altLang="zh-CN" sz="1400" dirty="0">
                <a:latin typeface="+mn-lt"/>
              </a:rPr>
              <a:t>Calculate</a:t>
            </a:r>
            <a:r>
              <a:rPr kumimoji="1" lang="zh-CN" altLang="en-US" sz="1400" dirty="0">
                <a:latin typeface="+mn-lt"/>
              </a:rPr>
              <a:t> </a:t>
            </a:r>
            <a:r>
              <a:rPr kumimoji="1" lang="en-US" altLang="zh-CN" sz="1400" dirty="0">
                <a:latin typeface="+mn-lt"/>
              </a:rPr>
              <a:t>d1</a:t>
            </a:r>
            <a:r>
              <a:rPr kumimoji="1" lang="zh-CN" altLang="en-US" sz="1400" dirty="0">
                <a:latin typeface="+mn-lt"/>
              </a:rPr>
              <a:t> </a:t>
            </a:r>
            <a:r>
              <a:rPr kumimoji="1" lang="en-US" altLang="zh-CN" sz="1400" dirty="0">
                <a:latin typeface="+mn-lt"/>
              </a:rPr>
              <a:t>=</a:t>
            </a:r>
            <a:r>
              <a:rPr kumimoji="1" lang="zh-CN" altLang="en-US" sz="1400" dirty="0">
                <a:latin typeface="+mn-lt"/>
              </a:rPr>
              <a:t> </a:t>
            </a:r>
            <a:r>
              <a:rPr kumimoji="1" lang="en-US" altLang="zh-CN" sz="1400" dirty="0">
                <a:latin typeface="+mn-lt"/>
              </a:rPr>
              <a:t>y1</a:t>
            </a:r>
            <a:r>
              <a:rPr kumimoji="1" lang="zh-CN" altLang="en-US" sz="1400" dirty="0">
                <a:latin typeface="+mn-lt"/>
              </a:rPr>
              <a:t> </a:t>
            </a:r>
            <a:r>
              <a:rPr kumimoji="1" lang="en-US" altLang="zh-CN" sz="1400" dirty="0">
                <a:latin typeface="+mn-lt"/>
              </a:rPr>
              <a:t>mod</a:t>
            </a:r>
            <a:r>
              <a:rPr kumimoji="1" lang="zh-CN" altLang="en-US" sz="1400" dirty="0">
                <a:latin typeface="+mn-lt"/>
              </a:rPr>
              <a:t> </a:t>
            </a:r>
            <a:r>
              <a:rPr kumimoji="1" lang="en-US" altLang="zh-CN" sz="1400" dirty="0">
                <a:latin typeface="+mn-lt"/>
              </a:rPr>
              <a:t>p,</a:t>
            </a:r>
            <a:r>
              <a:rPr kumimoji="1" lang="zh-CN" altLang="en-US" sz="1400" dirty="0">
                <a:latin typeface="+mn-lt"/>
              </a:rPr>
              <a:t> </a:t>
            </a:r>
            <a:br>
              <a:rPr kumimoji="1" lang="en-US" altLang="zh-CN" sz="1400" dirty="0">
                <a:latin typeface="+mn-lt"/>
              </a:rPr>
            </a:br>
            <a:r>
              <a:rPr kumimoji="1" lang="en-US" altLang="zh-CN" sz="1400" dirty="0">
                <a:latin typeface="+mn-lt"/>
              </a:rPr>
              <a:t>d2</a:t>
            </a:r>
            <a:r>
              <a:rPr kumimoji="1" lang="zh-CN" altLang="en-US" sz="1400" dirty="0">
                <a:latin typeface="+mn-lt"/>
              </a:rPr>
              <a:t> </a:t>
            </a:r>
            <a:r>
              <a:rPr kumimoji="1" lang="en-US" altLang="zh-CN" sz="1400" dirty="0">
                <a:latin typeface="+mn-lt"/>
              </a:rPr>
              <a:t>=</a:t>
            </a:r>
            <a:r>
              <a:rPr kumimoji="1" lang="zh-CN" altLang="en-US" sz="1400" dirty="0">
                <a:latin typeface="+mn-lt"/>
              </a:rPr>
              <a:t> </a:t>
            </a:r>
            <a:r>
              <a:rPr kumimoji="1" lang="en-US" altLang="zh-CN" sz="1400" dirty="0">
                <a:latin typeface="+mn-lt"/>
              </a:rPr>
              <a:t>y2</a:t>
            </a:r>
            <a:r>
              <a:rPr kumimoji="1" lang="zh-CN" altLang="en-US" sz="1400" dirty="0">
                <a:latin typeface="+mn-lt"/>
              </a:rPr>
              <a:t> </a:t>
            </a:r>
            <a:r>
              <a:rPr kumimoji="1" lang="en-US" altLang="zh-CN" sz="1400" dirty="0">
                <a:latin typeface="+mn-lt"/>
              </a:rPr>
              <a:t>mod</a:t>
            </a:r>
            <a:r>
              <a:rPr kumimoji="1" lang="zh-CN" altLang="en-US" sz="1400" dirty="0">
                <a:latin typeface="+mn-lt"/>
              </a:rPr>
              <a:t> </a:t>
            </a:r>
            <a:r>
              <a:rPr kumimoji="1" lang="en-US" altLang="zh-CN" sz="1400" dirty="0">
                <a:latin typeface="+mn-lt"/>
              </a:rPr>
              <a:t>p,</a:t>
            </a:r>
            <a:r>
              <a:rPr kumimoji="1" lang="zh-CN" altLang="en-US" sz="1400" dirty="0">
                <a:latin typeface="+mn-lt"/>
              </a:rPr>
              <a:t> </a:t>
            </a:r>
            <a:r>
              <a:rPr kumimoji="1" lang="en-US" altLang="zh-CN" sz="1400" dirty="0">
                <a:latin typeface="+mn-lt"/>
              </a:rPr>
              <a:t>...</a:t>
            </a:r>
            <a:endParaRPr kumimoji="1" lang="en-US" altLang="zh-CN" sz="1400" dirty="0">
              <a:latin typeface="+mn-lt"/>
            </a:endParaRPr>
          </a:p>
          <a:p>
            <a:pPr lvl="1"/>
            <a:r>
              <a:rPr kumimoji="1" lang="en-US" altLang="zh-CN" sz="1400" dirty="0">
                <a:latin typeface="+mn-lt"/>
              </a:rPr>
              <a:t>For</a:t>
            </a:r>
            <a:r>
              <a:rPr kumimoji="1" lang="zh-CN" altLang="en-US" sz="1400" dirty="0">
                <a:latin typeface="+mn-lt"/>
              </a:rPr>
              <a:t> </a:t>
            </a:r>
            <a:r>
              <a:rPr kumimoji="1" lang="en-US" altLang="zh-CN" sz="1400" dirty="0">
                <a:latin typeface="+mn-lt"/>
              </a:rPr>
              <a:t>n=</a:t>
            </a:r>
            <a:r>
              <a:rPr kumimoji="1" lang="en-US" altLang="zh-CN" sz="1400" dirty="0" err="1">
                <a:latin typeface="+mn-lt"/>
              </a:rPr>
              <a:t>i</a:t>
            </a:r>
            <a:r>
              <a:rPr kumimoji="1" lang="zh-CN" altLang="en-US" sz="1400" dirty="0">
                <a:latin typeface="+mn-lt"/>
              </a:rPr>
              <a:t> </a:t>
            </a:r>
            <a:r>
              <a:rPr kumimoji="1" lang="en-US" altLang="zh-CN" sz="1400" dirty="0">
                <a:latin typeface="+mn-lt"/>
              </a:rPr>
              <a:t>to</a:t>
            </a:r>
            <a:r>
              <a:rPr kumimoji="1" lang="zh-CN" altLang="en-US" sz="1400" dirty="0">
                <a:latin typeface="+mn-lt"/>
              </a:rPr>
              <a:t> </a:t>
            </a:r>
            <a:r>
              <a:rPr kumimoji="1" lang="en-US" altLang="zh-CN" sz="1400" dirty="0">
                <a:latin typeface="+mn-lt"/>
              </a:rPr>
              <a:t>10,</a:t>
            </a:r>
            <a:r>
              <a:rPr kumimoji="1" lang="zh-CN" altLang="en-US" sz="1400" dirty="0">
                <a:latin typeface="+mn-lt"/>
              </a:rPr>
              <a:t> </a:t>
            </a:r>
            <a:r>
              <a:rPr kumimoji="1" lang="en-US" altLang="zh-CN" sz="1400" dirty="0" err="1">
                <a:latin typeface="+mn-lt"/>
              </a:rPr>
              <a:t>d</a:t>
            </a:r>
            <a:r>
              <a:rPr kumimoji="1" lang="en-US" altLang="zh-CN" sz="1400" baseline="-25000" dirty="0" err="1">
                <a:latin typeface="+mn-lt"/>
              </a:rPr>
              <a:t>n</a:t>
            </a:r>
            <a:r>
              <a:rPr kumimoji="1" lang="en-US" altLang="zh-CN" sz="1400" dirty="0">
                <a:latin typeface="+mn-lt"/>
              </a:rPr>
              <a:t>++,</a:t>
            </a:r>
            <a:r>
              <a:rPr kumimoji="1" lang="zh-CN" altLang="en-US" sz="1400" dirty="0">
                <a:latin typeface="+mn-lt"/>
              </a:rPr>
              <a:t> </a:t>
            </a:r>
            <a:r>
              <a:rPr kumimoji="1" lang="en-US" altLang="zh-CN" sz="1400" dirty="0">
                <a:latin typeface="+mn-lt"/>
              </a:rPr>
              <a:t>other</a:t>
            </a:r>
            <a:r>
              <a:rPr kumimoji="1" lang="zh-CN" altLang="en-US" sz="1400" dirty="0">
                <a:latin typeface="+mn-lt"/>
              </a:rPr>
              <a:t> </a:t>
            </a:r>
            <a:r>
              <a:rPr kumimoji="1" lang="en-US" altLang="zh-CN" sz="1400" dirty="0">
                <a:latin typeface="+mn-lt"/>
              </a:rPr>
              <a:t>no</a:t>
            </a:r>
            <a:r>
              <a:rPr kumimoji="1" lang="zh-CN" altLang="en-US" sz="1400" dirty="0">
                <a:latin typeface="+mn-lt"/>
              </a:rPr>
              <a:t> </a:t>
            </a:r>
            <a:r>
              <a:rPr kumimoji="1" lang="en-US" altLang="zh-CN" sz="1400" dirty="0">
                <a:latin typeface="+mn-lt"/>
              </a:rPr>
              <a:t>change</a:t>
            </a:r>
            <a:endParaRPr kumimoji="1" lang="en-US" altLang="zh-CN" sz="1400" dirty="0">
              <a:latin typeface="+mn-lt"/>
            </a:endParaRPr>
          </a:p>
        </p:txBody>
      </p:sp>
      <p:sp>
        <p:nvSpPr>
          <p:cNvPr id="12" name="内容占位符 2"/>
          <p:cNvSpPr txBox="1"/>
          <p:nvPr/>
        </p:nvSpPr>
        <p:spPr>
          <a:xfrm>
            <a:off x="447848" y="4748427"/>
            <a:ext cx="3232785" cy="1147104"/>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kumimoji="1" lang="en-US" altLang="zh-CN" sz="1400" dirty="0">
                <a:latin typeface="+mn-lt"/>
                <a:ea typeface="等线" panose="02010600030101010101" charset="-122"/>
              </a:rPr>
              <a:t>Check</a:t>
            </a:r>
            <a:r>
              <a:rPr kumimoji="1" lang="zh-CN" altLang="en-US" sz="1400" dirty="0">
                <a:latin typeface="+mn-lt"/>
                <a:ea typeface="等线" panose="02010600030101010101" charset="-122"/>
              </a:rPr>
              <a:t> </a:t>
            </a:r>
            <a:r>
              <a:rPr kumimoji="1" lang="en-US" altLang="zh-CN" sz="1400" dirty="0" err="1">
                <a:latin typeface="+mn-lt"/>
                <a:ea typeface="等线" panose="02010600030101010101" charset="-122"/>
              </a:rPr>
              <a:t>dj</a:t>
            </a:r>
            <a:r>
              <a:rPr kumimoji="1" lang="en-US" altLang="zh-CN" sz="1400" dirty="0">
                <a:latin typeface="+mn-lt"/>
                <a:ea typeface="等线" panose="02010600030101010101" charset="-122"/>
              </a:rPr>
              <a:t>,</a:t>
            </a:r>
            <a:r>
              <a:rPr kumimoji="1" lang="zh-CN" altLang="en-US" sz="1400" dirty="0">
                <a:latin typeface="+mn-lt"/>
                <a:ea typeface="等线" panose="02010600030101010101" charset="-122"/>
              </a:rPr>
              <a:t> </a:t>
            </a:r>
            <a:r>
              <a:rPr kumimoji="1" lang="en-US" altLang="zh-CN" sz="1400" dirty="0">
                <a:latin typeface="+mn-lt"/>
                <a:ea typeface="等线" panose="02010600030101010101" charset="-122"/>
              </a:rPr>
              <a:t>if</a:t>
            </a:r>
            <a:r>
              <a:rPr kumimoji="1" lang="zh-CN" altLang="en-US" sz="1400" dirty="0">
                <a:latin typeface="+mn-lt"/>
                <a:ea typeface="等线" panose="02010600030101010101" charset="-122"/>
              </a:rPr>
              <a:t> </a:t>
            </a:r>
            <a:r>
              <a:rPr kumimoji="1" lang="en-US" altLang="zh-CN" sz="1400" dirty="0" err="1">
                <a:latin typeface="+mn-lt"/>
                <a:ea typeface="等线" panose="02010600030101010101" charset="-122"/>
              </a:rPr>
              <a:t>dj</a:t>
            </a:r>
            <a:r>
              <a:rPr kumimoji="1" lang="zh-CN" altLang="en-US" sz="1400" dirty="0">
                <a:latin typeface="+mn-lt"/>
                <a:ea typeface="等线" panose="02010600030101010101" charset="-122"/>
              </a:rPr>
              <a:t> </a:t>
            </a:r>
            <a:r>
              <a:rPr kumimoji="1" lang="en-US" altLang="zh-CN" sz="1400" dirty="0">
                <a:latin typeface="+mn-lt"/>
                <a:ea typeface="等线" panose="02010600030101010101" charset="-122"/>
              </a:rPr>
              <a:t>==</a:t>
            </a:r>
            <a:r>
              <a:rPr kumimoji="1" lang="zh-CN" altLang="en-US" sz="1400" dirty="0">
                <a:latin typeface="+mn-lt"/>
                <a:ea typeface="等线" panose="02010600030101010101" charset="-122"/>
              </a:rPr>
              <a:t> </a:t>
            </a:r>
            <a:r>
              <a:rPr kumimoji="1" lang="en-US" altLang="zh-CN" sz="1400" dirty="0">
                <a:latin typeface="+mn-lt"/>
                <a:ea typeface="等线" panose="02010600030101010101" charset="-122"/>
              </a:rPr>
              <a:t>x</a:t>
            </a:r>
            <a:r>
              <a:rPr kumimoji="1" lang="zh-CN" altLang="en-US" sz="1400" dirty="0">
                <a:latin typeface="+mn-lt"/>
                <a:ea typeface="等线" panose="02010600030101010101" charset="-122"/>
              </a:rPr>
              <a:t> </a:t>
            </a:r>
            <a:r>
              <a:rPr kumimoji="1" lang="en-US" altLang="zh-CN" sz="1400" dirty="0">
                <a:latin typeface="+mn-lt"/>
                <a:ea typeface="等线" panose="02010600030101010101" charset="-122"/>
              </a:rPr>
              <a:t>mod</a:t>
            </a:r>
            <a:r>
              <a:rPr kumimoji="1" lang="zh-CN" altLang="en-US" sz="1400" dirty="0">
                <a:latin typeface="+mn-lt"/>
                <a:ea typeface="等线" panose="02010600030101010101" charset="-122"/>
              </a:rPr>
              <a:t> </a:t>
            </a:r>
            <a:r>
              <a:rPr kumimoji="1" lang="en-US" altLang="zh-CN" sz="1400" dirty="0">
                <a:latin typeface="+mn-lt"/>
                <a:ea typeface="等线" panose="02010600030101010101" charset="-122"/>
              </a:rPr>
              <a:t>p,</a:t>
            </a:r>
            <a:r>
              <a:rPr kumimoji="1" lang="zh-CN" altLang="en-US" sz="1400" dirty="0">
                <a:latin typeface="+mn-lt"/>
                <a:ea typeface="等线" panose="02010600030101010101" charset="-122"/>
              </a:rPr>
              <a:t> </a:t>
            </a:r>
            <a:r>
              <a:rPr kumimoji="1" lang="en-US" altLang="zh-CN" sz="1400" dirty="0">
                <a:latin typeface="+mn-lt"/>
                <a:ea typeface="等线" panose="02010600030101010101" charset="-122"/>
              </a:rPr>
              <a:t>then</a:t>
            </a:r>
            <a:r>
              <a:rPr kumimoji="1" lang="zh-CN" altLang="en-US" sz="1400" dirty="0">
                <a:latin typeface="+mn-lt"/>
                <a:ea typeface="等线" panose="02010600030101010101" charset="-122"/>
              </a:rPr>
              <a:t> </a:t>
            </a:r>
            <a:r>
              <a:rPr kumimoji="1" lang="en-US" altLang="zh-CN" sz="1400" dirty="0" err="1">
                <a:latin typeface="+mn-lt"/>
                <a:ea typeface="等线" panose="02010600030101010101" charset="-122"/>
              </a:rPr>
              <a:t>i</a:t>
            </a:r>
            <a:r>
              <a:rPr kumimoji="1" lang="zh-CN" altLang="en-US" sz="1400" dirty="0">
                <a:latin typeface="+mn-lt"/>
                <a:ea typeface="等线" panose="02010600030101010101" charset="-122"/>
              </a:rPr>
              <a:t> </a:t>
            </a:r>
            <a:r>
              <a:rPr kumimoji="1" lang="en-US" altLang="zh-CN" sz="1400" dirty="0">
                <a:latin typeface="+mn-lt"/>
                <a:ea typeface="等线" panose="02010600030101010101" charset="-122"/>
              </a:rPr>
              <a:t>&gt;</a:t>
            </a:r>
            <a:r>
              <a:rPr kumimoji="1" lang="zh-CN" altLang="en-US" sz="1400" dirty="0">
                <a:latin typeface="+mn-lt"/>
                <a:ea typeface="等线" panose="02010600030101010101" charset="-122"/>
              </a:rPr>
              <a:t> </a:t>
            </a:r>
            <a:r>
              <a:rPr kumimoji="1" lang="en-US" altLang="zh-CN" sz="1400" dirty="0">
                <a:latin typeface="+mn-lt"/>
                <a:ea typeface="等线" panose="02010600030101010101" charset="-122"/>
              </a:rPr>
              <a:t>j;</a:t>
            </a:r>
            <a:r>
              <a:rPr kumimoji="1" lang="zh-CN" altLang="en-US" sz="1400" dirty="0">
                <a:latin typeface="+mn-lt"/>
                <a:ea typeface="等线" panose="02010600030101010101" charset="-122"/>
              </a:rPr>
              <a:t> </a:t>
            </a:r>
            <a:r>
              <a:rPr kumimoji="1" lang="en-US" altLang="zh-CN" sz="1400" dirty="0">
                <a:latin typeface="+mn-lt"/>
                <a:ea typeface="等线" panose="02010600030101010101" charset="-122"/>
              </a:rPr>
              <a:t>else</a:t>
            </a:r>
            <a:r>
              <a:rPr kumimoji="1" lang="zh-CN" altLang="en-US" sz="1400" dirty="0">
                <a:latin typeface="+mn-lt"/>
                <a:ea typeface="等线" panose="02010600030101010101" charset="-122"/>
              </a:rPr>
              <a:t> </a:t>
            </a:r>
            <a:r>
              <a:rPr kumimoji="1" lang="en-US" altLang="zh-CN" sz="1400" dirty="0" err="1">
                <a:latin typeface="+mn-lt"/>
                <a:ea typeface="等线" panose="02010600030101010101" charset="-122"/>
              </a:rPr>
              <a:t>i</a:t>
            </a:r>
            <a:r>
              <a:rPr kumimoji="1" lang="zh-CN" altLang="en-US" sz="1400" dirty="0">
                <a:latin typeface="+mn-lt"/>
                <a:ea typeface="等线" panose="02010600030101010101" charset="-122"/>
              </a:rPr>
              <a:t> </a:t>
            </a:r>
            <a:r>
              <a:rPr kumimoji="1" lang="en-US" altLang="zh-CN" sz="1400">
                <a:latin typeface="+mn-lt"/>
                <a:ea typeface="等线" panose="02010600030101010101" charset="-122"/>
              </a:rPr>
              <a:t>&lt;=</a:t>
            </a:r>
            <a:r>
              <a:rPr kumimoji="1" lang="zh-CN" altLang="en-US" sz="1400">
                <a:latin typeface="+mn-lt"/>
                <a:ea typeface="等线" panose="02010600030101010101" charset="-122"/>
              </a:rPr>
              <a:t> </a:t>
            </a:r>
            <a:r>
              <a:rPr kumimoji="1" lang="en-US" altLang="zh-CN" sz="1400" dirty="0">
                <a:latin typeface="+mn-lt"/>
                <a:ea typeface="等线" panose="02010600030101010101" charset="-122"/>
              </a:rPr>
              <a:t>j</a:t>
            </a:r>
            <a:endParaRPr kumimoji="1" lang="zh-CN" altLang="en-US" sz="1400" dirty="0">
              <a:latin typeface="+mn-lt"/>
              <a:ea typeface="等线" panose="02010600030101010101" charset="-122"/>
            </a:endParaRPr>
          </a:p>
        </p:txBody>
      </p:sp>
      <p:cxnSp>
        <p:nvCxnSpPr>
          <p:cNvPr id="14" name="直接箭头连接符 13"/>
          <p:cNvCxnSpPr/>
          <p:nvPr/>
        </p:nvCxnSpPr>
        <p:spPr>
          <a:xfrm flipV="1">
            <a:off x="3376344" y="3183266"/>
            <a:ext cx="2232248" cy="1"/>
          </a:xfrm>
          <a:prstGeom prst="straightConnector1">
            <a:avLst/>
          </a:prstGeom>
          <a:ln w="15875">
            <a:solidFill>
              <a:schemeClr val="tx1"/>
            </a:solidFill>
            <a:headEnd w="lg" len="lg"/>
            <a:tailEnd type="triangle" w="med" len="med"/>
          </a:ln>
        </p:spPr>
        <p:style>
          <a:lnRef idx="1">
            <a:schemeClr val="accent1"/>
          </a:lnRef>
          <a:fillRef idx="0">
            <a:schemeClr val="accent1"/>
          </a:fillRef>
          <a:effectRef idx="0">
            <a:schemeClr val="accent1"/>
          </a:effectRef>
          <a:fontRef idx="minor">
            <a:schemeClr val="tx1"/>
          </a:fontRef>
        </p:style>
      </p:cxnSp>
      <p:sp>
        <p:nvSpPr>
          <p:cNvPr id="15" name="内容占位符 2"/>
          <p:cNvSpPr txBox="1"/>
          <p:nvPr/>
        </p:nvSpPr>
        <p:spPr>
          <a:xfrm>
            <a:off x="4127849" y="2790597"/>
            <a:ext cx="1180283" cy="384395"/>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altLang="zh-CN" sz="1400" dirty="0">
                <a:solidFill>
                  <a:schemeClr val="tx1"/>
                </a:solidFill>
                <a:latin typeface="+mn-lt"/>
              </a:rPr>
              <a:t>c=K-j</a:t>
            </a:r>
            <a:endParaRPr lang="en-US" altLang="zh-CN" sz="1400" dirty="0">
              <a:solidFill>
                <a:schemeClr val="tx1"/>
              </a:solidFill>
              <a:latin typeface="+mn-lt"/>
            </a:endParaRPr>
          </a:p>
        </p:txBody>
      </p:sp>
      <p:cxnSp>
        <p:nvCxnSpPr>
          <p:cNvPr id="16" name="直接箭头连接符 15"/>
          <p:cNvCxnSpPr/>
          <p:nvPr/>
        </p:nvCxnSpPr>
        <p:spPr>
          <a:xfrm flipV="1">
            <a:off x="3376344" y="4705240"/>
            <a:ext cx="2232248" cy="1"/>
          </a:xfrm>
          <a:prstGeom prst="straightConnector1">
            <a:avLst/>
          </a:prstGeom>
          <a:ln w="158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内容占位符 2"/>
          <p:cNvSpPr txBox="1"/>
          <p:nvPr/>
        </p:nvSpPr>
        <p:spPr>
          <a:xfrm>
            <a:off x="4084542" y="4320845"/>
            <a:ext cx="1180283" cy="384395"/>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altLang="zh-CN" sz="1400" dirty="0">
                <a:solidFill>
                  <a:schemeClr val="tx1"/>
                </a:solidFill>
                <a:latin typeface="+mn-lt"/>
              </a:rPr>
              <a:t>d</a:t>
            </a:r>
            <a:r>
              <a:rPr lang="en-US" altLang="zh-CN" sz="1400" baseline="-25000" dirty="0">
                <a:solidFill>
                  <a:schemeClr val="tx1"/>
                </a:solidFill>
                <a:latin typeface="+mn-lt"/>
              </a:rPr>
              <a:t>1</a:t>
            </a:r>
            <a:r>
              <a:rPr lang="en-US" altLang="zh-CN" sz="1400" dirty="0">
                <a:solidFill>
                  <a:schemeClr val="tx1"/>
                </a:solidFill>
                <a:latin typeface="+mn-lt"/>
              </a:rPr>
              <a:t> to d</a:t>
            </a:r>
            <a:r>
              <a:rPr lang="en-US" altLang="zh-CN" sz="1400" baseline="-25000" dirty="0">
                <a:solidFill>
                  <a:schemeClr val="tx1"/>
                </a:solidFill>
                <a:latin typeface="+mn-lt"/>
              </a:rPr>
              <a:t>10</a:t>
            </a:r>
            <a:endParaRPr lang="en-US" altLang="zh-CN" sz="1400" baseline="-25000" dirty="0">
              <a:solidFill>
                <a:schemeClr val="tx1"/>
              </a:solidFill>
              <a:latin typeface="+mn-lt"/>
            </a:endParaRPr>
          </a:p>
        </p:txBody>
      </p:sp>
      <p:sp>
        <p:nvSpPr>
          <p:cNvPr id="20" name="内容占位符 2"/>
          <p:cNvSpPr txBox="1"/>
          <p:nvPr/>
        </p:nvSpPr>
        <p:spPr>
          <a:xfrm>
            <a:off x="239472" y="941333"/>
            <a:ext cx="7212847" cy="495607"/>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000" dirty="0">
                <a:latin typeface="+mn-lt"/>
              </a:rPr>
              <a:t>Money: Bob has </a:t>
            </a:r>
            <a:r>
              <a:rPr lang="en-US" altLang="zh-CN" sz="2000" dirty="0" err="1">
                <a:latin typeface="+mn-lt"/>
              </a:rPr>
              <a:t>i</a:t>
            </a:r>
            <a:r>
              <a:rPr lang="en-US" altLang="zh-CN" sz="2000" dirty="0">
                <a:latin typeface="+mn-lt"/>
              </a:rPr>
              <a:t>, Alice has j, </a:t>
            </a:r>
            <a:r>
              <a:rPr lang="en-US" altLang="zh-CN" sz="2000" dirty="0" err="1">
                <a:latin typeface="+mn-lt"/>
              </a:rPr>
              <a:t>i</a:t>
            </a:r>
            <a:r>
              <a:rPr lang="en-US" altLang="zh-CN" sz="2000" dirty="0">
                <a:latin typeface="+mn-lt"/>
              </a:rPr>
              <a:t> and j are between 1 to 10</a:t>
            </a:r>
            <a:endParaRPr lang="en-US" altLang="zh-CN" sz="2200" dirty="0">
              <a:latin typeface="+mn-lt"/>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sp>
        <p:nvSpPr>
          <p:cNvPr id="7" name="内容占位符 2"/>
          <p:cNvSpPr txBox="1"/>
          <p:nvPr/>
        </p:nvSpPr>
        <p:spPr>
          <a:xfrm>
            <a:off x="457200" y="1263689"/>
            <a:ext cx="8229600" cy="414679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000" dirty="0">
                <a:solidFill>
                  <a:schemeClr val="tx1"/>
                </a:solidFill>
                <a:latin typeface="+mn-lt"/>
              </a:rPr>
              <a:t>Semi-honest</a:t>
            </a:r>
            <a:r>
              <a:rPr lang="zh-CN" altLang="en-US" sz="2000" dirty="0">
                <a:solidFill>
                  <a:schemeClr val="tx1"/>
                </a:solidFill>
                <a:latin typeface="+mn-lt"/>
              </a:rPr>
              <a:t> </a:t>
            </a:r>
            <a:r>
              <a:rPr lang="en-US" altLang="zh-CN" sz="2000" dirty="0">
                <a:solidFill>
                  <a:schemeClr val="tx1"/>
                </a:solidFill>
                <a:latin typeface="+mn-lt"/>
              </a:rPr>
              <a:t>adversary</a:t>
            </a:r>
            <a:endParaRPr lang="en-US" altLang="zh-CN" sz="2000" dirty="0">
              <a:solidFill>
                <a:schemeClr val="tx1"/>
              </a:solidFill>
              <a:latin typeface="+mn-lt"/>
            </a:endParaRPr>
          </a:p>
          <a:p>
            <a:pPr lvl="1"/>
            <a:r>
              <a:rPr lang="en-US" altLang="zh-CN" sz="1800" dirty="0">
                <a:solidFill>
                  <a:schemeClr val="tx1"/>
                </a:solidFill>
                <a:latin typeface="+mn-lt"/>
              </a:rPr>
              <a:t>Each party must </a:t>
            </a:r>
            <a:r>
              <a:rPr lang="en-US" altLang="zh-CN" sz="1800" b="1" dirty="0">
                <a:solidFill>
                  <a:schemeClr val="tx1"/>
                </a:solidFill>
                <a:latin typeface="+mn-lt"/>
              </a:rPr>
              <a:t>follow the protocol</a:t>
            </a:r>
            <a:endParaRPr lang="en-US" altLang="zh-CN" sz="1800" b="1" dirty="0">
              <a:solidFill>
                <a:schemeClr val="tx1"/>
              </a:solidFill>
              <a:latin typeface="+mn-lt"/>
            </a:endParaRPr>
          </a:p>
          <a:p>
            <a:r>
              <a:rPr lang="en-US" altLang="zh-CN" sz="2000" dirty="0">
                <a:solidFill>
                  <a:schemeClr val="tx1"/>
                </a:solidFill>
                <a:latin typeface="+mn-lt"/>
              </a:rPr>
              <a:t>Generic protocol</a:t>
            </a:r>
            <a:endParaRPr lang="en-US" altLang="zh-CN" sz="2000" dirty="0">
              <a:solidFill>
                <a:schemeClr val="tx1"/>
              </a:solidFill>
              <a:latin typeface="+mn-lt"/>
            </a:endParaRPr>
          </a:p>
          <a:p>
            <a:pPr lvl="1"/>
            <a:r>
              <a:rPr lang="en-US" altLang="zh-CN" sz="1800" dirty="0">
                <a:solidFill>
                  <a:schemeClr val="tx1"/>
                </a:solidFill>
                <a:latin typeface="+mn-lt"/>
              </a:rPr>
              <a:t>Can securely compute </a:t>
            </a:r>
            <a:r>
              <a:rPr lang="en-US" altLang="zh-CN" sz="1800" b="1" dirty="0">
                <a:solidFill>
                  <a:schemeClr val="tx1"/>
                </a:solidFill>
                <a:latin typeface="+mn-lt"/>
              </a:rPr>
              <a:t>any functionality</a:t>
            </a:r>
            <a:endParaRPr lang="en-US" altLang="zh-CN" sz="1800" b="1" dirty="0">
              <a:solidFill>
                <a:schemeClr val="tx1"/>
              </a:solidFill>
              <a:latin typeface="+mn-lt"/>
            </a:endParaRPr>
          </a:p>
          <a:p>
            <a:r>
              <a:rPr lang="en-US" altLang="zh-CN" sz="2000" dirty="0">
                <a:solidFill>
                  <a:schemeClr val="tx1"/>
                </a:solidFill>
                <a:latin typeface="+mn-lt"/>
              </a:rPr>
              <a:t>Multi-party computation</a:t>
            </a:r>
            <a:endParaRPr lang="en-US" altLang="zh-CN" sz="2000" dirty="0">
              <a:solidFill>
                <a:schemeClr val="tx1"/>
              </a:solidFill>
              <a:latin typeface="+mn-lt"/>
            </a:endParaRPr>
          </a:p>
          <a:p>
            <a:pPr lvl="1"/>
            <a:r>
              <a:rPr lang="en-US" altLang="zh-CN" sz="1800" dirty="0">
                <a:solidFill>
                  <a:schemeClr val="tx1"/>
                </a:solidFill>
                <a:latin typeface="+mn-lt"/>
              </a:rPr>
              <a:t>Secret sharing</a:t>
            </a:r>
            <a:endParaRPr lang="en-US" altLang="zh-CN" sz="1800" dirty="0">
              <a:solidFill>
                <a:schemeClr val="tx1"/>
              </a:solidFill>
              <a:latin typeface="+mn-lt"/>
            </a:endParaRPr>
          </a:p>
          <a:p>
            <a:r>
              <a:rPr lang="en-US" altLang="zh-CN" sz="2000" dirty="0">
                <a:solidFill>
                  <a:schemeClr val="tx1"/>
                </a:solidFill>
                <a:latin typeface="+mn-lt"/>
              </a:rPr>
              <a:t>2-party computation</a:t>
            </a:r>
            <a:endParaRPr lang="en-US" altLang="zh-CN" sz="2000" dirty="0">
              <a:solidFill>
                <a:schemeClr val="tx1"/>
              </a:solidFill>
              <a:latin typeface="+mn-lt"/>
            </a:endParaRPr>
          </a:p>
          <a:p>
            <a:pPr lvl="1"/>
            <a:r>
              <a:rPr lang="en-US" altLang="zh-CN" sz="1800" dirty="0">
                <a:solidFill>
                  <a:schemeClr val="tx1"/>
                </a:solidFill>
                <a:latin typeface="+mn-lt"/>
              </a:rPr>
              <a:t>GC(Garbled Circuits) + OT(Oblivious Transfer)</a:t>
            </a:r>
            <a:endParaRPr lang="en-US" altLang="zh-CN" sz="1800" dirty="0">
              <a:latin typeface="+mn-lt"/>
            </a:endParaRPr>
          </a:p>
        </p:txBody>
      </p:sp>
      <p:sp>
        <p:nvSpPr>
          <p:cNvPr id="8" name="标题 1"/>
          <p:cNvSpPr>
            <a:spLocks noGrp="1"/>
          </p:cNvSpPr>
          <p:nvPr>
            <p:ph type="title"/>
          </p:nvPr>
        </p:nvSpPr>
        <p:spPr>
          <a:xfrm>
            <a:off x="457200" y="228866"/>
            <a:ext cx="8229600" cy="900442"/>
          </a:xfrm>
        </p:spPr>
        <p:txBody>
          <a:bodyPr>
            <a:normAutofit/>
          </a:bodyPr>
          <a:lstStyle/>
          <a:p>
            <a:r>
              <a:rPr kumimoji="1" lang="en-US" altLang="zh-CN" sz="3200" dirty="0"/>
              <a:t>secure Multi-Party Computation (</a:t>
            </a:r>
            <a:r>
              <a:rPr kumimoji="1" lang="en-US" altLang="zh-CN" sz="3200" dirty="0" err="1"/>
              <a:t>sMPC</a:t>
            </a:r>
            <a:r>
              <a:rPr kumimoji="1" lang="en-US" altLang="zh-CN" sz="3200" dirty="0"/>
              <a:t>)</a:t>
            </a:r>
            <a:endParaRPr kumimoji="1" lang="zh-CN" altLang="en-US" sz="3200"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en-US" altLang="zh-CN" dirty="0"/>
              <a:t>HE</a:t>
            </a:r>
            <a:endParaRPr lang="zh-CN" altLang="en-US" dirty="0"/>
          </a:p>
        </p:txBody>
      </p:sp>
      <p:sp>
        <p:nvSpPr>
          <p:cNvPr id="5" name="文本占位符 4"/>
          <p:cNvSpPr>
            <a:spLocks noGrp="1"/>
          </p:cNvSpPr>
          <p:nvPr>
            <p:ph type="body" idx="1"/>
          </p:nvPr>
        </p:nvSpPr>
        <p:spPr/>
        <p:txBody>
          <a:bodyPr/>
          <a:lstStyle/>
          <a:p>
            <a:r>
              <a:rPr kumimoji="1" lang="en-US" altLang="zh-CN" dirty="0"/>
              <a:t>Homomorphic Encryption</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pic>
        <p:nvPicPr>
          <p:cNvPr id="43" name="图片 4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38956" y="2071314"/>
            <a:ext cx="720000" cy="720000"/>
          </a:xfrm>
          <a:prstGeom prst="rect">
            <a:avLst/>
          </a:prstGeom>
        </p:spPr>
      </p:pic>
      <p:sp>
        <p:nvSpPr>
          <p:cNvPr id="45" name="对话气泡: 椭圆形 44"/>
          <p:cNvSpPr/>
          <p:nvPr/>
        </p:nvSpPr>
        <p:spPr>
          <a:xfrm>
            <a:off x="179512" y="1204593"/>
            <a:ext cx="2808312" cy="900442"/>
          </a:xfrm>
          <a:prstGeom prst="wedgeEllipseCallout">
            <a:avLst>
              <a:gd name="adj1" fmla="val 39777"/>
              <a:gd name="adj2" fmla="val 5869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solidFill>
                  <a:schemeClr val="tx1"/>
                </a:solidFill>
              </a:rPr>
              <a:t>I</a:t>
            </a:r>
            <a:r>
              <a:rPr kumimoji="1" lang="zh-CN" altLang="en-US" dirty="0">
                <a:solidFill>
                  <a:schemeClr val="tx1"/>
                </a:solidFill>
              </a:rPr>
              <a:t> </a:t>
            </a:r>
            <a:r>
              <a:rPr kumimoji="1" lang="en-US" altLang="zh-CN" dirty="0">
                <a:solidFill>
                  <a:schemeClr val="tx1"/>
                </a:solidFill>
              </a:rPr>
              <a:t>have</a:t>
            </a:r>
            <a:r>
              <a:rPr kumimoji="1" lang="zh-CN" altLang="en-US" dirty="0">
                <a:solidFill>
                  <a:schemeClr val="tx1"/>
                </a:solidFill>
              </a:rPr>
              <a:t> </a:t>
            </a:r>
            <a:r>
              <a:rPr kumimoji="1" lang="en-US" altLang="zh-CN" b="1" dirty="0">
                <a:solidFill>
                  <a:schemeClr val="tx1"/>
                </a:solidFill>
              </a:rPr>
              <a:t>Data</a:t>
            </a:r>
            <a:r>
              <a:rPr kumimoji="1" lang="en-US" altLang="zh-CN" dirty="0">
                <a:solidFill>
                  <a:schemeClr val="tx1"/>
                </a:solidFill>
              </a:rPr>
              <a:t>!</a:t>
            </a:r>
            <a:endParaRPr kumimoji="1" lang="zh-CN" altLang="en-US" dirty="0">
              <a:solidFill>
                <a:schemeClr val="tx1"/>
              </a:solidFill>
            </a:endParaRPr>
          </a:p>
        </p:txBody>
      </p:sp>
      <p:sp>
        <p:nvSpPr>
          <p:cNvPr id="46" name="对话气泡: 椭圆形 45"/>
          <p:cNvSpPr/>
          <p:nvPr/>
        </p:nvSpPr>
        <p:spPr>
          <a:xfrm>
            <a:off x="6116204" y="1231104"/>
            <a:ext cx="2901677" cy="900442"/>
          </a:xfrm>
          <a:prstGeom prst="wedgeEllipseCallout">
            <a:avLst>
              <a:gd name="adj1" fmla="val -49063"/>
              <a:gd name="adj2" fmla="val 5198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solidFill>
                  <a:schemeClr val="tx1"/>
                </a:solidFill>
              </a:rPr>
              <a:t>I</a:t>
            </a:r>
            <a:r>
              <a:rPr kumimoji="1" lang="zh-CN" altLang="en-US" dirty="0">
                <a:solidFill>
                  <a:schemeClr val="tx1"/>
                </a:solidFill>
              </a:rPr>
              <a:t> </a:t>
            </a:r>
            <a:r>
              <a:rPr kumimoji="1" lang="en-US" altLang="zh-CN" dirty="0">
                <a:solidFill>
                  <a:schemeClr val="tx1"/>
                </a:solidFill>
              </a:rPr>
              <a:t>have</a:t>
            </a:r>
            <a:r>
              <a:rPr kumimoji="1" lang="zh-CN" altLang="en-US" dirty="0">
                <a:solidFill>
                  <a:schemeClr val="tx1"/>
                </a:solidFill>
              </a:rPr>
              <a:t> </a:t>
            </a:r>
            <a:r>
              <a:rPr kumimoji="1" lang="en-US" altLang="zh-CN" b="1" dirty="0">
                <a:solidFill>
                  <a:schemeClr val="tx1"/>
                </a:solidFill>
              </a:rPr>
              <a:t>computing resource</a:t>
            </a:r>
            <a:r>
              <a:rPr kumimoji="1" lang="en-US" altLang="zh-CN" dirty="0">
                <a:solidFill>
                  <a:schemeClr val="tx1"/>
                </a:solidFill>
              </a:rPr>
              <a:t>! </a:t>
            </a:r>
            <a:endParaRPr kumimoji="1" lang="en-US" altLang="zh-CN" dirty="0">
              <a:solidFill>
                <a:schemeClr val="tx1"/>
              </a:solidFill>
            </a:endParaRPr>
          </a:p>
        </p:txBody>
      </p:sp>
      <p:sp>
        <p:nvSpPr>
          <p:cNvPr id="47" name="内容占位符 2"/>
          <p:cNvSpPr txBox="1"/>
          <p:nvPr/>
        </p:nvSpPr>
        <p:spPr>
          <a:xfrm>
            <a:off x="2638956" y="2664708"/>
            <a:ext cx="720000"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Alice</a:t>
            </a:r>
            <a:endParaRPr kumimoji="1" lang="en-GB" altLang="zh-CN" sz="1800" dirty="0">
              <a:latin typeface="+mn-lt"/>
            </a:endParaRPr>
          </a:p>
        </p:txBody>
      </p:sp>
      <p:sp>
        <p:nvSpPr>
          <p:cNvPr id="48" name="内容占位符 2"/>
          <p:cNvSpPr txBox="1"/>
          <p:nvPr/>
        </p:nvSpPr>
        <p:spPr>
          <a:xfrm>
            <a:off x="4682127" y="2693951"/>
            <a:ext cx="2272545"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Bob (cloud)</a:t>
            </a:r>
            <a:endParaRPr kumimoji="1" lang="en-GB" altLang="zh-CN" sz="1800" dirty="0">
              <a:latin typeface="+mn-lt"/>
            </a:endParaRPr>
          </a:p>
        </p:txBody>
      </p:sp>
      <p:cxnSp>
        <p:nvCxnSpPr>
          <p:cNvPr id="49" name="直接箭头连接符 48"/>
          <p:cNvCxnSpPr/>
          <p:nvPr/>
        </p:nvCxnSpPr>
        <p:spPr>
          <a:xfrm flipV="1">
            <a:off x="3320877" y="2569468"/>
            <a:ext cx="1764196" cy="1"/>
          </a:xfrm>
          <a:prstGeom prst="straightConnector1">
            <a:avLst/>
          </a:prstGeom>
          <a:ln w="15875">
            <a:solidFill>
              <a:schemeClr val="tx1"/>
            </a:solidFill>
            <a:headEnd w="lg" len="lg"/>
            <a:tailEnd type="triangle" w="med" len="med"/>
          </a:ln>
        </p:spPr>
        <p:style>
          <a:lnRef idx="1">
            <a:schemeClr val="accent1"/>
          </a:lnRef>
          <a:fillRef idx="0">
            <a:schemeClr val="accent1"/>
          </a:fillRef>
          <a:effectRef idx="0">
            <a:schemeClr val="accent1"/>
          </a:effectRef>
          <a:fontRef idx="minor">
            <a:schemeClr val="tx1"/>
          </a:fontRef>
        </p:style>
      </p:cxnSp>
      <p:sp>
        <p:nvSpPr>
          <p:cNvPr id="51" name="内容占位符 2"/>
          <p:cNvSpPr>
            <a:spLocks noGrp="1"/>
          </p:cNvSpPr>
          <p:nvPr>
            <p:ph idx="1"/>
          </p:nvPr>
        </p:nvSpPr>
        <p:spPr>
          <a:xfrm>
            <a:off x="425742" y="3297802"/>
            <a:ext cx="8229600" cy="2558473"/>
          </a:xfrm>
        </p:spPr>
        <p:txBody>
          <a:bodyPr>
            <a:noAutofit/>
          </a:bodyPr>
          <a:lstStyle/>
          <a:p>
            <a:r>
              <a:rPr lang="en-US" altLang="zh-CN" sz="2000" b="0" dirty="0">
                <a:latin typeface="+mn-lt"/>
              </a:rPr>
              <a:t>Alice wants to ask Bob (e.g., a cloud) to perform calculation on her data</a:t>
            </a:r>
            <a:endParaRPr lang="en-US" altLang="zh-CN" sz="2000" b="0" dirty="0">
              <a:latin typeface="+mn-lt"/>
            </a:endParaRPr>
          </a:p>
          <a:p>
            <a:r>
              <a:rPr lang="en-US" altLang="zh-CN" sz="2000" b="0" dirty="0">
                <a:latin typeface="+mn-lt"/>
              </a:rPr>
              <a:t>Naïve method: Sending Data to Bob</a:t>
            </a:r>
            <a:endParaRPr lang="en-US" altLang="zh-CN" sz="2000" b="0" dirty="0">
              <a:latin typeface="+mn-lt"/>
            </a:endParaRPr>
          </a:p>
          <a:p>
            <a:pPr lvl="1"/>
            <a:r>
              <a:rPr lang="en-US" altLang="zh-CN" sz="1600" b="0" dirty="0">
                <a:latin typeface="+mn-lt"/>
              </a:rPr>
              <a:t>Bob will get the data</a:t>
            </a:r>
            <a:endParaRPr lang="en-US" altLang="zh-CN" sz="1600" b="0" dirty="0">
              <a:latin typeface="+mn-lt"/>
            </a:endParaRPr>
          </a:p>
          <a:p>
            <a:pPr lvl="1"/>
            <a:endParaRPr lang="en-US" altLang="zh-CN" sz="2200" dirty="0">
              <a:latin typeface="+mn-lt"/>
            </a:endParaRPr>
          </a:p>
        </p:txBody>
      </p:sp>
      <p:sp>
        <p:nvSpPr>
          <p:cNvPr id="52" name="内容占位符 2"/>
          <p:cNvSpPr txBox="1"/>
          <p:nvPr/>
        </p:nvSpPr>
        <p:spPr>
          <a:xfrm>
            <a:off x="3659902" y="2150359"/>
            <a:ext cx="936104"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2000" dirty="0">
                <a:solidFill>
                  <a:schemeClr val="tx1"/>
                </a:solidFill>
                <a:latin typeface="+mn-lt"/>
              </a:rPr>
              <a:t>Data</a:t>
            </a:r>
            <a:endParaRPr lang="en-US" altLang="zh-CN" sz="1800" b="0" dirty="0">
              <a:solidFill>
                <a:schemeClr val="tx1"/>
              </a:solidFill>
              <a:latin typeface="+mn-lt"/>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1538" y="1758418"/>
            <a:ext cx="1286706" cy="1286706"/>
          </a:xfrm>
          <a:prstGeom prst="rect">
            <a:avLst/>
          </a:prstGeom>
        </p:spPr>
      </p:pic>
      <p:sp>
        <p:nvSpPr>
          <p:cNvPr id="15" name="标题 1"/>
          <p:cNvSpPr>
            <a:spLocks noGrp="1"/>
          </p:cNvSpPr>
          <p:nvPr>
            <p:ph type="title"/>
          </p:nvPr>
        </p:nvSpPr>
        <p:spPr>
          <a:xfrm>
            <a:off x="457200" y="228866"/>
            <a:ext cx="8229600" cy="900442"/>
          </a:xfrm>
        </p:spPr>
        <p:txBody>
          <a:bodyPr>
            <a:normAutofit/>
          </a:bodyPr>
          <a:lstStyle/>
          <a:p>
            <a:r>
              <a:rPr kumimoji="1" lang="en-US" altLang="zh-CN" sz="3200" dirty="0"/>
              <a:t>Problem</a:t>
            </a:r>
            <a:endParaRPr kumimoji="1" lang="zh-CN" altLang="en-US" sz="3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normAutofit/>
          </a:bodyPr>
          <a:lstStyle/>
          <a:p>
            <a:r>
              <a:rPr kumimoji="1" lang="en-US" altLang="zh-CN" sz="3200" dirty="0"/>
              <a:t>Homomorphic Encryption (HE)</a:t>
            </a:r>
            <a:endParaRPr kumimoji="1" lang="zh-CN" altLang="en-US" sz="3200" dirty="0">
              <a:latin typeface="+mj-lt"/>
            </a:endParaRPr>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pic>
        <p:nvPicPr>
          <p:cNvPr id="43" name="图片 4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34139" y="2057198"/>
            <a:ext cx="720000" cy="720000"/>
          </a:xfrm>
          <a:prstGeom prst="rect">
            <a:avLst/>
          </a:prstGeom>
        </p:spPr>
      </p:pic>
      <p:sp>
        <p:nvSpPr>
          <p:cNvPr id="45" name="对话气泡: 椭圆形 44"/>
          <p:cNvSpPr/>
          <p:nvPr/>
        </p:nvSpPr>
        <p:spPr>
          <a:xfrm>
            <a:off x="179512" y="1204593"/>
            <a:ext cx="2088232" cy="788811"/>
          </a:xfrm>
          <a:prstGeom prst="wedgeEllipseCallout">
            <a:avLst>
              <a:gd name="adj1" fmla="val 39777"/>
              <a:gd name="adj2" fmla="val 5869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solidFill>
                  <a:schemeClr val="tx1"/>
                </a:solidFill>
              </a:rPr>
              <a:t>I</a:t>
            </a:r>
            <a:r>
              <a:rPr kumimoji="1" lang="zh-CN" altLang="en-US" dirty="0">
                <a:solidFill>
                  <a:schemeClr val="tx1"/>
                </a:solidFill>
              </a:rPr>
              <a:t> </a:t>
            </a:r>
            <a:r>
              <a:rPr kumimoji="1" lang="en-US" altLang="zh-CN" dirty="0">
                <a:solidFill>
                  <a:schemeClr val="tx1"/>
                </a:solidFill>
              </a:rPr>
              <a:t>have</a:t>
            </a:r>
            <a:r>
              <a:rPr kumimoji="1" lang="zh-CN" altLang="en-US" dirty="0">
                <a:solidFill>
                  <a:schemeClr val="tx1"/>
                </a:solidFill>
              </a:rPr>
              <a:t> </a:t>
            </a:r>
            <a:r>
              <a:rPr kumimoji="1" lang="en-US" altLang="zh-CN" b="1" dirty="0">
                <a:solidFill>
                  <a:schemeClr val="tx1"/>
                </a:solidFill>
              </a:rPr>
              <a:t>Data</a:t>
            </a:r>
            <a:r>
              <a:rPr kumimoji="1" lang="en-US" altLang="zh-CN" dirty="0">
                <a:solidFill>
                  <a:schemeClr val="tx1"/>
                </a:solidFill>
              </a:rPr>
              <a:t>!</a:t>
            </a:r>
            <a:endParaRPr kumimoji="1" lang="zh-CN" altLang="en-US" dirty="0">
              <a:solidFill>
                <a:schemeClr val="tx1"/>
              </a:solidFill>
            </a:endParaRPr>
          </a:p>
        </p:txBody>
      </p:sp>
      <p:sp>
        <p:nvSpPr>
          <p:cNvPr id="46" name="对话气泡: 椭圆形 45"/>
          <p:cNvSpPr/>
          <p:nvPr/>
        </p:nvSpPr>
        <p:spPr>
          <a:xfrm>
            <a:off x="6116204" y="1231104"/>
            <a:ext cx="2901677" cy="900442"/>
          </a:xfrm>
          <a:prstGeom prst="wedgeEllipseCallout">
            <a:avLst>
              <a:gd name="adj1" fmla="val -49063"/>
              <a:gd name="adj2" fmla="val 5198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solidFill>
                  <a:schemeClr val="tx1"/>
                </a:solidFill>
              </a:rPr>
              <a:t>I</a:t>
            </a:r>
            <a:r>
              <a:rPr kumimoji="1" lang="zh-CN" altLang="en-US" dirty="0">
                <a:solidFill>
                  <a:schemeClr val="tx1"/>
                </a:solidFill>
              </a:rPr>
              <a:t> </a:t>
            </a:r>
            <a:r>
              <a:rPr kumimoji="1" lang="en-US" altLang="zh-CN" dirty="0">
                <a:solidFill>
                  <a:schemeClr val="tx1"/>
                </a:solidFill>
              </a:rPr>
              <a:t>have</a:t>
            </a:r>
            <a:r>
              <a:rPr kumimoji="1" lang="zh-CN" altLang="en-US" dirty="0">
                <a:solidFill>
                  <a:schemeClr val="tx1"/>
                </a:solidFill>
              </a:rPr>
              <a:t> </a:t>
            </a:r>
            <a:r>
              <a:rPr kumimoji="1" lang="en-US" altLang="zh-CN" b="1" dirty="0">
                <a:solidFill>
                  <a:schemeClr val="tx1"/>
                </a:solidFill>
              </a:rPr>
              <a:t>computing resource</a:t>
            </a:r>
            <a:r>
              <a:rPr kumimoji="1" lang="en-US" altLang="zh-CN" dirty="0">
                <a:solidFill>
                  <a:schemeClr val="tx1"/>
                </a:solidFill>
              </a:rPr>
              <a:t>! </a:t>
            </a:r>
            <a:endParaRPr kumimoji="1" lang="en-US" altLang="zh-CN" dirty="0">
              <a:solidFill>
                <a:schemeClr val="tx1"/>
              </a:solidFill>
            </a:endParaRPr>
          </a:p>
        </p:txBody>
      </p:sp>
      <p:sp>
        <p:nvSpPr>
          <p:cNvPr id="47" name="内容占位符 2"/>
          <p:cNvSpPr txBox="1"/>
          <p:nvPr/>
        </p:nvSpPr>
        <p:spPr>
          <a:xfrm>
            <a:off x="2034139" y="2650592"/>
            <a:ext cx="720000"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Alice</a:t>
            </a:r>
            <a:endParaRPr kumimoji="1" lang="en-GB" altLang="zh-CN" sz="1800" dirty="0">
              <a:latin typeface="+mn-lt"/>
            </a:endParaRPr>
          </a:p>
        </p:txBody>
      </p:sp>
      <p:sp>
        <p:nvSpPr>
          <p:cNvPr id="48" name="内容占位符 2"/>
          <p:cNvSpPr txBox="1"/>
          <p:nvPr/>
        </p:nvSpPr>
        <p:spPr>
          <a:xfrm>
            <a:off x="4682127" y="2693951"/>
            <a:ext cx="2272545"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Bob (cloud)</a:t>
            </a:r>
            <a:endParaRPr kumimoji="1" lang="en-GB" altLang="zh-CN" sz="1800" dirty="0">
              <a:latin typeface="+mn-lt"/>
            </a:endParaRPr>
          </a:p>
        </p:txBody>
      </p:sp>
      <p:cxnSp>
        <p:nvCxnSpPr>
          <p:cNvPr id="49" name="直接箭头连接符 48"/>
          <p:cNvCxnSpPr/>
          <p:nvPr/>
        </p:nvCxnSpPr>
        <p:spPr>
          <a:xfrm flipV="1">
            <a:off x="2876384" y="3361557"/>
            <a:ext cx="2245154" cy="1"/>
          </a:xfrm>
          <a:prstGeom prst="straightConnector1">
            <a:avLst/>
          </a:prstGeom>
          <a:ln w="15875">
            <a:solidFill>
              <a:schemeClr val="tx1"/>
            </a:solidFill>
            <a:headEnd w="lg" len="lg"/>
            <a:tailEnd type="triangle" w="med" len="med"/>
          </a:ln>
        </p:spPr>
        <p:style>
          <a:lnRef idx="1">
            <a:schemeClr val="accent1"/>
          </a:lnRef>
          <a:fillRef idx="0">
            <a:schemeClr val="accent1"/>
          </a:fillRef>
          <a:effectRef idx="0">
            <a:schemeClr val="accent1"/>
          </a:effectRef>
          <a:fontRef idx="minor">
            <a:schemeClr val="tx1"/>
          </a:fontRef>
        </p:style>
      </p:cxnSp>
      <p:sp>
        <p:nvSpPr>
          <p:cNvPr id="52" name="内容占位符 2"/>
          <p:cNvSpPr txBox="1"/>
          <p:nvPr/>
        </p:nvSpPr>
        <p:spPr>
          <a:xfrm>
            <a:off x="2540481" y="3034993"/>
            <a:ext cx="2883759" cy="30461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400" b="0" dirty="0">
                <a:solidFill>
                  <a:schemeClr val="tx1"/>
                </a:solidFill>
                <a:latin typeface="+mn-lt"/>
              </a:rPr>
              <a:t>CT=encrypt(Key, Data)</a:t>
            </a:r>
            <a:endParaRPr lang="en-US" altLang="zh-CN" sz="1400" b="0" dirty="0">
              <a:solidFill>
                <a:schemeClr val="tx1"/>
              </a:solidFill>
              <a:latin typeface="+mn-lt"/>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1538" y="1758418"/>
            <a:ext cx="1286706" cy="1286706"/>
          </a:xfrm>
          <a:prstGeom prst="rect">
            <a:avLst/>
          </a:prstGeom>
        </p:spPr>
      </p:pic>
      <p:cxnSp>
        <p:nvCxnSpPr>
          <p:cNvPr id="16" name="直接箭头连接符 15"/>
          <p:cNvCxnSpPr/>
          <p:nvPr/>
        </p:nvCxnSpPr>
        <p:spPr>
          <a:xfrm flipV="1">
            <a:off x="2876384" y="3803792"/>
            <a:ext cx="2245154" cy="1"/>
          </a:xfrm>
          <a:prstGeom prst="straightConnector1">
            <a:avLst/>
          </a:prstGeom>
          <a:ln w="15875">
            <a:solidFill>
              <a:schemeClr val="tx1"/>
            </a:solidFill>
            <a:headEnd w="lg" len="lg"/>
            <a:tailEnd type="triangle" w="med" len="med"/>
          </a:ln>
        </p:spPr>
        <p:style>
          <a:lnRef idx="1">
            <a:schemeClr val="accent1"/>
          </a:lnRef>
          <a:fillRef idx="0">
            <a:schemeClr val="accent1"/>
          </a:fillRef>
          <a:effectRef idx="0">
            <a:schemeClr val="accent1"/>
          </a:effectRef>
          <a:fontRef idx="minor">
            <a:schemeClr val="tx1"/>
          </a:fontRef>
        </p:style>
      </p:cxnSp>
      <p:sp>
        <p:nvSpPr>
          <p:cNvPr id="17" name="内容占位符 2"/>
          <p:cNvSpPr txBox="1"/>
          <p:nvPr/>
        </p:nvSpPr>
        <p:spPr>
          <a:xfrm>
            <a:off x="2540480" y="3487358"/>
            <a:ext cx="2883759" cy="30461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400" b="0" dirty="0">
                <a:solidFill>
                  <a:schemeClr val="tx1"/>
                </a:solidFill>
                <a:latin typeface="+mn-lt"/>
              </a:rPr>
              <a:t>Function f()</a:t>
            </a:r>
            <a:endParaRPr lang="en-US" altLang="zh-CN" sz="1400" b="0" dirty="0">
              <a:solidFill>
                <a:schemeClr val="tx1"/>
              </a:solidFill>
              <a:latin typeface="+mn-lt"/>
            </a:endParaRPr>
          </a:p>
        </p:txBody>
      </p:sp>
      <p:cxnSp>
        <p:nvCxnSpPr>
          <p:cNvPr id="18" name="直接箭头连接符 17"/>
          <p:cNvCxnSpPr/>
          <p:nvPr/>
        </p:nvCxnSpPr>
        <p:spPr>
          <a:xfrm flipV="1">
            <a:off x="2876384" y="4441676"/>
            <a:ext cx="2245154" cy="1"/>
          </a:xfrm>
          <a:prstGeom prst="straightConnector1">
            <a:avLst/>
          </a:prstGeom>
          <a:ln w="158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内容占位符 2"/>
          <p:cNvSpPr txBox="1"/>
          <p:nvPr/>
        </p:nvSpPr>
        <p:spPr>
          <a:xfrm>
            <a:off x="2267744" y="4080793"/>
            <a:ext cx="3851163" cy="337717"/>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400" b="0" dirty="0">
                <a:solidFill>
                  <a:schemeClr val="tx1"/>
                </a:solidFill>
                <a:latin typeface="+mn-lt"/>
              </a:rPr>
              <a:t>CT'= Evaluate(f, CT) = Encrypt(Key, f(Data))</a:t>
            </a:r>
            <a:endParaRPr lang="en-US" altLang="zh-CN" sz="1400" b="0" dirty="0">
              <a:solidFill>
                <a:schemeClr val="tx1"/>
              </a:solidFill>
              <a:latin typeface="+mn-lt"/>
            </a:endParaRPr>
          </a:p>
        </p:txBody>
      </p:sp>
      <p:sp>
        <p:nvSpPr>
          <p:cNvPr id="20" name="内容占位符 2"/>
          <p:cNvSpPr txBox="1"/>
          <p:nvPr/>
        </p:nvSpPr>
        <p:spPr>
          <a:xfrm>
            <a:off x="1107778" y="4820187"/>
            <a:ext cx="2883759" cy="30461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400" b="0" dirty="0">
                <a:solidFill>
                  <a:schemeClr val="tx1"/>
                </a:solidFill>
                <a:latin typeface="+mn-lt"/>
              </a:rPr>
              <a:t>Get f(Data) = Decrypt(Key, CT')</a:t>
            </a:r>
            <a:endParaRPr lang="en-US" altLang="zh-CN" sz="1400" b="0" dirty="0">
              <a:solidFill>
                <a:schemeClr val="tx1"/>
              </a:solidFill>
              <a:latin typeface="+mn-l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normAutofit/>
          </a:bodyPr>
          <a:lstStyle/>
          <a:p>
            <a:r>
              <a:rPr kumimoji="1" lang="en-US" altLang="zh-CN" sz="3200" dirty="0"/>
              <a:t>SWHE and FHE</a:t>
            </a:r>
            <a:endParaRPr kumimoji="1" lang="zh-CN" altLang="en-US" sz="3200" dirty="0">
              <a:latin typeface="+mj-lt"/>
            </a:endParaRPr>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mc:AlternateContent xmlns:mc="http://schemas.openxmlformats.org/markup-compatibility/2006">
        <mc:Choice xmlns:a14="http://schemas.microsoft.com/office/drawing/2010/main" Requires="a14">
          <p:sp>
            <p:nvSpPr>
              <p:cNvPr id="21" name="内容占位符 2"/>
              <p:cNvSpPr txBox="1"/>
              <p:nvPr/>
            </p:nvSpPr>
            <p:spPr>
              <a:xfrm>
                <a:off x="323528" y="1309648"/>
                <a:ext cx="8229600" cy="414679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等线" panose="02010600030101010101" charset="-122"/>
                    <a:ea typeface="等线" panose="02010600030101010101" charset="-122"/>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000" dirty="0">
                    <a:latin typeface="+mn-lt"/>
                  </a:rPr>
                  <a:t>HE: Homomorphic Encryption</a:t>
                </a:r>
                <a:endParaRPr lang="en-US" altLang="zh-CN" sz="2000" dirty="0">
                  <a:latin typeface="+mn-lt"/>
                </a:endParaRPr>
              </a:p>
              <a:p>
                <a:pPr lvl="1"/>
                <a14:m>
                  <m:oMath xmlns:m="http://schemas.openxmlformats.org/officeDocument/2006/math">
                    <m:r>
                      <a:rPr lang="en-US" altLang="zh-CN" sz="1800" b="1" i="1" smtClean="0">
                        <a:latin typeface="Cambria Math" panose="02040503050406030204" pitchFamily="18" charset="0"/>
                      </a:rPr>
                      <m:t>𝑬𝒏𝒄</m:t>
                    </m:r>
                    <m:d>
                      <m:dPr>
                        <m:ctrlPr>
                          <a:rPr lang="en-US" altLang="zh-CN" sz="1800" b="1" i="1" smtClean="0">
                            <a:latin typeface="Cambria Math" panose="02040503050406030204" pitchFamily="18" charset="0"/>
                          </a:rPr>
                        </m:ctrlPr>
                      </m:dPr>
                      <m:e>
                        <m:r>
                          <a:rPr lang="en-US" altLang="zh-CN" sz="1800" b="1" i="1" smtClean="0">
                            <a:latin typeface="Cambria Math" panose="02040503050406030204" pitchFamily="18" charset="0"/>
                          </a:rPr>
                          <m:t>𝒇</m:t>
                        </m:r>
                        <m:d>
                          <m:dPr>
                            <m:ctrlPr>
                              <a:rPr lang="en-US" altLang="zh-CN" sz="1800" b="1" i="1" smtClean="0">
                                <a:latin typeface="Cambria Math" panose="02040503050406030204" pitchFamily="18" charset="0"/>
                              </a:rPr>
                            </m:ctrlPr>
                          </m:dPr>
                          <m:e>
                            <m:r>
                              <a:rPr lang="en-US" altLang="zh-CN" sz="1800" b="1" i="1" smtClean="0">
                                <a:latin typeface="Cambria Math" panose="02040503050406030204" pitchFamily="18" charset="0"/>
                              </a:rPr>
                              <m:t>𝒎</m:t>
                            </m:r>
                            <m:r>
                              <a:rPr lang="en-US" altLang="zh-CN" sz="1800" b="1" i="1" baseline="-25000" smtClean="0">
                                <a:latin typeface="Cambria Math" panose="02040503050406030204" pitchFamily="18" charset="0"/>
                              </a:rPr>
                              <m:t>𝟏</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𝒎</m:t>
                            </m:r>
                            <m:r>
                              <a:rPr lang="en-US" altLang="zh-CN" sz="1800" b="1" i="1" baseline="-25000" smtClean="0">
                                <a:latin typeface="Cambria Math" panose="02040503050406030204" pitchFamily="18" charset="0"/>
                              </a:rPr>
                              <m:t>𝟐</m:t>
                            </m:r>
                          </m:e>
                        </m:d>
                      </m:e>
                    </m:d>
                    <m:r>
                      <a:rPr lang="en-US" altLang="zh-CN" sz="1800" b="1" i="1" smtClean="0">
                        <a:latin typeface="Cambria Math" panose="02040503050406030204" pitchFamily="18" charset="0"/>
                      </a:rPr>
                      <m:t>=</m:t>
                    </m:r>
                    <m:sSub>
                      <m:sSubPr>
                        <m:ctrlPr>
                          <a:rPr lang="en-US" altLang="zh-CN" sz="1800" b="1" i="1" smtClean="0">
                            <a:latin typeface="Cambria Math" panose="02040503050406030204" pitchFamily="18" charset="0"/>
                          </a:rPr>
                        </m:ctrlPr>
                      </m:sSubPr>
                      <m:e>
                        <m:r>
                          <a:rPr lang="en-US" altLang="zh-CN" sz="1800" b="1" i="1" smtClean="0">
                            <a:latin typeface="Cambria Math" panose="02040503050406030204" pitchFamily="18" charset="0"/>
                          </a:rPr>
                          <m:t>𝑬𝒗𝒂𝒍</m:t>
                        </m:r>
                      </m:e>
                      <m:sub>
                        <m:r>
                          <a:rPr lang="en-US" altLang="zh-CN" sz="1800" b="1" i="1" smtClean="0">
                            <a:latin typeface="Cambria Math" panose="02040503050406030204" pitchFamily="18" charset="0"/>
                          </a:rPr>
                          <m:t>𝒇</m:t>
                        </m:r>
                      </m:sub>
                    </m:sSub>
                    <m:d>
                      <m:dPr>
                        <m:ctrlPr>
                          <a:rPr lang="en-US" altLang="zh-CN" sz="1800" b="1" i="1" smtClean="0">
                            <a:latin typeface="Cambria Math" panose="02040503050406030204" pitchFamily="18" charset="0"/>
                          </a:rPr>
                        </m:ctrlPr>
                      </m:dPr>
                      <m:e>
                        <m:r>
                          <a:rPr lang="en-US" altLang="zh-CN" sz="1800" b="1" i="1" smtClean="0">
                            <a:latin typeface="Cambria Math" panose="02040503050406030204" pitchFamily="18" charset="0"/>
                          </a:rPr>
                          <m:t>𝑬𝒏𝒄</m:t>
                        </m:r>
                        <m:d>
                          <m:dPr>
                            <m:ctrlPr>
                              <a:rPr lang="en-US" altLang="zh-CN" sz="1800" b="1" i="1" smtClean="0">
                                <a:latin typeface="Cambria Math" panose="02040503050406030204" pitchFamily="18" charset="0"/>
                              </a:rPr>
                            </m:ctrlPr>
                          </m:dPr>
                          <m:e>
                            <m:r>
                              <a:rPr lang="en-US" altLang="zh-CN" sz="1800" b="1" i="1" smtClean="0">
                                <a:latin typeface="Cambria Math" panose="02040503050406030204" pitchFamily="18" charset="0"/>
                              </a:rPr>
                              <m:t>𝒎</m:t>
                            </m:r>
                            <m:r>
                              <a:rPr lang="en-US" altLang="zh-CN" sz="1800" b="1" i="1" baseline="-25000" smtClean="0">
                                <a:latin typeface="Cambria Math" panose="02040503050406030204" pitchFamily="18" charset="0"/>
                              </a:rPr>
                              <m:t>𝟏</m:t>
                            </m:r>
                          </m:e>
                        </m:d>
                        <m:r>
                          <a:rPr lang="en-US" altLang="zh-CN" sz="1800" b="1" i="1" smtClean="0">
                            <a:latin typeface="Cambria Math" panose="02040503050406030204" pitchFamily="18" charset="0"/>
                          </a:rPr>
                          <m:t>, </m:t>
                        </m:r>
                        <m:r>
                          <a:rPr lang="en-US" altLang="zh-CN" sz="1800" b="1" i="1" smtClean="0">
                            <a:latin typeface="Cambria Math" panose="02040503050406030204" pitchFamily="18" charset="0"/>
                          </a:rPr>
                          <m:t>𝑬𝒏𝒄</m:t>
                        </m:r>
                        <m:d>
                          <m:dPr>
                            <m:ctrlPr>
                              <a:rPr lang="en-US" altLang="zh-CN" sz="1800" b="1" i="1" smtClean="0">
                                <a:latin typeface="Cambria Math" panose="02040503050406030204" pitchFamily="18" charset="0"/>
                              </a:rPr>
                            </m:ctrlPr>
                          </m:dPr>
                          <m:e>
                            <m:r>
                              <a:rPr lang="en-US" altLang="zh-CN" sz="1800" b="1" i="1" smtClean="0">
                                <a:latin typeface="Cambria Math" panose="02040503050406030204" pitchFamily="18" charset="0"/>
                              </a:rPr>
                              <m:t>𝒎</m:t>
                            </m:r>
                            <m:r>
                              <a:rPr lang="en-US" altLang="zh-CN" sz="1800" b="1" i="1" baseline="-25000" smtClean="0">
                                <a:latin typeface="Cambria Math" panose="02040503050406030204" pitchFamily="18" charset="0"/>
                              </a:rPr>
                              <m:t>𝟐</m:t>
                            </m:r>
                          </m:e>
                        </m:d>
                      </m:e>
                    </m:d>
                  </m:oMath>
                </a14:m>
                <a:endParaRPr lang="en-US" altLang="zh-CN" sz="1800" b="1" dirty="0">
                  <a:latin typeface="+mn-lt"/>
                </a:endParaRPr>
              </a:p>
              <a:p>
                <a:r>
                  <a:rPr lang="en-US" altLang="zh-CN" sz="2000" dirty="0">
                    <a:latin typeface="+mn-lt"/>
                  </a:rPr>
                  <a:t>SWHE: </a:t>
                </a:r>
                <a:r>
                  <a:rPr lang="en-US" altLang="zh-CN" sz="2000" dirty="0" err="1">
                    <a:latin typeface="+mn-lt"/>
                  </a:rPr>
                  <a:t>SomeWhat</a:t>
                </a:r>
                <a:r>
                  <a:rPr lang="en-US" altLang="zh-CN" sz="2000" dirty="0">
                    <a:latin typeface="+mn-lt"/>
                  </a:rPr>
                  <a:t> Homomorphic Encryption</a:t>
                </a:r>
                <a:endParaRPr lang="en-US" altLang="zh-CN" sz="2000" dirty="0">
                  <a:latin typeface="+mn-lt"/>
                </a:endParaRPr>
              </a:p>
              <a:p>
                <a:pPr lvl="1"/>
                <a:r>
                  <a:rPr lang="en-US" altLang="zh-CN" sz="1800" dirty="0">
                    <a:latin typeface="+mn-lt"/>
                  </a:rPr>
                  <a:t>Support </a:t>
                </a:r>
                <a:r>
                  <a:rPr lang="en-US" altLang="zh-CN" sz="1800" b="1" dirty="0">
                    <a:latin typeface="+mn-lt"/>
                  </a:rPr>
                  <a:t>limited</a:t>
                </a:r>
                <a:r>
                  <a:rPr lang="en-US" altLang="zh-CN" sz="1800" dirty="0">
                    <a:latin typeface="+mn-lt"/>
                  </a:rPr>
                  <a:t> kinds</a:t>
                </a:r>
                <a:r>
                  <a:rPr lang="zh-CN" altLang="en-US" sz="1800" dirty="0">
                    <a:latin typeface="+mn-lt"/>
                  </a:rPr>
                  <a:t> </a:t>
                </a:r>
                <a:r>
                  <a:rPr lang="en-US" altLang="zh-CN" sz="1800" dirty="0">
                    <a:latin typeface="+mn-lt"/>
                  </a:rPr>
                  <a:t>and</a:t>
                </a:r>
                <a:r>
                  <a:rPr lang="zh-CN" altLang="en-US" sz="1800" dirty="0">
                    <a:latin typeface="+mn-lt"/>
                  </a:rPr>
                  <a:t> </a:t>
                </a:r>
                <a:r>
                  <a:rPr lang="en-US" altLang="zh-CN" sz="1800" dirty="0">
                    <a:latin typeface="+mn-lt"/>
                  </a:rPr>
                  <a:t>times of operation</a:t>
                </a:r>
                <a:endParaRPr lang="en-US" altLang="zh-CN" sz="1800" dirty="0">
                  <a:latin typeface="+mn-lt"/>
                </a:endParaRPr>
              </a:p>
              <a:p>
                <a:pPr lvl="1"/>
                <a14:m>
                  <m:oMath xmlns:m="http://schemas.openxmlformats.org/officeDocument/2006/math">
                    <m:r>
                      <a:rPr lang="en-US" altLang="zh-CN" sz="1800" b="1" i="1">
                        <a:latin typeface="Cambria Math" panose="02040503050406030204" pitchFamily="18" charset="0"/>
                      </a:rPr>
                      <m:t>𝒇</m:t>
                    </m:r>
                    <m:d>
                      <m:dPr>
                        <m:ctrlPr>
                          <a:rPr lang="en-US" altLang="zh-CN" sz="1800" b="1" i="1">
                            <a:latin typeface="Cambria Math" panose="02040503050406030204" pitchFamily="18" charset="0"/>
                          </a:rPr>
                        </m:ctrlPr>
                      </m:dPr>
                      <m:e>
                        <m:r>
                          <a:rPr lang="en-US" altLang="zh-CN" sz="1800" b="1" i="1">
                            <a:latin typeface="Cambria Math" panose="02040503050406030204" pitchFamily="18" charset="0"/>
                          </a:rPr>
                          <m:t>𝒎</m:t>
                        </m:r>
                        <m:r>
                          <a:rPr lang="en-US" altLang="zh-CN" sz="1800" b="1" i="1" baseline="-25000">
                            <a:latin typeface="Cambria Math" panose="02040503050406030204" pitchFamily="18" charset="0"/>
                          </a:rPr>
                          <m:t>𝟏</m:t>
                        </m:r>
                        <m:r>
                          <a:rPr lang="en-US" altLang="zh-CN" sz="1800" b="1" i="1">
                            <a:latin typeface="Cambria Math" panose="02040503050406030204" pitchFamily="18" charset="0"/>
                          </a:rPr>
                          <m:t>,</m:t>
                        </m:r>
                        <m:r>
                          <a:rPr lang="en-US" altLang="zh-CN" sz="1800" b="1" i="1">
                            <a:latin typeface="Cambria Math" panose="02040503050406030204" pitchFamily="18" charset="0"/>
                          </a:rPr>
                          <m:t>𝒎</m:t>
                        </m:r>
                        <m:r>
                          <a:rPr lang="en-US" altLang="zh-CN" sz="1800" b="1" i="1" baseline="-25000">
                            <a:latin typeface="Cambria Math" panose="02040503050406030204" pitchFamily="18" charset="0"/>
                          </a:rPr>
                          <m:t>𝟐</m:t>
                        </m:r>
                      </m:e>
                    </m:d>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𝒎</m:t>
                    </m:r>
                    <m:r>
                      <a:rPr lang="en-US" altLang="zh-CN" sz="1800" b="1" i="1" baseline="-25000" smtClean="0">
                        <a:latin typeface="Cambria Math" panose="02040503050406030204" pitchFamily="18" charset="0"/>
                      </a:rPr>
                      <m:t>𝟏</m:t>
                    </m:r>
                    <m:r>
                      <a:rPr lang="en-US" altLang="zh-CN" sz="1800" b="1" i="1" smtClean="0">
                        <a:latin typeface="Cambria Math" panose="02040503050406030204" pitchFamily="18" charset="0"/>
                        <a:ea typeface="Cambria Math" panose="02040503050406030204" pitchFamily="18" charset="0"/>
                      </a:rPr>
                      <m:t>∙</m:t>
                    </m:r>
                    <m:r>
                      <a:rPr lang="en-US" altLang="zh-CN" sz="1800" b="1" i="1" smtClean="0">
                        <a:latin typeface="Cambria Math" panose="02040503050406030204" pitchFamily="18" charset="0"/>
                      </a:rPr>
                      <m:t>𝒎</m:t>
                    </m:r>
                    <m:r>
                      <a:rPr lang="en-US" altLang="zh-CN" sz="1800" b="1" i="1" baseline="-25000" smtClean="0">
                        <a:latin typeface="Cambria Math" panose="02040503050406030204" pitchFamily="18" charset="0"/>
                      </a:rPr>
                      <m:t>𝟐</m:t>
                    </m:r>
                  </m:oMath>
                </a14:m>
                <a:r>
                  <a:rPr lang="en-US" altLang="zh-CN" sz="1800" b="1" baseline="-25000" dirty="0">
                    <a:latin typeface="+mn-lt"/>
                  </a:rPr>
                  <a:t> </a:t>
                </a:r>
                <a:r>
                  <a:rPr lang="en-US" altLang="zh-CN" sz="1800" dirty="0">
                    <a:latin typeface="+mn-lt"/>
                  </a:rPr>
                  <a:t>(e.g., RSA)</a:t>
                </a:r>
                <a:endParaRPr lang="en-US" altLang="zh-CN" sz="1800" baseline="-25000" dirty="0">
                  <a:latin typeface="+mn-lt"/>
                </a:endParaRPr>
              </a:p>
              <a:p>
                <a:pPr lvl="1"/>
                <a14:m>
                  <m:oMath xmlns:m="http://schemas.openxmlformats.org/officeDocument/2006/math">
                    <m:r>
                      <a:rPr lang="en-US" altLang="zh-CN" sz="1800" b="1" i="1">
                        <a:latin typeface="Cambria Math" panose="02040503050406030204" pitchFamily="18" charset="0"/>
                      </a:rPr>
                      <m:t>𝒇</m:t>
                    </m:r>
                    <m:d>
                      <m:dPr>
                        <m:ctrlPr>
                          <a:rPr lang="en-US" altLang="zh-CN" sz="1800" b="1" i="1">
                            <a:latin typeface="Cambria Math" panose="02040503050406030204" pitchFamily="18" charset="0"/>
                          </a:rPr>
                        </m:ctrlPr>
                      </m:dPr>
                      <m:e>
                        <m:r>
                          <a:rPr lang="en-US" altLang="zh-CN" sz="1800" b="1" i="1">
                            <a:latin typeface="Cambria Math" panose="02040503050406030204" pitchFamily="18" charset="0"/>
                          </a:rPr>
                          <m:t>𝒎</m:t>
                        </m:r>
                        <m:r>
                          <a:rPr lang="en-US" altLang="zh-CN" sz="1800" b="1" i="1" baseline="-25000">
                            <a:latin typeface="Cambria Math" panose="02040503050406030204" pitchFamily="18" charset="0"/>
                          </a:rPr>
                          <m:t>𝟏</m:t>
                        </m:r>
                        <m:r>
                          <a:rPr lang="en-US" altLang="zh-CN" sz="1800" b="1" i="1">
                            <a:latin typeface="Cambria Math" panose="02040503050406030204" pitchFamily="18" charset="0"/>
                          </a:rPr>
                          <m:t>,</m:t>
                        </m:r>
                        <m:r>
                          <a:rPr lang="en-US" altLang="zh-CN" sz="1800" b="1" i="1">
                            <a:latin typeface="Cambria Math" panose="02040503050406030204" pitchFamily="18" charset="0"/>
                          </a:rPr>
                          <m:t>𝒎</m:t>
                        </m:r>
                        <m:r>
                          <a:rPr lang="en-US" altLang="zh-CN" sz="1800" b="1" i="1" baseline="-25000">
                            <a:latin typeface="Cambria Math" panose="02040503050406030204" pitchFamily="18" charset="0"/>
                          </a:rPr>
                          <m:t>𝟐</m:t>
                        </m:r>
                      </m:e>
                    </m:d>
                    <m:r>
                      <a:rPr lang="en-US" altLang="zh-CN" sz="1800" b="1" i="1">
                        <a:latin typeface="Cambria Math" panose="02040503050406030204" pitchFamily="18" charset="0"/>
                      </a:rPr>
                      <m:t>=</m:t>
                    </m:r>
                    <m:r>
                      <a:rPr lang="en-US" altLang="zh-CN" sz="1800" b="1" i="1">
                        <a:latin typeface="Cambria Math" panose="02040503050406030204" pitchFamily="18" charset="0"/>
                      </a:rPr>
                      <m:t>𝒎</m:t>
                    </m:r>
                    <m:r>
                      <a:rPr lang="en-US" altLang="zh-CN" sz="1800" b="1" i="1" baseline="-25000">
                        <a:latin typeface="Cambria Math" panose="02040503050406030204" pitchFamily="18" charset="0"/>
                      </a:rPr>
                      <m:t>𝟏</m:t>
                    </m:r>
                    <m:r>
                      <a:rPr lang="en-US" altLang="zh-CN" sz="1800" b="1" i="1" smtClean="0">
                        <a:latin typeface="Cambria Math" panose="02040503050406030204" pitchFamily="18" charset="0"/>
                      </a:rPr>
                      <m:t>+</m:t>
                    </m:r>
                    <m:r>
                      <a:rPr lang="en-US" altLang="zh-CN" sz="1800" b="1" i="1">
                        <a:latin typeface="Cambria Math" panose="02040503050406030204" pitchFamily="18" charset="0"/>
                      </a:rPr>
                      <m:t>𝒎</m:t>
                    </m:r>
                    <m:r>
                      <a:rPr lang="en-US" altLang="zh-CN" sz="1800" b="1" i="1" baseline="-25000" smtClean="0">
                        <a:latin typeface="Cambria Math" panose="02040503050406030204" pitchFamily="18" charset="0"/>
                      </a:rPr>
                      <m:t>𝟐</m:t>
                    </m:r>
                  </m:oMath>
                </a14:m>
                <a:r>
                  <a:rPr lang="zh-CN" altLang="en-US" sz="1800" dirty="0">
                    <a:latin typeface="+mn-lt"/>
                  </a:rPr>
                  <a:t> </a:t>
                </a:r>
                <a:r>
                  <a:rPr lang="en-US" altLang="zh-CN" sz="1800" dirty="0">
                    <a:latin typeface="+mn-lt"/>
                  </a:rPr>
                  <a:t>(e.g., </a:t>
                </a:r>
                <a:r>
                  <a:rPr lang="en-US" altLang="zh-CN" sz="1800" dirty="0" err="1">
                    <a:latin typeface="+mn-lt"/>
                  </a:rPr>
                  <a:t>Paillier</a:t>
                </a:r>
                <a:r>
                  <a:rPr lang="en-US" altLang="zh-CN" sz="1800" dirty="0">
                    <a:latin typeface="+mn-lt"/>
                  </a:rPr>
                  <a:t>)</a:t>
                </a:r>
                <a:r>
                  <a:rPr lang="zh-CN" altLang="en-US" sz="1800" dirty="0">
                    <a:latin typeface="+mn-lt"/>
                  </a:rPr>
                  <a:t> </a:t>
                </a:r>
                <a:endParaRPr lang="en-US" altLang="zh-CN" sz="1800" dirty="0">
                  <a:latin typeface="+mn-lt"/>
                </a:endParaRPr>
              </a:p>
              <a:p>
                <a:r>
                  <a:rPr lang="en-US" altLang="zh-CN" sz="2000" dirty="0">
                    <a:latin typeface="+mn-lt"/>
                  </a:rPr>
                  <a:t>FHE: Full Homomorphic Encryption</a:t>
                </a:r>
                <a:endParaRPr lang="en-US" altLang="zh-CN" sz="2000" dirty="0">
                  <a:latin typeface="+mn-lt"/>
                </a:endParaRPr>
              </a:p>
              <a:p>
                <a:pPr lvl="1"/>
                <a:r>
                  <a:rPr lang="en-US" altLang="zh-CN" sz="1800" dirty="0">
                    <a:latin typeface="+mn-lt"/>
                  </a:rPr>
                  <a:t>Support </a:t>
                </a:r>
                <a:r>
                  <a:rPr lang="en-US" altLang="zh-CN" sz="1800" dirty="0">
                    <a:solidFill>
                      <a:srgbClr val="0096FF"/>
                    </a:solidFill>
                    <a:latin typeface="+mn-lt"/>
                  </a:rPr>
                  <a:t>all</a:t>
                </a:r>
                <a:r>
                  <a:rPr lang="en-US" altLang="zh-CN" sz="1800" dirty="0">
                    <a:latin typeface="+mn-lt"/>
                  </a:rPr>
                  <a:t> kinds of operations</a:t>
                </a:r>
                <a:endParaRPr lang="en-US" altLang="zh-CN" sz="1800" dirty="0">
                  <a:latin typeface="+mn-lt"/>
                </a:endParaRPr>
              </a:p>
              <a:p>
                <a:pPr lvl="1"/>
                <a:r>
                  <a:rPr lang="en-US" altLang="zh-CN" sz="1800" dirty="0">
                    <a:latin typeface="+mn-lt"/>
                  </a:rPr>
                  <a:t>Addition and multiplication</a:t>
                </a:r>
                <a:endParaRPr lang="en-US" altLang="zh-CN" sz="1800" dirty="0">
                  <a:latin typeface="+mn-lt"/>
                </a:endParaRPr>
              </a:p>
            </p:txBody>
          </p:sp>
        </mc:Choice>
        <mc:Fallback>
          <p:sp>
            <p:nvSpPr>
              <p:cNvPr id="21" name="内容占位符 2"/>
              <p:cNvSpPr txBox="1">
                <a:spLocks noRot="1" noChangeAspect="1" noMove="1" noResize="1" noEditPoints="1" noAdjustHandles="1" noChangeArrowheads="1" noChangeShapeType="1" noTextEdit="1"/>
              </p:cNvSpPr>
              <p:nvPr/>
            </p:nvSpPr>
            <p:spPr>
              <a:xfrm>
                <a:off x="323528" y="1309648"/>
                <a:ext cx="8229600" cy="4146790"/>
              </a:xfrm>
              <a:prstGeom prst="rect">
                <a:avLst/>
              </a:prstGeom>
              <a:blipFill rotWithShape="1">
                <a:blip r:embed="rId1"/>
                <a:stretch>
                  <a:fillRect l="-4" t="-7" r="4" b="12"/>
                </a:stretch>
              </a:blipFill>
            </p:spPr>
            <p:txBody>
              <a:bodyPr/>
              <a:lstStyle/>
              <a:p>
                <a:r>
                  <a:rPr lang="zh-CN" altLang="en-US">
                    <a:noFill/>
                  </a:rPr>
                  <a:t> </a:t>
                </a:r>
              </a:p>
            </p:txBody>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TEE</a:t>
            </a:r>
            <a:endParaRPr lang="zh-CN" altLang="en-US" dirty="0"/>
          </a:p>
        </p:txBody>
      </p:sp>
      <p:sp>
        <p:nvSpPr>
          <p:cNvPr id="5" name="文本占位符 4"/>
          <p:cNvSpPr>
            <a:spLocks noGrp="1"/>
          </p:cNvSpPr>
          <p:nvPr>
            <p:ph type="body" idx="1"/>
          </p:nvPr>
        </p:nvSpPr>
        <p:spPr/>
        <p:txBody>
          <a:bodyPr/>
          <a:lstStyle/>
          <a:p>
            <a:r>
              <a:rPr lang="en-US" altLang="zh-CN" dirty="0"/>
              <a:t>Trusted</a:t>
            </a:r>
            <a:r>
              <a:rPr lang="zh-CN" altLang="en-US" dirty="0"/>
              <a:t> </a:t>
            </a:r>
            <a:r>
              <a:rPr lang="en-US" altLang="zh-CN" dirty="0"/>
              <a:t>Execution</a:t>
            </a:r>
            <a:r>
              <a:rPr lang="zh-CN" altLang="en-US" dirty="0"/>
              <a:t> </a:t>
            </a:r>
            <a:r>
              <a:rPr lang="en-US" altLang="zh-CN" dirty="0"/>
              <a:t>Environment</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normAutofit/>
          </a:bodyPr>
          <a:lstStyle/>
          <a:p>
            <a:r>
              <a:rPr lang="en-US" altLang="zh-CN" sz="3200" spc="57" dirty="0"/>
              <a:t>Problem</a:t>
            </a:r>
            <a:endParaRPr kumimoji="1" lang="zh-CN" altLang="en-US" sz="3200" dirty="0">
              <a:latin typeface="+mj-lt"/>
            </a:endParaRPr>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pic>
        <p:nvPicPr>
          <p:cNvPr id="43" name="图片 4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38956" y="2071314"/>
            <a:ext cx="720000" cy="720000"/>
          </a:xfrm>
          <a:prstGeom prst="rect">
            <a:avLst/>
          </a:prstGeom>
        </p:spPr>
      </p:pic>
      <p:sp>
        <p:nvSpPr>
          <p:cNvPr id="45" name="对话气泡: 椭圆形 44"/>
          <p:cNvSpPr/>
          <p:nvPr/>
        </p:nvSpPr>
        <p:spPr>
          <a:xfrm>
            <a:off x="179512" y="1204593"/>
            <a:ext cx="2808312" cy="900442"/>
          </a:xfrm>
          <a:prstGeom prst="wedgeEllipseCallout">
            <a:avLst>
              <a:gd name="adj1" fmla="val 39777"/>
              <a:gd name="adj2" fmla="val 5869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solidFill>
                  <a:schemeClr val="tx1"/>
                </a:solidFill>
              </a:rPr>
              <a:t>I</a:t>
            </a:r>
            <a:r>
              <a:rPr kumimoji="1" lang="zh-CN" altLang="en-US" dirty="0">
                <a:solidFill>
                  <a:schemeClr val="tx1"/>
                </a:solidFill>
              </a:rPr>
              <a:t> </a:t>
            </a:r>
            <a:r>
              <a:rPr kumimoji="1" lang="en-US" altLang="zh-CN" dirty="0">
                <a:solidFill>
                  <a:schemeClr val="tx1"/>
                </a:solidFill>
              </a:rPr>
              <a:t>have</a:t>
            </a:r>
            <a:r>
              <a:rPr kumimoji="1" lang="zh-CN" altLang="en-US" dirty="0">
                <a:solidFill>
                  <a:schemeClr val="tx1"/>
                </a:solidFill>
              </a:rPr>
              <a:t> </a:t>
            </a:r>
            <a:r>
              <a:rPr kumimoji="1" lang="en-US" altLang="zh-CN" b="1" dirty="0">
                <a:solidFill>
                  <a:schemeClr val="tx1"/>
                </a:solidFill>
              </a:rPr>
              <a:t>Data</a:t>
            </a:r>
            <a:r>
              <a:rPr kumimoji="1" lang="en-US" altLang="zh-CN" dirty="0">
                <a:solidFill>
                  <a:schemeClr val="tx1"/>
                </a:solidFill>
              </a:rPr>
              <a:t>!</a:t>
            </a:r>
            <a:endParaRPr kumimoji="1" lang="zh-CN" altLang="en-US" dirty="0">
              <a:solidFill>
                <a:schemeClr val="tx1"/>
              </a:solidFill>
            </a:endParaRPr>
          </a:p>
        </p:txBody>
      </p:sp>
      <p:sp>
        <p:nvSpPr>
          <p:cNvPr id="46" name="对话气泡: 椭圆形 45"/>
          <p:cNvSpPr/>
          <p:nvPr/>
        </p:nvSpPr>
        <p:spPr>
          <a:xfrm>
            <a:off x="6116204" y="1231104"/>
            <a:ext cx="2901677" cy="900442"/>
          </a:xfrm>
          <a:prstGeom prst="wedgeEllipseCallout">
            <a:avLst>
              <a:gd name="adj1" fmla="val -49063"/>
              <a:gd name="adj2" fmla="val 5198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solidFill>
                  <a:schemeClr val="tx1"/>
                </a:solidFill>
              </a:rPr>
              <a:t>I</a:t>
            </a:r>
            <a:r>
              <a:rPr kumimoji="1" lang="zh-CN" altLang="en-US" dirty="0">
                <a:solidFill>
                  <a:schemeClr val="tx1"/>
                </a:solidFill>
              </a:rPr>
              <a:t> </a:t>
            </a:r>
            <a:r>
              <a:rPr kumimoji="1" lang="en-US" altLang="zh-CN" dirty="0">
                <a:solidFill>
                  <a:schemeClr val="tx1"/>
                </a:solidFill>
              </a:rPr>
              <a:t>have</a:t>
            </a:r>
            <a:r>
              <a:rPr kumimoji="1" lang="zh-CN" altLang="en-US" dirty="0">
                <a:solidFill>
                  <a:schemeClr val="tx1"/>
                </a:solidFill>
              </a:rPr>
              <a:t> </a:t>
            </a:r>
            <a:r>
              <a:rPr kumimoji="1" lang="en-US" altLang="zh-CN" b="1" dirty="0">
                <a:solidFill>
                  <a:schemeClr val="tx1"/>
                </a:solidFill>
              </a:rPr>
              <a:t>computing resource</a:t>
            </a:r>
            <a:r>
              <a:rPr kumimoji="1" lang="en-US" altLang="zh-CN" dirty="0">
                <a:solidFill>
                  <a:schemeClr val="tx1"/>
                </a:solidFill>
              </a:rPr>
              <a:t>! </a:t>
            </a:r>
            <a:endParaRPr kumimoji="1" lang="en-US" altLang="zh-CN" dirty="0">
              <a:solidFill>
                <a:schemeClr val="tx1"/>
              </a:solidFill>
            </a:endParaRPr>
          </a:p>
        </p:txBody>
      </p:sp>
      <p:sp>
        <p:nvSpPr>
          <p:cNvPr id="47" name="内容占位符 2"/>
          <p:cNvSpPr txBox="1"/>
          <p:nvPr/>
        </p:nvSpPr>
        <p:spPr>
          <a:xfrm>
            <a:off x="2638956" y="2664708"/>
            <a:ext cx="720000"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Alice</a:t>
            </a:r>
            <a:endParaRPr kumimoji="1" lang="en-GB" altLang="zh-CN" sz="1800" dirty="0">
              <a:latin typeface="+mn-lt"/>
            </a:endParaRPr>
          </a:p>
        </p:txBody>
      </p:sp>
      <p:sp>
        <p:nvSpPr>
          <p:cNvPr id="48" name="内容占位符 2"/>
          <p:cNvSpPr txBox="1"/>
          <p:nvPr/>
        </p:nvSpPr>
        <p:spPr>
          <a:xfrm>
            <a:off x="4682127" y="2693951"/>
            <a:ext cx="2272545"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Bob (cloud)</a:t>
            </a:r>
            <a:endParaRPr kumimoji="1" lang="en-GB" altLang="zh-CN" sz="1800" dirty="0">
              <a:latin typeface="+mn-lt"/>
            </a:endParaRPr>
          </a:p>
        </p:txBody>
      </p:sp>
      <p:cxnSp>
        <p:nvCxnSpPr>
          <p:cNvPr id="49" name="直接箭头连接符 48"/>
          <p:cNvCxnSpPr/>
          <p:nvPr/>
        </p:nvCxnSpPr>
        <p:spPr>
          <a:xfrm flipV="1">
            <a:off x="3320877" y="2569468"/>
            <a:ext cx="1764196" cy="1"/>
          </a:xfrm>
          <a:prstGeom prst="straightConnector1">
            <a:avLst/>
          </a:prstGeom>
          <a:ln w="15875">
            <a:solidFill>
              <a:schemeClr val="tx1"/>
            </a:solidFill>
            <a:headEnd w="lg" len="lg"/>
            <a:tailEnd type="triangle" w="med" len="med"/>
          </a:ln>
        </p:spPr>
        <p:style>
          <a:lnRef idx="1">
            <a:schemeClr val="accent1"/>
          </a:lnRef>
          <a:fillRef idx="0">
            <a:schemeClr val="accent1"/>
          </a:fillRef>
          <a:effectRef idx="0">
            <a:schemeClr val="accent1"/>
          </a:effectRef>
          <a:fontRef idx="minor">
            <a:schemeClr val="tx1"/>
          </a:fontRef>
        </p:style>
      </p:cxnSp>
      <p:sp>
        <p:nvSpPr>
          <p:cNvPr id="51" name="内容占位符 2"/>
          <p:cNvSpPr>
            <a:spLocks noGrp="1"/>
          </p:cNvSpPr>
          <p:nvPr>
            <p:ph idx="1"/>
          </p:nvPr>
        </p:nvSpPr>
        <p:spPr>
          <a:xfrm>
            <a:off x="425742" y="3297802"/>
            <a:ext cx="8229600" cy="2558473"/>
          </a:xfrm>
        </p:spPr>
        <p:txBody>
          <a:bodyPr>
            <a:noAutofit/>
          </a:bodyPr>
          <a:lstStyle/>
          <a:p>
            <a:r>
              <a:rPr lang="en-US" altLang="zh-CN" sz="2000" b="0" dirty="0">
                <a:latin typeface="+mn-lt"/>
              </a:rPr>
              <a:t>Alice wants to ask Bob (e.g., a cloud) to perform calculation on her data</a:t>
            </a:r>
            <a:endParaRPr lang="en-US" altLang="zh-CN" sz="2000" b="0" dirty="0">
              <a:latin typeface="+mn-lt"/>
            </a:endParaRPr>
          </a:p>
          <a:p>
            <a:r>
              <a:rPr lang="en-US" altLang="zh-CN" sz="2000" b="0" dirty="0">
                <a:latin typeface="+mn-lt"/>
              </a:rPr>
              <a:t>Naïve method: Sending Data to Bob</a:t>
            </a:r>
            <a:endParaRPr lang="en-US" altLang="zh-CN" sz="2000" b="0" dirty="0">
              <a:latin typeface="+mn-lt"/>
            </a:endParaRPr>
          </a:p>
          <a:p>
            <a:endParaRPr lang="en-US" altLang="zh-CN" sz="1800" b="0" dirty="0">
              <a:latin typeface="+mn-lt"/>
            </a:endParaRPr>
          </a:p>
          <a:p>
            <a:pPr lvl="1"/>
            <a:endParaRPr lang="en-US" altLang="zh-CN" sz="2200" dirty="0">
              <a:latin typeface="+mn-lt"/>
            </a:endParaRPr>
          </a:p>
        </p:txBody>
      </p:sp>
      <p:sp>
        <p:nvSpPr>
          <p:cNvPr id="52" name="内容占位符 2"/>
          <p:cNvSpPr txBox="1"/>
          <p:nvPr/>
        </p:nvSpPr>
        <p:spPr>
          <a:xfrm>
            <a:off x="3659902" y="2150359"/>
            <a:ext cx="936104"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2000" dirty="0">
                <a:solidFill>
                  <a:schemeClr val="tx1"/>
                </a:solidFill>
                <a:latin typeface="+mn-lt"/>
              </a:rPr>
              <a:t>Data</a:t>
            </a:r>
            <a:endParaRPr lang="en-US" altLang="zh-CN" sz="1800" b="0" dirty="0">
              <a:solidFill>
                <a:schemeClr val="tx1"/>
              </a:solidFill>
              <a:latin typeface="+mn-lt"/>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1538" y="1758418"/>
            <a:ext cx="1286706" cy="12867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normAutofit/>
          </a:bodyPr>
          <a:lstStyle/>
          <a:p>
            <a:r>
              <a:rPr lang="en-US" altLang="zh-CN" sz="3200" spc="57" dirty="0"/>
              <a:t>Trusted Execution Environment (TEE)</a:t>
            </a:r>
            <a:endParaRPr kumimoji="1" lang="zh-CN" altLang="en-US" sz="3200" dirty="0">
              <a:latin typeface="+mj-lt"/>
            </a:endParaRPr>
          </a:p>
        </p:txBody>
      </p:sp>
      <p:sp>
        <p:nvSpPr>
          <p:cNvPr id="4" name="灯片编号占位符 3"/>
          <p:cNvSpPr>
            <a:spLocks noGrp="1"/>
          </p:cNvSpPr>
          <p:nvPr>
            <p:ph type="sldNum" sz="quarter" idx="12"/>
          </p:nvPr>
        </p:nvSpPr>
        <p:spPr>
          <a:xfrm>
            <a:off x="6553200" y="5245409"/>
            <a:ext cx="2133600" cy="304271"/>
          </a:xfrm>
        </p:spPr>
        <p:txBody>
          <a:bodyPr/>
          <a:lstStyle/>
          <a:p>
            <a:fld id="{ADE361C3-C043-4A6E-BDCE-8DA1E7D90A3B}" type="slidenum">
              <a:rPr lang="zh-CN" altLang="en-US" smtClean="0"/>
            </a:fld>
            <a:endParaRPr lang="zh-CN" altLang="en-US"/>
          </a:p>
        </p:txBody>
      </p:sp>
      <p:pic>
        <p:nvPicPr>
          <p:cNvPr id="43" name="图片 4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38956" y="2071314"/>
            <a:ext cx="720000" cy="720000"/>
          </a:xfrm>
          <a:prstGeom prst="rect">
            <a:avLst/>
          </a:prstGeom>
        </p:spPr>
      </p:pic>
      <p:sp>
        <p:nvSpPr>
          <p:cNvPr id="45" name="对话气泡: 椭圆形 44"/>
          <p:cNvSpPr/>
          <p:nvPr/>
        </p:nvSpPr>
        <p:spPr>
          <a:xfrm>
            <a:off x="179512" y="1204593"/>
            <a:ext cx="2808312" cy="900442"/>
          </a:xfrm>
          <a:prstGeom prst="wedgeEllipseCallout">
            <a:avLst>
              <a:gd name="adj1" fmla="val 39777"/>
              <a:gd name="adj2" fmla="val 5869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solidFill>
                  <a:schemeClr val="tx1"/>
                </a:solidFill>
              </a:rPr>
              <a:t>I</a:t>
            </a:r>
            <a:r>
              <a:rPr kumimoji="1" lang="zh-CN" altLang="en-US" dirty="0">
                <a:solidFill>
                  <a:schemeClr val="tx1"/>
                </a:solidFill>
              </a:rPr>
              <a:t> </a:t>
            </a:r>
            <a:r>
              <a:rPr kumimoji="1" lang="en-US" altLang="zh-CN" dirty="0">
                <a:solidFill>
                  <a:schemeClr val="tx1"/>
                </a:solidFill>
              </a:rPr>
              <a:t>have</a:t>
            </a:r>
            <a:r>
              <a:rPr kumimoji="1" lang="zh-CN" altLang="en-US" dirty="0">
                <a:solidFill>
                  <a:schemeClr val="tx1"/>
                </a:solidFill>
              </a:rPr>
              <a:t> </a:t>
            </a:r>
            <a:r>
              <a:rPr kumimoji="1" lang="en-US" altLang="zh-CN" b="1" dirty="0">
                <a:solidFill>
                  <a:schemeClr val="tx1"/>
                </a:solidFill>
              </a:rPr>
              <a:t>Data</a:t>
            </a:r>
            <a:r>
              <a:rPr kumimoji="1" lang="en-US" altLang="zh-CN" dirty="0">
                <a:solidFill>
                  <a:schemeClr val="tx1"/>
                </a:solidFill>
              </a:rPr>
              <a:t>!</a:t>
            </a:r>
            <a:endParaRPr kumimoji="1" lang="zh-CN" altLang="en-US" dirty="0">
              <a:solidFill>
                <a:schemeClr val="tx1"/>
              </a:solidFill>
            </a:endParaRPr>
          </a:p>
        </p:txBody>
      </p:sp>
      <p:sp>
        <p:nvSpPr>
          <p:cNvPr id="46" name="对话气泡: 椭圆形 45"/>
          <p:cNvSpPr/>
          <p:nvPr/>
        </p:nvSpPr>
        <p:spPr>
          <a:xfrm>
            <a:off x="6116204" y="1231104"/>
            <a:ext cx="2901677" cy="900442"/>
          </a:xfrm>
          <a:prstGeom prst="wedgeEllipseCallout">
            <a:avLst>
              <a:gd name="adj1" fmla="val -49063"/>
              <a:gd name="adj2" fmla="val 5198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solidFill>
                  <a:schemeClr val="tx1"/>
                </a:solidFill>
              </a:rPr>
              <a:t>I</a:t>
            </a:r>
            <a:r>
              <a:rPr kumimoji="1" lang="zh-CN" altLang="en-US" dirty="0">
                <a:solidFill>
                  <a:schemeClr val="tx1"/>
                </a:solidFill>
              </a:rPr>
              <a:t> </a:t>
            </a:r>
            <a:r>
              <a:rPr kumimoji="1" lang="en-US" altLang="zh-CN" dirty="0">
                <a:solidFill>
                  <a:schemeClr val="tx1"/>
                </a:solidFill>
              </a:rPr>
              <a:t>have</a:t>
            </a:r>
            <a:r>
              <a:rPr kumimoji="1" lang="zh-CN" altLang="en-US" dirty="0">
                <a:solidFill>
                  <a:schemeClr val="tx1"/>
                </a:solidFill>
              </a:rPr>
              <a:t> </a:t>
            </a:r>
            <a:r>
              <a:rPr kumimoji="1" lang="en-US" altLang="zh-CN" b="1" dirty="0">
                <a:solidFill>
                  <a:schemeClr val="tx1"/>
                </a:solidFill>
              </a:rPr>
              <a:t>computing resource </a:t>
            </a:r>
            <a:r>
              <a:rPr kumimoji="1" lang="en-US" altLang="zh-CN" dirty="0">
                <a:solidFill>
                  <a:schemeClr val="tx1"/>
                </a:solidFill>
              </a:rPr>
              <a:t>and</a:t>
            </a:r>
            <a:r>
              <a:rPr kumimoji="1" lang="en-US" altLang="zh-CN" b="1" dirty="0">
                <a:solidFill>
                  <a:schemeClr val="tx1"/>
                </a:solidFill>
              </a:rPr>
              <a:t> </a:t>
            </a:r>
            <a:r>
              <a:rPr kumimoji="1" lang="en-US" altLang="zh-CN" b="1" dirty="0">
                <a:solidFill>
                  <a:srgbClr val="C00000"/>
                </a:solidFill>
              </a:rPr>
              <a:t>enclave</a:t>
            </a:r>
            <a:r>
              <a:rPr kumimoji="1" lang="en-US" altLang="zh-CN" b="1" dirty="0">
                <a:solidFill>
                  <a:schemeClr val="tx1"/>
                </a:solidFill>
              </a:rPr>
              <a:t>!</a:t>
            </a:r>
            <a:r>
              <a:rPr kumimoji="1" lang="en-US" altLang="zh-CN" dirty="0">
                <a:solidFill>
                  <a:schemeClr val="tx1"/>
                </a:solidFill>
              </a:rPr>
              <a:t> </a:t>
            </a:r>
            <a:endParaRPr kumimoji="1" lang="en-US" altLang="zh-CN" dirty="0">
              <a:solidFill>
                <a:schemeClr val="tx1"/>
              </a:solidFill>
            </a:endParaRPr>
          </a:p>
        </p:txBody>
      </p:sp>
      <p:sp>
        <p:nvSpPr>
          <p:cNvPr id="47" name="内容占位符 2"/>
          <p:cNvSpPr txBox="1"/>
          <p:nvPr/>
        </p:nvSpPr>
        <p:spPr>
          <a:xfrm>
            <a:off x="2638956" y="2664708"/>
            <a:ext cx="720000"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Alice</a:t>
            </a:r>
            <a:endParaRPr kumimoji="1" lang="en-GB" altLang="zh-CN" sz="1800" dirty="0">
              <a:latin typeface="+mn-lt"/>
            </a:endParaRPr>
          </a:p>
        </p:txBody>
      </p:sp>
      <p:sp>
        <p:nvSpPr>
          <p:cNvPr id="48" name="内容占位符 2"/>
          <p:cNvSpPr txBox="1"/>
          <p:nvPr/>
        </p:nvSpPr>
        <p:spPr>
          <a:xfrm>
            <a:off x="4682127" y="2693951"/>
            <a:ext cx="2272545"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kumimoji="1" lang="en-US" altLang="zh-CN" sz="1800" b="0" dirty="0">
                <a:latin typeface="+mn-lt"/>
              </a:rPr>
              <a:t>Bob (cloud)</a:t>
            </a:r>
            <a:endParaRPr kumimoji="1" lang="en-GB" altLang="zh-CN" sz="1800" dirty="0">
              <a:latin typeface="+mn-lt"/>
            </a:endParaRPr>
          </a:p>
        </p:txBody>
      </p:sp>
      <p:cxnSp>
        <p:nvCxnSpPr>
          <p:cNvPr id="49" name="直接箭头连接符 48"/>
          <p:cNvCxnSpPr/>
          <p:nvPr/>
        </p:nvCxnSpPr>
        <p:spPr>
          <a:xfrm flipV="1">
            <a:off x="3320877" y="2569468"/>
            <a:ext cx="1764196" cy="1"/>
          </a:xfrm>
          <a:prstGeom prst="straightConnector1">
            <a:avLst/>
          </a:prstGeom>
          <a:ln w="15875">
            <a:solidFill>
              <a:schemeClr val="tx1"/>
            </a:solidFill>
            <a:headEnd w="lg" len="lg"/>
            <a:tailEnd type="triangle" w="med" len="med"/>
          </a:ln>
        </p:spPr>
        <p:style>
          <a:lnRef idx="1">
            <a:schemeClr val="accent1"/>
          </a:lnRef>
          <a:fillRef idx="0">
            <a:schemeClr val="accent1"/>
          </a:fillRef>
          <a:effectRef idx="0">
            <a:schemeClr val="accent1"/>
          </a:effectRef>
          <a:fontRef idx="minor">
            <a:schemeClr val="tx1"/>
          </a:fontRef>
        </p:style>
      </p:cxnSp>
      <p:sp>
        <p:nvSpPr>
          <p:cNvPr id="51" name="内容占位符 2"/>
          <p:cNvSpPr>
            <a:spLocks noGrp="1"/>
          </p:cNvSpPr>
          <p:nvPr>
            <p:ph idx="1"/>
          </p:nvPr>
        </p:nvSpPr>
        <p:spPr>
          <a:xfrm>
            <a:off x="425742" y="3297802"/>
            <a:ext cx="8229600" cy="2558473"/>
          </a:xfrm>
        </p:spPr>
        <p:txBody>
          <a:bodyPr>
            <a:noAutofit/>
          </a:bodyPr>
          <a:lstStyle/>
          <a:p>
            <a:r>
              <a:rPr lang="en-US" altLang="zh-CN" sz="2000" b="0" dirty="0">
                <a:latin typeface="+mn-lt"/>
              </a:rPr>
              <a:t>Alice wants to ask Bob (e.g., a cloud) to perform calculation on her data</a:t>
            </a:r>
            <a:endParaRPr lang="en-US" altLang="zh-CN" sz="2000" b="0" dirty="0">
              <a:latin typeface="+mn-lt"/>
            </a:endParaRPr>
          </a:p>
          <a:p>
            <a:r>
              <a:rPr lang="en-US" altLang="zh-CN" sz="2000" b="0" strike="sngStrike" dirty="0">
                <a:latin typeface="+mn-lt"/>
              </a:rPr>
              <a:t>Naïve method: Sending Data to Bob</a:t>
            </a:r>
            <a:endParaRPr lang="en-US" altLang="zh-CN" sz="2000" b="0" strike="sngStrike" dirty="0">
              <a:latin typeface="+mn-lt"/>
            </a:endParaRPr>
          </a:p>
          <a:p>
            <a:r>
              <a:rPr lang="en-US" altLang="zh-CN" sz="2000" dirty="0">
                <a:latin typeface="+mn-lt"/>
              </a:rPr>
              <a:t>Bob cloud construct an</a:t>
            </a:r>
            <a:r>
              <a:rPr lang="zh-CN" altLang="en-US" sz="2000" dirty="0">
                <a:latin typeface="+mn-lt"/>
              </a:rPr>
              <a:t> </a:t>
            </a:r>
            <a:r>
              <a:rPr lang="en-US" altLang="zh-CN" sz="2000" dirty="0">
                <a:latin typeface="+mn-lt"/>
              </a:rPr>
              <a:t>enclave</a:t>
            </a:r>
            <a:endParaRPr lang="en-US" altLang="zh-CN" sz="2000" dirty="0">
              <a:latin typeface="+mn-lt"/>
            </a:endParaRPr>
          </a:p>
        </p:txBody>
      </p:sp>
      <p:sp>
        <p:nvSpPr>
          <p:cNvPr id="52" name="内容占位符 2"/>
          <p:cNvSpPr txBox="1"/>
          <p:nvPr/>
        </p:nvSpPr>
        <p:spPr>
          <a:xfrm>
            <a:off x="3659902" y="2150359"/>
            <a:ext cx="936104" cy="384400"/>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anose="020B0604020202020204" pitchFamily="34" charset="0"/>
              <a:buChar char="•"/>
              <a:defRPr sz="2600" b="1"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b="0" i="0" kern="12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2000" dirty="0">
                <a:solidFill>
                  <a:schemeClr val="tx1"/>
                </a:solidFill>
                <a:latin typeface="+mn-lt"/>
              </a:rPr>
              <a:t>Data</a:t>
            </a:r>
            <a:endParaRPr lang="en-US" altLang="zh-CN" sz="1800" b="0" dirty="0">
              <a:solidFill>
                <a:schemeClr val="tx1"/>
              </a:solidFill>
              <a:latin typeface="+mn-lt"/>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1538" y="1758418"/>
            <a:ext cx="1286706" cy="1286706"/>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TEE:</a:t>
            </a:r>
            <a:r>
              <a:rPr lang="zh-CN" altLang="en-US" dirty="0"/>
              <a:t> </a:t>
            </a:r>
            <a:r>
              <a:rPr lang="en-US" altLang="zh-CN" dirty="0"/>
              <a:t>Trusted</a:t>
            </a:r>
            <a:r>
              <a:rPr lang="zh-CN" altLang="en-US" dirty="0"/>
              <a:t> </a:t>
            </a:r>
            <a:r>
              <a:rPr lang="en-US" altLang="zh-CN" dirty="0"/>
              <a:t>Execution</a:t>
            </a:r>
            <a:r>
              <a:rPr lang="zh-CN" altLang="en-US" dirty="0"/>
              <a:t> </a:t>
            </a:r>
            <a:r>
              <a:rPr lang="en-US" altLang="zh-CN" dirty="0"/>
              <a:t>Environment</a:t>
            </a:r>
            <a:endParaRPr kumimoji="1" lang="zh-CN" altLang="en-US" dirty="0"/>
          </a:p>
        </p:txBody>
      </p:sp>
      <p:sp>
        <p:nvSpPr>
          <p:cNvPr id="3" name="内容占位符 2"/>
          <p:cNvSpPr>
            <a:spLocks noGrp="1"/>
          </p:cNvSpPr>
          <p:nvPr>
            <p:ph idx="1"/>
          </p:nvPr>
        </p:nvSpPr>
        <p:spPr>
          <a:xfrm>
            <a:off x="107504" y="1345332"/>
            <a:ext cx="8229600" cy="3704658"/>
          </a:xfrm>
        </p:spPr>
        <p:txBody>
          <a:bodyPr>
            <a:noAutofit/>
          </a:bodyPr>
          <a:lstStyle/>
          <a:p>
            <a:pPr>
              <a:lnSpc>
                <a:spcPct val="134000"/>
              </a:lnSpc>
            </a:pPr>
            <a:r>
              <a:rPr kumimoji="1" lang="en-GB" altLang="zh-CN" sz="1800" dirty="0">
                <a:latin typeface="+mn-lt"/>
              </a:rPr>
              <a:t>Widely deployed </a:t>
            </a:r>
            <a:r>
              <a:rPr kumimoji="1" lang="en-US" altLang="zh-CN" sz="1800" dirty="0">
                <a:latin typeface="+mn-lt"/>
              </a:rPr>
              <a:t>on</a:t>
            </a:r>
            <a:r>
              <a:rPr kumimoji="1" lang="en-GB" altLang="zh-CN" sz="1800" dirty="0">
                <a:latin typeface="+mn-lt"/>
              </a:rPr>
              <a:t> mobile devices</a:t>
            </a:r>
            <a:endParaRPr kumimoji="1" lang="en-GB" altLang="zh-CN" sz="1800" dirty="0">
              <a:latin typeface="+mn-lt"/>
            </a:endParaRPr>
          </a:p>
          <a:p>
            <a:pPr lvl="1">
              <a:lnSpc>
                <a:spcPct val="134000"/>
              </a:lnSpc>
            </a:pPr>
            <a:r>
              <a:rPr kumimoji="1" lang="en-GB" altLang="zh-CN" sz="1800" dirty="0">
                <a:latin typeface="+mn-lt"/>
              </a:rPr>
              <a:t>Every Android device must deploy TEE</a:t>
            </a:r>
            <a:endParaRPr kumimoji="1" lang="en-GB" altLang="zh-CN" sz="1800" dirty="0">
              <a:latin typeface="+mn-lt"/>
            </a:endParaRPr>
          </a:p>
          <a:p>
            <a:pPr lvl="1">
              <a:lnSpc>
                <a:spcPct val="134000"/>
              </a:lnSpc>
            </a:pPr>
            <a:r>
              <a:rPr kumimoji="1" lang="en-GB" altLang="zh-CN" sz="1800" dirty="0">
                <a:latin typeface="+mn-lt"/>
              </a:rPr>
              <a:t>Mostly based on ARM </a:t>
            </a:r>
            <a:r>
              <a:rPr kumimoji="1" lang="en-GB" altLang="zh-CN" sz="1800" dirty="0" err="1">
                <a:latin typeface="+mn-lt"/>
              </a:rPr>
              <a:t>TrustZone</a:t>
            </a:r>
            <a:endParaRPr kumimoji="1" lang="en-GB" altLang="zh-CN" sz="1800" dirty="0">
              <a:latin typeface="+mn-lt"/>
            </a:endParaRPr>
          </a:p>
          <a:p>
            <a:pPr>
              <a:lnSpc>
                <a:spcPct val="134000"/>
              </a:lnSpc>
            </a:pPr>
            <a:r>
              <a:rPr kumimoji="1" lang="en-GB" altLang="zh-CN" sz="1800" dirty="0">
                <a:latin typeface="+mn-lt"/>
              </a:rPr>
              <a:t>An </a:t>
            </a:r>
            <a:r>
              <a:rPr kumimoji="1" lang="en-GB" altLang="zh-CN" sz="1800" i="1" dirty="0">
                <a:solidFill>
                  <a:srgbClr val="C64D2D"/>
                </a:solidFill>
                <a:latin typeface="+mn-lt"/>
              </a:rPr>
              <a:t>isolated</a:t>
            </a:r>
            <a:r>
              <a:rPr kumimoji="1" lang="en-GB" altLang="zh-CN" sz="1800" dirty="0">
                <a:latin typeface="+mn-lt"/>
              </a:rPr>
              <a:t> &amp; </a:t>
            </a:r>
            <a:r>
              <a:rPr kumimoji="1" lang="en-GB" altLang="zh-CN" sz="1800" i="1" dirty="0">
                <a:solidFill>
                  <a:srgbClr val="C64D2D"/>
                </a:solidFill>
                <a:latin typeface="+mn-lt"/>
              </a:rPr>
              <a:t>privileged</a:t>
            </a:r>
            <a:r>
              <a:rPr kumimoji="1" lang="en-GB" altLang="zh-CN" sz="1800" dirty="0">
                <a:latin typeface="+mn-lt"/>
              </a:rPr>
              <a:t> environment</a:t>
            </a:r>
            <a:endParaRPr kumimoji="1" lang="en-GB" altLang="zh-CN" sz="1800" dirty="0">
              <a:latin typeface="+mn-lt"/>
            </a:endParaRPr>
          </a:p>
          <a:p>
            <a:pPr lvl="1">
              <a:lnSpc>
                <a:spcPct val="134000"/>
              </a:lnSpc>
            </a:pPr>
            <a:r>
              <a:rPr kumimoji="1" lang="en-GB" altLang="zh-CN" sz="1800" dirty="0">
                <a:latin typeface="+mn-lt"/>
              </a:rPr>
              <a:t>TEE c</a:t>
            </a:r>
            <a:r>
              <a:rPr kumimoji="1" lang="en-US" altLang="zh-CN" sz="1800" dirty="0">
                <a:latin typeface="+mn-lt"/>
              </a:rPr>
              <a:t>an</a:t>
            </a:r>
            <a:r>
              <a:rPr kumimoji="1" lang="en-GB" altLang="zh-CN" sz="1800" dirty="0">
                <a:latin typeface="+mn-lt"/>
              </a:rPr>
              <a:t> access all </a:t>
            </a:r>
            <a:r>
              <a:rPr kumimoji="1" lang="en-US" altLang="zh-CN" sz="1800" dirty="0">
                <a:latin typeface="+mn-lt"/>
              </a:rPr>
              <a:t>DRAM</a:t>
            </a:r>
            <a:r>
              <a:rPr kumimoji="1" lang="zh-CN" altLang="en-US" sz="1800" dirty="0">
                <a:latin typeface="+mn-lt"/>
              </a:rPr>
              <a:t> </a:t>
            </a:r>
            <a:r>
              <a:rPr kumimoji="1" lang="en-US" altLang="zh-CN" sz="1800" dirty="0">
                <a:latin typeface="+mn-lt"/>
              </a:rPr>
              <a:t>&amp;</a:t>
            </a:r>
            <a:r>
              <a:rPr kumimoji="1" lang="zh-CN" altLang="en-US" sz="1800" dirty="0">
                <a:latin typeface="+mn-lt"/>
              </a:rPr>
              <a:t> </a:t>
            </a:r>
            <a:r>
              <a:rPr kumimoji="1" lang="en-US" altLang="zh-CN" sz="1800" dirty="0">
                <a:latin typeface="+mn-lt"/>
              </a:rPr>
              <a:t>peripherals</a:t>
            </a:r>
            <a:endParaRPr kumimoji="1" lang="en-US" altLang="zh-CN" sz="1800" dirty="0">
              <a:latin typeface="+mn-lt"/>
            </a:endParaRPr>
          </a:p>
          <a:p>
            <a:pPr lvl="1">
              <a:lnSpc>
                <a:spcPct val="134000"/>
              </a:lnSpc>
            </a:pPr>
            <a:r>
              <a:rPr kumimoji="1" lang="en-US" altLang="zh-CN" sz="1800" dirty="0">
                <a:latin typeface="+mn-lt"/>
              </a:rPr>
              <a:t>REE</a:t>
            </a:r>
            <a:r>
              <a:rPr kumimoji="1" lang="zh-CN" altLang="en-US" sz="1800" dirty="0">
                <a:latin typeface="+mn-lt"/>
              </a:rPr>
              <a:t> </a:t>
            </a:r>
            <a:r>
              <a:rPr kumimoji="1" lang="en-US" altLang="zh-CN" sz="1800" dirty="0">
                <a:latin typeface="+mn-lt"/>
              </a:rPr>
              <a:t>cannot</a:t>
            </a:r>
            <a:r>
              <a:rPr kumimoji="1" lang="zh-CN" altLang="en-US" sz="1800" dirty="0">
                <a:latin typeface="+mn-lt"/>
              </a:rPr>
              <a:t> </a:t>
            </a:r>
            <a:r>
              <a:rPr kumimoji="1" lang="en-US" altLang="zh-CN" sz="1800" dirty="0">
                <a:latin typeface="+mn-lt"/>
              </a:rPr>
              <a:t>access</a:t>
            </a:r>
            <a:r>
              <a:rPr kumimoji="1" lang="zh-CN" altLang="en-US" sz="1800" dirty="0">
                <a:latin typeface="+mn-lt"/>
              </a:rPr>
              <a:t> </a:t>
            </a:r>
            <a:r>
              <a:rPr kumimoji="1" lang="en-US" altLang="zh-CN" sz="1800" dirty="0">
                <a:latin typeface="+mn-lt"/>
              </a:rPr>
              <a:t>TEE's</a:t>
            </a:r>
            <a:r>
              <a:rPr kumimoji="1" lang="zh-CN" altLang="en-US" sz="1800" dirty="0">
                <a:latin typeface="+mn-lt"/>
              </a:rPr>
              <a:t> </a:t>
            </a:r>
            <a:r>
              <a:rPr kumimoji="1" lang="en-US" altLang="zh-CN" sz="1800" dirty="0">
                <a:latin typeface="+mn-lt"/>
              </a:rPr>
              <a:t>resources</a:t>
            </a:r>
            <a:endParaRPr kumimoji="1" lang="en-GB" altLang="zh-CN" sz="1800" dirty="0">
              <a:latin typeface="+mn-lt"/>
            </a:endParaRPr>
          </a:p>
          <a:p>
            <a:pPr>
              <a:lnSpc>
                <a:spcPct val="134000"/>
              </a:lnSpc>
            </a:pPr>
            <a:r>
              <a:rPr kumimoji="1" lang="en-GB" altLang="zh-CN" sz="1800" dirty="0">
                <a:latin typeface="+mn-lt"/>
              </a:rPr>
              <a:t>Designed to be secured and small</a:t>
            </a:r>
            <a:endParaRPr kumimoji="1" lang="en-GB" altLang="zh-CN" sz="1800" dirty="0">
              <a:latin typeface="+mn-lt"/>
            </a:endParaRPr>
          </a:p>
          <a:p>
            <a:pPr lvl="1">
              <a:lnSpc>
                <a:spcPct val="134000"/>
              </a:lnSpc>
            </a:pPr>
            <a:r>
              <a:rPr kumimoji="1" lang="en-US" altLang="zh-CN" sz="1800" dirty="0">
                <a:latin typeface="+mn-lt"/>
              </a:rPr>
              <a:t>For</a:t>
            </a:r>
            <a:r>
              <a:rPr kumimoji="1" lang="en-GB" altLang="zh-CN" sz="1800" dirty="0">
                <a:latin typeface="+mn-lt"/>
              </a:rPr>
              <a:t> </a:t>
            </a:r>
            <a:r>
              <a:rPr kumimoji="1" lang="en-GB" altLang="zh-CN" sz="1800" dirty="0" err="1">
                <a:latin typeface="+mn-lt"/>
              </a:rPr>
              <a:t>secur</a:t>
            </a:r>
            <a:r>
              <a:rPr kumimoji="1" lang="en-US" altLang="zh-CN" sz="1800" dirty="0" err="1">
                <a:latin typeface="+mn-lt"/>
              </a:rPr>
              <a:t>ity</a:t>
            </a:r>
            <a:r>
              <a:rPr kumimoji="1" lang="en-US" altLang="zh-CN" sz="1800" dirty="0">
                <a:latin typeface="+mn-lt"/>
              </a:rPr>
              <a:t>-</a:t>
            </a:r>
            <a:r>
              <a:rPr kumimoji="1" lang="en-GB" altLang="zh-CN" sz="1800" dirty="0">
                <a:latin typeface="+mn-lt"/>
              </a:rPr>
              <a:t>critical tasks</a:t>
            </a:r>
            <a:r>
              <a:rPr kumimoji="1" lang="zh-CN" altLang="en-US" sz="1800" dirty="0">
                <a:latin typeface="+mn-lt"/>
              </a:rPr>
              <a:t> </a:t>
            </a:r>
            <a:r>
              <a:rPr kumimoji="1" lang="en-US" altLang="zh-CN" sz="1800" dirty="0">
                <a:latin typeface="+mn-lt"/>
              </a:rPr>
              <a:t>(e.g.,</a:t>
            </a:r>
            <a:r>
              <a:rPr kumimoji="1" lang="zh-CN" altLang="en-US" sz="1800" dirty="0">
                <a:latin typeface="+mn-lt"/>
              </a:rPr>
              <a:t> </a:t>
            </a:r>
            <a:r>
              <a:rPr kumimoji="1" lang="en-US" altLang="zh-CN" sz="1800" dirty="0">
                <a:latin typeface="+mn-lt"/>
              </a:rPr>
              <a:t>fingerprint</a:t>
            </a:r>
            <a:r>
              <a:rPr kumimoji="1" lang="zh-CN" altLang="en-US" sz="1800" dirty="0">
                <a:latin typeface="+mn-lt"/>
              </a:rPr>
              <a:t> </a:t>
            </a:r>
            <a:br>
              <a:rPr kumimoji="1" lang="en-US" altLang="zh-CN" sz="1800" dirty="0">
                <a:latin typeface="+mn-lt"/>
              </a:rPr>
            </a:br>
            <a:r>
              <a:rPr kumimoji="1" lang="en-US" altLang="zh-CN" sz="1800" dirty="0">
                <a:latin typeface="+mn-lt"/>
              </a:rPr>
              <a:t>checker,</a:t>
            </a:r>
            <a:r>
              <a:rPr kumimoji="1" lang="zh-CN" altLang="en-US" sz="1800" dirty="0">
                <a:latin typeface="+mn-lt"/>
              </a:rPr>
              <a:t> </a:t>
            </a:r>
            <a:r>
              <a:rPr kumimoji="1" lang="en-US" altLang="zh-CN" sz="1800" dirty="0">
                <a:latin typeface="+mn-lt"/>
              </a:rPr>
              <a:t>mobile</a:t>
            </a:r>
            <a:r>
              <a:rPr kumimoji="1" lang="zh-CN" altLang="en-US" sz="1800" dirty="0">
                <a:latin typeface="+mn-lt"/>
              </a:rPr>
              <a:t> </a:t>
            </a:r>
            <a:r>
              <a:rPr kumimoji="1" lang="en-US" altLang="zh-CN" sz="1800" dirty="0">
                <a:latin typeface="+mn-lt"/>
              </a:rPr>
              <a:t>payment,</a:t>
            </a:r>
            <a:r>
              <a:rPr kumimoji="1" lang="zh-CN" altLang="en-US" sz="1800" dirty="0">
                <a:latin typeface="+mn-lt"/>
              </a:rPr>
              <a:t> </a:t>
            </a:r>
            <a:r>
              <a:rPr kumimoji="1" lang="en-US" altLang="zh-CN" sz="1800" dirty="0">
                <a:latin typeface="+mn-lt"/>
              </a:rPr>
              <a:t>etc.)</a:t>
            </a:r>
            <a:endParaRPr kumimoji="1" lang="en-GB" altLang="zh-CN" sz="1800" dirty="0">
              <a:latin typeface="+mn-lt"/>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pic>
        <p:nvPicPr>
          <p:cNvPr id="5" name="Picture 4"/>
          <p:cNvPicPr>
            <a:picLocks noChangeAspect="1"/>
          </p:cNvPicPr>
          <p:nvPr/>
        </p:nvPicPr>
        <p:blipFill>
          <a:blip r:embed="rId1"/>
          <a:stretch>
            <a:fillRect/>
          </a:stretch>
        </p:blipFill>
        <p:spPr>
          <a:xfrm>
            <a:off x="5198398" y="1633364"/>
            <a:ext cx="3847210" cy="28683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57" dirty="0"/>
              <a:t>Two</a:t>
            </a:r>
            <a:r>
              <a:rPr lang="zh-CN" altLang="en-US" spc="57" dirty="0"/>
              <a:t> </a:t>
            </a:r>
            <a:r>
              <a:rPr lang="en-US" altLang="zh-CN" spc="57" dirty="0"/>
              <a:t>Features</a:t>
            </a:r>
            <a:r>
              <a:rPr lang="zh-CN" altLang="en-US" spc="57" dirty="0"/>
              <a:t> </a:t>
            </a:r>
            <a:r>
              <a:rPr lang="en-US" altLang="zh-CN" spc="57" dirty="0"/>
              <a:t>of</a:t>
            </a:r>
            <a:r>
              <a:rPr lang="zh-CN" altLang="en-US" spc="57" dirty="0"/>
              <a:t> </a:t>
            </a:r>
            <a:r>
              <a:rPr lang="en-US" altLang="zh-CN" spc="57" dirty="0"/>
              <a:t>TEE</a:t>
            </a:r>
            <a:endParaRPr kumimoji="1" lang="zh-CN" altLang="en-US" dirty="0"/>
          </a:p>
        </p:txBody>
      </p:sp>
      <p:sp>
        <p:nvSpPr>
          <p:cNvPr id="3" name="内容占位符 2"/>
          <p:cNvSpPr>
            <a:spLocks noGrp="1"/>
          </p:cNvSpPr>
          <p:nvPr>
            <p:ph idx="1"/>
          </p:nvPr>
        </p:nvSpPr>
        <p:spPr/>
        <p:txBody>
          <a:bodyPr/>
          <a:lstStyle/>
          <a:p>
            <a:r>
              <a:rPr kumimoji="1" lang="en-US" altLang="zh-CN" dirty="0"/>
              <a:t>1.</a:t>
            </a:r>
            <a:r>
              <a:rPr kumimoji="1" lang="zh-CN" altLang="en-US" dirty="0"/>
              <a:t> </a:t>
            </a:r>
            <a:r>
              <a:rPr kumimoji="1" lang="en-US" altLang="zh-CN" dirty="0"/>
              <a:t>Isolated</a:t>
            </a:r>
            <a:r>
              <a:rPr kumimoji="1" lang="zh-CN" altLang="en-US" dirty="0"/>
              <a:t> </a:t>
            </a:r>
            <a:r>
              <a:rPr kumimoji="1" lang="en-US" altLang="zh-CN" dirty="0"/>
              <a:t>execution</a:t>
            </a:r>
            <a:endParaRPr kumimoji="1" lang="en-US" altLang="zh-CN" dirty="0"/>
          </a:p>
          <a:p>
            <a:pPr marL="285750" indent="-285750">
              <a:buFontTx/>
              <a:buChar char="-"/>
            </a:pPr>
            <a:r>
              <a:rPr kumimoji="1" lang="en-US" altLang="zh-CN" b="0" dirty="0"/>
              <a:t>Minimal</a:t>
            </a:r>
            <a:r>
              <a:rPr kumimoji="1" lang="zh-CN" altLang="en-US" b="0" dirty="0"/>
              <a:t> </a:t>
            </a:r>
            <a:r>
              <a:rPr kumimoji="1" lang="en-US" altLang="zh-CN" b="0" dirty="0"/>
              <a:t>TCB:</a:t>
            </a:r>
            <a:r>
              <a:rPr kumimoji="1" lang="zh-CN" altLang="en-US" b="0" dirty="0"/>
              <a:t> </a:t>
            </a:r>
            <a:r>
              <a:rPr kumimoji="1" lang="en-US" altLang="zh-CN" b="0" dirty="0"/>
              <a:t>system</a:t>
            </a:r>
            <a:r>
              <a:rPr kumimoji="1" lang="zh-CN" altLang="en-US" b="0" dirty="0"/>
              <a:t> </a:t>
            </a:r>
            <a:r>
              <a:rPr kumimoji="1" lang="en-US" altLang="zh-CN" b="0" dirty="0"/>
              <a:t>software</a:t>
            </a:r>
            <a:r>
              <a:rPr kumimoji="1" lang="zh-CN" altLang="en-US" b="0" dirty="0"/>
              <a:t> </a:t>
            </a:r>
            <a:r>
              <a:rPr kumimoji="1" lang="en-US" altLang="zh-CN" b="0" dirty="0"/>
              <a:t>is</a:t>
            </a:r>
            <a:r>
              <a:rPr kumimoji="1" lang="zh-CN" altLang="en-US" b="0" dirty="0"/>
              <a:t> </a:t>
            </a:r>
            <a:r>
              <a:rPr kumimoji="1" lang="en-US" altLang="zh-CN" b="0" dirty="0"/>
              <a:t>not</a:t>
            </a:r>
            <a:r>
              <a:rPr kumimoji="1" lang="zh-CN" altLang="en-US" b="0" dirty="0"/>
              <a:t> </a:t>
            </a:r>
            <a:r>
              <a:rPr kumimoji="1" lang="en-US" altLang="zh-CN" b="0" dirty="0"/>
              <a:t>trusted</a:t>
            </a:r>
            <a:endParaRPr kumimoji="1" lang="en-US" altLang="zh-CN" b="0" dirty="0"/>
          </a:p>
          <a:p>
            <a:pPr marL="645795" lvl="1">
              <a:buFontTx/>
              <a:buChar char="-"/>
            </a:pPr>
            <a:r>
              <a:rPr kumimoji="1" lang="en-US" altLang="zh-CN" dirty="0"/>
              <a:t>E.g.,</a:t>
            </a:r>
            <a:r>
              <a:rPr kumimoji="1" lang="zh-CN" altLang="en-US" dirty="0"/>
              <a:t> </a:t>
            </a:r>
            <a:r>
              <a:rPr kumimoji="1" lang="en-US" altLang="zh-CN" dirty="0"/>
              <a:t>OS</a:t>
            </a:r>
            <a:r>
              <a:rPr kumimoji="1" lang="zh-CN" altLang="en-US" dirty="0"/>
              <a:t> </a:t>
            </a:r>
            <a:r>
              <a:rPr kumimoji="1" lang="en-US" altLang="zh-CN" dirty="0"/>
              <a:t>and</a:t>
            </a:r>
            <a:r>
              <a:rPr kumimoji="1" lang="zh-CN" altLang="en-US" dirty="0"/>
              <a:t> </a:t>
            </a:r>
            <a:r>
              <a:rPr kumimoji="1" lang="en-US" altLang="zh-CN" dirty="0"/>
              <a:t>hypervisor</a:t>
            </a:r>
            <a:endParaRPr kumimoji="1" lang="en-US" altLang="zh-CN" b="0" dirty="0"/>
          </a:p>
          <a:p>
            <a:pPr marL="285750" indent="-285750">
              <a:buFontTx/>
              <a:buChar char="-"/>
            </a:pPr>
            <a:r>
              <a:rPr kumimoji="1" lang="en-US" altLang="zh-CN" b="0" dirty="0"/>
              <a:t>Some</a:t>
            </a:r>
            <a:r>
              <a:rPr kumimoji="1" lang="zh-CN" altLang="en-US" b="0" dirty="0"/>
              <a:t> </a:t>
            </a:r>
            <a:r>
              <a:rPr kumimoji="1" lang="en-US" altLang="zh-CN" b="0" dirty="0"/>
              <a:t>can</a:t>
            </a:r>
            <a:r>
              <a:rPr kumimoji="1" lang="zh-CN" altLang="en-US" b="0" dirty="0"/>
              <a:t> </a:t>
            </a:r>
            <a:r>
              <a:rPr kumimoji="1" lang="en-US" altLang="zh-CN" b="0" dirty="0"/>
              <a:t>prevent</a:t>
            </a:r>
            <a:r>
              <a:rPr kumimoji="1" lang="zh-CN" altLang="en-US" b="0" dirty="0"/>
              <a:t> </a:t>
            </a:r>
            <a:r>
              <a:rPr kumimoji="1" lang="en-US" altLang="zh-CN" b="0" dirty="0"/>
              <a:t>physical</a:t>
            </a:r>
            <a:r>
              <a:rPr kumimoji="1" lang="zh-CN" altLang="en-US" b="0" dirty="0"/>
              <a:t> </a:t>
            </a:r>
            <a:r>
              <a:rPr kumimoji="1" lang="en-US" altLang="zh-CN" b="0" dirty="0"/>
              <a:t>attacks</a:t>
            </a:r>
            <a:endParaRPr kumimoji="1" lang="en-US" altLang="zh-CN" b="0" dirty="0"/>
          </a:p>
          <a:p>
            <a:pPr marL="645795" lvl="1">
              <a:buFontTx/>
              <a:buChar char="-"/>
            </a:pPr>
            <a:r>
              <a:rPr kumimoji="1" lang="en-US" altLang="zh-CN" b="0" dirty="0"/>
              <a:t>With</a:t>
            </a:r>
            <a:r>
              <a:rPr kumimoji="1" lang="zh-CN" altLang="en-US" b="0" dirty="0"/>
              <a:t> </a:t>
            </a:r>
            <a:r>
              <a:rPr kumimoji="1" lang="en-US" altLang="zh-CN" b="0" dirty="0"/>
              <a:t>memory</a:t>
            </a:r>
            <a:r>
              <a:rPr kumimoji="1" lang="zh-CN" altLang="en-US" b="0" dirty="0"/>
              <a:t> </a:t>
            </a:r>
            <a:r>
              <a:rPr kumimoji="1" lang="en-US" altLang="zh-CN" b="0" dirty="0"/>
              <a:t>en</a:t>
            </a:r>
            <a:r>
              <a:rPr kumimoji="1" lang="en-US" altLang="zh-CN" dirty="0"/>
              <a:t>cryption</a:t>
            </a:r>
            <a:endParaRPr kumimoji="1" lang="en-US" altLang="zh-CN" b="0" dirty="0"/>
          </a:p>
          <a:p>
            <a:r>
              <a:rPr kumimoji="1" lang="en-US" altLang="zh-CN" dirty="0"/>
              <a:t>2.</a:t>
            </a:r>
            <a:r>
              <a:rPr kumimoji="1" lang="zh-CN" altLang="en-US" dirty="0"/>
              <a:t> </a:t>
            </a:r>
            <a:r>
              <a:rPr kumimoji="1" lang="en-US" altLang="zh-CN" dirty="0"/>
              <a:t>Remote</a:t>
            </a:r>
            <a:r>
              <a:rPr kumimoji="1" lang="zh-CN" altLang="en-US" dirty="0"/>
              <a:t> </a:t>
            </a:r>
            <a:r>
              <a:rPr kumimoji="1" lang="en-US" altLang="zh-CN" dirty="0"/>
              <a:t>attestation</a:t>
            </a:r>
            <a:endParaRPr kumimoji="1" lang="en-US" altLang="zh-CN" dirty="0"/>
          </a:p>
          <a:p>
            <a:pPr marL="285750" indent="-285750">
              <a:buFontTx/>
              <a:buChar char="-"/>
            </a:pPr>
            <a:r>
              <a:rPr kumimoji="1" lang="en-US" altLang="zh-CN" b="0" dirty="0"/>
              <a:t>Prove</a:t>
            </a:r>
            <a:r>
              <a:rPr kumimoji="1" lang="zh-CN" altLang="en-US" b="0" dirty="0"/>
              <a:t> </a:t>
            </a:r>
            <a:r>
              <a:rPr kumimoji="1" lang="en-US" altLang="zh-CN" b="0" dirty="0"/>
              <a:t>itself</a:t>
            </a:r>
            <a:r>
              <a:rPr kumimoji="1" lang="zh-CN" altLang="en-US" b="0" dirty="0"/>
              <a:t> </a:t>
            </a:r>
            <a:r>
              <a:rPr kumimoji="1" lang="en-US" altLang="zh-CN" b="0" dirty="0"/>
              <a:t>to</a:t>
            </a:r>
            <a:r>
              <a:rPr kumimoji="1" lang="zh-CN" altLang="en-US" b="0" dirty="0"/>
              <a:t> </a:t>
            </a:r>
            <a:r>
              <a:rPr kumimoji="1" lang="en-US" altLang="zh-CN" b="0" dirty="0"/>
              <a:t>the</a:t>
            </a:r>
            <a:r>
              <a:rPr kumimoji="1" lang="zh-CN" altLang="en-US" b="0" dirty="0"/>
              <a:t> </a:t>
            </a:r>
            <a:r>
              <a:rPr kumimoji="1" lang="en-US" altLang="zh-CN" b="0" dirty="0"/>
              <a:t>end</a:t>
            </a:r>
            <a:r>
              <a:rPr kumimoji="1" lang="zh-CN" altLang="en-US" b="0" dirty="0"/>
              <a:t> </a:t>
            </a:r>
            <a:r>
              <a:rPr kumimoji="1" lang="en-US" altLang="zh-CN" b="0" dirty="0"/>
              <a:t>users</a:t>
            </a:r>
            <a:endParaRPr kumimoji="1" lang="en-US" altLang="zh-CN" b="0" dirty="0"/>
          </a:p>
          <a:p>
            <a:pPr marL="285750" indent="-285750">
              <a:buFontTx/>
              <a:buChar char="-"/>
            </a:pPr>
            <a:r>
              <a:rPr kumimoji="1" lang="en-US" altLang="zh-CN" b="0" dirty="0"/>
              <a:t>Usually</a:t>
            </a:r>
            <a:r>
              <a:rPr kumimoji="1" lang="zh-CN" altLang="en-US" b="0" dirty="0"/>
              <a:t> </a:t>
            </a:r>
            <a:r>
              <a:rPr kumimoji="1" lang="en-US" altLang="zh-CN" b="0" dirty="0"/>
              <a:t>use</a:t>
            </a:r>
            <a:r>
              <a:rPr kumimoji="1" lang="zh-CN" altLang="en-US" b="0" dirty="0"/>
              <a:t> </a:t>
            </a:r>
            <a:r>
              <a:rPr kumimoji="1" lang="en-US" altLang="zh-CN" b="0" dirty="0"/>
              <a:t>SSL</a:t>
            </a:r>
            <a:r>
              <a:rPr kumimoji="1" lang="zh-CN" altLang="en-US" b="0" dirty="0"/>
              <a:t> </a:t>
            </a:r>
            <a:r>
              <a:rPr kumimoji="1" lang="en-US" altLang="zh-CN" b="0" dirty="0"/>
              <a:t>to</a:t>
            </a:r>
            <a:r>
              <a:rPr kumimoji="1" lang="zh-CN" altLang="en-US" b="0" dirty="0"/>
              <a:t> </a:t>
            </a:r>
            <a:r>
              <a:rPr kumimoji="1" lang="en-US" altLang="zh-CN" b="0" dirty="0"/>
              <a:t>establish</a:t>
            </a:r>
            <a:r>
              <a:rPr kumimoji="1" lang="zh-CN" altLang="en-US" b="0" dirty="0"/>
              <a:t> </a:t>
            </a:r>
            <a:r>
              <a:rPr kumimoji="1" lang="en-US" altLang="zh-CN" b="0" dirty="0"/>
              <a:t>a</a:t>
            </a:r>
            <a:r>
              <a:rPr kumimoji="1" lang="zh-CN" altLang="en-US" b="0" dirty="0"/>
              <a:t> </a:t>
            </a:r>
            <a:r>
              <a:rPr kumimoji="1" lang="en-US" altLang="zh-CN" b="0" dirty="0"/>
              <a:t>secure</a:t>
            </a:r>
            <a:r>
              <a:rPr kumimoji="1" lang="zh-CN" altLang="en-US" b="0" dirty="0"/>
              <a:t> </a:t>
            </a:r>
            <a:r>
              <a:rPr kumimoji="1" lang="en-US" altLang="zh-CN" b="0" dirty="0"/>
              <a:t>channel</a:t>
            </a:r>
            <a:r>
              <a:rPr kumimoji="1" lang="zh-CN" altLang="en-US" b="0" dirty="0"/>
              <a:t> </a:t>
            </a:r>
            <a:r>
              <a:rPr kumimoji="1" lang="en-US" altLang="zh-CN" b="0" dirty="0"/>
              <a:t>over</a:t>
            </a:r>
            <a:r>
              <a:rPr kumimoji="1" lang="zh-CN" altLang="en-US" b="0" dirty="0"/>
              <a:t> </a:t>
            </a:r>
            <a:r>
              <a:rPr kumimoji="1" lang="en-US" altLang="zh-CN" b="0" dirty="0"/>
              <a:t>network</a:t>
            </a:r>
            <a:endParaRPr kumimoji="1" lang="en-US" altLang="zh-CN" b="0" dirty="0"/>
          </a:p>
          <a:p>
            <a:pPr marL="285750" indent="-285750">
              <a:buFontTx/>
              <a:buChar char="-"/>
            </a:pP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sz="3200" dirty="0"/>
              <a:t>Different TEEs</a:t>
            </a:r>
            <a:endParaRPr kumimoji="1" lang="zh-CN" altLang="en-US" sz="3200" dirty="0"/>
          </a:p>
        </p:txBody>
      </p:sp>
      <p:sp>
        <p:nvSpPr>
          <p:cNvPr id="3" name="内容占位符 2"/>
          <p:cNvSpPr>
            <a:spLocks noGrp="1"/>
          </p:cNvSpPr>
          <p:nvPr>
            <p:ph idx="1"/>
          </p:nvPr>
        </p:nvSpPr>
        <p:spPr>
          <a:xfrm>
            <a:off x="457200" y="1485901"/>
            <a:ext cx="8327268" cy="3394472"/>
          </a:xfrm>
        </p:spPr>
        <p:txBody>
          <a:bodyPr>
            <a:noAutofit/>
          </a:bodyPr>
          <a:lstStyle/>
          <a:p>
            <a:r>
              <a:rPr kumimoji="1" lang="en-US" altLang="zh-CN" sz="2000" b="0" dirty="0">
                <a:latin typeface="+mn-lt"/>
              </a:rPr>
              <a:t>Software TEE</a:t>
            </a:r>
            <a:endParaRPr kumimoji="1" lang="en-US" altLang="zh-CN" sz="2000" b="0" dirty="0">
              <a:latin typeface="+mn-lt"/>
            </a:endParaRPr>
          </a:p>
          <a:p>
            <a:pPr lvl="1"/>
            <a:r>
              <a:rPr kumimoji="1" lang="en-US" altLang="zh-CN" sz="1800" dirty="0">
                <a:latin typeface="+mn-lt"/>
              </a:rPr>
              <a:t>VM-based TEE</a:t>
            </a:r>
            <a:endParaRPr kumimoji="1" lang="en-US" altLang="zh-CN" sz="1800" dirty="0">
              <a:latin typeface="+mn-lt"/>
            </a:endParaRPr>
          </a:p>
          <a:p>
            <a:pPr lvl="1"/>
            <a:r>
              <a:rPr kumimoji="1" lang="en-US" altLang="zh-CN" sz="1800" dirty="0">
                <a:latin typeface="+mn-lt"/>
              </a:rPr>
              <a:t>Same privilege protection</a:t>
            </a:r>
            <a:endParaRPr kumimoji="1" lang="en-US" altLang="zh-CN" sz="1800" dirty="0">
              <a:latin typeface="+mn-lt"/>
            </a:endParaRPr>
          </a:p>
          <a:p>
            <a:r>
              <a:rPr kumimoji="1" lang="en-US" altLang="zh-CN" sz="2000" b="0" dirty="0">
                <a:latin typeface="+mn-lt"/>
              </a:rPr>
              <a:t>ARM </a:t>
            </a:r>
            <a:r>
              <a:rPr kumimoji="1" lang="en-US" altLang="zh-CN" sz="2000" b="0" dirty="0" err="1">
                <a:latin typeface="+mn-lt"/>
              </a:rPr>
              <a:t>TrustZone</a:t>
            </a:r>
            <a:endParaRPr kumimoji="1" lang="en-US" altLang="zh-CN" sz="2000" b="0" dirty="0">
              <a:latin typeface="+mn-lt"/>
            </a:endParaRPr>
          </a:p>
          <a:p>
            <a:r>
              <a:rPr kumimoji="1" lang="en-US" altLang="zh-CN" sz="2000" b="0" dirty="0">
                <a:latin typeface="+mn-lt"/>
              </a:rPr>
              <a:t>Intel SGX</a:t>
            </a:r>
            <a:endParaRPr kumimoji="1" lang="en-US" altLang="zh-CN" sz="2000" b="0" dirty="0">
              <a:latin typeface="+mn-lt"/>
            </a:endParaRPr>
          </a:p>
          <a:p>
            <a:r>
              <a:rPr kumimoji="1" lang="en-US" altLang="zh-CN" sz="2000" b="0" dirty="0">
                <a:latin typeface="+mn-lt"/>
              </a:rPr>
              <a:t>AMD SME/SEV</a:t>
            </a:r>
            <a:endParaRPr kumimoji="1" lang="en-US" altLang="zh-CN" sz="2000" b="0" dirty="0">
              <a:latin typeface="+mn-lt"/>
            </a:endParaRPr>
          </a:p>
          <a:p>
            <a:r>
              <a:rPr kumimoji="1" lang="en-US" altLang="zh-CN" sz="2000" b="0" dirty="0">
                <a:latin typeface="+mn-lt"/>
              </a:rPr>
              <a:t>SANCTUM</a:t>
            </a:r>
            <a:endParaRPr kumimoji="1" lang="en-US" altLang="zh-CN" sz="2000" b="0" dirty="0">
              <a:latin typeface="+mn-lt"/>
            </a:endParaRPr>
          </a:p>
          <a:p>
            <a:pPr lvl="1"/>
            <a:endParaRPr kumimoji="1" lang="en-US" altLang="zh-CN" sz="1800" dirty="0">
              <a:latin typeface="+mn-lt"/>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Process</a:t>
            </a:r>
            <a:r>
              <a:rPr lang="zh-CN" altLang="en-US" dirty="0"/>
              <a:t> </a:t>
            </a:r>
            <a:r>
              <a:rPr lang="en-US" altLang="zh-CN" dirty="0"/>
              <a:t>of</a:t>
            </a:r>
            <a:r>
              <a:rPr lang="zh-CN" altLang="en-US" dirty="0"/>
              <a:t> </a:t>
            </a:r>
            <a:r>
              <a:rPr lang="en-US" altLang="zh-CN" dirty="0"/>
              <a:t>Bug</a:t>
            </a:r>
            <a:r>
              <a:rPr lang="zh-CN" altLang="en-US" dirty="0"/>
              <a:t> </a:t>
            </a:r>
            <a:r>
              <a:rPr lang="en-US" altLang="zh-CN" dirty="0"/>
              <a:t>Report</a:t>
            </a:r>
            <a:endParaRPr lang="zh-CN" altLang="en-US" dirty="0"/>
          </a:p>
        </p:txBody>
      </p:sp>
      <p:sp>
        <p:nvSpPr>
          <p:cNvPr id="6" name="文本占位符 5"/>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Process</a:t>
            </a:r>
            <a:r>
              <a:rPr kumimoji="1" lang="zh-CN" altLang="en-US" dirty="0"/>
              <a:t> </a:t>
            </a:r>
            <a:r>
              <a:rPr kumimoji="1" lang="en-US" altLang="zh-CN" dirty="0"/>
              <a:t>of</a:t>
            </a:r>
            <a:r>
              <a:rPr kumimoji="1" lang="zh-CN" altLang="en-US" dirty="0"/>
              <a:t> </a:t>
            </a:r>
            <a:r>
              <a:rPr kumimoji="1" lang="en-US" altLang="zh-CN" dirty="0"/>
              <a:t>fixing</a:t>
            </a:r>
            <a:r>
              <a:rPr kumimoji="1" lang="zh-CN" altLang="en-US" dirty="0"/>
              <a:t> </a:t>
            </a:r>
            <a:r>
              <a:rPr kumimoji="1" lang="en-US" altLang="zh-CN" dirty="0"/>
              <a:t>a</a:t>
            </a:r>
            <a:r>
              <a:rPr kumimoji="1" lang="zh-CN" altLang="en-US" dirty="0"/>
              <a:t> </a:t>
            </a:r>
            <a:r>
              <a:rPr kumimoji="1" lang="en-US" altLang="zh-CN" dirty="0"/>
              <a:t>bug/vulnerability</a:t>
            </a:r>
            <a:endParaRPr kumimoji="1" lang="zh-CN" altLang="en-US" dirty="0"/>
          </a:p>
        </p:txBody>
      </p:sp>
      <p:sp>
        <p:nvSpPr>
          <p:cNvPr id="3" name="内容占位符 2"/>
          <p:cNvSpPr>
            <a:spLocks noGrp="1"/>
          </p:cNvSpPr>
          <p:nvPr>
            <p:ph idx="1"/>
          </p:nvPr>
        </p:nvSpPr>
        <p:spPr/>
        <p:txBody>
          <a:bodyPr>
            <a:normAutofit/>
          </a:bodyPr>
          <a:lstStyle/>
          <a:p>
            <a:r>
              <a:rPr kumimoji="1" lang="en-US" altLang="zh-CN" dirty="0"/>
              <a:t>Based</a:t>
            </a:r>
            <a:r>
              <a:rPr kumimoji="1" lang="zh-CN" altLang="en-US" dirty="0"/>
              <a:t> </a:t>
            </a:r>
            <a:r>
              <a:rPr kumimoji="1" lang="en-US" altLang="zh-CN" dirty="0"/>
              <a:t>on</a:t>
            </a:r>
            <a:r>
              <a:rPr kumimoji="1" lang="zh-CN" altLang="en-US" dirty="0"/>
              <a:t> </a:t>
            </a:r>
            <a:r>
              <a:rPr kumimoji="1" lang="en-US" altLang="zh-CN" dirty="0"/>
              <a:t>a</a:t>
            </a:r>
            <a:r>
              <a:rPr kumimoji="1" lang="zh-CN" altLang="en-US" dirty="0"/>
              <a:t> </a:t>
            </a:r>
            <a:r>
              <a:rPr kumimoji="1" lang="en-US" altLang="zh-CN" dirty="0"/>
              <a:t>real</a:t>
            </a:r>
            <a:r>
              <a:rPr kumimoji="1" lang="zh-CN" altLang="en-US" dirty="0"/>
              <a:t> </a:t>
            </a:r>
            <a:r>
              <a:rPr kumimoji="1" lang="en-US" altLang="zh-CN" dirty="0"/>
              <a:t>case (Credit: Fan Yang)</a:t>
            </a:r>
            <a:endParaRPr kumimoji="1" lang="en-US" altLang="zh-CN" dirty="0"/>
          </a:p>
          <a:p>
            <a:pPr lvl="1"/>
            <a:r>
              <a:rPr lang="en-US" altLang="zh-CN" dirty="0"/>
              <a:t>CVE-2020-10757</a:t>
            </a:r>
            <a:endParaRPr lang="en-US" altLang="zh-CN" dirty="0"/>
          </a:p>
          <a:p>
            <a:pPr lvl="1"/>
            <a:r>
              <a:rPr kumimoji="1" lang="en-US" altLang="zh-CN" dirty="0"/>
              <a:t>Linux</a:t>
            </a:r>
            <a:r>
              <a:rPr kumimoji="1" lang="zh-CN" altLang="en-US" dirty="0"/>
              <a:t> </a:t>
            </a:r>
            <a:r>
              <a:rPr kumimoji="1" lang="en-US" altLang="zh-CN" dirty="0"/>
              <a:t>commit</a:t>
            </a:r>
            <a:r>
              <a:rPr kumimoji="1" lang="zh-CN" altLang="en-US" dirty="0"/>
              <a:t> </a:t>
            </a:r>
            <a:r>
              <a:rPr lang="en-US" altLang="zh-CN" dirty="0"/>
              <a:t>5c7fb56e5e3f</a:t>
            </a:r>
            <a:endParaRPr kumimoji="1" lang="en-US" altLang="zh-CN" dirty="0"/>
          </a:p>
          <a:p>
            <a:r>
              <a:rPr kumimoji="1" lang="en-US" altLang="zh-CN" dirty="0"/>
              <a:t>Phase-1:</a:t>
            </a:r>
            <a:r>
              <a:rPr kumimoji="1" lang="zh-CN" altLang="en-US" dirty="0"/>
              <a:t> </a:t>
            </a:r>
            <a:r>
              <a:rPr kumimoji="1" lang="en-US" altLang="zh-CN" dirty="0"/>
              <a:t>finding</a:t>
            </a:r>
            <a:r>
              <a:rPr kumimoji="1" lang="zh-CN" altLang="en-US" dirty="0"/>
              <a:t> </a:t>
            </a:r>
            <a:r>
              <a:rPr kumimoji="1" lang="en-US" altLang="zh-CN" dirty="0"/>
              <a:t>a</a:t>
            </a:r>
            <a:r>
              <a:rPr kumimoji="1" lang="zh-CN" altLang="en-US" dirty="0"/>
              <a:t> </a:t>
            </a:r>
            <a:r>
              <a:rPr kumimoji="1" lang="en-US" altLang="zh-CN" dirty="0"/>
              <a:t>bug</a:t>
            </a:r>
            <a:endParaRPr kumimoji="1" lang="en-US" altLang="zh-CN" dirty="0"/>
          </a:p>
          <a:p>
            <a:pPr lvl="1"/>
            <a:r>
              <a:rPr kumimoji="1" lang="en-US" altLang="zh-CN" dirty="0"/>
              <a:t>Survey</a:t>
            </a:r>
            <a:r>
              <a:rPr kumimoji="1" lang="zh-CN" altLang="en-US" dirty="0"/>
              <a:t> </a:t>
            </a:r>
            <a:r>
              <a:rPr kumimoji="1" lang="en-US" altLang="zh-CN" dirty="0"/>
              <a:t>whether</a:t>
            </a:r>
            <a:r>
              <a:rPr kumimoji="1" lang="zh-CN" altLang="en-US" dirty="0"/>
              <a:t> </a:t>
            </a:r>
            <a:r>
              <a:rPr kumimoji="1" lang="en-US" altLang="zh-CN" dirty="0"/>
              <a:t>the</a:t>
            </a:r>
            <a:r>
              <a:rPr kumimoji="1" lang="zh-CN" altLang="en-US" dirty="0"/>
              <a:t> </a:t>
            </a:r>
            <a:r>
              <a:rPr kumimoji="1" lang="en-US" altLang="zh-CN" dirty="0"/>
              <a:t>bug</a:t>
            </a:r>
            <a:r>
              <a:rPr kumimoji="1" lang="zh-CN" altLang="en-US" dirty="0"/>
              <a:t> </a:t>
            </a:r>
            <a:r>
              <a:rPr kumimoji="1" lang="en-US" altLang="zh-CN" dirty="0"/>
              <a:t>has</a:t>
            </a:r>
            <a:r>
              <a:rPr kumimoji="1" lang="zh-CN" altLang="en-US" dirty="0"/>
              <a:t> </a:t>
            </a:r>
            <a:r>
              <a:rPr kumimoji="1" lang="en-US" altLang="zh-CN" dirty="0"/>
              <a:t>been</a:t>
            </a:r>
            <a:r>
              <a:rPr kumimoji="1" lang="zh-CN" altLang="en-US" dirty="0"/>
              <a:t> </a:t>
            </a:r>
            <a:r>
              <a:rPr kumimoji="1" lang="en-US" altLang="zh-CN" dirty="0"/>
              <a:t>found</a:t>
            </a:r>
            <a:endParaRPr kumimoji="1" lang="en-US" altLang="zh-CN" dirty="0"/>
          </a:p>
          <a:p>
            <a:pPr lvl="1"/>
            <a:r>
              <a:rPr kumimoji="1" lang="en-US" altLang="zh-CN" dirty="0"/>
              <a:t>Simply</a:t>
            </a:r>
            <a:r>
              <a:rPr kumimoji="1" lang="zh-CN" altLang="en-US" dirty="0"/>
              <a:t> </a:t>
            </a:r>
            <a:r>
              <a:rPr kumimoji="1" lang="en-US" altLang="zh-CN" dirty="0"/>
              <a:t>the</a:t>
            </a:r>
            <a:r>
              <a:rPr kumimoji="1" lang="zh-CN" altLang="en-US" dirty="0"/>
              <a:t> </a:t>
            </a:r>
            <a:r>
              <a:rPr kumimoji="1" lang="en-US" altLang="zh-CN" dirty="0"/>
              <a:t>process</a:t>
            </a:r>
            <a:r>
              <a:rPr kumimoji="1" lang="zh-CN" altLang="en-US" dirty="0"/>
              <a:t> </a:t>
            </a:r>
            <a:r>
              <a:rPr kumimoji="1" lang="en-US" altLang="zh-CN" dirty="0"/>
              <a:t>of</a:t>
            </a:r>
            <a:r>
              <a:rPr kumimoji="1" lang="zh-CN" altLang="en-US" dirty="0"/>
              <a:t> </a:t>
            </a:r>
            <a:r>
              <a:rPr kumimoji="1" lang="en-US" altLang="zh-CN" dirty="0"/>
              <a:t>re-producing</a:t>
            </a:r>
            <a:r>
              <a:rPr kumimoji="1" lang="zh-CN" altLang="en-US" dirty="0"/>
              <a:t> </a:t>
            </a:r>
            <a:r>
              <a:rPr kumimoji="1" lang="en-US" altLang="zh-CN" dirty="0"/>
              <a:t>bug</a:t>
            </a:r>
            <a:endParaRPr kumimoji="1" lang="en-US" altLang="zh-CN" dirty="0"/>
          </a:p>
          <a:p>
            <a:pPr lvl="1"/>
            <a:r>
              <a:rPr kumimoji="1" lang="en-US" altLang="zh-CN" dirty="0"/>
              <a:t>Evaluate</a:t>
            </a:r>
            <a:r>
              <a:rPr kumimoji="1" lang="zh-CN" altLang="en-US" dirty="0"/>
              <a:t> </a:t>
            </a:r>
            <a:r>
              <a:rPr kumimoji="1" lang="en-US" altLang="zh-CN" dirty="0"/>
              <a:t>the</a:t>
            </a:r>
            <a:r>
              <a:rPr kumimoji="1" lang="zh-CN" altLang="en-US" dirty="0"/>
              <a:t> </a:t>
            </a:r>
            <a:r>
              <a:rPr kumimoji="1" lang="en-GB" altLang="zh-CN" dirty="0"/>
              <a:t>seriousness</a:t>
            </a:r>
            <a:r>
              <a:rPr kumimoji="1" lang="en-US" altLang="zh-CN" dirty="0"/>
              <a:t>,</a:t>
            </a:r>
            <a:r>
              <a:rPr kumimoji="1" lang="zh-CN" altLang="en-US" dirty="0"/>
              <a:t> </a:t>
            </a:r>
            <a:r>
              <a:rPr kumimoji="1" lang="en-US" altLang="zh-CN" dirty="0"/>
              <a:t>if</a:t>
            </a:r>
            <a:r>
              <a:rPr kumimoji="1" lang="zh-CN" altLang="en-US" dirty="0"/>
              <a:t> </a:t>
            </a:r>
            <a:r>
              <a:rPr kumimoji="1" lang="en-US" altLang="zh-CN" dirty="0"/>
              <a:t>belongs</a:t>
            </a:r>
            <a:r>
              <a:rPr kumimoji="1" lang="zh-CN" altLang="en-US" dirty="0"/>
              <a:t> </a:t>
            </a:r>
            <a:r>
              <a:rPr kumimoji="1" lang="en-US" altLang="zh-CN" dirty="0"/>
              <a:t>to</a:t>
            </a:r>
            <a:r>
              <a:rPr kumimoji="1" lang="zh-CN" altLang="en-US" dirty="0"/>
              <a:t> </a:t>
            </a:r>
            <a:r>
              <a:rPr kumimoji="1" lang="en-US" altLang="zh-CN" dirty="0"/>
              <a:t>security,</a:t>
            </a:r>
            <a:r>
              <a:rPr kumimoji="1" lang="zh-CN" altLang="en-US" dirty="0"/>
              <a:t> </a:t>
            </a:r>
            <a:r>
              <a:rPr kumimoji="1" lang="en-US" altLang="zh-CN" dirty="0"/>
              <a:t>offer</a:t>
            </a:r>
            <a:r>
              <a:rPr kumimoji="1" lang="zh-CN" altLang="en-US" dirty="0"/>
              <a:t> </a:t>
            </a:r>
            <a:r>
              <a:rPr kumimoji="1" lang="en-US" altLang="zh-CN" dirty="0"/>
              <a:t>an</a:t>
            </a:r>
            <a:r>
              <a:rPr kumimoji="1" lang="zh-CN" altLang="en-US" dirty="0"/>
              <a:t> </a:t>
            </a:r>
            <a:r>
              <a:rPr kumimoji="1" lang="en-US" altLang="zh-CN" dirty="0"/>
              <a:t>exploit</a:t>
            </a:r>
            <a:endParaRPr kumimoji="1" lang="en-US" altLang="zh-CN" dirty="0"/>
          </a:p>
          <a:p>
            <a:pPr lvl="1"/>
            <a:r>
              <a:rPr kumimoji="1" lang="en-US" altLang="zh-CN" dirty="0"/>
              <a:t>Provide</a:t>
            </a:r>
            <a:r>
              <a:rPr kumimoji="1" lang="zh-CN" altLang="en-US" dirty="0"/>
              <a:t> </a:t>
            </a:r>
            <a:r>
              <a:rPr kumimoji="1" lang="en-US" altLang="zh-CN" dirty="0"/>
              <a:t>a</a:t>
            </a:r>
            <a:r>
              <a:rPr kumimoji="1" lang="zh-CN" altLang="en-US" dirty="0"/>
              <a:t> </a:t>
            </a:r>
            <a:r>
              <a:rPr kumimoji="1" lang="en-US" altLang="zh-CN" dirty="0"/>
              <a:t>patch</a:t>
            </a:r>
            <a:r>
              <a:rPr kumimoji="1" lang="zh-CN" altLang="en-US" dirty="0"/>
              <a:t> </a:t>
            </a:r>
            <a:r>
              <a:rPr kumimoji="1" lang="en-US" altLang="zh-CN" dirty="0"/>
              <a:t>if</a:t>
            </a:r>
            <a:r>
              <a:rPr kumimoji="1" lang="zh-CN" altLang="en-US" dirty="0"/>
              <a:t> </a:t>
            </a:r>
            <a:r>
              <a:rPr kumimoji="1" lang="en-US" altLang="zh-CN" dirty="0"/>
              <a:t>you</a:t>
            </a:r>
            <a:r>
              <a:rPr kumimoji="1" lang="zh-CN" altLang="en-US" dirty="0"/>
              <a:t> </a:t>
            </a:r>
            <a:r>
              <a:rPr kumimoji="1" lang="en-US" altLang="zh-CN" dirty="0"/>
              <a:t>have</a:t>
            </a:r>
            <a:r>
              <a:rPr kumimoji="1" lang="zh-CN" altLang="en-US" dirty="0"/>
              <a:t> </a:t>
            </a:r>
            <a:r>
              <a:rPr kumimoji="1" lang="en-US" altLang="zh-CN" dirty="0"/>
              <a:t>one.</a:t>
            </a:r>
            <a:endParaRPr kumimoji="1" lang="en-US" altLang="zh-CN" dirty="0"/>
          </a:p>
          <a:p>
            <a:pPr lvl="1"/>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6" name="矩形 5"/>
          <p:cNvSpPr/>
          <p:nvPr/>
        </p:nvSpPr>
        <p:spPr>
          <a:xfrm>
            <a:off x="6121152" y="454232"/>
            <a:ext cx="864096" cy="4142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 </a:t>
            </a:r>
            <a:r>
              <a:rPr kumimoji="1" lang="zh-CN" altLang="en-US" dirty="0"/>
              <a:t>发现</a:t>
            </a:r>
            <a:endParaRPr kumimoji="1" lang="zh-CN" altLang="en-US" dirty="0"/>
          </a:p>
        </p:txBody>
      </p:sp>
      <p:sp>
        <p:nvSpPr>
          <p:cNvPr id="7" name="矩形 6"/>
          <p:cNvSpPr/>
          <p:nvPr/>
        </p:nvSpPr>
        <p:spPr>
          <a:xfrm>
            <a:off x="7489304" y="454232"/>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 </a:t>
            </a:r>
            <a:r>
              <a:rPr kumimoji="1" lang="zh-CN" altLang="en-US" dirty="0"/>
              <a:t>汇报</a:t>
            </a:r>
            <a:endParaRPr kumimoji="1" lang="zh-CN" altLang="en-US" dirty="0"/>
          </a:p>
        </p:txBody>
      </p:sp>
      <p:sp>
        <p:nvSpPr>
          <p:cNvPr id="8" name="矩形 7"/>
          <p:cNvSpPr/>
          <p:nvPr/>
        </p:nvSpPr>
        <p:spPr>
          <a:xfrm>
            <a:off x="7489304" y="1355933"/>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 </a:t>
            </a:r>
            <a:r>
              <a:rPr kumimoji="1" lang="zh-CN" altLang="en-US" dirty="0"/>
              <a:t>处理</a:t>
            </a:r>
            <a:endParaRPr kumimoji="1" lang="zh-CN" altLang="en-US" dirty="0"/>
          </a:p>
        </p:txBody>
      </p:sp>
      <p:sp>
        <p:nvSpPr>
          <p:cNvPr id="9" name="矩形 8"/>
          <p:cNvSpPr/>
          <p:nvPr/>
        </p:nvSpPr>
        <p:spPr>
          <a:xfrm>
            <a:off x="7489304" y="2276636"/>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r>
              <a:rPr kumimoji="1" lang="zh-CN" altLang="en-US" dirty="0"/>
              <a:t> 公开</a:t>
            </a:r>
            <a:endParaRPr kumimoji="1" lang="zh-CN" altLang="en-US" dirty="0"/>
          </a:p>
        </p:txBody>
      </p:sp>
      <p:cxnSp>
        <p:nvCxnSpPr>
          <p:cNvPr id="13" name="直线箭头连接符 12"/>
          <p:cNvCxnSpPr>
            <a:stCxn id="6" idx="3"/>
            <a:endCxn id="7" idx="1"/>
          </p:cNvCxnSpPr>
          <p:nvPr/>
        </p:nvCxnSpPr>
        <p:spPr>
          <a:xfrm>
            <a:off x="6985248" y="661341"/>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p:cNvCxnSpPr>
            <a:stCxn id="8" idx="2"/>
            <a:endCxn id="9" idx="0"/>
          </p:cNvCxnSpPr>
          <p:nvPr/>
        </p:nvCxnSpPr>
        <p:spPr>
          <a:xfrm>
            <a:off x="7921352" y="1770150"/>
            <a:ext cx="0" cy="506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p:cNvCxnSpPr>
            <a:stCxn id="7" idx="2"/>
            <a:endCxn id="8" idx="0"/>
          </p:cNvCxnSpPr>
          <p:nvPr/>
        </p:nvCxnSpPr>
        <p:spPr>
          <a:xfrm>
            <a:off x="7921352" y="868449"/>
            <a:ext cx="0" cy="487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3635896" y="5160271"/>
            <a:ext cx="1872208" cy="4409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TCB:</a:t>
            </a:r>
            <a:r>
              <a:rPr kumimoji="1" lang="zh-CN" altLang="en-US" dirty="0">
                <a:solidFill>
                  <a:schemeClr val="tx1"/>
                </a:solidFill>
              </a:rPr>
              <a:t> </a:t>
            </a:r>
            <a:r>
              <a:rPr kumimoji="1" lang="en-US" altLang="zh-CN" dirty="0">
                <a:solidFill>
                  <a:schemeClr val="tx1"/>
                </a:solidFill>
              </a:rPr>
              <a:t>Yourself</a:t>
            </a:r>
            <a:endParaRPr kumimoji="1" lang="zh-CN" altLang="en-US" dirty="0">
              <a:solidFill>
                <a:schemeClr val="tx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0611" y="1336417"/>
            <a:ext cx="8493877" cy="3771636"/>
          </a:xfrm>
        </p:spPr>
        <p:txBody>
          <a:bodyPr>
            <a:normAutofit/>
          </a:bodyPr>
          <a:lstStyle/>
          <a:p>
            <a:r>
              <a:rPr kumimoji="1" lang="en-US" altLang="zh-CN" dirty="0"/>
              <a:t>Phase-2:</a:t>
            </a:r>
            <a:r>
              <a:rPr kumimoji="1" lang="zh-CN" altLang="en-US" dirty="0"/>
              <a:t> </a:t>
            </a:r>
            <a:r>
              <a:rPr kumimoji="1" lang="en-US" altLang="zh-CN" dirty="0"/>
              <a:t>Report</a:t>
            </a:r>
            <a:endParaRPr kumimoji="1" lang="en-US" altLang="zh-CN" dirty="0"/>
          </a:p>
          <a:p>
            <a:pPr lvl="1"/>
            <a:r>
              <a:rPr kumimoji="1" lang="en-US" altLang="zh-CN" dirty="0"/>
              <a:t>Not</a:t>
            </a:r>
            <a:r>
              <a:rPr kumimoji="1" lang="zh-CN" altLang="en-US" dirty="0"/>
              <a:t> </a:t>
            </a:r>
            <a:r>
              <a:rPr kumimoji="1" lang="en-US" altLang="zh-CN" dirty="0"/>
              <a:t>security</a:t>
            </a:r>
            <a:r>
              <a:rPr kumimoji="1" lang="zh-CN" altLang="en-US" dirty="0"/>
              <a:t> </a:t>
            </a:r>
            <a:r>
              <a:rPr kumimoji="1" lang="en-US" altLang="zh-CN" dirty="0"/>
              <a:t>bug</a:t>
            </a:r>
            <a:r>
              <a:rPr kumimoji="1" lang="zh-CN" altLang="en-US" dirty="0"/>
              <a:t>：</a:t>
            </a:r>
            <a:r>
              <a:rPr kumimoji="1" lang="en-US" altLang="zh-CN" dirty="0"/>
              <a:t>kernel</a:t>
            </a:r>
            <a:r>
              <a:rPr kumimoji="1" lang="zh-CN" altLang="en-US" dirty="0"/>
              <a:t> </a:t>
            </a:r>
            <a:r>
              <a:rPr kumimoji="1" lang="en-US" altLang="zh-CN" dirty="0"/>
              <a:t>mailing</a:t>
            </a:r>
            <a:r>
              <a:rPr kumimoji="1" lang="zh-CN" altLang="en-US" dirty="0"/>
              <a:t> </a:t>
            </a:r>
            <a:r>
              <a:rPr kumimoji="1" lang="en-US" altLang="zh-CN" dirty="0"/>
              <a:t>list,</a:t>
            </a:r>
            <a:r>
              <a:rPr kumimoji="1" lang="zh-CN" altLang="en-US" dirty="0"/>
              <a:t> </a:t>
            </a:r>
            <a:r>
              <a:rPr kumimoji="1" lang="en-US" altLang="zh-CN" dirty="0" err="1"/>
              <a:t>bugzilla</a:t>
            </a:r>
            <a:endParaRPr kumimoji="1" lang="en-US" altLang="zh-CN" dirty="0"/>
          </a:p>
          <a:p>
            <a:pPr lvl="1"/>
            <a:r>
              <a:rPr kumimoji="1" lang="en-US" altLang="zh-CN" dirty="0"/>
              <a:t>Security</a:t>
            </a:r>
            <a:r>
              <a:rPr kumimoji="1" lang="zh-CN" altLang="en-US" dirty="0"/>
              <a:t> </a:t>
            </a:r>
            <a:r>
              <a:rPr kumimoji="1" lang="en-US" altLang="zh-CN" dirty="0"/>
              <a:t>bug</a:t>
            </a:r>
            <a:r>
              <a:rPr kumimoji="1" lang="zh-CN" altLang="en-US" dirty="0"/>
              <a:t>：</a:t>
            </a:r>
            <a:r>
              <a:rPr kumimoji="1" lang="en-GB" altLang="zh-CN" dirty="0"/>
              <a:t>security@kernel.org</a:t>
            </a:r>
            <a:endParaRPr kumimoji="1" lang="en-US" altLang="zh-CN" dirty="0"/>
          </a:p>
          <a:p>
            <a:pPr lvl="1"/>
            <a:endParaRPr kumimoji="1" lang="en-US" altLang="zh-CN" dirty="0"/>
          </a:p>
          <a:p>
            <a:pPr lvl="1"/>
            <a:r>
              <a:rPr kumimoji="1" lang="en-US" altLang="zh-CN" dirty="0"/>
              <a:t>Require</a:t>
            </a:r>
            <a:r>
              <a:rPr kumimoji="1" lang="zh-CN" altLang="en-US" dirty="0"/>
              <a:t> </a:t>
            </a:r>
            <a:r>
              <a:rPr kumimoji="1" lang="en-US" altLang="zh-CN" dirty="0"/>
              <a:t>a</a:t>
            </a:r>
            <a:r>
              <a:rPr kumimoji="1" lang="zh-CN" altLang="en-US" dirty="0"/>
              <a:t> </a:t>
            </a:r>
            <a:r>
              <a:rPr kumimoji="1" lang="en-US" altLang="zh-CN" dirty="0"/>
              <a:t>CVE id</a:t>
            </a:r>
            <a:r>
              <a:rPr kumimoji="1" lang="zh-CN" altLang="en-US" dirty="0"/>
              <a:t> </a:t>
            </a:r>
            <a:r>
              <a:rPr kumimoji="1" lang="en-US" altLang="zh-CN" dirty="0"/>
              <a:t>(Common Vulnerability and Exposures</a:t>
            </a:r>
            <a:r>
              <a:rPr kumimoji="1" lang="zh-CN" altLang="en-US" dirty="0"/>
              <a:t> </a:t>
            </a:r>
            <a:r>
              <a:rPr kumimoji="1" lang="en-US" altLang="zh-CN" dirty="0"/>
              <a:t>List)</a:t>
            </a:r>
            <a:endParaRPr kumimoji="1" lang="en-US" altLang="zh-CN" dirty="0"/>
          </a:p>
          <a:p>
            <a:pPr lvl="2"/>
            <a:r>
              <a:rPr kumimoji="1" lang="en-US" altLang="zh-CN" dirty="0"/>
              <a:t>Not</a:t>
            </a:r>
            <a:r>
              <a:rPr kumimoji="1" lang="zh-CN" altLang="en-US" dirty="0"/>
              <a:t> </a:t>
            </a:r>
            <a:r>
              <a:rPr kumimoji="1" lang="en-US" altLang="zh-CN" dirty="0"/>
              <a:t>public</a:t>
            </a:r>
            <a:r>
              <a:rPr kumimoji="1" lang="zh-CN" altLang="en-US" dirty="0"/>
              <a:t> </a:t>
            </a:r>
            <a:r>
              <a:rPr kumimoji="1" lang="en-US" altLang="zh-CN" dirty="0"/>
              <a:t>yet</a:t>
            </a:r>
            <a:endParaRPr kumimoji="1" lang="en-US" altLang="zh-CN" dirty="0"/>
          </a:p>
          <a:p>
            <a:pPr lvl="2"/>
            <a:r>
              <a:rPr kumimoji="1" lang="en-US" altLang="zh-CN" dirty="0"/>
              <a:t>CVE</a:t>
            </a:r>
            <a:r>
              <a:rPr kumimoji="1" lang="zh-CN" altLang="en-US" dirty="0"/>
              <a:t> </a:t>
            </a:r>
            <a:r>
              <a:rPr kumimoji="1" lang="en-US" altLang="zh-CN" dirty="0"/>
              <a:t>status</a:t>
            </a:r>
            <a:r>
              <a:rPr kumimoji="1" lang="zh-CN" altLang="en-US" dirty="0"/>
              <a:t> </a:t>
            </a:r>
            <a:r>
              <a:rPr kumimoji="1" lang="en-US" altLang="zh-CN" dirty="0"/>
              <a:t>is</a:t>
            </a:r>
            <a:r>
              <a:rPr kumimoji="1" lang="zh-CN" altLang="en-US" dirty="0"/>
              <a:t> </a:t>
            </a:r>
            <a:r>
              <a:rPr lang="en-GB" altLang="zh-CN" dirty="0"/>
              <a:t>RESERVED</a:t>
            </a:r>
            <a:endParaRPr kumimoji="1" lang="en-US" altLang="zh-CN" dirty="0"/>
          </a:p>
        </p:txBody>
      </p:sp>
      <p:sp>
        <p:nvSpPr>
          <p:cNvPr id="2" name="标题 1"/>
          <p:cNvSpPr>
            <a:spLocks noGrp="1"/>
          </p:cNvSpPr>
          <p:nvPr>
            <p:ph type="title"/>
          </p:nvPr>
        </p:nvSpPr>
        <p:spPr/>
        <p:txBody>
          <a:bodyPr/>
          <a:lstStyle/>
          <a:p>
            <a:r>
              <a:rPr kumimoji="1" lang="en-US" altLang="zh-CN" dirty="0"/>
              <a:t>Fix</a:t>
            </a:r>
            <a:r>
              <a:rPr kumimoji="1" lang="zh-CN" altLang="en-US" dirty="0"/>
              <a:t> </a:t>
            </a:r>
            <a:r>
              <a:rPr kumimoji="1" lang="en-US" altLang="zh-CN" dirty="0"/>
              <a:t>the</a:t>
            </a:r>
            <a:r>
              <a:rPr kumimoji="1" lang="zh-CN" altLang="en-US" dirty="0"/>
              <a:t> </a:t>
            </a:r>
            <a:r>
              <a:rPr kumimoji="1" lang="en-US" altLang="zh-CN" dirty="0"/>
              <a:t>Bug</a:t>
            </a: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6" name="矩形 5"/>
          <p:cNvSpPr/>
          <p:nvPr/>
        </p:nvSpPr>
        <p:spPr>
          <a:xfrm>
            <a:off x="3203848"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 </a:t>
            </a:r>
            <a:r>
              <a:rPr kumimoji="1" lang="zh-CN" altLang="en-US" dirty="0"/>
              <a:t>发现</a:t>
            </a:r>
            <a:endParaRPr kumimoji="1" lang="zh-CN" altLang="en-US" dirty="0"/>
          </a:p>
        </p:txBody>
      </p:sp>
      <p:sp>
        <p:nvSpPr>
          <p:cNvPr id="7" name="矩形 6"/>
          <p:cNvSpPr/>
          <p:nvPr/>
        </p:nvSpPr>
        <p:spPr>
          <a:xfrm>
            <a:off x="4572000" y="499065"/>
            <a:ext cx="864096" cy="4142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 </a:t>
            </a:r>
            <a:r>
              <a:rPr kumimoji="1" lang="zh-CN" altLang="en-US" dirty="0"/>
              <a:t>汇报</a:t>
            </a:r>
            <a:endParaRPr kumimoji="1" lang="zh-CN" altLang="en-US" dirty="0"/>
          </a:p>
        </p:txBody>
      </p:sp>
      <p:sp>
        <p:nvSpPr>
          <p:cNvPr id="8" name="矩形 7"/>
          <p:cNvSpPr/>
          <p:nvPr/>
        </p:nvSpPr>
        <p:spPr>
          <a:xfrm>
            <a:off x="5940152"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 </a:t>
            </a:r>
            <a:r>
              <a:rPr kumimoji="1" lang="zh-CN" altLang="en-US" dirty="0"/>
              <a:t>处理</a:t>
            </a:r>
            <a:endParaRPr kumimoji="1" lang="zh-CN" altLang="en-US" dirty="0"/>
          </a:p>
        </p:txBody>
      </p:sp>
      <p:sp>
        <p:nvSpPr>
          <p:cNvPr id="9" name="矩形 8"/>
          <p:cNvSpPr/>
          <p:nvPr/>
        </p:nvSpPr>
        <p:spPr>
          <a:xfrm>
            <a:off x="7308304"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r>
              <a:rPr kumimoji="1" lang="zh-CN" altLang="en-US" dirty="0"/>
              <a:t> 公开</a:t>
            </a:r>
            <a:endParaRPr kumimoji="1" lang="zh-CN" altLang="en-US" dirty="0"/>
          </a:p>
        </p:txBody>
      </p:sp>
      <p:cxnSp>
        <p:nvCxnSpPr>
          <p:cNvPr id="13" name="直线箭头连接符 12"/>
          <p:cNvCxnSpPr>
            <a:stCxn id="6" idx="3"/>
            <a:endCxn id="7" idx="1"/>
          </p:cNvCxnSpPr>
          <p:nvPr/>
        </p:nvCxnSpPr>
        <p:spPr>
          <a:xfrm>
            <a:off x="4067944" y="70617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p:cNvCxnSpPr>
            <a:stCxn id="8" idx="3"/>
            <a:endCxn id="9" idx="1"/>
          </p:cNvCxnSpPr>
          <p:nvPr/>
        </p:nvCxnSpPr>
        <p:spPr>
          <a:xfrm>
            <a:off x="6804248" y="70617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p:cNvCxnSpPr>
            <a:stCxn id="7" idx="3"/>
            <a:endCxn id="8" idx="1"/>
          </p:cNvCxnSpPr>
          <p:nvPr/>
        </p:nvCxnSpPr>
        <p:spPr>
          <a:xfrm>
            <a:off x="5436096" y="70617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807803" y="5155365"/>
            <a:ext cx="3528393" cy="4795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TCB:</a:t>
            </a:r>
            <a:r>
              <a:rPr kumimoji="1" lang="zh-CN" altLang="en-US" dirty="0">
                <a:solidFill>
                  <a:schemeClr val="tx1"/>
                </a:solidFill>
              </a:rPr>
              <a:t> </a:t>
            </a:r>
            <a:r>
              <a:rPr kumimoji="1" lang="en-US" altLang="zh-CN" dirty="0">
                <a:solidFill>
                  <a:schemeClr val="tx1"/>
                </a:solidFill>
              </a:rPr>
              <a:t>Mailing</a:t>
            </a:r>
            <a:r>
              <a:rPr kumimoji="1" lang="zh-CN" altLang="en-US" dirty="0">
                <a:solidFill>
                  <a:schemeClr val="tx1"/>
                </a:solidFill>
              </a:rPr>
              <a:t> </a:t>
            </a:r>
            <a:r>
              <a:rPr kumimoji="1" lang="en-US" altLang="zh-CN" dirty="0">
                <a:solidFill>
                  <a:schemeClr val="tx1"/>
                </a:solidFill>
              </a:rPr>
              <a:t>list</a:t>
            </a:r>
            <a:r>
              <a:rPr kumimoji="1" lang="zh-CN" altLang="en-US" dirty="0">
                <a:solidFill>
                  <a:schemeClr val="tx1"/>
                </a:solidFill>
              </a:rPr>
              <a:t> </a:t>
            </a:r>
            <a:r>
              <a:rPr kumimoji="1" lang="en-US" altLang="zh-CN" dirty="0">
                <a:solidFill>
                  <a:schemeClr val="tx1"/>
                </a:solidFill>
              </a:rPr>
              <a:t>+</a:t>
            </a:r>
            <a:r>
              <a:rPr kumimoji="1" lang="zh-CN" altLang="en-US" dirty="0">
                <a:solidFill>
                  <a:schemeClr val="tx1"/>
                </a:solidFill>
              </a:rPr>
              <a:t> </a:t>
            </a:r>
            <a:r>
              <a:rPr kumimoji="1" lang="en-US" altLang="zh-CN" dirty="0">
                <a:solidFill>
                  <a:schemeClr val="tx1"/>
                </a:solidFill>
              </a:rPr>
              <a:t>Yourself</a:t>
            </a:r>
            <a:endParaRPr kumimoji="1" lang="zh-CN" altLang="en-US" dirty="0">
              <a:solidFill>
                <a:schemeClr val="tx1"/>
              </a:solidFill>
            </a:endParaRPr>
          </a:p>
        </p:txBody>
      </p:sp>
      <p:sp>
        <p:nvSpPr>
          <p:cNvPr id="15" name="文本框 14"/>
          <p:cNvSpPr txBox="1"/>
          <p:nvPr/>
        </p:nvSpPr>
        <p:spPr>
          <a:xfrm>
            <a:off x="6275097" y="2165972"/>
            <a:ext cx="1332148" cy="369332"/>
          </a:xfrm>
          <a:prstGeom prst="rect">
            <a:avLst/>
          </a:prstGeom>
          <a:noFill/>
        </p:spPr>
        <p:txBody>
          <a:bodyPr wrap="square" rtlCol="0">
            <a:spAutoFit/>
          </a:bodyPr>
          <a:lstStyle/>
          <a:p>
            <a:pPr algn="r"/>
            <a:r>
              <a:rPr kumimoji="1" lang="en-US" altLang="zh-CN" i="1" dirty="0"/>
              <a:t>Non-public</a:t>
            </a:r>
            <a:endParaRPr kumimoji="1" lang="zh-CN" altLang="en-US" i="1" dirty="0"/>
          </a:p>
        </p:txBody>
      </p:sp>
      <p:sp>
        <p:nvSpPr>
          <p:cNvPr id="38" name="文本框 37"/>
          <p:cNvSpPr txBox="1"/>
          <p:nvPr/>
        </p:nvSpPr>
        <p:spPr>
          <a:xfrm>
            <a:off x="6275097" y="1705372"/>
            <a:ext cx="1332148" cy="369332"/>
          </a:xfrm>
          <a:prstGeom prst="rect">
            <a:avLst/>
          </a:prstGeom>
          <a:noFill/>
        </p:spPr>
        <p:txBody>
          <a:bodyPr wrap="square" rtlCol="0">
            <a:spAutoFit/>
          </a:bodyPr>
          <a:lstStyle/>
          <a:p>
            <a:r>
              <a:rPr kumimoji="1" lang="en-US" altLang="zh-CN" i="1" dirty="0"/>
              <a:t>public</a:t>
            </a:r>
            <a:endParaRPr kumimoji="1" lang="zh-CN" altLang="en-US" i="1"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Fix</a:t>
            </a:r>
            <a:r>
              <a:rPr kumimoji="1" lang="zh-CN" altLang="en-US" dirty="0"/>
              <a:t> </a:t>
            </a:r>
            <a:r>
              <a:rPr kumimoji="1" lang="en-US" altLang="zh-CN" dirty="0"/>
              <a:t>the</a:t>
            </a:r>
            <a:r>
              <a:rPr kumimoji="1" lang="zh-CN" altLang="en-US" dirty="0"/>
              <a:t> </a:t>
            </a:r>
            <a:r>
              <a:rPr kumimoji="1" lang="en-US" altLang="zh-CN" dirty="0"/>
              <a:t>Bug</a:t>
            </a:r>
            <a:endParaRPr kumimoji="1" lang="zh-CN" altLang="en-US" dirty="0"/>
          </a:p>
        </p:txBody>
      </p:sp>
      <p:sp>
        <p:nvSpPr>
          <p:cNvPr id="3" name="内容占位符 2"/>
          <p:cNvSpPr>
            <a:spLocks noGrp="1"/>
          </p:cNvSpPr>
          <p:nvPr>
            <p:ph idx="1"/>
          </p:nvPr>
        </p:nvSpPr>
        <p:spPr/>
        <p:txBody>
          <a:bodyPr/>
          <a:lstStyle/>
          <a:p>
            <a:r>
              <a:rPr kumimoji="1" lang="en-US" altLang="zh-CN" dirty="0"/>
              <a:t>Phase-3:</a:t>
            </a:r>
            <a:r>
              <a:rPr kumimoji="1" lang="zh-CN" altLang="en-US" dirty="0"/>
              <a:t> </a:t>
            </a:r>
            <a:r>
              <a:rPr kumimoji="1" lang="en-US" altLang="zh-CN" dirty="0"/>
              <a:t>handle</a:t>
            </a:r>
            <a:r>
              <a:rPr kumimoji="1" lang="zh-CN" altLang="en-US" dirty="0"/>
              <a:t> </a:t>
            </a:r>
            <a:r>
              <a:rPr kumimoji="1" lang="en-US" altLang="zh-CN" dirty="0"/>
              <a:t>the</a:t>
            </a:r>
            <a:r>
              <a:rPr kumimoji="1" lang="zh-CN" altLang="en-US" dirty="0"/>
              <a:t> </a:t>
            </a:r>
            <a:r>
              <a:rPr kumimoji="1" lang="en-US" altLang="zh-CN" dirty="0"/>
              <a:t>bug</a:t>
            </a:r>
            <a:endParaRPr kumimoji="1" lang="en-US" altLang="zh-CN" dirty="0"/>
          </a:p>
          <a:p>
            <a:pPr lvl="1"/>
            <a:r>
              <a:rPr kumimoji="1" lang="en-US" altLang="zh-CN" dirty="0"/>
              <a:t>Related</a:t>
            </a:r>
            <a:r>
              <a:rPr kumimoji="1" lang="zh-CN" altLang="en-US" dirty="0"/>
              <a:t> </a:t>
            </a:r>
            <a:r>
              <a:rPr kumimoji="1" lang="en-US" altLang="zh-CN" dirty="0"/>
              <a:t>developers</a:t>
            </a:r>
            <a:r>
              <a:rPr kumimoji="1" lang="zh-CN" altLang="en-US" dirty="0"/>
              <a:t> </a:t>
            </a:r>
            <a:r>
              <a:rPr kumimoji="1" lang="en-US" altLang="zh-CN" dirty="0"/>
              <a:t>and</a:t>
            </a:r>
            <a:r>
              <a:rPr kumimoji="1" lang="zh-CN" altLang="en-US" dirty="0"/>
              <a:t> </a:t>
            </a:r>
            <a:r>
              <a:rPr kumimoji="1" lang="en-US" altLang="zh-CN" dirty="0"/>
              <a:t>maintainers</a:t>
            </a:r>
            <a:r>
              <a:rPr kumimoji="1" lang="zh-CN" altLang="en-US" dirty="0"/>
              <a:t> </a:t>
            </a:r>
            <a:r>
              <a:rPr kumimoji="1" lang="en-US" altLang="zh-CN" dirty="0"/>
              <a:t>join</a:t>
            </a:r>
            <a:r>
              <a:rPr kumimoji="1" lang="zh-CN" altLang="en-US" dirty="0"/>
              <a:t> </a:t>
            </a:r>
            <a:r>
              <a:rPr kumimoji="1" lang="en-US" altLang="zh-CN" dirty="0"/>
              <a:t>the</a:t>
            </a:r>
            <a:r>
              <a:rPr kumimoji="1" lang="zh-CN" altLang="en-US" dirty="0"/>
              <a:t> </a:t>
            </a:r>
            <a:r>
              <a:rPr kumimoji="1" lang="en-US" altLang="zh-CN" dirty="0"/>
              <a:t>discussion</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6" name="矩形 5"/>
          <p:cNvSpPr/>
          <p:nvPr/>
        </p:nvSpPr>
        <p:spPr>
          <a:xfrm>
            <a:off x="3203848"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 </a:t>
            </a:r>
            <a:r>
              <a:rPr kumimoji="1" lang="zh-CN" altLang="en-US" dirty="0"/>
              <a:t>发现</a:t>
            </a:r>
            <a:endParaRPr kumimoji="1" lang="zh-CN" altLang="en-US" dirty="0"/>
          </a:p>
        </p:txBody>
      </p:sp>
      <p:sp>
        <p:nvSpPr>
          <p:cNvPr id="7" name="矩形 6"/>
          <p:cNvSpPr/>
          <p:nvPr/>
        </p:nvSpPr>
        <p:spPr>
          <a:xfrm>
            <a:off x="4572000"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 </a:t>
            </a:r>
            <a:r>
              <a:rPr kumimoji="1" lang="zh-CN" altLang="en-US" dirty="0"/>
              <a:t>汇报</a:t>
            </a:r>
            <a:endParaRPr kumimoji="1" lang="zh-CN" altLang="en-US" dirty="0"/>
          </a:p>
        </p:txBody>
      </p:sp>
      <p:sp>
        <p:nvSpPr>
          <p:cNvPr id="8" name="矩形 7"/>
          <p:cNvSpPr/>
          <p:nvPr/>
        </p:nvSpPr>
        <p:spPr>
          <a:xfrm>
            <a:off x="5940152" y="499065"/>
            <a:ext cx="864096" cy="4142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 </a:t>
            </a:r>
            <a:r>
              <a:rPr kumimoji="1" lang="zh-CN" altLang="en-US" dirty="0"/>
              <a:t>处理</a:t>
            </a:r>
            <a:endParaRPr kumimoji="1" lang="zh-CN" altLang="en-US" dirty="0"/>
          </a:p>
        </p:txBody>
      </p:sp>
      <p:sp>
        <p:nvSpPr>
          <p:cNvPr id="9" name="矩形 8"/>
          <p:cNvSpPr/>
          <p:nvPr/>
        </p:nvSpPr>
        <p:spPr>
          <a:xfrm>
            <a:off x="7308304"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r>
              <a:rPr kumimoji="1" lang="zh-CN" altLang="en-US" dirty="0"/>
              <a:t> 公开</a:t>
            </a:r>
            <a:endParaRPr kumimoji="1" lang="zh-CN" altLang="en-US" dirty="0"/>
          </a:p>
        </p:txBody>
      </p:sp>
      <p:cxnSp>
        <p:nvCxnSpPr>
          <p:cNvPr id="13" name="直线箭头连接符 12"/>
          <p:cNvCxnSpPr>
            <a:stCxn id="6" idx="3"/>
            <a:endCxn id="7" idx="1"/>
          </p:cNvCxnSpPr>
          <p:nvPr/>
        </p:nvCxnSpPr>
        <p:spPr>
          <a:xfrm>
            <a:off x="4067944" y="70617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p:cNvCxnSpPr>
            <a:stCxn id="8" idx="3"/>
            <a:endCxn id="9" idx="1"/>
          </p:cNvCxnSpPr>
          <p:nvPr/>
        </p:nvCxnSpPr>
        <p:spPr>
          <a:xfrm>
            <a:off x="6804248" y="70617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p:cNvCxnSpPr>
            <a:stCxn id="7" idx="3"/>
            <a:endCxn id="8" idx="1"/>
          </p:cNvCxnSpPr>
          <p:nvPr/>
        </p:nvCxnSpPr>
        <p:spPr>
          <a:xfrm>
            <a:off x="5436096" y="70617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1653155" y="5161756"/>
            <a:ext cx="5837688" cy="4346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TCB:</a:t>
            </a:r>
            <a:r>
              <a:rPr kumimoji="1" lang="zh-CN" altLang="en-US" dirty="0">
                <a:solidFill>
                  <a:schemeClr val="tx1"/>
                </a:solidFill>
              </a:rPr>
              <a:t> </a:t>
            </a:r>
            <a:r>
              <a:rPr kumimoji="1" lang="en-US" altLang="zh-CN" dirty="0">
                <a:solidFill>
                  <a:schemeClr val="tx1"/>
                </a:solidFill>
              </a:rPr>
              <a:t>Related</a:t>
            </a:r>
            <a:r>
              <a:rPr kumimoji="1" lang="zh-CN" altLang="en-US" dirty="0">
                <a:solidFill>
                  <a:schemeClr val="tx1"/>
                </a:solidFill>
              </a:rPr>
              <a:t> </a:t>
            </a:r>
            <a:r>
              <a:rPr kumimoji="1" lang="en-US" altLang="zh-CN" dirty="0">
                <a:solidFill>
                  <a:schemeClr val="tx1"/>
                </a:solidFill>
              </a:rPr>
              <a:t>developers</a:t>
            </a:r>
            <a:r>
              <a:rPr kumimoji="1" lang="zh-CN" altLang="en-US" dirty="0">
                <a:solidFill>
                  <a:schemeClr val="tx1"/>
                </a:solidFill>
              </a:rPr>
              <a:t> </a:t>
            </a:r>
            <a:r>
              <a:rPr kumimoji="1" lang="en-US" altLang="zh-CN" dirty="0">
                <a:solidFill>
                  <a:schemeClr val="tx1"/>
                </a:solidFill>
              </a:rPr>
              <a:t>+</a:t>
            </a:r>
            <a:r>
              <a:rPr kumimoji="1" lang="zh-CN" altLang="en-US" dirty="0">
                <a:solidFill>
                  <a:schemeClr val="tx1"/>
                </a:solidFill>
              </a:rPr>
              <a:t> </a:t>
            </a:r>
            <a:r>
              <a:rPr kumimoji="1" lang="en-US" altLang="zh-CN" dirty="0">
                <a:solidFill>
                  <a:schemeClr val="tx1"/>
                </a:solidFill>
              </a:rPr>
              <a:t>Mailing</a:t>
            </a:r>
            <a:r>
              <a:rPr kumimoji="1" lang="zh-CN" altLang="en-US" dirty="0">
                <a:solidFill>
                  <a:schemeClr val="tx1"/>
                </a:solidFill>
              </a:rPr>
              <a:t> </a:t>
            </a:r>
            <a:r>
              <a:rPr kumimoji="1" lang="en-US" altLang="zh-CN" dirty="0">
                <a:solidFill>
                  <a:schemeClr val="tx1"/>
                </a:solidFill>
              </a:rPr>
              <a:t>list</a:t>
            </a:r>
            <a:r>
              <a:rPr kumimoji="1" lang="zh-CN" altLang="en-US" dirty="0">
                <a:solidFill>
                  <a:schemeClr val="tx1"/>
                </a:solidFill>
              </a:rPr>
              <a:t> </a:t>
            </a:r>
            <a:r>
              <a:rPr kumimoji="1" lang="en-US" altLang="zh-CN" dirty="0">
                <a:solidFill>
                  <a:schemeClr val="tx1"/>
                </a:solidFill>
              </a:rPr>
              <a:t>+</a:t>
            </a:r>
            <a:r>
              <a:rPr kumimoji="1" lang="zh-CN" altLang="en-US" dirty="0">
                <a:solidFill>
                  <a:schemeClr val="tx1"/>
                </a:solidFill>
              </a:rPr>
              <a:t> </a:t>
            </a:r>
            <a:r>
              <a:rPr kumimoji="1" lang="en-US" altLang="zh-CN" dirty="0">
                <a:solidFill>
                  <a:schemeClr val="tx1"/>
                </a:solidFill>
              </a:rPr>
              <a:t>Yourself</a:t>
            </a:r>
            <a:endParaRPr kumimoji="1" lang="zh-CN" altLang="en-US" dirty="0">
              <a:solidFill>
                <a:schemeClr val="tx1"/>
              </a:solidFill>
            </a:endParaRPr>
          </a:p>
        </p:txBody>
      </p:sp>
      <p:pic>
        <p:nvPicPr>
          <p:cNvPr id="10" name="图片 9"/>
          <p:cNvPicPr>
            <a:picLocks noChangeAspect="1"/>
          </p:cNvPicPr>
          <p:nvPr/>
        </p:nvPicPr>
        <p:blipFill>
          <a:blip r:embed="rId1"/>
          <a:stretch>
            <a:fillRect/>
          </a:stretch>
        </p:blipFill>
        <p:spPr>
          <a:xfrm>
            <a:off x="1043608" y="2479444"/>
            <a:ext cx="7452320" cy="1804859"/>
          </a:xfrm>
          <a:prstGeom prst="rect">
            <a:avLst/>
          </a:prstGeom>
          <a:ln w="28575">
            <a:solidFill>
              <a:schemeClr val="tx1"/>
            </a:solid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Fix</a:t>
            </a:r>
            <a:r>
              <a:rPr kumimoji="1" lang="zh-CN" altLang="en-US" dirty="0"/>
              <a:t> </a:t>
            </a:r>
            <a:r>
              <a:rPr kumimoji="1" lang="en-US" altLang="zh-CN" dirty="0"/>
              <a:t>the</a:t>
            </a:r>
            <a:r>
              <a:rPr kumimoji="1" lang="zh-CN" altLang="en-US" dirty="0"/>
              <a:t> </a:t>
            </a:r>
            <a:r>
              <a:rPr kumimoji="1" lang="en-US" altLang="zh-CN" dirty="0"/>
              <a:t>Bug</a:t>
            </a:r>
            <a:endParaRPr kumimoji="1" lang="zh-CN" altLang="en-US" dirty="0"/>
          </a:p>
        </p:txBody>
      </p:sp>
      <p:sp>
        <p:nvSpPr>
          <p:cNvPr id="3" name="内容占位符 2"/>
          <p:cNvSpPr>
            <a:spLocks noGrp="1"/>
          </p:cNvSpPr>
          <p:nvPr>
            <p:ph idx="1"/>
          </p:nvPr>
        </p:nvSpPr>
        <p:spPr/>
        <p:txBody>
          <a:bodyPr/>
          <a:lstStyle/>
          <a:p>
            <a:r>
              <a:rPr kumimoji="1" lang="en-US" altLang="zh-CN" dirty="0"/>
              <a:t>Phase-3:</a:t>
            </a:r>
            <a:r>
              <a:rPr kumimoji="1" lang="zh-CN" altLang="en-US" dirty="0"/>
              <a:t> </a:t>
            </a:r>
            <a:r>
              <a:rPr kumimoji="1" lang="en-US" altLang="zh-CN" dirty="0"/>
              <a:t>handle</a:t>
            </a:r>
            <a:r>
              <a:rPr kumimoji="1" lang="zh-CN" altLang="en-US" dirty="0"/>
              <a:t> </a:t>
            </a:r>
            <a:r>
              <a:rPr kumimoji="1" lang="en-US" altLang="zh-CN" dirty="0"/>
              <a:t>the</a:t>
            </a:r>
            <a:r>
              <a:rPr kumimoji="1" lang="zh-CN" altLang="en-US" dirty="0"/>
              <a:t> </a:t>
            </a:r>
            <a:r>
              <a:rPr kumimoji="1" lang="en-US" altLang="zh-CN" dirty="0"/>
              <a:t>bug</a:t>
            </a:r>
            <a:endParaRPr kumimoji="1" lang="en-US" altLang="zh-CN" dirty="0"/>
          </a:p>
          <a:p>
            <a:pPr lvl="1"/>
            <a:r>
              <a:rPr kumimoji="1" lang="en-US" altLang="zh-CN" dirty="0"/>
              <a:t>Patch</a:t>
            </a:r>
            <a:r>
              <a:rPr kumimoji="1" lang="zh-CN" altLang="en-US" dirty="0"/>
              <a:t> </a:t>
            </a:r>
            <a:r>
              <a:rPr kumimoji="1" lang="en-US" altLang="zh-CN" dirty="0"/>
              <a:t>proposing</a:t>
            </a:r>
            <a:r>
              <a:rPr kumimoji="1" lang="zh-CN" altLang="en-US" dirty="0"/>
              <a:t> </a:t>
            </a:r>
            <a:r>
              <a:rPr kumimoji="1" lang="en-US" altLang="zh-CN" dirty="0"/>
              <a:t>and</a:t>
            </a:r>
            <a:r>
              <a:rPr kumimoji="1" lang="zh-CN" altLang="en-US" dirty="0"/>
              <a:t> </a:t>
            </a:r>
            <a:r>
              <a:rPr kumimoji="1" lang="en-US" altLang="zh-CN" dirty="0"/>
              <a:t>discussion</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6" name="矩形 5"/>
          <p:cNvSpPr/>
          <p:nvPr/>
        </p:nvSpPr>
        <p:spPr>
          <a:xfrm>
            <a:off x="3203848"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 </a:t>
            </a:r>
            <a:r>
              <a:rPr kumimoji="1" lang="zh-CN" altLang="en-US" dirty="0"/>
              <a:t>发现</a:t>
            </a:r>
            <a:endParaRPr kumimoji="1" lang="zh-CN" altLang="en-US" dirty="0"/>
          </a:p>
        </p:txBody>
      </p:sp>
      <p:sp>
        <p:nvSpPr>
          <p:cNvPr id="7" name="矩形 6"/>
          <p:cNvSpPr/>
          <p:nvPr/>
        </p:nvSpPr>
        <p:spPr>
          <a:xfrm>
            <a:off x="4572000"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 </a:t>
            </a:r>
            <a:r>
              <a:rPr kumimoji="1" lang="zh-CN" altLang="en-US" dirty="0"/>
              <a:t>汇报</a:t>
            </a:r>
            <a:endParaRPr kumimoji="1" lang="zh-CN" altLang="en-US" dirty="0"/>
          </a:p>
        </p:txBody>
      </p:sp>
      <p:sp>
        <p:nvSpPr>
          <p:cNvPr id="8" name="矩形 7"/>
          <p:cNvSpPr/>
          <p:nvPr/>
        </p:nvSpPr>
        <p:spPr>
          <a:xfrm>
            <a:off x="5940152" y="499065"/>
            <a:ext cx="864096" cy="4142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 </a:t>
            </a:r>
            <a:r>
              <a:rPr kumimoji="1" lang="zh-CN" altLang="en-US" dirty="0"/>
              <a:t>处理</a:t>
            </a:r>
            <a:endParaRPr kumimoji="1" lang="zh-CN" altLang="en-US" dirty="0"/>
          </a:p>
        </p:txBody>
      </p:sp>
      <p:sp>
        <p:nvSpPr>
          <p:cNvPr id="9" name="矩形 8"/>
          <p:cNvSpPr/>
          <p:nvPr/>
        </p:nvSpPr>
        <p:spPr>
          <a:xfrm>
            <a:off x="7308304"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r>
              <a:rPr kumimoji="1" lang="zh-CN" altLang="en-US" dirty="0"/>
              <a:t> 公开</a:t>
            </a:r>
            <a:endParaRPr kumimoji="1" lang="zh-CN" altLang="en-US" dirty="0"/>
          </a:p>
        </p:txBody>
      </p:sp>
      <p:cxnSp>
        <p:nvCxnSpPr>
          <p:cNvPr id="13" name="直线箭头连接符 12"/>
          <p:cNvCxnSpPr>
            <a:stCxn id="6" idx="3"/>
            <a:endCxn id="7" idx="1"/>
          </p:cNvCxnSpPr>
          <p:nvPr/>
        </p:nvCxnSpPr>
        <p:spPr>
          <a:xfrm>
            <a:off x="4067944" y="70617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p:cNvCxnSpPr>
            <a:stCxn id="8" idx="3"/>
            <a:endCxn id="9" idx="1"/>
          </p:cNvCxnSpPr>
          <p:nvPr/>
        </p:nvCxnSpPr>
        <p:spPr>
          <a:xfrm>
            <a:off x="6804248" y="70617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p:cNvCxnSpPr>
            <a:stCxn id="7" idx="3"/>
            <a:endCxn id="8" idx="1"/>
          </p:cNvCxnSpPr>
          <p:nvPr/>
        </p:nvCxnSpPr>
        <p:spPr>
          <a:xfrm>
            <a:off x="5436096" y="70617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1"/>
          <a:stretch>
            <a:fillRect/>
          </a:stretch>
        </p:blipFill>
        <p:spPr>
          <a:xfrm>
            <a:off x="2121424" y="2454338"/>
            <a:ext cx="4901151" cy="3027894"/>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Fix</a:t>
            </a:r>
            <a:r>
              <a:rPr kumimoji="1" lang="zh-CN" altLang="en-US" dirty="0"/>
              <a:t> </a:t>
            </a:r>
            <a:r>
              <a:rPr kumimoji="1" lang="en-US" altLang="zh-CN" dirty="0"/>
              <a:t>the</a:t>
            </a:r>
            <a:r>
              <a:rPr kumimoji="1" lang="zh-CN" altLang="en-US" dirty="0"/>
              <a:t> </a:t>
            </a:r>
            <a:r>
              <a:rPr kumimoji="1" lang="en-US" altLang="zh-CN" dirty="0"/>
              <a:t>Bug</a:t>
            </a:r>
            <a:endParaRPr kumimoji="1" lang="zh-CN" altLang="en-US" dirty="0"/>
          </a:p>
        </p:txBody>
      </p:sp>
      <p:sp>
        <p:nvSpPr>
          <p:cNvPr id="3" name="内容占位符 2"/>
          <p:cNvSpPr>
            <a:spLocks noGrp="1"/>
          </p:cNvSpPr>
          <p:nvPr>
            <p:ph idx="1"/>
          </p:nvPr>
        </p:nvSpPr>
        <p:spPr/>
        <p:txBody>
          <a:bodyPr/>
          <a:lstStyle/>
          <a:p>
            <a:r>
              <a:rPr kumimoji="1" lang="en-US" altLang="zh-CN" dirty="0"/>
              <a:t>Phase-3:</a:t>
            </a:r>
            <a:r>
              <a:rPr kumimoji="1" lang="zh-CN" altLang="en-US" dirty="0"/>
              <a:t> </a:t>
            </a:r>
            <a:r>
              <a:rPr kumimoji="1" lang="en-US" altLang="zh-CN" dirty="0"/>
              <a:t>handle</a:t>
            </a:r>
            <a:r>
              <a:rPr kumimoji="1" lang="zh-CN" altLang="en-US" dirty="0"/>
              <a:t> </a:t>
            </a:r>
            <a:r>
              <a:rPr kumimoji="1" lang="en-US" altLang="zh-CN" dirty="0"/>
              <a:t>the</a:t>
            </a:r>
            <a:r>
              <a:rPr kumimoji="1" lang="zh-CN" altLang="en-US" dirty="0"/>
              <a:t> </a:t>
            </a:r>
            <a:r>
              <a:rPr kumimoji="1" lang="en-US" altLang="zh-CN" dirty="0"/>
              <a:t>bug</a:t>
            </a:r>
            <a:endParaRPr kumimoji="1" lang="en-US" altLang="zh-CN" dirty="0"/>
          </a:p>
          <a:p>
            <a:pPr lvl="1"/>
            <a:r>
              <a:rPr kumimoji="1" lang="en-US" altLang="zh-CN" dirty="0"/>
              <a:t>Test</a:t>
            </a:r>
            <a:r>
              <a:rPr kumimoji="1" lang="zh-CN" altLang="en-US" dirty="0"/>
              <a:t> </a:t>
            </a:r>
            <a:r>
              <a:rPr kumimoji="1" lang="en-US" altLang="zh-CN" dirty="0"/>
              <a:t>and</a:t>
            </a:r>
            <a:r>
              <a:rPr kumimoji="1" lang="zh-CN" altLang="en-US" dirty="0"/>
              <a:t> </a:t>
            </a:r>
            <a:r>
              <a:rPr kumimoji="1" lang="en-US" altLang="zh-CN" dirty="0"/>
              <a:t>patch review</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6" name="矩形 5"/>
          <p:cNvSpPr/>
          <p:nvPr/>
        </p:nvSpPr>
        <p:spPr>
          <a:xfrm>
            <a:off x="3203848"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 </a:t>
            </a:r>
            <a:r>
              <a:rPr kumimoji="1" lang="zh-CN" altLang="en-US" dirty="0"/>
              <a:t>发现</a:t>
            </a:r>
            <a:endParaRPr kumimoji="1" lang="zh-CN" altLang="en-US" dirty="0"/>
          </a:p>
        </p:txBody>
      </p:sp>
      <p:sp>
        <p:nvSpPr>
          <p:cNvPr id="7" name="矩形 6"/>
          <p:cNvSpPr/>
          <p:nvPr/>
        </p:nvSpPr>
        <p:spPr>
          <a:xfrm>
            <a:off x="4572000"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 </a:t>
            </a:r>
            <a:r>
              <a:rPr kumimoji="1" lang="zh-CN" altLang="en-US" dirty="0"/>
              <a:t>汇报</a:t>
            </a:r>
            <a:endParaRPr kumimoji="1" lang="zh-CN" altLang="en-US" dirty="0"/>
          </a:p>
        </p:txBody>
      </p:sp>
      <p:sp>
        <p:nvSpPr>
          <p:cNvPr id="8" name="矩形 7"/>
          <p:cNvSpPr/>
          <p:nvPr/>
        </p:nvSpPr>
        <p:spPr>
          <a:xfrm>
            <a:off x="5940152" y="499065"/>
            <a:ext cx="864096" cy="4142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 </a:t>
            </a:r>
            <a:r>
              <a:rPr kumimoji="1" lang="zh-CN" altLang="en-US" dirty="0"/>
              <a:t>处理</a:t>
            </a:r>
            <a:endParaRPr kumimoji="1" lang="zh-CN" altLang="en-US" dirty="0"/>
          </a:p>
        </p:txBody>
      </p:sp>
      <p:sp>
        <p:nvSpPr>
          <p:cNvPr id="9" name="矩形 8"/>
          <p:cNvSpPr/>
          <p:nvPr/>
        </p:nvSpPr>
        <p:spPr>
          <a:xfrm>
            <a:off x="7308304"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r>
              <a:rPr kumimoji="1" lang="zh-CN" altLang="en-US" dirty="0"/>
              <a:t> 公开</a:t>
            </a:r>
            <a:endParaRPr kumimoji="1" lang="zh-CN" altLang="en-US" dirty="0"/>
          </a:p>
        </p:txBody>
      </p:sp>
      <p:cxnSp>
        <p:nvCxnSpPr>
          <p:cNvPr id="13" name="直线箭头连接符 12"/>
          <p:cNvCxnSpPr>
            <a:stCxn id="6" idx="3"/>
            <a:endCxn id="7" idx="1"/>
          </p:cNvCxnSpPr>
          <p:nvPr/>
        </p:nvCxnSpPr>
        <p:spPr>
          <a:xfrm>
            <a:off x="4067944" y="70617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p:cNvCxnSpPr>
            <a:stCxn id="8" idx="3"/>
            <a:endCxn id="9" idx="1"/>
          </p:cNvCxnSpPr>
          <p:nvPr/>
        </p:nvCxnSpPr>
        <p:spPr>
          <a:xfrm>
            <a:off x="6804248" y="70617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p:cNvCxnSpPr>
            <a:stCxn id="7" idx="3"/>
            <a:endCxn id="8" idx="1"/>
          </p:cNvCxnSpPr>
          <p:nvPr/>
        </p:nvCxnSpPr>
        <p:spPr>
          <a:xfrm>
            <a:off x="5436096" y="70617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1"/>
          <a:stretch>
            <a:fillRect/>
          </a:stretch>
        </p:blipFill>
        <p:spPr>
          <a:xfrm>
            <a:off x="107504" y="2425452"/>
            <a:ext cx="5500325" cy="2133234"/>
          </a:xfrm>
          <a:prstGeom prst="rect">
            <a:avLst/>
          </a:prstGeom>
        </p:spPr>
      </p:pic>
      <p:pic>
        <p:nvPicPr>
          <p:cNvPr id="10" name="图片 9"/>
          <p:cNvPicPr>
            <a:picLocks noChangeAspect="1"/>
          </p:cNvPicPr>
          <p:nvPr/>
        </p:nvPicPr>
        <p:blipFill>
          <a:blip r:embed="rId2"/>
          <a:stretch>
            <a:fillRect/>
          </a:stretch>
        </p:blipFill>
        <p:spPr>
          <a:xfrm>
            <a:off x="3007060" y="3213711"/>
            <a:ext cx="7092280" cy="215428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Fix</a:t>
            </a:r>
            <a:r>
              <a:rPr kumimoji="1" lang="zh-CN" altLang="en-US" dirty="0"/>
              <a:t> </a:t>
            </a:r>
            <a:r>
              <a:rPr kumimoji="1" lang="en-US" altLang="zh-CN" dirty="0"/>
              <a:t>the</a:t>
            </a:r>
            <a:r>
              <a:rPr kumimoji="1" lang="zh-CN" altLang="en-US" dirty="0"/>
              <a:t> </a:t>
            </a:r>
            <a:r>
              <a:rPr kumimoji="1" lang="en-US" altLang="zh-CN" dirty="0"/>
              <a:t>Bug</a:t>
            </a:r>
            <a:endParaRPr kumimoji="1" lang="zh-CN" altLang="en-US" dirty="0"/>
          </a:p>
        </p:txBody>
      </p:sp>
      <p:sp>
        <p:nvSpPr>
          <p:cNvPr id="3" name="内容占位符 2"/>
          <p:cNvSpPr>
            <a:spLocks noGrp="1"/>
          </p:cNvSpPr>
          <p:nvPr>
            <p:ph idx="1"/>
          </p:nvPr>
        </p:nvSpPr>
        <p:spPr/>
        <p:txBody>
          <a:bodyPr/>
          <a:lstStyle/>
          <a:p>
            <a:r>
              <a:rPr kumimoji="1" lang="en-US" altLang="zh-CN" dirty="0"/>
              <a:t>Phase-3.5</a:t>
            </a:r>
            <a:r>
              <a:rPr kumimoji="1" lang="zh-CN" altLang="en-US" dirty="0"/>
              <a:t>：</a:t>
            </a:r>
            <a:r>
              <a:rPr kumimoji="1" lang="en-US" altLang="zh-CN" dirty="0"/>
              <a:t>Embargo Period </a:t>
            </a:r>
            <a:r>
              <a:rPr kumimoji="1" lang="zh-CN" altLang="en-US" dirty="0"/>
              <a:t>（可选）</a:t>
            </a:r>
            <a:endParaRPr kumimoji="1" lang="en-US" altLang="zh-CN" dirty="0"/>
          </a:p>
          <a:p>
            <a:pPr lvl="1"/>
            <a:r>
              <a:rPr kumimoji="1" lang="en-US" altLang="zh-CN" dirty="0"/>
              <a:t>discuss with</a:t>
            </a:r>
            <a:r>
              <a:rPr kumimoji="1" lang="zh-CN" altLang="en-US" dirty="0"/>
              <a:t> </a:t>
            </a:r>
            <a:r>
              <a:rPr kumimoji="1" lang="en-US" altLang="zh-CN" dirty="0"/>
              <a:t>maintainers</a:t>
            </a:r>
            <a:r>
              <a:rPr kumimoji="1" lang="zh-CN" altLang="en-US" dirty="0"/>
              <a:t> </a:t>
            </a:r>
            <a:r>
              <a:rPr kumimoji="1" lang="en-US" altLang="zh-CN" dirty="0"/>
              <a:t>of</a:t>
            </a:r>
            <a:r>
              <a:rPr kumimoji="1" lang="zh-CN" altLang="en-US" dirty="0"/>
              <a:t> </a:t>
            </a:r>
            <a:r>
              <a:rPr kumimoji="1" lang="en-US" altLang="zh-CN" dirty="0"/>
              <a:t>distributions,</a:t>
            </a:r>
            <a:r>
              <a:rPr kumimoji="1" lang="zh-CN" altLang="en-US" dirty="0"/>
              <a:t> </a:t>
            </a:r>
            <a:r>
              <a:rPr kumimoji="1" lang="en-US" altLang="zh-CN" dirty="0"/>
              <a:t>prepare</a:t>
            </a:r>
            <a:r>
              <a:rPr kumimoji="1" lang="zh-CN" altLang="en-US" dirty="0"/>
              <a:t> </a:t>
            </a:r>
            <a:r>
              <a:rPr kumimoji="1" lang="en-US" altLang="zh-CN" dirty="0"/>
              <a:t>to</a:t>
            </a:r>
            <a:r>
              <a:rPr kumimoji="1" lang="zh-CN" altLang="en-US" dirty="0"/>
              <a:t> </a:t>
            </a:r>
            <a:r>
              <a:rPr kumimoji="1" lang="en-US" altLang="zh-CN" dirty="0"/>
              <a:t>fix</a:t>
            </a:r>
            <a:endParaRPr kumimoji="1" lang="en-US" altLang="zh-CN" dirty="0"/>
          </a:p>
          <a:p>
            <a:pPr lvl="1"/>
            <a:r>
              <a:rPr kumimoji="1" lang="en-US" altLang="zh-CN" dirty="0"/>
              <a:t>Why</a:t>
            </a:r>
            <a:r>
              <a:rPr kumimoji="1" lang="zh-CN" altLang="en-US" dirty="0"/>
              <a:t> </a:t>
            </a:r>
            <a:r>
              <a:rPr kumimoji="1" lang="en-US" altLang="zh-CN" dirty="0"/>
              <a:t>not</a:t>
            </a:r>
            <a:r>
              <a:rPr kumimoji="1" lang="zh-CN" altLang="en-US" dirty="0"/>
              <a:t> </a:t>
            </a:r>
            <a:r>
              <a:rPr kumimoji="1" lang="en-US" altLang="zh-CN" dirty="0"/>
              <a:t>just</a:t>
            </a:r>
            <a:r>
              <a:rPr kumimoji="1" lang="zh-CN" altLang="en-US" dirty="0"/>
              <a:t> </a:t>
            </a:r>
            <a:r>
              <a:rPr kumimoji="1" lang="en-US" altLang="zh-CN" dirty="0"/>
              <a:t>fix</a:t>
            </a:r>
            <a:r>
              <a:rPr kumimoji="1" lang="zh-CN" altLang="en-US" dirty="0"/>
              <a:t> </a:t>
            </a:r>
            <a:r>
              <a:rPr kumimoji="1" lang="en-US" altLang="zh-CN" dirty="0"/>
              <a:t>it?</a:t>
            </a:r>
            <a:endParaRPr kumimoji="1" lang="en-US" altLang="zh-CN" dirty="0"/>
          </a:p>
          <a:p>
            <a:pPr lvl="2"/>
            <a:r>
              <a:rPr kumimoji="1" lang="en-US" altLang="zh-CN" dirty="0"/>
              <a:t>Submit</a:t>
            </a:r>
            <a:r>
              <a:rPr kumimoji="1" lang="zh-CN" altLang="en-US" dirty="0"/>
              <a:t> </a:t>
            </a:r>
            <a:r>
              <a:rPr kumimoji="1" lang="en-US" altLang="zh-CN" dirty="0"/>
              <a:t>a</a:t>
            </a:r>
            <a:r>
              <a:rPr kumimoji="1" lang="zh-CN" altLang="en-US" dirty="0"/>
              <a:t> </a:t>
            </a:r>
            <a:r>
              <a:rPr kumimoji="1" lang="en-US" altLang="zh-CN" dirty="0"/>
              <a:t>patch</a:t>
            </a:r>
            <a:r>
              <a:rPr kumimoji="1" lang="zh-CN" altLang="en-US" dirty="0"/>
              <a:t> </a:t>
            </a:r>
            <a:r>
              <a:rPr kumimoji="1" lang="en-US" altLang="zh-CN" dirty="0"/>
              <a:t>in</a:t>
            </a:r>
            <a:r>
              <a:rPr kumimoji="1" lang="zh-CN" altLang="en-US" dirty="0"/>
              <a:t> </a:t>
            </a:r>
            <a:r>
              <a:rPr kumimoji="1" lang="en-US" altLang="zh-CN" dirty="0"/>
              <a:t>public</a:t>
            </a:r>
            <a:r>
              <a:rPr kumimoji="1" lang="zh-CN" altLang="en-US" dirty="0"/>
              <a:t> </a:t>
            </a:r>
            <a:r>
              <a:rPr kumimoji="1" lang="en-US" altLang="zh-CN" dirty="0"/>
              <a:t>mailing</a:t>
            </a:r>
            <a:r>
              <a:rPr kumimoji="1" lang="zh-CN" altLang="en-US" dirty="0"/>
              <a:t> </a:t>
            </a:r>
            <a:r>
              <a:rPr kumimoji="1" lang="en-US" altLang="zh-CN" dirty="0"/>
              <a:t>list</a:t>
            </a:r>
            <a:r>
              <a:rPr kumimoji="1" lang="zh-CN" altLang="en-US" dirty="0"/>
              <a:t> </a:t>
            </a:r>
            <a:r>
              <a:rPr kumimoji="1" lang="en-US" altLang="zh-CN" dirty="0"/>
              <a:t>means</a:t>
            </a:r>
            <a:r>
              <a:rPr kumimoji="1" lang="zh-CN" altLang="en-US" dirty="0"/>
              <a:t> </a:t>
            </a:r>
            <a:r>
              <a:rPr kumimoji="1" lang="en-US" altLang="zh-CN" dirty="0"/>
              <a:t>public</a:t>
            </a:r>
            <a:endParaRPr kumimoji="1" lang="en-US" altLang="zh-CN" dirty="0"/>
          </a:p>
          <a:p>
            <a:pPr lvl="2"/>
            <a:r>
              <a:rPr kumimoji="1" lang="en-US" altLang="zh-CN" dirty="0"/>
              <a:t>Prevent</a:t>
            </a:r>
            <a:r>
              <a:rPr kumimoji="1" lang="zh-CN" altLang="en-US" dirty="0"/>
              <a:t> </a:t>
            </a:r>
            <a:r>
              <a:rPr kumimoji="1" lang="en-US" altLang="zh-CN" dirty="0"/>
              <a:t>distributions</a:t>
            </a:r>
            <a:r>
              <a:rPr kumimoji="1" lang="zh-CN" altLang="en-US" dirty="0"/>
              <a:t> </a:t>
            </a:r>
            <a:r>
              <a:rPr kumimoji="1" lang="en-US" altLang="zh-CN" dirty="0"/>
              <a:t>not</a:t>
            </a:r>
            <a:r>
              <a:rPr kumimoji="1" lang="zh-CN" altLang="en-US" dirty="0"/>
              <a:t> </a:t>
            </a:r>
            <a:r>
              <a:rPr kumimoji="1" lang="en-US" altLang="zh-CN" dirty="0"/>
              <a:t>fix</a:t>
            </a:r>
            <a:r>
              <a:rPr kumimoji="1" lang="zh-CN" altLang="en-US" dirty="0"/>
              <a:t> </a:t>
            </a:r>
            <a:r>
              <a:rPr kumimoji="1" lang="en-US" altLang="zh-CN" dirty="0"/>
              <a:t>the</a:t>
            </a:r>
            <a:r>
              <a:rPr kumimoji="1" lang="zh-CN" altLang="en-US" dirty="0"/>
              <a:t> </a:t>
            </a:r>
            <a:r>
              <a:rPr kumimoji="1" lang="en-US" altLang="zh-CN" dirty="0"/>
              <a:t>bugs</a:t>
            </a:r>
            <a:r>
              <a:rPr kumimoji="1" lang="zh-CN" altLang="en-US" dirty="0"/>
              <a:t> </a:t>
            </a:r>
            <a:r>
              <a:rPr kumimoji="1" lang="en-US" altLang="zh-CN" dirty="0"/>
              <a:t>in</a:t>
            </a:r>
            <a:r>
              <a:rPr kumimoji="1" lang="zh-CN" altLang="en-US" dirty="0"/>
              <a:t> </a:t>
            </a:r>
            <a:r>
              <a:rPr kumimoji="1" lang="en-US" altLang="zh-CN" dirty="0"/>
              <a:t>time</a:t>
            </a:r>
            <a:endParaRPr kumimoji="1" lang="en-US" altLang="zh-CN" dirty="0"/>
          </a:p>
          <a:p>
            <a:pPr lvl="1"/>
            <a:r>
              <a:rPr kumimoji="1" lang="en-US" altLang="zh-CN" dirty="0"/>
              <a:t>Decide</a:t>
            </a:r>
            <a:r>
              <a:rPr kumimoji="1" lang="zh-CN" altLang="en-US" dirty="0"/>
              <a:t> </a:t>
            </a:r>
            <a:r>
              <a:rPr kumimoji="1" lang="en-US" altLang="zh-CN" dirty="0"/>
              <a:t>whether</a:t>
            </a:r>
            <a:r>
              <a:rPr kumimoji="1" lang="zh-CN" altLang="en-US" dirty="0"/>
              <a:t> </a:t>
            </a:r>
            <a:r>
              <a:rPr kumimoji="1" lang="en-US" altLang="zh-CN" dirty="0"/>
              <a:t>embargo</a:t>
            </a:r>
            <a:r>
              <a:rPr kumimoji="1" lang="zh-CN" altLang="en-US" dirty="0"/>
              <a:t> </a:t>
            </a:r>
            <a:r>
              <a:rPr kumimoji="1" lang="en-US" altLang="zh-CN" dirty="0"/>
              <a:t>period</a:t>
            </a:r>
            <a:r>
              <a:rPr kumimoji="1" lang="zh-CN" altLang="en-US" dirty="0"/>
              <a:t> </a:t>
            </a:r>
            <a:r>
              <a:rPr kumimoji="1" lang="en-US" altLang="zh-CN" dirty="0"/>
              <a:t>is</a:t>
            </a:r>
            <a:r>
              <a:rPr kumimoji="1" lang="zh-CN" altLang="en-US" dirty="0"/>
              <a:t> </a:t>
            </a:r>
            <a:r>
              <a:rPr kumimoji="1" lang="en-US" altLang="zh-CN" dirty="0"/>
              <a:t>needed:</a:t>
            </a:r>
            <a:r>
              <a:rPr kumimoji="1" lang="zh-CN" altLang="en-US" dirty="0"/>
              <a:t> </a:t>
            </a:r>
            <a:r>
              <a:rPr kumimoji="1" lang="en-US" altLang="zh-CN" dirty="0"/>
              <a:t>evaluate</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6" name="矩形 5"/>
          <p:cNvSpPr/>
          <p:nvPr/>
        </p:nvSpPr>
        <p:spPr>
          <a:xfrm>
            <a:off x="3203848"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 </a:t>
            </a:r>
            <a:r>
              <a:rPr kumimoji="1" lang="zh-CN" altLang="en-US" dirty="0"/>
              <a:t>发现</a:t>
            </a:r>
            <a:endParaRPr kumimoji="1" lang="zh-CN" altLang="en-US" dirty="0"/>
          </a:p>
        </p:txBody>
      </p:sp>
      <p:sp>
        <p:nvSpPr>
          <p:cNvPr id="7" name="矩形 6"/>
          <p:cNvSpPr/>
          <p:nvPr/>
        </p:nvSpPr>
        <p:spPr>
          <a:xfrm>
            <a:off x="4427984" y="499064"/>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 </a:t>
            </a:r>
            <a:r>
              <a:rPr kumimoji="1" lang="zh-CN" altLang="en-US" dirty="0"/>
              <a:t>汇报</a:t>
            </a:r>
            <a:endParaRPr kumimoji="1" lang="zh-CN" altLang="en-US" dirty="0"/>
          </a:p>
        </p:txBody>
      </p:sp>
      <p:sp>
        <p:nvSpPr>
          <p:cNvPr id="8" name="矩形 7"/>
          <p:cNvSpPr/>
          <p:nvPr/>
        </p:nvSpPr>
        <p:spPr>
          <a:xfrm>
            <a:off x="5652120" y="499063"/>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 </a:t>
            </a:r>
            <a:r>
              <a:rPr kumimoji="1" lang="zh-CN" altLang="en-US" dirty="0"/>
              <a:t>处理</a:t>
            </a:r>
            <a:endParaRPr kumimoji="1" lang="zh-CN" altLang="en-US" dirty="0"/>
          </a:p>
        </p:txBody>
      </p:sp>
      <p:sp>
        <p:nvSpPr>
          <p:cNvPr id="9" name="矩形 8"/>
          <p:cNvSpPr/>
          <p:nvPr/>
        </p:nvSpPr>
        <p:spPr>
          <a:xfrm>
            <a:off x="6526560" y="1129569"/>
            <a:ext cx="1296144" cy="4142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3.5</a:t>
            </a:r>
            <a:r>
              <a:rPr kumimoji="1" lang="zh-CN" altLang="en-US" sz="1400" dirty="0"/>
              <a:t> </a:t>
            </a:r>
            <a:r>
              <a:rPr kumimoji="1" lang="en-US" altLang="zh-CN" sz="1400" dirty="0"/>
              <a:t>Embargo</a:t>
            </a:r>
            <a:endParaRPr kumimoji="1" lang="zh-CN" altLang="en-US" sz="1400" dirty="0"/>
          </a:p>
        </p:txBody>
      </p:sp>
      <p:cxnSp>
        <p:nvCxnSpPr>
          <p:cNvPr id="13" name="直线箭头连接符 12"/>
          <p:cNvCxnSpPr>
            <a:stCxn id="6" idx="3"/>
            <a:endCxn id="7" idx="1"/>
          </p:cNvCxnSpPr>
          <p:nvPr/>
        </p:nvCxnSpPr>
        <p:spPr>
          <a:xfrm flipV="1">
            <a:off x="4067944" y="706173"/>
            <a:ext cx="36004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p:cNvCxnSpPr>
            <a:stCxn id="8" idx="3"/>
            <a:endCxn id="9" idx="0"/>
          </p:cNvCxnSpPr>
          <p:nvPr/>
        </p:nvCxnSpPr>
        <p:spPr>
          <a:xfrm>
            <a:off x="6516216" y="706172"/>
            <a:ext cx="658416" cy="423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p:cNvCxnSpPr>
            <a:stCxn id="7" idx="3"/>
            <a:endCxn id="8" idx="1"/>
          </p:cNvCxnSpPr>
          <p:nvPr/>
        </p:nvCxnSpPr>
        <p:spPr>
          <a:xfrm flipV="1">
            <a:off x="5292080" y="706172"/>
            <a:ext cx="36004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7822704" y="499062"/>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r>
              <a:rPr kumimoji="1" lang="zh-CN" altLang="en-US" dirty="0"/>
              <a:t> 公开</a:t>
            </a:r>
            <a:endParaRPr kumimoji="1" lang="zh-CN" altLang="en-US" dirty="0"/>
          </a:p>
        </p:txBody>
      </p:sp>
      <p:cxnSp>
        <p:nvCxnSpPr>
          <p:cNvPr id="23" name="直线箭头连接符 22"/>
          <p:cNvCxnSpPr>
            <a:stCxn id="9" idx="0"/>
            <a:endCxn id="14" idx="1"/>
          </p:cNvCxnSpPr>
          <p:nvPr/>
        </p:nvCxnSpPr>
        <p:spPr>
          <a:xfrm flipV="1">
            <a:off x="7174632" y="706171"/>
            <a:ext cx="648072" cy="423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图片 29"/>
          <p:cNvPicPr>
            <a:picLocks noChangeAspect="1"/>
          </p:cNvPicPr>
          <p:nvPr/>
        </p:nvPicPr>
        <p:blipFill>
          <a:blip r:embed="rId1"/>
          <a:stretch>
            <a:fillRect/>
          </a:stretch>
        </p:blipFill>
        <p:spPr>
          <a:xfrm>
            <a:off x="1331640" y="4073369"/>
            <a:ext cx="7181800" cy="616260"/>
          </a:xfrm>
          <a:prstGeom prst="rect">
            <a:avLst/>
          </a:prstGeom>
          <a:ln>
            <a:noFill/>
          </a:ln>
          <a:effectLst>
            <a:outerShdw blurRad="292100" dist="139700" dir="2700000" algn="tl" rotWithShape="0">
              <a:srgbClr val="333333">
                <a:alpha val="65000"/>
              </a:srgbClr>
            </a:outerShdw>
          </a:effectLst>
        </p:spPr>
      </p:pic>
      <p:pic>
        <p:nvPicPr>
          <p:cNvPr id="36" name="图片 35"/>
          <p:cNvPicPr>
            <a:picLocks noChangeAspect="1"/>
          </p:cNvPicPr>
          <p:nvPr/>
        </p:nvPicPr>
        <p:blipFill>
          <a:blip r:embed="rId2"/>
          <a:stretch>
            <a:fillRect/>
          </a:stretch>
        </p:blipFill>
        <p:spPr>
          <a:xfrm>
            <a:off x="1331640" y="4858529"/>
            <a:ext cx="6253956" cy="593221"/>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Fix</a:t>
            </a:r>
            <a:r>
              <a:rPr kumimoji="1" lang="zh-CN" altLang="en-US" dirty="0"/>
              <a:t> </a:t>
            </a:r>
            <a:r>
              <a:rPr kumimoji="1" lang="en-US" altLang="zh-CN" dirty="0"/>
              <a:t>the</a:t>
            </a:r>
            <a:r>
              <a:rPr kumimoji="1" lang="zh-CN" altLang="en-US" dirty="0"/>
              <a:t> </a:t>
            </a:r>
            <a:r>
              <a:rPr kumimoji="1" lang="en-US" altLang="zh-CN" dirty="0"/>
              <a:t>Bug</a:t>
            </a:r>
            <a:endParaRPr kumimoji="1" lang="zh-CN" altLang="en-US" dirty="0"/>
          </a:p>
        </p:txBody>
      </p:sp>
      <p:sp>
        <p:nvSpPr>
          <p:cNvPr id="3" name="内容占位符 2"/>
          <p:cNvSpPr>
            <a:spLocks noGrp="1"/>
          </p:cNvSpPr>
          <p:nvPr>
            <p:ph idx="1"/>
          </p:nvPr>
        </p:nvSpPr>
        <p:spPr/>
        <p:txBody>
          <a:bodyPr/>
          <a:lstStyle/>
          <a:p>
            <a:r>
              <a:rPr kumimoji="1" lang="en-US" altLang="zh-CN" dirty="0"/>
              <a:t>Phase-3.5</a:t>
            </a:r>
            <a:r>
              <a:rPr kumimoji="1" lang="zh-CN" altLang="en-US" dirty="0"/>
              <a:t>：</a:t>
            </a:r>
            <a:r>
              <a:rPr kumimoji="1" lang="en-US" altLang="zh-CN" dirty="0"/>
              <a:t>Embargo Period</a:t>
            </a:r>
            <a:endParaRPr kumimoji="1" lang="en-US" altLang="zh-CN" dirty="0"/>
          </a:p>
          <a:p>
            <a:pPr lvl="1"/>
            <a:r>
              <a:rPr kumimoji="1" lang="en-US" altLang="zh-CN" dirty="0"/>
              <a:t>You</a:t>
            </a:r>
            <a:r>
              <a:rPr kumimoji="1" lang="zh-CN" altLang="en-US" dirty="0"/>
              <a:t> </a:t>
            </a:r>
            <a:r>
              <a:rPr kumimoji="1" lang="en-US" altLang="zh-CN" dirty="0"/>
              <a:t>can</a:t>
            </a:r>
            <a:r>
              <a:rPr kumimoji="1" lang="zh-CN" altLang="en-US" dirty="0"/>
              <a:t> </a:t>
            </a:r>
            <a:r>
              <a:rPr kumimoji="1" lang="en-US" altLang="zh-CN" dirty="0" err="1"/>
              <a:t>negociate</a:t>
            </a:r>
            <a:r>
              <a:rPr kumimoji="1" lang="zh-CN" altLang="en-US" dirty="0"/>
              <a:t> </a:t>
            </a:r>
            <a:r>
              <a:rPr kumimoji="1" lang="en-US" altLang="zh-CN" dirty="0"/>
              <a:t>Embargo Period</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6" name="矩形 5"/>
          <p:cNvSpPr/>
          <p:nvPr/>
        </p:nvSpPr>
        <p:spPr>
          <a:xfrm>
            <a:off x="3203848"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 </a:t>
            </a:r>
            <a:r>
              <a:rPr kumimoji="1" lang="zh-CN" altLang="en-US" dirty="0"/>
              <a:t>发现</a:t>
            </a:r>
            <a:endParaRPr kumimoji="1" lang="zh-CN" altLang="en-US" dirty="0"/>
          </a:p>
        </p:txBody>
      </p:sp>
      <p:sp>
        <p:nvSpPr>
          <p:cNvPr id="7" name="矩形 6"/>
          <p:cNvSpPr/>
          <p:nvPr/>
        </p:nvSpPr>
        <p:spPr>
          <a:xfrm>
            <a:off x="4427984" y="499064"/>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 </a:t>
            </a:r>
            <a:r>
              <a:rPr kumimoji="1" lang="zh-CN" altLang="en-US" dirty="0"/>
              <a:t>汇报</a:t>
            </a:r>
            <a:endParaRPr kumimoji="1" lang="zh-CN" altLang="en-US" dirty="0"/>
          </a:p>
        </p:txBody>
      </p:sp>
      <p:sp>
        <p:nvSpPr>
          <p:cNvPr id="8" name="矩形 7"/>
          <p:cNvSpPr/>
          <p:nvPr/>
        </p:nvSpPr>
        <p:spPr>
          <a:xfrm>
            <a:off x="5652120" y="499063"/>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 </a:t>
            </a:r>
            <a:r>
              <a:rPr kumimoji="1" lang="zh-CN" altLang="en-US" dirty="0"/>
              <a:t>处理</a:t>
            </a:r>
            <a:endParaRPr kumimoji="1" lang="zh-CN" altLang="en-US" dirty="0"/>
          </a:p>
        </p:txBody>
      </p:sp>
      <p:sp>
        <p:nvSpPr>
          <p:cNvPr id="9" name="矩形 8"/>
          <p:cNvSpPr/>
          <p:nvPr/>
        </p:nvSpPr>
        <p:spPr>
          <a:xfrm>
            <a:off x="6526560" y="1129569"/>
            <a:ext cx="1296144" cy="4142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3.5</a:t>
            </a:r>
            <a:r>
              <a:rPr kumimoji="1" lang="zh-CN" altLang="en-US" sz="1400" dirty="0"/>
              <a:t> </a:t>
            </a:r>
            <a:r>
              <a:rPr kumimoji="1" lang="en-US" altLang="zh-CN" sz="1400" dirty="0"/>
              <a:t>Embargo</a:t>
            </a:r>
            <a:endParaRPr kumimoji="1" lang="zh-CN" altLang="en-US" sz="1400" dirty="0"/>
          </a:p>
        </p:txBody>
      </p:sp>
      <p:cxnSp>
        <p:nvCxnSpPr>
          <p:cNvPr id="13" name="直线箭头连接符 12"/>
          <p:cNvCxnSpPr>
            <a:stCxn id="6" idx="3"/>
            <a:endCxn id="7" idx="1"/>
          </p:cNvCxnSpPr>
          <p:nvPr/>
        </p:nvCxnSpPr>
        <p:spPr>
          <a:xfrm flipV="1">
            <a:off x="4067944" y="706173"/>
            <a:ext cx="36004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p:cNvCxnSpPr>
            <a:stCxn id="8" idx="3"/>
            <a:endCxn id="9" idx="0"/>
          </p:cNvCxnSpPr>
          <p:nvPr/>
        </p:nvCxnSpPr>
        <p:spPr>
          <a:xfrm>
            <a:off x="6516216" y="706172"/>
            <a:ext cx="658416" cy="423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p:cNvCxnSpPr>
            <a:stCxn id="7" idx="3"/>
            <a:endCxn id="8" idx="1"/>
          </p:cNvCxnSpPr>
          <p:nvPr/>
        </p:nvCxnSpPr>
        <p:spPr>
          <a:xfrm flipV="1">
            <a:off x="5292080" y="706172"/>
            <a:ext cx="36004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7822704" y="499062"/>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r>
              <a:rPr kumimoji="1" lang="zh-CN" altLang="en-US" dirty="0"/>
              <a:t> 公开</a:t>
            </a:r>
            <a:endParaRPr kumimoji="1" lang="zh-CN" altLang="en-US" dirty="0"/>
          </a:p>
        </p:txBody>
      </p:sp>
      <p:cxnSp>
        <p:nvCxnSpPr>
          <p:cNvPr id="23" name="直线箭头连接符 22"/>
          <p:cNvCxnSpPr>
            <a:stCxn id="9" idx="0"/>
            <a:endCxn id="14" idx="1"/>
          </p:cNvCxnSpPr>
          <p:nvPr/>
        </p:nvCxnSpPr>
        <p:spPr>
          <a:xfrm flipV="1">
            <a:off x="7174632" y="706171"/>
            <a:ext cx="648072" cy="423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862731" y="5276152"/>
            <a:ext cx="7418539" cy="3769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TCB:</a:t>
            </a:r>
            <a:r>
              <a:rPr kumimoji="1" lang="zh-CN" altLang="en-US" dirty="0">
                <a:solidFill>
                  <a:schemeClr val="tx1"/>
                </a:solidFill>
              </a:rPr>
              <a:t> </a:t>
            </a:r>
            <a:r>
              <a:rPr kumimoji="1" lang="en-US" altLang="zh-CN" dirty="0">
                <a:solidFill>
                  <a:schemeClr val="tx1"/>
                </a:solidFill>
              </a:rPr>
              <a:t>Distributions</a:t>
            </a:r>
            <a:r>
              <a:rPr kumimoji="1" lang="zh-CN" altLang="en-US" dirty="0">
                <a:solidFill>
                  <a:schemeClr val="tx1"/>
                </a:solidFill>
              </a:rPr>
              <a:t> </a:t>
            </a:r>
            <a:r>
              <a:rPr kumimoji="1" lang="en-US" altLang="zh-CN" dirty="0">
                <a:solidFill>
                  <a:schemeClr val="tx1"/>
                </a:solidFill>
              </a:rPr>
              <a:t>+</a:t>
            </a:r>
            <a:r>
              <a:rPr kumimoji="1" lang="zh-CN" altLang="en-US" dirty="0">
                <a:solidFill>
                  <a:schemeClr val="tx1"/>
                </a:solidFill>
              </a:rPr>
              <a:t> </a:t>
            </a:r>
            <a:r>
              <a:rPr kumimoji="1" lang="en-US" altLang="zh-CN" dirty="0">
                <a:solidFill>
                  <a:schemeClr val="tx1"/>
                </a:solidFill>
              </a:rPr>
              <a:t>Related</a:t>
            </a:r>
            <a:r>
              <a:rPr kumimoji="1" lang="zh-CN" altLang="en-US" dirty="0">
                <a:solidFill>
                  <a:schemeClr val="tx1"/>
                </a:solidFill>
              </a:rPr>
              <a:t> </a:t>
            </a:r>
            <a:r>
              <a:rPr kumimoji="1" lang="en-US" altLang="zh-CN" dirty="0">
                <a:solidFill>
                  <a:schemeClr val="tx1"/>
                </a:solidFill>
              </a:rPr>
              <a:t>developers</a:t>
            </a:r>
            <a:r>
              <a:rPr kumimoji="1" lang="zh-CN" altLang="en-US" dirty="0">
                <a:solidFill>
                  <a:schemeClr val="tx1"/>
                </a:solidFill>
              </a:rPr>
              <a:t> </a:t>
            </a:r>
            <a:r>
              <a:rPr kumimoji="1" lang="en-US" altLang="zh-CN" dirty="0">
                <a:solidFill>
                  <a:schemeClr val="tx1"/>
                </a:solidFill>
              </a:rPr>
              <a:t>+</a:t>
            </a:r>
            <a:r>
              <a:rPr kumimoji="1" lang="zh-CN" altLang="en-US" dirty="0">
                <a:solidFill>
                  <a:schemeClr val="tx1"/>
                </a:solidFill>
              </a:rPr>
              <a:t> </a:t>
            </a:r>
            <a:r>
              <a:rPr kumimoji="1" lang="en-US" altLang="zh-CN" dirty="0">
                <a:solidFill>
                  <a:schemeClr val="tx1"/>
                </a:solidFill>
              </a:rPr>
              <a:t>Mailing</a:t>
            </a:r>
            <a:r>
              <a:rPr kumimoji="1" lang="zh-CN" altLang="en-US" dirty="0">
                <a:solidFill>
                  <a:schemeClr val="tx1"/>
                </a:solidFill>
              </a:rPr>
              <a:t> </a:t>
            </a:r>
            <a:r>
              <a:rPr kumimoji="1" lang="en-US" altLang="zh-CN" dirty="0">
                <a:solidFill>
                  <a:schemeClr val="tx1"/>
                </a:solidFill>
              </a:rPr>
              <a:t>list</a:t>
            </a:r>
            <a:r>
              <a:rPr kumimoji="1" lang="zh-CN" altLang="en-US" dirty="0">
                <a:solidFill>
                  <a:schemeClr val="tx1"/>
                </a:solidFill>
              </a:rPr>
              <a:t> </a:t>
            </a:r>
            <a:r>
              <a:rPr kumimoji="1" lang="en-US" altLang="zh-CN" dirty="0">
                <a:solidFill>
                  <a:schemeClr val="tx1"/>
                </a:solidFill>
              </a:rPr>
              <a:t>+</a:t>
            </a:r>
            <a:r>
              <a:rPr kumimoji="1" lang="zh-CN" altLang="en-US" dirty="0">
                <a:solidFill>
                  <a:schemeClr val="tx1"/>
                </a:solidFill>
              </a:rPr>
              <a:t> </a:t>
            </a:r>
            <a:r>
              <a:rPr kumimoji="1" lang="en-US" altLang="zh-CN" dirty="0">
                <a:solidFill>
                  <a:schemeClr val="tx1"/>
                </a:solidFill>
              </a:rPr>
              <a:t>Yourself</a:t>
            </a:r>
            <a:endParaRPr kumimoji="1" lang="zh-CN" altLang="en-US" dirty="0">
              <a:solidFill>
                <a:schemeClr val="tx1"/>
              </a:solidFill>
            </a:endParaRPr>
          </a:p>
        </p:txBody>
      </p:sp>
      <p:pic>
        <p:nvPicPr>
          <p:cNvPr id="37" name="图片 36"/>
          <p:cNvPicPr>
            <a:picLocks noChangeAspect="1"/>
          </p:cNvPicPr>
          <p:nvPr/>
        </p:nvPicPr>
        <p:blipFill>
          <a:blip r:embed="rId1"/>
          <a:stretch>
            <a:fillRect/>
          </a:stretch>
        </p:blipFill>
        <p:spPr>
          <a:xfrm>
            <a:off x="1196105" y="2424976"/>
            <a:ext cx="7327853" cy="608934"/>
          </a:xfrm>
          <a:prstGeom prst="rect">
            <a:avLst/>
          </a:prstGeom>
          <a:ln>
            <a:noFill/>
          </a:ln>
          <a:effectLst>
            <a:outerShdw blurRad="292100" dist="139700" dir="2700000" algn="tl" rotWithShape="0">
              <a:srgbClr val="333333">
                <a:alpha val="65000"/>
              </a:srgbClr>
            </a:outerShdw>
          </a:effectLst>
        </p:spPr>
      </p:pic>
      <p:pic>
        <p:nvPicPr>
          <p:cNvPr id="38" name="图片 37"/>
          <p:cNvPicPr>
            <a:picLocks noChangeAspect="1"/>
          </p:cNvPicPr>
          <p:nvPr/>
        </p:nvPicPr>
        <p:blipFill>
          <a:blip r:embed="rId2"/>
          <a:stretch>
            <a:fillRect/>
          </a:stretch>
        </p:blipFill>
        <p:spPr>
          <a:xfrm>
            <a:off x="1200933" y="3104937"/>
            <a:ext cx="5158216" cy="922845"/>
          </a:xfrm>
          <a:prstGeom prst="rect">
            <a:avLst/>
          </a:prstGeom>
          <a:ln>
            <a:noFill/>
          </a:ln>
          <a:effectLst>
            <a:outerShdw blurRad="292100" dist="139700" dir="2700000" algn="tl" rotWithShape="0">
              <a:srgbClr val="333333">
                <a:alpha val="65000"/>
              </a:srgbClr>
            </a:outerShdw>
          </a:effectLst>
        </p:spPr>
      </p:pic>
      <p:pic>
        <p:nvPicPr>
          <p:cNvPr id="39" name="图片 38"/>
          <p:cNvPicPr>
            <a:picLocks noChangeAspect="1"/>
          </p:cNvPicPr>
          <p:nvPr/>
        </p:nvPicPr>
        <p:blipFill>
          <a:blip r:embed="rId3"/>
          <a:stretch>
            <a:fillRect/>
          </a:stretch>
        </p:blipFill>
        <p:spPr>
          <a:xfrm>
            <a:off x="1196105" y="4129879"/>
            <a:ext cx="5600605" cy="911104"/>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Fix</a:t>
            </a:r>
            <a:r>
              <a:rPr kumimoji="1" lang="zh-CN" altLang="en-US" dirty="0"/>
              <a:t> </a:t>
            </a:r>
            <a:r>
              <a:rPr kumimoji="1" lang="en-US" altLang="zh-CN" dirty="0"/>
              <a:t>the</a:t>
            </a:r>
            <a:r>
              <a:rPr kumimoji="1" lang="zh-CN" altLang="en-US" dirty="0"/>
              <a:t> </a:t>
            </a:r>
            <a:r>
              <a:rPr kumimoji="1" lang="en-US" altLang="zh-CN" dirty="0"/>
              <a:t>Bug</a:t>
            </a:r>
            <a:endParaRPr kumimoji="1" lang="zh-CN" altLang="en-US" dirty="0"/>
          </a:p>
        </p:txBody>
      </p:sp>
      <p:sp>
        <p:nvSpPr>
          <p:cNvPr id="3" name="内容占位符 2"/>
          <p:cNvSpPr>
            <a:spLocks noGrp="1"/>
          </p:cNvSpPr>
          <p:nvPr>
            <p:ph idx="1"/>
          </p:nvPr>
        </p:nvSpPr>
        <p:spPr>
          <a:xfrm>
            <a:off x="457200" y="1333500"/>
            <a:ext cx="8229600" cy="4381500"/>
          </a:xfrm>
        </p:spPr>
        <p:txBody>
          <a:bodyPr>
            <a:normAutofit/>
          </a:bodyPr>
          <a:lstStyle/>
          <a:p>
            <a:r>
              <a:rPr kumimoji="1" lang="en-US" altLang="zh-CN" dirty="0"/>
              <a:t>Phase-4:</a:t>
            </a:r>
            <a:r>
              <a:rPr kumimoji="1" lang="zh-CN" altLang="en-US" dirty="0"/>
              <a:t> </a:t>
            </a:r>
            <a:r>
              <a:rPr kumimoji="1" lang="en-US" altLang="zh-CN" dirty="0"/>
              <a:t>Public</a:t>
            </a:r>
            <a:endParaRPr kumimoji="1" lang="en-US" altLang="zh-CN" dirty="0"/>
          </a:p>
          <a:p>
            <a:pPr lvl="1"/>
            <a:r>
              <a:rPr kumimoji="1" lang="en-US" altLang="zh-CN" dirty="0"/>
              <a:t>Merge</a:t>
            </a:r>
            <a:r>
              <a:rPr kumimoji="1" lang="zh-CN" altLang="en-US" dirty="0"/>
              <a:t> </a:t>
            </a:r>
            <a:r>
              <a:rPr kumimoji="1" lang="en-US" altLang="zh-CN" dirty="0"/>
              <a:t>to</a:t>
            </a:r>
            <a:r>
              <a:rPr kumimoji="1" lang="zh-CN" altLang="en-US" dirty="0"/>
              <a:t> </a:t>
            </a:r>
            <a:r>
              <a:rPr kumimoji="1" lang="en-US" altLang="zh-CN" dirty="0"/>
              <a:t>mainstream</a:t>
            </a:r>
            <a:endParaRPr kumimoji="1" lang="en-US" altLang="zh-CN" dirty="0"/>
          </a:p>
          <a:p>
            <a:pPr lvl="1"/>
            <a:endParaRPr kumimoji="1" lang="en-US" altLang="zh-CN" dirty="0"/>
          </a:p>
          <a:p>
            <a:pPr lvl="1"/>
            <a:r>
              <a:rPr kumimoji="1" lang="en-US" altLang="zh-CN" dirty="0"/>
              <a:t>Backport</a:t>
            </a:r>
            <a:r>
              <a:rPr kumimoji="1" lang="zh-CN" altLang="en-US" dirty="0"/>
              <a:t> </a:t>
            </a:r>
            <a:r>
              <a:rPr kumimoji="1" lang="en-US" altLang="zh-CN" dirty="0"/>
              <a:t>to</a:t>
            </a:r>
            <a:r>
              <a:rPr kumimoji="1" lang="zh-CN" altLang="en-US" dirty="0"/>
              <a:t> </a:t>
            </a:r>
            <a:r>
              <a:rPr kumimoji="1" lang="en-US" altLang="zh-CN" dirty="0"/>
              <a:t>related</a:t>
            </a:r>
            <a:r>
              <a:rPr kumimoji="1" lang="zh-CN" altLang="en-US" dirty="0"/>
              <a:t> </a:t>
            </a:r>
            <a:r>
              <a:rPr kumimoji="1" lang="en-US" altLang="zh-CN" dirty="0"/>
              <a:t>stable</a:t>
            </a:r>
            <a:r>
              <a:rPr kumimoji="1" lang="zh-CN" altLang="en-US" dirty="0"/>
              <a:t> </a:t>
            </a:r>
            <a:r>
              <a:rPr kumimoji="1" lang="en-US" altLang="zh-CN" dirty="0"/>
              <a:t>versions</a:t>
            </a:r>
            <a:endParaRPr kumimoji="1" lang="en-US" altLang="zh-CN" dirty="0"/>
          </a:p>
          <a:p>
            <a:pPr lvl="1"/>
            <a:r>
              <a:rPr kumimoji="1" lang="en-US" altLang="zh-CN" dirty="0"/>
              <a:t>Publish</a:t>
            </a:r>
            <a:r>
              <a:rPr kumimoji="1" lang="zh-CN" altLang="en-US" dirty="0"/>
              <a:t> </a:t>
            </a:r>
            <a:r>
              <a:rPr kumimoji="1" lang="en-US" altLang="zh-CN" dirty="0"/>
              <a:t>to</a:t>
            </a:r>
            <a:r>
              <a:rPr kumimoji="1" lang="zh-CN" altLang="en-US" dirty="0"/>
              <a:t> </a:t>
            </a:r>
            <a:r>
              <a:rPr kumimoji="1" lang="en-US" altLang="zh-CN" dirty="0"/>
              <a:t>public</a:t>
            </a:r>
            <a:r>
              <a:rPr kumimoji="1" lang="zh-CN" altLang="en-US" dirty="0"/>
              <a:t> </a:t>
            </a:r>
            <a:r>
              <a:rPr kumimoji="1" lang="en-US" altLang="zh-CN" dirty="0"/>
              <a:t>mailing</a:t>
            </a:r>
            <a:r>
              <a:rPr kumimoji="1" lang="zh-CN" altLang="en-US" dirty="0"/>
              <a:t> </a:t>
            </a:r>
            <a:r>
              <a:rPr kumimoji="1" lang="en-US" altLang="zh-CN" dirty="0"/>
              <a:t>list,</a:t>
            </a:r>
            <a:r>
              <a:rPr kumimoji="1" lang="zh-CN" altLang="en-US" dirty="0"/>
              <a:t> </a:t>
            </a:r>
            <a:r>
              <a:rPr kumimoji="1" lang="en-US" altLang="zh-CN" dirty="0"/>
              <a:t>security</a:t>
            </a:r>
            <a:r>
              <a:rPr kumimoji="1" lang="zh-CN" altLang="en-US" dirty="0"/>
              <a:t> </a:t>
            </a:r>
            <a:r>
              <a:rPr kumimoji="1" lang="en-US" altLang="zh-CN" dirty="0"/>
              <a:t>group</a:t>
            </a:r>
            <a:endParaRPr kumimoji="1" lang="en-US" altLang="zh-CN" dirty="0"/>
          </a:p>
          <a:p>
            <a:pPr lvl="2"/>
            <a:r>
              <a:rPr kumimoji="1" lang="en-US" altLang="zh-CN" dirty="0"/>
              <a:t>E.g.,</a:t>
            </a:r>
            <a:r>
              <a:rPr kumimoji="1" lang="zh-CN" altLang="en-US" dirty="0"/>
              <a:t> </a:t>
            </a:r>
            <a:r>
              <a:rPr kumimoji="1" lang="en-GB" altLang="zh-CN" dirty="0" err="1"/>
              <a:t>oss-security@lists.openwall.com</a:t>
            </a:r>
            <a:endParaRPr kumimoji="1" lang="en-US" altLang="zh-CN" dirty="0"/>
          </a:p>
          <a:p>
            <a:pPr lvl="1"/>
            <a:r>
              <a:rPr kumimoji="1" lang="en-US" altLang="zh-CN" dirty="0"/>
              <a:t>Update</a:t>
            </a:r>
            <a:r>
              <a:rPr kumimoji="1" lang="zh-CN" altLang="en-US" dirty="0"/>
              <a:t> </a:t>
            </a:r>
            <a:r>
              <a:rPr kumimoji="1" lang="en-US" altLang="zh-CN" dirty="0"/>
              <a:t>CVE</a:t>
            </a:r>
            <a:r>
              <a:rPr kumimoji="1" lang="zh-CN" altLang="en-US" dirty="0"/>
              <a:t> </a:t>
            </a:r>
            <a:r>
              <a:rPr kumimoji="1" lang="en-US" altLang="zh-CN" dirty="0"/>
              <a:t>status</a:t>
            </a:r>
            <a:r>
              <a:rPr kumimoji="1" lang="zh-CN" altLang="en-US" dirty="0"/>
              <a:t> </a:t>
            </a:r>
            <a:r>
              <a:rPr kumimoji="1" lang="en-US" altLang="zh-CN" dirty="0"/>
              <a:t>to</a:t>
            </a:r>
            <a:r>
              <a:rPr kumimoji="1" lang="zh-CN" altLang="en-US" dirty="0"/>
              <a:t> </a:t>
            </a:r>
            <a:r>
              <a:rPr kumimoji="1" lang="en-US" altLang="zh-CN" dirty="0"/>
              <a:t>public</a:t>
            </a: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6" name="矩形 5"/>
          <p:cNvSpPr/>
          <p:nvPr/>
        </p:nvSpPr>
        <p:spPr>
          <a:xfrm>
            <a:off x="3203848" y="499065"/>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 </a:t>
            </a:r>
            <a:r>
              <a:rPr kumimoji="1" lang="zh-CN" altLang="en-US" dirty="0"/>
              <a:t>发现</a:t>
            </a:r>
            <a:endParaRPr kumimoji="1" lang="zh-CN" altLang="en-US" dirty="0"/>
          </a:p>
        </p:txBody>
      </p:sp>
      <p:sp>
        <p:nvSpPr>
          <p:cNvPr id="7" name="矩形 6"/>
          <p:cNvSpPr/>
          <p:nvPr/>
        </p:nvSpPr>
        <p:spPr>
          <a:xfrm>
            <a:off x="4427984" y="499064"/>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 </a:t>
            </a:r>
            <a:r>
              <a:rPr kumimoji="1" lang="zh-CN" altLang="en-US" dirty="0"/>
              <a:t>汇报</a:t>
            </a:r>
            <a:endParaRPr kumimoji="1" lang="zh-CN" altLang="en-US" dirty="0"/>
          </a:p>
        </p:txBody>
      </p:sp>
      <p:sp>
        <p:nvSpPr>
          <p:cNvPr id="8" name="矩形 7"/>
          <p:cNvSpPr/>
          <p:nvPr/>
        </p:nvSpPr>
        <p:spPr>
          <a:xfrm>
            <a:off x="5652120" y="499063"/>
            <a:ext cx="864096"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 </a:t>
            </a:r>
            <a:r>
              <a:rPr kumimoji="1" lang="zh-CN" altLang="en-US" dirty="0"/>
              <a:t>处理</a:t>
            </a:r>
            <a:endParaRPr kumimoji="1" lang="zh-CN" altLang="en-US" dirty="0"/>
          </a:p>
        </p:txBody>
      </p:sp>
      <p:sp>
        <p:nvSpPr>
          <p:cNvPr id="9" name="矩形 8"/>
          <p:cNvSpPr/>
          <p:nvPr/>
        </p:nvSpPr>
        <p:spPr>
          <a:xfrm>
            <a:off x="6526560" y="1129569"/>
            <a:ext cx="1296144" cy="41421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3.5</a:t>
            </a:r>
            <a:r>
              <a:rPr kumimoji="1" lang="zh-CN" altLang="en-US" sz="1400" dirty="0"/>
              <a:t> </a:t>
            </a:r>
            <a:r>
              <a:rPr kumimoji="1" lang="en-US" altLang="zh-CN" sz="1400" dirty="0"/>
              <a:t>Embargo</a:t>
            </a:r>
            <a:endParaRPr kumimoji="1" lang="zh-CN" altLang="en-US" sz="1400" dirty="0"/>
          </a:p>
        </p:txBody>
      </p:sp>
      <p:cxnSp>
        <p:nvCxnSpPr>
          <p:cNvPr id="13" name="直线箭头连接符 12"/>
          <p:cNvCxnSpPr>
            <a:stCxn id="6" idx="3"/>
            <a:endCxn id="7" idx="1"/>
          </p:cNvCxnSpPr>
          <p:nvPr/>
        </p:nvCxnSpPr>
        <p:spPr>
          <a:xfrm flipV="1">
            <a:off x="4067944" y="706173"/>
            <a:ext cx="36004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p:cNvCxnSpPr>
            <a:stCxn id="8" idx="3"/>
            <a:endCxn id="9" idx="0"/>
          </p:cNvCxnSpPr>
          <p:nvPr/>
        </p:nvCxnSpPr>
        <p:spPr>
          <a:xfrm>
            <a:off x="6516216" y="706172"/>
            <a:ext cx="658416" cy="423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p:cNvCxnSpPr>
            <a:stCxn id="7" idx="3"/>
            <a:endCxn id="8" idx="1"/>
          </p:cNvCxnSpPr>
          <p:nvPr/>
        </p:nvCxnSpPr>
        <p:spPr>
          <a:xfrm flipV="1">
            <a:off x="5292080" y="706172"/>
            <a:ext cx="36004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7822704" y="499062"/>
            <a:ext cx="864096" cy="4142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r>
              <a:rPr kumimoji="1" lang="zh-CN" altLang="en-US" dirty="0"/>
              <a:t> 公开</a:t>
            </a:r>
            <a:endParaRPr kumimoji="1" lang="zh-CN" altLang="en-US" dirty="0"/>
          </a:p>
        </p:txBody>
      </p:sp>
      <p:cxnSp>
        <p:nvCxnSpPr>
          <p:cNvPr id="23" name="直线箭头连接符 22"/>
          <p:cNvCxnSpPr>
            <a:stCxn id="9" idx="0"/>
            <a:endCxn id="14" idx="1"/>
          </p:cNvCxnSpPr>
          <p:nvPr/>
        </p:nvCxnSpPr>
        <p:spPr>
          <a:xfrm flipV="1">
            <a:off x="7174632" y="706171"/>
            <a:ext cx="648072" cy="423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1"/>
          <a:stretch>
            <a:fillRect/>
          </a:stretch>
        </p:blipFill>
        <p:spPr>
          <a:xfrm>
            <a:off x="3635896" y="1783645"/>
            <a:ext cx="4608512" cy="520627"/>
          </a:xfrm>
          <a:prstGeom prst="rect">
            <a:avLst/>
          </a:prstGeom>
          <a:ln>
            <a:noFill/>
          </a:ln>
          <a:effectLst>
            <a:outerShdw blurRad="165100" dist="76200" dir="3360000" sx="99000" sy="99000" algn="tl" rotWithShape="0">
              <a:srgbClr val="333333">
                <a:alpha val="65000"/>
              </a:srgbClr>
            </a:outerShdw>
          </a:effectLst>
        </p:spPr>
      </p:pic>
      <p:sp>
        <p:nvSpPr>
          <p:cNvPr id="17" name="矩形 16"/>
          <p:cNvSpPr/>
          <p:nvPr/>
        </p:nvSpPr>
        <p:spPr>
          <a:xfrm>
            <a:off x="1506488" y="5260612"/>
            <a:ext cx="6131024" cy="3769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TCB:</a:t>
            </a:r>
            <a:r>
              <a:rPr kumimoji="1" lang="zh-CN" altLang="en-US" dirty="0">
                <a:solidFill>
                  <a:schemeClr val="tx1"/>
                </a:solidFill>
              </a:rPr>
              <a:t> </a:t>
            </a:r>
            <a:r>
              <a:rPr kumimoji="1" lang="en-US" altLang="zh-CN" dirty="0">
                <a:solidFill>
                  <a:schemeClr val="tx1"/>
                </a:solidFill>
              </a:rPr>
              <a:t>All!</a:t>
            </a:r>
            <a:endParaRPr kumimoji="1" lang="zh-CN" altLang="en-US" dirty="0">
              <a:solidFill>
                <a:schemeClr val="tx1"/>
              </a:solidFill>
            </a:endParaRPr>
          </a:p>
        </p:txBody>
      </p:sp>
    </p:spTree>
  </p:cSld>
  <p:clrMapOvr>
    <a:masterClrMapping/>
  </p:clrMapOvr>
</p:sld>
</file>

<file path=ppt/theme/theme1.xml><?xml version="1.0" encoding="utf-8"?>
<a:theme xmlns:a="http://schemas.openxmlformats.org/drawingml/2006/main" name="1_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rgbClr val="BE374B"/>
          </a:solidFill>
          <a:tailEnd type="arrow" w="lg" len="lg"/>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SJTU-Red</Template>
  <TotalTime>0</TotalTime>
  <Words>12532</Words>
  <Application>WPS 演示</Application>
  <PresentationFormat>全屏显示(16:10)</PresentationFormat>
  <Paragraphs>977</Paragraphs>
  <Slides>63</Slides>
  <Notes>56</Notes>
  <HiddenSlides>57</HiddenSlides>
  <MMClips>0</MMClips>
  <ScaleCrop>false</ScaleCrop>
  <HeadingPairs>
    <vt:vector size="6" baseType="variant">
      <vt:variant>
        <vt:lpstr>已用的字体</vt:lpstr>
      </vt:variant>
      <vt:variant>
        <vt:i4>29</vt:i4>
      </vt:variant>
      <vt:variant>
        <vt:lpstr>主题</vt:lpstr>
      </vt:variant>
      <vt:variant>
        <vt:i4>1</vt:i4>
      </vt:variant>
      <vt:variant>
        <vt:lpstr>幻灯片标题</vt:lpstr>
      </vt:variant>
      <vt:variant>
        <vt:i4>63</vt:i4>
      </vt:variant>
    </vt:vector>
  </HeadingPairs>
  <TitlesOfParts>
    <vt:vector size="93" baseType="lpstr">
      <vt:lpstr>Arial</vt:lpstr>
      <vt:lpstr>宋体</vt:lpstr>
      <vt:lpstr>Wingdings</vt:lpstr>
      <vt:lpstr>等线</vt:lpstr>
      <vt:lpstr>微软雅黑 Light</vt:lpstr>
      <vt:lpstr>PingFang SC</vt:lpstr>
      <vt:lpstr>微软雅黑</vt:lpstr>
      <vt:lpstr>MS PGothic</vt:lpstr>
      <vt:lpstr>Calibri</vt:lpstr>
      <vt:lpstr>楷体</vt:lpstr>
      <vt:lpstr>Myriad Pro Light SemiCond</vt:lpstr>
      <vt:lpstr>Segoe Print</vt:lpstr>
      <vt:lpstr>Consolas</vt:lpstr>
      <vt:lpstr>Helvetica</vt:lpstr>
      <vt:lpstr>Arial Unicode MS</vt:lpstr>
      <vt:lpstr>Cambria Math</vt:lpstr>
      <vt:lpstr>Candara</vt:lpstr>
      <vt:lpstr>Comic Sans MS</vt:lpstr>
      <vt:lpstr>Tahoma</vt:lpstr>
      <vt:lpstr>Calibri</vt:lpstr>
      <vt:lpstr>Arial</vt:lpstr>
      <vt:lpstr>Trebuchet MS</vt:lpstr>
      <vt:lpstr>Calibri Light</vt:lpstr>
      <vt:lpstr>Times New Roman</vt:lpstr>
      <vt:lpstr>Eras Medium ITC</vt:lpstr>
      <vt:lpstr>Verdana</vt:lpstr>
      <vt:lpstr>Google Sans</vt:lpstr>
      <vt:lpstr>Candara</vt:lpstr>
      <vt:lpstr>Helvetica Neue</vt:lpstr>
      <vt:lpstr>1_Office 主题​​</vt:lpstr>
      <vt:lpstr>Privacy &amp; Review</vt:lpstr>
      <vt:lpstr>Secure Channel</vt:lpstr>
      <vt:lpstr>Encryption Properties</vt:lpstr>
      <vt:lpstr>PowerPoint 演示文稿</vt:lpstr>
      <vt:lpstr>PowerPoint 演示文稿</vt:lpstr>
      <vt:lpstr>PowerPoint 演示文稿</vt:lpstr>
      <vt:lpstr>PowerPoint 演示文稿</vt:lpstr>
      <vt:lpstr>PowerPoint 演示文稿</vt:lpstr>
      <vt:lpstr>PowerPoint 演示文稿</vt:lpstr>
      <vt:lpstr>Diffie-Hellman Key Exchange &amp; Man-in-the-Middle</vt:lpstr>
      <vt:lpstr>RSA Algorithm</vt:lpstr>
      <vt:lpstr>Public Key Distribution</vt:lpstr>
      <vt:lpstr>Public Key Distribution</vt:lpstr>
      <vt:lpstr>Review: Two Types of Encryption</vt:lpstr>
      <vt:lpstr>Questions on Certificate Authorities</vt:lpstr>
      <vt:lpstr>PowerPoint 演示文稿</vt:lpstr>
      <vt:lpstr>Privacy</vt:lpstr>
      <vt:lpstr>Data Privacy</vt:lpstr>
      <vt:lpstr>Data Privacy</vt:lpstr>
      <vt:lpstr>Common Attacks</vt:lpstr>
      <vt:lpstr>OT</vt:lpstr>
      <vt:lpstr>Problem</vt:lpstr>
      <vt:lpstr>Oblivious Transfer (OT)</vt:lpstr>
      <vt:lpstr>1-out-of-2 OT</vt:lpstr>
      <vt:lpstr>1-out-of-2 OT (Solution-2)</vt:lpstr>
      <vt:lpstr>More OT Protocols</vt:lpstr>
      <vt:lpstr>DP</vt:lpstr>
      <vt:lpstr>Problem</vt:lpstr>
      <vt:lpstr>Problem</vt:lpstr>
      <vt:lpstr>Problem</vt:lpstr>
      <vt:lpstr>Differential privacy </vt:lpstr>
      <vt:lpstr>Properties of Differential privacy </vt:lpstr>
      <vt:lpstr>How to Implement a DP Algorithm</vt:lpstr>
      <vt:lpstr>When DP is Enabled</vt:lpstr>
      <vt:lpstr>Secret Sharing</vt:lpstr>
      <vt:lpstr>Secret Sharing</vt:lpstr>
      <vt:lpstr>Secret Sharing</vt:lpstr>
      <vt:lpstr>Secret Sharing</vt:lpstr>
      <vt:lpstr>Secret Sharing</vt:lpstr>
      <vt:lpstr>Pros and Cons</vt:lpstr>
      <vt:lpstr>Secure MPC</vt:lpstr>
      <vt:lpstr>secure Multi-Party Computation (sMPC)</vt:lpstr>
      <vt:lpstr>Millionaire Problem</vt:lpstr>
      <vt:lpstr>secure Multi-Party Computation (sMPC)</vt:lpstr>
      <vt:lpstr>HE</vt:lpstr>
      <vt:lpstr>Problem</vt:lpstr>
      <vt:lpstr>Homomorphic Encryption (HE)</vt:lpstr>
      <vt:lpstr>SWHE and FHE</vt:lpstr>
      <vt:lpstr>TEE</vt:lpstr>
      <vt:lpstr>Problem</vt:lpstr>
      <vt:lpstr>Trusted Execution Environment (TEE)</vt:lpstr>
      <vt:lpstr>TEE: Trusted Execution Environment</vt:lpstr>
      <vt:lpstr>Two Features of TEE</vt:lpstr>
      <vt:lpstr>Different TEEs</vt:lpstr>
      <vt:lpstr>Process of Bug Report</vt:lpstr>
      <vt:lpstr>Process of fixing a bug/vulnerability</vt:lpstr>
      <vt:lpstr>Fix the Bug</vt:lpstr>
      <vt:lpstr>Fix the Bug</vt:lpstr>
      <vt:lpstr>Fix the Bug</vt:lpstr>
      <vt:lpstr>Fix the Bug</vt:lpstr>
      <vt:lpstr>Fix the Bug</vt:lpstr>
      <vt:lpstr>Fix the Bug</vt:lpstr>
      <vt:lpstr>Fix the Bug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cp:lastModifiedBy>
  <cp:revision>1643</cp:revision>
  <cp:lastPrinted>2020-03-02T13:38:00Z</cp:lastPrinted>
  <dcterms:created xsi:type="dcterms:W3CDTF">2017-11-24T09:35:00Z</dcterms:created>
  <dcterms:modified xsi:type="dcterms:W3CDTF">2025-01-15T07:05:37Z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BA1BE9F9BD8E41EE9C8564C93041B111_12</vt:lpwstr>
  </property>
  <property fmtid="{D5CDD505-2E9C-101B-9397-08002B2CF9AE}" pid="3" name="KSOProductBuildVer">
    <vt:lpwstr>2052-12.1.0.19770</vt:lpwstr>
  </property>
</Properties>
</file>