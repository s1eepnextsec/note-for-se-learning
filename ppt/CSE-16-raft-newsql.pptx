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3"/>
  </p:handoutMasterIdLst>
  <p:sldIdLst>
    <p:sldId id="2241" r:id="rId3"/>
    <p:sldId id="2972" r:id="rId5"/>
    <p:sldId id="2985" r:id="rId6"/>
    <p:sldId id="300" r:id="rId7"/>
    <p:sldId id="301" r:id="rId8"/>
    <p:sldId id="302" r:id="rId9"/>
    <p:sldId id="303" r:id="rId10"/>
    <p:sldId id="304" r:id="rId11"/>
    <p:sldId id="305" r:id="rId12"/>
    <p:sldId id="2711" r:id="rId13"/>
    <p:sldId id="2712" r:id="rId14"/>
    <p:sldId id="2713" r:id="rId15"/>
    <p:sldId id="3033" r:id="rId16"/>
    <p:sldId id="3070" r:id="rId17"/>
    <p:sldId id="3034" r:id="rId18"/>
    <p:sldId id="3035" r:id="rId19"/>
    <p:sldId id="3036" r:id="rId20"/>
    <p:sldId id="3037" r:id="rId21"/>
    <p:sldId id="3041" r:id="rId22"/>
    <p:sldId id="3042" r:id="rId23"/>
    <p:sldId id="3043" r:id="rId24"/>
    <p:sldId id="3044" r:id="rId25"/>
    <p:sldId id="3038" r:id="rId26"/>
    <p:sldId id="3039" r:id="rId27"/>
    <p:sldId id="3040" r:id="rId28"/>
    <p:sldId id="3068" r:id="rId29"/>
    <p:sldId id="2988" r:id="rId30"/>
    <p:sldId id="2990" r:id="rId31"/>
    <p:sldId id="3031" r:id="rId32"/>
    <p:sldId id="3045" r:id="rId33"/>
    <p:sldId id="2992" r:id="rId34"/>
    <p:sldId id="3005" r:id="rId35"/>
    <p:sldId id="2980" r:id="rId36"/>
    <p:sldId id="3001" r:id="rId37"/>
    <p:sldId id="3002" r:id="rId38"/>
    <p:sldId id="3003" r:id="rId39"/>
    <p:sldId id="3007" r:id="rId40"/>
    <p:sldId id="3006" r:id="rId41"/>
    <p:sldId id="3050" r:id="rId42"/>
    <p:sldId id="3051" r:id="rId43"/>
    <p:sldId id="3052" r:id="rId44"/>
    <p:sldId id="3008" r:id="rId45"/>
    <p:sldId id="3053" r:id="rId46"/>
    <p:sldId id="3009" r:id="rId47"/>
    <p:sldId id="3010" r:id="rId48"/>
    <p:sldId id="3055" r:id="rId49"/>
    <p:sldId id="3054" r:id="rId50"/>
    <p:sldId id="3011" r:id="rId51"/>
    <p:sldId id="3012" r:id="rId52"/>
    <p:sldId id="3013" r:id="rId53"/>
    <p:sldId id="3056" r:id="rId54"/>
    <p:sldId id="3022" r:id="rId55"/>
    <p:sldId id="3057" r:id="rId56"/>
    <p:sldId id="3058" r:id="rId57"/>
    <p:sldId id="3046" r:id="rId58"/>
    <p:sldId id="3059" r:id="rId59"/>
    <p:sldId id="3060" r:id="rId60"/>
    <p:sldId id="3061" r:id="rId61"/>
    <p:sldId id="2984" r:id="rId62"/>
    <p:sldId id="3069" r:id="rId63"/>
    <p:sldId id="3049" r:id="rId64"/>
    <p:sldId id="3017" r:id="rId65"/>
    <p:sldId id="3062" r:id="rId66"/>
    <p:sldId id="3018" r:id="rId67"/>
    <p:sldId id="3063" r:id="rId68"/>
    <p:sldId id="3064" r:id="rId69"/>
    <p:sldId id="3015" r:id="rId70"/>
    <p:sldId id="3065" r:id="rId71"/>
    <p:sldId id="3066" r:id="rId72"/>
    <p:sldId id="3067" r:id="rId73"/>
    <p:sldId id="3026" r:id="rId74"/>
    <p:sldId id="2997" r:id="rId75"/>
    <p:sldId id="3087" r:id="rId76"/>
    <p:sldId id="3120" r:id="rId77"/>
    <p:sldId id="3088" r:id="rId78"/>
    <p:sldId id="3116" r:id="rId79"/>
    <p:sldId id="3117" r:id="rId80"/>
    <p:sldId id="3090" r:id="rId81"/>
    <p:sldId id="3118" r:id="rId82"/>
    <p:sldId id="2285" r:id="rId83"/>
    <p:sldId id="3089" r:id="rId84"/>
    <p:sldId id="3000" r:id="rId85"/>
    <p:sldId id="3092" r:id="rId86"/>
    <p:sldId id="3094" r:id="rId87"/>
    <p:sldId id="3121" r:id="rId88"/>
    <p:sldId id="3122" r:id="rId89"/>
    <p:sldId id="3123" r:id="rId90"/>
    <p:sldId id="3004" r:id="rId91"/>
    <p:sldId id="3124" r:id="rId92"/>
    <p:sldId id="3125" r:id="rId93"/>
    <p:sldId id="3126" r:id="rId94"/>
    <p:sldId id="2893" r:id="rId95"/>
    <p:sldId id="2894" r:id="rId96"/>
    <p:sldId id="2895" r:id="rId97"/>
    <p:sldId id="3082" r:id="rId98"/>
    <p:sldId id="3083" r:id="rId99"/>
    <p:sldId id="3127" r:id="rId100"/>
    <p:sldId id="3128" r:id="rId101"/>
    <p:sldId id="3093" r:id="rId102"/>
    <p:sldId id="3095" r:id="rId103"/>
    <p:sldId id="2681" r:id="rId104"/>
    <p:sldId id="3096" r:id="rId105"/>
    <p:sldId id="3098" r:id="rId106"/>
    <p:sldId id="3099" r:id="rId107"/>
    <p:sldId id="3103" r:id="rId108"/>
    <p:sldId id="3105" r:id="rId109"/>
    <p:sldId id="3106" r:id="rId110"/>
    <p:sldId id="3107" r:id="rId111"/>
    <p:sldId id="3108" r:id="rId112"/>
    <p:sldId id="3109" r:id="rId113"/>
    <p:sldId id="3110" r:id="rId114"/>
    <p:sldId id="3111" r:id="rId115"/>
    <p:sldId id="3112" r:id="rId116"/>
    <p:sldId id="3129" r:id="rId117"/>
    <p:sldId id="2905" r:id="rId118"/>
    <p:sldId id="2907" r:id="rId119"/>
    <p:sldId id="2910" r:id="rId120"/>
    <p:sldId id="2911" r:id="rId121"/>
    <p:sldId id="2908" r:id="rId122"/>
    <p:sldId id="2906" r:id="rId123"/>
    <p:sldId id="2909" r:id="rId124"/>
    <p:sldId id="2912" r:id="rId125"/>
    <p:sldId id="2913" r:id="rId126"/>
    <p:sldId id="2914" r:id="rId127"/>
    <p:sldId id="3130" r:id="rId128"/>
    <p:sldId id="2915" r:id="rId129"/>
    <p:sldId id="2916" r:id="rId130"/>
    <p:sldId id="2917" r:id="rId131"/>
    <p:sldId id="2478" r:id="rId13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57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AF7"/>
    <a:srgbClr val="C00000"/>
    <a:srgbClr val="FF9300"/>
    <a:srgbClr val="945200"/>
    <a:srgbClr val="FF5F00"/>
    <a:srgbClr val="FFD579"/>
    <a:srgbClr val="BE384B"/>
    <a:srgbClr val="013D91"/>
    <a:srgbClr val="0432FF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54"/>
    <p:restoredTop sz="87411"/>
  </p:normalViewPr>
  <p:slideViewPr>
    <p:cSldViewPr snapToGrid="0" showGuides="1">
      <p:cViewPr varScale="1">
        <p:scale>
          <a:sx n="126" d="100"/>
          <a:sy n="126" d="100"/>
        </p:scale>
        <p:origin x="280" y="192"/>
      </p:cViewPr>
      <p:guideLst>
        <p:guide orient="horz" pos="2480"/>
        <p:guide pos="57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6" Type="http://schemas.openxmlformats.org/officeDocument/2006/relationships/tableStyles" Target="tableStyles.xml"/><Relationship Id="rId135" Type="http://schemas.openxmlformats.org/officeDocument/2006/relationships/viewProps" Target="viewProps.xml"/><Relationship Id="rId134" Type="http://schemas.openxmlformats.org/officeDocument/2006/relationships/presProps" Target="presProps.xml"/><Relationship Id="rId133" Type="http://schemas.openxmlformats.org/officeDocument/2006/relationships/handoutMaster" Target="handoutMasters/handoutMaster1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No. What about configuration updates?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初始状态： 每个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都确认了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</a:t>
            </a:r>
            <a:r>
              <a:rPr kumimoji="1" lang="en-US" altLang="zh-CN" dirty="0"/>
              <a:t>value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初始状态： 每个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都确认了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</a:t>
            </a:r>
            <a:r>
              <a:rPr kumimoji="1" lang="en-US" altLang="zh-CN" dirty="0"/>
              <a:t>value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Safety can violate if a replication happens partially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/>
              <a:t>obsolete information, e.g., as stale leaders</a:t>
            </a:r>
            <a:endParaRPr kumimoji="1" lang="en-GB" altLang="zh-CN"/>
          </a:p>
          <a:p>
            <a:endParaRPr kumimoji="1" lang="en-GB" altLang="zh-CN"/>
          </a:p>
          <a:p>
            <a:r>
              <a:rPr kumimoji="1" lang="en-GB" altLang="zh-CN"/>
              <a:t>Servers exchange with others to build the global view of the terms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/>
              <a:t>election timeout: a follower receives no communication over a period of time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Use heartbeat to announce the leadership.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Liveness: something good happens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Safety can violate if a replication happens partially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Interesting things:</a:t>
            </a:r>
            <a:endParaRPr kumimoji="1" lang="en-US" altLang="zh-CN"/>
          </a:p>
          <a:p>
            <a:pPr marL="228600" indent="-228600">
              <a:buAutoNum type="arabicPeriod"/>
            </a:pPr>
            <a:r>
              <a:rPr kumimoji="1" lang="en-US" altLang="zh-CN"/>
              <a:t>Each log entry store an additional term </a:t>
            </a:r>
            <a:endParaRPr kumimoji="1" lang="en-US" altLang="zh-CN"/>
          </a:p>
          <a:p>
            <a:pPr marL="228600" indent="-228600">
              <a:buAutoNum type="arabicPeriod"/>
            </a:pPr>
            <a:endParaRPr kumimoji="1" lang="en-US" altLang="zh-CN"/>
          </a:p>
          <a:p>
            <a:pPr marL="228600" indent="-228600">
              <a:buAutoNum type="arabicPeriod"/>
            </a:pPr>
            <a:r>
              <a:rPr kumimoji="1" lang="en-US" altLang="zh-CN"/>
              <a:t>Commit: can safely execute on the state machine, no others will execute a different command 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Case in the example: server 4 crashes 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en-US" altLang="zh-CN"/>
              <a:t>Server 5 becomes the leader for 2, and keeps appending the logs from the clients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Commands</a:t>
            </a:r>
            <a:r>
              <a:rPr kumimoji="1" lang="zh-CN" altLang="en-US"/>
              <a:t> </a:t>
            </a:r>
            <a:r>
              <a:rPr kumimoji="1" lang="en-US" altLang="zh-CN"/>
              <a:t>must be equal: issued by the same leader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省去了</a:t>
            </a:r>
            <a:r>
              <a:rPr kumimoji="1" lang="en-US" altLang="zh-CN"/>
              <a:t>heartbeat</a:t>
            </a:r>
            <a:r>
              <a:rPr kumimoji="1" lang="zh-CN" altLang="en-US"/>
              <a:t>和</a:t>
            </a:r>
            <a:r>
              <a:rPr kumimoji="1" lang="en-US" altLang="zh-CN" err="1"/>
              <a:t>commmit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Step down: </a:t>
            </a:r>
            <a:r>
              <a:rPr kumimoji="1" lang="zh-CN" altLang="en-US" dirty="0"/>
              <a:t>一个旧的</a:t>
            </a:r>
            <a:r>
              <a:rPr kumimoji="1" lang="en-US" altLang="zh-CN" dirty="0"/>
              <a:t>leader</a:t>
            </a:r>
            <a:r>
              <a:rPr kumimoji="1" lang="zh-CN" altLang="en-US" dirty="0"/>
              <a:t>变回</a:t>
            </a:r>
            <a:r>
              <a:rPr kumimoji="1" lang="en-US" altLang="zh-CN" dirty="0"/>
              <a:t>follower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1. Delay the commitment of an entry until we know it is committed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How to shard? Range or hash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what is a read-write TX</a:t>
            </a:r>
            <a:endParaRPr kumimoji="1" lang="en-US" altLang="zh-CN" dirty="0"/>
          </a:p>
          <a:p>
            <a:r>
              <a:rPr kumimoji="1" lang="en-US" altLang="zh-CN" dirty="0"/>
              <a:t>Execution flow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what is a read-write TX</a:t>
            </a:r>
            <a:endParaRPr kumimoji="1" lang="en-US" altLang="zh-CN" dirty="0"/>
          </a:p>
          <a:p>
            <a:r>
              <a:rPr kumimoji="1" lang="en-US" altLang="zh-CN" dirty="0"/>
              <a:t>Execution flow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Omit local replication for simplicity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leader is responsible for accepting client requests and managing the replication of the log to other servers. The data flows only in one direction: from leader to other servers.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Proposal &amp; learned </a:t>
            </a:r>
            <a:endParaRPr kumimoji="1" lang="en-US" altLang="zh-CN" dirty="0"/>
          </a:p>
          <a:p>
            <a:r>
              <a:rPr kumimoji="1" lang="en-US" altLang="zh-CN" dirty="0"/>
              <a:t>Similar to the RAFT leader</a:t>
            </a:r>
            <a:endParaRPr kumimoji="1" lang="en-US" altLang="zh-CN" dirty="0"/>
          </a:p>
          <a:p>
            <a:r>
              <a:rPr kumimoji="1" lang="en-US" altLang="zh-CN" dirty="0"/>
              <a:t>Hold the latest value (w/o failure)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Read locks are not replicated via </a:t>
            </a:r>
            <a:r>
              <a:rPr lang="en-GB" altLang="zh-CN" dirty="0" err="1"/>
              <a:t>Paxos</a:t>
            </a:r>
            <a:r>
              <a:rPr lang="en-GB" altLang="zh-CN" dirty="0"/>
              <a:t>, so leader failure -&gt; abort. </a:t>
            </a:r>
            <a:br>
              <a:rPr lang="en-GB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为什么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单独没法做</a:t>
            </a:r>
            <a:r>
              <a:rPr kumimoji="1" lang="en-US" altLang="zh-CN" dirty="0"/>
              <a:t>leader</a:t>
            </a:r>
            <a:r>
              <a:rPr kumimoji="1" lang="zh-CN" altLang="en-US" dirty="0"/>
              <a:t>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Lock is replicated only at the prepare phase to improve the performance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Prepared: get the lock, record 2PC state and Paxos state</a:t>
            </a:r>
            <a:endParaRPr kumimoji="1" lang="en-US" altLang="zh-CN" dirty="0"/>
          </a:p>
          <a:p>
            <a:r>
              <a:rPr kumimoji="1" lang="en-US" altLang="zh-CN" dirty="0"/>
              <a:t>Applied: release the lock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Prepare + Commit both require </a:t>
            </a:r>
            <a:r>
              <a:rPr kumimoji="1" lang="en-US" altLang="zh-CN" dirty="0" err="1"/>
              <a:t>Paxos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Data: 2PC through three regions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zu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luo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Time server </a:t>
            </a:r>
            <a:r>
              <a:rPr kumimoji="1" lang="zh-CN" altLang="en-US" dirty="0"/>
              <a:t>挂了怎么办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 err="1">
                <a:solidFill>
                  <a:srgbClr val="BE384B"/>
                </a:solidFill>
              </a:rPr>
              <a:t>Marzullo’s</a:t>
            </a:r>
            <a:r>
              <a:rPr lang="en-GB" altLang="zh-CN" dirty="0">
                <a:solidFill>
                  <a:srgbClr val="BE384B"/>
                </a:solidFill>
              </a:rPr>
              <a:t> algorithm also considers the case of multiple time servers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2pPr>
            <a:lvl3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.jpeg"/><Relationship Id="rId7" Type="http://schemas.openxmlformats.org/officeDocument/2006/relationships/image" Target="../media/image39.png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0" Type="http://schemas.openxmlformats.org/officeDocument/2006/relationships/notesSlide" Target="../notesSlides/notesSlide44.xml"/><Relationship Id="rId1" Type="http://schemas.openxmlformats.org/officeDocument/2006/relationships/image" Target="../media/image38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image" Target="../media/image41.jpeg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4" Type="http://schemas.openxmlformats.org/officeDocument/2006/relationships/notesSlide" Target="../notesSlides/notesSlide5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tiff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40.jpeg"/><Relationship Id="rId1" Type="http://schemas.openxmlformats.org/officeDocument/2006/relationships/image" Target="../media/image38.jpe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jpeg"/><Relationship Id="rId1" Type="http://schemas.openxmlformats.org/officeDocument/2006/relationships/image" Target="../media/image61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57238" y="1690127"/>
            <a:ext cx="7772400" cy="122502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dirty="0">
                <a:latin typeface="+mn-lt"/>
              </a:rPr>
              <a:t>Multi-</a:t>
            </a:r>
            <a:r>
              <a:rPr kumimoji="1" lang="en-US" altLang="zh-CN" sz="3600" dirty="0" err="1">
                <a:latin typeface="+mn-lt"/>
              </a:rPr>
              <a:t>Paxos</a:t>
            </a:r>
            <a:r>
              <a:rPr kumimoji="1" lang="en-US" altLang="zh-CN" sz="3600">
                <a:latin typeface="+mn-lt"/>
              </a:rPr>
              <a:t>, Raft </a:t>
            </a:r>
            <a:r>
              <a:rPr kumimoji="1" lang="en-US" altLang="zh-CN" sz="3600" dirty="0">
                <a:latin typeface="+mn-lt"/>
              </a:rPr>
              <a:t>&amp; NewSQL</a:t>
            </a:r>
            <a:br>
              <a:rPr kumimoji="1" lang="en-US" altLang="zh-CN" sz="3600" dirty="0">
                <a:latin typeface="+mn-lt"/>
              </a:rPr>
            </a:br>
            <a:r>
              <a:rPr kumimoji="1" lang="en-US" altLang="zh-CN" sz="2400" dirty="0">
                <a:latin typeface="+mn-lt"/>
              </a:rPr>
              <a:t>Consistency across replicas</a:t>
            </a:r>
            <a:endParaRPr kumimoji="1" lang="zh-CN" altLang="en-US" sz="240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Credits: 	Rong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Chen@IPADS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&amp;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Jinyang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Li@NYU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&amp; John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Ousterhout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Paxos</a:t>
            </a:r>
            <a:r>
              <a:rPr lang="en-US" altLang="zh-CN" dirty="0"/>
              <a:t> Summary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206500"/>
            <a:ext cx="8363272" cy="4318000"/>
          </a:xfrm>
        </p:spPr>
        <p:txBody>
          <a:bodyPr>
            <a:normAutofit/>
          </a:bodyPr>
          <a:lstStyle/>
          <a:p>
            <a:pPr marL="367665" indent="-320040">
              <a:buClr>
                <a:srgbClr val="FF0066"/>
              </a:buClr>
              <a:buNone/>
            </a:pP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Paxos 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allows us to ensure 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consistent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(total) 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ordering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over a set of 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events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a group of nodes</a:t>
            </a:r>
            <a:endParaRPr lang="en-US" altLang="zh-CN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8665" lvl="2" indent="-381000" fontAlgn="base">
              <a:spcAft>
                <a:spcPct val="0"/>
              </a:spcAft>
              <a:buClr>
                <a:srgbClr val="FF0066"/>
              </a:buClr>
              <a:buFont typeface="Verdana" panose="020B0604030504040204" pitchFamily="34" charset="0"/>
              <a:buChar char="□"/>
            </a:pPr>
            <a:r>
              <a:rPr lang="en-US" altLang="zh-TW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Events = commands / actions / state updates</a:t>
            </a:r>
            <a:endParaRPr lang="en-US" altLang="zh-TW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" lvl="1" indent="0" fontAlgn="base">
              <a:spcAft>
                <a:spcPct val="0"/>
              </a:spcAft>
              <a:buClr>
                <a:srgbClr val="FF0066"/>
              </a:buClr>
              <a:buNone/>
            </a:pPr>
            <a:endParaRPr lang="en-US" altLang="zh-TW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7665" indent="-320040">
              <a:buClr>
                <a:srgbClr val="FF0066"/>
              </a:buClr>
              <a:buNone/>
            </a:pP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machine will have the 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latest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state or </a:t>
            </a:r>
            <a:b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previous</a:t>
            </a:r>
            <a:r>
              <a:rPr lang="en-US" altLang="zh-CN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version of the state</a:t>
            </a:r>
            <a:endParaRPr lang="en-US" altLang="zh-CN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7665" indent="-320040">
              <a:buClr>
                <a:srgbClr val="FF0066"/>
              </a:buClr>
              <a:buNone/>
            </a:pPr>
            <a:endParaRPr lang="en-US" altLang="zh-CN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Paxos</a:t>
            </a:r>
            <a:r>
              <a:rPr lang="en-US" altLang="zh-CN" dirty="0"/>
              <a:t> Setup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841500" y="2032000"/>
            <a:ext cx="1260000" cy="390000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41500" y="2540000"/>
            <a:ext cx="1260000" cy="39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41500" y="3048000"/>
            <a:ext cx="1260000" cy="39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1000" y="1587500"/>
            <a:ext cx="1651000" cy="19685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5262" y="1651000"/>
            <a:ext cx="15824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Paxos Node</a:t>
            </a:r>
            <a:endParaRPr lang="zh-CN" altLang="en-US" sz="2000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83000" y="2032000"/>
            <a:ext cx="1260000" cy="390000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83000" y="2540000"/>
            <a:ext cx="1260000" cy="39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83000" y="3048000"/>
            <a:ext cx="1260000" cy="39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92500" y="1587500"/>
            <a:ext cx="1651000" cy="19685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26762" y="1651000"/>
            <a:ext cx="15824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Paxos Node</a:t>
            </a:r>
            <a:endParaRPr lang="zh-CN" altLang="en-US" sz="2000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2500" y="2032000"/>
            <a:ext cx="1260000" cy="390000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2500" y="2540000"/>
            <a:ext cx="1260000" cy="39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32500" y="3048000"/>
            <a:ext cx="1260000" cy="39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842000" y="1587500"/>
            <a:ext cx="1651000" cy="19685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76262" y="1651000"/>
            <a:ext cx="15824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Paxos Node</a:t>
            </a:r>
            <a:endParaRPr lang="zh-CN" altLang="en-US" sz="2000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43500" y="2827359"/>
            <a:ext cx="698500" cy="38930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marL="223520" indent="-22352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35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. . .</a:t>
            </a:r>
            <a:endParaRPr lang="en-US" altLang="zh-CN" sz="2335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65896" y="7865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1" name="Straight Arrow Connector 20"/>
          <p:cNvCxnSpPr>
            <a:stCxn id="20" idx="2"/>
          </p:cNvCxnSpPr>
          <p:nvPr/>
        </p:nvCxnSpPr>
        <p:spPr>
          <a:xfrm flipH="1">
            <a:off x="3101500" y="1206500"/>
            <a:ext cx="99396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ounded Rectangle 23"/>
          <p:cNvSpPr/>
          <p:nvPr/>
        </p:nvSpPr>
        <p:spPr>
          <a:xfrm>
            <a:off x="6604000" y="6985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3" name="Straight Arrow Connector 24"/>
          <p:cNvCxnSpPr/>
          <p:nvPr/>
        </p:nvCxnSpPr>
        <p:spPr>
          <a:xfrm>
            <a:off x="7112000" y="1118500"/>
            <a:ext cx="0" cy="4690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angle 27"/>
          <p:cNvSpPr/>
          <p:nvPr/>
        </p:nvSpPr>
        <p:spPr>
          <a:xfrm>
            <a:off x="2738500" y="3746500"/>
            <a:ext cx="4554000" cy="159946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60000" bIns="30000">
            <a:spAutoFit/>
          </a:bodyPr>
          <a:lstStyle/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N</a:t>
            </a:r>
            <a:r>
              <a:rPr lang="en-US" altLang="zh-CN" sz="2000" b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: highest proposal number accepted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V</a:t>
            </a:r>
            <a:r>
              <a:rPr lang="en-US" altLang="zh-CN" sz="2000" b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: accepted value of </a:t>
            </a: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N</a:t>
            </a:r>
            <a:r>
              <a:rPr lang="en-US" altLang="zh-CN" sz="2000" b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a</a:t>
            </a:r>
            <a:endParaRPr lang="en-US" altLang="zh-CN" sz="2000" b="1" baseline="-25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N</a:t>
            </a:r>
            <a:r>
              <a:rPr lang="en-US" altLang="zh-CN" sz="2000" b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h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: highest proposal number seen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M</a:t>
            </a:r>
            <a:r>
              <a:rPr lang="en-US" altLang="zh-CN" sz="2000" b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: my proposal number</a:t>
            </a:r>
            <a:endParaRPr lang="en-US" altLang="zh-CN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25" name="Rectangle 28"/>
          <p:cNvSpPr/>
          <p:nvPr/>
        </p:nvSpPr>
        <p:spPr>
          <a:xfrm>
            <a:off x="2603500" y="5012779"/>
            <a:ext cx="402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each round of Paxos, each Node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43000" y="1206500"/>
            <a:ext cx="7048500" cy="635000"/>
          </a:xfrm>
        </p:spPr>
        <p:txBody>
          <a:bodyPr>
            <a:normAutofit/>
          </a:bodyPr>
          <a:lstStyle/>
          <a:p>
            <a:pPr marL="367665" indent="-320040" algn="ctr">
              <a:buClr>
                <a:srgbClr val="FF0066"/>
              </a:buClr>
              <a:buNone/>
            </a:pP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altLang="zh-CN" sz="22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sends a </a:t>
            </a: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request</a:t>
            </a:r>
            <a:r>
              <a:rPr lang="en-US" altLang="zh-CN" sz="22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a </a:t>
            </a: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en-US" altLang="zh-CN" sz="2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77314" y="3067500"/>
            <a:ext cx="1260000" cy="420001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5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6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22"/>
          <p:cNvSpPr/>
          <p:nvPr/>
        </p:nvSpPr>
        <p:spPr>
          <a:xfrm>
            <a:off x="2243077" y="3437758"/>
            <a:ext cx="423923" cy="446690"/>
          </a:xfrm>
          <a:custGeom>
            <a:avLst/>
            <a:gdLst>
              <a:gd name="connsiteX0" fmla="*/ 51508 w 508708"/>
              <a:gd name="connsiteY0" fmla="*/ 536028 h 536028"/>
              <a:gd name="connsiteX1" fmla="*/ 256460 w 508708"/>
              <a:gd name="connsiteY1" fmla="*/ 378373 h 536028"/>
              <a:gd name="connsiteX2" fmla="*/ 4211 w 508708"/>
              <a:gd name="connsiteY2" fmla="*/ 189187 h 536028"/>
              <a:gd name="connsiteX3" fmla="*/ 508708 w 508708"/>
              <a:gd name="connsiteY3" fmla="*/ 0 h 53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708" h="536028">
                <a:moveTo>
                  <a:pt x="51508" y="536028"/>
                </a:moveTo>
                <a:cubicBezTo>
                  <a:pt x="157925" y="486104"/>
                  <a:pt x="264343" y="436180"/>
                  <a:pt x="256460" y="378373"/>
                </a:cubicBezTo>
                <a:cubicBezTo>
                  <a:pt x="248577" y="320566"/>
                  <a:pt x="-37830" y="252249"/>
                  <a:pt x="4211" y="189187"/>
                </a:cubicBezTo>
                <a:cubicBezTo>
                  <a:pt x="46252" y="126125"/>
                  <a:pt x="277480" y="63062"/>
                  <a:pt x="508708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8" name="Rectangle 23"/>
          <p:cNvSpPr/>
          <p:nvPr/>
        </p:nvSpPr>
        <p:spPr>
          <a:xfrm>
            <a:off x="1312468" y="3274279"/>
            <a:ext cx="10390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request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1a (Prepare)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41854" y="1172802"/>
            <a:ext cx="8181528" cy="1143000"/>
          </a:xfrm>
        </p:spPr>
        <p:txBody>
          <a:bodyPr>
            <a:normAutofit/>
          </a:bodyPr>
          <a:lstStyle/>
          <a:p>
            <a:pPr marL="367665" indent="-320040">
              <a:buClr>
                <a:srgbClr val="FF0066"/>
              </a:buClr>
              <a:buNone/>
            </a:pP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Leader</a:t>
            </a:r>
            <a:r>
              <a:rPr lang="en-US" altLang="zh-CN" sz="22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creates a </a:t>
            </a: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proposal</a:t>
            </a:r>
            <a:r>
              <a:rPr lang="en-US" altLang="zh-CN" sz="22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 </a:t>
            </a:r>
            <a:r>
              <a:rPr lang="en-US" altLang="zh-CN" sz="22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send to </a:t>
            </a: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en-US" altLang="zh-CN" sz="22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4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5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7"/>
          <p:cNvSpPr/>
          <p:nvPr/>
        </p:nvSpPr>
        <p:spPr>
          <a:xfrm>
            <a:off x="2476500" y="2032000"/>
            <a:ext cx="4830000" cy="67613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marL="223520" indent="-22352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 is greater than </a:t>
            </a: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any</a:t>
            </a:r>
            <a:r>
              <a:rPr lang="en-US" altLang="zh-CN" sz="1665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previous </a:t>
            </a:r>
            <a:b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</a:b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proposal number seen by this </a:t>
            </a: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proposer</a:t>
            </a:r>
            <a:endParaRPr lang="en-US" altLang="zh-CN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grpSp>
        <p:nvGrpSpPr>
          <p:cNvPr id="17" name="Group 10"/>
          <p:cNvGrpSpPr/>
          <p:nvPr/>
        </p:nvGrpSpPr>
        <p:grpSpPr>
          <a:xfrm>
            <a:off x="2677314" y="3067499"/>
            <a:ext cx="1260000" cy="420002"/>
            <a:chOff x="2298377" y="2842799"/>
            <a:chExt cx="1512000" cy="504002"/>
          </a:xfrm>
        </p:grpSpPr>
        <p:sp>
          <p:nvSpPr>
            <p:cNvPr id="18" name="Rounded Rectangle 9"/>
            <p:cNvSpPr/>
            <p:nvPr/>
          </p:nvSpPr>
          <p:spPr>
            <a:xfrm>
              <a:off x="2298377" y="2842800"/>
              <a:ext cx="1512000" cy="504001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9" name="Rectangle 8"/>
            <p:cNvSpPr/>
            <p:nvPr/>
          </p:nvSpPr>
          <p:spPr>
            <a:xfrm>
              <a:off x="3630377" y="2842799"/>
              <a:ext cx="180000" cy="14400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20" name="Straight Arrow Connector 14"/>
          <p:cNvCxnSpPr/>
          <p:nvPr/>
        </p:nvCxnSpPr>
        <p:spPr>
          <a:xfrm>
            <a:off x="3937315" y="3445898"/>
            <a:ext cx="1060186" cy="215206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5"/>
          <p:cNvCxnSpPr/>
          <p:nvPr/>
        </p:nvCxnSpPr>
        <p:spPr>
          <a:xfrm>
            <a:off x="3937315" y="3487501"/>
            <a:ext cx="1187186" cy="39694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Straight Arrow Connector 27"/>
          <p:cNvCxnSpPr/>
          <p:nvPr/>
        </p:nvCxnSpPr>
        <p:spPr>
          <a:xfrm>
            <a:off x="3862315" y="3507001"/>
            <a:ext cx="1389186" cy="620499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angle 33"/>
          <p:cNvSpPr/>
          <p:nvPr/>
        </p:nvSpPr>
        <p:spPr>
          <a:xfrm>
            <a:off x="4182376" y="3175000"/>
            <a:ext cx="14253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proposal N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24" name="Straight Arrow Connector 35"/>
          <p:cNvCxnSpPr/>
          <p:nvPr/>
        </p:nvCxnSpPr>
        <p:spPr>
          <a:xfrm>
            <a:off x="5364088" y="1575000"/>
            <a:ext cx="0" cy="420000"/>
          </a:xfrm>
          <a:prstGeom prst="straightConnector1">
            <a:avLst/>
          </a:prstGeom>
          <a:ln>
            <a:solidFill>
              <a:srgbClr val="FF0066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1b (Prepare)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43000" y="1206500"/>
            <a:ext cx="7543800" cy="1524000"/>
          </a:xfrm>
        </p:spPr>
        <p:txBody>
          <a:bodyPr>
            <a:normAutofit fontScale="85000" lnSpcReduction="10000"/>
          </a:bodyPr>
          <a:lstStyle/>
          <a:p>
            <a:pPr marL="367665" indent="-32004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     </a:t>
            </a:r>
            <a:r>
              <a:rPr lang="zh-CN" altLang="en-US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</a:t>
            </a:r>
            <a:r>
              <a:rPr lang="en-US" altLang="zh-CN" b="1" dirty="0">
                <a:solidFill>
                  <a:srgbClr val="0033CC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proposal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&gt;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previous proposal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64995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reply with the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highest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past proposal number and value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64995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promise to ignore all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IDs &lt; N</a:t>
            </a:r>
            <a:endParaRPr lang="en-US" altLang="zh-CN" sz="2000" dirty="0">
              <a:solidFill>
                <a:srgbClr val="FF0066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7665" indent="1129665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b="1" dirty="0">
                <a:solidFill>
                  <a:srgbClr val="0033CC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else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ignore (proposal is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rejected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4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5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0"/>
          <p:cNvGrpSpPr/>
          <p:nvPr/>
        </p:nvGrpSpPr>
        <p:grpSpPr>
          <a:xfrm>
            <a:off x="2677314" y="3067499"/>
            <a:ext cx="1260000" cy="420002"/>
            <a:chOff x="2298377" y="2842799"/>
            <a:chExt cx="1512000" cy="504002"/>
          </a:xfrm>
        </p:grpSpPr>
        <p:sp>
          <p:nvSpPr>
            <p:cNvPr id="17" name="Rounded Rectangle 9"/>
            <p:cNvSpPr/>
            <p:nvPr/>
          </p:nvSpPr>
          <p:spPr>
            <a:xfrm>
              <a:off x="2298377" y="2842800"/>
              <a:ext cx="1512000" cy="504001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Rectangle 8"/>
            <p:cNvSpPr/>
            <p:nvPr/>
          </p:nvSpPr>
          <p:spPr>
            <a:xfrm>
              <a:off x="3630377" y="2842799"/>
              <a:ext cx="180000" cy="14400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9" name="Straight Arrow Connector 14"/>
          <p:cNvCxnSpPr/>
          <p:nvPr/>
        </p:nvCxnSpPr>
        <p:spPr>
          <a:xfrm>
            <a:off x="3937315" y="3445898"/>
            <a:ext cx="1060186" cy="215206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25"/>
          <p:cNvCxnSpPr/>
          <p:nvPr/>
        </p:nvCxnSpPr>
        <p:spPr>
          <a:xfrm>
            <a:off x="3937315" y="3487501"/>
            <a:ext cx="1187186" cy="39694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7"/>
          <p:cNvCxnSpPr/>
          <p:nvPr/>
        </p:nvCxnSpPr>
        <p:spPr>
          <a:xfrm>
            <a:off x="3862315" y="3507001"/>
            <a:ext cx="1389186" cy="620499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33"/>
          <p:cNvSpPr/>
          <p:nvPr/>
        </p:nvSpPr>
        <p:spPr>
          <a:xfrm>
            <a:off x="4218443" y="3175000"/>
            <a:ext cx="1353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promise N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2a (Accept)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43000" y="1206500"/>
            <a:ext cx="7543800" cy="1640697"/>
          </a:xfrm>
        </p:spPr>
        <p:txBody>
          <a:bodyPr>
            <a:normAutofit lnSpcReduction="10000"/>
          </a:bodyPr>
          <a:lstStyle/>
          <a:p>
            <a:pPr marL="367665" indent="-32004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Leader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 </a:t>
            </a:r>
            <a:r>
              <a:rPr lang="en-US" altLang="zh-CN" b="1" dirty="0">
                <a:solidFill>
                  <a:srgbClr val="0033CC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receive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enough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promise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563370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 a value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the proposal V,  if any accepted value returned, replace V with the returned one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563370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send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 request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with </a:t>
            </a:r>
            <a:b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chosen value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</a:t>
            </a:r>
            <a:endParaRPr lang="en-US" altLang="zh-CN" sz="2000" dirty="0">
              <a:solidFill>
                <a:srgbClr val="FF0066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4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5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0"/>
          <p:cNvGrpSpPr/>
          <p:nvPr/>
        </p:nvGrpSpPr>
        <p:grpSpPr>
          <a:xfrm>
            <a:off x="2677314" y="3067499"/>
            <a:ext cx="1260000" cy="420002"/>
            <a:chOff x="2298377" y="2842799"/>
            <a:chExt cx="1512000" cy="504002"/>
          </a:xfrm>
        </p:grpSpPr>
        <p:sp>
          <p:nvSpPr>
            <p:cNvPr id="17" name="Rounded Rectangle 9"/>
            <p:cNvSpPr/>
            <p:nvPr/>
          </p:nvSpPr>
          <p:spPr>
            <a:xfrm>
              <a:off x="2298377" y="2842800"/>
              <a:ext cx="1512000" cy="504001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Rectangle 8"/>
            <p:cNvSpPr/>
            <p:nvPr/>
          </p:nvSpPr>
          <p:spPr>
            <a:xfrm>
              <a:off x="3630377" y="2842799"/>
              <a:ext cx="180000" cy="14400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9" name="Straight Arrow Connector 14"/>
          <p:cNvCxnSpPr/>
          <p:nvPr/>
        </p:nvCxnSpPr>
        <p:spPr>
          <a:xfrm>
            <a:off x="3937315" y="3445898"/>
            <a:ext cx="1060186" cy="215206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25"/>
          <p:cNvCxnSpPr/>
          <p:nvPr/>
        </p:nvCxnSpPr>
        <p:spPr>
          <a:xfrm>
            <a:off x="3937315" y="3487501"/>
            <a:ext cx="1187186" cy="39694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7"/>
          <p:cNvCxnSpPr/>
          <p:nvPr/>
        </p:nvCxnSpPr>
        <p:spPr>
          <a:xfrm>
            <a:off x="3862315" y="3507001"/>
            <a:ext cx="1389186" cy="620499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33"/>
          <p:cNvSpPr/>
          <p:nvPr/>
        </p:nvSpPr>
        <p:spPr>
          <a:xfrm>
            <a:off x="4125731" y="3175000"/>
            <a:ext cx="25330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 request(N, V)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23" name="Rectangle 24"/>
          <p:cNvSpPr/>
          <p:nvPr/>
        </p:nvSpPr>
        <p:spPr>
          <a:xfrm>
            <a:off x="5284077" y="5080000"/>
            <a:ext cx="2970923" cy="368363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marL="223520" indent="-22352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Ignore all proposals &lt; 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2b (Accept)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43000" y="1206500"/>
            <a:ext cx="7239000" cy="1628053"/>
          </a:xfrm>
        </p:spPr>
        <p:txBody>
          <a:bodyPr>
            <a:normAutofit fontScale="92500"/>
          </a:bodyPr>
          <a:lstStyle/>
          <a:p>
            <a:pPr marL="367665" indent="-32004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 </a:t>
            </a:r>
            <a:r>
              <a:rPr lang="en-US" altLang="zh-CN" b="1" dirty="0">
                <a:solidFill>
                  <a:srgbClr val="0033CC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altLang="zh-CN" sz="2000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promise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still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holds</a:t>
            </a:r>
            <a:endParaRPr lang="en-US" altLang="zh-CN" sz="2000" dirty="0">
              <a:solidFill>
                <a:srgbClr val="FF0066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64995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register the value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</a:t>
            </a:r>
            <a:endParaRPr lang="en-US" altLang="zh-CN" sz="2000" dirty="0">
              <a:solidFill>
                <a:srgbClr val="FF0066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64995" indent="-223520">
              <a:lnSpc>
                <a:spcPct val="90000"/>
              </a:lnSpc>
              <a:buClr>
                <a:srgbClr val="0033CC"/>
              </a:buClr>
              <a:buSzPct val="90000"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send </a:t>
            </a:r>
            <a:r>
              <a:rPr lang="en-US" altLang="zh-CN" sz="2000" dirty="0">
                <a:solidFill>
                  <a:srgbClr val="FF0066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accepted message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Proposer/Learners</a:t>
            </a:r>
            <a:endParaRPr lang="en-US" altLang="zh-CN" sz="2000" dirty="0">
              <a:solidFill>
                <a:srgbClr val="FF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7665" indent="1129665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b="1" dirty="0">
                <a:solidFill>
                  <a:srgbClr val="0033CC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else</a:t>
            </a:r>
            <a:r>
              <a:rPr lang="en-US" altLang="zh-CN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ignore the message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4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5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0"/>
          <p:cNvGrpSpPr/>
          <p:nvPr/>
        </p:nvGrpSpPr>
        <p:grpSpPr>
          <a:xfrm>
            <a:off x="2677314" y="3067499"/>
            <a:ext cx="1260000" cy="420002"/>
            <a:chOff x="2298377" y="2842799"/>
            <a:chExt cx="1512000" cy="504002"/>
          </a:xfrm>
        </p:grpSpPr>
        <p:sp>
          <p:nvSpPr>
            <p:cNvPr id="17" name="Rounded Rectangle 9"/>
            <p:cNvSpPr/>
            <p:nvPr/>
          </p:nvSpPr>
          <p:spPr>
            <a:xfrm>
              <a:off x="2298377" y="2842800"/>
              <a:ext cx="1512000" cy="504001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Rectangle 8"/>
            <p:cNvSpPr/>
            <p:nvPr/>
          </p:nvSpPr>
          <p:spPr>
            <a:xfrm>
              <a:off x="3630377" y="2842799"/>
              <a:ext cx="180000" cy="14400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9" name="Straight Arrow Connector 14"/>
          <p:cNvCxnSpPr/>
          <p:nvPr/>
        </p:nvCxnSpPr>
        <p:spPr>
          <a:xfrm>
            <a:off x="3937315" y="3445898"/>
            <a:ext cx="1060186" cy="215206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25"/>
          <p:cNvCxnSpPr/>
          <p:nvPr/>
        </p:nvCxnSpPr>
        <p:spPr>
          <a:xfrm>
            <a:off x="3937315" y="3487501"/>
            <a:ext cx="1187186" cy="39694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7"/>
          <p:cNvCxnSpPr/>
          <p:nvPr/>
        </p:nvCxnSpPr>
        <p:spPr>
          <a:xfrm>
            <a:off x="3862315" y="3507001"/>
            <a:ext cx="1389186" cy="620499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33"/>
          <p:cNvSpPr/>
          <p:nvPr/>
        </p:nvSpPr>
        <p:spPr>
          <a:xfrm>
            <a:off x="4282565" y="3175000"/>
            <a:ext cx="1225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accepted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23" name="Straight Arrow Connector 24"/>
          <p:cNvCxnSpPr/>
          <p:nvPr/>
        </p:nvCxnSpPr>
        <p:spPr>
          <a:xfrm flipV="1">
            <a:off x="4997500" y="4064803"/>
            <a:ext cx="0" cy="824697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Arrow Connector 26"/>
          <p:cNvCxnSpPr/>
          <p:nvPr/>
        </p:nvCxnSpPr>
        <p:spPr>
          <a:xfrm flipV="1">
            <a:off x="4997500" y="4191000"/>
            <a:ext cx="127000" cy="6985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Arrow Connector 31"/>
          <p:cNvCxnSpPr/>
          <p:nvPr/>
        </p:nvCxnSpPr>
        <p:spPr>
          <a:xfrm flipV="1">
            <a:off x="4997500" y="4309305"/>
            <a:ext cx="262963" cy="58019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Rectangle 38"/>
          <p:cNvSpPr/>
          <p:nvPr/>
        </p:nvSpPr>
        <p:spPr>
          <a:xfrm>
            <a:off x="3744577" y="4318000"/>
            <a:ext cx="1225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accepted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27" name="Rounded Rectangle 39"/>
          <p:cNvSpPr/>
          <p:nvPr/>
        </p:nvSpPr>
        <p:spPr>
          <a:xfrm>
            <a:off x="3918000" y="4889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Rectangle 45"/>
          <p:cNvSpPr/>
          <p:nvPr/>
        </p:nvSpPr>
        <p:spPr>
          <a:xfrm>
            <a:off x="5284077" y="5080000"/>
            <a:ext cx="3097923" cy="368363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marL="223520" indent="-22352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Ignore all proposals &lt; 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Paxos</a:t>
            </a:r>
            <a:r>
              <a:rPr lang="en-US" altLang="zh-CN" dirty="0">
                <a:solidFill>
                  <a:srgbClr val="C00000"/>
                </a:solidFill>
              </a:rPr>
              <a:t> in Action: Phase 3 (Learn)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143000" y="1206500"/>
            <a:ext cx="6604000" cy="1333501"/>
          </a:xfrm>
        </p:spPr>
        <p:txBody>
          <a:bodyPr vert="horz" lIns="76200" tIns="38100" rIns="76200" bIns="38100" rtlCol="0">
            <a:normAutofit/>
          </a:bodyPr>
          <a:lstStyle/>
          <a:p>
            <a:pPr marL="1419225" indent="-1371600">
              <a:buClr>
                <a:srgbClr val="FF0066"/>
              </a:buClr>
              <a:buNone/>
            </a:pPr>
            <a:r>
              <a:rPr lang="en-US" altLang="zh-C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Learner: </a:t>
            </a:r>
            <a:r>
              <a:rPr lang="en-US" altLang="zh-CN" sz="28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responds to </a:t>
            </a:r>
            <a:r>
              <a:rPr lang="en-US" altLang="zh-C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r>
              <a:rPr lang="en-US" altLang="zh-CN" sz="28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and/or take action on the request</a:t>
            </a:r>
            <a:endParaRPr lang="en-US" altLang="zh-CN" sz="28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566314" y="3556000"/>
            <a:ext cx="1694148" cy="1089803"/>
            <a:chOff x="3276496" y="3419714"/>
            <a:chExt cx="1896936" cy="1201097"/>
          </a:xfrm>
        </p:grpSpPr>
        <p:sp>
          <p:nvSpPr>
            <p:cNvPr id="6" name="Cloud 4"/>
            <p:cNvSpPr/>
            <p:nvPr/>
          </p:nvSpPr>
          <p:spPr>
            <a:xfrm>
              <a:off x="3276496" y="3419714"/>
              <a:ext cx="1896936" cy="1201097"/>
            </a:xfrm>
            <a:prstGeom prst="cloud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tIns="30000" bIns="30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65">
                <a:solidFill>
                  <a:prstClr val="black"/>
                </a:solidFill>
                <a:latin typeface="Candara" panose="020E0502030303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3276497" y="3711007"/>
              <a:ext cx="1825835" cy="497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35" i="1" dirty="0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Network</a:t>
              </a:r>
              <a:endParaRPr lang="zh-CN" altLang="en-US" sz="2000" i="1" dirty="0">
                <a:solidFill>
                  <a:prstClr val="white">
                    <a:lumMod val="65000"/>
                  </a:prstClr>
                </a:solidFill>
                <a:latin typeface="Candara" panose="020E0502030303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" name="Rounded Rectangle 6"/>
          <p:cNvSpPr/>
          <p:nvPr/>
        </p:nvSpPr>
        <p:spPr>
          <a:xfrm>
            <a:off x="1397000" y="3854000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4997500" y="3644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124500" y="3771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3"/>
          <p:cNvSpPr/>
          <p:nvPr/>
        </p:nvSpPr>
        <p:spPr>
          <a:xfrm>
            <a:off x="5251500" y="3898000"/>
            <a:ext cx="1313521" cy="42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5"/>
          <p:cNvSpPr/>
          <p:nvPr/>
        </p:nvSpPr>
        <p:spPr>
          <a:xfrm>
            <a:off x="3791000" y="4762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2486815" y="2857500"/>
            <a:ext cx="4288686" cy="254000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4" name="Rectangle 20"/>
          <p:cNvSpPr/>
          <p:nvPr/>
        </p:nvSpPr>
        <p:spPr>
          <a:xfrm>
            <a:off x="5328812" y="4626040"/>
            <a:ext cx="1053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quorum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cxnSp>
        <p:nvCxnSpPr>
          <p:cNvPr id="15" name="Straight Arrow Connector 21"/>
          <p:cNvCxnSpPr/>
          <p:nvPr/>
        </p:nvCxnSpPr>
        <p:spPr>
          <a:xfrm flipV="1">
            <a:off x="5932618" y="4356040"/>
            <a:ext cx="0" cy="270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0"/>
          <p:cNvGrpSpPr/>
          <p:nvPr/>
        </p:nvGrpSpPr>
        <p:grpSpPr>
          <a:xfrm>
            <a:off x="2677314" y="3067499"/>
            <a:ext cx="1260000" cy="420002"/>
            <a:chOff x="2298377" y="2842799"/>
            <a:chExt cx="1512000" cy="504002"/>
          </a:xfrm>
        </p:grpSpPr>
        <p:sp>
          <p:nvSpPr>
            <p:cNvPr id="17" name="Rounded Rectangle 9"/>
            <p:cNvSpPr/>
            <p:nvPr/>
          </p:nvSpPr>
          <p:spPr>
            <a:xfrm>
              <a:off x="2298377" y="2842800"/>
              <a:ext cx="1512000" cy="504001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Rectangle 8"/>
            <p:cNvSpPr/>
            <p:nvPr/>
          </p:nvSpPr>
          <p:spPr>
            <a:xfrm>
              <a:off x="3630377" y="2842799"/>
              <a:ext cx="180000" cy="14400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9" name="Rounded Rectangle 39"/>
          <p:cNvSpPr/>
          <p:nvPr/>
        </p:nvSpPr>
        <p:spPr>
          <a:xfrm>
            <a:off x="3918000" y="4889500"/>
            <a:ext cx="1170000" cy="42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0" name="Straight Arrow Connector 29"/>
          <p:cNvCxnSpPr/>
          <p:nvPr/>
        </p:nvCxnSpPr>
        <p:spPr>
          <a:xfrm>
            <a:off x="2243077" y="4274000"/>
            <a:ext cx="1619238" cy="6155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45"/>
          <p:cNvSpPr/>
          <p:nvPr/>
        </p:nvSpPr>
        <p:spPr>
          <a:xfrm>
            <a:off x="5284077" y="5080000"/>
            <a:ext cx="3097923" cy="368363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marL="223520" indent="-22352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MS PGothic" panose="020B0600070205080204" charset="-128"/>
              </a:rPr>
              <a:t>Ignore all proposals &lt; 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Multi-</a:t>
            </a:r>
            <a:r>
              <a:rPr lang="en-US" altLang="zh-CN" kern="0" dirty="0" err="1">
                <a:solidFill>
                  <a:srgbClr val="C00000"/>
                </a:solidFill>
                <a:ea typeface="+mn-ea"/>
              </a:rPr>
              <a:t>Paxos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sz="2600" b="0" kern="0" dirty="0">
                <a:solidFill>
                  <a:srgbClr val="C00000"/>
                </a:solidFill>
                <a:ea typeface="+mn-ea"/>
              </a:rPr>
              <a:t>Agree on a sequence of values</a:t>
            </a:r>
            <a:endParaRPr lang="en-US" altLang="zh-CN" sz="2600" b="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Does single-decree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works fine for our view server example?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When can it go wrong? Accepting a single value is not enough (because view can change)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497" y="2029750"/>
            <a:ext cx="6252796" cy="2530201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961" y="4027946"/>
            <a:ext cx="2452077" cy="1458188"/>
          </a:xfrm>
          <a:prstGeom prst="rect">
            <a:avLst/>
          </a:prstGeom>
        </p:spPr>
      </p:pic>
      <p:cxnSp>
        <p:nvCxnSpPr>
          <p:cNvPr id="37" name="直线连接符 36"/>
          <p:cNvCxnSpPr/>
          <p:nvPr/>
        </p:nvCxnSpPr>
        <p:spPr>
          <a:xfrm flipH="1">
            <a:off x="3345961" y="3525715"/>
            <a:ext cx="830385" cy="502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>
            <a:off x="4765040" y="3525715"/>
            <a:ext cx="1023913" cy="502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builds on top of the basic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67205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Useful when agreeing on a sequences of values, examples including: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Views in primary-backup replication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Logs in a replicated state machine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i.e., use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to implement RSM  </a:t>
            </a:r>
            <a:endParaRPr kumimoji="1" lang="en-US" altLang="zh-CN" dirty="0"/>
          </a:p>
          <a:p>
            <a:r>
              <a:rPr kumimoji="1" lang="en-US" altLang="zh-CN" dirty="0"/>
              <a:t>The basic approach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Run a separate instance of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to agree on the value of each index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instance of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has its own copy of state </a:t>
            </a:r>
            <a:endParaRPr kumimoji="1" lang="en-US" altLang="zh-CN" dirty="0"/>
          </a:p>
          <a:p>
            <a:pPr lvl="2"/>
            <a:r>
              <a:rPr lang="en-GB" altLang="zh-CN" dirty="0"/>
              <a:t>highest proposal seen</a:t>
            </a:r>
            <a:endParaRPr lang="en-GB" altLang="zh-CN" dirty="0"/>
          </a:p>
          <a:p>
            <a:pPr lvl="2"/>
            <a:r>
              <a:rPr lang="en-GB" altLang="zh-CN" dirty="0"/>
              <a:t>accepted proposal number </a:t>
            </a:r>
            <a:endParaRPr lang="en-GB" altLang="zh-CN" dirty="0"/>
          </a:p>
          <a:p>
            <a:pPr lvl="2"/>
            <a:r>
              <a:rPr lang="en-GB" altLang="zh-CN" dirty="0"/>
              <a:t>accepted proposal value </a:t>
            </a:r>
            <a:endParaRPr lang="en-GB" altLang="zh-CN" dirty="0"/>
          </a:p>
          <a:p>
            <a:pPr marL="914400" lvl="2" indent="0">
              <a:buNone/>
            </a:pPr>
            <a:br>
              <a:rPr lang="en-GB" altLang="zh-CN" dirty="0"/>
            </a:br>
            <a:endParaRPr lang="en-GB" altLang="zh-CN" dirty="0"/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Single-decree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vs.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Rounded Rectangle 3"/>
          <p:cNvSpPr/>
          <p:nvPr/>
        </p:nvSpPr>
        <p:spPr>
          <a:xfrm>
            <a:off x="1118320" y="2653928"/>
            <a:ext cx="1260000" cy="390000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1118320" y="3161928"/>
            <a:ext cx="1260000" cy="39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1118320" y="3669928"/>
            <a:ext cx="1260000" cy="39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927820" y="2209428"/>
            <a:ext cx="1651000" cy="19685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9" name="Rounded Rectangle 19"/>
          <p:cNvSpPr/>
          <p:nvPr/>
        </p:nvSpPr>
        <p:spPr>
          <a:xfrm>
            <a:off x="2042716" y="1408428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0" name="Straight Arrow Connector 20"/>
          <p:cNvCxnSpPr>
            <a:stCxn id="9" idx="2"/>
          </p:cNvCxnSpPr>
          <p:nvPr/>
        </p:nvCxnSpPr>
        <p:spPr>
          <a:xfrm flipH="1">
            <a:off x="2378320" y="1828428"/>
            <a:ext cx="99396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6"/>
          <p:cNvSpPr/>
          <p:nvPr/>
        </p:nvSpPr>
        <p:spPr>
          <a:xfrm>
            <a:off x="3923928" y="2209428"/>
            <a:ext cx="4074789" cy="19685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15" name="Rounded Rectangle 19"/>
          <p:cNvSpPr/>
          <p:nvPr/>
        </p:nvSpPr>
        <p:spPr>
          <a:xfrm>
            <a:off x="5038825" y="1408428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6" name="Straight Arrow Connector 20"/>
          <p:cNvCxnSpPr>
            <a:stCxn id="15" idx="2"/>
          </p:cNvCxnSpPr>
          <p:nvPr/>
        </p:nvCxnSpPr>
        <p:spPr>
          <a:xfrm flipH="1">
            <a:off x="5374429" y="1828428"/>
            <a:ext cx="99396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TextBox 244"/>
          <p:cNvSpPr txBox="1"/>
          <p:nvPr/>
        </p:nvSpPr>
        <p:spPr>
          <a:xfrm>
            <a:off x="541464" y="4374262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Single-decree </a:t>
            </a:r>
            <a:r>
              <a:rPr lang="en-US" b="1" dirty="0" err="1"/>
              <a:t>Paxos</a:t>
            </a:r>
            <a:r>
              <a:rPr lang="en-US" b="1" dirty="0"/>
              <a:t> </a:t>
            </a:r>
            <a:endParaRPr lang="en-US" b="1" dirty="0"/>
          </a:p>
        </p:txBody>
      </p:sp>
      <p:sp>
        <p:nvSpPr>
          <p:cNvPr id="24" name="TextBox 244"/>
          <p:cNvSpPr txBox="1"/>
          <p:nvPr/>
        </p:nvSpPr>
        <p:spPr>
          <a:xfrm>
            <a:off x="5325889" y="511680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Multi-</a:t>
            </a:r>
            <a:r>
              <a:rPr lang="en-US" b="1" dirty="0" err="1"/>
              <a:t>Paxos</a:t>
            </a:r>
            <a:r>
              <a:rPr lang="en-US" b="1" dirty="0"/>
              <a:t> </a:t>
            </a:r>
            <a:endParaRPr 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3923928" y="2423761"/>
            <a:ext cx="1500199" cy="1876802"/>
          </a:xfrm>
          <a:prstGeom prst="rect">
            <a:avLst/>
          </a:prstGeom>
          <a:noFill/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462564" y="2427987"/>
            <a:ext cx="1341175" cy="1876802"/>
          </a:xfrm>
          <a:prstGeom prst="rect">
            <a:avLst/>
          </a:prstGeom>
          <a:noFill/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869901" y="2413566"/>
            <a:ext cx="1446516" cy="1876802"/>
          </a:xfrm>
          <a:prstGeom prst="rect">
            <a:avLst/>
          </a:prstGeom>
          <a:noFill/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TextBox 244"/>
          <p:cNvSpPr txBox="1"/>
          <p:nvPr/>
        </p:nvSpPr>
        <p:spPr>
          <a:xfrm>
            <a:off x="3627988" y="4430501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Single-decree</a:t>
            </a:r>
            <a:endParaRPr lang="en-US" b="1" dirty="0"/>
          </a:p>
          <a:p>
            <a:pPr algn="ctr"/>
            <a:r>
              <a:rPr lang="en-US" b="1" dirty="0"/>
              <a:t>instance for 0</a:t>
            </a:r>
            <a:endParaRPr lang="en-US" b="1" dirty="0"/>
          </a:p>
        </p:txBody>
      </p:sp>
      <p:sp>
        <p:nvSpPr>
          <p:cNvPr id="30" name="Rectangle 15"/>
          <p:cNvSpPr/>
          <p:nvPr/>
        </p:nvSpPr>
        <p:spPr>
          <a:xfrm>
            <a:off x="7244919" y="85000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31" name="Rectangle 16"/>
          <p:cNvSpPr/>
          <p:nvPr/>
        </p:nvSpPr>
        <p:spPr>
          <a:xfrm>
            <a:off x="7625919" y="85000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32" name="TextBox 45"/>
          <p:cNvSpPr txBox="1"/>
          <p:nvPr/>
        </p:nvSpPr>
        <p:spPr>
          <a:xfrm>
            <a:off x="6673419" y="906985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Log</a:t>
            </a:r>
            <a:endParaRPr lang="en-US" baseline="-25000" dirty="0"/>
          </a:p>
        </p:txBody>
      </p:sp>
      <p:sp>
        <p:nvSpPr>
          <p:cNvPr id="33" name="TextBox 6"/>
          <p:cNvSpPr txBox="1"/>
          <p:nvPr/>
        </p:nvSpPr>
        <p:spPr>
          <a:xfrm>
            <a:off x="7295967" y="40312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4" name="TextBox 7"/>
          <p:cNvSpPr txBox="1"/>
          <p:nvPr/>
        </p:nvSpPr>
        <p:spPr>
          <a:xfrm>
            <a:off x="7676967" y="40312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8248467" y="40312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8129975" y="85000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38" name="TextBox 244"/>
          <p:cNvSpPr txBox="1"/>
          <p:nvPr/>
        </p:nvSpPr>
        <p:spPr>
          <a:xfrm>
            <a:off x="5391633" y="4430501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Single-decree</a:t>
            </a:r>
            <a:endParaRPr lang="en-US" b="1" dirty="0"/>
          </a:p>
          <a:p>
            <a:pPr algn="ctr"/>
            <a:r>
              <a:rPr lang="en-US" b="1" dirty="0"/>
              <a:t>instance for 1</a:t>
            </a:r>
            <a:endParaRPr lang="en-US" b="1" dirty="0"/>
          </a:p>
        </p:txBody>
      </p:sp>
      <p:sp>
        <p:nvSpPr>
          <p:cNvPr id="39" name="TextBox 244"/>
          <p:cNvSpPr txBox="1"/>
          <p:nvPr/>
        </p:nvSpPr>
        <p:spPr>
          <a:xfrm>
            <a:off x="7209016" y="4430501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Single-decree</a:t>
            </a:r>
            <a:endParaRPr lang="en-US" b="1" dirty="0"/>
          </a:p>
          <a:p>
            <a:pPr algn="ctr"/>
            <a:r>
              <a:rPr lang="en-US" b="1" dirty="0"/>
              <a:t>instance for 2</a:t>
            </a:r>
            <a:endParaRPr lang="en-US" b="1" dirty="0"/>
          </a:p>
        </p:txBody>
      </p:sp>
      <p:sp>
        <p:nvSpPr>
          <p:cNvPr id="53" name="Rectangle 6"/>
          <p:cNvSpPr/>
          <p:nvPr/>
        </p:nvSpPr>
        <p:spPr>
          <a:xfrm>
            <a:off x="1345932" y="2319668"/>
            <a:ext cx="1651000" cy="17014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50" name="Rounded Rectangle 3"/>
          <p:cNvSpPr/>
          <p:nvPr/>
        </p:nvSpPr>
        <p:spPr>
          <a:xfrm>
            <a:off x="1570430" y="2517928"/>
            <a:ext cx="1260000" cy="390000"/>
          </a:xfrm>
          <a:prstGeom prst="roundRect">
            <a:avLst/>
          </a:prstGeom>
          <a:solidFill>
            <a:srgbClr val="FF0066"/>
          </a:solidFill>
          <a:ln w="2857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30000" rIns="0" bIns="0" rtlCol="0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1" name="Rounded Rectangle 4"/>
          <p:cNvSpPr/>
          <p:nvPr/>
        </p:nvSpPr>
        <p:spPr>
          <a:xfrm>
            <a:off x="1570430" y="3025928"/>
            <a:ext cx="1260000" cy="390000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Acceptor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2" name="Rounded Rectangle 5"/>
          <p:cNvSpPr/>
          <p:nvPr/>
        </p:nvSpPr>
        <p:spPr>
          <a:xfrm>
            <a:off x="1570430" y="3533928"/>
            <a:ext cx="1260000" cy="390000"/>
          </a:xfrm>
          <a:prstGeom prst="round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3000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Learner</a:t>
            </a:r>
            <a:endParaRPr lang="zh-CN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764044" y="2501884"/>
            <a:ext cx="1651000" cy="1701428"/>
            <a:chOff x="2112034" y="2896716"/>
            <a:chExt cx="1651000" cy="1701428"/>
          </a:xfrm>
        </p:grpSpPr>
        <p:sp>
          <p:nvSpPr>
            <p:cNvPr id="54" name="Rectangle 6"/>
            <p:cNvSpPr/>
            <p:nvPr/>
          </p:nvSpPr>
          <p:spPr>
            <a:xfrm>
              <a:off x="2112034" y="2896716"/>
              <a:ext cx="1651000" cy="17014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55" name="Rounded Rectangle 3"/>
            <p:cNvSpPr/>
            <p:nvPr/>
          </p:nvSpPr>
          <p:spPr>
            <a:xfrm>
              <a:off x="2302534" y="3074144"/>
              <a:ext cx="1260000" cy="390000"/>
            </a:xfrm>
            <a:prstGeom prst="round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Proposer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6" name="Rounded Rectangle 4"/>
            <p:cNvSpPr/>
            <p:nvPr/>
          </p:nvSpPr>
          <p:spPr>
            <a:xfrm>
              <a:off x="2302534" y="3582144"/>
              <a:ext cx="1260000" cy="390000"/>
            </a:xfrm>
            <a:prstGeom prst="round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30000" rIns="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Acceptor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Rounded Rectangle 5"/>
            <p:cNvSpPr/>
            <p:nvPr/>
          </p:nvSpPr>
          <p:spPr>
            <a:xfrm>
              <a:off x="2302534" y="4090144"/>
              <a:ext cx="1260000" cy="390000"/>
            </a:xfrm>
            <a:prstGeom prst="round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30000" rIns="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</a:t>
              </a:r>
              <a:endParaRPr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5952" y="2618260"/>
            <a:ext cx="1736149" cy="1446791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7465" y="2618260"/>
            <a:ext cx="1736149" cy="1446791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652" y="2628571"/>
            <a:ext cx="1736149" cy="14467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Note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sz="2600" b="0" kern="0" dirty="0">
                <a:solidFill>
                  <a:srgbClr val="C00000"/>
                </a:solidFill>
                <a:ea typeface="+mn-ea"/>
              </a:rPr>
              <a:t>The proposers/acceptors can of different instances can be  on the same machine</a:t>
            </a:r>
            <a:endParaRPr lang="en-US" altLang="zh-CN" sz="2600" b="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172688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Server simultaneously acts as proposer, acceptor &amp; learner</a:t>
            </a:r>
            <a:endParaRPr kumimoji="1" lang="en-US" altLang="zh-CN" dirty="0"/>
          </a:p>
          <a:p>
            <a:r>
              <a:rPr kumimoji="1" lang="en-US" altLang="zh-CN" dirty="0"/>
              <a:t>Example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Suppose we want to append an entry to the log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5"/>
          <p:cNvSpPr/>
          <p:nvPr/>
        </p:nvSpPr>
        <p:spPr>
          <a:xfrm>
            <a:off x="1039044" y="347213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9" name="Rectangle 16"/>
          <p:cNvSpPr/>
          <p:nvPr/>
        </p:nvSpPr>
        <p:spPr>
          <a:xfrm>
            <a:off x="1420044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23" name="TextBox 45"/>
          <p:cNvSpPr txBox="1"/>
          <p:nvPr/>
        </p:nvSpPr>
        <p:spPr>
          <a:xfrm>
            <a:off x="467544" y="3529106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27" name="TextBox 6"/>
          <p:cNvSpPr txBox="1"/>
          <p:nvPr/>
        </p:nvSpPr>
        <p:spPr>
          <a:xfrm>
            <a:off x="1090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1471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20425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1924100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39" name="Rectangle 15"/>
          <p:cNvSpPr/>
          <p:nvPr/>
        </p:nvSpPr>
        <p:spPr>
          <a:xfrm>
            <a:off x="1039044" y="414504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43" name="Rectangle 16"/>
          <p:cNvSpPr/>
          <p:nvPr/>
        </p:nvSpPr>
        <p:spPr>
          <a:xfrm>
            <a:off x="1420044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44" name="TextBox 45"/>
          <p:cNvSpPr txBox="1"/>
          <p:nvPr/>
        </p:nvSpPr>
        <p:spPr>
          <a:xfrm>
            <a:off x="467544" y="420202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49" name="Rectangle 16"/>
          <p:cNvSpPr/>
          <p:nvPr/>
        </p:nvSpPr>
        <p:spPr>
          <a:xfrm>
            <a:off x="1924100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51" name="Rectangle 15"/>
          <p:cNvSpPr/>
          <p:nvPr/>
        </p:nvSpPr>
        <p:spPr>
          <a:xfrm>
            <a:off x="1039044" y="481796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53" name="Rectangle 16"/>
          <p:cNvSpPr/>
          <p:nvPr/>
        </p:nvSpPr>
        <p:spPr>
          <a:xfrm>
            <a:off x="1420044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55" name="TextBox 45"/>
          <p:cNvSpPr txBox="1"/>
          <p:nvPr/>
        </p:nvSpPr>
        <p:spPr>
          <a:xfrm>
            <a:off x="467544" y="487494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60" name="Rectangle 16"/>
          <p:cNvSpPr/>
          <p:nvPr/>
        </p:nvSpPr>
        <p:spPr>
          <a:xfrm>
            <a:off x="1924100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61" name="TextBox 45"/>
          <p:cNvSpPr txBox="1"/>
          <p:nvPr/>
        </p:nvSpPr>
        <p:spPr>
          <a:xfrm>
            <a:off x="3878884" y="352886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62" name="TextBox 45"/>
          <p:cNvSpPr txBox="1"/>
          <p:nvPr/>
        </p:nvSpPr>
        <p:spPr>
          <a:xfrm>
            <a:off x="3878884" y="420178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63" name="TextBox 45"/>
          <p:cNvSpPr txBox="1"/>
          <p:nvPr/>
        </p:nvSpPr>
        <p:spPr>
          <a:xfrm>
            <a:off x="3878884" y="487470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68" name="直线连接符 67"/>
          <p:cNvCxnSpPr/>
          <p:nvPr/>
        </p:nvCxnSpPr>
        <p:spPr>
          <a:xfrm flipV="1">
            <a:off x="4259884" y="3645425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 flipV="1">
            <a:off x="4259884" y="4372657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/>
          <p:cNvCxnSpPr/>
          <p:nvPr/>
        </p:nvCxnSpPr>
        <p:spPr>
          <a:xfrm flipV="1">
            <a:off x="4259884" y="5099889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9"/>
          <p:cNvSpPr/>
          <p:nvPr/>
        </p:nvSpPr>
        <p:spPr>
          <a:xfrm>
            <a:off x="3563888" y="2642902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2" name="Straight Arrow Connector 20"/>
          <p:cNvCxnSpPr>
            <a:stCxn id="71" idx="2"/>
          </p:cNvCxnSpPr>
          <p:nvPr/>
        </p:nvCxnSpPr>
        <p:spPr>
          <a:xfrm flipH="1">
            <a:off x="3976443" y="3062902"/>
            <a:ext cx="22445" cy="474564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172688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After receiving the request from a client, the server will </a:t>
            </a:r>
            <a:endParaRPr kumimoji="1" lang="en-US" altLang="zh-CN" dirty="0"/>
          </a:p>
          <a:p>
            <a:pPr marL="417195" lvl="1" indent="-342900">
              <a:buFont typeface="+mj-ea"/>
              <a:buAutoNum type="circleNumDbPlain"/>
            </a:pPr>
            <a:r>
              <a:rPr kumimoji="1" lang="en-US" altLang="zh-CN" dirty="0"/>
              <a:t>Decide the number of the instance to append (3 in our example)</a:t>
            </a:r>
            <a:endParaRPr kumimoji="1" lang="en-US" altLang="zh-CN" dirty="0"/>
          </a:p>
          <a:p>
            <a:pPr marL="417195" lvl="1" indent="-342900">
              <a:buFont typeface="+mj-ea"/>
              <a:buAutoNum type="circleNumDbPlain"/>
            </a:pPr>
            <a:r>
              <a:rPr kumimoji="1" lang="en-US" altLang="zh-CN" dirty="0"/>
              <a:t>Do the single-decree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to append the log entry to the instance 3 </a:t>
            </a:r>
            <a:endParaRPr kumimoji="1" lang="en-US" altLang="zh-CN" dirty="0"/>
          </a:p>
          <a:p>
            <a:pPr marL="1200150" lvl="2" indent="-342900">
              <a:buFont typeface="+mj-ea"/>
              <a:buAutoNum type="circleNumDbPlain"/>
            </a:pPr>
            <a:r>
              <a:rPr kumimoji="1" lang="en-US" altLang="zh-CN" sz="1800" dirty="0"/>
              <a:t>Prepare + Accept </a:t>
            </a:r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7" name="Rectangle 19"/>
          <p:cNvSpPr/>
          <p:nvPr/>
        </p:nvSpPr>
        <p:spPr>
          <a:xfrm>
            <a:off x="3858260" y="220615"/>
            <a:ext cx="5070000" cy="67613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Question: what could happen if instance 3 has already gotten a value?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1039044" y="347213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9" name="Rectangle 16"/>
          <p:cNvSpPr/>
          <p:nvPr/>
        </p:nvSpPr>
        <p:spPr>
          <a:xfrm>
            <a:off x="1420044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23" name="TextBox 45"/>
          <p:cNvSpPr txBox="1"/>
          <p:nvPr/>
        </p:nvSpPr>
        <p:spPr>
          <a:xfrm>
            <a:off x="467544" y="3529106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27" name="TextBox 6"/>
          <p:cNvSpPr txBox="1"/>
          <p:nvPr/>
        </p:nvSpPr>
        <p:spPr>
          <a:xfrm>
            <a:off x="1090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1471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20425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1924100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39" name="Rectangle 15"/>
          <p:cNvSpPr/>
          <p:nvPr/>
        </p:nvSpPr>
        <p:spPr>
          <a:xfrm>
            <a:off x="1039044" y="414504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43" name="Rectangle 16"/>
          <p:cNvSpPr/>
          <p:nvPr/>
        </p:nvSpPr>
        <p:spPr>
          <a:xfrm>
            <a:off x="1420044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44" name="TextBox 45"/>
          <p:cNvSpPr txBox="1"/>
          <p:nvPr/>
        </p:nvSpPr>
        <p:spPr>
          <a:xfrm>
            <a:off x="467544" y="420202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49" name="Rectangle 16"/>
          <p:cNvSpPr/>
          <p:nvPr/>
        </p:nvSpPr>
        <p:spPr>
          <a:xfrm>
            <a:off x="1924100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51" name="Rectangle 15"/>
          <p:cNvSpPr/>
          <p:nvPr/>
        </p:nvSpPr>
        <p:spPr>
          <a:xfrm>
            <a:off x="1039044" y="481796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53" name="Rectangle 16"/>
          <p:cNvSpPr/>
          <p:nvPr/>
        </p:nvSpPr>
        <p:spPr>
          <a:xfrm>
            <a:off x="1420044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55" name="TextBox 45"/>
          <p:cNvSpPr txBox="1"/>
          <p:nvPr/>
        </p:nvSpPr>
        <p:spPr>
          <a:xfrm>
            <a:off x="467544" y="487494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60" name="Rectangle 16"/>
          <p:cNvSpPr/>
          <p:nvPr/>
        </p:nvSpPr>
        <p:spPr>
          <a:xfrm>
            <a:off x="1924100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61" name="TextBox 45"/>
          <p:cNvSpPr txBox="1"/>
          <p:nvPr/>
        </p:nvSpPr>
        <p:spPr>
          <a:xfrm>
            <a:off x="3878884" y="352886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62" name="TextBox 45"/>
          <p:cNvSpPr txBox="1"/>
          <p:nvPr/>
        </p:nvSpPr>
        <p:spPr>
          <a:xfrm>
            <a:off x="3878884" y="420178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63" name="TextBox 45"/>
          <p:cNvSpPr txBox="1"/>
          <p:nvPr/>
        </p:nvSpPr>
        <p:spPr>
          <a:xfrm>
            <a:off x="3878884" y="487470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68" name="直线连接符 67"/>
          <p:cNvCxnSpPr/>
          <p:nvPr/>
        </p:nvCxnSpPr>
        <p:spPr>
          <a:xfrm flipV="1">
            <a:off x="4259884" y="3645425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 flipV="1">
            <a:off x="4259884" y="4372657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/>
          <p:cNvCxnSpPr/>
          <p:nvPr/>
        </p:nvCxnSpPr>
        <p:spPr>
          <a:xfrm flipV="1">
            <a:off x="4259884" y="5099889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9"/>
          <p:cNvSpPr/>
          <p:nvPr/>
        </p:nvSpPr>
        <p:spPr>
          <a:xfrm>
            <a:off x="3563888" y="2642902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2" name="Straight Arrow Connector 20"/>
          <p:cNvCxnSpPr>
            <a:stCxn id="71" idx="2"/>
          </p:cNvCxnSpPr>
          <p:nvPr/>
        </p:nvCxnSpPr>
        <p:spPr>
          <a:xfrm flipH="1">
            <a:off x="3976443" y="3062902"/>
            <a:ext cx="22445" cy="474564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8"/>
          <p:cNvSpPr txBox="1"/>
          <p:nvPr/>
        </p:nvSpPr>
        <p:spPr>
          <a:xfrm>
            <a:off x="2555776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3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14663" y="3453531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3</a:t>
            </a:r>
            <a:endParaRPr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5495528" y="3663201"/>
            <a:ext cx="609600" cy="14366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>
            <a:stCxn id="8" idx="3"/>
          </p:cNvCxnSpPr>
          <p:nvPr/>
        </p:nvCxnSpPr>
        <p:spPr>
          <a:xfrm>
            <a:off x="5479840" y="3638197"/>
            <a:ext cx="547898" cy="73446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 flipV="1">
            <a:off x="6060508" y="3601920"/>
            <a:ext cx="191638" cy="7671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 flipV="1">
            <a:off x="6102468" y="3654313"/>
            <a:ext cx="290792" cy="14890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434112" y="3070059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Prepare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6665888" y="3081377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Accept </a:t>
            </a:r>
            <a:endParaRPr lang="zh-CN" altLang="en-US" dirty="0"/>
          </a:p>
        </p:txBody>
      </p:sp>
      <p:sp>
        <p:nvSpPr>
          <p:cNvPr id="35" name="Rectangle 16"/>
          <p:cNvSpPr/>
          <p:nvPr/>
        </p:nvSpPr>
        <p:spPr>
          <a:xfrm>
            <a:off x="2431067" y="3477423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endParaRPr lang="en-US" sz="1600" dirty="0"/>
          </a:p>
        </p:txBody>
      </p:sp>
      <p:sp>
        <p:nvSpPr>
          <p:cNvPr id="37" name="Rectangle 16"/>
          <p:cNvSpPr/>
          <p:nvPr/>
        </p:nvSpPr>
        <p:spPr>
          <a:xfrm>
            <a:off x="2425829" y="4139755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endParaRPr lang="en-US" sz="1600" dirty="0"/>
          </a:p>
        </p:txBody>
      </p:sp>
      <p:sp>
        <p:nvSpPr>
          <p:cNvPr id="38" name="Rectangle 16"/>
          <p:cNvSpPr/>
          <p:nvPr/>
        </p:nvSpPr>
        <p:spPr>
          <a:xfrm>
            <a:off x="2432296" y="4817966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endParaRPr lang="en-US" sz="1600" dirty="0"/>
          </a:p>
        </p:txBody>
      </p:sp>
      <p:sp>
        <p:nvSpPr>
          <p:cNvPr id="40" name="Rectangle 16"/>
          <p:cNvSpPr/>
          <p:nvPr/>
        </p:nvSpPr>
        <p:spPr>
          <a:xfrm>
            <a:off x="2431067" y="3463813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41" name="Rectangle 16"/>
          <p:cNvSpPr/>
          <p:nvPr/>
        </p:nvSpPr>
        <p:spPr>
          <a:xfrm>
            <a:off x="2431067" y="4136731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42" name="Rectangle 16"/>
          <p:cNvSpPr/>
          <p:nvPr/>
        </p:nvSpPr>
        <p:spPr>
          <a:xfrm>
            <a:off x="2431067" y="480964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grpSp>
        <p:nvGrpSpPr>
          <p:cNvPr id="6" name="组合 5"/>
          <p:cNvGrpSpPr/>
          <p:nvPr/>
        </p:nvGrpSpPr>
        <p:grpSpPr>
          <a:xfrm>
            <a:off x="6462466" y="3626072"/>
            <a:ext cx="1161118" cy="1541474"/>
            <a:chOff x="6462466" y="3626072"/>
            <a:chExt cx="1161118" cy="1541474"/>
          </a:xfrm>
        </p:grpSpPr>
        <p:cxnSp>
          <p:nvCxnSpPr>
            <p:cNvPr id="26" name="直线箭头连接符 25"/>
            <p:cNvCxnSpPr/>
            <p:nvPr/>
          </p:nvCxnSpPr>
          <p:spPr>
            <a:xfrm>
              <a:off x="6725852" y="3687353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/>
            <p:cNvCxnSpPr/>
            <p:nvPr/>
          </p:nvCxnSpPr>
          <p:spPr>
            <a:xfrm>
              <a:off x="6710164" y="3662349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/>
            <p:cNvCxnSpPr/>
            <p:nvPr/>
          </p:nvCxnSpPr>
          <p:spPr>
            <a:xfrm flipV="1">
              <a:off x="7290832" y="3626072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箭头连接符 29"/>
            <p:cNvCxnSpPr/>
            <p:nvPr/>
          </p:nvCxnSpPr>
          <p:spPr>
            <a:xfrm flipV="1">
              <a:off x="7332792" y="3678465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6643606" y="4584744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yyy</a:t>
              </a:r>
              <a:endParaRPr lang="en-US" altLang="zh-CN" sz="1800" b="1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462466" y="3988898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yyy</a:t>
              </a:r>
              <a:endParaRPr lang="en-US" altLang="zh-CN" sz="1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172688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Example: S1 receives the request, but S2 and S3 has already accepted the value (</a:t>
            </a:r>
            <a:r>
              <a:rPr kumimoji="1" lang="en-US" altLang="zh-CN" dirty="0" err="1"/>
              <a:t>zzz</a:t>
            </a:r>
            <a:r>
              <a:rPr kumimoji="1" lang="en-US" altLang="zh-CN"/>
              <a:t>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Our single-decree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will not choose the value client sent 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7" name="Rectangle 19"/>
          <p:cNvSpPr/>
          <p:nvPr/>
        </p:nvSpPr>
        <p:spPr>
          <a:xfrm>
            <a:off x="3858260" y="220615"/>
            <a:ext cx="5070000" cy="67613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Question: what could happen if instance 3 has already gotten a value?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1039044" y="347213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9" name="Rectangle 16"/>
          <p:cNvSpPr/>
          <p:nvPr/>
        </p:nvSpPr>
        <p:spPr>
          <a:xfrm>
            <a:off x="1420044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23" name="TextBox 45"/>
          <p:cNvSpPr txBox="1"/>
          <p:nvPr/>
        </p:nvSpPr>
        <p:spPr>
          <a:xfrm>
            <a:off x="467544" y="3529106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27" name="TextBox 6"/>
          <p:cNvSpPr txBox="1"/>
          <p:nvPr/>
        </p:nvSpPr>
        <p:spPr>
          <a:xfrm>
            <a:off x="1090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14710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2042592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1924100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39" name="Rectangle 15"/>
          <p:cNvSpPr/>
          <p:nvPr/>
        </p:nvSpPr>
        <p:spPr>
          <a:xfrm>
            <a:off x="1039044" y="414504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43" name="Rectangle 16"/>
          <p:cNvSpPr/>
          <p:nvPr/>
        </p:nvSpPr>
        <p:spPr>
          <a:xfrm>
            <a:off x="1420044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44" name="TextBox 45"/>
          <p:cNvSpPr txBox="1"/>
          <p:nvPr/>
        </p:nvSpPr>
        <p:spPr>
          <a:xfrm>
            <a:off x="467544" y="420202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49" name="Rectangle 16"/>
          <p:cNvSpPr/>
          <p:nvPr/>
        </p:nvSpPr>
        <p:spPr>
          <a:xfrm>
            <a:off x="1924100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51" name="Rectangle 15"/>
          <p:cNvSpPr/>
          <p:nvPr/>
        </p:nvSpPr>
        <p:spPr>
          <a:xfrm>
            <a:off x="1039044" y="481796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53" name="Rectangle 16"/>
          <p:cNvSpPr/>
          <p:nvPr/>
        </p:nvSpPr>
        <p:spPr>
          <a:xfrm>
            <a:off x="1420044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55" name="TextBox 45"/>
          <p:cNvSpPr txBox="1"/>
          <p:nvPr/>
        </p:nvSpPr>
        <p:spPr>
          <a:xfrm>
            <a:off x="467544" y="487494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60" name="Rectangle 16"/>
          <p:cNvSpPr/>
          <p:nvPr/>
        </p:nvSpPr>
        <p:spPr>
          <a:xfrm>
            <a:off x="1924100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61" name="TextBox 45"/>
          <p:cNvSpPr txBox="1"/>
          <p:nvPr/>
        </p:nvSpPr>
        <p:spPr>
          <a:xfrm>
            <a:off x="3878884" y="352886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62" name="TextBox 45"/>
          <p:cNvSpPr txBox="1"/>
          <p:nvPr/>
        </p:nvSpPr>
        <p:spPr>
          <a:xfrm>
            <a:off x="3878884" y="420178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63" name="TextBox 45"/>
          <p:cNvSpPr txBox="1"/>
          <p:nvPr/>
        </p:nvSpPr>
        <p:spPr>
          <a:xfrm>
            <a:off x="3878884" y="487470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68" name="直线连接符 67"/>
          <p:cNvCxnSpPr/>
          <p:nvPr/>
        </p:nvCxnSpPr>
        <p:spPr>
          <a:xfrm flipV="1">
            <a:off x="4259884" y="3645425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 flipV="1">
            <a:off x="4259884" y="4372657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/>
          <p:cNvCxnSpPr/>
          <p:nvPr/>
        </p:nvCxnSpPr>
        <p:spPr>
          <a:xfrm flipV="1">
            <a:off x="4259884" y="5099889"/>
            <a:ext cx="3984524" cy="17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9"/>
          <p:cNvSpPr/>
          <p:nvPr/>
        </p:nvSpPr>
        <p:spPr>
          <a:xfrm>
            <a:off x="3563888" y="2642902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2" name="Straight Arrow Connector 20"/>
          <p:cNvCxnSpPr>
            <a:stCxn id="71" idx="2"/>
          </p:cNvCxnSpPr>
          <p:nvPr/>
        </p:nvCxnSpPr>
        <p:spPr>
          <a:xfrm flipH="1">
            <a:off x="3976443" y="3062902"/>
            <a:ext cx="22445" cy="474564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8"/>
          <p:cNvSpPr txBox="1"/>
          <p:nvPr/>
        </p:nvSpPr>
        <p:spPr>
          <a:xfrm>
            <a:off x="2555776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3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14663" y="3453531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3</a:t>
            </a:r>
            <a:endParaRPr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5495528" y="3663201"/>
            <a:ext cx="609600" cy="14366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>
            <a:stCxn id="8" idx="3"/>
          </p:cNvCxnSpPr>
          <p:nvPr/>
        </p:nvCxnSpPr>
        <p:spPr>
          <a:xfrm>
            <a:off x="5479840" y="3638197"/>
            <a:ext cx="547898" cy="73446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 flipV="1">
            <a:off x="6060508" y="3601920"/>
            <a:ext cx="191638" cy="7671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 flipV="1">
            <a:off x="6102468" y="3654313"/>
            <a:ext cx="290792" cy="14890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6710164" y="3626072"/>
            <a:ext cx="913420" cy="1541474"/>
            <a:chOff x="6710164" y="3626072"/>
            <a:chExt cx="913420" cy="1541474"/>
          </a:xfrm>
        </p:grpSpPr>
        <p:cxnSp>
          <p:nvCxnSpPr>
            <p:cNvPr id="26" name="直线箭头连接符 25"/>
            <p:cNvCxnSpPr/>
            <p:nvPr/>
          </p:nvCxnSpPr>
          <p:spPr>
            <a:xfrm>
              <a:off x="6725852" y="3687353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/>
            <p:cNvCxnSpPr/>
            <p:nvPr/>
          </p:nvCxnSpPr>
          <p:spPr>
            <a:xfrm>
              <a:off x="6710164" y="3662349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/>
            <p:cNvCxnSpPr/>
            <p:nvPr/>
          </p:nvCxnSpPr>
          <p:spPr>
            <a:xfrm flipV="1">
              <a:off x="7290832" y="3626072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箭头连接符 29"/>
            <p:cNvCxnSpPr/>
            <p:nvPr/>
          </p:nvCxnSpPr>
          <p:spPr>
            <a:xfrm flipV="1">
              <a:off x="7332792" y="3678465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5434112" y="3070059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Prepare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6665888" y="3081377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Accept </a:t>
            </a:r>
            <a:endParaRPr lang="zh-CN" altLang="en-US" dirty="0"/>
          </a:p>
        </p:txBody>
      </p:sp>
      <p:sp>
        <p:nvSpPr>
          <p:cNvPr id="37" name="Rectangle 16"/>
          <p:cNvSpPr/>
          <p:nvPr/>
        </p:nvSpPr>
        <p:spPr>
          <a:xfrm>
            <a:off x="2425829" y="4139755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38" name="Rectangle 16"/>
          <p:cNvSpPr/>
          <p:nvPr/>
        </p:nvSpPr>
        <p:spPr>
          <a:xfrm>
            <a:off x="2432296" y="4817966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41" name="Rectangle 16"/>
          <p:cNvSpPr/>
          <p:nvPr/>
        </p:nvSpPr>
        <p:spPr>
          <a:xfrm>
            <a:off x="2429507" y="415002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  <p:sp>
        <p:nvSpPr>
          <p:cNvPr id="42" name="Rectangle 16"/>
          <p:cNvSpPr/>
          <p:nvPr/>
        </p:nvSpPr>
        <p:spPr>
          <a:xfrm>
            <a:off x="2429507" y="4822947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  <p:grpSp>
        <p:nvGrpSpPr>
          <p:cNvPr id="6" name="组合 5"/>
          <p:cNvGrpSpPr/>
          <p:nvPr/>
        </p:nvGrpSpPr>
        <p:grpSpPr>
          <a:xfrm>
            <a:off x="6058946" y="3975472"/>
            <a:ext cx="828551" cy="891844"/>
            <a:chOff x="6058946" y="3975472"/>
            <a:chExt cx="828551" cy="891844"/>
          </a:xfrm>
        </p:grpSpPr>
        <p:sp>
          <p:nvSpPr>
            <p:cNvPr id="10" name="文本框 9"/>
            <p:cNvSpPr txBox="1"/>
            <p:nvPr/>
          </p:nvSpPr>
          <p:spPr>
            <a:xfrm>
              <a:off x="6058946" y="4556975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zzz</a:t>
              </a:r>
              <a:endParaRPr lang="en-US" altLang="zh-CN" sz="1800" b="1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174309" y="3975472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zzz</a:t>
              </a:r>
              <a:endParaRPr lang="en-US" altLang="zh-CN" sz="1800" b="1" dirty="0"/>
            </a:p>
          </p:txBody>
        </p:sp>
      </p:grpSp>
      <p:sp>
        <p:nvSpPr>
          <p:cNvPr id="16" name="Rectangle 16"/>
          <p:cNvSpPr/>
          <p:nvPr/>
        </p:nvSpPr>
        <p:spPr>
          <a:xfrm>
            <a:off x="2439100" y="3477111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 case of conflict, S1 will choose a larger instance (e.g., 4)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And re-run the instance until find the largest available instance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May possible try many times until find an available slot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Rectangle 15"/>
          <p:cNvSpPr/>
          <p:nvPr/>
        </p:nvSpPr>
        <p:spPr>
          <a:xfrm>
            <a:off x="606996" y="347213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6" name="Rectangle 16"/>
          <p:cNvSpPr/>
          <p:nvPr/>
        </p:nvSpPr>
        <p:spPr>
          <a:xfrm>
            <a:off x="987996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7" name="TextBox 45"/>
          <p:cNvSpPr txBox="1"/>
          <p:nvPr/>
        </p:nvSpPr>
        <p:spPr>
          <a:xfrm>
            <a:off x="35496" y="3529106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8" name="TextBox 6"/>
          <p:cNvSpPr txBox="1"/>
          <p:nvPr/>
        </p:nvSpPr>
        <p:spPr>
          <a:xfrm>
            <a:off x="658044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039044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1610544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Rectangle 16"/>
          <p:cNvSpPr/>
          <p:nvPr/>
        </p:nvSpPr>
        <p:spPr>
          <a:xfrm>
            <a:off x="1492052" y="3472130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12" name="Rectangle 15"/>
          <p:cNvSpPr/>
          <p:nvPr/>
        </p:nvSpPr>
        <p:spPr>
          <a:xfrm>
            <a:off x="606996" y="414504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3" name="Rectangle 16"/>
          <p:cNvSpPr/>
          <p:nvPr/>
        </p:nvSpPr>
        <p:spPr>
          <a:xfrm>
            <a:off x="987996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4" name="TextBox 45"/>
          <p:cNvSpPr txBox="1"/>
          <p:nvPr/>
        </p:nvSpPr>
        <p:spPr>
          <a:xfrm>
            <a:off x="35496" y="420202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15" name="Rectangle 16"/>
          <p:cNvSpPr/>
          <p:nvPr/>
        </p:nvSpPr>
        <p:spPr>
          <a:xfrm>
            <a:off x="1492052" y="414504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606996" y="481796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987996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8" name="TextBox 45"/>
          <p:cNvSpPr txBox="1"/>
          <p:nvPr/>
        </p:nvSpPr>
        <p:spPr>
          <a:xfrm>
            <a:off x="35496" y="487494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19" name="Rectangle 16"/>
          <p:cNvSpPr/>
          <p:nvPr/>
        </p:nvSpPr>
        <p:spPr>
          <a:xfrm>
            <a:off x="1492052" y="481796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20" name="TextBox 45"/>
          <p:cNvSpPr txBox="1"/>
          <p:nvPr/>
        </p:nvSpPr>
        <p:spPr>
          <a:xfrm>
            <a:off x="3446836" y="352886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21" name="TextBox 45"/>
          <p:cNvSpPr txBox="1"/>
          <p:nvPr/>
        </p:nvSpPr>
        <p:spPr>
          <a:xfrm>
            <a:off x="3446836" y="420178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22" name="TextBox 45"/>
          <p:cNvSpPr txBox="1"/>
          <p:nvPr/>
        </p:nvSpPr>
        <p:spPr>
          <a:xfrm>
            <a:off x="3446836" y="487470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23" name="直线连接符 22"/>
          <p:cNvCxnSpPr/>
          <p:nvPr/>
        </p:nvCxnSpPr>
        <p:spPr>
          <a:xfrm flipV="1">
            <a:off x="3827836" y="3639547"/>
            <a:ext cx="5301930" cy="236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 flipV="1">
            <a:off x="3827836" y="4368088"/>
            <a:ext cx="5008760" cy="22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V="1">
            <a:off x="3827836" y="5091215"/>
            <a:ext cx="5928740" cy="26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9"/>
          <p:cNvSpPr/>
          <p:nvPr/>
        </p:nvSpPr>
        <p:spPr>
          <a:xfrm>
            <a:off x="3131840" y="2642902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7" name="Straight Arrow Connector 20"/>
          <p:cNvCxnSpPr>
            <a:stCxn id="26" idx="2"/>
          </p:cNvCxnSpPr>
          <p:nvPr/>
        </p:nvCxnSpPr>
        <p:spPr>
          <a:xfrm flipH="1">
            <a:off x="3544395" y="3062902"/>
            <a:ext cx="22445" cy="474564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文本框 28"/>
          <p:cNvSpPr txBox="1"/>
          <p:nvPr/>
        </p:nvSpPr>
        <p:spPr>
          <a:xfrm>
            <a:off x="3982615" y="3453531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3</a:t>
            </a:r>
            <a:endParaRPr lang="zh-CN" altLang="en-US" dirty="0"/>
          </a:p>
        </p:txBody>
      </p:sp>
      <p:cxnSp>
        <p:nvCxnSpPr>
          <p:cNvPr id="30" name="直线箭头连接符 29"/>
          <p:cNvCxnSpPr/>
          <p:nvPr/>
        </p:nvCxnSpPr>
        <p:spPr>
          <a:xfrm>
            <a:off x="5063480" y="3663201"/>
            <a:ext cx="609600" cy="14366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>
            <a:stCxn id="29" idx="3"/>
          </p:cNvCxnSpPr>
          <p:nvPr/>
        </p:nvCxnSpPr>
        <p:spPr>
          <a:xfrm>
            <a:off x="5047792" y="3638197"/>
            <a:ext cx="547898" cy="73446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/>
          <p:cNvCxnSpPr/>
          <p:nvPr/>
        </p:nvCxnSpPr>
        <p:spPr>
          <a:xfrm flipV="1">
            <a:off x="5628460" y="3601920"/>
            <a:ext cx="191638" cy="7671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/>
          <p:cNvCxnSpPr/>
          <p:nvPr/>
        </p:nvCxnSpPr>
        <p:spPr>
          <a:xfrm flipV="1">
            <a:off x="5670420" y="3654313"/>
            <a:ext cx="290792" cy="14890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>
            <a:off x="6293804" y="3687353"/>
            <a:ext cx="609600" cy="14366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/>
          <p:cNvCxnSpPr/>
          <p:nvPr/>
        </p:nvCxnSpPr>
        <p:spPr>
          <a:xfrm>
            <a:off x="6278116" y="3662349"/>
            <a:ext cx="547898" cy="73446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V="1">
            <a:off x="6858784" y="3626072"/>
            <a:ext cx="191638" cy="7671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/>
          <p:nvPr/>
        </p:nvCxnSpPr>
        <p:spPr>
          <a:xfrm flipV="1">
            <a:off x="6900744" y="3678465"/>
            <a:ext cx="290792" cy="14890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002064" y="3070059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Prepare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6233840" y="3081377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Accept </a:t>
            </a:r>
            <a:endParaRPr lang="zh-CN" altLang="en-US" dirty="0"/>
          </a:p>
        </p:txBody>
      </p:sp>
      <p:sp>
        <p:nvSpPr>
          <p:cNvPr id="40" name="Rectangle 16"/>
          <p:cNvSpPr/>
          <p:nvPr/>
        </p:nvSpPr>
        <p:spPr>
          <a:xfrm>
            <a:off x="1993781" y="4139755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41" name="Rectangle 16"/>
          <p:cNvSpPr/>
          <p:nvPr/>
        </p:nvSpPr>
        <p:spPr>
          <a:xfrm>
            <a:off x="2000248" y="4817966"/>
            <a:ext cx="504056" cy="381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xxx</a:t>
            </a:r>
            <a:endParaRPr lang="en-US" sz="1600" dirty="0"/>
          </a:p>
        </p:txBody>
      </p:sp>
      <p:sp>
        <p:nvSpPr>
          <p:cNvPr id="42" name="Rectangle 16"/>
          <p:cNvSpPr/>
          <p:nvPr/>
        </p:nvSpPr>
        <p:spPr>
          <a:xfrm>
            <a:off x="1997459" y="415002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  <p:sp>
        <p:nvSpPr>
          <p:cNvPr id="43" name="Rectangle 16"/>
          <p:cNvSpPr/>
          <p:nvPr/>
        </p:nvSpPr>
        <p:spPr>
          <a:xfrm>
            <a:off x="1997459" y="4822947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  <p:sp>
        <p:nvSpPr>
          <p:cNvPr id="44" name="文本框 43"/>
          <p:cNvSpPr txBox="1"/>
          <p:nvPr/>
        </p:nvSpPr>
        <p:spPr>
          <a:xfrm>
            <a:off x="5626898" y="4556975"/>
            <a:ext cx="713188" cy="3103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1800" b="1" dirty="0" err="1"/>
              <a:t>zzz</a:t>
            </a:r>
            <a:endParaRPr lang="en-US" altLang="zh-CN" sz="18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5742261" y="3975472"/>
            <a:ext cx="713188" cy="3103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1800" b="1" dirty="0" err="1"/>
              <a:t>zzz</a:t>
            </a:r>
            <a:endParaRPr lang="en-US" altLang="zh-CN" sz="1800" b="1" dirty="0"/>
          </a:p>
        </p:txBody>
      </p:sp>
      <p:sp>
        <p:nvSpPr>
          <p:cNvPr id="46" name="TextBox 8"/>
          <p:cNvSpPr txBox="1"/>
          <p:nvPr/>
        </p:nvSpPr>
        <p:spPr>
          <a:xfrm>
            <a:off x="2669131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7" name="TextBox 8"/>
          <p:cNvSpPr txBox="1"/>
          <p:nvPr/>
        </p:nvSpPr>
        <p:spPr>
          <a:xfrm>
            <a:off x="2137224" y="302524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3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8" name="Rectangle 16"/>
          <p:cNvSpPr/>
          <p:nvPr/>
        </p:nvSpPr>
        <p:spPr>
          <a:xfrm>
            <a:off x="2007052" y="3477111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zzz</a:t>
            </a:r>
            <a:endParaRPr lang="en-US" sz="1600" dirty="0"/>
          </a:p>
        </p:txBody>
      </p:sp>
      <p:sp>
        <p:nvSpPr>
          <p:cNvPr id="50" name="Rectangle 16"/>
          <p:cNvSpPr/>
          <p:nvPr/>
        </p:nvSpPr>
        <p:spPr>
          <a:xfrm>
            <a:off x="2521426" y="3471849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51" name="Rectangle 16"/>
          <p:cNvSpPr/>
          <p:nvPr/>
        </p:nvSpPr>
        <p:spPr>
          <a:xfrm>
            <a:off x="2521426" y="4144767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52" name="Rectangle 16"/>
          <p:cNvSpPr/>
          <p:nvPr/>
        </p:nvSpPr>
        <p:spPr>
          <a:xfrm>
            <a:off x="2521426" y="4817685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58" name="文本框 57"/>
          <p:cNvSpPr txBox="1"/>
          <p:nvPr/>
        </p:nvSpPr>
        <p:spPr>
          <a:xfrm>
            <a:off x="7456569" y="3502687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4</a:t>
            </a:r>
            <a:endParaRPr lang="zh-CN" altLang="en-US" dirty="0"/>
          </a:p>
        </p:txBody>
      </p:sp>
      <p:cxnSp>
        <p:nvCxnSpPr>
          <p:cNvPr id="59" name="直线箭头连接符 58"/>
          <p:cNvCxnSpPr/>
          <p:nvPr/>
        </p:nvCxnSpPr>
        <p:spPr>
          <a:xfrm>
            <a:off x="8468765" y="3701680"/>
            <a:ext cx="609600" cy="14366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/>
          <p:nvPr/>
        </p:nvCxnSpPr>
        <p:spPr>
          <a:xfrm>
            <a:off x="8453077" y="3676676"/>
            <a:ext cx="547898" cy="73446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8234119" y="3078014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Prepare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Question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sz="2600" b="0" kern="0" dirty="0">
                <a:solidFill>
                  <a:srgbClr val="C00000"/>
                </a:solidFill>
                <a:ea typeface="+mn-ea"/>
              </a:rPr>
              <a:t>How many RTTs are required for appending a single log entry? </a:t>
            </a:r>
            <a:endParaRPr lang="en-US" altLang="zh-CN" sz="2600" b="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is correct but inefficient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824537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2 rounds </a:t>
            </a:r>
            <a:r>
              <a:rPr lang="en-US" altLang="zh-CN" dirty="0"/>
              <a:t>of RPCs for each value chosen in the </a:t>
            </a:r>
            <a:r>
              <a:rPr lang="en-US" altLang="zh-CN" dirty="0">
                <a:highlight>
                  <a:srgbClr val="FFFF00"/>
                </a:highlight>
              </a:rPr>
              <a:t>optimal</a:t>
            </a:r>
            <a:r>
              <a:rPr lang="en-US" altLang="zh-CN" dirty="0"/>
              <a:t> case </a:t>
            </a:r>
            <a:endParaRPr lang="en-US" altLang="zh-CN" dirty="0"/>
          </a:p>
          <a:p>
            <a:pPr lvl="1"/>
            <a:r>
              <a:rPr lang="en-US" altLang="zh-CN" dirty="0"/>
              <a:t>Prepare, Accept</a:t>
            </a:r>
            <a:endParaRPr lang="en-US" altLang="zh-CN" dirty="0"/>
          </a:p>
          <a:p>
            <a:r>
              <a:rPr lang="en-US" altLang="zh-CN" dirty="0"/>
              <a:t>With multiple concurrent proposers, </a:t>
            </a:r>
            <a:r>
              <a:rPr lang="en-US" altLang="zh-CN" dirty="0">
                <a:solidFill>
                  <a:srgbClr val="C00000"/>
                </a:solidFill>
              </a:rPr>
              <a:t>conflicts</a:t>
            </a:r>
            <a:r>
              <a:rPr lang="en-US" altLang="zh-CN" dirty="0"/>
              <a:t> and restarts are likely </a:t>
            </a:r>
            <a:endParaRPr lang="en-US" altLang="zh-CN" dirty="0"/>
          </a:p>
          <a:p>
            <a:pPr lvl="1"/>
            <a:r>
              <a:rPr lang="en-US" altLang="zh-CN" dirty="0"/>
              <a:t>1. The server may conflict on the position of the new log entry to insert </a:t>
            </a:r>
            <a:endParaRPr lang="en-US" altLang="zh-CN" dirty="0"/>
          </a:p>
          <a:p>
            <a:pPr marL="74295" lvl="1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(our previous example)</a:t>
            </a:r>
            <a:endParaRPr lang="en-US" altLang="zh-CN" dirty="0"/>
          </a:p>
          <a:p>
            <a:pPr lvl="1"/>
            <a:r>
              <a:rPr lang="en-US" altLang="zh-CN" dirty="0"/>
              <a:t>2. Even in the same </a:t>
            </a:r>
            <a:r>
              <a:rPr lang="en-US" altLang="zh-CN" dirty="0" err="1"/>
              <a:t>Paxos</a:t>
            </a:r>
            <a:r>
              <a:rPr lang="en-US" altLang="zh-CN" dirty="0"/>
              <a:t> instance, different proposer may conflict </a:t>
            </a:r>
            <a:endParaRPr lang="en-US" altLang="zh-CN" dirty="0"/>
          </a:p>
          <a:p>
            <a:pPr lvl="2"/>
            <a:r>
              <a:rPr lang="en-US" altLang="zh-CN" sz="1800" dirty="0"/>
              <a:t>Only the proposers with the highest number can win  </a:t>
            </a:r>
            <a:endParaRPr lang="en-US" altLang="zh-CN" sz="1800" dirty="0"/>
          </a:p>
          <a:p>
            <a:r>
              <a:rPr lang="en-US" altLang="zh-CN" dirty="0"/>
              <a:t>Solution </a:t>
            </a:r>
            <a:endParaRPr lang="en-US" altLang="zh-CN" dirty="0"/>
          </a:p>
          <a:p>
            <a:pPr marL="417195" lvl="1" indent="-342900">
              <a:buFont typeface="+mj-ea"/>
              <a:buAutoNum type="circleNumDbPlain"/>
            </a:pPr>
            <a:r>
              <a:rPr lang="en-US" altLang="zh-CN" dirty="0"/>
              <a:t>Select a leader: most of the time, only one server can propose</a:t>
            </a:r>
            <a:endParaRPr lang="en-US" altLang="zh-CN" dirty="0"/>
          </a:p>
          <a:p>
            <a:pPr marL="417195" lvl="1" indent="-342900">
              <a:buFont typeface="+mj-ea"/>
              <a:buAutoNum type="circleNumDbPlain"/>
            </a:pPr>
            <a:r>
              <a:rPr lang="en-US" altLang="zh-CN" dirty="0"/>
              <a:t>Batch the</a:t>
            </a:r>
            <a:r>
              <a:rPr lang="zh-CN" altLang="en-US" dirty="0"/>
              <a:t> </a:t>
            </a:r>
            <a:r>
              <a:rPr lang="en-US" altLang="zh-CN" dirty="0"/>
              <a:t>prepare requests from multiple instances sent from a leader 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Multi-</a:t>
            </a:r>
            <a:r>
              <a:rPr lang="en-GB" altLang="zh-CN" dirty="0" err="1"/>
              <a:t>paxos</a:t>
            </a:r>
            <a:r>
              <a:rPr lang="en-GB" altLang="zh-CN" dirty="0"/>
              <a:t> uses a distinguished proposer (leader)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Distinguished proposer (aka. leader)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only one that issues proposals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i.e., </a:t>
            </a:r>
            <a:r>
              <a:rPr lang="en-US" altLang="zh-CN" sz="1800" dirty="0"/>
              <a:t>no proposer conflicts in the optimal case </a:t>
            </a:r>
            <a:endParaRPr kumimoji="1" lang="en-US" altLang="zh-CN" sz="1800" dirty="0"/>
          </a:p>
          <a:p>
            <a:r>
              <a:rPr kumimoji="1" lang="en-US" altLang="zh-CN" dirty="0"/>
              <a:t>Client only sends the commands to the leader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Decides the value position </a:t>
            </a:r>
            <a:endParaRPr kumimoji="1" lang="en-US" altLang="zh-CN" dirty="0"/>
          </a:p>
          <a:p>
            <a:r>
              <a:rPr kumimoji="1" lang="en-US" altLang="zh-CN" dirty="0"/>
              <a:t>Question: is single leader necessary for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No:</a:t>
            </a:r>
            <a:r>
              <a:rPr kumimoji="1" lang="zh-CN" altLang="en-US" dirty="0"/>
              <a:t> </a:t>
            </a:r>
            <a:r>
              <a:rPr kumimoji="1" lang="en-US" altLang="zh-CN" dirty="0"/>
              <a:t>if two 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servers act as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correctly</a:t>
            </a:r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9021688" cy="900442"/>
          </a:xfrm>
        </p:spPr>
        <p:txBody>
          <a:bodyPr/>
          <a:lstStyle/>
          <a:p>
            <a:r>
              <a:rPr kumimoji="1" lang="en-US" altLang="zh-CN" dirty="0"/>
              <a:t>Not relying a single leader simplifies user implementation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i.e., the user can choose the leader in an arbitrary way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all the server don't need to agree on the same leader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Performance degradations if multiple leaders exist  </a:t>
            </a:r>
            <a:endParaRPr kumimoji="1" lang="en-US" altLang="zh-CN" dirty="0"/>
          </a:p>
          <a:p>
            <a:r>
              <a:rPr kumimoji="1" lang="en-US" altLang="zh-CN" dirty="0"/>
              <a:t>We can also use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for the leader election </a:t>
            </a:r>
            <a:r>
              <a:rPr kumimoji="1" lang="en-US" altLang="zh-CN" dirty="0">
                <a:sym typeface="Wingdings" panose="05000000000000000000" pitchFamily="2" charset="2"/>
              </a:rPr>
              <a:t> </a:t>
            </a:r>
            <a:endParaRPr kumimoji="1" lang="en-US" altLang="zh-CN" dirty="0">
              <a:sym typeface="Wingdings" panose="05000000000000000000" pitchFamily="2" charset="2"/>
            </a:endParaRPr>
          </a:p>
          <a:p>
            <a:pPr lvl="1"/>
            <a:r>
              <a:rPr kumimoji="1" lang="en-US" altLang="zh-CN" dirty="0">
                <a:sym typeface="Wingdings" panose="05000000000000000000" pitchFamily="2" charset="2"/>
              </a:rPr>
              <a:t>Similar to implementing a view server</a:t>
            </a:r>
            <a:endParaRPr kumimoji="1" lang="en-US" altLang="zh-CN" dirty="0">
              <a:sym typeface="Wingdings" panose="05000000000000000000" pitchFamily="2" charset="2"/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框 74"/>
          <p:cNvSpPr txBox="1"/>
          <p:nvPr/>
        </p:nvSpPr>
        <p:spPr>
          <a:xfrm>
            <a:off x="2513316" y="3385339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xxx, </a:t>
            </a:r>
            <a:r>
              <a:rPr kumimoji="1" lang="en-US" altLang="zh-CN" dirty="0" err="1"/>
              <a:t>yyy</a:t>
            </a:r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817676" y="1968836"/>
            <a:ext cx="1476605" cy="1754326"/>
            <a:chOff x="699963" y="1803188"/>
            <a:chExt cx="1476605" cy="1754326"/>
          </a:xfrm>
        </p:grpSpPr>
        <p:sp>
          <p:nvSpPr>
            <p:cNvPr id="49" name="矩形 48"/>
            <p:cNvSpPr/>
            <p:nvPr/>
          </p:nvSpPr>
          <p:spPr>
            <a:xfrm>
              <a:off x="699963" y="1836737"/>
              <a:ext cx="1476605" cy="12317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61798" y="18031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add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Benefits of leader election: prepare message batching </a:t>
            </a:r>
            <a:endParaRPr kumimoji="1" lang="zh-CN" altLang="en-US" dirty="0"/>
          </a:p>
        </p:txBody>
      </p:sp>
      <p:sp>
        <p:nvSpPr>
          <p:cNvPr id="5" name="Rectangle 15"/>
          <p:cNvSpPr/>
          <p:nvPr/>
        </p:nvSpPr>
        <p:spPr>
          <a:xfrm>
            <a:off x="688245" y="381445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6" name="Rectangle 16"/>
          <p:cNvSpPr/>
          <p:nvPr/>
        </p:nvSpPr>
        <p:spPr>
          <a:xfrm>
            <a:off x="1069245" y="381445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7" name="TextBox 45"/>
          <p:cNvSpPr txBox="1"/>
          <p:nvPr/>
        </p:nvSpPr>
        <p:spPr>
          <a:xfrm>
            <a:off x="116745" y="387143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8" name="TextBox 6"/>
          <p:cNvSpPr txBox="1"/>
          <p:nvPr/>
        </p:nvSpPr>
        <p:spPr>
          <a:xfrm>
            <a:off x="744355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125355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Rectangle 15"/>
          <p:cNvSpPr/>
          <p:nvPr/>
        </p:nvSpPr>
        <p:spPr>
          <a:xfrm>
            <a:off x="688245" y="448737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3" name="Rectangle 16"/>
          <p:cNvSpPr/>
          <p:nvPr/>
        </p:nvSpPr>
        <p:spPr>
          <a:xfrm>
            <a:off x="1069245" y="448737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4" name="TextBox 45"/>
          <p:cNvSpPr txBox="1"/>
          <p:nvPr/>
        </p:nvSpPr>
        <p:spPr>
          <a:xfrm>
            <a:off x="116745" y="454435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688245" y="5160294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069245" y="5160294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8" name="TextBox 45"/>
          <p:cNvSpPr txBox="1"/>
          <p:nvPr/>
        </p:nvSpPr>
        <p:spPr>
          <a:xfrm>
            <a:off x="116745" y="521727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20" name="TextBox 45"/>
          <p:cNvSpPr txBox="1"/>
          <p:nvPr/>
        </p:nvSpPr>
        <p:spPr>
          <a:xfrm>
            <a:off x="2744740" y="389733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S1</a:t>
            </a:r>
            <a:endParaRPr 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21" name="TextBox 45"/>
          <p:cNvSpPr txBox="1"/>
          <p:nvPr/>
        </p:nvSpPr>
        <p:spPr>
          <a:xfrm>
            <a:off x="2744740" y="457025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22" name="TextBox 45"/>
          <p:cNvSpPr txBox="1"/>
          <p:nvPr/>
        </p:nvSpPr>
        <p:spPr>
          <a:xfrm>
            <a:off x="2744740" y="5243169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23" name="直线连接符 22"/>
          <p:cNvCxnSpPr/>
          <p:nvPr/>
        </p:nvCxnSpPr>
        <p:spPr>
          <a:xfrm flipV="1">
            <a:off x="3125740" y="4005742"/>
            <a:ext cx="5811727" cy="259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 flipV="1">
            <a:off x="3125740" y="4732867"/>
            <a:ext cx="5835896" cy="26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V="1">
            <a:off x="3125740" y="5460099"/>
            <a:ext cx="5835896" cy="26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40644"/>
          </a:xfrm>
        </p:spPr>
        <p:txBody>
          <a:bodyPr/>
          <a:lstStyle/>
          <a:p>
            <a:r>
              <a:rPr kumimoji="1" lang="en-US" altLang="zh-CN" dirty="0"/>
              <a:t>Suppose S1 </a:t>
            </a:r>
            <a:r>
              <a:rPr kumimoji="1" lang="en-GB" altLang="zh-CN" dirty="0"/>
              <a:t>is the leader (w/o batching) </a:t>
            </a:r>
            <a:endParaRPr lang="en-GB" altLang="zh-CN" dirty="0"/>
          </a:p>
          <a:p>
            <a:pPr lvl="2"/>
            <a:endParaRPr lang="en-GB" altLang="zh-CN" sz="1800" dirty="0"/>
          </a:p>
          <a:p>
            <a:pPr marL="914400" lvl="2" indent="0">
              <a:buNone/>
            </a:pPr>
            <a:endParaRPr kumimoji="1" lang="en-US" altLang="zh-CN" sz="1800" dirty="0"/>
          </a:p>
          <a:p>
            <a:pPr marL="131445" lvl="1" indent="0">
              <a:buNone/>
            </a:pPr>
            <a:endParaRPr kumimoji="1" lang="zh-CN" altLang="en-US" sz="1600" dirty="0"/>
          </a:p>
        </p:txBody>
      </p:sp>
      <p:sp>
        <p:nvSpPr>
          <p:cNvPr id="52" name="TextBox 6"/>
          <p:cNvSpPr txBox="1"/>
          <p:nvPr/>
        </p:nvSpPr>
        <p:spPr>
          <a:xfrm>
            <a:off x="1170084" y="1633364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0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806140" y="1991356"/>
            <a:ext cx="1476605" cy="1754326"/>
            <a:chOff x="699963" y="1810372"/>
            <a:chExt cx="1476605" cy="1754326"/>
          </a:xfrm>
        </p:grpSpPr>
        <p:sp>
          <p:nvSpPr>
            <p:cNvPr id="55" name="矩形 54"/>
            <p:cNvSpPr/>
            <p:nvPr/>
          </p:nvSpPr>
          <p:spPr>
            <a:xfrm>
              <a:off x="699963" y="1836737"/>
              <a:ext cx="1476605" cy="12317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42753" y="1810372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r>
                <a:rPr lang="en-US" altLang="zh-CN" sz="1800" dirty="0" err="1"/>
                <a:t>cmp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57" name="TextBox 6"/>
          <p:cNvSpPr txBox="1"/>
          <p:nvPr/>
        </p:nvSpPr>
        <p:spPr>
          <a:xfrm>
            <a:off x="3158548" y="1648700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1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860255" y="1993529"/>
            <a:ext cx="1476605" cy="1754326"/>
            <a:chOff x="699963" y="1797488"/>
            <a:chExt cx="1476605" cy="1754326"/>
          </a:xfrm>
        </p:grpSpPr>
        <p:sp>
          <p:nvSpPr>
            <p:cNvPr id="59" name="矩形 58"/>
            <p:cNvSpPr/>
            <p:nvPr/>
          </p:nvSpPr>
          <p:spPr>
            <a:xfrm>
              <a:off x="699963" y="1836737"/>
              <a:ext cx="1476605" cy="12329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65614" y="17974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61" name="TextBox 6"/>
          <p:cNvSpPr txBox="1"/>
          <p:nvPr/>
        </p:nvSpPr>
        <p:spPr>
          <a:xfrm>
            <a:off x="5212663" y="1663757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2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924692" y="1987254"/>
            <a:ext cx="1476605" cy="1754326"/>
            <a:chOff x="699963" y="1797488"/>
            <a:chExt cx="1476605" cy="1754326"/>
          </a:xfrm>
        </p:grpSpPr>
        <p:sp>
          <p:nvSpPr>
            <p:cNvPr id="63" name="矩形 62"/>
            <p:cNvSpPr/>
            <p:nvPr/>
          </p:nvSpPr>
          <p:spPr>
            <a:xfrm>
              <a:off x="699963" y="1836737"/>
              <a:ext cx="1476605" cy="12329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765614" y="17974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65" name="TextBox 6"/>
          <p:cNvSpPr txBox="1"/>
          <p:nvPr/>
        </p:nvSpPr>
        <p:spPr>
          <a:xfrm>
            <a:off x="7277100" y="1657482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3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194707" y="3834040"/>
            <a:ext cx="106517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71" name="Rounded Rectangle 19"/>
          <p:cNvSpPr/>
          <p:nvPr/>
        </p:nvSpPr>
        <p:spPr>
          <a:xfrm>
            <a:off x="1809496" y="3036689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2" name="Straight Arrow Connector 20"/>
          <p:cNvCxnSpPr>
            <a:stCxn id="71" idx="2"/>
          </p:cNvCxnSpPr>
          <p:nvPr/>
        </p:nvCxnSpPr>
        <p:spPr>
          <a:xfrm>
            <a:off x="2244496" y="3456689"/>
            <a:ext cx="500244" cy="41474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组合 2"/>
          <p:cNvGrpSpPr/>
          <p:nvPr/>
        </p:nvGrpSpPr>
        <p:grpSpPr>
          <a:xfrm>
            <a:off x="3851920" y="3468404"/>
            <a:ext cx="1065177" cy="2073335"/>
            <a:chOff x="3851920" y="3468404"/>
            <a:chExt cx="1065177" cy="2073335"/>
          </a:xfrm>
        </p:grpSpPr>
        <p:cxnSp>
          <p:nvCxnSpPr>
            <p:cNvPr id="76" name="直线箭头连接符 75"/>
            <p:cNvCxnSpPr/>
            <p:nvPr/>
          </p:nvCxnSpPr>
          <p:spPr>
            <a:xfrm>
              <a:off x="3913336" y="4061546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箭头连接符 76"/>
            <p:cNvCxnSpPr/>
            <p:nvPr/>
          </p:nvCxnSpPr>
          <p:spPr>
            <a:xfrm>
              <a:off x="3897648" y="4036542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箭头连接符 77"/>
            <p:cNvCxnSpPr/>
            <p:nvPr/>
          </p:nvCxnSpPr>
          <p:spPr>
            <a:xfrm flipV="1">
              <a:off x="4478316" y="4000265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箭头连接符 78"/>
            <p:cNvCxnSpPr/>
            <p:nvPr/>
          </p:nvCxnSpPr>
          <p:spPr>
            <a:xfrm flipV="1">
              <a:off x="4520276" y="4052658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3851920" y="3468404"/>
              <a:ext cx="106517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Prepare</a:t>
              </a:r>
              <a:endParaRPr lang="zh-CN" alt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876322" y="3478839"/>
            <a:ext cx="1071444" cy="2087052"/>
            <a:chOff x="4876322" y="3478839"/>
            <a:chExt cx="1071444" cy="2087052"/>
          </a:xfrm>
        </p:grpSpPr>
        <p:sp>
          <p:nvSpPr>
            <p:cNvPr id="85" name="文本框 84"/>
            <p:cNvSpPr txBox="1"/>
            <p:nvPr/>
          </p:nvSpPr>
          <p:spPr>
            <a:xfrm>
              <a:off x="4882589" y="3478839"/>
              <a:ext cx="106517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Accept </a:t>
              </a:r>
              <a:endParaRPr lang="zh-CN" altLang="en-US" dirty="0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876322" y="4024417"/>
              <a:ext cx="969138" cy="1541474"/>
              <a:chOff x="4876322" y="4024417"/>
              <a:chExt cx="969138" cy="1541474"/>
            </a:xfrm>
          </p:grpSpPr>
          <p:cxnSp>
            <p:nvCxnSpPr>
              <p:cNvPr id="80" name="直线箭头连接符 79"/>
              <p:cNvCxnSpPr/>
              <p:nvPr/>
            </p:nvCxnSpPr>
            <p:spPr>
              <a:xfrm>
                <a:off x="4947728" y="4085698"/>
                <a:ext cx="609600" cy="14366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线箭头连接符 80"/>
              <p:cNvCxnSpPr/>
              <p:nvPr/>
            </p:nvCxnSpPr>
            <p:spPr>
              <a:xfrm>
                <a:off x="4932040" y="4060694"/>
                <a:ext cx="547898" cy="7344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线箭头连接符 81"/>
              <p:cNvCxnSpPr/>
              <p:nvPr/>
            </p:nvCxnSpPr>
            <p:spPr>
              <a:xfrm flipV="1">
                <a:off x="5512708" y="4024417"/>
                <a:ext cx="191638" cy="7671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箭头连接符 82"/>
              <p:cNvCxnSpPr/>
              <p:nvPr/>
            </p:nvCxnSpPr>
            <p:spPr>
              <a:xfrm flipV="1">
                <a:off x="5554668" y="4076810"/>
                <a:ext cx="290792" cy="14890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/>
              <p:cNvSpPr txBox="1"/>
              <p:nvPr/>
            </p:nvSpPr>
            <p:spPr>
              <a:xfrm>
                <a:off x="4876322" y="4996669"/>
                <a:ext cx="713188" cy="3103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700"/>
                  </a:lnSpc>
                </a:pPr>
                <a:r>
                  <a:rPr lang="en-US" altLang="zh-CN" sz="1800" b="1" dirty="0"/>
                  <a:t>xxx</a:t>
                </a:r>
                <a:endParaRPr lang="en-US" altLang="zh-CN" sz="1800" b="1" dirty="0"/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5104098" y="4199313"/>
                <a:ext cx="713188" cy="3103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700"/>
                  </a:lnSpc>
                </a:pPr>
                <a:r>
                  <a:rPr lang="en-US" altLang="zh-CN" sz="1800" b="1" dirty="0"/>
                  <a:t>xxx</a:t>
                </a:r>
                <a:endParaRPr lang="en-US" altLang="zh-CN" sz="1800" b="1" dirty="0"/>
              </a:p>
            </p:txBody>
          </p:sp>
        </p:grpSp>
      </p:grpSp>
      <p:sp>
        <p:nvSpPr>
          <p:cNvPr id="89" name="文本框 88"/>
          <p:cNvSpPr txBox="1"/>
          <p:nvPr/>
        </p:nvSpPr>
        <p:spPr>
          <a:xfrm>
            <a:off x="5415369" y="2854024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sp>
        <p:nvSpPr>
          <p:cNvPr id="90" name="文本框 89"/>
          <p:cNvSpPr txBox="1"/>
          <p:nvPr/>
        </p:nvSpPr>
        <p:spPr>
          <a:xfrm>
            <a:off x="5428581" y="2531362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448194" y="2032653"/>
            <a:ext cx="954317" cy="594028"/>
            <a:chOff x="5448194" y="2032653"/>
            <a:chExt cx="954317" cy="594028"/>
          </a:xfrm>
        </p:grpSpPr>
        <p:sp>
          <p:nvSpPr>
            <p:cNvPr id="88" name="文本框 87"/>
            <p:cNvSpPr txBox="1"/>
            <p:nvPr/>
          </p:nvSpPr>
          <p:spPr>
            <a:xfrm>
              <a:off x="5451375" y="2032653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S1.19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448194" y="2266681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xxx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6066087" y="3868101"/>
            <a:ext cx="106517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7002464" y="3474061"/>
            <a:ext cx="1065177" cy="2021955"/>
            <a:chOff x="7002464" y="3474061"/>
            <a:chExt cx="1065177" cy="2021955"/>
          </a:xfrm>
        </p:grpSpPr>
        <p:cxnSp>
          <p:nvCxnSpPr>
            <p:cNvPr id="93" name="直线箭头连接符 92"/>
            <p:cNvCxnSpPr/>
            <p:nvPr/>
          </p:nvCxnSpPr>
          <p:spPr>
            <a:xfrm>
              <a:off x="7126315" y="4015823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箭头连接符 93"/>
            <p:cNvCxnSpPr/>
            <p:nvPr/>
          </p:nvCxnSpPr>
          <p:spPr>
            <a:xfrm>
              <a:off x="7110627" y="3990819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/>
            <p:cNvCxnSpPr/>
            <p:nvPr/>
          </p:nvCxnSpPr>
          <p:spPr>
            <a:xfrm flipV="1">
              <a:off x="7691295" y="3954542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线箭头连接符 95"/>
            <p:cNvCxnSpPr/>
            <p:nvPr/>
          </p:nvCxnSpPr>
          <p:spPr>
            <a:xfrm flipV="1">
              <a:off x="7733255" y="4006935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101"/>
            <p:cNvSpPr txBox="1"/>
            <p:nvPr/>
          </p:nvSpPr>
          <p:spPr>
            <a:xfrm>
              <a:off x="7002464" y="3474061"/>
              <a:ext cx="106517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Prepare</a:t>
              </a:r>
              <a:endParaRPr lang="zh-CN" altLang="en-US" dirty="0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7535248" y="2852072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sp>
        <p:nvSpPr>
          <p:cNvPr id="107" name="文本框 106"/>
          <p:cNvSpPr txBox="1"/>
          <p:nvPr/>
        </p:nvSpPr>
        <p:spPr>
          <a:xfrm>
            <a:off x="7535248" y="2527345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583904" y="3814458"/>
            <a:ext cx="504056" cy="1726836"/>
            <a:chOff x="1583904" y="3814458"/>
            <a:chExt cx="504056" cy="1726836"/>
          </a:xfrm>
        </p:grpSpPr>
        <p:sp>
          <p:nvSpPr>
            <p:cNvPr id="108" name="Rectangle 16"/>
            <p:cNvSpPr/>
            <p:nvPr/>
          </p:nvSpPr>
          <p:spPr>
            <a:xfrm>
              <a:off x="1583904" y="3814458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  <p:sp>
          <p:nvSpPr>
            <p:cNvPr id="109" name="Rectangle 16"/>
            <p:cNvSpPr/>
            <p:nvPr/>
          </p:nvSpPr>
          <p:spPr>
            <a:xfrm>
              <a:off x="1583904" y="4487376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  <p:sp>
          <p:nvSpPr>
            <p:cNvPr id="110" name="Rectangle 16"/>
            <p:cNvSpPr/>
            <p:nvPr/>
          </p:nvSpPr>
          <p:spPr>
            <a:xfrm>
              <a:off x="1583904" y="5160294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89311" y="3819439"/>
            <a:ext cx="504056" cy="1726836"/>
            <a:chOff x="2089311" y="3819439"/>
            <a:chExt cx="504056" cy="1726836"/>
          </a:xfrm>
        </p:grpSpPr>
        <p:sp>
          <p:nvSpPr>
            <p:cNvPr id="111" name="Rectangle 16"/>
            <p:cNvSpPr/>
            <p:nvPr/>
          </p:nvSpPr>
          <p:spPr>
            <a:xfrm>
              <a:off x="2089311" y="3819439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  <p:sp>
          <p:nvSpPr>
            <p:cNvPr id="112" name="Rectangle 16"/>
            <p:cNvSpPr/>
            <p:nvPr/>
          </p:nvSpPr>
          <p:spPr>
            <a:xfrm>
              <a:off x="2089311" y="4492357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  <p:sp>
          <p:nvSpPr>
            <p:cNvPr id="113" name="Rectangle 16"/>
            <p:cNvSpPr/>
            <p:nvPr/>
          </p:nvSpPr>
          <p:spPr>
            <a:xfrm>
              <a:off x="2089311" y="5165275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</p:grpSp>
      <p:sp>
        <p:nvSpPr>
          <p:cNvPr id="114" name="TextBox 6"/>
          <p:cNvSpPr txBox="1"/>
          <p:nvPr/>
        </p:nvSpPr>
        <p:spPr>
          <a:xfrm>
            <a:off x="1668389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5" name="TextBox 7"/>
          <p:cNvSpPr txBox="1"/>
          <p:nvPr/>
        </p:nvSpPr>
        <p:spPr>
          <a:xfrm>
            <a:off x="2049389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3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548479" y="2028635"/>
            <a:ext cx="1549831" cy="3491533"/>
            <a:chOff x="7548479" y="2028635"/>
            <a:chExt cx="1549831" cy="3491533"/>
          </a:xfrm>
        </p:grpSpPr>
        <p:sp>
          <p:nvSpPr>
            <p:cNvPr id="104" name="文本框 103"/>
            <p:cNvSpPr txBox="1"/>
            <p:nvPr/>
          </p:nvSpPr>
          <p:spPr>
            <a:xfrm>
              <a:off x="7551660" y="2028635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S1.19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7548479" y="2262663"/>
              <a:ext cx="95113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 err="1">
                  <a:solidFill>
                    <a:srgbClr val="C00000"/>
                  </a:solidFill>
                </a:rPr>
                <a:t>yyy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033133" y="3484496"/>
              <a:ext cx="1065177" cy="2035672"/>
              <a:chOff x="8033133" y="3484496"/>
              <a:chExt cx="1065177" cy="2035672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8317077" y="4153590"/>
                <a:ext cx="713188" cy="3103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700"/>
                  </a:lnSpc>
                </a:pPr>
                <a:r>
                  <a:rPr lang="en-US" altLang="zh-CN" sz="1800" b="1" dirty="0" err="1"/>
                  <a:t>yyy</a:t>
                </a:r>
                <a:endParaRPr lang="en-US" altLang="zh-CN" sz="1800" b="1" dirty="0"/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8033133" y="3484496"/>
                <a:ext cx="1065177" cy="2035672"/>
                <a:chOff x="8033133" y="3484496"/>
                <a:chExt cx="1065177" cy="2035672"/>
              </a:xfrm>
            </p:grpSpPr>
            <p:cxnSp>
              <p:nvCxnSpPr>
                <p:cNvPr id="97" name="直线箭头连接符 96"/>
                <p:cNvCxnSpPr/>
                <p:nvPr/>
              </p:nvCxnSpPr>
              <p:spPr>
                <a:xfrm>
                  <a:off x="8160707" y="4039975"/>
                  <a:ext cx="609600" cy="143668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线箭头连接符 97"/>
                <p:cNvCxnSpPr/>
                <p:nvPr/>
              </p:nvCxnSpPr>
              <p:spPr>
                <a:xfrm flipV="1">
                  <a:off x="8725687" y="3978694"/>
                  <a:ext cx="191638" cy="7671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线箭头连接符 98"/>
                <p:cNvCxnSpPr/>
                <p:nvPr/>
              </p:nvCxnSpPr>
              <p:spPr>
                <a:xfrm flipV="1">
                  <a:off x="8767647" y="4031087"/>
                  <a:ext cx="290792" cy="148908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文本框 99"/>
                <p:cNvSpPr txBox="1"/>
                <p:nvPr/>
              </p:nvSpPr>
              <p:spPr>
                <a:xfrm>
                  <a:off x="8089301" y="4950946"/>
                  <a:ext cx="713188" cy="31034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700"/>
                    </a:lnSpc>
                  </a:pPr>
                  <a:r>
                    <a:rPr lang="en-US" altLang="zh-CN" sz="1800" b="1" dirty="0" err="1"/>
                    <a:t>yyy</a:t>
                  </a:r>
                  <a:endParaRPr lang="en-US" altLang="zh-CN" sz="1800" b="1" dirty="0"/>
                </a:p>
              </p:txBody>
            </p:sp>
            <p:sp>
              <p:nvSpPr>
                <p:cNvPr id="103" name="文本框 102"/>
                <p:cNvSpPr txBox="1"/>
                <p:nvPr/>
              </p:nvSpPr>
              <p:spPr>
                <a:xfrm>
                  <a:off x="8033133" y="3484496"/>
                  <a:ext cx="106517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dirty="0"/>
                    <a:t>Accept </a:t>
                  </a:r>
                  <a:endParaRPr lang="zh-CN" altLang="en-US" dirty="0"/>
                </a:p>
              </p:txBody>
            </p:sp>
            <p:cxnSp>
              <p:nvCxnSpPr>
                <p:cNvPr id="26" name="直线箭头连接符 25"/>
                <p:cNvCxnSpPr/>
                <p:nvPr/>
              </p:nvCxnSpPr>
              <p:spPr>
                <a:xfrm>
                  <a:off x="8158708" y="4036667"/>
                  <a:ext cx="547898" cy="7344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89" grpId="0"/>
      <p:bldP spid="90" grpId="0"/>
      <p:bldP spid="92" grpId="0" animBg="1"/>
      <p:bldP spid="106" grpId="0"/>
      <p:bldP spid="10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框 74"/>
          <p:cNvSpPr txBox="1"/>
          <p:nvPr/>
        </p:nvSpPr>
        <p:spPr>
          <a:xfrm>
            <a:off x="2513316" y="3385339"/>
            <a:ext cx="10651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xxx, </a:t>
            </a:r>
            <a:r>
              <a:rPr kumimoji="1" lang="en-US" altLang="zh-CN" dirty="0" err="1"/>
              <a:t>yyy</a:t>
            </a:r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817676" y="1968836"/>
            <a:ext cx="1476605" cy="1754326"/>
            <a:chOff x="699963" y="1803188"/>
            <a:chExt cx="1476605" cy="1754326"/>
          </a:xfrm>
        </p:grpSpPr>
        <p:sp>
          <p:nvSpPr>
            <p:cNvPr id="49" name="矩形 48"/>
            <p:cNvSpPr/>
            <p:nvPr/>
          </p:nvSpPr>
          <p:spPr>
            <a:xfrm>
              <a:off x="699963" y="1836737"/>
              <a:ext cx="1476605" cy="12317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61798" y="18031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add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Benefits of leader election: prepare message batching </a:t>
            </a:r>
            <a:endParaRPr kumimoji="1" lang="zh-CN" altLang="en-US" dirty="0"/>
          </a:p>
        </p:txBody>
      </p:sp>
      <p:sp>
        <p:nvSpPr>
          <p:cNvPr id="5" name="Rectangle 15"/>
          <p:cNvSpPr/>
          <p:nvPr/>
        </p:nvSpPr>
        <p:spPr>
          <a:xfrm>
            <a:off x="688245" y="3814458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6" name="Rectangle 16"/>
          <p:cNvSpPr/>
          <p:nvPr/>
        </p:nvSpPr>
        <p:spPr>
          <a:xfrm>
            <a:off x="1069245" y="381445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7" name="TextBox 45"/>
          <p:cNvSpPr txBox="1"/>
          <p:nvPr/>
        </p:nvSpPr>
        <p:spPr>
          <a:xfrm>
            <a:off x="116745" y="3871434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8" name="TextBox 6"/>
          <p:cNvSpPr txBox="1"/>
          <p:nvPr/>
        </p:nvSpPr>
        <p:spPr>
          <a:xfrm>
            <a:off x="744355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125355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Rectangle 15"/>
          <p:cNvSpPr/>
          <p:nvPr/>
        </p:nvSpPr>
        <p:spPr>
          <a:xfrm>
            <a:off x="688245" y="4487376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3" name="Rectangle 16"/>
          <p:cNvSpPr/>
          <p:nvPr/>
        </p:nvSpPr>
        <p:spPr>
          <a:xfrm>
            <a:off x="1069245" y="4487376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4" name="TextBox 45"/>
          <p:cNvSpPr txBox="1"/>
          <p:nvPr/>
        </p:nvSpPr>
        <p:spPr>
          <a:xfrm>
            <a:off x="116745" y="4544352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688245" y="5160294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069245" y="5160294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18" name="TextBox 45"/>
          <p:cNvSpPr txBox="1"/>
          <p:nvPr/>
        </p:nvSpPr>
        <p:spPr>
          <a:xfrm>
            <a:off x="116745" y="521727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sp>
        <p:nvSpPr>
          <p:cNvPr id="20" name="TextBox 45"/>
          <p:cNvSpPr txBox="1"/>
          <p:nvPr/>
        </p:nvSpPr>
        <p:spPr>
          <a:xfrm>
            <a:off x="2744740" y="389733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S1</a:t>
            </a:r>
            <a:endParaRPr 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21" name="TextBox 45"/>
          <p:cNvSpPr txBox="1"/>
          <p:nvPr/>
        </p:nvSpPr>
        <p:spPr>
          <a:xfrm>
            <a:off x="2744740" y="457025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22" name="TextBox 45"/>
          <p:cNvSpPr txBox="1"/>
          <p:nvPr/>
        </p:nvSpPr>
        <p:spPr>
          <a:xfrm>
            <a:off x="2744740" y="5243169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S3</a:t>
            </a:r>
            <a:endParaRPr lang="en-US" baseline="-25000" dirty="0"/>
          </a:p>
        </p:txBody>
      </p:sp>
      <p:cxnSp>
        <p:nvCxnSpPr>
          <p:cNvPr id="23" name="直线连接符 22"/>
          <p:cNvCxnSpPr/>
          <p:nvPr/>
        </p:nvCxnSpPr>
        <p:spPr>
          <a:xfrm flipV="1">
            <a:off x="3125740" y="4005742"/>
            <a:ext cx="5811727" cy="259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 flipV="1">
            <a:off x="3125740" y="4732867"/>
            <a:ext cx="5835896" cy="26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V="1">
            <a:off x="3125740" y="5460099"/>
            <a:ext cx="5835896" cy="26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40644"/>
          </a:xfrm>
        </p:spPr>
        <p:txBody>
          <a:bodyPr/>
          <a:lstStyle/>
          <a:p>
            <a:r>
              <a:rPr kumimoji="1" lang="en-US" altLang="zh-CN" dirty="0"/>
              <a:t>Suppose S1 </a:t>
            </a:r>
            <a:r>
              <a:rPr kumimoji="1" lang="en-GB" altLang="zh-CN" dirty="0"/>
              <a:t>is the leader (+ batching) </a:t>
            </a:r>
            <a:endParaRPr lang="en-GB" altLang="zh-CN" dirty="0"/>
          </a:p>
          <a:p>
            <a:pPr lvl="2"/>
            <a:endParaRPr lang="en-GB" altLang="zh-CN" sz="1800" dirty="0"/>
          </a:p>
          <a:p>
            <a:pPr marL="914400" lvl="2" indent="0">
              <a:buNone/>
            </a:pPr>
            <a:endParaRPr kumimoji="1" lang="en-US" altLang="zh-CN" sz="1800" dirty="0"/>
          </a:p>
          <a:p>
            <a:pPr marL="131445" lvl="1" indent="0">
              <a:buNone/>
            </a:pPr>
            <a:endParaRPr kumimoji="1" lang="zh-CN" altLang="en-US" sz="1600" dirty="0"/>
          </a:p>
        </p:txBody>
      </p:sp>
      <p:sp>
        <p:nvSpPr>
          <p:cNvPr id="52" name="TextBox 6"/>
          <p:cNvSpPr txBox="1"/>
          <p:nvPr/>
        </p:nvSpPr>
        <p:spPr>
          <a:xfrm>
            <a:off x="1170084" y="1633364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0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806140" y="1991356"/>
            <a:ext cx="1476605" cy="1754326"/>
            <a:chOff x="699963" y="1810372"/>
            <a:chExt cx="1476605" cy="1754326"/>
          </a:xfrm>
        </p:grpSpPr>
        <p:sp>
          <p:nvSpPr>
            <p:cNvPr id="55" name="矩形 54"/>
            <p:cNvSpPr/>
            <p:nvPr/>
          </p:nvSpPr>
          <p:spPr>
            <a:xfrm>
              <a:off x="699963" y="1836737"/>
              <a:ext cx="1476605" cy="12317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42753" y="1810372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r>
                <a:rPr lang="en-US" altLang="zh-CN" sz="1800" dirty="0" err="1"/>
                <a:t>cmp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S1.19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57" name="TextBox 6"/>
          <p:cNvSpPr txBox="1"/>
          <p:nvPr/>
        </p:nvSpPr>
        <p:spPr>
          <a:xfrm>
            <a:off x="3158548" y="1648700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1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860255" y="1993529"/>
            <a:ext cx="1476605" cy="1754326"/>
            <a:chOff x="699963" y="1797488"/>
            <a:chExt cx="1476605" cy="1754326"/>
          </a:xfrm>
        </p:grpSpPr>
        <p:sp>
          <p:nvSpPr>
            <p:cNvPr id="59" name="矩形 58"/>
            <p:cNvSpPr/>
            <p:nvPr/>
          </p:nvSpPr>
          <p:spPr>
            <a:xfrm>
              <a:off x="699963" y="1836737"/>
              <a:ext cx="1476605" cy="12329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65614" y="17974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61" name="TextBox 6"/>
          <p:cNvSpPr txBox="1"/>
          <p:nvPr/>
        </p:nvSpPr>
        <p:spPr>
          <a:xfrm>
            <a:off x="5212663" y="1663757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2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924692" y="1987254"/>
            <a:ext cx="1476605" cy="1754326"/>
            <a:chOff x="699963" y="1797488"/>
            <a:chExt cx="1476605" cy="1754326"/>
          </a:xfrm>
        </p:grpSpPr>
        <p:sp>
          <p:nvSpPr>
            <p:cNvPr id="63" name="矩形 62"/>
            <p:cNvSpPr/>
            <p:nvPr/>
          </p:nvSpPr>
          <p:spPr>
            <a:xfrm>
              <a:off x="699963" y="1836737"/>
              <a:ext cx="1476605" cy="12329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765614" y="1797488"/>
              <a:ext cx="141095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N</a:t>
              </a:r>
              <a:r>
                <a:rPr lang="en-US" altLang="zh-CN" sz="1800" baseline="-25000" dirty="0"/>
                <a:t>a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V</a:t>
              </a:r>
              <a:r>
                <a:rPr lang="en-US" altLang="zh-CN" sz="1800" baseline="-25000" dirty="0" err="1"/>
                <a:t>a</a:t>
              </a:r>
              <a:r>
                <a:rPr lang="en-US" altLang="zh-CN" sz="1800" dirty="0"/>
                <a:t> :  </a:t>
              </a:r>
              <a:endParaRPr lang="en-US" altLang="zh-CN" sz="1800" dirty="0"/>
            </a:p>
            <a:p>
              <a:r>
                <a:rPr lang="en-US" altLang="zh-CN" sz="1800" dirty="0"/>
                <a:t>N</a:t>
              </a:r>
              <a:r>
                <a:rPr lang="en-US" altLang="zh-CN" baseline="-25000" dirty="0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r>
                <a:rPr lang="en-US" altLang="zh-CN" sz="1800" dirty="0" err="1"/>
                <a:t>M</a:t>
              </a:r>
              <a:r>
                <a:rPr lang="en-US" altLang="zh-CN" baseline="-25000" dirty="0" err="1"/>
                <a:t>h</a:t>
              </a:r>
              <a:r>
                <a:rPr lang="en-US" altLang="zh-CN" sz="1800" dirty="0"/>
                <a:t> : </a:t>
              </a:r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</p:grpSp>
      <p:sp>
        <p:nvSpPr>
          <p:cNvPr id="65" name="TextBox 6"/>
          <p:cNvSpPr txBox="1"/>
          <p:nvPr/>
        </p:nvSpPr>
        <p:spPr>
          <a:xfrm>
            <a:off x="7277100" y="1657482"/>
            <a:ext cx="1563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Paxos</a:t>
            </a:r>
            <a:r>
              <a:rPr lang="en-US" sz="1600" dirty="0">
                <a:solidFill>
                  <a:schemeClr val="tx2"/>
                </a:solidFill>
              </a:rPr>
              <a:t> 3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1" name="Rounded Rectangle 19"/>
          <p:cNvSpPr/>
          <p:nvPr/>
        </p:nvSpPr>
        <p:spPr>
          <a:xfrm>
            <a:off x="1809496" y="3036689"/>
            <a:ext cx="870000" cy="420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 sz="2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2" name="Straight Arrow Connector 20"/>
          <p:cNvCxnSpPr>
            <a:stCxn id="71" idx="2"/>
          </p:cNvCxnSpPr>
          <p:nvPr/>
        </p:nvCxnSpPr>
        <p:spPr>
          <a:xfrm>
            <a:off x="2244496" y="3456689"/>
            <a:ext cx="500244" cy="41474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文本框 88"/>
          <p:cNvSpPr txBox="1"/>
          <p:nvPr/>
        </p:nvSpPr>
        <p:spPr>
          <a:xfrm>
            <a:off x="5415369" y="2854024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sp>
        <p:nvSpPr>
          <p:cNvPr id="90" name="文本框 89"/>
          <p:cNvSpPr txBox="1"/>
          <p:nvPr/>
        </p:nvSpPr>
        <p:spPr>
          <a:xfrm>
            <a:off x="5445013" y="2555090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sp>
        <p:nvSpPr>
          <p:cNvPr id="106" name="文本框 105"/>
          <p:cNvSpPr txBox="1"/>
          <p:nvPr/>
        </p:nvSpPr>
        <p:spPr>
          <a:xfrm>
            <a:off x="7535248" y="2852072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sp>
        <p:nvSpPr>
          <p:cNvPr id="107" name="文本框 106"/>
          <p:cNvSpPr txBox="1"/>
          <p:nvPr/>
        </p:nvSpPr>
        <p:spPr>
          <a:xfrm>
            <a:off x="7515812" y="2555090"/>
            <a:ext cx="9511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</a:rPr>
              <a:t>S1.19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endParaRPr lang="en-US" altLang="zh-CN" sz="1800" dirty="0"/>
          </a:p>
          <a:p>
            <a:endParaRPr lang="en-US" altLang="zh-CN" sz="1800" dirty="0"/>
          </a:p>
          <a:p>
            <a:pPr algn="ctr"/>
            <a:endParaRPr lang="en-US" altLang="zh-CN" sz="1800" dirty="0"/>
          </a:p>
        </p:txBody>
      </p:sp>
      <p:grpSp>
        <p:nvGrpSpPr>
          <p:cNvPr id="43" name="组合 42"/>
          <p:cNvGrpSpPr/>
          <p:nvPr/>
        </p:nvGrpSpPr>
        <p:grpSpPr>
          <a:xfrm>
            <a:off x="1583904" y="3814458"/>
            <a:ext cx="504056" cy="1726836"/>
            <a:chOff x="1583904" y="3814458"/>
            <a:chExt cx="504056" cy="1726836"/>
          </a:xfrm>
        </p:grpSpPr>
        <p:sp>
          <p:nvSpPr>
            <p:cNvPr id="108" name="Rectangle 16"/>
            <p:cNvSpPr/>
            <p:nvPr/>
          </p:nvSpPr>
          <p:spPr>
            <a:xfrm>
              <a:off x="1583904" y="3814458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  <p:sp>
          <p:nvSpPr>
            <p:cNvPr id="109" name="Rectangle 16"/>
            <p:cNvSpPr/>
            <p:nvPr/>
          </p:nvSpPr>
          <p:spPr>
            <a:xfrm>
              <a:off x="1583904" y="4487376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  <p:sp>
          <p:nvSpPr>
            <p:cNvPr id="110" name="Rectangle 16"/>
            <p:cNvSpPr/>
            <p:nvPr/>
          </p:nvSpPr>
          <p:spPr>
            <a:xfrm>
              <a:off x="1583904" y="5160294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xxx</a:t>
              </a:r>
              <a:endParaRPr lang="en-US" sz="1600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089311" y="3819439"/>
            <a:ext cx="504056" cy="1726836"/>
            <a:chOff x="2089311" y="3819439"/>
            <a:chExt cx="504056" cy="1726836"/>
          </a:xfrm>
        </p:grpSpPr>
        <p:sp>
          <p:nvSpPr>
            <p:cNvPr id="111" name="Rectangle 16"/>
            <p:cNvSpPr/>
            <p:nvPr/>
          </p:nvSpPr>
          <p:spPr>
            <a:xfrm>
              <a:off x="2089311" y="3819439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  <p:sp>
          <p:nvSpPr>
            <p:cNvPr id="112" name="Rectangle 16"/>
            <p:cNvSpPr/>
            <p:nvPr/>
          </p:nvSpPr>
          <p:spPr>
            <a:xfrm>
              <a:off x="2089311" y="4492357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  <p:sp>
          <p:nvSpPr>
            <p:cNvPr id="113" name="Rectangle 16"/>
            <p:cNvSpPr/>
            <p:nvPr/>
          </p:nvSpPr>
          <p:spPr>
            <a:xfrm>
              <a:off x="2089311" y="5165275"/>
              <a:ext cx="504056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 err="1"/>
                <a:t>yyy</a:t>
              </a:r>
              <a:endParaRPr lang="en-US" sz="1600" dirty="0"/>
            </a:p>
          </p:txBody>
        </p:sp>
      </p:grpSp>
      <p:sp>
        <p:nvSpPr>
          <p:cNvPr id="114" name="TextBox 6"/>
          <p:cNvSpPr txBox="1"/>
          <p:nvPr/>
        </p:nvSpPr>
        <p:spPr>
          <a:xfrm>
            <a:off x="1668389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5" name="TextBox 7"/>
          <p:cNvSpPr txBox="1"/>
          <p:nvPr/>
        </p:nvSpPr>
        <p:spPr>
          <a:xfrm>
            <a:off x="2049389" y="33830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3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644595" y="3450354"/>
            <a:ext cx="1599455" cy="2091385"/>
            <a:chOff x="3644595" y="3450354"/>
            <a:chExt cx="1599455" cy="2091385"/>
          </a:xfrm>
        </p:grpSpPr>
        <p:cxnSp>
          <p:nvCxnSpPr>
            <p:cNvPr id="3" name="直线箭头连接符 2"/>
            <p:cNvCxnSpPr/>
            <p:nvPr/>
          </p:nvCxnSpPr>
          <p:spPr>
            <a:xfrm>
              <a:off x="3913336" y="4061546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线箭头连接符 3"/>
            <p:cNvCxnSpPr/>
            <p:nvPr/>
          </p:nvCxnSpPr>
          <p:spPr>
            <a:xfrm>
              <a:off x="3897648" y="4036542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/>
            <p:cNvCxnSpPr/>
            <p:nvPr/>
          </p:nvCxnSpPr>
          <p:spPr>
            <a:xfrm flipV="1">
              <a:off x="4478316" y="4000265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/>
            <p:cNvCxnSpPr/>
            <p:nvPr/>
          </p:nvCxnSpPr>
          <p:spPr>
            <a:xfrm flipV="1">
              <a:off x="4520276" y="4052658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644595" y="3450354"/>
              <a:ext cx="15994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Prepare 2 + 3</a:t>
              </a:r>
              <a:endParaRPr lang="zh-CN" altLang="en-US" dirty="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5040554" y="3806423"/>
            <a:ext cx="106517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7175683" y="3632810"/>
            <a:ext cx="917973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Select 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5448194" y="2032653"/>
            <a:ext cx="1427418" cy="3513748"/>
            <a:chOff x="5448194" y="2032653"/>
            <a:chExt cx="1427418" cy="3513748"/>
          </a:xfrm>
        </p:grpSpPr>
        <p:sp>
          <p:nvSpPr>
            <p:cNvPr id="88" name="文本框 87"/>
            <p:cNvSpPr txBox="1"/>
            <p:nvPr/>
          </p:nvSpPr>
          <p:spPr>
            <a:xfrm>
              <a:off x="5451375" y="2032653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S1.19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448194" y="2266681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xxx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cxnSp>
          <p:nvCxnSpPr>
            <p:cNvPr id="26" name="直线箭头连接符 25"/>
            <p:cNvCxnSpPr/>
            <p:nvPr/>
          </p:nvCxnSpPr>
          <p:spPr>
            <a:xfrm>
              <a:off x="5965239" y="4066208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/>
            <p:cNvCxnSpPr/>
            <p:nvPr/>
          </p:nvCxnSpPr>
          <p:spPr>
            <a:xfrm>
              <a:off x="5949551" y="4041204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/>
            <p:cNvCxnSpPr/>
            <p:nvPr/>
          </p:nvCxnSpPr>
          <p:spPr>
            <a:xfrm flipV="1">
              <a:off x="6530219" y="4004927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/>
            <p:cNvCxnSpPr/>
            <p:nvPr/>
          </p:nvCxnSpPr>
          <p:spPr>
            <a:xfrm flipV="1">
              <a:off x="6572179" y="4057320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5893833" y="4977179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/>
                <a:t>xxx</a:t>
              </a:r>
              <a:endParaRPr lang="en-US" altLang="zh-CN" sz="1800" b="1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121609" y="4179823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/>
                <a:t>xxx</a:t>
              </a:r>
              <a:endParaRPr lang="en-US" altLang="zh-CN" sz="1800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884855" y="3456689"/>
              <a:ext cx="9907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Accept</a:t>
              </a:r>
              <a:endParaRPr lang="zh-CN" altLang="en-US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7548479" y="2028635"/>
            <a:ext cx="1579573" cy="3473750"/>
            <a:chOff x="7548479" y="2028635"/>
            <a:chExt cx="1579573" cy="3473750"/>
          </a:xfrm>
        </p:grpSpPr>
        <p:sp>
          <p:nvSpPr>
            <p:cNvPr id="104" name="文本框 103"/>
            <p:cNvSpPr txBox="1"/>
            <p:nvPr/>
          </p:nvSpPr>
          <p:spPr>
            <a:xfrm>
              <a:off x="7551660" y="2028635"/>
              <a:ext cx="951136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S1.19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7548479" y="2262663"/>
              <a:ext cx="951136" cy="119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C00000"/>
                  </a:solidFill>
                </a:rPr>
                <a:t>yyy</a:t>
              </a:r>
              <a:endParaRPr lang="en-US" altLang="zh-CN" sz="1800" b="1" dirty="0">
                <a:solidFill>
                  <a:srgbClr val="C00000"/>
                </a:solidFill>
              </a:endParaRPr>
            </a:p>
            <a:p>
              <a:endParaRPr lang="en-US" altLang="zh-CN" sz="1800" dirty="0"/>
            </a:p>
            <a:p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cxnSp>
          <p:nvCxnSpPr>
            <p:cNvPr id="32" name="直线箭头连接符 31"/>
            <p:cNvCxnSpPr/>
            <p:nvPr/>
          </p:nvCxnSpPr>
          <p:spPr>
            <a:xfrm>
              <a:off x="7996404" y="4022192"/>
              <a:ext cx="609600" cy="14366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箭头连接符 32"/>
            <p:cNvCxnSpPr/>
            <p:nvPr/>
          </p:nvCxnSpPr>
          <p:spPr>
            <a:xfrm>
              <a:off x="7980716" y="3997188"/>
              <a:ext cx="547898" cy="7344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/>
            <p:cNvCxnSpPr/>
            <p:nvPr/>
          </p:nvCxnSpPr>
          <p:spPr>
            <a:xfrm flipV="1">
              <a:off x="8561384" y="3960911"/>
              <a:ext cx="191638" cy="7671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/>
            <p:nvPr/>
          </p:nvCxnSpPr>
          <p:spPr>
            <a:xfrm flipV="1">
              <a:off x="8603344" y="4013304"/>
              <a:ext cx="290792" cy="148908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7924998" y="4933163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yyy</a:t>
              </a:r>
              <a:endParaRPr lang="en-US" altLang="zh-CN" sz="1800" b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152774" y="4135807"/>
              <a:ext cx="713188" cy="3103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en-US" altLang="zh-CN" sz="1800" b="1" dirty="0" err="1"/>
                <a:t>yyy</a:t>
              </a:r>
              <a:endParaRPr lang="en-US" altLang="zh-CN" sz="1800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137295" y="3481132"/>
              <a:ext cx="9907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Accept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106" grpId="0"/>
      <p:bldP spid="107" grpId="0"/>
      <p:bldP spid="19" grpId="0" animBg="1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hole in the log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Rectangle 15"/>
          <p:cNvSpPr/>
          <p:nvPr/>
        </p:nvSpPr>
        <p:spPr>
          <a:xfrm>
            <a:off x="6936038" y="1172477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19" name="Rectangle 16"/>
          <p:cNvSpPr/>
          <p:nvPr/>
        </p:nvSpPr>
        <p:spPr>
          <a:xfrm>
            <a:off x="7317038" y="1172477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20" name="TextBox 45"/>
          <p:cNvSpPr txBox="1"/>
          <p:nvPr/>
        </p:nvSpPr>
        <p:spPr>
          <a:xfrm>
            <a:off x="6364538" y="122945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S1</a:t>
            </a:r>
            <a:endParaRPr lang="en-US" baseline="-25000" dirty="0"/>
          </a:p>
        </p:txBody>
      </p:sp>
      <p:sp>
        <p:nvSpPr>
          <p:cNvPr id="21" name="TextBox 6"/>
          <p:cNvSpPr txBox="1"/>
          <p:nvPr/>
        </p:nvSpPr>
        <p:spPr>
          <a:xfrm>
            <a:off x="6992148" y="7410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0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7373148" y="7410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3" name="Rectangle 15"/>
          <p:cNvSpPr/>
          <p:nvPr/>
        </p:nvSpPr>
        <p:spPr>
          <a:xfrm>
            <a:off x="6936038" y="1845395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24" name="Rectangle 16"/>
          <p:cNvSpPr/>
          <p:nvPr/>
        </p:nvSpPr>
        <p:spPr>
          <a:xfrm>
            <a:off x="7317038" y="1845395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cmp</a:t>
            </a:r>
            <a:endParaRPr lang="en-US" sz="1600" dirty="0"/>
          </a:p>
        </p:txBody>
      </p:sp>
      <p:sp>
        <p:nvSpPr>
          <p:cNvPr id="25" name="TextBox 45"/>
          <p:cNvSpPr txBox="1"/>
          <p:nvPr/>
        </p:nvSpPr>
        <p:spPr>
          <a:xfrm>
            <a:off x="6364538" y="190237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S2</a:t>
            </a:r>
            <a:endParaRPr lang="en-US" baseline="-25000" dirty="0"/>
          </a:p>
        </p:txBody>
      </p:sp>
      <p:sp>
        <p:nvSpPr>
          <p:cNvPr id="26" name="Rectangle 15"/>
          <p:cNvSpPr/>
          <p:nvPr/>
        </p:nvSpPr>
        <p:spPr>
          <a:xfrm>
            <a:off x="6936038" y="2518313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add</a:t>
            </a:r>
            <a:endParaRPr lang="en-US" sz="1600" dirty="0"/>
          </a:p>
        </p:txBody>
      </p:sp>
      <p:sp>
        <p:nvSpPr>
          <p:cNvPr id="29" name="Rectangle 16"/>
          <p:cNvSpPr/>
          <p:nvPr/>
        </p:nvSpPr>
        <p:spPr>
          <a:xfrm>
            <a:off x="7831697" y="1172477"/>
            <a:ext cx="504056" cy="381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endParaRPr lang="en-US" sz="1600" dirty="0"/>
          </a:p>
        </p:txBody>
      </p:sp>
      <p:sp>
        <p:nvSpPr>
          <p:cNvPr id="32" name="Rectangle 16"/>
          <p:cNvSpPr/>
          <p:nvPr/>
        </p:nvSpPr>
        <p:spPr>
          <a:xfrm>
            <a:off x="8337104" y="1177458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34" name="Rectangle 16"/>
          <p:cNvSpPr/>
          <p:nvPr/>
        </p:nvSpPr>
        <p:spPr>
          <a:xfrm>
            <a:off x="8337104" y="2523294"/>
            <a:ext cx="504056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 err="1"/>
              <a:t>yyy</a:t>
            </a:r>
            <a:endParaRPr lang="en-US" sz="1600" dirty="0"/>
          </a:p>
        </p:txBody>
      </p:sp>
      <p:sp>
        <p:nvSpPr>
          <p:cNvPr id="35" name="TextBox 6"/>
          <p:cNvSpPr txBox="1"/>
          <p:nvPr/>
        </p:nvSpPr>
        <p:spPr>
          <a:xfrm>
            <a:off x="7916182" y="7410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6" name="TextBox 7"/>
          <p:cNvSpPr txBox="1"/>
          <p:nvPr/>
        </p:nvSpPr>
        <p:spPr>
          <a:xfrm>
            <a:off x="8297182" y="7410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3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7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811557"/>
          </a:xfrm>
        </p:spPr>
        <p:txBody>
          <a:bodyPr/>
          <a:lstStyle/>
          <a:p>
            <a:r>
              <a:rPr kumimoji="1" lang="en-US" altLang="zh-CN" dirty="0"/>
              <a:t>Suppose S1 </a:t>
            </a:r>
            <a:r>
              <a:rPr kumimoji="1" lang="en-GB" altLang="zh-CN" dirty="0"/>
              <a:t>is the leader (with batching)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What happens after S1 crashes w/ unfinished entry?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Entry 2 will be empty </a:t>
            </a:r>
            <a:endParaRPr kumimoji="1" lang="en-GB" altLang="zh-CN" dirty="0"/>
          </a:p>
          <a:p>
            <a:r>
              <a:rPr lang="en-GB" altLang="zh-CN" dirty="0"/>
              <a:t>Application should fill the gap itself, e.g., w/ </a:t>
            </a:r>
            <a:r>
              <a:rPr lang="en-GB" altLang="zh-CN" dirty="0">
                <a:highlight>
                  <a:srgbClr val="FFFF00"/>
                </a:highlight>
              </a:rPr>
              <a:t>no-op</a:t>
            </a:r>
            <a:endParaRPr lang="en-GB" altLang="zh-CN" dirty="0">
              <a:highlight>
                <a:srgbClr val="FFFF00"/>
              </a:highlight>
            </a:endParaRPr>
          </a:p>
          <a:p>
            <a:pPr lvl="2"/>
            <a:endParaRPr lang="en-GB" altLang="zh-CN" sz="1800" dirty="0"/>
          </a:p>
          <a:p>
            <a:pPr marL="914400" lvl="2" indent="0">
              <a:buNone/>
            </a:pPr>
            <a:endParaRPr kumimoji="1" lang="en-US" altLang="zh-CN" sz="1800" dirty="0"/>
          </a:p>
          <a:p>
            <a:pPr marL="131445" lvl="1" indent="0"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 of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Based on single-decree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, realizing RSM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agree on a sequence of values </a:t>
            </a:r>
            <a:endParaRPr kumimoji="1" lang="en-US" altLang="zh-CN" dirty="0"/>
          </a:p>
          <a:p>
            <a:r>
              <a:rPr kumimoji="1" lang="en-US" altLang="zh-CN" dirty="0"/>
              <a:t>Needs non-trivial application efforts to make it work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should use a leader for better performance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Should fill the holes of the log entries 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Paxos</a:t>
            </a:r>
            <a:r>
              <a:rPr kumimoji="1" lang="en-US" altLang="zh-CN" dirty="0"/>
              <a:t> itself is not friendly to the programmers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More: Raft replicated log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356826"/>
          </a:xfrm>
        </p:spPr>
        <p:txBody>
          <a:bodyPr/>
          <a:lstStyle/>
          <a:p>
            <a:r>
              <a:rPr kumimoji="1" lang="en-US" altLang="zh-CN"/>
              <a:t>A different approach for consensus</a:t>
            </a:r>
            <a:endParaRPr kumimoji="1" lang="en-US" altLang="zh-CN"/>
          </a:p>
          <a:p>
            <a:pPr lvl="1"/>
            <a:r>
              <a:rPr kumimoji="1" lang="en-US" altLang="zh-CN" err="1"/>
              <a:t>Paxos’s</a:t>
            </a:r>
            <a:r>
              <a:rPr kumimoji="1" lang="en-US" altLang="zh-CN"/>
              <a:t> approach (bottom-up)</a:t>
            </a:r>
            <a:endParaRPr kumimoji="1" lang="en-US" altLang="zh-CN"/>
          </a:p>
          <a:p>
            <a:pPr lvl="2"/>
            <a:r>
              <a:rPr lang="en-GB" altLang="zh-CN" sz="1800"/>
              <a:t>solve single-decree consensus first </a:t>
            </a:r>
            <a:endParaRPr lang="en-GB" altLang="zh-CN" sz="1800"/>
          </a:p>
          <a:p>
            <a:pPr lvl="2"/>
            <a:r>
              <a:rPr lang="en-GB" altLang="zh-CN" sz="1800"/>
              <a:t>replicate a sequence of values using single-decree consensus</a:t>
            </a:r>
            <a:endParaRPr lang="en-GB" altLang="zh-CN" sz="1800"/>
          </a:p>
          <a:p>
            <a:pPr lvl="1"/>
            <a:r>
              <a:rPr lang="en-GB" altLang="zh-CN"/>
              <a:t>Raft’s approach (top-down) </a:t>
            </a:r>
            <a:endParaRPr lang="en-GB" altLang="zh-CN" sz="1600"/>
          </a:p>
          <a:p>
            <a:pPr lvl="2"/>
            <a:r>
              <a:rPr lang="en-GB" altLang="zh-CN" sz="1800"/>
              <a:t>directly solve log replication without first solving single-decree consensus </a:t>
            </a:r>
            <a:endParaRPr lang="en-GB" altLang="zh-CN" sz="1800"/>
          </a:p>
          <a:p>
            <a:endParaRPr lang="en-US" altLang="zh-CN"/>
          </a:p>
          <a:p>
            <a:endParaRPr lang="en-GB" altLang="zh-CN"/>
          </a:p>
          <a:p>
            <a:pPr lvl="2"/>
            <a:endParaRPr lang="en-GB" altLang="zh-CN" sz="1800"/>
          </a:p>
          <a:p>
            <a:pPr marL="914400" lvl="2" indent="0">
              <a:buNone/>
            </a:pPr>
            <a:endParaRPr kumimoji="1" lang="en-US" altLang="zh-CN" sz="1800"/>
          </a:p>
          <a:p>
            <a:pPr marL="131445" lvl="1" indent="0">
              <a:buNone/>
            </a:pPr>
            <a:endParaRPr kumimoji="1" lang="zh-CN" altLang="en-US" sz="16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Why learn raft?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224136"/>
          </a:xfrm>
        </p:spPr>
        <p:txBody>
          <a:bodyPr/>
          <a:lstStyle/>
          <a:p>
            <a:r>
              <a:rPr kumimoji="1" lang="en-US" altLang="zh-CN" dirty="0"/>
              <a:t>Raft is described in a concrete form that favors system design &amp; </a:t>
            </a:r>
            <a:r>
              <a:rPr kumimoji="1" lang="en-US" altLang="zh-CN" dirty="0" err="1"/>
              <a:t>impl</a:t>
            </a:r>
            <a:r>
              <a:rPr kumimoji="1" lang="en-US" altLang="zh-CN" dirty="0"/>
              <a:t>.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Widely implemented and deployed nowadays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Especially for open-source projects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 descr="Kubernetes on AWS | Amazon Web Servic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91987"/>
            <a:ext cx="1440160" cy="109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d does not Start after Disk is 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760" y="2646104"/>
            <a:ext cx="2160240" cy="78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ckroachDB : NewSQL as a Choice of Database | by Timothy Agustian | Level  Up Co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007" y="2455798"/>
            <a:ext cx="2679793" cy="89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TiDB - Revision #18 - Database of Databases"/>
          <p:cNvSpPr>
            <a:spLocks noChangeAspect="1" noChangeArrowheads="1"/>
          </p:cNvSpPr>
          <p:nvPr/>
        </p:nvSpPr>
        <p:spPr bwMode="auto">
          <a:xfrm>
            <a:off x="2286000" y="1968500"/>
            <a:ext cx="45720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36" name="Picture 12" descr="TiDB 在实时分析应用场景下的探索_大数据_PingCAP技术团队_InfoQ精选文章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9045"/>
            <a:ext cx="2874450" cy="143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ongoDB - 维基百科，自由的百科全书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577" y="4039160"/>
            <a:ext cx="2841377" cy="94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Yugabyte第二屆年度分散式SQL亞洲高峰會(DSS)開放註冊| Business Wir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603" y="4059335"/>
            <a:ext cx="2356265" cy="123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Abstraction of the operations: replicated log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Group 193"/>
          <p:cNvGrpSpPr/>
          <p:nvPr/>
        </p:nvGrpSpPr>
        <p:grpSpPr>
          <a:xfrm>
            <a:off x="533400" y="2133600"/>
            <a:ext cx="2286000" cy="1905000"/>
            <a:chOff x="533400" y="2133600"/>
            <a:chExt cx="2286000" cy="1905000"/>
          </a:xfrm>
        </p:grpSpPr>
        <p:sp>
          <p:nvSpPr>
            <p:cNvPr id="6" name="Rounded Rectangle 63"/>
            <p:cNvSpPr/>
            <p:nvPr/>
          </p:nvSpPr>
          <p:spPr>
            <a:xfrm>
              <a:off x="533400" y="2133600"/>
              <a:ext cx="2286000" cy="1905000"/>
            </a:xfrm>
            <a:prstGeom prst="roundRect">
              <a:avLst>
                <a:gd name="adj" fmla="val 11074"/>
              </a:avLst>
            </a:prstGeom>
            <a:solidFill>
              <a:srgbClr val="E3EAF9"/>
            </a:solidFill>
            <a:ln>
              <a:solidFill>
                <a:srgbClr val="4974CB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90"/>
            <p:cNvGrpSpPr/>
            <p:nvPr/>
          </p:nvGrpSpPr>
          <p:grpSpPr>
            <a:xfrm>
              <a:off x="838200" y="3657600"/>
              <a:ext cx="1524000" cy="228600"/>
              <a:chOff x="1828800" y="3733800"/>
              <a:chExt cx="1524000" cy="228600"/>
            </a:xfrm>
          </p:grpSpPr>
          <p:sp>
            <p:nvSpPr>
              <p:cNvPr id="26" name="Rectangle 65"/>
              <p:cNvSpPr/>
              <p:nvPr/>
            </p:nvSpPr>
            <p:spPr>
              <a:xfrm>
                <a:off x="1828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add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66"/>
              <p:cNvSpPr/>
              <p:nvPr/>
            </p:nvSpPr>
            <p:spPr>
              <a:xfrm>
                <a:off x="2209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jmp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67"/>
              <p:cNvSpPr/>
              <p:nvPr/>
            </p:nvSpPr>
            <p:spPr>
              <a:xfrm>
                <a:off x="2590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mov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68"/>
              <p:cNvSpPr/>
              <p:nvPr/>
            </p:nvSpPr>
            <p:spPr>
              <a:xfrm>
                <a:off x="2971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shl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" name="TextBox 69"/>
            <p:cNvSpPr txBox="1"/>
            <p:nvPr/>
          </p:nvSpPr>
          <p:spPr>
            <a:xfrm>
              <a:off x="1436694" y="3429000"/>
              <a:ext cx="32701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b="1" dirty="0"/>
                <a:t>Log</a:t>
              </a:r>
              <a:endParaRPr lang="en-US" sz="1400" b="1" dirty="0"/>
            </a:p>
          </p:txBody>
        </p:sp>
        <p:grpSp>
          <p:nvGrpSpPr>
            <p:cNvPr id="9" name="Group 89"/>
            <p:cNvGrpSpPr/>
            <p:nvPr/>
          </p:nvGrpSpPr>
          <p:grpSpPr>
            <a:xfrm>
              <a:off x="1932167" y="2667000"/>
              <a:ext cx="658633" cy="609600"/>
              <a:chOff x="3075167" y="2286000"/>
              <a:chExt cx="658633" cy="609600"/>
            </a:xfrm>
          </p:grpSpPr>
          <p:sp>
            <p:nvSpPr>
              <p:cNvPr id="16" name="Oval 71"/>
              <p:cNvSpPr/>
              <p:nvPr/>
            </p:nvSpPr>
            <p:spPr>
              <a:xfrm>
                <a:off x="3322154" y="2401625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72"/>
              <p:cNvSpPr/>
              <p:nvPr/>
            </p:nvSpPr>
            <p:spPr>
              <a:xfrm>
                <a:off x="3569142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73"/>
              <p:cNvSpPr/>
              <p:nvPr/>
            </p:nvSpPr>
            <p:spPr>
              <a:xfrm>
                <a:off x="3322154" y="2730942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74"/>
              <p:cNvSpPr/>
              <p:nvPr/>
            </p:nvSpPr>
            <p:spPr>
              <a:xfrm>
                <a:off x="3075167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75"/>
              <p:cNvSpPr/>
              <p:nvPr/>
            </p:nvSpPr>
            <p:spPr>
              <a:xfrm>
                <a:off x="3492394" y="2479551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76"/>
              <p:cNvSpPr/>
              <p:nvPr/>
            </p:nvSpPr>
            <p:spPr>
              <a:xfrm rot="10800000">
                <a:off x="3157496" y="2725143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77"/>
              <p:cNvSpPr/>
              <p:nvPr/>
            </p:nvSpPr>
            <p:spPr>
              <a:xfrm flipH="1">
                <a:off x="3158892" y="248395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78"/>
              <p:cNvSpPr/>
              <p:nvPr/>
            </p:nvSpPr>
            <p:spPr>
              <a:xfrm rot="10800000" flipH="1">
                <a:off x="3488208" y="272514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79"/>
              <p:cNvSpPr/>
              <p:nvPr/>
            </p:nvSpPr>
            <p:spPr>
              <a:xfrm>
                <a:off x="3334455" y="2286000"/>
                <a:ext cx="136991" cy="126788"/>
              </a:xfrm>
              <a:custGeom>
                <a:avLst/>
                <a:gdLst>
                  <a:gd name="connsiteX0" fmla="*/ 0 w 185980"/>
                  <a:gd name="connsiteY0" fmla="*/ 0 h 6711"/>
                  <a:gd name="connsiteX1" fmla="*/ 185980 w 185980"/>
                  <a:gd name="connsiteY1" fmla="*/ 0 h 6711"/>
                  <a:gd name="connsiteX0-1" fmla="*/ 2160 w 12160"/>
                  <a:gd name="connsiteY0-2" fmla="*/ 223289 h 223707"/>
                  <a:gd name="connsiteX1-3" fmla="*/ 12160 w 12160"/>
                  <a:gd name="connsiteY1-4" fmla="*/ 223289 h 223707"/>
                  <a:gd name="connsiteX0-5" fmla="*/ 1366 w 13800"/>
                  <a:gd name="connsiteY0-6" fmla="*/ 342290 h 342290"/>
                  <a:gd name="connsiteX1-7" fmla="*/ 11366 w 13800"/>
                  <a:gd name="connsiteY1-8" fmla="*/ 342290 h 342290"/>
                  <a:gd name="connsiteX0-9" fmla="*/ 1989 w 14293"/>
                  <a:gd name="connsiteY0-10" fmla="*/ 324153 h 324153"/>
                  <a:gd name="connsiteX1-11" fmla="*/ 11989 w 14293"/>
                  <a:gd name="connsiteY1-12" fmla="*/ 324153 h 324153"/>
                  <a:gd name="connsiteX0-13" fmla="*/ 2255 w 14511"/>
                  <a:gd name="connsiteY0-14" fmla="*/ 370090 h 370090"/>
                  <a:gd name="connsiteX1-15" fmla="*/ 12255 w 14511"/>
                  <a:gd name="connsiteY1-16" fmla="*/ 370090 h 370090"/>
                  <a:gd name="connsiteX0-17" fmla="*/ 2329 w 14189"/>
                  <a:gd name="connsiteY0-18" fmla="*/ 440603 h 440603"/>
                  <a:gd name="connsiteX1-19" fmla="*/ 12329 w 14189"/>
                  <a:gd name="connsiteY1-20" fmla="*/ 440603 h 440603"/>
                  <a:gd name="connsiteX0-21" fmla="*/ 2751 w 14550"/>
                  <a:gd name="connsiteY0-22" fmla="*/ 444918 h 444918"/>
                  <a:gd name="connsiteX1-23" fmla="*/ 12751 w 14550"/>
                  <a:gd name="connsiteY1-24" fmla="*/ 444918 h 444918"/>
                  <a:gd name="connsiteX0-25" fmla="*/ 2670 w 14857"/>
                  <a:gd name="connsiteY0-26" fmla="*/ 449265 h 449265"/>
                  <a:gd name="connsiteX1-27" fmla="*/ 12670 w 14857"/>
                  <a:gd name="connsiteY1-28" fmla="*/ 449265 h 449265"/>
                  <a:gd name="connsiteX0-29" fmla="*/ 2810 w 14974"/>
                  <a:gd name="connsiteY0-30" fmla="*/ 403354 h 403354"/>
                  <a:gd name="connsiteX1-31" fmla="*/ 12810 w 14974"/>
                  <a:gd name="connsiteY1-32" fmla="*/ 403354 h 403354"/>
                  <a:gd name="connsiteX0-33" fmla="*/ 2954 w 14489"/>
                  <a:gd name="connsiteY0-34" fmla="*/ 354005 h 354005"/>
                  <a:gd name="connsiteX1-35" fmla="*/ 12954 w 14489"/>
                  <a:gd name="connsiteY1-36" fmla="*/ 354005 h 354005"/>
                  <a:gd name="connsiteX0-37" fmla="*/ 1970 w 13635"/>
                  <a:gd name="connsiteY0-38" fmla="*/ 349722 h 349722"/>
                  <a:gd name="connsiteX1-39" fmla="*/ 11970 w 13635"/>
                  <a:gd name="connsiteY1-40" fmla="*/ 349722 h 3497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3635" h="349722">
                    <a:moveTo>
                      <a:pt x="1970" y="349722"/>
                    </a:moveTo>
                    <a:cubicBezTo>
                      <a:pt x="-7474" y="-103494"/>
                      <a:pt x="20582" y="-129473"/>
                      <a:pt x="11970" y="349722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80"/>
              <p:cNvCxnSpPr>
                <a:stCxn id="18" idx="0"/>
                <a:endCxn id="16" idx="4"/>
              </p:cNvCxnSpPr>
              <p:nvPr/>
            </p:nvCxnSpPr>
            <p:spPr>
              <a:xfrm flipV="1">
                <a:off x="3404484" y="2566284"/>
                <a:ext cx="0" cy="164658"/>
              </a:xfrm>
              <a:prstGeom prst="line">
                <a:avLst/>
              </a:pr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10" name="Group 88"/>
            <p:cNvGrpSpPr/>
            <p:nvPr/>
          </p:nvGrpSpPr>
          <p:grpSpPr>
            <a:xfrm>
              <a:off x="901728" y="2667000"/>
              <a:ext cx="531549" cy="533400"/>
              <a:chOff x="2057400" y="2438400"/>
              <a:chExt cx="379678" cy="381000"/>
            </a:xfrm>
          </p:grpSpPr>
          <p:sp>
            <p:nvSpPr>
              <p:cNvPr id="13" name="AutoShape 568"/>
              <p:cNvSpPr>
                <a:spLocks noChangeArrowheads="1"/>
              </p:cNvSpPr>
              <p:nvPr/>
            </p:nvSpPr>
            <p:spPr bwMode="auto">
              <a:xfrm>
                <a:off x="2057400" y="2438400"/>
                <a:ext cx="379678" cy="379204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utoShape 569"/>
              <p:cNvSpPr>
                <a:spLocks noChangeArrowheads="1"/>
              </p:cNvSpPr>
              <p:nvPr/>
            </p:nvSpPr>
            <p:spPr bwMode="auto">
              <a:xfrm rot="7281778">
                <a:off x="2057637" y="2439959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570"/>
              <p:cNvSpPr>
                <a:spLocks noChangeArrowheads="1"/>
              </p:cNvSpPr>
              <p:nvPr/>
            </p:nvSpPr>
            <p:spPr bwMode="auto">
              <a:xfrm rot="14395787">
                <a:off x="2057637" y="2438163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" name="TextBox 86"/>
            <p:cNvSpPr txBox="1"/>
            <p:nvPr/>
          </p:nvSpPr>
          <p:spPr>
            <a:xfrm>
              <a:off x="685800" y="2209800"/>
              <a:ext cx="963405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Consensus</a:t>
              </a:r>
              <a:br>
                <a:rPr lang="en-US" sz="1400" b="1" dirty="0"/>
              </a:br>
              <a:r>
                <a:rPr lang="en-US" sz="1400" b="1" dirty="0"/>
                <a:t>Module</a:t>
              </a:r>
              <a:endParaRPr lang="en-US" sz="1400" b="1" dirty="0"/>
            </a:p>
          </p:txBody>
        </p:sp>
        <p:sp>
          <p:nvSpPr>
            <p:cNvPr id="12" name="TextBox 62"/>
            <p:cNvSpPr txBox="1"/>
            <p:nvPr/>
          </p:nvSpPr>
          <p:spPr>
            <a:xfrm>
              <a:off x="1905000" y="2209800"/>
              <a:ext cx="714939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State</a:t>
              </a:r>
              <a:br>
                <a:rPr lang="en-US" sz="1400" b="1" dirty="0"/>
              </a:br>
              <a:r>
                <a:rPr lang="en-US" sz="1400" b="1" dirty="0"/>
                <a:t>Machine</a:t>
              </a:r>
              <a:endParaRPr lang="en-US" sz="1400" b="1" dirty="0"/>
            </a:p>
          </p:txBody>
        </p:sp>
      </p:grpSp>
      <p:grpSp>
        <p:nvGrpSpPr>
          <p:cNvPr id="30" name="Group 194"/>
          <p:cNvGrpSpPr/>
          <p:nvPr/>
        </p:nvGrpSpPr>
        <p:grpSpPr>
          <a:xfrm>
            <a:off x="2971800" y="2133600"/>
            <a:ext cx="2286000" cy="1905000"/>
            <a:chOff x="533400" y="2133600"/>
            <a:chExt cx="2286000" cy="1905000"/>
          </a:xfrm>
        </p:grpSpPr>
        <p:sp>
          <p:nvSpPr>
            <p:cNvPr id="31" name="Rounded Rectangle 195"/>
            <p:cNvSpPr/>
            <p:nvPr/>
          </p:nvSpPr>
          <p:spPr>
            <a:xfrm>
              <a:off x="533400" y="2133600"/>
              <a:ext cx="2286000" cy="1905000"/>
            </a:xfrm>
            <a:prstGeom prst="roundRect">
              <a:avLst>
                <a:gd name="adj" fmla="val 11074"/>
              </a:avLst>
            </a:prstGeom>
            <a:solidFill>
              <a:srgbClr val="E3EAF9"/>
            </a:solidFill>
            <a:ln>
              <a:solidFill>
                <a:srgbClr val="4974CB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196"/>
            <p:cNvGrpSpPr/>
            <p:nvPr/>
          </p:nvGrpSpPr>
          <p:grpSpPr>
            <a:xfrm>
              <a:off x="838200" y="3657600"/>
              <a:ext cx="1524000" cy="228600"/>
              <a:chOff x="1828800" y="3733800"/>
              <a:chExt cx="1524000" cy="228600"/>
            </a:xfrm>
          </p:grpSpPr>
          <p:sp>
            <p:nvSpPr>
              <p:cNvPr id="51" name="Rectangle 215"/>
              <p:cNvSpPr/>
              <p:nvPr/>
            </p:nvSpPr>
            <p:spPr>
              <a:xfrm>
                <a:off x="1828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add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216"/>
              <p:cNvSpPr/>
              <p:nvPr/>
            </p:nvSpPr>
            <p:spPr>
              <a:xfrm>
                <a:off x="2209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jmp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3" name="Rectangle 217"/>
              <p:cNvSpPr/>
              <p:nvPr/>
            </p:nvSpPr>
            <p:spPr>
              <a:xfrm>
                <a:off x="2590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mov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218"/>
              <p:cNvSpPr/>
              <p:nvPr/>
            </p:nvSpPr>
            <p:spPr>
              <a:xfrm>
                <a:off x="2971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shl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TextBox 197"/>
            <p:cNvSpPr txBox="1"/>
            <p:nvPr/>
          </p:nvSpPr>
          <p:spPr>
            <a:xfrm>
              <a:off x="1436694" y="3429000"/>
              <a:ext cx="32701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b="1" dirty="0"/>
                <a:t>Log</a:t>
              </a:r>
              <a:endParaRPr lang="en-US" sz="1400" b="1" dirty="0"/>
            </a:p>
          </p:txBody>
        </p:sp>
        <p:grpSp>
          <p:nvGrpSpPr>
            <p:cNvPr id="34" name="Group 198"/>
            <p:cNvGrpSpPr/>
            <p:nvPr/>
          </p:nvGrpSpPr>
          <p:grpSpPr>
            <a:xfrm>
              <a:off x="1932167" y="2667000"/>
              <a:ext cx="658633" cy="609600"/>
              <a:chOff x="3075167" y="2286000"/>
              <a:chExt cx="658633" cy="609600"/>
            </a:xfrm>
          </p:grpSpPr>
          <p:sp>
            <p:nvSpPr>
              <p:cNvPr id="41" name="Oval 205"/>
              <p:cNvSpPr/>
              <p:nvPr/>
            </p:nvSpPr>
            <p:spPr>
              <a:xfrm>
                <a:off x="3322154" y="2401625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206"/>
              <p:cNvSpPr/>
              <p:nvPr/>
            </p:nvSpPr>
            <p:spPr>
              <a:xfrm>
                <a:off x="3569142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207"/>
              <p:cNvSpPr/>
              <p:nvPr/>
            </p:nvSpPr>
            <p:spPr>
              <a:xfrm>
                <a:off x="3322154" y="2730942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208"/>
              <p:cNvSpPr/>
              <p:nvPr/>
            </p:nvSpPr>
            <p:spPr>
              <a:xfrm>
                <a:off x="3075167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209"/>
              <p:cNvSpPr/>
              <p:nvPr/>
            </p:nvSpPr>
            <p:spPr>
              <a:xfrm>
                <a:off x="3492394" y="2479551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210"/>
              <p:cNvSpPr/>
              <p:nvPr/>
            </p:nvSpPr>
            <p:spPr>
              <a:xfrm rot="10800000">
                <a:off x="3157496" y="2725143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211"/>
              <p:cNvSpPr/>
              <p:nvPr/>
            </p:nvSpPr>
            <p:spPr>
              <a:xfrm flipH="1">
                <a:off x="3158892" y="248395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212"/>
              <p:cNvSpPr/>
              <p:nvPr/>
            </p:nvSpPr>
            <p:spPr>
              <a:xfrm rot="10800000" flipH="1">
                <a:off x="3488208" y="272514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213"/>
              <p:cNvSpPr/>
              <p:nvPr/>
            </p:nvSpPr>
            <p:spPr>
              <a:xfrm>
                <a:off x="3334455" y="2286000"/>
                <a:ext cx="136991" cy="126788"/>
              </a:xfrm>
              <a:custGeom>
                <a:avLst/>
                <a:gdLst>
                  <a:gd name="connsiteX0" fmla="*/ 0 w 185980"/>
                  <a:gd name="connsiteY0" fmla="*/ 0 h 6711"/>
                  <a:gd name="connsiteX1" fmla="*/ 185980 w 185980"/>
                  <a:gd name="connsiteY1" fmla="*/ 0 h 6711"/>
                  <a:gd name="connsiteX0-1" fmla="*/ 2160 w 12160"/>
                  <a:gd name="connsiteY0-2" fmla="*/ 223289 h 223707"/>
                  <a:gd name="connsiteX1-3" fmla="*/ 12160 w 12160"/>
                  <a:gd name="connsiteY1-4" fmla="*/ 223289 h 223707"/>
                  <a:gd name="connsiteX0-5" fmla="*/ 1366 w 13800"/>
                  <a:gd name="connsiteY0-6" fmla="*/ 342290 h 342290"/>
                  <a:gd name="connsiteX1-7" fmla="*/ 11366 w 13800"/>
                  <a:gd name="connsiteY1-8" fmla="*/ 342290 h 342290"/>
                  <a:gd name="connsiteX0-9" fmla="*/ 1989 w 14293"/>
                  <a:gd name="connsiteY0-10" fmla="*/ 324153 h 324153"/>
                  <a:gd name="connsiteX1-11" fmla="*/ 11989 w 14293"/>
                  <a:gd name="connsiteY1-12" fmla="*/ 324153 h 324153"/>
                  <a:gd name="connsiteX0-13" fmla="*/ 2255 w 14511"/>
                  <a:gd name="connsiteY0-14" fmla="*/ 370090 h 370090"/>
                  <a:gd name="connsiteX1-15" fmla="*/ 12255 w 14511"/>
                  <a:gd name="connsiteY1-16" fmla="*/ 370090 h 370090"/>
                  <a:gd name="connsiteX0-17" fmla="*/ 2329 w 14189"/>
                  <a:gd name="connsiteY0-18" fmla="*/ 440603 h 440603"/>
                  <a:gd name="connsiteX1-19" fmla="*/ 12329 w 14189"/>
                  <a:gd name="connsiteY1-20" fmla="*/ 440603 h 440603"/>
                  <a:gd name="connsiteX0-21" fmla="*/ 2751 w 14550"/>
                  <a:gd name="connsiteY0-22" fmla="*/ 444918 h 444918"/>
                  <a:gd name="connsiteX1-23" fmla="*/ 12751 w 14550"/>
                  <a:gd name="connsiteY1-24" fmla="*/ 444918 h 444918"/>
                  <a:gd name="connsiteX0-25" fmla="*/ 2670 w 14857"/>
                  <a:gd name="connsiteY0-26" fmla="*/ 449265 h 449265"/>
                  <a:gd name="connsiteX1-27" fmla="*/ 12670 w 14857"/>
                  <a:gd name="connsiteY1-28" fmla="*/ 449265 h 449265"/>
                  <a:gd name="connsiteX0-29" fmla="*/ 2810 w 14974"/>
                  <a:gd name="connsiteY0-30" fmla="*/ 403354 h 403354"/>
                  <a:gd name="connsiteX1-31" fmla="*/ 12810 w 14974"/>
                  <a:gd name="connsiteY1-32" fmla="*/ 403354 h 403354"/>
                  <a:gd name="connsiteX0-33" fmla="*/ 2954 w 14489"/>
                  <a:gd name="connsiteY0-34" fmla="*/ 354005 h 354005"/>
                  <a:gd name="connsiteX1-35" fmla="*/ 12954 w 14489"/>
                  <a:gd name="connsiteY1-36" fmla="*/ 354005 h 354005"/>
                  <a:gd name="connsiteX0-37" fmla="*/ 1970 w 13635"/>
                  <a:gd name="connsiteY0-38" fmla="*/ 349722 h 349722"/>
                  <a:gd name="connsiteX1-39" fmla="*/ 11970 w 13635"/>
                  <a:gd name="connsiteY1-40" fmla="*/ 349722 h 3497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3635" h="349722">
                    <a:moveTo>
                      <a:pt x="1970" y="349722"/>
                    </a:moveTo>
                    <a:cubicBezTo>
                      <a:pt x="-7474" y="-103494"/>
                      <a:pt x="20582" y="-129473"/>
                      <a:pt x="11970" y="349722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214"/>
              <p:cNvCxnSpPr>
                <a:stCxn id="43" idx="0"/>
                <a:endCxn id="41" idx="4"/>
              </p:cNvCxnSpPr>
              <p:nvPr/>
            </p:nvCxnSpPr>
            <p:spPr>
              <a:xfrm flipV="1">
                <a:off x="3404484" y="2566284"/>
                <a:ext cx="0" cy="164658"/>
              </a:xfrm>
              <a:prstGeom prst="line">
                <a:avLst/>
              </a:pr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35" name="Group 199"/>
            <p:cNvGrpSpPr/>
            <p:nvPr/>
          </p:nvGrpSpPr>
          <p:grpSpPr>
            <a:xfrm>
              <a:off x="901728" y="2667000"/>
              <a:ext cx="531549" cy="533400"/>
              <a:chOff x="2057400" y="2438400"/>
              <a:chExt cx="379678" cy="381000"/>
            </a:xfrm>
          </p:grpSpPr>
          <p:sp>
            <p:nvSpPr>
              <p:cNvPr id="38" name="AutoShape 568"/>
              <p:cNvSpPr>
                <a:spLocks noChangeArrowheads="1"/>
              </p:cNvSpPr>
              <p:nvPr/>
            </p:nvSpPr>
            <p:spPr bwMode="auto">
              <a:xfrm>
                <a:off x="2057400" y="2438400"/>
                <a:ext cx="379678" cy="379204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utoShape 569"/>
              <p:cNvSpPr>
                <a:spLocks noChangeArrowheads="1"/>
              </p:cNvSpPr>
              <p:nvPr/>
            </p:nvSpPr>
            <p:spPr bwMode="auto">
              <a:xfrm rot="7281778">
                <a:off x="2057637" y="2439959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AutoShape 570"/>
              <p:cNvSpPr>
                <a:spLocks noChangeArrowheads="1"/>
              </p:cNvSpPr>
              <p:nvPr/>
            </p:nvSpPr>
            <p:spPr bwMode="auto">
              <a:xfrm rot="14395787">
                <a:off x="2057637" y="2438163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Box 200"/>
            <p:cNvSpPr txBox="1"/>
            <p:nvPr/>
          </p:nvSpPr>
          <p:spPr>
            <a:xfrm>
              <a:off x="685800" y="2209800"/>
              <a:ext cx="963405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Consensus</a:t>
              </a:r>
              <a:br>
                <a:rPr lang="en-US" sz="1400" b="1" dirty="0"/>
              </a:br>
              <a:r>
                <a:rPr lang="en-US" sz="1400" b="1" dirty="0"/>
                <a:t>Module</a:t>
              </a:r>
              <a:endParaRPr lang="en-US" sz="1400" b="1" dirty="0"/>
            </a:p>
          </p:txBody>
        </p:sp>
        <p:sp>
          <p:nvSpPr>
            <p:cNvPr id="37" name="TextBox 201"/>
            <p:cNvSpPr txBox="1"/>
            <p:nvPr/>
          </p:nvSpPr>
          <p:spPr>
            <a:xfrm>
              <a:off x="1905000" y="2209800"/>
              <a:ext cx="714939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State</a:t>
              </a:r>
              <a:br>
                <a:rPr lang="en-US" sz="1400" b="1" dirty="0"/>
              </a:br>
              <a:r>
                <a:rPr lang="en-US" sz="1400" b="1" dirty="0"/>
                <a:t>Machine</a:t>
              </a:r>
              <a:endParaRPr lang="en-US" sz="1400" b="1" dirty="0"/>
            </a:p>
          </p:txBody>
        </p:sp>
      </p:grpSp>
      <p:grpSp>
        <p:nvGrpSpPr>
          <p:cNvPr id="55" name="Group 219"/>
          <p:cNvGrpSpPr/>
          <p:nvPr/>
        </p:nvGrpSpPr>
        <p:grpSpPr>
          <a:xfrm>
            <a:off x="5410200" y="2133600"/>
            <a:ext cx="2286000" cy="1905000"/>
            <a:chOff x="533400" y="2133600"/>
            <a:chExt cx="2286000" cy="1905000"/>
          </a:xfrm>
        </p:grpSpPr>
        <p:sp>
          <p:nvSpPr>
            <p:cNvPr id="56" name="Rounded Rectangle 220"/>
            <p:cNvSpPr/>
            <p:nvPr/>
          </p:nvSpPr>
          <p:spPr>
            <a:xfrm>
              <a:off x="533400" y="2133600"/>
              <a:ext cx="2286000" cy="1905000"/>
            </a:xfrm>
            <a:prstGeom prst="roundRect">
              <a:avLst>
                <a:gd name="adj" fmla="val 11074"/>
              </a:avLst>
            </a:prstGeom>
            <a:solidFill>
              <a:srgbClr val="E3EAF9"/>
            </a:solidFill>
            <a:ln>
              <a:solidFill>
                <a:srgbClr val="4974CB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221"/>
            <p:cNvGrpSpPr/>
            <p:nvPr/>
          </p:nvGrpSpPr>
          <p:grpSpPr>
            <a:xfrm>
              <a:off x="838200" y="3657600"/>
              <a:ext cx="1524000" cy="228600"/>
              <a:chOff x="1828800" y="3733800"/>
              <a:chExt cx="1524000" cy="228600"/>
            </a:xfrm>
          </p:grpSpPr>
          <p:sp>
            <p:nvSpPr>
              <p:cNvPr id="76" name="Rectangle 240"/>
              <p:cNvSpPr/>
              <p:nvPr/>
            </p:nvSpPr>
            <p:spPr>
              <a:xfrm>
                <a:off x="1828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add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241"/>
              <p:cNvSpPr/>
              <p:nvPr/>
            </p:nvSpPr>
            <p:spPr>
              <a:xfrm>
                <a:off x="2209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jmp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8" name="Rectangle 242"/>
              <p:cNvSpPr/>
              <p:nvPr/>
            </p:nvSpPr>
            <p:spPr>
              <a:xfrm>
                <a:off x="2590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mov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9" name="Rectangle 243"/>
              <p:cNvSpPr/>
              <p:nvPr/>
            </p:nvSpPr>
            <p:spPr>
              <a:xfrm>
                <a:off x="2971800" y="3733800"/>
                <a:ext cx="381000" cy="228600"/>
              </a:xfrm>
              <a:prstGeom prst="rect">
                <a:avLst/>
              </a:prstGeom>
              <a:solidFill>
                <a:srgbClr val="EDFFED"/>
              </a:solidFill>
              <a:ln w="12700" algn="ctr">
                <a:solidFill>
                  <a:srgbClr val="43A34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400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shl</a:t>
                </a:r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8" name="TextBox 222"/>
            <p:cNvSpPr txBox="1"/>
            <p:nvPr/>
          </p:nvSpPr>
          <p:spPr>
            <a:xfrm>
              <a:off x="1436694" y="3429000"/>
              <a:ext cx="32701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b="1" dirty="0"/>
                <a:t>Log</a:t>
              </a:r>
              <a:endParaRPr lang="en-US" sz="1400" b="1" dirty="0"/>
            </a:p>
          </p:txBody>
        </p:sp>
        <p:grpSp>
          <p:nvGrpSpPr>
            <p:cNvPr id="59" name="Group 223"/>
            <p:cNvGrpSpPr/>
            <p:nvPr/>
          </p:nvGrpSpPr>
          <p:grpSpPr>
            <a:xfrm>
              <a:off x="1932167" y="2667000"/>
              <a:ext cx="658633" cy="609600"/>
              <a:chOff x="3075167" y="2286000"/>
              <a:chExt cx="658633" cy="609600"/>
            </a:xfrm>
          </p:grpSpPr>
          <p:sp>
            <p:nvSpPr>
              <p:cNvPr id="66" name="Oval 230"/>
              <p:cNvSpPr/>
              <p:nvPr/>
            </p:nvSpPr>
            <p:spPr>
              <a:xfrm>
                <a:off x="3322154" y="2401625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231"/>
              <p:cNvSpPr/>
              <p:nvPr/>
            </p:nvSpPr>
            <p:spPr>
              <a:xfrm>
                <a:off x="3569142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232"/>
              <p:cNvSpPr/>
              <p:nvPr/>
            </p:nvSpPr>
            <p:spPr>
              <a:xfrm>
                <a:off x="3322154" y="2730942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233"/>
              <p:cNvSpPr/>
              <p:nvPr/>
            </p:nvSpPr>
            <p:spPr>
              <a:xfrm>
                <a:off x="3075167" y="2566284"/>
                <a:ext cx="164658" cy="164658"/>
              </a:xfrm>
              <a:prstGeom prst="ellipse">
                <a:avLst/>
              </a:prstGeom>
              <a:solidFill>
                <a:srgbClr val="F3DCC4"/>
              </a:solidFill>
              <a:ln w="19050">
                <a:solidFill>
                  <a:srgbClr val="B26B2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234"/>
              <p:cNvSpPr/>
              <p:nvPr/>
            </p:nvSpPr>
            <p:spPr>
              <a:xfrm>
                <a:off x="3492394" y="2479551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235"/>
              <p:cNvSpPr/>
              <p:nvPr/>
            </p:nvSpPr>
            <p:spPr>
              <a:xfrm rot="10800000">
                <a:off x="3157496" y="2725143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236"/>
              <p:cNvSpPr/>
              <p:nvPr/>
            </p:nvSpPr>
            <p:spPr>
              <a:xfrm flipH="1">
                <a:off x="3158892" y="248395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237"/>
              <p:cNvSpPr/>
              <p:nvPr/>
            </p:nvSpPr>
            <p:spPr>
              <a:xfrm rot="10800000" flipH="1">
                <a:off x="3488208" y="2725144"/>
                <a:ext cx="163263" cy="88127"/>
              </a:xfrm>
              <a:custGeom>
                <a:avLst/>
                <a:gdLst>
                  <a:gd name="connsiteX0" fmla="*/ 0 w 302217"/>
                  <a:gd name="connsiteY0" fmla="*/ 0 h 162791"/>
                  <a:gd name="connsiteX1" fmla="*/ 302217 w 302217"/>
                  <a:gd name="connsiteY1" fmla="*/ 162732 h 162791"/>
                  <a:gd name="connsiteX0-1" fmla="*/ 0 w 302217"/>
                  <a:gd name="connsiteY0-2" fmla="*/ 23898 h 186630"/>
                  <a:gd name="connsiteX1-3" fmla="*/ 302217 w 302217"/>
                  <a:gd name="connsiteY1-4" fmla="*/ 186630 h 186630"/>
                  <a:gd name="connsiteX0-5" fmla="*/ 0 w 321571"/>
                  <a:gd name="connsiteY0-6" fmla="*/ 44231 h 206963"/>
                  <a:gd name="connsiteX1-7" fmla="*/ 302217 w 321571"/>
                  <a:gd name="connsiteY1-8" fmla="*/ 206963 h 206963"/>
                  <a:gd name="connsiteX0-9" fmla="*/ 0 w 321571"/>
                  <a:gd name="connsiteY0-10" fmla="*/ 0 h 162732"/>
                  <a:gd name="connsiteX1-11" fmla="*/ 302217 w 321571"/>
                  <a:gd name="connsiteY1-12" fmla="*/ 162732 h 162732"/>
                  <a:gd name="connsiteX0-13" fmla="*/ 0 w 302217"/>
                  <a:gd name="connsiteY0-14" fmla="*/ 2667 h 165399"/>
                  <a:gd name="connsiteX1-15" fmla="*/ 302217 w 302217"/>
                  <a:gd name="connsiteY1-16" fmla="*/ 165399 h 165399"/>
                  <a:gd name="connsiteX0-17" fmla="*/ 0 w 302217"/>
                  <a:gd name="connsiteY0-18" fmla="*/ 0 h 162732"/>
                  <a:gd name="connsiteX1-19" fmla="*/ 302217 w 302217"/>
                  <a:gd name="connsiteY1-20" fmla="*/ 162732 h 162732"/>
                  <a:gd name="connsiteX0-21" fmla="*/ 0 w 302217"/>
                  <a:gd name="connsiteY0-22" fmla="*/ 401 h 163133"/>
                  <a:gd name="connsiteX1-23" fmla="*/ 302217 w 302217"/>
                  <a:gd name="connsiteY1-24" fmla="*/ 163133 h 1631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302217" h="163133">
                    <a:moveTo>
                      <a:pt x="0" y="401"/>
                    </a:moveTo>
                    <a:cubicBezTo>
                      <a:pt x="190500" y="-2182"/>
                      <a:pt x="295760" y="2984"/>
                      <a:pt x="302217" y="163133"/>
                    </a:cubicBezTo>
                  </a:path>
                </a:pathLst>
              </a:custGeom>
              <a:noFill/>
              <a:ln w="19050">
                <a:headEnd type="triangle" w="sm" len="med"/>
                <a:tailEnd type="non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238"/>
              <p:cNvSpPr/>
              <p:nvPr/>
            </p:nvSpPr>
            <p:spPr>
              <a:xfrm>
                <a:off x="3334455" y="2286000"/>
                <a:ext cx="136991" cy="126788"/>
              </a:xfrm>
              <a:custGeom>
                <a:avLst/>
                <a:gdLst>
                  <a:gd name="connsiteX0" fmla="*/ 0 w 185980"/>
                  <a:gd name="connsiteY0" fmla="*/ 0 h 6711"/>
                  <a:gd name="connsiteX1" fmla="*/ 185980 w 185980"/>
                  <a:gd name="connsiteY1" fmla="*/ 0 h 6711"/>
                  <a:gd name="connsiteX0-1" fmla="*/ 2160 w 12160"/>
                  <a:gd name="connsiteY0-2" fmla="*/ 223289 h 223707"/>
                  <a:gd name="connsiteX1-3" fmla="*/ 12160 w 12160"/>
                  <a:gd name="connsiteY1-4" fmla="*/ 223289 h 223707"/>
                  <a:gd name="connsiteX0-5" fmla="*/ 1366 w 13800"/>
                  <a:gd name="connsiteY0-6" fmla="*/ 342290 h 342290"/>
                  <a:gd name="connsiteX1-7" fmla="*/ 11366 w 13800"/>
                  <a:gd name="connsiteY1-8" fmla="*/ 342290 h 342290"/>
                  <a:gd name="connsiteX0-9" fmla="*/ 1989 w 14293"/>
                  <a:gd name="connsiteY0-10" fmla="*/ 324153 h 324153"/>
                  <a:gd name="connsiteX1-11" fmla="*/ 11989 w 14293"/>
                  <a:gd name="connsiteY1-12" fmla="*/ 324153 h 324153"/>
                  <a:gd name="connsiteX0-13" fmla="*/ 2255 w 14511"/>
                  <a:gd name="connsiteY0-14" fmla="*/ 370090 h 370090"/>
                  <a:gd name="connsiteX1-15" fmla="*/ 12255 w 14511"/>
                  <a:gd name="connsiteY1-16" fmla="*/ 370090 h 370090"/>
                  <a:gd name="connsiteX0-17" fmla="*/ 2329 w 14189"/>
                  <a:gd name="connsiteY0-18" fmla="*/ 440603 h 440603"/>
                  <a:gd name="connsiteX1-19" fmla="*/ 12329 w 14189"/>
                  <a:gd name="connsiteY1-20" fmla="*/ 440603 h 440603"/>
                  <a:gd name="connsiteX0-21" fmla="*/ 2751 w 14550"/>
                  <a:gd name="connsiteY0-22" fmla="*/ 444918 h 444918"/>
                  <a:gd name="connsiteX1-23" fmla="*/ 12751 w 14550"/>
                  <a:gd name="connsiteY1-24" fmla="*/ 444918 h 444918"/>
                  <a:gd name="connsiteX0-25" fmla="*/ 2670 w 14857"/>
                  <a:gd name="connsiteY0-26" fmla="*/ 449265 h 449265"/>
                  <a:gd name="connsiteX1-27" fmla="*/ 12670 w 14857"/>
                  <a:gd name="connsiteY1-28" fmla="*/ 449265 h 449265"/>
                  <a:gd name="connsiteX0-29" fmla="*/ 2810 w 14974"/>
                  <a:gd name="connsiteY0-30" fmla="*/ 403354 h 403354"/>
                  <a:gd name="connsiteX1-31" fmla="*/ 12810 w 14974"/>
                  <a:gd name="connsiteY1-32" fmla="*/ 403354 h 403354"/>
                  <a:gd name="connsiteX0-33" fmla="*/ 2954 w 14489"/>
                  <a:gd name="connsiteY0-34" fmla="*/ 354005 h 354005"/>
                  <a:gd name="connsiteX1-35" fmla="*/ 12954 w 14489"/>
                  <a:gd name="connsiteY1-36" fmla="*/ 354005 h 354005"/>
                  <a:gd name="connsiteX0-37" fmla="*/ 1970 w 13635"/>
                  <a:gd name="connsiteY0-38" fmla="*/ 349722 h 349722"/>
                  <a:gd name="connsiteX1-39" fmla="*/ 11970 w 13635"/>
                  <a:gd name="connsiteY1-40" fmla="*/ 349722 h 3497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3635" h="349722">
                    <a:moveTo>
                      <a:pt x="1970" y="349722"/>
                    </a:moveTo>
                    <a:cubicBezTo>
                      <a:pt x="-7474" y="-103494"/>
                      <a:pt x="20582" y="-129473"/>
                      <a:pt x="11970" y="349722"/>
                    </a:cubicBezTo>
                  </a:path>
                </a:pathLst>
              </a:cu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239"/>
              <p:cNvCxnSpPr>
                <a:stCxn id="68" idx="0"/>
                <a:endCxn id="66" idx="4"/>
              </p:cNvCxnSpPr>
              <p:nvPr/>
            </p:nvCxnSpPr>
            <p:spPr>
              <a:xfrm flipV="1">
                <a:off x="3404484" y="2566284"/>
                <a:ext cx="0" cy="164658"/>
              </a:xfrm>
              <a:prstGeom prst="line">
                <a:avLst/>
              </a:prstGeom>
              <a:noFill/>
              <a:ln w="19050">
                <a:tailEnd type="triangle" w="sm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60" name="Group 224"/>
            <p:cNvGrpSpPr/>
            <p:nvPr/>
          </p:nvGrpSpPr>
          <p:grpSpPr>
            <a:xfrm>
              <a:off x="901728" y="2667000"/>
              <a:ext cx="531549" cy="533400"/>
              <a:chOff x="2057400" y="2438400"/>
              <a:chExt cx="379678" cy="381000"/>
            </a:xfrm>
          </p:grpSpPr>
          <p:sp>
            <p:nvSpPr>
              <p:cNvPr id="63" name="AutoShape 568"/>
              <p:cNvSpPr>
                <a:spLocks noChangeArrowheads="1"/>
              </p:cNvSpPr>
              <p:nvPr/>
            </p:nvSpPr>
            <p:spPr bwMode="auto">
              <a:xfrm>
                <a:off x="2057400" y="2438400"/>
                <a:ext cx="379678" cy="379204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AutoShape 569"/>
              <p:cNvSpPr>
                <a:spLocks noChangeArrowheads="1"/>
              </p:cNvSpPr>
              <p:nvPr/>
            </p:nvSpPr>
            <p:spPr bwMode="auto">
              <a:xfrm rot="7281778">
                <a:off x="2057637" y="2439959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AutoShape 570"/>
              <p:cNvSpPr>
                <a:spLocks noChangeArrowheads="1"/>
              </p:cNvSpPr>
              <p:nvPr/>
            </p:nvSpPr>
            <p:spPr bwMode="auto">
              <a:xfrm rot="14395787">
                <a:off x="2057637" y="2438163"/>
                <a:ext cx="379204" cy="379678"/>
              </a:xfrm>
              <a:custGeom>
                <a:avLst/>
                <a:gdLst>
                  <a:gd name="T0" fmla="*/ 101 w 21600"/>
                  <a:gd name="T1" fmla="*/ 217 h 21600"/>
                  <a:gd name="T2" fmla="*/ 134 w 21600"/>
                  <a:gd name="T3" fmla="*/ 528 h 21600"/>
                  <a:gd name="T4" fmla="*/ 317 w 21600"/>
                  <a:gd name="T5" fmla="*/ 375 h 21600"/>
                  <a:gd name="T6" fmla="*/ 325 w 21600"/>
                  <a:gd name="T7" fmla="*/ -100 h 21600"/>
                  <a:gd name="T8" fmla="*/ 660 w 21600"/>
                  <a:gd name="T9" fmla="*/ 71 h 21600"/>
                  <a:gd name="T10" fmla="*/ 488 w 21600"/>
                  <a:gd name="T11" fmla="*/ 406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70 w 21600"/>
                  <a:gd name="T19" fmla="*/ 3170 h 21600"/>
                  <a:gd name="T20" fmla="*/ 18430 w 21600"/>
                  <a:gd name="T21" fmla="*/ 1843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9164" y="5727"/>
                    </a:moveTo>
                    <a:cubicBezTo>
                      <a:pt x="6962" y="6437"/>
                      <a:pt x="5470" y="8486"/>
                      <a:pt x="5470" y="10799"/>
                    </a:cubicBezTo>
                    <a:lnTo>
                      <a:pt x="0" y="10800"/>
                    </a:lnTo>
                    <a:cubicBezTo>
                      <a:pt x="0" y="6112"/>
                      <a:pt x="3023" y="1960"/>
                      <a:pt x="7485" y="521"/>
                    </a:cubicBezTo>
                    <a:lnTo>
                      <a:pt x="6656" y="-2049"/>
                    </a:lnTo>
                    <a:lnTo>
                      <a:pt x="13496" y="1456"/>
                    </a:lnTo>
                    <a:lnTo>
                      <a:pt x="9992" y="8296"/>
                    </a:lnTo>
                    <a:lnTo>
                      <a:pt x="9164" y="5727"/>
                    </a:lnTo>
                    <a:close/>
                  </a:path>
                </a:pathLst>
              </a:custGeom>
              <a:solidFill>
                <a:srgbClr val="7171E5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" name="TextBox 225"/>
            <p:cNvSpPr txBox="1"/>
            <p:nvPr/>
          </p:nvSpPr>
          <p:spPr>
            <a:xfrm>
              <a:off x="685800" y="2209800"/>
              <a:ext cx="963405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Consensus</a:t>
              </a:r>
              <a:br>
                <a:rPr lang="en-US" sz="1400" b="1" dirty="0"/>
              </a:br>
              <a:r>
                <a:rPr lang="en-US" sz="1400" b="1" dirty="0"/>
                <a:t>Module</a:t>
              </a:r>
              <a:endParaRPr lang="en-US" sz="1400" b="1" dirty="0"/>
            </a:p>
          </p:txBody>
        </p:sp>
        <p:sp>
          <p:nvSpPr>
            <p:cNvPr id="62" name="TextBox 226"/>
            <p:cNvSpPr txBox="1"/>
            <p:nvPr/>
          </p:nvSpPr>
          <p:spPr>
            <a:xfrm>
              <a:off x="1905000" y="2209800"/>
              <a:ext cx="714939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400" b="1" dirty="0"/>
                <a:t>State</a:t>
              </a:r>
              <a:br>
                <a:rPr lang="en-US" sz="1400" b="1" dirty="0"/>
              </a:br>
              <a:r>
                <a:rPr lang="en-US" sz="1400" b="1" dirty="0"/>
                <a:t>Machine</a:t>
              </a:r>
              <a:endParaRPr lang="en-US" sz="1400" b="1" dirty="0"/>
            </a:p>
          </p:txBody>
        </p:sp>
      </p:grpSp>
      <p:sp>
        <p:nvSpPr>
          <p:cNvPr id="80" name="TextBox 244"/>
          <p:cNvSpPr txBox="1"/>
          <p:nvPr/>
        </p:nvSpPr>
        <p:spPr>
          <a:xfrm>
            <a:off x="7866474" y="2901434"/>
            <a:ext cx="1031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Servers</a:t>
            </a:r>
            <a:endParaRPr lang="en-US" b="1" dirty="0"/>
          </a:p>
        </p:txBody>
      </p:sp>
      <p:sp>
        <p:nvSpPr>
          <p:cNvPr id="81" name="TextBox 261"/>
          <p:cNvSpPr txBox="1"/>
          <p:nvPr/>
        </p:nvSpPr>
        <p:spPr>
          <a:xfrm>
            <a:off x="7904947" y="12954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Clients</a:t>
            </a:r>
            <a:endParaRPr lang="en-US" b="1" dirty="0"/>
          </a:p>
        </p:txBody>
      </p:sp>
      <p:pic>
        <p:nvPicPr>
          <p:cNvPr id="82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559" descr="j043156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138428"/>
            <a:ext cx="685800" cy="69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9" name="Straight Connector 271"/>
          <p:cNvCxnSpPr/>
          <p:nvPr/>
        </p:nvCxnSpPr>
        <p:spPr>
          <a:xfrm>
            <a:off x="6019800" y="1828800"/>
            <a:ext cx="0" cy="762000"/>
          </a:xfrm>
          <a:prstGeom prst="line">
            <a:avLst/>
          </a:pr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Freeform 272"/>
          <p:cNvSpPr/>
          <p:nvPr/>
        </p:nvSpPr>
        <p:spPr>
          <a:xfrm>
            <a:off x="3828081" y="2325422"/>
            <a:ext cx="2007031" cy="355783"/>
          </a:xfrm>
          <a:custGeom>
            <a:avLst/>
            <a:gdLst>
              <a:gd name="connsiteX0" fmla="*/ 1983783 w 1983783"/>
              <a:gd name="connsiteY0" fmla="*/ 25352 h 25352"/>
              <a:gd name="connsiteX1" fmla="*/ 0 w 1983783"/>
              <a:gd name="connsiteY1" fmla="*/ 25352 h 25352"/>
              <a:gd name="connsiteX0-1" fmla="*/ 1983783 w 1983783"/>
              <a:gd name="connsiteY0-2" fmla="*/ 203577 h 203577"/>
              <a:gd name="connsiteX1-3" fmla="*/ 0 w 1983783"/>
              <a:gd name="connsiteY1-4" fmla="*/ 203577 h 203577"/>
              <a:gd name="connsiteX0-5" fmla="*/ 1983783 w 1983783"/>
              <a:gd name="connsiteY0-6" fmla="*/ 283044 h 283044"/>
              <a:gd name="connsiteX1-7" fmla="*/ 0 w 1983783"/>
              <a:gd name="connsiteY1-8" fmla="*/ 283044 h 283044"/>
              <a:gd name="connsiteX0-9" fmla="*/ 2007031 w 2007031"/>
              <a:gd name="connsiteY0-10" fmla="*/ 265800 h 296797"/>
              <a:gd name="connsiteX1-11" fmla="*/ 0 w 2007031"/>
              <a:gd name="connsiteY1-12" fmla="*/ 296797 h 296797"/>
              <a:gd name="connsiteX0-13" fmla="*/ 2007031 w 2007031"/>
              <a:gd name="connsiteY0-14" fmla="*/ 306367 h 337364"/>
              <a:gd name="connsiteX1-15" fmla="*/ 0 w 2007031"/>
              <a:gd name="connsiteY1-16" fmla="*/ 337364 h 337364"/>
              <a:gd name="connsiteX0-17" fmla="*/ 2007031 w 2007031"/>
              <a:gd name="connsiteY0-18" fmla="*/ 324786 h 355783"/>
              <a:gd name="connsiteX1-19" fmla="*/ 0 w 2007031"/>
              <a:gd name="connsiteY1-20" fmla="*/ 355783 h 3557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007031" h="355783">
                <a:moveTo>
                  <a:pt x="2007031" y="324786"/>
                </a:moveTo>
                <a:cubicBezTo>
                  <a:pt x="1444571" y="-30384"/>
                  <a:pt x="796872" y="-191824"/>
                  <a:pt x="0" y="355783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273"/>
          <p:cNvSpPr/>
          <p:nvPr/>
        </p:nvSpPr>
        <p:spPr>
          <a:xfrm>
            <a:off x="1371601" y="2081773"/>
            <a:ext cx="4463512" cy="599432"/>
          </a:xfrm>
          <a:custGeom>
            <a:avLst/>
            <a:gdLst>
              <a:gd name="connsiteX0" fmla="*/ 1983783 w 1983783"/>
              <a:gd name="connsiteY0" fmla="*/ 25352 h 25352"/>
              <a:gd name="connsiteX1" fmla="*/ 0 w 1983783"/>
              <a:gd name="connsiteY1" fmla="*/ 25352 h 25352"/>
              <a:gd name="connsiteX0-1" fmla="*/ 1983783 w 1983783"/>
              <a:gd name="connsiteY0-2" fmla="*/ 203577 h 203577"/>
              <a:gd name="connsiteX1-3" fmla="*/ 0 w 1983783"/>
              <a:gd name="connsiteY1-4" fmla="*/ 203577 h 203577"/>
              <a:gd name="connsiteX0-5" fmla="*/ 1983783 w 1983783"/>
              <a:gd name="connsiteY0-6" fmla="*/ 283044 h 283044"/>
              <a:gd name="connsiteX1-7" fmla="*/ 0 w 1983783"/>
              <a:gd name="connsiteY1-8" fmla="*/ 283044 h 283044"/>
              <a:gd name="connsiteX0-9" fmla="*/ 2007031 w 2007031"/>
              <a:gd name="connsiteY0-10" fmla="*/ 265800 h 296797"/>
              <a:gd name="connsiteX1-11" fmla="*/ 0 w 2007031"/>
              <a:gd name="connsiteY1-12" fmla="*/ 296797 h 296797"/>
              <a:gd name="connsiteX0-13" fmla="*/ 2007031 w 2007031"/>
              <a:gd name="connsiteY0-14" fmla="*/ 306367 h 337364"/>
              <a:gd name="connsiteX1-15" fmla="*/ 0 w 2007031"/>
              <a:gd name="connsiteY1-16" fmla="*/ 337364 h 337364"/>
              <a:gd name="connsiteX0-17" fmla="*/ 2007031 w 2007031"/>
              <a:gd name="connsiteY0-18" fmla="*/ 324786 h 355783"/>
              <a:gd name="connsiteX1-19" fmla="*/ 0 w 2007031"/>
              <a:gd name="connsiteY1-20" fmla="*/ 355783 h 355783"/>
              <a:gd name="connsiteX0-21" fmla="*/ 2007031 w 2007031"/>
              <a:gd name="connsiteY0-22" fmla="*/ 375253 h 406250"/>
              <a:gd name="connsiteX1-23" fmla="*/ 0 w 2007031"/>
              <a:gd name="connsiteY1-24" fmla="*/ 406250 h 406250"/>
              <a:gd name="connsiteX0-25" fmla="*/ 2007031 w 2007031"/>
              <a:gd name="connsiteY0-26" fmla="*/ 568435 h 599432"/>
              <a:gd name="connsiteX1-27" fmla="*/ 0 w 2007031"/>
              <a:gd name="connsiteY1-28" fmla="*/ 599432 h 5994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007031" h="599432">
                <a:moveTo>
                  <a:pt x="2007031" y="568435"/>
                </a:moveTo>
                <a:cubicBezTo>
                  <a:pt x="1570010" y="-305928"/>
                  <a:pt x="605228" y="-72162"/>
                  <a:pt x="0" y="599432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274"/>
          <p:cNvSpPr/>
          <p:nvPr/>
        </p:nvSpPr>
        <p:spPr>
          <a:xfrm>
            <a:off x="3611105" y="3239146"/>
            <a:ext cx="867905" cy="371959"/>
          </a:xfrm>
          <a:custGeom>
            <a:avLst/>
            <a:gdLst>
              <a:gd name="connsiteX0" fmla="*/ 0 w 867905"/>
              <a:gd name="connsiteY0" fmla="*/ 0 h 371959"/>
              <a:gd name="connsiteX1" fmla="*/ 867905 w 867905"/>
              <a:gd name="connsiteY1" fmla="*/ 371959 h 371959"/>
              <a:gd name="connsiteX0-1" fmla="*/ 0 w 867905"/>
              <a:gd name="connsiteY0-2" fmla="*/ 0 h 371959"/>
              <a:gd name="connsiteX1-3" fmla="*/ 867905 w 867905"/>
              <a:gd name="connsiteY1-4" fmla="*/ 371959 h 371959"/>
              <a:gd name="connsiteX0-5" fmla="*/ 0 w 867905"/>
              <a:gd name="connsiteY0-6" fmla="*/ 0 h 371959"/>
              <a:gd name="connsiteX1-7" fmla="*/ 867905 w 867905"/>
              <a:gd name="connsiteY1-8" fmla="*/ 371959 h 371959"/>
              <a:gd name="connsiteX0-9" fmla="*/ 0 w 867905"/>
              <a:gd name="connsiteY0-10" fmla="*/ 0 h 371959"/>
              <a:gd name="connsiteX1-11" fmla="*/ 867905 w 867905"/>
              <a:gd name="connsiteY1-12" fmla="*/ 371959 h 371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67905" h="371959">
                <a:moveTo>
                  <a:pt x="0" y="0"/>
                </a:moveTo>
                <a:cubicBezTo>
                  <a:pt x="12916" y="335796"/>
                  <a:pt x="552773" y="-41330"/>
                  <a:pt x="867905" y="371959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276"/>
          <p:cNvCxnSpPr/>
          <p:nvPr/>
        </p:nvCxnSpPr>
        <p:spPr>
          <a:xfrm flipV="1">
            <a:off x="4694694" y="3306306"/>
            <a:ext cx="0" cy="457200"/>
          </a:xfrm>
          <a:prstGeom prst="line">
            <a:avLst/>
          </a:pr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Freeform 277"/>
          <p:cNvSpPr/>
          <p:nvPr/>
        </p:nvSpPr>
        <p:spPr>
          <a:xfrm>
            <a:off x="6043048" y="3239146"/>
            <a:ext cx="867905" cy="371959"/>
          </a:xfrm>
          <a:custGeom>
            <a:avLst/>
            <a:gdLst>
              <a:gd name="connsiteX0" fmla="*/ 0 w 867905"/>
              <a:gd name="connsiteY0" fmla="*/ 0 h 371959"/>
              <a:gd name="connsiteX1" fmla="*/ 867905 w 867905"/>
              <a:gd name="connsiteY1" fmla="*/ 371959 h 371959"/>
              <a:gd name="connsiteX0-1" fmla="*/ 0 w 867905"/>
              <a:gd name="connsiteY0-2" fmla="*/ 0 h 371959"/>
              <a:gd name="connsiteX1-3" fmla="*/ 867905 w 867905"/>
              <a:gd name="connsiteY1-4" fmla="*/ 371959 h 371959"/>
              <a:gd name="connsiteX0-5" fmla="*/ 0 w 867905"/>
              <a:gd name="connsiteY0-6" fmla="*/ 0 h 371959"/>
              <a:gd name="connsiteX1-7" fmla="*/ 867905 w 867905"/>
              <a:gd name="connsiteY1-8" fmla="*/ 371959 h 371959"/>
              <a:gd name="connsiteX0-9" fmla="*/ 0 w 867905"/>
              <a:gd name="connsiteY0-10" fmla="*/ 0 h 371959"/>
              <a:gd name="connsiteX1-11" fmla="*/ 867905 w 867905"/>
              <a:gd name="connsiteY1-12" fmla="*/ 371959 h 371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67905" h="371959">
                <a:moveTo>
                  <a:pt x="0" y="0"/>
                </a:moveTo>
                <a:cubicBezTo>
                  <a:pt x="12916" y="335796"/>
                  <a:pt x="552773" y="-41330"/>
                  <a:pt x="867905" y="371959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278"/>
          <p:cNvSpPr/>
          <p:nvPr/>
        </p:nvSpPr>
        <p:spPr>
          <a:xfrm>
            <a:off x="1166248" y="3239146"/>
            <a:ext cx="867905" cy="371959"/>
          </a:xfrm>
          <a:custGeom>
            <a:avLst/>
            <a:gdLst>
              <a:gd name="connsiteX0" fmla="*/ 0 w 867905"/>
              <a:gd name="connsiteY0" fmla="*/ 0 h 371959"/>
              <a:gd name="connsiteX1" fmla="*/ 867905 w 867905"/>
              <a:gd name="connsiteY1" fmla="*/ 371959 h 371959"/>
              <a:gd name="connsiteX0-1" fmla="*/ 0 w 867905"/>
              <a:gd name="connsiteY0-2" fmla="*/ 0 h 371959"/>
              <a:gd name="connsiteX1-3" fmla="*/ 867905 w 867905"/>
              <a:gd name="connsiteY1-4" fmla="*/ 371959 h 371959"/>
              <a:gd name="connsiteX0-5" fmla="*/ 0 w 867905"/>
              <a:gd name="connsiteY0-6" fmla="*/ 0 h 371959"/>
              <a:gd name="connsiteX1-7" fmla="*/ 867905 w 867905"/>
              <a:gd name="connsiteY1-8" fmla="*/ 371959 h 371959"/>
              <a:gd name="connsiteX0-9" fmla="*/ 0 w 867905"/>
              <a:gd name="connsiteY0-10" fmla="*/ 0 h 371959"/>
              <a:gd name="connsiteX1-11" fmla="*/ 867905 w 867905"/>
              <a:gd name="connsiteY1-12" fmla="*/ 371959 h 371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67905" h="371959">
                <a:moveTo>
                  <a:pt x="0" y="0"/>
                </a:moveTo>
                <a:cubicBezTo>
                  <a:pt x="12916" y="335796"/>
                  <a:pt x="552773" y="-41330"/>
                  <a:pt x="867905" y="371959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282"/>
          <p:cNvCxnSpPr/>
          <p:nvPr/>
        </p:nvCxnSpPr>
        <p:spPr>
          <a:xfrm flipV="1">
            <a:off x="7131804" y="3306306"/>
            <a:ext cx="0" cy="457200"/>
          </a:xfrm>
          <a:prstGeom prst="line">
            <a:avLst/>
          </a:pr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283"/>
          <p:cNvCxnSpPr/>
          <p:nvPr/>
        </p:nvCxnSpPr>
        <p:spPr>
          <a:xfrm flipV="1">
            <a:off x="2255004" y="3306306"/>
            <a:ext cx="0" cy="457200"/>
          </a:xfrm>
          <a:prstGeom prst="line">
            <a:avLst/>
          </a:pr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Freeform 284"/>
          <p:cNvSpPr/>
          <p:nvPr/>
        </p:nvSpPr>
        <p:spPr>
          <a:xfrm>
            <a:off x="6207071" y="1557580"/>
            <a:ext cx="922149" cy="1022888"/>
          </a:xfrm>
          <a:custGeom>
            <a:avLst/>
            <a:gdLst>
              <a:gd name="connsiteX0" fmla="*/ 968644 w 968644"/>
              <a:gd name="connsiteY0" fmla="*/ 759417 h 759417"/>
              <a:gd name="connsiteX1" fmla="*/ 0 w 968644"/>
              <a:gd name="connsiteY1" fmla="*/ 0 h 759417"/>
              <a:gd name="connsiteX0-1" fmla="*/ 968644 w 968644"/>
              <a:gd name="connsiteY0-2" fmla="*/ 759417 h 759417"/>
              <a:gd name="connsiteX1-3" fmla="*/ 0 w 968644"/>
              <a:gd name="connsiteY1-4" fmla="*/ 0 h 759417"/>
              <a:gd name="connsiteX0-5" fmla="*/ 968644 w 968644"/>
              <a:gd name="connsiteY0-6" fmla="*/ 759417 h 759417"/>
              <a:gd name="connsiteX1-7" fmla="*/ 0 w 968644"/>
              <a:gd name="connsiteY1-8" fmla="*/ 0 h 759417"/>
              <a:gd name="connsiteX0-9" fmla="*/ 968644 w 968644"/>
              <a:gd name="connsiteY0-10" fmla="*/ 759417 h 759417"/>
              <a:gd name="connsiteX1-11" fmla="*/ 0 w 968644"/>
              <a:gd name="connsiteY1-12" fmla="*/ 0 h 759417"/>
              <a:gd name="connsiteX0-13" fmla="*/ 968644 w 968644"/>
              <a:gd name="connsiteY0-14" fmla="*/ 759417 h 759417"/>
              <a:gd name="connsiteX1-15" fmla="*/ 0 w 968644"/>
              <a:gd name="connsiteY1-16" fmla="*/ 0 h 759417"/>
              <a:gd name="connsiteX0-17" fmla="*/ 968644 w 968644"/>
              <a:gd name="connsiteY0-18" fmla="*/ 759417 h 759417"/>
              <a:gd name="connsiteX1-19" fmla="*/ 0 w 968644"/>
              <a:gd name="connsiteY1-20" fmla="*/ 0 h 759417"/>
              <a:gd name="connsiteX0-21" fmla="*/ 922149 w 922149"/>
              <a:gd name="connsiteY0-22" fmla="*/ 1022888 h 1022888"/>
              <a:gd name="connsiteX1-23" fmla="*/ 0 w 922149"/>
              <a:gd name="connsiteY1-24" fmla="*/ 0 h 10228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22149" h="1022888">
                <a:moveTo>
                  <a:pt x="922149" y="1022888"/>
                </a:moveTo>
                <a:cubicBezTo>
                  <a:pt x="876945" y="548898"/>
                  <a:pt x="669011" y="198894"/>
                  <a:pt x="0" y="0"/>
                </a:cubicBezTo>
              </a:path>
            </a:pathLst>
          </a:custGeom>
          <a:ln w="57150" cap="rnd">
            <a:solidFill>
              <a:schemeClr val="accent4"/>
            </a:solidFill>
            <a:tailEnd type="triangle" w="med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6"/>
          <p:cNvSpPr txBox="1"/>
          <p:nvPr/>
        </p:nvSpPr>
        <p:spPr>
          <a:xfrm>
            <a:off x="5648425" y="1800725"/>
            <a:ext cx="413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shl</a:t>
            </a:r>
            <a:endParaRPr lang="en-US" sz="1400" dirty="0"/>
          </a:p>
        </p:txBody>
      </p:sp>
      <p:sp>
        <p:nvSpPr>
          <p:cNvPr id="102" name="内容占位符 2"/>
          <p:cNvSpPr>
            <a:spLocks noGrp="1"/>
          </p:cNvSpPr>
          <p:nvPr>
            <p:ph idx="1"/>
          </p:nvPr>
        </p:nvSpPr>
        <p:spPr>
          <a:xfrm>
            <a:off x="302840" y="4211442"/>
            <a:ext cx="8229600" cy="1389791"/>
          </a:xfrm>
        </p:spPr>
        <p:txBody>
          <a:bodyPr>
            <a:normAutofit/>
          </a:bodyPr>
          <a:lstStyle/>
          <a:p>
            <a:r>
              <a:rPr lang="en-US" altLang="zh-CN" dirty="0"/>
              <a:t>Replicated log =&gt; </a:t>
            </a:r>
            <a:r>
              <a:rPr lang="en-US" altLang="zh-CN" dirty="0">
                <a:solidFill>
                  <a:srgbClr val="C00000"/>
                </a:solidFill>
              </a:rPr>
              <a:t>replicated state machine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All servers execute same (deterministic) commands in same order </a:t>
            </a:r>
            <a:endParaRPr lang="en-US" altLang="zh-CN" sz="2400" dirty="0">
              <a:solidFill>
                <a:schemeClr val="accent4"/>
              </a:solidFill>
            </a:endParaRPr>
          </a:p>
          <a:p>
            <a:r>
              <a:rPr lang="en-US" altLang="zh-CN" dirty="0"/>
              <a:t>Consensus module ensures </a:t>
            </a:r>
            <a:r>
              <a:rPr lang="en-US" altLang="zh-CN" dirty="0">
                <a:solidFill>
                  <a:srgbClr val="FF0000"/>
                </a:solidFill>
              </a:rPr>
              <a:t>proper</a:t>
            </a:r>
            <a:r>
              <a:rPr lang="en-US" altLang="zh-CN" dirty="0"/>
              <a:t> logs are the same! </a:t>
            </a: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Raft’s high-level approach: problem decomposition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39248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kumimoji="1" lang="en-US" altLang="zh-CN"/>
              <a:t>Leader election </a:t>
            </a:r>
            <a:endParaRPr kumimoji="1" lang="en-US" altLang="zh-CN"/>
          </a:p>
          <a:p>
            <a:pPr marL="360045" marR="0" lvl="1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Select one server as the leader 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360045" marR="0" lvl="1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Detect crashes, choose new leader </a:t>
            </a:r>
            <a:endParaRPr kumimoji="1" lang="en-US" altLang="zh-CN"/>
          </a:p>
          <a:p>
            <a:pPr marL="342900" indent="-342900">
              <a:buAutoNum type="arabicPeriod"/>
            </a:pPr>
            <a:r>
              <a:rPr kumimoji="1" lang="en-US" altLang="zh-CN"/>
              <a:t>Log replication (normal operation)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Leader accepts commands from clients, append to its log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Leader replicates its log to other servers (overwrites inconsistencies)</a:t>
            </a:r>
            <a:endParaRPr kumimoji="1" lang="en-US" altLang="zh-CN"/>
          </a:p>
          <a:p>
            <a:pPr marL="342900" indent="-342900">
              <a:buAutoNum type="arabicPeriod"/>
            </a:pPr>
            <a:r>
              <a:rPr kumimoji="1" lang="en-US" altLang="zh-CN"/>
              <a:t>Safety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Keep logs consistent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Only servers with up-to-date logs can become the leader 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Raft server states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164842"/>
          </a:xfrm>
        </p:spPr>
        <p:txBody>
          <a:bodyPr/>
          <a:lstStyle/>
          <a:p>
            <a:r>
              <a:rPr kumimoji="1" lang="en-US" altLang="zh-CN" dirty="0"/>
              <a:t>At any time, each server is either: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Leader</a:t>
            </a:r>
            <a:r>
              <a:rPr kumimoji="1" lang="en-US" altLang="zh-CN" dirty="0"/>
              <a:t>: </a:t>
            </a:r>
            <a:r>
              <a:rPr lang="en-GB" altLang="zh-CN" dirty="0"/>
              <a:t>handles all client interactions, log replication</a:t>
            </a:r>
            <a:endParaRPr lang="en-GB" altLang="zh-CN" dirty="0"/>
          </a:p>
          <a:p>
            <a:pPr lvl="2"/>
            <a:r>
              <a:rPr lang="en-GB" altLang="zh-CN" sz="1800" dirty="0"/>
              <a:t>Invariant</a:t>
            </a:r>
            <a:r>
              <a:rPr lang="zh-CN" altLang="en-US" sz="1800" dirty="0"/>
              <a:t> </a:t>
            </a:r>
            <a:r>
              <a:rPr lang="en-US" altLang="zh-CN" sz="1800" dirty="0"/>
              <a:t>achieved</a:t>
            </a:r>
            <a:r>
              <a:rPr lang="en-GB" altLang="zh-CN" sz="1800" dirty="0"/>
              <a:t>: At most 1 viable leader at a time </a:t>
            </a:r>
            <a:endParaRPr lang="en-GB" altLang="zh-CN" sz="1800" dirty="0"/>
          </a:p>
          <a:p>
            <a:pPr lvl="1"/>
            <a:r>
              <a:rPr lang="en-GB" altLang="zh-CN" b="1" dirty="0">
                <a:solidFill>
                  <a:srgbClr val="C00000"/>
                </a:solidFill>
              </a:rPr>
              <a:t>Follower</a:t>
            </a:r>
            <a:r>
              <a:rPr lang="en-GB" altLang="zh-CN" dirty="0"/>
              <a:t>: passive (only responds to incoming RPCs) </a:t>
            </a:r>
            <a:endParaRPr lang="en-GB" altLang="zh-CN" dirty="0"/>
          </a:p>
          <a:p>
            <a:pPr lvl="1"/>
            <a:r>
              <a:rPr lang="en-GB" altLang="zh-CN" b="1" dirty="0">
                <a:solidFill>
                  <a:srgbClr val="C00000"/>
                </a:solidFill>
              </a:rPr>
              <a:t>Candidate</a:t>
            </a:r>
            <a:r>
              <a:rPr lang="en-GB" altLang="zh-CN" dirty="0"/>
              <a:t>: used to elect a new leader </a:t>
            </a:r>
            <a:endParaRPr lang="en-GB" altLang="zh-CN" dirty="0"/>
          </a:p>
          <a:p>
            <a:r>
              <a:rPr lang="en-GB" altLang="zh-CN" dirty="0"/>
              <a:t>Normal workloads</a:t>
            </a:r>
            <a:endParaRPr lang="en-GB" altLang="zh-CN" dirty="0"/>
          </a:p>
          <a:p>
            <a:pPr lvl="1"/>
            <a:r>
              <a:rPr lang="en-GB" altLang="zh-CN" dirty="0"/>
              <a:t>1 server is the leader, others are the followers </a:t>
            </a:r>
            <a:endParaRPr lang="en-GB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868144" y="228866"/>
            <a:ext cx="3102274" cy="1520849"/>
            <a:chOff x="5156082" y="573312"/>
            <a:chExt cx="3102274" cy="1520849"/>
          </a:xfrm>
        </p:grpSpPr>
        <p:grpSp>
          <p:nvGrpSpPr>
            <p:cNvPr id="5" name="Group 14"/>
            <p:cNvGrpSpPr/>
            <p:nvPr/>
          </p:nvGrpSpPr>
          <p:grpSpPr>
            <a:xfrm>
              <a:off x="5791082" y="807812"/>
              <a:ext cx="1694148" cy="1089803"/>
              <a:chOff x="3276496" y="3419714"/>
              <a:chExt cx="1896936" cy="1201097"/>
            </a:xfrm>
          </p:grpSpPr>
          <p:sp>
            <p:nvSpPr>
              <p:cNvPr id="6" name="Cloud 15"/>
              <p:cNvSpPr/>
              <p:nvPr/>
            </p:nvSpPr>
            <p:spPr>
              <a:xfrm>
                <a:off x="3276496" y="3419714"/>
                <a:ext cx="1896936" cy="1201097"/>
              </a:xfrm>
              <a:prstGeom prst="cloud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tIns="30000" bIns="30000"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5">
                  <a:solidFill>
                    <a:prstClr val="black"/>
                  </a:solidFill>
                  <a:latin typeface="Candara" panose="020E050203030302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" name="Rectangle 16"/>
              <p:cNvSpPr/>
              <p:nvPr/>
            </p:nvSpPr>
            <p:spPr>
              <a:xfrm>
                <a:off x="3276497" y="3711007"/>
                <a:ext cx="1825835" cy="497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335" i="1">
                    <a:solidFill>
                      <a:prstClr val="white">
                        <a:lumMod val="65000"/>
                      </a:prstClr>
                    </a:solidFill>
                    <a:latin typeface="Candara" panose="020E050203030302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Network</a:t>
                </a:r>
                <a:endParaRPr lang="zh-CN" altLang="en-US" sz="2000" i="1">
                  <a:solidFill>
                    <a:prstClr val="white">
                      <a:lumMod val="65000"/>
                    </a:prstClr>
                  </a:solidFill>
                  <a:latin typeface="Candara" panose="020E0502030303020204" pitchFamily="34" charset="0"/>
                  <a:ea typeface="MS PGothic" panose="020B0600070205080204" charset="-128"/>
                </a:endParaRPr>
              </a:p>
            </p:txBody>
          </p:sp>
        </p:grpSp>
        <p:sp>
          <p:nvSpPr>
            <p:cNvPr id="8" name="Rounded Rectangle 9"/>
            <p:cNvSpPr/>
            <p:nvPr/>
          </p:nvSpPr>
          <p:spPr>
            <a:xfrm>
              <a:off x="5156082" y="573312"/>
              <a:ext cx="1260000" cy="420001"/>
            </a:xfrm>
            <a:prstGeom prst="roundRect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Server</a:t>
              </a: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Rounded Rectangle 9"/>
            <p:cNvSpPr/>
            <p:nvPr/>
          </p:nvSpPr>
          <p:spPr>
            <a:xfrm>
              <a:off x="6008156" y="1674160"/>
              <a:ext cx="1260000" cy="420001"/>
            </a:xfrm>
            <a:prstGeom prst="roundRect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Server</a:t>
              </a: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998356" y="671348"/>
              <a:ext cx="1260000" cy="420001"/>
            </a:xfrm>
            <a:prstGeom prst="roundRect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tIns="30000" rIns="0" bIns="0" rtlCol="0" anchor="ctr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Server</a:t>
              </a:r>
              <a:endParaRPr lang="zh-CN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03702" y="4441678"/>
            <a:ext cx="1491480" cy="573501"/>
            <a:chOff x="1125960" y="4556364"/>
            <a:chExt cx="1491480" cy="573501"/>
          </a:xfrm>
        </p:grpSpPr>
        <p:sp>
          <p:nvSpPr>
            <p:cNvPr id="13" name="椭圆 12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Follower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98468" y="4441676"/>
            <a:ext cx="1491480" cy="573501"/>
            <a:chOff x="1125960" y="4556364"/>
            <a:chExt cx="1491480" cy="573501"/>
          </a:xfrm>
        </p:grpSpPr>
        <p:sp>
          <p:nvSpPr>
            <p:cNvPr id="16" name="椭圆 15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Candidate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73753" y="4511124"/>
            <a:ext cx="924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/>
              <a:t>Start</a:t>
            </a:r>
            <a:endParaRPr lang="zh-CN" altLang="en-US"/>
          </a:p>
        </p:txBody>
      </p:sp>
      <p:sp>
        <p:nvSpPr>
          <p:cNvPr id="14" name="任意形状 13"/>
          <p:cNvSpPr/>
          <p:nvPr/>
        </p:nvSpPr>
        <p:spPr>
          <a:xfrm>
            <a:off x="3024054" y="4342796"/>
            <a:ext cx="924025" cy="346810"/>
          </a:xfrm>
          <a:custGeom>
            <a:avLst/>
            <a:gdLst>
              <a:gd name="connsiteX0" fmla="*/ 0 w 924025"/>
              <a:gd name="connsiteY0" fmla="*/ 298684 h 346810"/>
              <a:gd name="connsiteX1" fmla="*/ 317634 w 924025"/>
              <a:gd name="connsiteY1" fmla="*/ 301 h 346810"/>
              <a:gd name="connsiteX2" fmla="*/ 924025 w 924025"/>
              <a:gd name="connsiteY2" fmla="*/ 346810 h 34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" h="346810">
                <a:moveTo>
                  <a:pt x="0" y="298684"/>
                </a:moveTo>
                <a:cubicBezTo>
                  <a:pt x="81815" y="145482"/>
                  <a:pt x="163630" y="-7720"/>
                  <a:pt x="317634" y="301"/>
                </a:cubicBezTo>
                <a:cubicBezTo>
                  <a:pt x="471638" y="8322"/>
                  <a:pt x="697831" y="177566"/>
                  <a:pt x="924025" y="34681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/>
          <p:cNvSpPr/>
          <p:nvPr/>
        </p:nvSpPr>
        <p:spPr>
          <a:xfrm>
            <a:off x="1317057" y="4281337"/>
            <a:ext cx="686911" cy="304355"/>
          </a:xfrm>
          <a:custGeom>
            <a:avLst/>
            <a:gdLst>
              <a:gd name="connsiteX0" fmla="*/ 0 w 924025"/>
              <a:gd name="connsiteY0" fmla="*/ 298684 h 346810"/>
              <a:gd name="connsiteX1" fmla="*/ 317634 w 924025"/>
              <a:gd name="connsiteY1" fmla="*/ 301 h 346810"/>
              <a:gd name="connsiteX2" fmla="*/ 924025 w 924025"/>
              <a:gd name="connsiteY2" fmla="*/ 346810 h 34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" h="346810">
                <a:moveTo>
                  <a:pt x="0" y="298684"/>
                </a:moveTo>
                <a:cubicBezTo>
                  <a:pt x="81815" y="145482"/>
                  <a:pt x="163630" y="-7720"/>
                  <a:pt x="317634" y="301"/>
                </a:cubicBezTo>
                <a:cubicBezTo>
                  <a:pt x="471638" y="8322"/>
                  <a:pt x="697831" y="177566"/>
                  <a:pt x="924025" y="34681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852548" y="4081420"/>
            <a:ext cx="466344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altLang="zh-CN" sz="1600"/>
              <a:t>Timeout</a:t>
            </a:r>
            <a:r>
              <a:rPr lang="en-US" altLang="zh-CN" sz="1600"/>
              <a:t>, start election</a:t>
            </a:r>
            <a:endParaRPr lang="zh-CN" altLang="en-US" sz="1600"/>
          </a:p>
        </p:txBody>
      </p:sp>
      <p:sp>
        <p:nvSpPr>
          <p:cNvPr id="27" name="任意形状 26"/>
          <p:cNvSpPr/>
          <p:nvPr/>
        </p:nvSpPr>
        <p:spPr>
          <a:xfrm>
            <a:off x="5256860" y="4337719"/>
            <a:ext cx="924025" cy="346810"/>
          </a:xfrm>
          <a:custGeom>
            <a:avLst/>
            <a:gdLst>
              <a:gd name="connsiteX0" fmla="*/ 0 w 924025"/>
              <a:gd name="connsiteY0" fmla="*/ 298684 h 346810"/>
              <a:gd name="connsiteX1" fmla="*/ 317634 w 924025"/>
              <a:gd name="connsiteY1" fmla="*/ 301 h 346810"/>
              <a:gd name="connsiteX2" fmla="*/ 924025 w 924025"/>
              <a:gd name="connsiteY2" fmla="*/ 346810 h 34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" h="346810">
                <a:moveTo>
                  <a:pt x="0" y="298684"/>
                </a:moveTo>
                <a:cubicBezTo>
                  <a:pt x="81815" y="145482"/>
                  <a:pt x="163630" y="-7720"/>
                  <a:pt x="317634" y="301"/>
                </a:cubicBezTo>
                <a:cubicBezTo>
                  <a:pt x="471638" y="8322"/>
                  <a:pt x="697831" y="177566"/>
                  <a:pt x="924025" y="34681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297034" y="4145052"/>
            <a:ext cx="466344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/>
              <a:t>Receive acks from majority of servers</a:t>
            </a:r>
            <a:endParaRPr lang="zh-CN" altLang="en-US" sz="1600"/>
          </a:p>
        </p:txBody>
      </p:sp>
      <p:grpSp>
        <p:nvGrpSpPr>
          <p:cNvPr id="20" name="组合 19"/>
          <p:cNvGrpSpPr/>
          <p:nvPr/>
        </p:nvGrpSpPr>
        <p:grpSpPr>
          <a:xfrm>
            <a:off x="6032848" y="4441676"/>
            <a:ext cx="1491480" cy="573501"/>
            <a:chOff x="1125960" y="4556364"/>
            <a:chExt cx="1491480" cy="573501"/>
          </a:xfrm>
        </p:grpSpPr>
        <p:sp>
          <p:nvSpPr>
            <p:cNvPr id="21" name="椭圆 20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9" name="任意形状 28"/>
          <p:cNvSpPr/>
          <p:nvPr/>
        </p:nvSpPr>
        <p:spPr>
          <a:xfrm>
            <a:off x="2935111" y="5000978"/>
            <a:ext cx="3533422" cy="372547"/>
          </a:xfrm>
          <a:custGeom>
            <a:avLst/>
            <a:gdLst>
              <a:gd name="connsiteX0" fmla="*/ 3533422 w 3533422"/>
              <a:gd name="connsiteY0" fmla="*/ 11289 h 372547"/>
              <a:gd name="connsiteX1" fmla="*/ 2111022 w 3533422"/>
              <a:gd name="connsiteY1" fmla="*/ 372533 h 372547"/>
              <a:gd name="connsiteX2" fmla="*/ 0 w 3533422"/>
              <a:gd name="connsiteY2" fmla="*/ 0 h 37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3422" h="372547">
                <a:moveTo>
                  <a:pt x="3533422" y="11289"/>
                </a:moveTo>
                <a:cubicBezTo>
                  <a:pt x="3116674" y="192852"/>
                  <a:pt x="2699926" y="374415"/>
                  <a:pt x="2111022" y="372533"/>
                </a:cubicBezTo>
                <a:cubicBezTo>
                  <a:pt x="1522118" y="370652"/>
                  <a:pt x="761059" y="185326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616178" y="5278983"/>
            <a:ext cx="312021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/>
              <a:t>Discover server w/ high term </a:t>
            </a:r>
            <a:endParaRPr lang="zh-CN" altLang="en-US" sz="1600"/>
          </a:p>
        </p:txBody>
      </p:sp>
      <p:sp>
        <p:nvSpPr>
          <p:cNvPr id="11" name="任意形状 10"/>
          <p:cNvSpPr/>
          <p:nvPr/>
        </p:nvSpPr>
        <p:spPr>
          <a:xfrm>
            <a:off x="1656095" y="4971393"/>
            <a:ext cx="2548043" cy="575729"/>
          </a:xfrm>
          <a:custGeom>
            <a:avLst/>
            <a:gdLst>
              <a:gd name="connsiteX0" fmla="*/ 2548043 w 2548043"/>
              <a:gd name="connsiteY0" fmla="*/ 84083 h 575729"/>
              <a:gd name="connsiteX1" fmla="*/ 1518029 w 2548043"/>
              <a:gd name="connsiteY1" fmla="*/ 504497 h 575729"/>
              <a:gd name="connsiteX2" fmla="*/ 78112 w 2548043"/>
              <a:gd name="connsiteY2" fmla="*/ 525517 h 575729"/>
              <a:gd name="connsiteX3" fmla="*/ 319850 w 2548043"/>
              <a:gd name="connsiteY3" fmla="*/ 0 h 5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8043" h="575729">
                <a:moveTo>
                  <a:pt x="2548043" y="84083"/>
                </a:moveTo>
                <a:cubicBezTo>
                  <a:pt x="2238863" y="257504"/>
                  <a:pt x="1929684" y="430925"/>
                  <a:pt x="1518029" y="504497"/>
                </a:cubicBezTo>
                <a:cubicBezTo>
                  <a:pt x="1106374" y="578069"/>
                  <a:pt x="277809" y="609600"/>
                  <a:pt x="78112" y="525517"/>
                </a:cubicBezTo>
                <a:cubicBezTo>
                  <a:pt x="-121585" y="441434"/>
                  <a:pt x="99132" y="220717"/>
                  <a:pt x="31985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38906" y="5178168"/>
            <a:ext cx="2622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/>
              <a:t>Discover current</a:t>
            </a:r>
            <a:r>
              <a:rPr lang="zh-CN" altLang="en-US" sz="1600"/>
              <a:t> </a:t>
            </a:r>
            <a:r>
              <a:rPr lang="en-US" altLang="zh-CN" sz="1600"/>
              <a:t>server or  </a:t>
            </a:r>
            <a:endParaRPr lang="en-US" altLang="zh-CN" sz="1600"/>
          </a:p>
          <a:p>
            <a:r>
              <a:rPr lang="en-US" altLang="zh-CN" sz="1600"/>
              <a:t>w/ high term </a:t>
            </a:r>
            <a:endParaRPr lang="zh-CN" altLang="en-US" sz="1600"/>
          </a:p>
        </p:txBody>
      </p:sp>
      <p:grpSp>
        <p:nvGrpSpPr>
          <p:cNvPr id="32" name="组合 31"/>
          <p:cNvGrpSpPr/>
          <p:nvPr/>
        </p:nvGrpSpPr>
        <p:grpSpPr>
          <a:xfrm>
            <a:off x="6367272" y="2366525"/>
            <a:ext cx="2686291" cy="747309"/>
            <a:chOff x="911200" y="1040360"/>
            <a:chExt cx="2686291" cy="747309"/>
          </a:xfrm>
        </p:grpSpPr>
        <p:sp>
          <p:nvSpPr>
            <p:cNvPr id="33" name="矩形 32"/>
            <p:cNvSpPr/>
            <p:nvPr/>
          </p:nvSpPr>
          <p:spPr>
            <a:xfrm>
              <a:off x="912507" y="1040360"/>
              <a:ext cx="2684984" cy="74730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11200" y="1092301"/>
              <a:ext cx="259558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Servers communicates 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w/ RPCs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Raft server states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Leader is active </a:t>
            </a:r>
            <a:endParaRPr kumimoji="1" lang="en-US" altLang="zh-CN"/>
          </a:p>
          <a:p>
            <a:pPr lvl="1"/>
            <a:r>
              <a:rPr kumimoji="1" lang="en-US" altLang="zh-CN"/>
              <a:t>Receive client requests, replicate logs to the followers </a:t>
            </a:r>
            <a:endParaRPr kumimoji="1" lang="en-US" altLang="zh-CN"/>
          </a:p>
          <a:p>
            <a:r>
              <a:rPr kumimoji="1" lang="en-US" altLang="zh-CN"/>
              <a:t>Followers are passive </a:t>
            </a:r>
            <a:endParaRPr kumimoji="1" lang="en-US" altLang="zh-CN"/>
          </a:p>
          <a:p>
            <a:pPr lvl="1"/>
            <a:r>
              <a:rPr kumimoji="1" lang="en-US" altLang="zh-CN"/>
              <a:t>Only respond to the requests from leaders or candidates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9162" y="3793606"/>
            <a:ext cx="1491480" cy="573501"/>
            <a:chOff x="1125960" y="4556364"/>
            <a:chExt cx="1491480" cy="573501"/>
          </a:xfrm>
        </p:grpSpPr>
        <p:sp>
          <p:nvSpPr>
            <p:cNvPr id="6" name="椭圆 5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Follower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923928" y="3793604"/>
            <a:ext cx="1491480" cy="573501"/>
            <a:chOff x="1125960" y="4556364"/>
            <a:chExt cx="1491480" cy="573501"/>
          </a:xfrm>
        </p:grpSpPr>
        <p:sp>
          <p:nvSpPr>
            <p:cNvPr id="9" name="椭圆 8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Candidate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058308" y="3793604"/>
            <a:ext cx="1491480" cy="573501"/>
            <a:chOff x="1125960" y="4556364"/>
            <a:chExt cx="1491480" cy="573501"/>
          </a:xfrm>
        </p:grpSpPr>
        <p:sp>
          <p:nvSpPr>
            <p:cNvPr id="12" name="椭圆 11"/>
            <p:cNvSpPr/>
            <p:nvPr/>
          </p:nvSpPr>
          <p:spPr>
            <a:xfrm>
              <a:off x="1331640" y="4556364"/>
              <a:ext cx="1080120" cy="5735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25960" y="4705414"/>
              <a:ext cx="1491480" cy="317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ras Medium ITC" panose="020B06020305040208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Leader</a:t>
              </a:r>
              <a:endPara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3707904" y="3649588"/>
            <a:ext cx="4176464" cy="9361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417640" y="3335835"/>
            <a:ext cx="2684984" cy="421602"/>
            <a:chOff x="912507" y="1040361"/>
            <a:chExt cx="2684984" cy="421602"/>
          </a:xfrm>
        </p:grpSpPr>
        <p:sp>
          <p:nvSpPr>
            <p:cNvPr id="16" name="矩形 15"/>
            <p:cNvSpPr/>
            <p:nvPr/>
          </p:nvSpPr>
          <p:spPr>
            <a:xfrm>
              <a:off x="912507" y="1040361"/>
              <a:ext cx="2684984" cy="421602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773103" y="1062969"/>
              <a:ext cx="10054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Activate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30924" y="3332308"/>
            <a:ext cx="1491480" cy="421602"/>
            <a:chOff x="912507" y="1040361"/>
            <a:chExt cx="2684984" cy="421602"/>
          </a:xfrm>
        </p:grpSpPr>
        <p:sp>
          <p:nvSpPr>
            <p:cNvPr id="19" name="矩形 18"/>
            <p:cNvSpPr/>
            <p:nvPr/>
          </p:nvSpPr>
          <p:spPr>
            <a:xfrm>
              <a:off x="912507" y="1040361"/>
              <a:ext cx="2684984" cy="421602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377636" y="1066496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Passive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Raft basics: terms for one leader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图示, 日程表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80" y="957313"/>
            <a:ext cx="7452320" cy="191676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22920" y="3175266"/>
            <a:ext cx="8229600" cy="3164842"/>
          </a:xfrm>
        </p:spPr>
        <p:txBody>
          <a:bodyPr/>
          <a:lstStyle/>
          <a:p>
            <a:r>
              <a:rPr kumimoji="1" lang="en-US" altLang="zh-CN"/>
              <a:t>Raft divides time into terms (with arbitrary length):</a:t>
            </a:r>
            <a:endParaRPr kumimoji="1" lang="en-US" altLang="zh-CN"/>
          </a:p>
          <a:p>
            <a:pPr lvl="1"/>
            <a:r>
              <a:rPr kumimoji="1" lang="en-US" altLang="zh-CN"/>
              <a:t>Each term starts with an election </a:t>
            </a:r>
            <a:endParaRPr kumimoji="1" lang="en-US" altLang="zh-CN"/>
          </a:p>
          <a:p>
            <a:pPr lvl="1"/>
            <a:r>
              <a:rPr kumimoji="1" lang="en-US" altLang="zh-CN"/>
              <a:t>Ends with one leader or no leader</a:t>
            </a:r>
            <a:endParaRPr kumimoji="1" lang="en-US" altLang="zh-CN"/>
          </a:p>
          <a:p>
            <a:pPr lvl="1"/>
            <a:r>
              <a:rPr kumimoji="1" lang="en-US" altLang="zh-CN"/>
              <a:t>At most one leader per term  </a:t>
            </a:r>
            <a:endParaRPr kumimoji="1" lang="en-US" altLang="zh-CN"/>
          </a:p>
          <a:p>
            <a:r>
              <a:rPr kumimoji="1" lang="en-US" altLang="zh-CN"/>
              <a:t>Each leader is uniquely associated with a term </a:t>
            </a:r>
            <a:endParaRPr lang="en-GB" altLang="zh-CN"/>
          </a:p>
          <a:p>
            <a:pPr lvl="1"/>
            <a:r>
              <a:rPr kumimoji="1" lang="en-US" altLang="zh-CN"/>
              <a:t>Key role: identify obsolete information 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Raft server state switch: Heartbeats &amp; Timeouts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Servers start as followers (except one server is assigned as the leader)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Followers expect to receive RPCs from leaders or candidates </a:t>
            </a:r>
            <a:endParaRPr kumimoji="1" lang="en-US" altLang="zh-CN" dirty="0"/>
          </a:p>
          <a:p>
            <a:r>
              <a:rPr kumimoji="1" lang="en-US" altLang="zh-CN" dirty="0"/>
              <a:t>Leaders must send </a:t>
            </a:r>
            <a:r>
              <a:rPr kumimoji="1" lang="en-US" altLang="zh-CN" dirty="0">
                <a:solidFill>
                  <a:srgbClr val="C00000"/>
                </a:solidFill>
              </a:rPr>
              <a:t>heartbeats</a:t>
            </a:r>
            <a:r>
              <a:rPr kumimoji="1" lang="en-US" altLang="zh-CN" dirty="0"/>
              <a:t> to maintain </a:t>
            </a:r>
            <a:r>
              <a:rPr lang="en-GB" altLang="zh-CN" dirty="0"/>
              <a:t>authority in a term </a:t>
            </a:r>
            <a:endParaRPr lang="en-GB" altLang="zh-CN" dirty="0"/>
          </a:p>
          <a:p>
            <a:pPr lvl="1"/>
            <a:r>
              <a:rPr lang="en-GB" altLang="zh-CN" dirty="0"/>
              <a:t>If election timeout elapses with no RPCs: </a:t>
            </a:r>
            <a:endParaRPr lang="en-GB" altLang="zh-CN" dirty="0"/>
          </a:p>
          <a:p>
            <a:pPr lvl="2"/>
            <a:r>
              <a:rPr kumimoji="1" lang="en-GB" altLang="zh-CN" sz="1800" dirty="0"/>
              <a:t>Follower assumes leader has crashed </a:t>
            </a:r>
            <a:endParaRPr kumimoji="1" lang="en-GB" altLang="zh-CN" sz="1800" dirty="0"/>
          </a:p>
          <a:p>
            <a:pPr lvl="2"/>
            <a:r>
              <a:rPr kumimoji="1" lang="en-GB" altLang="zh-CN" sz="1800" dirty="0"/>
              <a:t>Follower starts </a:t>
            </a:r>
            <a:r>
              <a:rPr kumimoji="1" lang="en-GB" altLang="zh-CN" sz="1800" b="1" dirty="0">
                <a:solidFill>
                  <a:srgbClr val="FF0000"/>
                </a:solidFill>
              </a:rPr>
              <a:t>new election </a:t>
            </a:r>
            <a:endParaRPr kumimoji="1" lang="en-GB" altLang="zh-CN" sz="1800" b="1" dirty="0">
              <a:solidFill>
                <a:srgbClr val="FF0000"/>
              </a:solidFill>
            </a:endParaRPr>
          </a:p>
          <a:p>
            <a:pPr lvl="2"/>
            <a:r>
              <a:rPr kumimoji="1" lang="en-GB" altLang="zh-CN" sz="1800" dirty="0"/>
              <a:t>Timeouts typically 100-500ms </a:t>
            </a:r>
            <a:endParaRPr kumimoji="1" lang="en-GB" altLang="zh-CN" sz="1800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日程表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991" y="96701"/>
            <a:ext cx="4528592" cy="11647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Election Basics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1129308"/>
            <a:ext cx="8625743" cy="377163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b="0"/>
              <a:t>Change its</a:t>
            </a:r>
            <a:r>
              <a:rPr kumimoji="1" lang="zh-CN" altLang="en-US" b="0"/>
              <a:t> </a:t>
            </a:r>
            <a:r>
              <a:rPr kumimoji="1" lang="en-US" altLang="zh-CN" b="0"/>
              <a:t>state to the candidate state </a:t>
            </a:r>
            <a:endParaRPr kumimoji="1" lang="en-US" altLang="zh-CN" b="0"/>
          </a:p>
          <a:p>
            <a:pPr marL="342900" indent="-342900">
              <a:buAutoNum type="arabicPeriod"/>
            </a:pPr>
            <a:r>
              <a:rPr kumimoji="1" lang="en-GB" altLang="zh-CN" b="0"/>
              <a:t>Increment current term </a:t>
            </a:r>
            <a:endParaRPr kumimoji="1" lang="en-GB" altLang="zh-CN" b="0"/>
          </a:p>
          <a:p>
            <a:pPr marL="342900" indent="-342900">
              <a:buAutoNum type="arabicPeriod"/>
            </a:pPr>
            <a:r>
              <a:rPr kumimoji="1" lang="en-GB" altLang="zh-CN" b="0"/>
              <a:t>Vote for </a:t>
            </a:r>
            <a:r>
              <a:rPr kumimoji="1" lang="en-US" altLang="zh-CN" b="0"/>
              <a:t>it</a:t>
            </a:r>
            <a:r>
              <a:rPr kumimoji="1" lang="en-GB" altLang="zh-CN" b="0"/>
              <a:t>self </a:t>
            </a:r>
            <a:endParaRPr kumimoji="1" lang="en-GB" altLang="zh-CN" b="0"/>
          </a:p>
          <a:p>
            <a:pPr lvl="1" indent="0">
              <a:buNone/>
            </a:pPr>
            <a:r>
              <a:rPr lang="en-GB" altLang="zh-CN"/>
              <a:t>Send </a:t>
            </a:r>
            <a:r>
              <a:rPr lang="en-GB" altLang="zh-CN" b="1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RequestVote</a:t>
            </a:r>
            <a:r>
              <a:rPr lang="en-GB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RPC</a:t>
            </a:r>
            <a:r>
              <a:rPr lang="en-GB" altLang="zh-CN"/>
              <a:t>s to all other servers, retry until either </a:t>
            </a:r>
            <a:endParaRPr lang="en-GB" altLang="zh-CN"/>
          </a:p>
          <a:p>
            <a:pPr marL="1600200" lvl="2" indent="-457200">
              <a:buFont typeface="+mj-ea"/>
              <a:buAutoNum type="circleNumDbPlain"/>
            </a:pPr>
            <a:r>
              <a:rPr lang="en-GB" altLang="zh-CN" sz="1800"/>
              <a:t>Receive votes from majority of servers </a:t>
            </a:r>
            <a:r>
              <a:rPr lang="en-US" altLang="zh-CN" sz="1800"/>
              <a:t>➔ Become</a:t>
            </a:r>
            <a:r>
              <a:rPr lang="zh-CN" altLang="en-US" sz="1800"/>
              <a:t> </a:t>
            </a:r>
            <a:r>
              <a:rPr lang="en-US" altLang="zh-CN" sz="1800"/>
              <a:t>the leader!</a:t>
            </a:r>
            <a:endParaRPr lang="en-US" altLang="zh-CN" sz="1800"/>
          </a:p>
          <a:p>
            <a:pPr marL="1600200" lvl="2" indent="-457200">
              <a:buFont typeface="+mj-ea"/>
              <a:buAutoNum type="circleNumDbPlain"/>
            </a:pPr>
            <a:r>
              <a:rPr lang="en-US" altLang="zh-CN" sz="1800"/>
              <a:t>Receiver RPC from a valid leader  ➔ Return to the follower </a:t>
            </a:r>
            <a:endParaRPr lang="en-US" altLang="zh-CN" sz="1800"/>
          </a:p>
          <a:p>
            <a:pPr lvl="2" indent="0">
              <a:buNone/>
            </a:pPr>
            <a:endParaRPr lang="en-GB" altLang="zh-CN" sz="1800"/>
          </a:p>
          <a:p>
            <a:pPr marL="1600200" lvl="2" indent="-457200">
              <a:buFont typeface="+mj-ea"/>
              <a:buAutoNum type="circleNumDbPlain"/>
            </a:pPr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326314" y="3796889"/>
            <a:ext cx="6141141" cy="583586"/>
            <a:chOff x="403124" y="989206"/>
            <a:chExt cx="6141141" cy="583586"/>
          </a:xfrm>
        </p:grpSpPr>
        <p:sp>
          <p:nvSpPr>
            <p:cNvPr id="7" name="矩形 6"/>
            <p:cNvSpPr/>
            <p:nvPr/>
          </p:nvSpPr>
          <p:spPr>
            <a:xfrm>
              <a:off x="403124" y="989206"/>
              <a:ext cx="6141141" cy="583586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65490" y="1074946"/>
              <a:ext cx="58528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cs typeface="Consolas" panose="020B0609020204030204" pitchFamily="49" charset="0"/>
                </a:rPr>
                <a:t>Question: what is the condition for the follower to vote? </a:t>
              </a:r>
              <a:endParaRPr lang="zh-CN" altLang="en-US" dirty="0">
                <a:cs typeface="Consolas" panose="020B0609020204030204" pitchFamily="49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828119" y="4599104"/>
            <a:ext cx="5575181" cy="583586"/>
            <a:chOff x="882101" y="1040361"/>
            <a:chExt cx="5575181" cy="583586"/>
          </a:xfrm>
        </p:grpSpPr>
        <p:sp>
          <p:nvSpPr>
            <p:cNvPr id="11" name="矩形 10"/>
            <p:cNvSpPr/>
            <p:nvPr/>
          </p:nvSpPr>
          <p:spPr>
            <a:xfrm>
              <a:off x="912506" y="1040361"/>
              <a:ext cx="5457357" cy="583586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82101" y="1147488"/>
              <a:ext cx="55751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cs typeface="Consolas" panose="020B0609020204030204" pitchFamily="49" charset="0"/>
                </a:rPr>
                <a:t>The leader’s term &gt;= self’s term &amp; never vote before </a:t>
              </a:r>
              <a:endParaRPr lang="zh-CN" altLang="en-US" dirty="0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日程表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991" y="96701"/>
            <a:ext cx="4528592" cy="11647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Election Basics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1129308"/>
            <a:ext cx="8625743" cy="377163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b="0"/>
              <a:t>Change its</a:t>
            </a:r>
            <a:r>
              <a:rPr kumimoji="1" lang="zh-CN" altLang="en-US" b="0"/>
              <a:t> </a:t>
            </a:r>
            <a:r>
              <a:rPr kumimoji="1" lang="en-US" altLang="zh-CN" b="0"/>
              <a:t>state to the candidate state </a:t>
            </a:r>
            <a:endParaRPr kumimoji="1" lang="en-US" altLang="zh-CN" b="0"/>
          </a:p>
          <a:p>
            <a:pPr marL="342900" indent="-342900">
              <a:buAutoNum type="arabicPeriod"/>
            </a:pPr>
            <a:r>
              <a:rPr kumimoji="1" lang="en-GB" altLang="zh-CN" b="0"/>
              <a:t>Increment current term </a:t>
            </a:r>
            <a:endParaRPr kumimoji="1" lang="en-GB" altLang="zh-CN" b="0"/>
          </a:p>
          <a:p>
            <a:pPr marL="342900" indent="-342900">
              <a:buAutoNum type="arabicPeriod"/>
            </a:pPr>
            <a:r>
              <a:rPr kumimoji="1" lang="en-GB" altLang="zh-CN" b="0"/>
              <a:t>Vote for </a:t>
            </a:r>
            <a:r>
              <a:rPr kumimoji="1" lang="en-US" altLang="zh-CN" b="0"/>
              <a:t>it</a:t>
            </a:r>
            <a:r>
              <a:rPr kumimoji="1" lang="en-GB" altLang="zh-CN" b="0"/>
              <a:t>self </a:t>
            </a:r>
            <a:endParaRPr kumimoji="1" lang="en-GB" altLang="zh-CN" b="0"/>
          </a:p>
          <a:p>
            <a:pPr lvl="1" indent="0">
              <a:buNone/>
            </a:pPr>
            <a:r>
              <a:rPr lang="en-GB" altLang="zh-CN"/>
              <a:t>Send </a:t>
            </a:r>
            <a:r>
              <a:rPr lang="en-GB" altLang="zh-CN" b="1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RequestVote</a:t>
            </a:r>
            <a:r>
              <a:rPr lang="en-GB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RPC</a:t>
            </a:r>
            <a:r>
              <a:rPr lang="en-GB" altLang="zh-CN"/>
              <a:t>s to all other servers, retry until either </a:t>
            </a:r>
            <a:endParaRPr lang="en-GB" altLang="zh-CN"/>
          </a:p>
          <a:p>
            <a:pPr marL="1600200" lvl="2" indent="-457200">
              <a:buFont typeface="+mj-ea"/>
              <a:buAutoNum type="circleNumDbPlain"/>
            </a:pPr>
            <a:r>
              <a:rPr lang="en-GB" altLang="zh-CN" sz="1800"/>
              <a:t>Receive votes from majority of servers </a:t>
            </a:r>
            <a:r>
              <a:rPr lang="en-US" altLang="zh-CN" sz="1800"/>
              <a:t>➔ Become</a:t>
            </a:r>
            <a:r>
              <a:rPr lang="zh-CN" altLang="en-US" sz="1800"/>
              <a:t> </a:t>
            </a:r>
            <a:r>
              <a:rPr lang="en-US" altLang="zh-CN" sz="1800"/>
              <a:t>the leader!</a:t>
            </a:r>
            <a:endParaRPr lang="en-US" altLang="zh-CN" sz="1800"/>
          </a:p>
          <a:p>
            <a:pPr marL="1600200" lvl="2" indent="-457200">
              <a:buFont typeface="+mj-ea"/>
              <a:buAutoNum type="circleNumDbPlain"/>
            </a:pPr>
            <a:r>
              <a:rPr lang="en-US" altLang="zh-CN" sz="1800"/>
              <a:t>Receiver RPC from a valid leader  ➔ Return to the follower </a:t>
            </a:r>
            <a:endParaRPr lang="en-US" altLang="zh-CN" sz="1800"/>
          </a:p>
          <a:p>
            <a:pPr marL="1600200" lvl="2" indent="-457200">
              <a:buFont typeface="+mj-ea"/>
              <a:buAutoNum type="circleNumDbPlain"/>
            </a:pPr>
            <a:r>
              <a:rPr lang="en-US" altLang="zh-CN" sz="1800"/>
              <a:t>No one wins election (timeouts on the election) </a:t>
            </a:r>
            <a:r>
              <a:rPr lang="en-US" altLang="zh-CN" sz="1600"/>
              <a:t>➔ </a:t>
            </a:r>
            <a:r>
              <a:rPr lang="en-US" altLang="zh-CN" sz="1800"/>
              <a:t>Increase the term, start the new election   </a:t>
            </a:r>
            <a:endParaRPr lang="en-US" altLang="zh-CN" sz="1800"/>
          </a:p>
          <a:p>
            <a:pPr lvl="2" indent="0">
              <a:buNone/>
            </a:pPr>
            <a:endParaRPr lang="en-GB" altLang="zh-CN" sz="1800"/>
          </a:p>
          <a:p>
            <a:pPr marL="1600200" lvl="2" indent="-457200">
              <a:buFont typeface="+mj-ea"/>
              <a:buAutoNum type="circleNumDbPlain"/>
            </a:pPr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形状 8"/>
          <p:cNvSpPr/>
          <p:nvPr/>
        </p:nvSpPr>
        <p:spPr>
          <a:xfrm>
            <a:off x="-14971" y="1450428"/>
            <a:ext cx="3683732" cy="3581063"/>
          </a:xfrm>
          <a:custGeom>
            <a:avLst/>
            <a:gdLst>
              <a:gd name="connsiteX0" fmla="*/ 3378281 w 3683732"/>
              <a:gd name="connsiteY0" fmla="*/ 2806262 h 3581063"/>
              <a:gd name="connsiteX1" fmla="*/ 3388792 w 3683732"/>
              <a:gd name="connsiteY1" fmla="*/ 3363310 h 3581063"/>
              <a:gd name="connsiteX2" fmla="*/ 288240 w 3683732"/>
              <a:gd name="connsiteY2" fmla="*/ 3289738 h 3581063"/>
              <a:gd name="connsiteX3" fmla="*/ 319771 w 3683732"/>
              <a:gd name="connsiteY3" fmla="*/ 0 h 358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3732" h="3581063">
                <a:moveTo>
                  <a:pt x="3378281" y="2806262"/>
                </a:moveTo>
                <a:cubicBezTo>
                  <a:pt x="3641040" y="3044496"/>
                  <a:pt x="3903799" y="3282731"/>
                  <a:pt x="3388792" y="3363310"/>
                </a:cubicBezTo>
                <a:cubicBezTo>
                  <a:pt x="2873785" y="3443889"/>
                  <a:pt x="799743" y="3850290"/>
                  <a:pt x="288240" y="3289738"/>
                </a:cubicBezTo>
                <a:cubicBezTo>
                  <a:pt x="-223263" y="2729186"/>
                  <a:pt x="48254" y="1364593"/>
                  <a:pt x="319771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Election requirements: safety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3771636"/>
          </a:xfrm>
        </p:spPr>
        <p:txBody>
          <a:bodyPr/>
          <a:lstStyle/>
          <a:p>
            <a:r>
              <a:rPr kumimoji="1" lang="en-US" altLang="zh-CN" dirty="0"/>
              <a:t>At most one winner per term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to achieve so? Each server only gives one vote per term (persist on disk)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Majority ensures at least one leader (similar to phase #1 of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)</a:t>
            </a:r>
            <a:endParaRPr kumimoji="1" lang="en-US" altLang="zh-CN" dirty="0"/>
          </a:p>
          <a:p>
            <a:r>
              <a:rPr kumimoji="1" lang="en-US" altLang="zh-CN" dirty="0"/>
              <a:t>Question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Can different candidates exist in the same term?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Yes. Each server should keep a </a:t>
            </a:r>
            <a:r>
              <a:rPr kumimoji="1" lang="en-US" altLang="zh-CN" dirty="0" err="1">
                <a:highlight>
                  <a:srgbClr val="FFFF00"/>
                </a:highlight>
              </a:rPr>
              <a:t>VotedFor</a:t>
            </a:r>
            <a:r>
              <a:rPr kumimoji="1" lang="en-US" altLang="zh-CN" dirty="0"/>
              <a:t> variable to ensure it only gives vote to one candidate.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片包含 图形用户界面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08" y="4241568"/>
            <a:ext cx="6948264" cy="131875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Election requirements: liveness 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3771636"/>
          </a:xfrm>
        </p:spPr>
        <p:txBody>
          <a:bodyPr/>
          <a:lstStyle/>
          <a:p>
            <a:r>
              <a:rPr lang="en-GB" altLang="zh-CN"/>
              <a:t>Some candidate must eventually win </a:t>
            </a:r>
            <a:endParaRPr lang="en-GB" altLang="zh-CN"/>
          </a:p>
          <a:p>
            <a:pPr lvl="1"/>
            <a:r>
              <a:rPr lang="en-GB" altLang="zh-CN"/>
              <a:t>If multiple candidates started, non will win </a:t>
            </a:r>
            <a:endParaRPr lang="en-GB" altLang="zh-CN"/>
          </a:p>
          <a:p>
            <a:r>
              <a:rPr lang="en-GB" altLang="zh-CN"/>
              <a:t>Raft’s key idea: use random timeout before the retry </a:t>
            </a:r>
            <a:endParaRPr lang="en-GB" altLang="zh-CN"/>
          </a:p>
          <a:p>
            <a:pPr lvl="1"/>
            <a:r>
              <a:rPr lang="en-GB" altLang="zh-CN"/>
              <a:t>So as to minimize the possibilities that two candidates retry at the same time </a:t>
            </a:r>
            <a:endParaRPr lang="en-GB" altLang="zh-CN"/>
          </a:p>
          <a:p>
            <a:pPr lvl="1"/>
            <a:r>
              <a:rPr kumimoji="1" lang="en-US" altLang="zh-CN"/>
              <a:t>Typically, it randomly selects a time between </a:t>
            </a:r>
            <a:r>
              <a:rPr kumimoji="1"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[T, 2T] </a:t>
            </a:r>
            <a:endParaRPr kumimoji="1" lang="en-US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1800"/>
              <a:t>T is the election timeout </a:t>
            </a:r>
            <a:endParaRPr kumimoji="1" lang="zh-CN" altLang="en-US" sz="18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Persistent state of each server so far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60" y="1201316"/>
            <a:ext cx="8229600" cy="2088232"/>
          </a:xfrm>
          <a:ln>
            <a:solidFill>
              <a:schemeClr val="tx1"/>
            </a:solidFill>
          </a:ln>
        </p:spPr>
        <p:txBody>
          <a:bodyPr/>
          <a:lstStyle/>
          <a:p>
            <a:pPr marL="796925" indent="-796925">
              <a:buNone/>
            </a:pPr>
            <a:r>
              <a:rPr lang="en-US" altLang="zh-CN" b="1" err="1"/>
              <a:t>currentTerm</a:t>
            </a:r>
            <a:r>
              <a:rPr lang="en-US" altLang="zh-CN"/>
              <a:t>	</a:t>
            </a:r>
            <a:endParaRPr lang="en-US" altLang="zh-CN"/>
          </a:p>
          <a:p>
            <a:pPr marL="1156970" lvl="1" indent="-796925">
              <a:buNone/>
            </a:pPr>
            <a:r>
              <a:rPr lang="en-US" altLang="zh-CN"/>
              <a:t>Latest term server has seen (initialized to 0 on first boot)</a:t>
            </a:r>
            <a:endParaRPr lang="en-US" altLang="zh-CN"/>
          </a:p>
          <a:p>
            <a:pPr marL="796925" indent="-796925">
              <a:buNone/>
            </a:pPr>
            <a:r>
              <a:rPr lang="en-US" altLang="zh-CN" b="1" err="1"/>
              <a:t>votedFor</a:t>
            </a:r>
            <a:r>
              <a:rPr lang="en-US" altLang="zh-CN"/>
              <a:t>	</a:t>
            </a:r>
            <a:endParaRPr lang="en-US" altLang="zh-CN"/>
          </a:p>
          <a:p>
            <a:pPr marL="1156970" lvl="1" indent="-796925">
              <a:buNone/>
            </a:pPr>
            <a:r>
              <a:rPr lang="en-US" altLang="zh-CN"/>
              <a:t>Candidate</a:t>
            </a:r>
            <a:r>
              <a:rPr lang="zh-CN" altLang="en-US"/>
              <a:t> </a:t>
            </a:r>
            <a:r>
              <a:rPr lang="en-US" altLang="zh-CN"/>
              <a:t>Id that received vote in current term (or null if none)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Basic request vote RPC so far 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22"/>
          <p:cNvSpPr txBox="1"/>
          <p:nvPr/>
        </p:nvSpPr>
        <p:spPr>
          <a:xfrm>
            <a:off x="1162184" y="1095812"/>
            <a:ext cx="7344816" cy="44781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Invoked by candidates to gather votes.</a:t>
            </a:r>
            <a:endParaRPr 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Arguments: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candidateId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candidate requesting vote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candidate's term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Results: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for candidate to update itself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voteGranted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true means candidate received vote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Implementation: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term &gt;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← term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(step down if leader or candidate)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term ==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votedFor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null or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candidateId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grant vote and reset election timeout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Raft’s high-level approach: problem decomposition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39248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kumimoji="1" lang="en-US" altLang="zh-CN"/>
              <a:t>Leader election </a:t>
            </a:r>
            <a:endParaRPr kumimoji="1" lang="en-US" altLang="zh-CN"/>
          </a:p>
          <a:p>
            <a:pPr marL="360045" marR="0" lvl="1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Select one server as the leader 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360045" marR="0" lvl="1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Detect crashes, choose new leader </a:t>
            </a:r>
            <a:endParaRPr kumimoji="1" lang="en-US" altLang="zh-CN"/>
          </a:p>
          <a:p>
            <a:pPr marL="342900" indent="-342900">
              <a:buAutoNum type="arabicPeriod"/>
            </a:pPr>
            <a:r>
              <a:rPr kumimoji="1" lang="en-US" altLang="zh-CN"/>
              <a:t>Log replication (normal operation)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Leader accepts commands from clients, append to its log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Leader replicates its log to other servers (overwrites inconsistencies)</a:t>
            </a:r>
            <a:endParaRPr kumimoji="1" lang="en-US" altLang="zh-CN"/>
          </a:p>
          <a:p>
            <a:pPr marL="342900" indent="-342900">
              <a:buAutoNum type="arabicPeriod"/>
            </a:pPr>
            <a:r>
              <a:rPr kumimoji="1" lang="en-US" altLang="zh-CN"/>
              <a:t>Safety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Keep logs consistent </a:t>
            </a:r>
            <a:endParaRPr kumimoji="1" lang="en-US" altLang="zh-CN"/>
          </a:p>
          <a:p>
            <a:pPr lvl="1" indent="0">
              <a:buNone/>
            </a:pPr>
            <a:r>
              <a:rPr kumimoji="1" lang="en-US" altLang="zh-CN"/>
              <a:t>Only servers with up-to-date logs can become the leader 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68221" y="2353444"/>
            <a:ext cx="8136904" cy="1296144"/>
          </a:xfrm>
          <a:prstGeom prst="rect">
            <a:avLst/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Log structure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3433564"/>
            <a:ext cx="8229600" cy="2383693"/>
          </a:xfrm>
        </p:spPr>
        <p:txBody>
          <a:bodyPr>
            <a:normAutofit/>
          </a:bodyPr>
          <a:lstStyle/>
          <a:p>
            <a:r>
              <a:rPr kumimoji="1" lang="en-US" altLang="zh-CN"/>
              <a:t>Log entry = index, term, command </a:t>
            </a:r>
            <a:endParaRPr kumimoji="1" lang="en-US" altLang="zh-CN"/>
          </a:p>
          <a:p>
            <a:pPr lvl="1"/>
            <a:r>
              <a:rPr kumimoji="1" lang="en-US" altLang="zh-CN"/>
              <a:t>Stored on the disk to tolerate failures </a:t>
            </a:r>
            <a:endParaRPr kumimoji="1" lang="en-US" altLang="zh-CN"/>
          </a:p>
          <a:p>
            <a:r>
              <a:rPr kumimoji="1" lang="en-US" altLang="zh-CN"/>
              <a:t>A log is committed if it can be safely applied to the state machine </a:t>
            </a:r>
            <a:endParaRPr kumimoji="1" lang="en-US" altLang="zh-CN"/>
          </a:p>
          <a:p>
            <a:pPr lvl="1"/>
            <a:r>
              <a:rPr kumimoji="1" lang="en-US" altLang="zh-CN"/>
              <a:t>i.e., eventually stored on all the servers with the same value </a:t>
            </a:r>
            <a:endParaRPr kumimoji="1" lang="en-US" altLang="zh-CN"/>
          </a:p>
          <a:p>
            <a:r>
              <a:rPr kumimoji="1" lang="en-US" altLang="zh-CN">
                <a:solidFill>
                  <a:srgbClr val="C00000"/>
                </a:solidFill>
              </a:rPr>
              <a:t>Not all </a:t>
            </a:r>
            <a:r>
              <a:rPr kumimoji="1" lang="en-US" altLang="zh-CN"/>
              <a:t>entries are </a:t>
            </a:r>
            <a:r>
              <a:rPr kumimoji="1" lang="en-US" altLang="zh-CN">
                <a:solidFill>
                  <a:srgbClr val="C00000"/>
                </a:solidFill>
              </a:rPr>
              <a:t>committed </a:t>
            </a:r>
            <a:r>
              <a:rPr kumimoji="1" lang="en-US" altLang="zh-CN" b="0">
                <a:solidFill>
                  <a:schemeClr val="tx1"/>
                </a:solidFill>
              </a:rPr>
              <a:t>(will talk about later) </a:t>
            </a:r>
            <a:endParaRPr kumimoji="1" lang="en-US" altLang="zh-CN" b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584" y="337562"/>
            <a:ext cx="6607576" cy="287997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Persistent state of each server + log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60" y="1201316"/>
            <a:ext cx="8229600" cy="273568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796925" indent="-796925">
              <a:buNone/>
            </a:pPr>
            <a:r>
              <a:rPr lang="en-US" altLang="zh-CN" b="1" err="1"/>
              <a:t>currentTerm</a:t>
            </a:r>
            <a:r>
              <a:rPr lang="en-US" altLang="zh-CN"/>
              <a:t>	</a:t>
            </a:r>
            <a:endParaRPr lang="en-US" altLang="zh-CN"/>
          </a:p>
          <a:p>
            <a:pPr marL="1156970" lvl="1" indent="-796925">
              <a:buNone/>
            </a:pPr>
            <a:r>
              <a:rPr lang="en-US" altLang="zh-CN"/>
              <a:t>Latest term server has seen (initialized to 0 on first boot)</a:t>
            </a:r>
            <a:endParaRPr lang="en-US" altLang="zh-CN"/>
          </a:p>
          <a:p>
            <a:pPr marL="796925" indent="-796925">
              <a:buNone/>
            </a:pPr>
            <a:r>
              <a:rPr lang="en-US" altLang="zh-CN" b="1" err="1"/>
              <a:t>votedFor</a:t>
            </a:r>
            <a:r>
              <a:rPr lang="en-US" altLang="zh-CN"/>
              <a:t>	</a:t>
            </a:r>
            <a:endParaRPr lang="en-US" altLang="zh-CN"/>
          </a:p>
          <a:p>
            <a:pPr marL="1156970" lvl="1" indent="-796925">
              <a:buNone/>
            </a:pPr>
            <a:r>
              <a:rPr lang="en-US" altLang="zh-CN"/>
              <a:t>Candidate</a:t>
            </a:r>
            <a:r>
              <a:rPr lang="zh-CN" altLang="en-US"/>
              <a:t> </a:t>
            </a:r>
            <a:r>
              <a:rPr lang="en-US" altLang="zh-CN"/>
              <a:t>Id that received vote in current term (or null if none)</a:t>
            </a:r>
            <a:endParaRPr lang="en-US" altLang="zh-CN"/>
          </a:p>
          <a:p>
            <a:pPr marL="796925" indent="-796925"/>
            <a:r>
              <a:rPr lang="en-US" altLang="zh-CN"/>
              <a:t>Log[]</a:t>
            </a:r>
            <a:endParaRPr lang="en-US" altLang="zh-CN"/>
          </a:p>
          <a:p>
            <a:pPr lvl="1" indent="0">
              <a:buNone/>
            </a:pPr>
            <a:r>
              <a:rPr lang="en-US" altLang="zh-CN"/>
              <a:t>Log entries  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Normal operations to update the log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558" y="2529333"/>
            <a:ext cx="8843442" cy="307189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ea"/>
              <a:buAutoNum type="circleNumDbPlain"/>
            </a:pPr>
            <a:r>
              <a:rPr kumimoji="1" lang="en-US" altLang="zh-CN" b="0" dirty="0"/>
              <a:t>Send command to the leader </a:t>
            </a:r>
            <a:endParaRPr kumimoji="1" lang="en-US" altLang="zh-CN" b="0" dirty="0"/>
          </a:p>
          <a:p>
            <a:pPr marL="342900" indent="-342900">
              <a:lnSpc>
                <a:spcPct val="100000"/>
              </a:lnSpc>
              <a:buFont typeface="+mj-ea"/>
              <a:buAutoNum type="circleNumDbPlain"/>
            </a:pPr>
            <a:r>
              <a:rPr kumimoji="1" lang="en-GB" altLang="zh-CN" b="0" dirty="0"/>
              <a:t>Leader appends command to its log</a:t>
            </a:r>
            <a:endParaRPr kumimoji="1" lang="en-GB" altLang="zh-CN" b="0" dirty="0"/>
          </a:p>
          <a:p>
            <a:pPr marL="342900" indent="-342900">
              <a:lnSpc>
                <a:spcPct val="100000"/>
              </a:lnSpc>
              <a:buFont typeface="+mj-ea"/>
              <a:buAutoNum type="circleNumDbPlain"/>
            </a:pPr>
            <a:r>
              <a:rPr kumimoji="1" lang="en-GB" altLang="zh-CN" b="0" dirty="0"/>
              <a:t>Leader sends </a:t>
            </a:r>
            <a:r>
              <a:rPr kumimoji="1" lang="en-GB" altLang="zh-CN" b="0" dirty="0" err="1">
                <a:latin typeface="Consolas" panose="020B0609020204030204" pitchFamily="49" charset="0"/>
                <a:cs typeface="Consolas" panose="020B0609020204030204" pitchFamily="49" charset="0"/>
              </a:rPr>
              <a:t>AppendEntries</a:t>
            </a:r>
            <a:r>
              <a:rPr kumimoji="1" lang="en-GB" altLang="zh-CN" b="0" dirty="0"/>
              <a:t> RPCs to followers</a:t>
            </a:r>
            <a:endParaRPr kumimoji="1" lang="en-GB" altLang="zh-CN" b="0" dirty="0"/>
          </a:p>
          <a:p>
            <a:pPr marL="342900" indent="-342900">
              <a:lnSpc>
                <a:spcPct val="100000"/>
              </a:lnSpc>
              <a:buFont typeface="+mj-ea"/>
              <a:buAutoNum type="circleNumDbPlain"/>
            </a:pPr>
            <a:r>
              <a:rPr kumimoji="1" lang="en-GB" altLang="zh-CN" b="0" dirty="0"/>
              <a:t>Once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a</a:t>
            </a:r>
            <a:r>
              <a:rPr kumimoji="1" lang="en-GB" altLang="zh-CN" b="0" dirty="0"/>
              <a:t> new entry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(of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log)</a:t>
            </a:r>
            <a:r>
              <a:rPr kumimoji="1" lang="en-GB" altLang="zh-CN" b="0" dirty="0"/>
              <a:t> </a:t>
            </a:r>
            <a:r>
              <a:rPr kumimoji="1" lang="en-GB" altLang="zh-CN" dirty="0">
                <a:solidFill>
                  <a:srgbClr val="C00000"/>
                </a:solidFill>
              </a:rPr>
              <a:t>committed</a:t>
            </a:r>
            <a:r>
              <a:rPr kumimoji="1" lang="en-GB" altLang="zh-CN" b="0" dirty="0"/>
              <a:t>:</a:t>
            </a:r>
            <a:endParaRPr kumimoji="1" lang="en-GB" altLang="zh-CN" b="0" dirty="0"/>
          </a:p>
          <a:p>
            <a:pPr lvl="1" indent="0">
              <a:buNone/>
            </a:pPr>
            <a:r>
              <a:rPr kumimoji="1" lang="en-US" altLang="zh-CN" b="0" dirty="0"/>
              <a:t>Leader passes command to its state machine, returns results to client </a:t>
            </a:r>
            <a:endParaRPr kumimoji="1" lang="en-US" altLang="zh-CN" b="0" dirty="0"/>
          </a:p>
          <a:p>
            <a:pPr lvl="1" indent="0">
              <a:buNone/>
            </a:pPr>
            <a:r>
              <a:rPr kumimoji="1" lang="en-US" altLang="zh-CN" b="0" dirty="0"/>
              <a:t>Notifies followers </a:t>
            </a:r>
            <a:r>
              <a:rPr kumimoji="1" lang="en-US" altLang="zh-CN" dirty="0"/>
              <a:t>of committed entries, </a:t>
            </a:r>
            <a:r>
              <a:rPr kumimoji="1" lang="en-GB" altLang="zh-CN" dirty="0"/>
              <a:t> </a:t>
            </a:r>
            <a:r>
              <a:rPr kumimoji="1" lang="en-GB" altLang="zh-CN" b="0" dirty="0"/>
              <a:t>Follower pass committed commands to their state machines 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346" y="1212670"/>
            <a:ext cx="883816" cy="8838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692" y="1051445"/>
            <a:ext cx="2664296" cy="146378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038176" y="2111644"/>
            <a:ext cx="1051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/>
          </a:p>
        </p:txBody>
      </p:sp>
      <p:sp>
        <p:nvSpPr>
          <p:cNvPr id="17" name="任意形状 16"/>
          <p:cNvSpPr/>
          <p:nvPr/>
        </p:nvSpPr>
        <p:spPr>
          <a:xfrm>
            <a:off x="2931090" y="1289717"/>
            <a:ext cx="1866378" cy="1091934"/>
          </a:xfrm>
          <a:custGeom>
            <a:avLst/>
            <a:gdLst>
              <a:gd name="connsiteX0" fmla="*/ 0 w 1866378"/>
              <a:gd name="connsiteY0" fmla="*/ 1027598 h 1091934"/>
              <a:gd name="connsiteX1" fmla="*/ 1002083 w 1866378"/>
              <a:gd name="connsiteY1" fmla="*/ 1002546 h 1091934"/>
              <a:gd name="connsiteX2" fmla="*/ 951978 w 1866378"/>
              <a:gd name="connsiteY2" fmla="*/ 163302 h 1091934"/>
              <a:gd name="connsiteX3" fmla="*/ 1866378 w 1866378"/>
              <a:gd name="connsiteY3" fmla="*/ 464 h 109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6378" h="1091934">
                <a:moveTo>
                  <a:pt x="0" y="1027598"/>
                </a:moveTo>
                <a:cubicBezTo>
                  <a:pt x="421710" y="1087096"/>
                  <a:pt x="843420" y="1146595"/>
                  <a:pt x="1002083" y="1002546"/>
                </a:cubicBezTo>
                <a:cubicBezTo>
                  <a:pt x="1160746" y="858497"/>
                  <a:pt x="807929" y="330316"/>
                  <a:pt x="951978" y="163302"/>
                </a:cubicBezTo>
                <a:cubicBezTo>
                  <a:pt x="1096027" y="-3712"/>
                  <a:pt x="1481202" y="-1624"/>
                  <a:pt x="1866378" y="46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320881" y="1533622"/>
            <a:ext cx="13469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Command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Normal operations to update the log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2918412"/>
            <a:ext cx="8229600" cy="2567722"/>
          </a:xfrm>
        </p:spPr>
        <p:txBody>
          <a:bodyPr/>
          <a:lstStyle/>
          <a:p>
            <a:r>
              <a:rPr kumimoji="1" lang="en-US" altLang="zh-CN" dirty="0"/>
              <a:t>Crashed/slow followers?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Leader retries RPCs until they succeed (at least once) </a:t>
            </a:r>
            <a:endParaRPr kumimoji="1" lang="en-US" altLang="zh-CN" dirty="0"/>
          </a:p>
          <a:p>
            <a:r>
              <a:rPr kumimoji="1" lang="en-US" altLang="zh-CN" dirty="0"/>
              <a:t>Performance is optimal in the common case (like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w/ batching)</a:t>
            </a:r>
            <a:endParaRPr kumimoji="1" lang="en-US" altLang="zh-CN" dirty="0"/>
          </a:p>
          <a:p>
            <a:pPr lvl="1"/>
            <a:r>
              <a:rPr lang="en-US" altLang="zh-CN" dirty="0"/>
              <a:t>One successful RPC to any majority of servers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346" y="1212670"/>
            <a:ext cx="883816" cy="8838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692" y="1051445"/>
            <a:ext cx="2664296" cy="146378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8176" y="2111644"/>
            <a:ext cx="1051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</a:t>
            </a:r>
            <a:endParaRPr lang="zh-CN" altLang="en-US"/>
          </a:p>
        </p:txBody>
      </p:sp>
      <p:sp>
        <p:nvSpPr>
          <p:cNvPr id="8" name="任意形状 7"/>
          <p:cNvSpPr/>
          <p:nvPr/>
        </p:nvSpPr>
        <p:spPr>
          <a:xfrm>
            <a:off x="2931090" y="1289717"/>
            <a:ext cx="1866378" cy="1091934"/>
          </a:xfrm>
          <a:custGeom>
            <a:avLst/>
            <a:gdLst>
              <a:gd name="connsiteX0" fmla="*/ 0 w 1866378"/>
              <a:gd name="connsiteY0" fmla="*/ 1027598 h 1091934"/>
              <a:gd name="connsiteX1" fmla="*/ 1002083 w 1866378"/>
              <a:gd name="connsiteY1" fmla="*/ 1002546 h 1091934"/>
              <a:gd name="connsiteX2" fmla="*/ 951978 w 1866378"/>
              <a:gd name="connsiteY2" fmla="*/ 163302 h 1091934"/>
              <a:gd name="connsiteX3" fmla="*/ 1866378 w 1866378"/>
              <a:gd name="connsiteY3" fmla="*/ 464 h 109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6378" h="1091934">
                <a:moveTo>
                  <a:pt x="0" y="1027598"/>
                </a:moveTo>
                <a:cubicBezTo>
                  <a:pt x="421710" y="1087096"/>
                  <a:pt x="843420" y="1146595"/>
                  <a:pt x="1002083" y="1002546"/>
                </a:cubicBezTo>
                <a:cubicBezTo>
                  <a:pt x="1160746" y="858497"/>
                  <a:pt x="807929" y="330316"/>
                  <a:pt x="951978" y="163302"/>
                </a:cubicBezTo>
                <a:cubicBezTo>
                  <a:pt x="1096027" y="-3712"/>
                  <a:pt x="1481202" y="-1624"/>
                  <a:pt x="1866378" y="46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0881" y="1533622"/>
            <a:ext cx="13469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Command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Challenge: crash can cause log to inconsistencies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996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73052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8996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3052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8996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73052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>
            <a:off x="34142" y="5165389"/>
            <a:ext cx="8939336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159506" y="4980723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1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31776" y="2640901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S1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31776" y="3301197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S2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31776" y="4072664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S3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31776" y="2657728"/>
            <a:ext cx="504056" cy="368350"/>
          </a:xfrm>
          <a:prstGeom prst="rect">
            <a:avLst/>
          </a:prstGeom>
          <a:noFill/>
          <a:ln w="28575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94066" y="2228040"/>
            <a:ext cx="115122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</a:rPr>
              <a:t>Leader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62534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066590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62534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66590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62534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066590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925314" y="2640901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S1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925314" y="3301197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S2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925314" y="4072664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S3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925314" y="2657728"/>
            <a:ext cx="504056" cy="368350"/>
          </a:xfrm>
          <a:prstGeom prst="rect">
            <a:avLst/>
          </a:prstGeom>
          <a:noFill/>
          <a:ln w="28575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887604" y="2228040"/>
            <a:ext cx="115122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</a:rPr>
              <a:t>Leader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9" name="内容占位符 38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1312971"/>
          </a:xfrm>
        </p:spPr>
        <p:txBody>
          <a:bodyPr/>
          <a:lstStyle/>
          <a:p>
            <a:r>
              <a:rPr lang="en-US" altLang="zh-CN"/>
              <a:t>Case: an old leader is unaware of the new leader due to network partition</a:t>
            </a:r>
            <a:endParaRPr lang="en-US" altLang="zh-CN"/>
          </a:p>
          <a:p>
            <a:pPr lvl="1"/>
            <a:r>
              <a:rPr lang="en-US" altLang="zh-CN"/>
              <a:t>Yet, it can still get commands from the clients </a:t>
            </a:r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3769" y="4836483"/>
            <a:ext cx="738706" cy="653581"/>
          </a:xfrm>
          <a:prstGeom prst="rect">
            <a:avLst/>
          </a:prstGeom>
        </p:spPr>
      </p:pic>
      <p:sp>
        <p:nvSpPr>
          <p:cNvPr id="43" name="任意形状 42"/>
          <p:cNvSpPr/>
          <p:nvPr/>
        </p:nvSpPr>
        <p:spPr>
          <a:xfrm>
            <a:off x="2786038" y="3136695"/>
            <a:ext cx="2245360" cy="417218"/>
          </a:xfrm>
          <a:custGeom>
            <a:avLst/>
            <a:gdLst>
              <a:gd name="connsiteX0" fmla="*/ 0 w 2245360"/>
              <a:gd name="connsiteY0" fmla="*/ 417218 h 417218"/>
              <a:gd name="connsiteX1" fmla="*/ 436880 w 2245360"/>
              <a:gd name="connsiteY1" fmla="*/ 31138 h 417218"/>
              <a:gd name="connsiteX2" fmla="*/ 1239520 w 2245360"/>
              <a:gd name="connsiteY2" fmla="*/ 61618 h 417218"/>
              <a:gd name="connsiteX3" fmla="*/ 2245360 w 2245360"/>
              <a:gd name="connsiteY3" fmla="*/ 366418 h 417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5360" h="417218">
                <a:moveTo>
                  <a:pt x="0" y="417218"/>
                </a:moveTo>
                <a:cubicBezTo>
                  <a:pt x="115146" y="253811"/>
                  <a:pt x="230293" y="90405"/>
                  <a:pt x="436880" y="31138"/>
                </a:cubicBezTo>
                <a:cubicBezTo>
                  <a:pt x="643467" y="-28129"/>
                  <a:pt x="938107" y="5738"/>
                  <a:pt x="1239520" y="61618"/>
                </a:cubicBezTo>
                <a:cubicBezTo>
                  <a:pt x="1540933" y="117498"/>
                  <a:pt x="1893146" y="241958"/>
                  <a:pt x="2245360" y="366418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083794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850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083794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87850" y="331411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083794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587850" y="4055382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46574" y="2640901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S1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446574" y="3301197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S2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5446574" y="4072664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S3</a:t>
            </a: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5446574" y="2657728"/>
            <a:ext cx="504056" cy="3683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5408864" y="2228040"/>
            <a:ext cx="18260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</a:rPr>
              <a:t>Leader (stale)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55" name="任意形状 54"/>
          <p:cNvSpPr/>
          <p:nvPr/>
        </p:nvSpPr>
        <p:spPr>
          <a:xfrm>
            <a:off x="5294144" y="3197012"/>
            <a:ext cx="3556000" cy="417218"/>
          </a:xfrm>
          <a:custGeom>
            <a:avLst/>
            <a:gdLst>
              <a:gd name="connsiteX0" fmla="*/ 0 w 2245360"/>
              <a:gd name="connsiteY0" fmla="*/ 417218 h 417218"/>
              <a:gd name="connsiteX1" fmla="*/ 436880 w 2245360"/>
              <a:gd name="connsiteY1" fmla="*/ 31138 h 417218"/>
              <a:gd name="connsiteX2" fmla="*/ 1239520 w 2245360"/>
              <a:gd name="connsiteY2" fmla="*/ 61618 h 417218"/>
              <a:gd name="connsiteX3" fmla="*/ 2245360 w 2245360"/>
              <a:gd name="connsiteY3" fmla="*/ 366418 h 417218"/>
              <a:gd name="connsiteX0-1" fmla="*/ 0 w 3556000"/>
              <a:gd name="connsiteY0-2" fmla="*/ 417218 h 417218"/>
              <a:gd name="connsiteX1-3" fmla="*/ 436880 w 3556000"/>
              <a:gd name="connsiteY1-4" fmla="*/ 31138 h 417218"/>
              <a:gd name="connsiteX2-5" fmla="*/ 1239520 w 3556000"/>
              <a:gd name="connsiteY2-6" fmla="*/ 61618 h 417218"/>
              <a:gd name="connsiteX3-7" fmla="*/ 3556000 w 3556000"/>
              <a:gd name="connsiteY3-8" fmla="*/ 112418 h 4172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556000" h="417218">
                <a:moveTo>
                  <a:pt x="0" y="417218"/>
                </a:moveTo>
                <a:cubicBezTo>
                  <a:pt x="115146" y="253811"/>
                  <a:pt x="230293" y="90405"/>
                  <a:pt x="436880" y="31138"/>
                </a:cubicBezTo>
                <a:cubicBezTo>
                  <a:pt x="643467" y="-28129"/>
                  <a:pt x="938107" y="5738"/>
                  <a:pt x="1239520" y="61618"/>
                </a:cubicBezTo>
                <a:cubicBezTo>
                  <a:pt x="1540933" y="117498"/>
                  <a:pt x="3203786" y="-12042"/>
                  <a:pt x="3556000" y="112418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450496" y="4095919"/>
            <a:ext cx="504056" cy="368350"/>
          </a:xfrm>
          <a:prstGeom prst="rect">
            <a:avLst/>
          </a:prstGeom>
          <a:noFill/>
          <a:ln w="28575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353820" y="4586822"/>
            <a:ext cx="182607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</a:rPr>
              <a:t>Leader (term2)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872303" y="4978608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2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7091906" y="4055382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shi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102030" y="3314110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shi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91946" y="4055382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102030" y="2657728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xxx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Challenge: crash can cause log to inconsistencies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057" y="4081635"/>
            <a:ext cx="8229600" cy="1519597"/>
          </a:xfrm>
        </p:spPr>
        <p:txBody>
          <a:bodyPr/>
          <a:lstStyle/>
          <a:p>
            <a:r>
              <a:rPr kumimoji="1" lang="en-US" altLang="zh-CN"/>
              <a:t>Raft minimizes special code for repairing inconsistencies </a:t>
            </a:r>
            <a:endParaRPr kumimoji="1" lang="en-US" altLang="zh-CN"/>
          </a:p>
          <a:p>
            <a:pPr lvl="1"/>
            <a:r>
              <a:rPr kumimoji="1" lang="en-US" altLang="zh-CN"/>
              <a:t>Leaders assume its log is correct </a:t>
            </a:r>
            <a:endParaRPr kumimoji="1" lang="en-US" altLang="zh-CN"/>
          </a:p>
          <a:p>
            <a:pPr lvl="1"/>
            <a:r>
              <a:rPr kumimoji="1" lang="en-US" altLang="zh-CN"/>
              <a:t>Normal operation will repair all inconsistencies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657" y="1086487"/>
            <a:ext cx="7772400" cy="28384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Consistency of the log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471925"/>
          </a:xfrm>
        </p:spPr>
        <p:txBody>
          <a:bodyPr/>
          <a:lstStyle/>
          <a:p>
            <a:r>
              <a:rPr kumimoji="1" lang="en-GB" altLang="zh-CN" dirty="0"/>
              <a:t>High level of </a:t>
            </a:r>
            <a:r>
              <a:rPr kumimoji="1" lang="en-GB" altLang="zh-CN" dirty="0">
                <a:highlight>
                  <a:srgbClr val="FFFF00"/>
                </a:highlight>
              </a:rPr>
              <a:t>coherency</a:t>
            </a:r>
            <a:r>
              <a:rPr kumimoji="1" lang="en-GB" altLang="zh-CN" dirty="0"/>
              <a:t> between logs </a:t>
            </a:r>
            <a:r>
              <a:rPr kumimoji="1" lang="en-GB" altLang="zh-CN" dirty="0">
                <a:highlight>
                  <a:srgbClr val="FFFF00"/>
                </a:highlight>
              </a:rPr>
              <a:t>maintained by the raft</a:t>
            </a:r>
            <a:r>
              <a:rPr kumimoji="1" lang="en-GB" altLang="zh-CN" dirty="0"/>
              <a:t>:</a:t>
            </a:r>
            <a:endParaRPr kumimoji="1" lang="en-GB" altLang="zh-CN" dirty="0"/>
          </a:p>
          <a:p>
            <a:pPr lvl="1"/>
            <a:r>
              <a:rPr kumimoji="1" lang="en-US" altLang="zh-CN" dirty="0"/>
              <a:t>If log entries on different servers have the same index &amp; term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They store the same command </a:t>
            </a:r>
            <a:endParaRPr kumimoji="1" lang="en-US" altLang="zh-CN" sz="1800" dirty="0"/>
          </a:p>
          <a:p>
            <a:pPr lvl="2"/>
            <a:r>
              <a:rPr kumimoji="1" lang="en-GB" altLang="zh-CN" sz="1800" dirty="0"/>
              <a:t>The logs are identical in all preceding entries</a:t>
            </a:r>
            <a:endParaRPr kumimoji="1" lang="en-GB" altLang="zh-CN" sz="1800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r>
              <a:rPr lang="en-US" altLang="zh-CN" dirty="0"/>
              <a:t>If a given entry is committed, all preceding entries are also committed</a:t>
            </a:r>
            <a:endParaRPr lang="en-US" altLang="zh-CN" dirty="0"/>
          </a:p>
          <a:p>
            <a:pPr lvl="1"/>
            <a:r>
              <a:rPr kumimoji="1" lang="en-US" altLang="zh-CN" dirty="0"/>
              <a:t>Note that not all log entries are committed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60" y="2785492"/>
            <a:ext cx="2984500" cy="15875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276854" y="212009"/>
            <a:ext cx="2686291" cy="747309"/>
            <a:chOff x="911200" y="1040360"/>
            <a:chExt cx="2686291" cy="747309"/>
          </a:xfrm>
        </p:grpSpPr>
        <p:sp>
          <p:nvSpPr>
            <p:cNvPr id="9" name="矩形 8"/>
            <p:cNvSpPr/>
            <p:nvPr/>
          </p:nvSpPr>
          <p:spPr>
            <a:xfrm>
              <a:off x="912507" y="1040360"/>
              <a:ext cx="2684984" cy="74730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911200" y="1092301"/>
              <a:ext cx="268498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Question: how to achieve this property?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err="1">
                <a:latin typeface="Consolas" panose="020B0609020204030204" pitchFamily="49" charset="0"/>
                <a:cs typeface="Consolas" panose="020B0609020204030204" pitchFamily="49" charset="0"/>
              </a:rPr>
              <a:t>AppendEntries</a:t>
            </a:r>
            <a:r>
              <a:rPr kumimoji="1" lang="en-GB" altLang="zh-CN"/>
              <a:t> consistency checks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016224"/>
          </a:xfrm>
        </p:spPr>
        <p:txBody>
          <a:bodyPr/>
          <a:lstStyle/>
          <a:p>
            <a:r>
              <a:rPr kumimoji="1" lang="en-US" altLang="zh-CN"/>
              <a:t>Each</a:t>
            </a:r>
            <a:r>
              <a:rPr kumimoji="1" lang="zh-CN" altLang="en-US"/>
              <a:t> </a:t>
            </a:r>
            <a:r>
              <a:rPr kumimoji="1" lang="en-US" altLang="zh-CN"/>
              <a:t>RPC argument contains </a:t>
            </a:r>
            <a:endParaRPr kumimoji="1" lang="en-US" altLang="zh-CN"/>
          </a:p>
          <a:p>
            <a:pPr lvl="1"/>
            <a:r>
              <a:rPr kumimoji="1" lang="en-US" altLang="zh-CN"/>
              <a:t>Append index, term, </a:t>
            </a:r>
            <a:r>
              <a:rPr lang="en-US" altLang="zh-CN" b="1"/>
              <a:t>term of entry preceding new ones</a:t>
            </a:r>
            <a:endParaRPr lang="en-US" altLang="zh-CN" b="1"/>
          </a:p>
          <a:p>
            <a:r>
              <a:rPr kumimoji="1" lang="en-US" altLang="zh-CN"/>
              <a:t>Follower checks whether it has the </a:t>
            </a:r>
            <a:r>
              <a:rPr kumimoji="1" lang="en-US" altLang="zh-CN">
                <a:highlight>
                  <a:srgbClr val="FFFF00"/>
                </a:highlight>
              </a:rPr>
              <a:t>matching</a:t>
            </a:r>
            <a:r>
              <a:rPr kumimoji="1" lang="en-US" altLang="zh-CN"/>
              <a:t> entry</a:t>
            </a:r>
            <a:endParaRPr kumimoji="1" lang="en-US" altLang="zh-CN"/>
          </a:p>
          <a:p>
            <a:pPr lvl="1"/>
            <a:r>
              <a:rPr kumimoji="1" lang="en-US" altLang="zh-CN"/>
              <a:t>Otherwise, it rejects the request </a:t>
            </a:r>
            <a:endParaRPr kumimoji="1" lang="en-US" altLang="zh-CN"/>
          </a:p>
          <a:p>
            <a:pPr lvl="1"/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24" y="3026894"/>
            <a:ext cx="7308552" cy="2338737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6188299" y="387828"/>
            <a:ext cx="2686291" cy="975271"/>
            <a:chOff x="911200" y="1040360"/>
            <a:chExt cx="2686291" cy="975271"/>
          </a:xfrm>
        </p:grpSpPr>
        <p:sp>
          <p:nvSpPr>
            <p:cNvPr id="37" name="矩形 36"/>
            <p:cNvSpPr/>
            <p:nvPr/>
          </p:nvSpPr>
          <p:spPr>
            <a:xfrm>
              <a:off x="912507" y="1040360"/>
              <a:ext cx="2684984" cy="74730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911200" y="1092301"/>
              <a:ext cx="2684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Implements an induction step, ensures coherency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can rejection happens? Leader changes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At beginning of new leader’s term:</a:t>
            </a:r>
            <a:endParaRPr lang="en-US" altLang="zh-CN" dirty="0"/>
          </a:p>
          <a:p>
            <a:pPr lvl="1"/>
            <a:r>
              <a:rPr lang="en-US" altLang="zh-CN" dirty="0"/>
              <a:t>Old leader may have left entries partially replicated</a:t>
            </a:r>
            <a:endParaRPr lang="en-US" altLang="zh-CN" dirty="0"/>
          </a:p>
          <a:p>
            <a:r>
              <a:rPr lang="en-US" altLang="zh-CN" dirty="0"/>
              <a:t>No special steps by new leader: just start normal operation, w/ different position </a:t>
            </a:r>
            <a:endParaRPr lang="en-US" altLang="zh-CN" dirty="0"/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Leader’s log is “the truth”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en-US" altLang="zh-CN" dirty="0"/>
              <a:t>Will eventually make follower’s logs identical to leader’s (overwrite the divergent log entries with the leader’s ones) </a:t>
            </a:r>
            <a:endParaRPr lang="en-US" altLang="zh-CN" dirty="0"/>
          </a:p>
          <a:p>
            <a:r>
              <a:rPr lang="en-US" altLang="zh-CN" dirty="0"/>
              <a:t>The rejected entries will be overwritten by the leader’s log entry 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>
                <a:latin typeface="+mj-lt"/>
                <a:cs typeface="Consolas" panose="020B0609020204030204" pitchFamily="49" charset="0"/>
              </a:rPr>
              <a:t>Handle rejections </a:t>
            </a:r>
            <a:endParaRPr kumimoji="1" lang="zh-CN" altLang="en-US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016224"/>
          </a:xfrm>
        </p:spPr>
        <p:txBody>
          <a:bodyPr/>
          <a:lstStyle/>
          <a:p>
            <a:r>
              <a:rPr kumimoji="1" lang="en-US" altLang="zh-CN"/>
              <a:t>In this example, the leader will </a:t>
            </a:r>
            <a:endParaRPr kumimoji="1" lang="en-US" altLang="zh-CN"/>
          </a:p>
          <a:p>
            <a:pPr lvl="1"/>
            <a:r>
              <a:rPr kumimoji="1" lang="en-US" altLang="zh-CN"/>
              <a:t>Overwrite index 4 with [2 mov] with </a:t>
            </a:r>
            <a:r>
              <a:rPr kumimoji="1" lang="en-US" altLang="zh-CN" err="1"/>
              <a:t>AppendEntries</a:t>
            </a:r>
            <a:r>
              <a:rPr kumimoji="1" lang="en-US" altLang="zh-CN"/>
              <a:t> </a:t>
            </a:r>
            <a:endParaRPr kumimoji="1" lang="en-US" altLang="zh-CN"/>
          </a:p>
          <a:p>
            <a:pPr lvl="1"/>
            <a:r>
              <a:rPr kumimoji="1" lang="en-US" altLang="zh-CN"/>
              <a:t>Then append entry [3 </a:t>
            </a:r>
            <a:r>
              <a:rPr kumimoji="1" lang="en-US" altLang="zh-CN" err="1"/>
              <a:t>jmp</a:t>
            </a:r>
            <a:r>
              <a:rPr kumimoji="1" lang="en-US" altLang="zh-CN"/>
              <a:t>] to the end of the follower </a:t>
            </a:r>
            <a:endParaRPr kumimoji="1" lang="en-US" altLang="zh-CN"/>
          </a:p>
          <a:p>
            <a:pPr lvl="1"/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6188299" y="387828"/>
            <a:ext cx="2686291" cy="975271"/>
            <a:chOff x="911200" y="1040360"/>
            <a:chExt cx="2686291" cy="975271"/>
          </a:xfrm>
        </p:grpSpPr>
        <p:sp>
          <p:nvSpPr>
            <p:cNvPr id="37" name="矩形 36"/>
            <p:cNvSpPr/>
            <p:nvPr/>
          </p:nvSpPr>
          <p:spPr>
            <a:xfrm>
              <a:off x="912507" y="1040360"/>
              <a:ext cx="2684984" cy="74730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911200" y="1092301"/>
              <a:ext cx="2684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Implements an induction step, ensures coherency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367642" y="276029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71698" y="276029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75754" y="276028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79810" y="2760289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mov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87588" y="2760289"/>
            <a:ext cx="504056" cy="419083"/>
          </a:xfrm>
          <a:prstGeom prst="rect">
            <a:avLst/>
          </a:prstGeom>
          <a:solidFill>
            <a:srgbClr val="CCDAF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jmp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67642" y="352367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71698" y="352367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75754" y="352366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79810" y="352366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shi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任意形状 15"/>
          <p:cNvSpPr/>
          <p:nvPr/>
        </p:nvSpPr>
        <p:spPr>
          <a:xfrm>
            <a:off x="3475124" y="3009455"/>
            <a:ext cx="812698" cy="784698"/>
          </a:xfrm>
          <a:custGeom>
            <a:avLst/>
            <a:gdLst>
              <a:gd name="connsiteX0" fmla="*/ 603115 w 812698"/>
              <a:gd name="connsiteY0" fmla="*/ 0 h 784698"/>
              <a:gd name="connsiteX1" fmla="*/ 778213 w 812698"/>
              <a:gd name="connsiteY1" fmla="*/ 376136 h 784698"/>
              <a:gd name="connsiteX2" fmla="*/ 0 w 812698"/>
              <a:gd name="connsiteY2" fmla="*/ 784698 h 78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2698" h="784698">
                <a:moveTo>
                  <a:pt x="603115" y="0"/>
                </a:moveTo>
                <a:cubicBezTo>
                  <a:pt x="740923" y="122676"/>
                  <a:pt x="878732" y="245353"/>
                  <a:pt x="778213" y="376136"/>
                </a:cubicBezTo>
                <a:cubicBezTo>
                  <a:pt x="677694" y="506919"/>
                  <a:pt x="338847" y="645808"/>
                  <a:pt x="0" y="784698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2328" y="2760289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9147" y="3543665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F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364088" y="275854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68144" y="275854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372200" y="275853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76256" y="2758539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mov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384034" y="2758539"/>
            <a:ext cx="504056" cy="419083"/>
          </a:xfrm>
          <a:prstGeom prst="rect">
            <a:avLst/>
          </a:prstGeom>
          <a:solidFill>
            <a:srgbClr val="CCDAF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jmp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364088" y="352192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68144" y="352192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72200" y="352191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876256" y="3521919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shi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68774" y="2758539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765593" y="3541915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F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884390" y="3517039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mov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2" name="任意形状 31"/>
          <p:cNvSpPr/>
          <p:nvPr/>
        </p:nvSpPr>
        <p:spPr>
          <a:xfrm>
            <a:off x="7151665" y="3052750"/>
            <a:ext cx="305948" cy="564205"/>
          </a:xfrm>
          <a:custGeom>
            <a:avLst/>
            <a:gdLst>
              <a:gd name="connsiteX0" fmla="*/ 0 w 305948"/>
              <a:gd name="connsiteY0" fmla="*/ 0 h 564205"/>
              <a:gd name="connsiteX1" fmla="*/ 304800 w 305948"/>
              <a:gd name="connsiteY1" fmla="*/ 298315 h 564205"/>
              <a:gd name="connsiteX2" fmla="*/ 84306 w 305948"/>
              <a:gd name="connsiteY2" fmla="*/ 564205 h 56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948" h="564205">
                <a:moveTo>
                  <a:pt x="0" y="0"/>
                </a:moveTo>
                <a:cubicBezTo>
                  <a:pt x="145374" y="102140"/>
                  <a:pt x="290749" y="204281"/>
                  <a:pt x="304800" y="298315"/>
                </a:cubicBezTo>
                <a:cubicBezTo>
                  <a:pt x="318851" y="392349"/>
                  <a:pt x="201578" y="478277"/>
                  <a:pt x="84306" y="564205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339730" y="4328921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43786" y="4328921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347842" y="432892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51898" y="4328920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mov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59676" y="4328920"/>
            <a:ext cx="504056" cy="419083"/>
          </a:xfrm>
          <a:prstGeom prst="rect">
            <a:avLst/>
          </a:prstGeom>
          <a:solidFill>
            <a:srgbClr val="CCDAF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jmp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39730" y="5092301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add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843786" y="5092301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cmp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47842" y="509230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ret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851898" y="5092300"/>
            <a:ext cx="504056" cy="419083"/>
          </a:xfrm>
          <a:prstGeom prst="rect">
            <a:avLst/>
          </a:prstGeom>
          <a:solidFill>
            <a:srgbClr val="D5FFD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shi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744416" y="4328920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741235" y="5112296"/>
            <a:ext cx="47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F</a:t>
            </a: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860032" y="5087420"/>
            <a:ext cx="504056" cy="419083"/>
          </a:xfrm>
          <a:prstGeom prst="rect">
            <a:avLst/>
          </a:prstGeom>
          <a:solidFill>
            <a:srgbClr val="FFFF9B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mov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0" name="任意形状 49"/>
          <p:cNvSpPr/>
          <p:nvPr/>
        </p:nvSpPr>
        <p:spPr>
          <a:xfrm>
            <a:off x="5814224" y="4698252"/>
            <a:ext cx="305948" cy="564205"/>
          </a:xfrm>
          <a:custGeom>
            <a:avLst/>
            <a:gdLst>
              <a:gd name="connsiteX0" fmla="*/ 0 w 305948"/>
              <a:gd name="connsiteY0" fmla="*/ 0 h 564205"/>
              <a:gd name="connsiteX1" fmla="*/ 304800 w 305948"/>
              <a:gd name="connsiteY1" fmla="*/ 298315 h 564205"/>
              <a:gd name="connsiteX2" fmla="*/ 84306 w 305948"/>
              <a:gd name="connsiteY2" fmla="*/ 564205 h 56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948" h="564205">
                <a:moveTo>
                  <a:pt x="0" y="0"/>
                </a:moveTo>
                <a:cubicBezTo>
                  <a:pt x="145374" y="102140"/>
                  <a:pt x="290749" y="204281"/>
                  <a:pt x="304800" y="298315"/>
                </a:cubicBezTo>
                <a:cubicBezTo>
                  <a:pt x="318851" y="392349"/>
                  <a:pt x="201578" y="478277"/>
                  <a:pt x="84306" y="564205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370655" y="5087420"/>
            <a:ext cx="504056" cy="419083"/>
          </a:xfrm>
          <a:prstGeom prst="rect">
            <a:avLst/>
          </a:prstGeom>
          <a:solidFill>
            <a:srgbClr val="CCDAF5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en-US" altLang="zh-CN" sz="1200" b="1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 b="1" err="1">
                <a:solidFill>
                  <a:schemeClr val="tx1"/>
                </a:solidFill>
              </a:rPr>
              <a:t>jmp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53" name="直线连接符 52"/>
          <p:cNvCxnSpPr/>
          <p:nvPr/>
        </p:nvCxnSpPr>
        <p:spPr>
          <a:xfrm>
            <a:off x="4022976" y="3395381"/>
            <a:ext cx="180018" cy="2565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/>
          <p:cNvCxnSpPr/>
          <p:nvPr/>
        </p:nvCxnSpPr>
        <p:spPr>
          <a:xfrm flipH="1">
            <a:off x="4019254" y="3395381"/>
            <a:ext cx="183740" cy="2565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00875" y="2379652"/>
            <a:ext cx="2388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/>
              <a:t>Fail to append case </a:t>
            </a:r>
            <a:endParaRPr kumimoji="1" lang="en-US" altLang="zh-CN" b="1"/>
          </a:p>
        </p:txBody>
      </p:sp>
      <p:sp>
        <p:nvSpPr>
          <p:cNvPr id="59" name="文本框 58"/>
          <p:cNvSpPr txBox="1"/>
          <p:nvPr/>
        </p:nvSpPr>
        <p:spPr>
          <a:xfrm>
            <a:off x="5058837" y="2377475"/>
            <a:ext cx="359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/>
              <a:t>Overwrite mismatched entry </a:t>
            </a:r>
            <a:endParaRPr kumimoji="1" lang="en-US" altLang="zh-CN" b="1"/>
          </a:p>
        </p:txBody>
      </p:sp>
      <p:sp>
        <p:nvSpPr>
          <p:cNvPr id="60" name="文本框 59"/>
          <p:cNvSpPr txBox="1"/>
          <p:nvPr/>
        </p:nvSpPr>
        <p:spPr>
          <a:xfrm>
            <a:off x="1156861" y="4616126"/>
            <a:ext cx="1666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/>
              <a:t>Append the new entry</a:t>
            </a:r>
            <a:endParaRPr kumimoji="1" lang="en-US" altLang="zh-CN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More on Repairing Follower Logs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971682"/>
            <a:ext cx="8229600" cy="3771636"/>
          </a:xfrm>
        </p:spPr>
        <p:txBody>
          <a:bodyPr/>
          <a:lstStyle/>
          <a:p>
            <a:r>
              <a:rPr lang="en-US" altLang="zh-CN" sz="2000"/>
              <a:t>New leader must make follower logs consistent with its own</a:t>
            </a:r>
            <a:endParaRPr lang="en-US" altLang="zh-CN" sz="2000"/>
          </a:p>
          <a:p>
            <a:pPr lvl="1">
              <a:spcBef>
                <a:spcPts val="300"/>
              </a:spcBef>
            </a:pPr>
            <a:r>
              <a:rPr lang="en-US" altLang="zh-CN"/>
              <a:t>Delete extraneous entries</a:t>
            </a:r>
            <a:endParaRPr lang="en-US" altLang="zh-CN"/>
          </a:p>
          <a:p>
            <a:pPr lvl="1">
              <a:spcBef>
                <a:spcPts val="300"/>
              </a:spcBef>
            </a:pPr>
            <a:r>
              <a:rPr lang="en-US" altLang="zh-CN"/>
              <a:t>Fill in missing entries</a:t>
            </a:r>
            <a:endParaRPr lang="en-US" altLang="zh-CN"/>
          </a:p>
          <a:p>
            <a:pPr>
              <a:spcBef>
                <a:spcPts val="600"/>
              </a:spcBef>
            </a:pPr>
            <a:r>
              <a:rPr lang="en-US" altLang="zh-CN" sz="2000"/>
              <a:t>Leader keeps </a:t>
            </a:r>
            <a:r>
              <a:rPr lang="en-US" altLang="zh-CN" sz="2000" err="1">
                <a:latin typeface="Consolas" panose="020B0609020204030204" pitchFamily="49" charset="0"/>
                <a:cs typeface="Consolas" panose="020B0609020204030204" pitchFamily="49" charset="0"/>
              </a:rPr>
              <a:t>nextIndex</a:t>
            </a:r>
            <a:r>
              <a:rPr lang="en-US" altLang="zh-CN" sz="2000"/>
              <a:t> for each follower:</a:t>
            </a:r>
            <a:endParaRPr lang="en-US" altLang="zh-CN" sz="2000"/>
          </a:p>
          <a:p>
            <a:pPr lvl="1">
              <a:spcBef>
                <a:spcPts val="300"/>
              </a:spcBef>
            </a:pPr>
            <a:r>
              <a:rPr lang="en-US" altLang="zh-CN"/>
              <a:t>Index of next log entry to send to that follower</a:t>
            </a:r>
            <a:endParaRPr lang="en-US" altLang="zh-CN"/>
          </a:p>
          <a:p>
            <a:pPr lvl="1">
              <a:spcBef>
                <a:spcPts val="300"/>
              </a:spcBef>
            </a:pPr>
            <a:r>
              <a:rPr lang="en-US" altLang="zh-CN"/>
              <a:t>Initialized to (1 + leader’s last index)</a:t>
            </a:r>
            <a:endParaRPr lang="en-US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146" y="3184968"/>
            <a:ext cx="5462679" cy="230116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AppendEntries</a:t>
            </a:r>
            <a:r>
              <a:rPr kumimoji="1" lang="en-US" altLang="zh-CN"/>
              <a:t> RPC (Simplified)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22"/>
          <p:cNvSpPr txBox="1"/>
          <p:nvPr/>
        </p:nvSpPr>
        <p:spPr>
          <a:xfrm>
            <a:off x="292968" y="1249367"/>
            <a:ext cx="7344816" cy="32162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Invoked by leader to replicate log entries and discover inconsistencies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Arguments:</a:t>
            </a:r>
            <a:endParaRPr lang="en-US" b="1" dirty="0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leader's term</a:t>
            </a:r>
            <a:endParaRPr lang="en-US" b="1" dirty="0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prevLogIndex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index of log entry immediately preceding new ones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prevLogTerm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term of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prevLogIndex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entry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>
              <a:tabLst>
                <a:tab pos="798195" algn="l"/>
              </a:tabLst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entries[]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log entries to store (empty for heartbeat)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 dirty="0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Results:</a:t>
            </a:r>
            <a:endParaRPr lang="en-US" b="1" dirty="0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true if follower contained entry matching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prevLogIndex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prevLogTerm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AppendEntries</a:t>
            </a:r>
            <a:r>
              <a:rPr kumimoji="1" lang="en-US" altLang="zh-CN"/>
              <a:t> RPC (Simplified)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22"/>
          <p:cNvSpPr txBox="1"/>
          <p:nvPr/>
        </p:nvSpPr>
        <p:spPr>
          <a:xfrm>
            <a:off x="292968" y="1249367"/>
            <a:ext cx="7344816" cy="3416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altLang="zh-CN" sz="1800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Implementation:</a:t>
            </a:r>
            <a:endParaRPr lang="en-US" altLang="zh-CN" sz="1800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Return false if term &lt;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term &gt;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← term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candidate or leader, step down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Reset election timeout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Return failure if log doesn’t contain </a:t>
            </a:r>
            <a:r>
              <a:rPr lang="en-US" altLang="zh-CN" sz="18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 entry at </a:t>
            </a:r>
            <a:r>
              <a:rPr lang="en-US" altLang="zh-CN" sz="180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prevLogIndex</a:t>
            </a:r>
            <a:r>
              <a:rPr lang="en-US" altLang="zh-CN" sz="18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whose term matches </a:t>
            </a:r>
            <a:r>
              <a:rPr lang="en-US" altLang="zh-CN" sz="180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prevLogTerm</a:t>
            </a:r>
            <a:endParaRPr lang="en-US" altLang="zh-CN" sz="18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existing entries conflict with new entries, delete all existing entries starting with first conflicting entry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Append any new entries not already in the log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tabLst>
                <a:tab pos="169545" algn="l"/>
              </a:tabLst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Overwrite can ensure consistency. 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But it makes a subtle issue: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sz="2600" kern="0" dirty="0">
                <a:solidFill>
                  <a:srgbClr val="C00000"/>
                </a:solidFill>
                <a:ea typeface="+mn-ea"/>
              </a:rPr>
              <a:t>When can we commit a log entry? (Since an appended log entry may be overwritten)</a:t>
            </a:r>
            <a:endParaRPr lang="en-US" altLang="zh-CN" sz="260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Intuitive result:  replicating on a majority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If the log </a:t>
            </a:r>
            <a:r>
              <a:rPr kumimoji="1" lang="en-US" altLang="zh-CN" dirty="0">
                <a:highlight>
                  <a:srgbClr val="FFFF00"/>
                </a:highlight>
              </a:rPr>
              <a:t>is replicated on a majority of servers</a:t>
            </a:r>
            <a:r>
              <a:rPr kumimoji="1" lang="en-US" altLang="zh-CN" dirty="0"/>
              <a:t>, it can be applied on the state machine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 always true on raft so far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9830" y="2236459"/>
            <a:ext cx="5461000" cy="30226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07504" y="3217540"/>
            <a:ext cx="3999920" cy="1060438"/>
            <a:chOff x="912507" y="1361998"/>
            <a:chExt cx="1420968" cy="1060438"/>
          </a:xfrm>
        </p:grpSpPr>
        <p:sp>
          <p:nvSpPr>
            <p:cNvPr id="7" name="矩形 6"/>
            <p:cNvSpPr/>
            <p:nvPr/>
          </p:nvSpPr>
          <p:spPr>
            <a:xfrm>
              <a:off x="912507" y="1361998"/>
              <a:ext cx="1420968" cy="1060438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37790" y="1499106"/>
              <a:ext cx="13956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Question: can index 4 be overwritten after appending to S3?  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Case study: raft overwriting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5"/>
          <p:cNvSpPr/>
          <p:nvPr/>
        </p:nvSpPr>
        <p:spPr>
          <a:xfrm>
            <a:off x="560512" y="20164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" name="Rectangle 16"/>
          <p:cNvSpPr/>
          <p:nvPr/>
        </p:nvSpPr>
        <p:spPr>
          <a:xfrm>
            <a:off x="941512" y="20164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" name="Rectangle 17"/>
          <p:cNvSpPr/>
          <p:nvPr/>
        </p:nvSpPr>
        <p:spPr>
          <a:xfrm>
            <a:off x="560512" y="25498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" name="Rectangle 18"/>
          <p:cNvSpPr/>
          <p:nvPr/>
        </p:nvSpPr>
        <p:spPr>
          <a:xfrm>
            <a:off x="941512" y="25498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9" name="Rectangle 25"/>
          <p:cNvSpPr/>
          <p:nvPr/>
        </p:nvSpPr>
        <p:spPr>
          <a:xfrm>
            <a:off x="560512" y="30832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0" name="Rectangle 26"/>
          <p:cNvSpPr/>
          <p:nvPr/>
        </p:nvSpPr>
        <p:spPr>
          <a:xfrm>
            <a:off x="941512" y="30832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1" name="Rectangle 29"/>
          <p:cNvSpPr/>
          <p:nvPr/>
        </p:nvSpPr>
        <p:spPr>
          <a:xfrm>
            <a:off x="560512" y="36166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" name="Rectangle 30"/>
          <p:cNvSpPr/>
          <p:nvPr/>
        </p:nvSpPr>
        <p:spPr>
          <a:xfrm>
            <a:off x="1322512" y="20164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3" name="Rectangle 31"/>
          <p:cNvSpPr/>
          <p:nvPr/>
        </p:nvSpPr>
        <p:spPr>
          <a:xfrm>
            <a:off x="941512" y="36166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4" name="Rectangle 32"/>
          <p:cNvSpPr/>
          <p:nvPr/>
        </p:nvSpPr>
        <p:spPr>
          <a:xfrm>
            <a:off x="560512" y="41500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" name="Rectangle 33"/>
          <p:cNvSpPr/>
          <p:nvPr/>
        </p:nvSpPr>
        <p:spPr>
          <a:xfrm>
            <a:off x="941512" y="41500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6" name="TextBox 45"/>
          <p:cNvSpPr txBox="1"/>
          <p:nvPr/>
        </p:nvSpPr>
        <p:spPr>
          <a:xfrm>
            <a:off x="179512" y="20684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17" name="TextBox 46"/>
          <p:cNvSpPr txBox="1"/>
          <p:nvPr/>
        </p:nvSpPr>
        <p:spPr>
          <a:xfrm>
            <a:off x="179512" y="26018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18" name="TextBox 47"/>
          <p:cNvSpPr txBox="1"/>
          <p:nvPr/>
        </p:nvSpPr>
        <p:spPr>
          <a:xfrm>
            <a:off x="179512" y="31352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19" name="TextBox 48"/>
          <p:cNvSpPr txBox="1"/>
          <p:nvPr/>
        </p:nvSpPr>
        <p:spPr>
          <a:xfrm>
            <a:off x="179512" y="36686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20" name="TextBox 49"/>
          <p:cNvSpPr txBox="1"/>
          <p:nvPr/>
        </p:nvSpPr>
        <p:spPr>
          <a:xfrm>
            <a:off x="179512" y="42020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21" name="Rectangle 51"/>
          <p:cNvSpPr/>
          <p:nvPr/>
        </p:nvSpPr>
        <p:spPr>
          <a:xfrm>
            <a:off x="1322512" y="25498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2" name="TextBox 6"/>
          <p:cNvSpPr txBox="1"/>
          <p:nvPr/>
        </p:nvSpPr>
        <p:spPr>
          <a:xfrm>
            <a:off x="611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992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1373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3109" y="1156603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S1</a:t>
            </a:r>
            <a:endParaRPr lang="zh-CN" altLang="en-US"/>
          </a:p>
        </p:txBody>
      </p:sp>
      <p:sp>
        <p:nvSpPr>
          <p:cNvPr id="26" name="Rectangle 51"/>
          <p:cNvSpPr/>
          <p:nvPr/>
        </p:nvSpPr>
        <p:spPr>
          <a:xfrm>
            <a:off x="1322512" y="30832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7" name="Rectangle 51"/>
          <p:cNvSpPr/>
          <p:nvPr/>
        </p:nvSpPr>
        <p:spPr>
          <a:xfrm>
            <a:off x="1322512" y="36166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9" name="Rectangle 30"/>
          <p:cNvSpPr/>
          <p:nvPr/>
        </p:nvSpPr>
        <p:spPr>
          <a:xfrm>
            <a:off x="1703512" y="20132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0" name="Rectangle 51"/>
          <p:cNvSpPr/>
          <p:nvPr/>
        </p:nvSpPr>
        <p:spPr>
          <a:xfrm>
            <a:off x="1703512" y="25466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1" name="Rectangle 51"/>
          <p:cNvSpPr/>
          <p:nvPr/>
        </p:nvSpPr>
        <p:spPr>
          <a:xfrm>
            <a:off x="1703512" y="30800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2" name="TextBox 8"/>
          <p:cNvSpPr txBox="1"/>
          <p:nvPr/>
        </p:nvSpPr>
        <p:spPr>
          <a:xfrm>
            <a:off x="1754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3" name="Rectangle 30"/>
          <p:cNvSpPr/>
          <p:nvPr/>
        </p:nvSpPr>
        <p:spPr>
          <a:xfrm>
            <a:off x="2084512" y="20100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cxnSp>
        <p:nvCxnSpPr>
          <p:cNvPr id="34" name="直线箭头连接符 33"/>
          <p:cNvCxnSpPr/>
          <p:nvPr/>
        </p:nvCxnSpPr>
        <p:spPr>
          <a:xfrm>
            <a:off x="34142" y="5165389"/>
            <a:ext cx="8939336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54271" y="4980723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2</a:t>
            </a:r>
            <a:endParaRPr lang="zh-CN" altLang="en-US"/>
          </a:p>
        </p:txBody>
      </p:sp>
      <p:cxnSp>
        <p:nvCxnSpPr>
          <p:cNvPr id="90" name="直线连接符 89"/>
          <p:cNvCxnSpPr/>
          <p:nvPr/>
        </p:nvCxnSpPr>
        <p:spPr>
          <a:xfrm>
            <a:off x="2699792" y="1110530"/>
            <a:ext cx="0" cy="4699298"/>
          </a:xfrm>
          <a:prstGeom prst="line">
            <a:avLst/>
          </a:prstGeom>
          <a:ln>
            <a:solidFill>
              <a:schemeClr val="accent6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2862064" y="1110530"/>
            <a:ext cx="2381601" cy="4239525"/>
            <a:chOff x="2862064" y="1110530"/>
            <a:chExt cx="2381601" cy="4239525"/>
          </a:xfrm>
        </p:grpSpPr>
        <p:sp>
          <p:nvSpPr>
            <p:cNvPr id="61" name="Rectangle 15"/>
            <p:cNvSpPr/>
            <p:nvPr/>
          </p:nvSpPr>
          <p:spPr>
            <a:xfrm>
              <a:off x="3243064" y="19703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2" name="Rectangle 16"/>
            <p:cNvSpPr/>
            <p:nvPr/>
          </p:nvSpPr>
          <p:spPr>
            <a:xfrm>
              <a:off x="3624064" y="19703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3" name="Rectangle 17"/>
            <p:cNvSpPr/>
            <p:nvPr/>
          </p:nvSpPr>
          <p:spPr>
            <a:xfrm>
              <a:off x="3243064" y="25037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4" name="Rectangle 18"/>
            <p:cNvSpPr/>
            <p:nvPr/>
          </p:nvSpPr>
          <p:spPr>
            <a:xfrm>
              <a:off x="3624064" y="25037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5" name="Rectangle 25"/>
            <p:cNvSpPr/>
            <p:nvPr/>
          </p:nvSpPr>
          <p:spPr>
            <a:xfrm>
              <a:off x="3243064" y="30371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6" name="Rectangle 26"/>
            <p:cNvSpPr/>
            <p:nvPr/>
          </p:nvSpPr>
          <p:spPr>
            <a:xfrm>
              <a:off x="3624064" y="30371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7" name="Rectangle 29"/>
            <p:cNvSpPr/>
            <p:nvPr/>
          </p:nvSpPr>
          <p:spPr>
            <a:xfrm>
              <a:off x="3243064" y="35705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68" name="Rectangle 30"/>
            <p:cNvSpPr/>
            <p:nvPr/>
          </p:nvSpPr>
          <p:spPr>
            <a:xfrm>
              <a:off x="4005064" y="197032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69" name="Rectangle 31"/>
            <p:cNvSpPr/>
            <p:nvPr/>
          </p:nvSpPr>
          <p:spPr>
            <a:xfrm>
              <a:off x="3624064" y="35705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70" name="Rectangle 32"/>
            <p:cNvSpPr/>
            <p:nvPr/>
          </p:nvSpPr>
          <p:spPr>
            <a:xfrm>
              <a:off x="3243064" y="41039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71" name="Rectangle 33"/>
            <p:cNvSpPr/>
            <p:nvPr/>
          </p:nvSpPr>
          <p:spPr>
            <a:xfrm>
              <a:off x="3624064" y="4103929"/>
              <a:ext cx="381000" cy="381000"/>
            </a:xfrm>
            <a:prstGeom prst="rect">
              <a:avLst/>
            </a:prstGeom>
            <a:solidFill>
              <a:srgbClr val="D5FFD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72" name="TextBox 45"/>
            <p:cNvSpPr txBox="1"/>
            <p:nvPr/>
          </p:nvSpPr>
          <p:spPr>
            <a:xfrm>
              <a:off x="2862064" y="2022330"/>
              <a:ext cx="3810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1</a:t>
              </a:r>
              <a:endParaRPr lang="en-US" baseline="-25000"/>
            </a:p>
          </p:txBody>
        </p:sp>
        <p:sp>
          <p:nvSpPr>
            <p:cNvPr id="73" name="TextBox 46"/>
            <p:cNvSpPr txBox="1"/>
            <p:nvPr/>
          </p:nvSpPr>
          <p:spPr>
            <a:xfrm>
              <a:off x="2862064" y="2555730"/>
              <a:ext cx="3810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2</a:t>
              </a:r>
              <a:endParaRPr lang="en-US" baseline="-25000"/>
            </a:p>
          </p:txBody>
        </p:sp>
        <p:sp>
          <p:nvSpPr>
            <p:cNvPr id="74" name="TextBox 47"/>
            <p:cNvSpPr txBox="1"/>
            <p:nvPr/>
          </p:nvSpPr>
          <p:spPr>
            <a:xfrm>
              <a:off x="2862064" y="3089130"/>
              <a:ext cx="3810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3</a:t>
              </a:r>
              <a:endParaRPr lang="en-US" baseline="-25000"/>
            </a:p>
          </p:txBody>
        </p:sp>
        <p:sp>
          <p:nvSpPr>
            <p:cNvPr id="75" name="TextBox 48"/>
            <p:cNvSpPr txBox="1"/>
            <p:nvPr/>
          </p:nvSpPr>
          <p:spPr>
            <a:xfrm>
              <a:off x="2862064" y="3622530"/>
              <a:ext cx="3810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4</a:t>
              </a:r>
              <a:endParaRPr lang="en-US" baseline="-25000"/>
            </a:p>
          </p:txBody>
        </p:sp>
        <p:sp>
          <p:nvSpPr>
            <p:cNvPr id="76" name="TextBox 49"/>
            <p:cNvSpPr txBox="1"/>
            <p:nvPr/>
          </p:nvSpPr>
          <p:spPr>
            <a:xfrm>
              <a:off x="2862064" y="4155930"/>
              <a:ext cx="3810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5</a:t>
              </a:r>
              <a:endParaRPr lang="en-US" baseline="-25000"/>
            </a:p>
          </p:txBody>
        </p:sp>
        <p:sp>
          <p:nvSpPr>
            <p:cNvPr id="77" name="Rectangle 51"/>
            <p:cNvSpPr/>
            <p:nvPr/>
          </p:nvSpPr>
          <p:spPr>
            <a:xfrm>
              <a:off x="4005064" y="250372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78" name="TextBox 6"/>
            <p:cNvSpPr txBox="1"/>
            <p:nvPr/>
          </p:nvSpPr>
          <p:spPr>
            <a:xfrm>
              <a:off x="3294112" y="1523440"/>
              <a:ext cx="381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1</a:t>
              </a:r>
              <a:endParaRPr lang="en-US" sz="1600">
                <a:solidFill>
                  <a:schemeClr val="tx2"/>
                </a:solidFill>
              </a:endParaRPr>
            </a:p>
          </p:txBody>
        </p:sp>
        <p:sp>
          <p:nvSpPr>
            <p:cNvPr id="79" name="TextBox 7"/>
            <p:cNvSpPr txBox="1"/>
            <p:nvPr/>
          </p:nvSpPr>
          <p:spPr>
            <a:xfrm>
              <a:off x="3675112" y="1523440"/>
              <a:ext cx="381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2</a:t>
              </a:r>
              <a:endParaRPr lang="en-US" sz="1600">
                <a:solidFill>
                  <a:schemeClr val="tx2"/>
                </a:solidFill>
              </a:endParaRPr>
            </a:p>
          </p:txBody>
        </p:sp>
        <p:sp>
          <p:nvSpPr>
            <p:cNvPr id="80" name="TextBox 8"/>
            <p:cNvSpPr txBox="1"/>
            <p:nvPr/>
          </p:nvSpPr>
          <p:spPr>
            <a:xfrm>
              <a:off x="4056112" y="1523440"/>
              <a:ext cx="381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3</a:t>
              </a:r>
              <a:endParaRPr lang="en-US" sz="1600">
                <a:solidFill>
                  <a:schemeClr val="tx2"/>
                </a:solidFill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3125661" y="1110530"/>
              <a:ext cx="13624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Leader </a:t>
              </a:r>
              <a:r>
                <a:rPr kumimoji="1" lang="en-US" altLang="zh-CN" b="1">
                  <a:solidFill>
                    <a:srgbClr val="C00000"/>
                  </a:solidFill>
                </a:rPr>
                <a:t>?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82" name="Rectangle 51"/>
            <p:cNvSpPr/>
            <p:nvPr/>
          </p:nvSpPr>
          <p:spPr>
            <a:xfrm>
              <a:off x="4005064" y="303712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3" name="Rectangle 51"/>
            <p:cNvSpPr/>
            <p:nvPr/>
          </p:nvSpPr>
          <p:spPr>
            <a:xfrm>
              <a:off x="4005064" y="357052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4" name="Rectangle 30"/>
            <p:cNvSpPr/>
            <p:nvPr/>
          </p:nvSpPr>
          <p:spPr>
            <a:xfrm>
              <a:off x="4386064" y="196714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5" name="Rectangle 51"/>
            <p:cNvSpPr/>
            <p:nvPr/>
          </p:nvSpPr>
          <p:spPr>
            <a:xfrm>
              <a:off x="4386064" y="250054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6" name="Rectangle 51"/>
            <p:cNvSpPr/>
            <p:nvPr/>
          </p:nvSpPr>
          <p:spPr>
            <a:xfrm>
              <a:off x="4386064" y="303394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7" name="TextBox 8"/>
            <p:cNvSpPr txBox="1"/>
            <p:nvPr/>
          </p:nvSpPr>
          <p:spPr>
            <a:xfrm>
              <a:off x="4437112" y="1523440"/>
              <a:ext cx="381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4</a:t>
              </a:r>
              <a:endParaRPr lang="en-US" sz="1600">
                <a:solidFill>
                  <a:schemeClr val="tx2"/>
                </a:solidFill>
              </a:endParaRPr>
            </a:p>
          </p:txBody>
        </p:sp>
        <p:sp>
          <p:nvSpPr>
            <p:cNvPr id="88" name="Rectangle 30"/>
            <p:cNvSpPr/>
            <p:nvPr/>
          </p:nvSpPr>
          <p:spPr>
            <a:xfrm>
              <a:off x="4767064" y="1963969"/>
              <a:ext cx="381000" cy="381000"/>
            </a:xfrm>
            <a:prstGeom prst="rect">
              <a:avLst/>
            </a:prstGeom>
            <a:solidFill>
              <a:srgbClr val="FFFF9B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3110183" y="4980723"/>
              <a:ext cx="140975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S1 crashes</a:t>
              </a:r>
              <a:endParaRPr lang="zh-CN" altLang="en-US" dirty="0"/>
            </a:p>
          </p:txBody>
        </p:sp>
        <p:cxnSp>
          <p:nvCxnSpPr>
            <p:cNvPr id="121" name="直线连接符 120"/>
            <p:cNvCxnSpPr/>
            <p:nvPr/>
          </p:nvCxnSpPr>
          <p:spPr>
            <a:xfrm>
              <a:off x="2989760" y="1843256"/>
              <a:ext cx="2253905" cy="529048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/>
            <p:cNvCxnSpPr/>
            <p:nvPr/>
          </p:nvCxnSpPr>
          <p:spPr>
            <a:xfrm flipV="1">
              <a:off x="2979600" y="1872975"/>
              <a:ext cx="2264065" cy="375525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文本框 123"/>
          <p:cNvSpPr txBox="1"/>
          <p:nvPr/>
        </p:nvSpPr>
        <p:spPr>
          <a:xfrm>
            <a:off x="5994609" y="4980723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3</a:t>
            </a:r>
            <a:endParaRPr lang="zh-CN" altLang="en-US"/>
          </a:p>
        </p:txBody>
      </p:sp>
      <p:sp>
        <p:nvSpPr>
          <p:cNvPr id="127" name="Rectangle 17"/>
          <p:cNvSpPr/>
          <p:nvPr/>
        </p:nvSpPr>
        <p:spPr>
          <a:xfrm>
            <a:off x="5946576" y="24706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8" name="Rectangle 18"/>
          <p:cNvSpPr/>
          <p:nvPr/>
        </p:nvSpPr>
        <p:spPr>
          <a:xfrm>
            <a:off x="6327576" y="24706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9" name="Rectangle 25"/>
          <p:cNvSpPr/>
          <p:nvPr/>
        </p:nvSpPr>
        <p:spPr>
          <a:xfrm>
            <a:off x="5946576" y="30040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0" name="Rectangle 26"/>
          <p:cNvSpPr/>
          <p:nvPr/>
        </p:nvSpPr>
        <p:spPr>
          <a:xfrm>
            <a:off x="6327576" y="30040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1" name="Rectangle 29"/>
          <p:cNvSpPr/>
          <p:nvPr/>
        </p:nvSpPr>
        <p:spPr>
          <a:xfrm>
            <a:off x="5946576" y="35374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3" name="Rectangle 31"/>
          <p:cNvSpPr/>
          <p:nvPr/>
        </p:nvSpPr>
        <p:spPr>
          <a:xfrm>
            <a:off x="6327576" y="35374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4" name="Rectangle 32"/>
          <p:cNvSpPr/>
          <p:nvPr/>
        </p:nvSpPr>
        <p:spPr>
          <a:xfrm>
            <a:off x="5946576" y="40708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5" name="Rectangle 33"/>
          <p:cNvSpPr/>
          <p:nvPr/>
        </p:nvSpPr>
        <p:spPr>
          <a:xfrm>
            <a:off x="6327576" y="40708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7" name="TextBox 46"/>
          <p:cNvSpPr txBox="1"/>
          <p:nvPr/>
        </p:nvSpPr>
        <p:spPr>
          <a:xfrm>
            <a:off x="5565576" y="25226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138" name="TextBox 47"/>
          <p:cNvSpPr txBox="1"/>
          <p:nvPr/>
        </p:nvSpPr>
        <p:spPr>
          <a:xfrm>
            <a:off x="5565576" y="30560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139" name="TextBox 48"/>
          <p:cNvSpPr txBox="1"/>
          <p:nvPr/>
        </p:nvSpPr>
        <p:spPr>
          <a:xfrm>
            <a:off x="5565576" y="35894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140" name="TextBox 49"/>
          <p:cNvSpPr txBox="1"/>
          <p:nvPr/>
        </p:nvSpPr>
        <p:spPr>
          <a:xfrm>
            <a:off x="5565576" y="41228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141" name="Rectangle 51"/>
          <p:cNvSpPr/>
          <p:nvPr/>
        </p:nvSpPr>
        <p:spPr>
          <a:xfrm>
            <a:off x="6708576" y="24706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2" name="TextBox 6"/>
          <p:cNvSpPr txBox="1"/>
          <p:nvPr/>
        </p:nvSpPr>
        <p:spPr>
          <a:xfrm>
            <a:off x="5997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3" name="TextBox 7"/>
          <p:cNvSpPr txBox="1"/>
          <p:nvPr/>
        </p:nvSpPr>
        <p:spPr>
          <a:xfrm>
            <a:off x="6378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4" name="TextBox 8"/>
          <p:cNvSpPr txBox="1"/>
          <p:nvPr/>
        </p:nvSpPr>
        <p:spPr>
          <a:xfrm>
            <a:off x="6759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829173" y="107742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Leader S3</a:t>
            </a:r>
            <a:endParaRPr lang="zh-CN" altLang="en-US" dirty="0"/>
          </a:p>
        </p:txBody>
      </p:sp>
      <p:sp>
        <p:nvSpPr>
          <p:cNvPr id="146" name="Rectangle 51"/>
          <p:cNvSpPr/>
          <p:nvPr/>
        </p:nvSpPr>
        <p:spPr>
          <a:xfrm>
            <a:off x="6708576" y="30040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7" name="Rectangle 51"/>
          <p:cNvSpPr/>
          <p:nvPr/>
        </p:nvSpPr>
        <p:spPr>
          <a:xfrm>
            <a:off x="6708576" y="35374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9" name="Rectangle 51"/>
          <p:cNvSpPr/>
          <p:nvPr/>
        </p:nvSpPr>
        <p:spPr>
          <a:xfrm>
            <a:off x="7089576" y="246744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0" name="Rectangle 51"/>
          <p:cNvSpPr/>
          <p:nvPr/>
        </p:nvSpPr>
        <p:spPr>
          <a:xfrm>
            <a:off x="7089576" y="300084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1" name="TextBox 8"/>
          <p:cNvSpPr txBox="1"/>
          <p:nvPr/>
        </p:nvSpPr>
        <p:spPr>
          <a:xfrm>
            <a:off x="7140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53" name="Rectangle 51"/>
          <p:cNvSpPr/>
          <p:nvPr/>
        </p:nvSpPr>
        <p:spPr>
          <a:xfrm>
            <a:off x="7452320" y="3000840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grpSp>
        <p:nvGrpSpPr>
          <p:cNvPr id="155" name="组合 154"/>
          <p:cNvGrpSpPr/>
          <p:nvPr/>
        </p:nvGrpSpPr>
        <p:grpSpPr>
          <a:xfrm>
            <a:off x="6055943" y="120008"/>
            <a:ext cx="3173753" cy="737393"/>
            <a:chOff x="1038399" y="1493332"/>
            <a:chExt cx="1127473" cy="737393"/>
          </a:xfrm>
        </p:grpSpPr>
        <p:sp>
          <p:nvSpPr>
            <p:cNvPr id="156" name="矩形 155"/>
            <p:cNvSpPr/>
            <p:nvPr/>
          </p:nvSpPr>
          <p:spPr>
            <a:xfrm>
              <a:off x="1163126" y="1493332"/>
              <a:ext cx="902137" cy="737393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1038399" y="1519662"/>
              <a:ext cx="112747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>
                  <a:cs typeface="Consolas" panose="020B0609020204030204" pitchFamily="49" charset="0"/>
                </a:rPr>
                <a:t>Question: can index 4 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pPr algn="ctr"/>
              <a:r>
                <a:rPr kumimoji="1" lang="en-US" altLang="zh-CN">
                  <a:cs typeface="Consolas" panose="020B0609020204030204" pitchFamily="49" charset="0"/>
                </a:rPr>
                <a:t>be overwritten?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3" grpId="0" animBg="1"/>
      <p:bldP spid="134" grpId="0" animBg="1"/>
      <p:bldP spid="135" grpId="0" animBg="1"/>
      <p:bldP spid="137" grpId="0"/>
      <p:bldP spid="138" grpId="0"/>
      <p:bldP spid="139" grpId="0"/>
      <p:bldP spid="140" grpId="0"/>
      <p:bldP spid="141" grpId="0" animBg="1"/>
      <p:bldP spid="142" grpId="0"/>
      <p:bldP spid="143" grpId="0"/>
      <p:bldP spid="144" grpId="0"/>
      <p:bldP spid="145" grpId="0" animBg="1"/>
      <p:bldP spid="146" grpId="0" animBg="1"/>
      <p:bldP spid="147" grpId="0" animBg="1"/>
      <p:bldP spid="149" grpId="0" animBg="1"/>
      <p:bldP spid="150" grpId="0" animBg="1"/>
      <p:bldP spid="151" grpId="0"/>
      <p:bldP spid="15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Case study: raft overwriting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5"/>
          <p:cNvSpPr/>
          <p:nvPr/>
        </p:nvSpPr>
        <p:spPr>
          <a:xfrm>
            <a:off x="560512" y="20164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" name="Rectangle 16"/>
          <p:cNvSpPr/>
          <p:nvPr/>
        </p:nvSpPr>
        <p:spPr>
          <a:xfrm>
            <a:off x="941512" y="20164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" name="Rectangle 17"/>
          <p:cNvSpPr/>
          <p:nvPr/>
        </p:nvSpPr>
        <p:spPr>
          <a:xfrm>
            <a:off x="560512" y="25498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" name="Rectangle 18"/>
          <p:cNvSpPr/>
          <p:nvPr/>
        </p:nvSpPr>
        <p:spPr>
          <a:xfrm>
            <a:off x="941512" y="25498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9" name="Rectangle 25"/>
          <p:cNvSpPr/>
          <p:nvPr/>
        </p:nvSpPr>
        <p:spPr>
          <a:xfrm>
            <a:off x="560512" y="30832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0" name="Rectangle 26"/>
          <p:cNvSpPr/>
          <p:nvPr/>
        </p:nvSpPr>
        <p:spPr>
          <a:xfrm>
            <a:off x="941512" y="30832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1" name="Rectangle 29"/>
          <p:cNvSpPr/>
          <p:nvPr/>
        </p:nvSpPr>
        <p:spPr>
          <a:xfrm>
            <a:off x="560512" y="36166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" name="Rectangle 30"/>
          <p:cNvSpPr/>
          <p:nvPr/>
        </p:nvSpPr>
        <p:spPr>
          <a:xfrm>
            <a:off x="1322512" y="20164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3" name="Rectangle 31"/>
          <p:cNvSpPr/>
          <p:nvPr/>
        </p:nvSpPr>
        <p:spPr>
          <a:xfrm>
            <a:off x="941512" y="36166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4" name="Rectangle 32"/>
          <p:cNvSpPr/>
          <p:nvPr/>
        </p:nvSpPr>
        <p:spPr>
          <a:xfrm>
            <a:off x="560512" y="41500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" name="Rectangle 33"/>
          <p:cNvSpPr/>
          <p:nvPr/>
        </p:nvSpPr>
        <p:spPr>
          <a:xfrm>
            <a:off x="941512" y="415000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6" name="TextBox 45"/>
          <p:cNvSpPr txBox="1"/>
          <p:nvPr/>
        </p:nvSpPr>
        <p:spPr>
          <a:xfrm>
            <a:off x="179512" y="20684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17" name="TextBox 46"/>
          <p:cNvSpPr txBox="1"/>
          <p:nvPr/>
        </p:nvSpPr>
        <p:spPr>
          <a:xfrm>
            <a:off x="179512" y="26018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18" name="TextBox 47"/>
          <p:cNvSpPr txBox="1"/>
          <p:nvPr/>
        </p:nvSpPr>
        <p:spPr>
          <a:xfrm>
            <a:off x="179512" y="31352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19" name="TextBox 48"/>
          <p:cNvSpPr txBox="1"/>
          <p:nvPr/>
        </p:nvSpPr>
        <p:spPr>
          <a:xfrm>
            <a:off x="179512" y="36686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20" name="TextBox 49"/>
          <p:cNvSpPr txBox="1"/>
          <p:nvPr/>
        </p:nvSpPr>
        <p:spPr>
          <a:xfrm>
            <a:off x="179512" y="420200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21" name="Rectangle 51"/>
          <p:cNvSpPr/>
          <p:nvPr/>
        </p:nvSpPr>
        <p:spPr>
          <a:xfrm>
            <a:off x="1322512" y="25498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2" name="TextBox 6"/>
          <p:cNvSpPr txBox="1"/>
          <p:nvPr/>
        </p:nvSpPr>
        <p:spPr>
          <a:xfrm>
            <a:off x="611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992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1373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3109" y="1156603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S1</a:t>
            </a:r>
            <a:endParaRPr lang="zh-CN" altLang="en-US"/>
          </a:p>
        </p:txBody>
      </p:sp>
      <p:sp>
        <p:nvSpPr>
          <p:cNvPr id="26" name="Rectangle 51"/>
          <p:cNvSpPr/>
          <p:nvPr/>
        </p:nvSpPr>
        <p:spPr>
          <a:xfrm>
            <a:off x="1322512" y="30832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7" name="Rectangle 51"/>
          <p:cNvSpPr/>
          <p:nvPr/>
        </p:nvSpPr>
        <p:spPr>
          <a:xfrm>
            <a:off x="1322512" y="361660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9" name="Rectangle 30"/>
          <p:cNvSpPr/>
          <p:nvPr/>
        </p:nvSpPr>
        <p:spPr>
          <a:xfrm>
            <a:off x="1703512" y="20132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0" name="Rectangle 51"/>
          <p:cNvSpPr/>
          <p:nvPr/>
        </p:nvSpPr>
        <p:spPr>
          <a:xfrm>
            <a:off x="1703512" y="25466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1" name="Rectangle 51"/>
          <p:cNvSpPr/>
          <p:nvPr/>
        </p:nvSpPr>
        <p:spPr>
          <a:xfrm>
            <a:off x="1703512" y="308002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2" name="TextBox 8"/>
          <p:cNvSpPr txBox="1"/>
          <p:nvPr/>
        </p:nvSpPr>
        <p:spPr>
          <a:xfrm>
            <a:off x="1754560" y="1569513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3" name="Rectangle 30"/>
          <p:cNvSpPr/>
          <p:nvPr/>
        </p:nvSpPr>
        <p:spPr>
          <a:xfrm>
            <a:off x="2084512" y="20100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cxnSp>
        <p:nvCxnSpPr>
          <p:cNvPr id="34" name="直线箭头连接符 33"/>
          <p:cNvCxnSpPr/>
          <p:nvPr/>
        </p:nvCxnSpPr>
        <p:spPr>
          <a:xfrm>
            <a:off x="34142" y="5165389"/>
            <a:ext cx="8939336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54271" y="4980723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2</a:t>
            </a:r>
            <a:endParaRPr lang="zh-CN" altLang="en-US"/>
          </a:p>
        </p:txBody>
      </p:sp>
      <p:sp>
        <p:nvSpPr>
          <p:cNvPr id="61" name="Rectangle 15"/>
          <p:cNvSpPr/>
          <p:nvPr/>
        </p:nvSpPr>
        <p:spPr>
          <a:xfrm>
            <a:off x="3243064" y="19703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2" name="Rectangle 16"/>
          <p:cNvSpPr/>
          <p:nvPr/>
        </p:nvSpPr>
        <p:spPr>
          <a:xfrm>
            <a:off x="3624064" y="19703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3" name="Rectangle 17"/>
          <p:cNvSpPr/>
          <p:nvPr/>
        </p:nvSpPr>
        <p:spPr>
          <a:xfrm>
            <a:off x="3243064" y="25037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4" name="Rectangle 18"/>
          <p:cNvSpPr/>
          <p:nvPr/>
        </p:nvSpPr>
        <p:spPr>
          <a:xfrm>
            <a:off x="3624064" y="25037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5" name="Rectangle 25"/>
          <p:cNvSpPr/>
          <p:nvPr/>
        </p:nvSpPr>
        <p:spPr>
          <a:xfrm>
            <a:off x="3243064" y="30371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6" name="Rectangle 26"/>
          <p:cNvSpPr/>
          <p:nvPr/>
        </p:nvSpPr>
        <p:spPr>
          <a:xfrm>
            <a:off x="3624064" y="30371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7" name="Rectangle 29"/>
          <p:cNvSpPr/>
          <p:nvPr/>
        </p:nvSpPr>
        <p:spPr>
          <a:xfrm>
            <a:off x="3243064" y="35705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8" name="Rectangle 30"/>
          <p:cNvSpPr/>
          <p:nvPr/>
        </p:nvSpPr>
        <p:spPr>
          <a:xfrm>
            <a:off x="4005064" y="197032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69" name="Rectangle 31"/>
          <p:cNvSpPr/>
          <p:nvPr/>
        </p:nvSpPr>
        <p:spPr>
          <a:xfrm>
            <a:off x="3624064" y="35705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0" name="Rectangle 32"/>
          <p:cNvSpPr/>
          <p:nvPr/>
        </p:nvSpPr>
        <p:spPr>
          <a:xfrm>
            <a:off x="3243064" y="41039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1" name="Rectangle 33"/>
          <p:cNvSpPr/>
          <p:nvPr/>
        </p:nvSpPr>
        <p:spPr>
          <a:xfrm>
            <a:off x="3624064" y="4103929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2" name="TextBox 45"/>
          <p:cNvSpPr txBox="1"/>
          <p:nvPr/>
        </p:nvSpPr>
        <p:spPr>
          <a:xfrm>
            <a:off x="2862064" y="202233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73" name="TextBox 46"/>
          <p:cNvSpPr txBox="1"/>
          <p:nvPr/>
        </p:nvSpPr>
        <p:spPr>
          <a:xfrm>
            <a:off x="2862064" y="255573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74" name="TextBox 47"/>
          <p:cNvSpPr txBox="1"/>
          <p:nvPr/>
        </p:nvSpPr>
        <p:spPr>
          <a:xfrm>
            <a:off x="2862064" y="308913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75" name="TextBox 48"/>
          <p:cNvSpPr txBox="1"/>
          <p:nvPr/>
        </p:nvSpPr>
        <p:spPr>
          <a:xfrm>
            <a:off x="2862064" y="362253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76" name="TextBox 49"/>
          <p:cNvSpPr txBox="1"/>
          <p:nvPr/>
        </p:nvSpPr>
        <p:spPr>
          <a:xfrm>
            <a:off x="2862064" y="4155930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77" name="Rectangle 51"/>
          <p:cNvSpPr/>
          <p:nvPr/>
        </p:nvSpPr>
        <p:spPr>
          <a:xfrm>
            <a:off x="4005064" y="250372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78" name="TextBox 6"/>
          <p:cNvSpPr txBox="1"/>
          <p:nvPr/>
        </p:nvSpPr>
        <p:spPr>
          <a:xfrm>
            <a:off x="3294112" y="152344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79" name="TextBox 7"/>
          <p:cNvSpPr txBox="1"/>
          <p:nvPr/>
        </p:nvSpPr>
        <p:spPr>
          <a:xfrm>
            <a:off x="3675112" y="152344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80" name="TextBox 8"/>
          <p:cNvSpPr txBox="1"/>
          <p:nvPr/>
        </p:nvSpPr>
        <p:spPr>
          <a:xfrm>
            <a:off x="4056112" y="152344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125661" y="1110530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</a:t>
            </a:r>
            <a:r>
              <a:rPr kumimoji="1" lang="en-US" altLang="zh-CN" b="1">
                <a:solidFill>
                  <a:srgbClr val="C00000"/>
                </a:solidFill>
              </a:rPr>
              <a:t>?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82" name="Rectangle 51"/>
          <p:cNvSpPr/>
          <p:nvPr/>
        </p:nvSpPr>
        <p:spPr>
          <a:xfrm>
            <a:off x="4005064" y="303712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3" name="Rectangle 51"/>
          <p:cNvSpPr/>
          <p:nvPr/>
        </p:nvSpPr>
        <p:spPr>
          <a:xfrm>
            <a:off x="4005064" y="357052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4" name="Rectangle 30"/>
          <p:cNvSpPr/>
          <p:nvPr/>
        </p:nvSpPr>
        <p:spPr>
          <a:xfrm>
            <a:off x="4386064" y="196714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5" name="Rectangle 51"/>
          <p:cNvSpPr/>
          <p:nvPr/>
        </p:nvSpPr>
        <p:spPr>
          <a:xfrm>
            <a:off x="4386064" y="250054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6" name="Rectangle 51"/>
          <p:cNvSpPr/>
          <p:nvPr/>
        </p:nvSpPr>
        <p:spPr>
          <a:xfrm>
            <a:off x="4386064" y="303394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7" name="TextBox 8"/>
          <p:cNvSpPr txBox="1"/>
          <p:nvPr/>
        </p:nvSpPr>
        <p:spPr>
          <a:xfrm>
            <a:off x="4437112" y="152344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88" name="Rectangle 30"/>
          <p:cNvSpPr/>
          <p:nvPr/>
        </p:nvSpPr>
        <p:spPr>
          <a:xfrm>
            <a:off x="4767064" y="1963969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cxnSp>
        <p:nvCxnSpPr>
          <p:cNvPr id="90" name="直线连接符 89"/>
          <p:cNvCxnSpPr/>
          <p:nvPr/>
        </p:nvCxnSpPr>
        <p:spPr>
          <a:xfrm>
            <a:off x="2699792" y="1110530"/>
            <a:ext cx="0" cy="4699298"/>
          </a:xfrm>
          <a:prstGeom prst="line">
            <a:avLst/>
          </a:prstGeom>
          <a:ln>
            <a:solidFill>
              <a:schemeClr val="accent6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3110183" y="4980723"/>
            <a:ext cx="140975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S1 crashes</a:t>
            </a:r>
            <a:endParaRPr lang="zh-CN" altLang="en-US"/>
          </a:p>
        </p:txBody>
      </p:sp>
      <p:cxnSp>
        <p:nvCxnSpPr>
          <p:cNvPr id="121" name="直线连接符 120"/>
          <p:cNvCxnSpPr/>
          <p:nvPr/>
        </p:nvCxnSpPr>
        <p:spPr>
          <a:xfrm>
            <a:off x="2989760" y="1843256"/>
            <a:ext cx="2253905" cy="52904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/>
          <p:cNvCxnSpPr/>
          <p:nvPr/>
        </p:nvCxnSpPr>
        <p:spPr>
          <a:xfrm flipV="1">
            <a:off x="2979600" y="1872975"/>
            <a:ext cx="2264065" cy="3755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>
            <a:off x="5994609" y="4980723"/>
            <a:ext cx="899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3</a:t>
            </a:r>
            <a:endParaRPr lang="zh-CN" altLang="en-US"/>
          </a:p>
        </p:txBody>
      </p:sp>
      <p:sp>
        <p:nvSpPr>
          <p:cNvPr id="127" name="Rectangle 17"/>
          <p:cNvSpPr/>
          <p:nvPr/>
        </p:nvSpPr>
        <p:spPr>
          <a:xfrm>
            <a:off x="5946576" y="24706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8" name="Rectangle 18"/>
          <p:cNvSpPr/>
          <p:nvPr/>
        </p:nvSpPr>
        <p:spPr>
          <a:xfrm>
            <a:off x="6327576" y="24706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9" name="Rectangle 25"/>
          <p:cNvSpPr/>
          <p:nvPr/>
        </p:nvSpPr>
        <p:spPr>
          <a:xfrm>
            <a:off x="5946576" y="30040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0" name="Rectangle 26"/>
          <p:cNvSpPr/>
          <p:nvPr/>
        </p:nvSpPr>
        <p:spPr>
          <a:xfrm>
            <a:off x="6327576" y="30040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1" name="Rectangle 29"/>
          <p:cNvSpPr/>
          <p:nvPr/>
        </p:nvSpPr>
        <p:spPr>
          <a:xfrm>
            <a:off x="5946576" y="35374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3" name="Rectangle 31"/>
          <p:cNvSpPr/>
          <p:nvPr/>
        </p:nvSpPr>
        <p:spPr>
          <a:xfrm>
            <a:off x="6327576" y="35374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4" name="Rectangle 32"/>
          <p:cNvSpPr/>
          <p:nvPr/>
        </p:nvSpPr>
        <p:spPr>
          <a:xfrm>
            <a:off x="5946576" y="40708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5" name="Rectangle 33"/>
          <p:cNvSpPr/>
          <p:nvPr/>
        </p:nvSpPr>
        <p:spPr>
          <a:xfrm>
            <a:off x="6327576" y="407082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7" name="TextBox 46"/>
          <p:cNvSpPr txBox="1"/>
          <p:nvPr/>
        </p:nvSpPr>
        <p:spPr>
          <a:xfrm>
            <a:off x="5565576" y="25226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138" name="TextBox 47"/>
          <p:cNvSpPr txBox="1"/>
          <p:nvPr/>
        </p:nvSpPr>
        <p:spPr>
          <a:xfrm>
            <a:off x="5565576" y="30560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139" name="TextBox 48"/>
          <p:cNvSpPr txBox="1"/>
          <p:nvPr/>
        </p:nvSpPr>
        <p:spPr>
          <a:xfrm>
            <a:off x="5565576" y="35894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140" name="TextBox 49"/>
          <p:cNvSpPr txBox="1"/>
          <p:nvPr/>
        </p:nvSpPr>
        <p:spPr>
          <a:xfrm>
            <a:off x="5565576" y="412282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141" name="Rectangle 51"/>
          <p:cNvSpPr/>
          <p:nvPr/>
        </p:nvSpPr>
        <p:spPr>
          <a:xfrm>
            <a:off x="6708576" y="24706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2" name="TextBox 6"/>
          <p:cNvSpPr txBox="1"/>
          <p:nvPr/>
        </p:nvSpPr>
        <p:spPr>
          <a:xfrm>
            <a:off x="5997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3" name="TextBox 7"/>
          <p:cNvSpPr txBox="1"/>
          <p:nvPr/>
        </p:nvSpPr>
        <p:spPr>
          <a:xfrm>
            <a:off x="6378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4" name="TextBox 8"/>
          <p:cNvSpPr txBox="1"/>
          <p:nvPr/>
        </p:nvSpPr>
        <p:spPr>
          <a:xfrm>
            <a:off x="6759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829173" y="107742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</a:t>
            </a:r>
            <a:r>
              <a:rPr kumimoji="1" lang="en-US" altLang="zh-CN" b="1">
                <a:solidFill>
                  <a:srgbClr val="C00000"/>
                </a:solidFill>
              </a:rPr>
              <a:t>S5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46" name="Rectangle 51"/>
          <p:cNvSpPr/>
          <p:nvPr/>
        </p:nvSpPr>
        <p:spPr>
          <a:xfrm>
            <a:off x="6708576" y="30040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7" name="Rectangle 51"/>
          <p:cNvSpPr/>
          <p:nvPr/>
        </p:nvSpPr>
        <p:spPr>
          <a:xfrm>
            <a:off x="6708576" y="353742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9" name="Rectangle 51"/>
          <p:cNvSpPr/>
          <p:nvPr/>
        </p:nvSpPr>
        <p:spPr>
          <a:xfrm>
            <a:off x="7089576" y="246744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0" name="Rectangle 51"/>
          <p:cNvSpPr/>
          <p:nvPr/>
        </p:nvSpPr>
        <p:spPr>
          <a:xfrm>
            <a:off x="7089576" y="300084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1" name="TextBox 8"/>
          <p:cNvSpPr txBox="1"/>
          <p:nvPr/>
        </p:nvSpPr>
        <p:spPr>
          <a:xfrm>
            <a:off x="7140624" y="149033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53" name="Rectangle 51"/>
          <p:cNvSpPr/>
          <p:nvPr/>
        </p:nvSpPr>
        <p:spPr>
          <a:xfrm>
            <a:off x="6717168" y="4068571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grpSp>
        <p:nvGrpSpPr>
          <p:cNvPr id="155" name="组合 154"/>
          <p:cNvGrpSpPr/>
          <p:nvPr/>
        </p:nvGrpSpPr>
        <p:grpSpPr>
          <a:xfrm>
            <a:off x="6055943" y="120008"/>
            <a:ext cx="3173753" cy="737393"/>
            <a:chOff x="1038399" y="1493332"/>
            <a:chExt cx="1127473" cy="737393"/>
          </a:xfrm>
        </p:grpSpPr>
        <p:sp>
          <p:nvSpPr>
            <p:cNvPr id="156" name="矩形 155"/>
            <p:cNvSpPr/>
            <p:nvPr/>
          </p:nvSpPr>
          <p:spPr>
            <a:xfrm>
              <a:off x="1163126" y="1493332"/>
              <a:ext cx="902137" cy="737393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1038399" y="1519662"/>
              <a:ext cx="112747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>
                  <a:cs typeface="Consolas" panose="020B0609020204030204" pitchFamily="49" charset="0"/>
                </a:rPr>
                <a:t>Question: can index 4 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pPr algn="ctr"/>
              <a:r>
                <a:rPr kumimoji="1" lang="en-US" altLang="zh-CN">
                  <a:cs typeface="Consolas" panose="020B0609020204030204" pitchFamily="49" charset="0"/>
                </a:rPr>
                <a:t>be overwritten?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  <p:sp>
        <p:nvSpPr>
          <p:cNvPr id="3" name="Rectangle 51"/>
          <p:cNvSpPr/>
          <p:nvPr/>
        </p:nvSpPr>
        <p:spPr>
          <a:xfrm>
            <a:off x="7110828" y="4068571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28" name="Rectangle 51"/>
          <p:cNvSpPr/>
          <p:nvPr/>
        </p:nvSpPr>
        <p:spPr>
          <a:xfrm>
            <a:off x="6717168" y="3529743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36" name="Rectangle 51"/>
          <p:cNvSpPr/>
          <p:nvPr/>
        </p:nvSpPr>
        <p:spPr>
          <a:xfrm>
            <a:off x="6717168" y="3011697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37" name="Rectangle 51"/>
          <p:cNvSpPr/>
          <p:nvPr/>
        </p:nvSpPr>
        <p:spPr>
          <a:xfrm>
            <a:off x="6717168" y="2472869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38" name="任意形状 37"/>
          <p:cNvSpPr/>
          <p:nvPr/>
        </p:nvSpPr>
        <p:spPr>
          <a:xfrm>
            <a:off x="7030720" y="3759200"/>
            <a:ext cx="348114" cy="416560"/>
          </a:xfrm>
          <a:custGeom>
            <a:avLst/>
            <a:gdLst>
              <a:gd name="connsiteX0" fmla="*/ 0 w 348114"/>
              <a:gd name="connsiteY0" fmla="*/ 416560 h 416560"/>
              <a:gd name="connsiteX1" fmla="*/ 345440 w 348114"/>
              <a:gd name="connsiteY1" fmla="*/ 182880 h 416560"/>
              <a:gd name="connsiteX2" fmla="*/ 132080 w 348114"/>
              <a:gd name="connsiteY2" fmla="*/ 0 h 41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114" h="416560">
                <a:moveTo>
                  <a:pt x="0" y="416560"/>
                </a:moveTo>
                <a:cubicBezTo>
                  <a:pt x="161713" y="334433"/>
                  <a:pt x="323427" y="252307"/>
                  <a:pt x="345440" y="182880"/>
                </a:cubicBezTo>
                <a:cubicBezTo>
                  <a:pt x="367453" y="113453"/>
                  <a:pt x="249766" y="56726"/>
                  <a:pt x="13208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任意形状 38"/>
          <p:cNvSpPr/>
          <p:nvPr/>
        </p:nvSpPr>
        <p:spPr>
          <a:xfrm>
            <a:off x="7061200" y="3291840"/>
            <a:ext cx="650301" cy="975360"/>
          </a:xfrm>
          <a:custGeom>
            <a:avLst/>
            <a:gdLst>
              <a:gd name="connsiteX0" fmla="*/ 0 w 650301"/>
              <a:gd name="connsiteY0" fmla="*/ 975360 h 975360"/>
              <a:gd name="connsiteX1" fmla="*/ 650240 w 650301"/>
              <a:gd name="connsiteY1" fmla="*/ 548640 h 975360"/>
              <a:gd name="connsiteX2" fmla="*/ 30480 w 650301"/>
              <a:gd name="connsiteY2" fmla="*/ 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0301" h="975360">
                <a:moveTo>
                  <a:pt x="0" y="975360"/>
                </a:moveTo>
                <a:cubicBezTo>
                  <a:pt x="322580" y="843280"/>
                  <a:pt x="645160" y="711200"/>
                  <a:pt x="650240" y="548640"/>
                </a:cubicBezTo>
                <a:cubicBezTo>
                  <a:pt x="655320" y="386080"/>
                  <a:pt x="342900" y="193040"/>
                  <a:pt x="3048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任意形状 39"/>
          <p:cNvSpPr/>
          <p:nvPr/>
        </p:nvSpPr>
        <p:spPr>
          <a:xfrm>
            <a:off x="7020560" y="2753360"/>
            <a:ext cx="1076996" cy="1554480"/>
          </a:xfrm>
          <a:custGeom>
            <a:avLst/>
            <a:gdLst>
              <a:gd name="connsiteX0" fmla="*/ 30480 w 1076996"/>
              <a:gd name="connsiteY0" fmla="*/ 1554480 h 1554480"/>
              <a:gd name="connsiteX1" fmla="*/ 1076960 w 1076996"/>
              <a:gd name="connsiteY1" fmla="*/ 1219200 h 1554480"/>
              <a:gd name="connsiteX2" fmla="*/ 0 w 1076996"/>
              <a:gd name="connsiteY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6996" h="1554480">
                <a:moveTo>
                  <a:pt x="30480" y="1554480"/>
                </a:moveTo>
                <a:cubicBezTo>
                  <a:pt x="556260" y="1516380"/>
                  <a:pt x="1082040" y="1478280"/>
                  <a:pt x="1076960" y="1219200"/>
                </a:cubicBezTo>
                <a:cubicBezTo>
                  <a:pt x="1071880" y="960120"/>
                  <a:pt x="535940" y="48006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6" grpId="0" animBg="1"/>
      <p:bldP spid="3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Safety requirement of the commit entry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777380"/>
            <a:ext cx="8229600" cy="2956730"/>
          </a:xfrm>
        </p:spPr>
        <p:txBody>
          <a:bodyPr/>
          <a:lstStyle/>
          <a:p>
            <a:r>
              <a:rPr lang="en-US" altLang="zh-CN" dirty="0"/>
              <a:t>Raft safety property:</a:t>
            </a:r>
            <a:endParaRPr lang="en-US" altLang="zh-CN" dirty="0"/>
          </a:p>
          <a:p>
            <a:pPr lvl="1"/>
            <a:r>
              <a:rPr lang="en-US" altLang="zh-CN" dirty="0"/>
              <a:t>If a leader has decided that a log entry is committed, that entry will be present in the logs of all future leaders (no overwritten)</a:t>
            </a:r>
            <a:endParaRPr lang="en-US" altLang="zh-CN" dirty="0"/>
          </a:p>
          <a:p>
            <a:r>
              <a:rPr lang="en-US" altLang="zh-CN" dirty="0"/>
              <a:t>This guarantees the safety requirement</a:t>
            </a:r>
            <a:endParaRPr lang="en-US" altLang="zh-CN" dirty="0"/>
          </a:p>
          <a:p>
            <a:pPr lvl="1"/>
            <a:r>
              <a:rPr lang="en-US" altLang="zh-CN" dirty="0"/>
              <a:t>Leaders never overwrite entries in their logs</a:t>
            </a:r>
            <a:endParaRPr lang="en-US" altLang="zh-CN" dirty="0"/>
          </a:p>
          <a:p>
            <a:pPr lvl="1"/>
            <a:r>
              <a:rPr lang="en-US" altLang="zh-CN" dirty="0"/>
              <a:t>Only entries in the leader’s log can be committed</a:t>
            </a:r>
            <a:endParaRPr lang="en-US" altLang="zh-CN" dirty="0"/>
          </a:p>
          <a:p>
            <a:pPr lvl="1"/>
            <a:r>
              <a:rPr lang="en-US" altLang="zh-CN" dirty="0"/>
              <a:t>Entries must be committed before applying to state machine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80020" y="968943"/>
            <a:ext cx="8075240" cy="975271"/>
            <a:chOff x="911200" y="1040360"/>
            <a:chExt cx="2686291" cy="975271"/>
          </a:xfrm>
        </p:grpSpPr>
        <p:sp>
          <p:nvSpPr>
            <p:cNvPr id="7" name="矩形 6"/>
            <p:cNvSpPr/>
            <p:nvPr/>
          </p:nvSpPr>
          <p:spPr>
            <a:xfrm>
              <a:off x="912507" y="1040360"/>
              <a:ext cx="2684984" cy="74730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11200" y="1092301"/>
              <a:ext cx="2684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Once a log entry has been applied to a state machine, no other state machine must apply a different value for that log entry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677" y="4519278"/>
            <a:ext cx="7112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kern="0" dirty="0">
                <a:solidFill>
                  <a:srgbClr val="C00000"/>
                </a:solidFill>
                <a:ea typeface="+mn-ea"/>
              </a:rPr>
              <a:t>Goal: if a log entry has been replicated to majority followers, it is </a:t>
            </a:r>
            <a:r>
              <a:rPr lang="en-US" altLang="zh-CN" u="sng" kern="0" dirty="0">
                <a:solidFill>
                  <a:srgbClr val="C00000"/>
                </a:solidFill>
                <a:ea typeface="+mn-ea"/>
              </a:rPr>
              <a:t>likely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 to commit, i.e., be in the log of future leaders </a:t>
            </a:r>
            <a:endParaRPr lang="en-US" altLang="zh-CN" sz="260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Committing Entry from the Current Term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900442"/>
          </a:xfrm>
        </p:spPr>
        <p:txBody>
          <a:bodyPr/>
          <a:lstStyle/>
          <a:p>
            <a:r>
              <a:rPr kumimoji="1" lang="en-US" altLang="zh-CN"/>
              <a:t>Case #1/2: Leader decides entry in current term is committed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6" y="1550835"/>
            <a:ext cx="5461000" cy="30226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996191" y="4696102"/>
            <a:ext cx="7675884" cy="1018898"/>
            <a:chOff x="912507" y="1040360"/>
            <a:chExt cx="2726851" cy="1018898"/>
          </a:xfrm>
        </p:grpSpPr>
        <p:sp>
          <p:nvSpPr>
            <p:cNvPr id="7" name="矩形 6"/>
            <p:cNvSpPr/>
            <p:nvPr/>
          </p:nvSpPr>
          <p:spPr>
            <a:xfrm>
              <a:off x="912507" y="1040360"/>
              <a:ext cx="2684984" cy="842189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54373" y="1135928"/>
              <a:ext cx="2684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Question: how to prevent index 4 from being overwritten? Prevent S4 or S5 from becoming the leader  </a:t>
              </a:r>
              <a:endParaRPr kumimoji="1" lang="en-US" altLang="zh-CN">
                <a:cs typeface="Consolas" panose="020B0609020204030204" pitchFamily="49" charset="0"/>
              </a:endParaRPr>
            </a:p>
            <a:p>
              <a:r>
                <a:rPr kumimoji="1" lang="en-US" altLang="zh-CN">
                  <a:cs typeface="Consolas" panose="020B0609020204030204" pitchFamily="49" charset="0"/>
                </a:rPr>
                <a:t> </a:t>
              </a:r>
              <a:endParaRPr lang="zh-CN" altLang="en-US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Picking the Best Leader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During elections, choose candidate with log most likely to contain all committed entries</a:t>
            </a:r>
            <a:endParaRPr lang="en-US" altLang="zh-CN"/>
          </a:p>
          <a:p>
            <a:pPr lvl="1"/>
            <a:r>
              <a:rPr lang="en-US" altLang="zh-CN"/>
              <a:t>Candidates include log info in </a:t>
            </a:r>
            <a:r>
              <a:rPr lang="en-US" altLang="zh-CN" err="1"/>
              <a:t>RequestVote</a:t>
            </a:r>
            <a:r>
              <a:rPr lang="en-US" altLang="zh-CN"/>
              <a:t> RPCs</a:t>
            </a:r>
            <a:br>
              <a:rPr lang="en-US" altLang="zh-CN"/>
            </a:br>
            <a:r>
              <a:rPr lang="en-US" altLang="zh-CN"/>
              <a:t>(index &amp; term of last log entry)</a:t>
            </a:r>
            <a:endParaRPr lang="en-US" altLang="zh-CN"/>
          </a:p>
          <a:p>
            <a:pPr lvl="1"/>
            <a:r>
              <a:rPr lang="en-US" altLang="zh-CN"/>
              <a:t>Voting server V denies vote if its log is “more complete”:</a:t>
            </a:r>
            <a:br>
              <a:rPr lang="en-US" altLang="zh-CN"/>
            </a:b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||</a:t>
            </a:r>
            <a:b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lastIndexV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lastIndexC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/>
              <a:t>Leader will have “most complete” log among electing majority</a:t>
            </a:r>
            <a:endParaRPr lang="en-US" altLang="zh-CN"/>
          </a:p>
          <a:p>
            <a:pPr lvl="1"/>
            <a:endParaRPr lang="en-US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Comparing the best leader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731514"/>
          </a:xfrm>
        </p:spPr>
        <p:txBody>
          <a:bodyPr>
            <a:normAutofit lnSpcReduction="10000"/>
          </a:bodyPr>
          <a:lstStyle/>
          <a:p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||</a:t>
            </a:r>
            <a:b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lastTermC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&amp;&amp; (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lastIndexV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altLang="zh-CN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lastIndexC</a:t>
            </a:r>
            <a:r>
              <a:rPr lang="en-US" altLang="zh-CN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5"/>
          <p:cNvSpPr/>
          <p:nvPr/>
        </p:nvSpPr>
        <p:spPr>
          <a:xfrm>
            <a:off x="1844824" y="26041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" name="Rectangle 16"/>
          <p:cNvSpPr/>
          <p:nvPr/>
        </p:nvSpPr>
        <p:spPr>
          <a:xfrm>
            <a:off x="2225824" y="26041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" name="Rectangle 17"/>
          <p:cNvSpPr/>
          <p:nvPr/>
        </p:nvSpPr>
        <p:spPr>
          <a:xfrm>
            <a:off x="1844824" y="31375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" name="Rectangle 18"/>
          <p:cNvSpPr/>
          <p:nvPr/>
        </p:nvSpPr>
        <p:spPr>
          <a:xfrm>
            <a:off x="2225824" y="31375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9" name="Rectangle 30"/>
          <p:cNvSpPr/>
          <p:nvPr/>
        </p:nvSpPr>
        <p:spPr>
          <a:xfrm>
            <a:off x="2606824" y="26041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0" name="TextBox 45"/>
          <p:cNvSpPr txBox="1"/>
          <p:nvPr/>
        </p:nvSpPr>
        <p:spPr>
          <a:xfrm>
            <a:off x="1463824" y="265614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11" name="TextBox 46"/>
          <p:cNvSpPr txBox="1"/>
          <p:nvPr/>
        </p:nvSpPr>
        <p:spPr>
          <a:xfrm>
            <a:off x="1463824" y="318954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12" name="Rectangle 51"/>
          <p:cNvSpPr/>
          <p:nvPr/>
        </p:nvSpPr>
        <p:spPr>
          <a:xfrm>
            <a:off x="2606824" y="31375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3" name="Rectangle 30"/>
          <p:cNvSpPr/>
          <p:nvPr/>
        </p:nvSpPr>
        <p:spPr>
          <a:xfrm>
            <a:off x="2987824" y="260096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" name="Rectangle 51"/>
          <p:cNvSpPr/>
          <p:nvPr/>
        </p:nvSpPr>
        <p:spPr>
          <a:xfrm>
            <a:off x="2987824" y="313436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" name="Rectangle 30"/>
          <p:cNvSpPr/>
          <p:nvPr/>
        </p:nvSpPr>
        <p:spPr>
          <a:xfrm>
            <a:off x="3368824" y="259778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6" name="Rectangle 15"/>
          <p:cNvSpPr/>
          <p:nvPr/>
        </p:nvSpPr>
        <p:spPr>
          <a:xfrm>
            <a:off x="5661248" y="25724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" name="Rectangle 16"/>
          <p:cNvSpPr/>
          <p:nvPr/>
        </p:nvSpPr>
        <p:spPr>
          <a:xfrm>
            <a:off x="6042248" y="25724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8" name="Rectangle 17"/>
          <p:cNvSpPr/>
          <p:nvPr/>
        </p:nvSpPr>
        <p:spPr>
          <a:xfrm>
            <a:off x="5661248" y="31058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9" name="Rectangle 18"/>
          <p:cNvSpPr/>
          <p:nvPr/>
        </p:nvSpPr>
        <p:spPr>
          <a:xfrm>
            <a:off x="6042248" y="3105842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0" name="Rectangle 30"/>
          <p:cNvSpPr/>
          <p:nvPr/>
        </p:nvSpPr>
        <p:spPr>
          <a:xfrm>
            <a:off x="6423248" y="25724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1" name="TextBox 45"/>
          <p:cNvSpPr txBox="1"/>
          <p:nvPr/>
        </p:nvSpPr>
        <p:spPr>
          <a:xfrm>
            <a:off x="5280248" y="262444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22" name="TextBox 46"/>
          <p:cNvSpPr txBox="1"/>
          <p:nvPr/>
        </p:nvSpPr>
        <p:spPr>
          <a:xfrm>
            <a:off x="5280248" y="3157843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23" name="Rectangle 51"/>
          <p:cNvSpPr/>
          <p:nvPr/>
        </p:nvSpPr>
        <p:spPr>
          <a:xfrm>
            <a:off x="6423248" y="310584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4" name="Rectangle 30"/>
          <p:cNvSpPr/>
          <p:nvPr/>
        </p:nvSpPr>
        <p:spPr>
          <a:xfrm>
            <a:off x="6804248" y="256926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5" name="Rectangle 51"/>
          <p:cNvSpPr/>
          <p:nvPr/>
        </p:nvSpPr>
        <p:spPr>
          <a:xfrm>
            <a:off x="6804248" y="3102662"/>
            <a:ext cx="381000" cy="381000"/>
          </a:xfrm>
          <a:prstGeom prst="rect">
            <a:avLst/>
          </a:prstGeom>
          <a:solidFill>
            <a:srgbClr val="CCDAF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26" name="Rectangle 30"/>
          <p:cNvSpPr/>
          <p:nvPr/>
        </p:nvSpPr>
        <p:spPr>
          <a:xfrm>
            <a:off x="7185248" y="2566082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27" name="内容占位符 2"/>
          <p:cNvSpPr txBox="1"/>
          <p:nvPr/>
        </p:nvSpPr>
        <p:spPr>
          <a:xfrm>
            <a:off x="302840" y="4405832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/>
              <a:t>Question: which log is longer?</a:t>
            </a:r>
            <a:endParaRPr kumimoji="1" lang="en-US" altLang="zh-CN"/>
          </a:p>
          <a:p>
            <a:pPr lvl="1"/>
            <a:r>
              <a:rPr kumimoji="1" lang="en-US" altLang="zh-CN"/>
              <a:t>S1 &amp; S2, respectively  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Committing Entry from the Current Term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585692"/>
          </a:xfrm>
        </p:spPr>
        <p:txBody>
          <a:bodyPr/>
          <a:lstStyle/>
          <a:p>
            <a:r>
              <a:rPr kumimoji="1" lang="en-US" altLang="zh-CN"/>
              <a:t>Leader decides entry in current term is committed 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/>
          </a:p>
          <a:p>
            <a:r>
              <a:rPr kumimoji="1" lang="en-US" altLang="zh-CN"/>
              <a:t>Safe: leader for term 3 must contain entry 4 </a:t>
            </a:r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0" y="1707107"/>
            <a:ext cx="5461000" cy="3022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Complete picture of request vote RPC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22"/>
          <p:cNvSpPr txBox="1"/>
          <p:nvPr/>
        </p:nvSpPr>
        <p:spPr>
          <a:xfrm>
            <a:off x="1168296" y="1123084"/>
            <a:ext cx="7344816" cy="44781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Invoked by candidates to gather votes.</a:t>
            </a:r>
            <a:endParaRPr 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Arguments: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candidateId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candidate requesting vote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candidate's term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altLang="zh-CN" sz="1800" b="1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lastLogIndex</a:t>
            </a:r>
            <a:r>
              <a:rPr lang="en-US" altLang="zh-CN" sz="18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index of candidate's last log entry</a:t>
            </a:r>
            <a:endParaRPr lang="en-US" altLang="zh-CN" sz="18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altLang="zh-CN" sz="1800" b="1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lastLogTerm</a:t>
            </a:r>
            <a:r>
              <a:rPr lang="en-US" altLang="zh-CN" sz="18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term of candidate's last log entry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Results: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for candidate to update itself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tabLst>
                <a:tab pos="798195" algn="l"/>
              </a:tabLst>
            </a:pP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voteGranted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true means candidate received vote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830" indent="-798830" algn="l">
              <a:spcBef>
                <a:spcPts val="600"/>
              </a:spcBef>
              <a:tabLst>
                <a:tab pos="798195" algn="l"/>
              </a:tabLst>
            </a:pPr>
            <a:r>
              <a:rPr lang="en-US" b="1">
                <a:solidFill>
                  <a:srgbClr val="0432FF"/>
                </a:solidFill>
                <a:latin typeface="+mn-lt"/>
                <a:cs typeface="Times New Roman" panose="02020603050405020304" pitchFamily="18" charset="0"/>
              </a:rPr>
              <a:t>Implementation:</a:t>
            </a:r>
            <a:endParaRPr lang="en-US" b="1">
              <a:solidFill>
                <a:srgbClr val="0432FF"/>
              </a:solidFill>
              <a:latin typeface="+mn-lt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term &gt;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← term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(step down if leader or candidate)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term ==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currentTerm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votedFor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null or </a:t>
            </a:r>
            <a:r>
              <a:rPr lang="en-US" altLang="zh-C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candidateId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sz="18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candidate's log is at least as complete as local log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grant vote and reset election timeout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-170180" algn="l">
              <a:buFont typeface="+mj-lt"/>
              <a:buAutoNum type="arabicPeriod"/>
              <a:tabLst>
                <a:tab pos="169545" algn="l"/>
              </a:tabLst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Commit rule for raft so far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If the log entry from the leader term is replicated to a majority of followers</a:t>
            </a:r>
            <a:endParaRPr kumimoji="1" lang="en-US" altLang="zh-CN"/>
          </a:p>
          <a:p>
            <a:pPr lvl="1"/>
            <a:r>
              <a:rPr kumimoji="1" lang="en-US" altLang="zh-CN"/>
              <a:t>Then we can treat it as committed </a:t>
            </a:r>
            <a:endParaRPr kumimoji="1" lang="en-US" altLang="zh-CN"/>
          </a:p>
          <a:p>
            <a:pPr lvl="2"/>
            <a:r>
              <a:rPr kumimoji="1" lang="en-US" altLang="zh-CN" sz="1800"/>
              <a:t>The later leader must contain the entry </a:t>
            </a:r>
            <a:endParaRPr kumimoji="1" lang="en-US" altLang="zh-CN" sz="1800"/>
          </a:p>
          <a:p>
            <a:r>
              <a:rPr kumimoji="1" lang="en-US" altLang="zh-CN"/>
              <a:t>But, what about replicating log entry from a previous term? </a:t>
            </a:r>
            <a:endParaRPr kumimoji="1" lang="en-US" altLang="zh-CN"/>
          </a:p>
          <a:p>
            <a:pPr lvl="1"/>
            <a:r>
              <a:rPr kumimoji="1" lang="en-US" altLang="zh-CN"/>
              <a:t>The previous term’s entry may fail to reach a majority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248" y="3294077"/>
            <a:ext cx="3960440" cy="2192057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39" y="228866"/>
            <a:ext cx="9021677" cy="900442"/>
          </a:xfrm>
        </p:spPr>
        <p:txBody>
          <a:bodyPr/>
          <a:lstStyle/>
          <a:p>
            <a:r>
              <a:rPr kumimoji="1" lang="en-US" altLang="zh-CN"/>
              <a:t>Case study: a majority replicated entry can be overwritten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线箭头连接符 5"/>
          <p:cNvCxnSpPr/>
          <p:nvPr/>
        </p:nvCxnSpPr>
        <p:spPr>
          <a:xfrm>
            <a:off x="467544" y="5089748"/>
            <a:ext cx="8064896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5"/>
          <p:cNvSpPr/>
          <p:nvPr/>
        </p:nvSpPr>
        <p:spPr>
          <a:xfrm>
            <a:off x="839166" y="20368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0" name="Rectangle 16"/>
          <p:cNvSpPr/>
          <p:nvPr/>
        </p:nvSpPr>
        <p:spPr>
          <a:xfrm>
            <a:off x="1220166" y="20368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1" name="Rectangle 17"/>
          <p:cNvSpPr/>
          <p:nvPr/>
        </p:nvSpPr>
        <p:spPr>
          <a:xfrm>
            <a:off x="839166" y="25702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" name="Rectangle 18"/>
          <p:cNvSpPr/>
          <p:nvPr/>
        </p:nvSpPr>
        <p:spPr>
          <a:xfrm>
            <a:off x="1220166" y="25702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" name="Rectangle 25"/>
          <p:cNvSpPr/>
          <p:nvPr/>
        </p:nvSpPr>
        <p:spPr>
          <a:xfrm>
            <a:off x="839166" y="31036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4" name="Rectangle 26"/>
          <p:cNvSpPr/>
          <p:nvPr/>
        </p:nvSpPr>
        <p:spPr>
          <a:xfrm>
            <a:off x="1220166" y="31036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" name="Rectangle 29"/>
          <p:cNvSpPr/>
          <p:nvPr/>
        </p:nvSpPr>
        <p:spPr>
          <a:xfrm>
            <a:off x="839166" y="36370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6" name="Rectangle 30"/>
          <p:cNvSpPr/>
          <p:nvPr/>
        </p:nvSpPr>
        <p:spPr>
          <a:xfrm>
            <a:off x="1601166" y="203681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7" name="Rectangle 31"/>
          <p:cNvSpPr/>
          <p:nvPr/>
        </p:nvSpPr>
        <p:spPr>
          <a:xfrm>
            <a:off x="1220166" y="36370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8" name="Rectangle 32"/>
          <p:cNvSpPr/>
          <p:nvPr/>
        </p:nvSpPr>
        <p:spPr>
          <a:xfrm>
            <a:off x="839166" y="41704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9" name="Rectangle 33"/>
          <p:cNvSpPr/>
          <p:nvPr/>
        </p:nvSpPr>
        <p:spPr>
          <a:xfrm>
            <a:off x="1220166" y="41704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0" name="TextBox 45"/>
          <p:cNvSpPr txBox="1"/>
          <p:nvPr/>
        </p:nvSpPr>
        <p:spPr>
          <a:xfrm>
            <a:off x="458166" y="20888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21" name="TextBox 46"/>
          <p:cNvSpPr txBox="1"/>
          <p:nvPr/>
        </p:nvSpPr>
        <p:spPr>
          <a:xfrm>
            <a:off x="458166" y="26222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22" name="TextBox 47"/>
          <p:cNvSpPr txBox="1"/>
          <p:nvPr/>
        </p:nvSpPr>
        <p:spPr>
          <a:xfrm>
            <a:off x="458166" y="31556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23" name="TextBox 48"/>
          <p:cNvSpPr txBox="1"/>
          <p:nvPr/>
        </p:nvSpPr>
        <p:spPr>
          <a:xfrm>
            <a:off x="458166" y="36890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24" name="TextBox 49"/>
          <p:cNvSpPr txBox="1"/>
          <p:nvPr/>
        </p:nvSpPr>
        <p:spPr>
          <a:xfrm>
            <a:off x="458166" y="42224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25" name="Rectangle 51"/>
          <p:cNvSpPr/>
          <p:nvPr/>
        </p:nvSpPr>
        <p:spPr>
          <a:xfrm>
            <a:off x="1601166" y="257021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1" name="TextBox 6"/>
          <p:cNvSpPr txBox="1"/>
          <p:nvPr/>
        </p:nvSpPr>
        <p:spPr>
          <a:xfrm>
            <a:off x="890214" y="158992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1271214" y="158992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1652214" y="158992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cxnSp>
        <p:nvCxnSpPr>
          <p:cNvPr id="61" name="直线连接符 60"/>
          <p:cNvCxnSpPr/>
          <p:nvPr/>
        </p:nvCxnSpPr>
        <p:spPr>
          <a:xfrm>
            <a:off x="2051720" y="1129308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/>
          <p:cNvCxnSpPr/>
          <p:nvPr/>
        </p:nvCxnSpPr>
        <p:spPr>
          <a:xfrm>
            <a:off x="4355976" y="1129308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21763" y="117701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S1</a:t>
            </a:r>
            <a:endParaRPr lang="zh-CN" altLang="en-US"/>
          </a:p>
        </p:txBody>
      </p:sp>
      <p:cxnSp>
        <p:nvCxnSpPr>
          <p:cNvPr id="90" name="直线连接符 89"/>
          <p:cNvCxnSpPr/>
          <p:nvPr/>
        </p:nvCxnSpPr>
        <p:spPr>
          <a:xfrm>
            <a:off x="6553200" y="1177095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14704" y="4905082"/>
            <a:ext cx="10769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2</a:t>
            </a:r>
            <a:endParaRPr lang="zh-CN" altLang="en-US"/>
          </a:p>
        </p:txBody>
      </p:sp>
      <p:sp>
        <p:nvSpPr>
          <p:cNvPr id="5" name="Rectangle 15"/>
          <p:cNvSpPr/>
          <p:nvPr/>
        </p:nvSpPr>
        <p:spPr>
          <a:xfrm>
            <a:off x="2762421" y="20368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" name="Rectangle 16"/>
          <p:cNvSpPr/>
          <p:nvPr/>
        </p:nvSpPr>
        <p:spPr>
          <a:xfrm>
            <a:off x="3143421" y="20368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" name="Rectangle 17"/>
          <p:cNvSpPr/>
          <p:nvPr/>
        </p:nvSpPr>
        <p:spPr>
          <a:xfrm>
            <a:off x="2762421" y="25702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6" name="Rectangle 18"/>
          <p:cNvSpPr/>
          <p:nvPr/>
        </p:nvSpPr>
        <p:spPr>
          <a:xfrm>
            <a:off x="3143421" y="25702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7" name="Rectangle 25"/>
          <p:cNvSpPr/>
          <p:nvPr/>
        </p:nvSpPr>
        <p:spPr>
          <a:xfrm>
            <a:off x="2762421" y="31036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8" name="Rectangle 26"/>
          <p:cNvSpPr/>
          <p:nvPr/>
        </p:nvSpPr>
        <p:spPr>
          <a:xfrm>
            <a:off x="3143421" y="31036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29" name="Rectangle 29"/>
          <p:cNvSpPr/>
          <p:nvPr/>
        </p:nvSpPr>
        <p:spPr>
          <a:xfrm>
            <a:off x="2762421" y="36370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30" name="Rectangle 30"/>
          <p:cNvSpPr/>
          <p:nvPr/>
        </p:nvSpPr>
        <p:spPr>
          <a:xfrm>
            <a:off x="3524421" y="203681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34" name="Rectangle 31"/>
          <p:cNvSpPr/>
          <p:nvPr/>
        </p:nvSpPr>
        <p:spPr>
          <a:xfrm>
            <a:off x="3143421" y="36370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35" name="Rectangle 32"/>
          <p:cNvSpPr/>
          <p:nvPr/>
        </p:nvSpPr>
        <p:spPr>
          <a:xfrm>
            <a:off x="2762421" y="41704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36" name="Rectangle 33"/>
          <p:cNvSpPr/>
          <p:nvPr/>
        </p:nvSpPr>
        <p:spPr>
          <a:xfrm>
            <a:off x="3143421" y="417041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37" name="TextBox 45"/>
          <p:cNvSpPr txBox="1"/>
          <p:nvPr/>
        </p:nvSpPr>
        <p:spPr>
          <a:xfrm>
            <a:off x="2381421" y="20888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38" name="TextBox 46"/>
          <p:cNvSpPr txBox="1"/>
          <p:nvPr/>
        </p:nvSpPr>
        <p:spPr>
          <a:xfrm>
            <a:off x="2381421" y="26222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39" name="TextBox 47"/>
          <p:cNvSpPr txBox="1"/>
          <p:nvPr/>
        </p:nvSpPr>
        <p:spPr>
          <a:xfrm>
            <a:off x="2381421" y="31556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3</a:t>
            </a:r>
            <a:endParaRPr lang="en-US" baseline="-25000"/>
          </a:p>
        </p:txBody>
      </p:sp>
      <p:sp>
        <p:nvSpPr>
          <p:cNvPr id="40" name="TextBox 48"/>
          <p:cNvSpPr txBox="1"/>
          <p:nvPr/>
        </p:nvSpPr>
        <p:spPr>
          <a:xfrm>
            <a:off x="2381421" y="36890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4</a:t>
            </a:r>
            <a:endParaRPr lang="en-US" baseline="-25000"/>
          </a:p>
        </p:txBody>
      </p:sp>
      <p:sp>
        <p:nvSpPr>
          <p:cNvPr id="41" name="TextBox 49"/>
          <p:cNvSpPr txBox="1"/>
          <p:nvPr/>
        </p:nvSpPr>
        <p:spPr>
          <a:xfrm>
            <a:off x="2381421" y="4222411"/>
            <a:ext cx="381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</a:t>
            </a:r>
            <a:r>
              <a:rPr lang="en-US" baseline="-25000"/>
              <a:t>5</a:t>
            </a:r>
            <a:endParaRPr lang="en-US" baseline="-25000"/>
          </a:p>
        </p:txBody>
      </p:sp>
      <p:sp>
        <p:nvSpPr>
          <p:cNvPr id="42" name="Rectangle 51"/>
          <p:cNvSpPr/>
          <p:nvPr/>
        </p:nvSpPr>
        <p:spPr>
          <a:xfrm>
            <a:off x="3524421" y="257021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43" name="TextBox 6"/>
          <p:cNvSpPr txBox="1"/>
          <p:nvPr/>
        </p:nvSpPr>
        <p:spPr>
          <a:xfrm>
            <a:off x="2813469" y="158992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3194469" y="158992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45" name="任意形状 44"/>
          <p:cNvSpPr/>
          <p:nvPr/>
        </p:nvSpPr>
        <p:spPr>
          <a:xfrm>
            <a:off x="2375625" y="3020252"/>
            <a:ext cx="1885721" cy="132890"/>
          </a:xfrm>
          <a:custGeom>
            <a:avLst/>
            <a:gdLst>
              <a:gd name="connsiteX0" fmla="*/ 0 w 2245360"/>
              <a:gd name="connsiteY0" fmla="*/ 417218 h 417218"/>
              <a:gd name="connsiteX1" fmla="*/ 436880 w 2245360"/>
              <a:gd name="connsiteY1" fmla="*/ 31138 h 417218"/>
              <a:gd name="connsiteX2" fmla="*/ 1239520 w 2245360"/>
              <a:gd name="connsiteY2" fmla="*/ 61618 h 417218"/>
              <a:gd name="connsiteX3" fmla="*/ 2245360 w 2245360"/>
              <a:gd name="connsiteY3" fmla="*/ 366418 h 417218"/>
              <a:gd name="connsiteX0-1" fmla="*/ 0 w 2322383"/>
              <a:gd name="connsiteY0-2" fmla="*/ 417218 h 417218"/>
              <a:gd name="connsiteX1-3" fmla="*/ 436880 w 2322383"/>
              <a:gd name="connsiteY1-4" fmla="*/ 31138 h 417218"/>
              <a:gd name="connsiteX2-5" fmla="*/ 1239520 w 2322383"/>
              <a:gd name="connsiteY2-6" fmla="*/ 61618 h 417218"/>
              <a:gd name="connsiteX3-7" fmla="*/ 2322383 w 2322383"/>
              <a:gd name="connsiteY3-8" fmla="*/ 122939 h 417218"/>
              <a:gd name="connsiteX0-9" fmla="*/ 0 w 2684388"/>
              <a:gd name="connsiteY0-10" fmla="*/ 132890 h 132890"/>
              <a:gd name="connsiteX1-11" fmla="*/ 798885 w 2684388"/>
              <a:gd name="connsiteY1-12" fmla="*/ 11932 h 132890"/>
              <a:gd name="connsiteX2-13" fmla="*/ 1601525 w 2684388"/>
              <a:gd name="connsiteY2-14" fmla="*/ 42412 h 132890"/>
              <a:gd name="connsiteX3-15" fmla="*/ 2684388 w 2684388"/>
              <a:gd name="connsiteY3-16" fmla="*/ 103733 h 1328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684388" h="132890">
                <a:moveTo>
                  <a:pt x="0" y="132890"/>
                </a:moveTo>
                <a:cubicBezTo>
                  <a:pt x="115146" y="-30517"/>
                  <a:pt x="531964" y="27012"/>
                  <a:pt x="798885" y="11932"/>
                </a:cubicBezTo>
                <a:cubicBezTo>
                  <a:pt x="1065806" y="-3148"/>
                  <a:pt x="1300112" y="-13468"/>
                  <a:pt x="1601525" y="42412"/>
                </a:cubicBezTo>
                <a:cubicBezTo>
                  <a:pt x="1902938" y="98292"/>
                  <a:pt x="2332174" y="-20727"/>
                  <a:pt x="2684388" y="103733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2616582" y="4909522"/>
            <a:ext cx="12579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Partition!!!</a:t>
            </a:r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6444208" y="1072894"/>
            <a:ext cx="2775006" cy="1090878"/>
            <a:chOff x="1183292" y="1055125"/>
            <a:chExt cx="2797643" cy="1090878"/>
          </a:xfrm>
        </p:grpSpPr>
        <p:sp>
          <p:nvSpPr>
            <p:cNvPr id="49" name="矩形 48"/>
            <p:cNvSpPr/>
            <p:nvPr/>
          </p:nvSpPr>
          <p:spPr>
            <a:xfrm>
              <a:off x="1183292" y="1055125"/>
              <a:ext cx="2684984" cy="1090878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295950" y="1112232"/>
              <a:ext cx="2684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cs typeface="Consolas" panose="020B0609020204030204" pitchFamily="49" charset="0"/>
                </a:rPr>
                <a:t>Question: who can become the leader for term 3? </a:t>
              </a:r>
              <a:endParaRPr kumimoji="1" lang="en-US" altLang="zh-CN" dirty="0">
                <a:cs typeface="Consolas" panose="020B0609020204030204" pitchFamily="49" charset="0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4837388" y="4905082"/>
            <a:ext cx="12579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3</a:t>
            </a:r>
            <a:endParaRPr lang="zh-CN" altLang="en-US"/>
          </a:p>
        </p:txBody>
      </p:sp>
      <p:sp>
        <p:nvSpPr>
          <p:cNvPr id="52" name="Rectangle 15"/>
          <p:cNvSpPr/>
          <p:nvPr/>
        </p:nvSpPr>
        <p:spPr>
          <a:xfrm>
            <a:off x="4644008" y="20396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3" name="Rectangle 16"/>
          <p:cNvSpPr/>
          <p:nvPr/>
        </p:nvSpPr>
        <p:spPr>
          <a:xfrm>
            <a:off x="5025008" y="20396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4" name="Rectangle 17"/>
          <p:cNvSpPr/>
          <p:nvPr/>
        </p:nvSpPr>
        <p:spPr>
          <a:xfrm>
            <a:off x="4644008" y="25730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5" name="Rectangle 18"/>
          <p:cNvSpPr/>
          <p:nvPr/>
        </p:nvSpPr>
        <p:spPr>
          <a:xfrm>
            <a:off x="5025008" y="25730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6" name="Rectangle 25"/>
          <p:cNvSpPr/>
          <p:nvPr/>
        </p:nvSpPr>
        <p:spPr>
          <a:xfrm>
            <a:off x="4644008" y="31064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7" name="Rectangle 26"/>
          <p:cNvSpPr/>
          <p:nvPr/>
        </p:nvSpPr>
        <p:spPr>
          <a:xfrm>
            <a:off x="5025008" y="31064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8" name="Rectangle 29"/>
          <p:cNvSpPr/>
          <p:nvPr/>
        </p:nvSpPr>
        <p:spPr>
          <a:xfrm>
            <a:off x="4644008" y="36398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59" name="Rectangle 30"/>
          <p:cNvSpPr/>
          <p:nvPr/>
        </p:nvSpPr>
        <p:spPr>
          <a:xfrm>
            <a:off x="5406008" y="203965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60" name="Rectangle 31"/>
          <p:cNvSpPr/>
          <p:nvPr/>
        </p:nvSpPr>
        <p:spPr>
          <a:xfrm>
            <a:off x="5025008" y="36398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4" name="Rectangle 32"/>
          <p:cNvSpPr/>
          <p:nvPr/>
        </p:nvSpPr>
        <p:spPr>
          <a:xfrm>
            <a:off x="4644008" y="41732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5" name="Rectangle 33"/>
          <p:cNvSpPr/>
          <p:nvPr/>
        </p:nvSpPr>
        <p:spPr>
          <a:xfrm>
            <a:off x="5025008" y="41732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66" name="Rectangle 51"/>
          <p:cNvSpPr/>
          <p:nvPr/>
        </p:nvSpPr>
        <p:spPr>
          <a:xfrm>
            <a:off x="5406008" y="257305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grpSp>
        <p:nvGrpSpPr>
          <p:cNvPr id="84" name="组合 83"/>
          <p:cNvGrpSpPr/>
          <p:nvPr/>
        </p:nvGrpSpPr>
        <p:grpSpPr>
          <a:xfrm>
            <a:off x="5406008" y="4173250"/>
            <a:ext cx="762000" cy="381000"/>
            <a:chOff x="5406008" y="4173250"/>
            <a:chExt cx="762000" cy="381000"/>
          </a:xfrm>
        </p:grpSpPr>
        <p:sp>
          <p:nvSpPr>
            <p:cNvPr id="67" name="Rectangle 41"/>
            <p:cNvSpPr/>
            <p:nvPr/>
          </p:nvSpPr>
          <p:spPr>
            <a:xfrm>
              <a:off x="5406008" y="4173250"/>
              <a:ext cx="381000" cy="381000"/>
            </a:xfrm>
            <a:prstGeom prst="rect">
              <a:avLst/>
            </a:prstGeom>
            <a:solidFill>
              <a:srgbClr val="CCD9F4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/>
                <a:t>3</a:t>
              </a:r>
              <a:endParaRPr lang="en-US" sz="1600"/>
            </a:p>
          </p:txBody>
        </p:sp>
        <p:sp>
          <p:nvSpPr>
            <p:cNvPr id="68" name="Rectangle 43"/>
            <p:cNvSpPr/>
            <p:nvPr/>
          </p:nvSpPr>
          <p:spPr>
            <a:xfrm>
              <a:off x="5787008" y="4173250"/>
              <a:ext cx="381000" cy="381000"/>
            </a:xfrm>
            <a:prstGeom prst="rect">
              <a:avLst/>
            </a:prstGeom>
            <a:solidFill>
              <a:srgbClr val="CCD9F4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1700"/>
                </a:lnSpc>
              </a:pPr>
              <a:r>
                <a:rPr lang="en-US" sz="1600" dirty="0"/>
                <a:t>3</a:t>
              </a:r>
              <a:endParaRPr lang="en-US" sz="1600" dirty="0"/>
            </a:p>
          </p:txBody>
        </p:sp>
      </p:grpSp>
      <p:sp>
        <p:nvSpPr>
          <p:cNvPr id="69" name="TextBox 6"/>
          <p:cNvSpPr txBox="1"/>
          <p:nvPr/>
        </p:nvSpPr>
        <p:spPr>
          <a:xfrm>
            <a:off x="4695056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70" name="TextBox 7"/>
          <p:cNvSpPr txBox="1"/>
          <p:nvPr/>
        </p:nvSpPr>
        <p:spPr>
          <a:xfrm>
            <a:off x="5076056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71" name="TextBox 8"/>
          <p:cNvSpPr txBox="1"/>
          <p:nvPr/>
        </p:nvSpPr>
        <p:spPr>
          <a:xfrm>
            <a:off x="5457056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72" name="TextBox 9"/>
          <p:cNvSpPr txBox="1"/>
          <p:nvPr/>
        </p:nvSpPr>
        <p:spPr>
          <a:xfrm>
            <a:off x="5838056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845347" y="117701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Leader S5</a:t>
            </a:r>
            <a:endParaRPr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6892882" y="4766582"/>
            <a:ext cx="1257983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Partition again!!!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 animBg="1"/>
      <p:bldP spid="43" grpId="0"/>
      <p:bldP spid="44" grpId="0"/>
      <p:bldP spid="45" grpId="0" animBg="1"/>
      <p:bldP spid="46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4" grpId="0" animBg="1"/>
      <p:bldP spid="65" grpId="0" animBg="1"/>
      <p:bldP spid="66" grpId="0" animBg="1"/>
      <p:bldP spid="69" grpId="0"/>
      <p:bldP spid="70" grpId="0"/>
      <p:bldP spid="71" grpId="0"/>
      <p:bldP spid="72" grpId="0"/>
      <p:bldP spid="73" grpId="0" animBg="1"/>
      <p:bldP spid="7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39" y="228866"/>
            <a:ext cx="9021677" cy="900442"/>
          </a:xfrm>
        </p:spPr>
        <p:txBody>
          <a:bodyPr/>
          <a:lstStyle/>
          <a:p>
            <a:r>
              <a:rPr kumimoji="1" lang="en-US" altLang="zh-CN"/>
              <a:t>Case study: a majority replicated entry can be overwritten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线箭头连接符 5"/>
          <p:cNvCxnSpPr/>
          <p:nvPr/>
        </p:nvCxnSpPr>
        <p:spPr>
          <a:xfrm>
            <a:off x="467544" y="5089748"/>
            <a:ext cx="8064896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/>
          <p:cNvCxnSpPr/>
          <p:nvPr/>
        </p:nvCxnSpPr>
        <p:spPr>
          <a:xfrm>
            <a:off x="2051720" y="1129308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/>
          <p:cNvCxnSpPr/>
          <p:nvPr/>
        </p:nvCxnSpPr>
        <p:spPr>
          <a:xfrm>
            <a:off x="4355976" y="1129308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89"/>
          <p:cNvCxnSpPr/>
          <p:nvPr/>
        </p:nvCxnSpPr>
        <p:spPr>
          <a:xfrm>
            <a:off x="6553200" y="1177095"/>
            <a:ext cx="0" cy="47525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85544" y="4816888"/>
            <a:ext cx="1322661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Partition on term 3!!</a:t>
            </a:r>
            <a:endParaRPr lang="zh-CN" altLang="en-US"/>
          </a:p>
        </p:txBody>
      </p:sp>
      <p:sp>
        <p:nvSpPr>
          <p:cNvPr id="47" name="Rectangle 15"/>
          <p:cNvSpPr/>
          <p:nvPr/>
        </p:nvSpPr>
        <p:spPr>
          <a:xfrm>
            <a:off x="404664" y="20396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8" name="Rectangle 16"/>
          <p:cNvSpPr/>
          <p:nvPr/>
        </p:nvSpPr>
        <p:spPr>
          <a:xfrm>
            <a:off x="785664" y="20396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79" name="Rectangle 17"/>
          <p:cNvSpPr/>
          <p:nvPr/>
        </p:nvSpPr>
        <p:spPr>
          <a:xfrm>
            <a:off x="404664" y="25730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0" name="Rectangle 18"/>
          <p:cNvSpPr/>
          <p:nvPr/>
        </p:nvSpPr>
        <p:spPr>
          <a:xfrm>
            <a:off x="785664" y="25730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1" name="Rectangle 25"/>
          <p:cNvSpPr/>
          <p:nvPr/>
        </p:nvSpPr>
        <p:spPr>
          <a:xfrm>
            <a:off x="404664" y="31064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2" name="Rectangle 26"/>
          <p:cNvSpPr/>
          <p:nvPr/>
        </p:nvSpPr>
        <p:spPr>
          <a:xfrm>
            <a:off x="785664" y="31064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3" name="Rectangle 29"/>
          <p:cNvSpPr/>
          <p:nvPr/>
        </p:nvSpPr>
        <p:spPr>
          <a:xfrm>
            <a:off x="404664" y="36398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4" name="Rectangle 30"/>
          <p:cNvSpPr/>
          <p:nvPr/>
        </p:nvSpPr>
        <p:spPr>
          <a:xfrm>
            <a:off x="1166664" y="203965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5" name="Rectangle 31"/>
          <p:cNvSpPr/>
          <p:nvPr/>
        </p:nvSpPr>
        <p:spPr>
          <a:xfrm>
            <a:off x="785664" y="36398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6" name="Rectangle 32"/>
          <p:cNvSpPr/>
          <p:nvPr/>
        </p:nvSpPr>
        <p:spPr>
          <a:xfrm>
            <a:off x="404664" y="41732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7" name="Rectangle 33"/>
          <p:cNvSpPr/>
          <p:nvPr/>
        </p:nvSpPr>
        <p:spPr>
          <a:xfrm>
            <a:off x="785664" y="417325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88" name="Rectangle 51"/>
          <p:cNvSpPr/>
          <p:nvPr/>
        </p:nvSpPr>
        <p:spPr>
          <a:xfrm>
            <a:off x="1166664" y="257305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89" name="Rectangle 41"/>
          <p:cNvSpPr/>
          <p:nvPr/>
        </p:nvSpPr>
        <p:spPr>
          <a:xfrm>
            <a:off x="1166664" y="417325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91" name="Rectangle 43"/>
          <p:cNvSpPr/>
          <p:nvPr/>
        </p:nvSpPr>
        <p:spPr>
          <a:xfrm>
            <a:off x="1547664" y="417325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92" name="TextBox 6"/>
          <p:cNvSpPr txBox="1"/>
          <p:nvPr/>
        </p:nvSpPr>
        <p:spPr>
          <a:xfrm>
            <a:off x="455712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93" name="TextBox 7"/>
          <p:cNvSpPr txBox="1"/>
          <p:nvPr/>
        </p:nvSpPr>
        <p:spPr>
          <a:xfrm>
            <a:off x="836712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94" name="TextBox 8"/>
          <p:cNvSpPr txBox="1"/>
          <p:nvPr/>
        </p:nvSpPr>
        <p:spPr>
          <a:xfrm>
            <a:off x="1217712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95" name="TextBox 9"/>
          <p:cNvSpPr txBox="1"/>
          <p:nvPr/>
        </p:nvSpPr>
        <p:spPr>
          <a:xfrm>
            <a:off x="1598712" y="159276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06003" y="117701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S5</a:t>
            </a:r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2410790" y="1177011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Leader S1</a:t>
            </a:r>
            <a:endParaRPr lang="zh-CN" altLang="en-US" dirty="0"/>
          </a:p>
        </p:txBody>
      </p:sp>
      <p:sp>
        <p:nvSpPr>
          <p:cNvPr id="119" name="Rectangle 15"/>
          <p:cNvSpPr/>
          <p:nvPr/>
        </p:nvSpPr>
        <p:spPr>
          <a:xfrm>
            <a:off x="2327920" y="20339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0" name="Rectangle 16"/>
          <p:cNvSpPr/>
          <p:nvPr/>
        </p:nvSpPr>
        <p:spPr>
          <a:xfrm>
            <a:off x="2708920" y="20339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1" name="Rectangle 17"/>
          <p:cNvSpPr/>
          <p:nvPr/>
        </p:nvSpPr>
        <p:spPr>
          <a:xfrm>
            <a:off x="2327920" y="25673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2" name="Rectangle 18"/>
          <p:cNvSpPr/>
          <p:nvPr/>
        </p:nvSpPr>
        <p:spPr>
          <a:xfrm>
            <a:off x="2708920" y="25673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3" name="Rectangle 25"/>
          <p:cNvSpPr/>
          <p:nvPr/>
        </p:nvSpPr>
        <p:spPr>
          <a:xfrm>
            <a:off x="2327920" y="31007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4" name="Rectangle 26"/>
          <p:cNvSpPr/>
          <p:nvPr/>
        </p:nvSpPr>
        <p:spPr>
          <a:xfrm>
            <a:off x="2708920" y="31007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5" name="Rectangle 29"/>
          <p:cNvSpPr/>
          <p:nvPr/>
        </p:nvSpPr>
        <p:spPr>
          <a:xfrm>
            <a:off x="2327920" y="36341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6" name="Rectangle 30"/>
          <p:cNvSpPr/>
          <p:nvPr/>
        </p:nvSpPr>
        <p:spPr>
          <a:xfrm>
            <a:off x="3089920" y="203397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27" name="Rectangle 31"/>
          <p:cNvSpPr/>
          <p:nvPr/>
        </p:nvSpPr>
        <p:spPr>
          <a:xfrm>
            <a:off x="2708920" y="36341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8" name="Rectangle 32"/>
          <p:cNvSpPr/>
          <p:nvPr/>
        </p:nvSpPr>
        <p:spPr>
          <a:xfrm>
            <a:off x="2327920" y="41675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29" name="Rectangle 33"/>
          <p:cNvSpPr/>
          <p:nvPr/>
        </p:nvSpPr>
        <p:spPr>
          <a:xfrm>
            <a:off x="2708920" y="41675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30" name="Rectangle 51"/>
          <p:cNvSpPr/>
          <p:nvPr/>
        </p:nvSpPr>
        <p:spPr>
          <a:xfrm>
            <a:off x="3089920" y="256737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31" name="Rectangle 41"/>
          <p:cNvSpPr/>
          <p:nvPr/>
        </p:nvSpPr>
        <p:spPr>
          <a:xfrm>
            <a:off x="3089920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32" name="Rectangle 43"/>
          <p:cNvSpPr/>
          <p:nvPr/>
        </p:nvSpPr>
        <p:spPr>
          <a:xfrm>
            <a:off x="3470920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33" name="Rectangle 67"/>
          <p:cNvSpPr/>
          <p:nvPr/>
        </p:nvSpPr>
        <p:spPr>
          <a:xfrm>
            <a:off x="3851920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34" name="TextBox 6"/>
          <p:cNvSpPr txBox="1"/>
          <p:nvPr/>
        </p:nvSpPr>
        <p:spPr>
          <a:xfrm>
            <a:off x="2378968" y="158708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35" name="TextBox 7"/>
          <p:cNvSpPr txBox="1"/>
          <p:nvPr/>
        </p:nvSpPr>
        <p:spPr>
          <a:xfrm>
            <a:off x="2759968" y="158708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36" name="TextBox 8"/>
          <p:cNvSpPr txBox="1"/>
          <p:nvPr/>
        </p:nvSpPr>
        <p:spPr>
          <a:xfrm>
            <a:off x="3140968" y="158708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37" name="TextBox 9"/>
          <p:cNvSpPr txBox="1"/>
          <p:nvPr/>
        </p:nvSpPr>
        <p:spPr>
          <a:xfrm>
            <a:off x="3521968" y="158708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38" name="TextBox 10"/>
          <p:cNvSpPr txBox="1"/>
          <p:nvPr/>
        </p:nvSpPr>
        <p:spPr>
          <a:xfrm>
            <a:off x="3902968" y="1587081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5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39" name="Rounded Rectangle 59"/>
          <p:cNvSpPr/>
          <p:nvPr/>
        </p:nvSpPr>
        <p:spPr>
          <a:xfrm>
            <a:off x="3057651" y="3014206"/>
            <a:ext cx="533400" cy="533400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42"/>
          <p:cNvSpPr/>
          <p:nvPr/>
        </p:nvSpPr>
        <p:spPr>
          <a:xfrm>
            <a:off x="3470920" y="2033970"/>
            <a:ext cx="381000" cy="381000"/>
          </a:xfrm>
          <a:prstGeom prst="rect">
            <a:avLst/>
          </a:prstGeom>
          <a:solidFill>
            <a:srgbClr val="FFC3CE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4</a:t>
            </a:r>
            <a:endParaRPr lang="en-US" sz="1600"/>
          </a:p>
        </p:txBody>
      </p:sp>
      <p:sp>
        <p:nvSpPr>
          <p:cNvPr id="141" name="Rectangle 51"/>
          <p:cNvSpPr/>
          <p:nvPr/>
        </p:nvSpPr>
        <p:spPr>
          <a:xfrm>
            <a:off x="3089920" y="309313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42" name="Freeform 44"/>
          <p:cNvSpPr/>
          <p:nvPr/>
        </p:nvSpPr>
        <p:spPr>
          <a:xfrm>
            <a:off x="3344027" y="2373589"/>
            <a:ext cx="355881" cy="808523"/>
          </a:xfrm>
          <a:custGeom>
            <a:avLst/>
            <a:gdLst>
              <a:gd name="connsiteX0" fmla="*/ 9261 w 9261"/>
              <a:gd name="connsiteY0" fmla="*/ 0 h 808523"/>
              <a:gd name="connsiteX1" fmla="*/ 9261 w 9261"/>
              <a:gd name="connsiteY1" fmla="*/ 808523 h 808523"/>
              <a:gd name="connsiteX0-1" fmla="*/ 445 w 209903"/>
              <a:gd name="connsiteY0-2" fmla="*/ 0 h 10000"/>
              <a:gd name="connsiteX1-3" fmla="*/ 445 w 209903"/>
              <a:gd name="connsiteY1-4" fmla="*/ 10000 h 10000"/>
              <a:gd name="connsiteX0-5" fmla="*/ 0 w 384280"/>
              <a:gd name="connsiteY0-6" fmla="*/ 0 h 10000"/>
              <a:gd name="connsiteX1-7" fmla="*/ 0 w 384280"/>
              <a:gd name="connsiteY1-8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84280" h="10000">
                <a:moveTo>
                  <a:pt x="0" y="0"/>
                </a:moveTo>
                <a:cubicBezTo>
                  <a:pt x="479825" y="3611"/>
                  <a:pt x="543919" y="6389"/>
                  <a:pt x="0" y="10000"/>
                </a:cubicBezTo>
              </a:path>
            </a:pathLst>
          </a:custGeom>
          <a:noFill/>
          <a:ln>
            <a:solidFill>
              <a:schemeClr val="tx2"/>
            </a:solidFill>
            <a:tailEnd type="arrow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2705281" y="4905082"/>
            <a:ext cx="132266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4</a:t>
            </a:r>
            <a:endParaRPr lang="zh-CN" altLang="en-US"/>
          </a:p>
        </p:txBody>
      </p:sp>
      <p:sp>
        <p:nvSpPr>
          <p:cNvPr id="147" name="Rectangle 17"/>
          <p:cNvSpPr/>
          <p:nvPr/>
        </p:nvSpPr>
        <p:spPr>
          <a:xfrm>
            <a:off x="4639267" y="25673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48" name="Rectangle 18"/>
          <p:cNvSpPr/>
          <p:nvPr/>
        </p:nvSpPr>
        <p:spPr>
          <a:xfrm>
            <a:off x="5020267" y="25673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49" name="Rectangle 25"/>
          <p:cNvSpPr/>
          <p:nvPr/>
        </p:nvSpPr>
        <p:spPr>
          <a:xfrm>
            <a:off x="4639267" y="31007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0" name="Rectangle 26"/>
          <p:cNvSpPr/>
          <p:nvPr/>
        </p:nvSpPr>
        <p:spPr>
          <a:xfrm>
            <a:off x="5020267" y="31007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1" name="Rectangle 29"/>
          <p:cNvSpPr/>
          <p:nvPr/>
        </p:nvSpPr>
        <p:spPr>
          <a:xfrm>
            <a:off x="4639267" y="36341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3" name="Rectangle 31"/>
          <p:cNvSpPr/>
          <p:nvPr/>
        </p:nvSpPr>
        <p:spPr>
          <a:xfrm>
            <a:off x="5020267" y="36341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4" name="Rectangle 32"/>
          <p:cNvSpPr/>
          <p:nvPr/>
        </p:nvSpPr>
        <p:spPr>
          <a:xfrm>
            <a:off x="4639267" y="41675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5" name="Rectangle 33"/>
          <p:cNvSpPr/>
          <p:nvPr/>
        </p:nvSpPr>
        <p:spPr>
          <a:xfrm>
            <a:off x="5020267" y="4167570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56" name="Rectangle 51"/>
          <p:cNvSpPr/>
          <p:nvPr/>
        </p:nvSpPr>
        <p:spPr>
          <a:xfrm>
            <a:off x="5401267" y="256737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57" name="Rectangle 41"/>
          <p:cNvSpPr/>
          <p:nvPr/>
        </p:nvSpPr>
        <p:spPr>
          <a:xfrm>
            <a:off x="5401267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58" name="Rectangle 43"/>
          <p:cNvSpPr/>
          <p:nvPr/>
        </p:nvSpPr>
        <p:spPr>
          <a:xfrm>
            <a:off x="5782267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59" name="Rectangle 67"/>
          <p:cNvSpPr/>
          <p:nvPr/>
        </p:nvSpPr>
        <p:spPr>
          <a:xfrm>
            <a:off x="6163267" y="416757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 dirty="0"/>
              <a:t>3</a:t>
            </a:r>
            <a:endParaRPr lang="en-US" sz="1600" dirty="0"/>
          </a:p>
        </p:txBody>
      </p:sp>
      <p:sp>
        <p:nvSpPr>
          <p:cNvPr id="160" name="Rounded Rectangle 59"/>
          <p:cNvSpPr/>
          <p:nvPr/>
        </p:nvSpPr>
        <p:spPr>
          <a:xfrm>
            <a:off x="5368998" y="3014206"/>
            <a:ext cx="533400" cy="533400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51"/>
          <p:cNvSpPr/>
          <p:nvPr/>
        </p:nvSpPr>
        <p:spPr>
          <a:xfrm>
            <a:off x="5401267" y="3093130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cxnSp>
        <p:nvCxnSpPr>
          <p:cNvPr id="164" name="直线连接符 163"/>
          <p:cNvCxnSpPr/>
          <p:nvPr/>
        </p:nvCxnSpPr>
        <p:spPr>
          <a:xfrm>
            <a:off x="4299295" y="1805269"/>
            <a:ext cx="2253905" cy="52904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连接符 164"/>
          <p:cNvCxnSpPr/>
          <p:nvPr/>
        </p:nvCxnSpPr>
        <p:spPr>
          <a:xfrm flipV="1">
            <a:off x="4289135" y="1834988"/>
            <a:ext cx="2264065" cy="3755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4863315" y="4905082"/>
            <a:ext cx="14688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S1 crashes</a:t>
            </a:r>
            <a:endParaRPr lang="zh-CN" altLang="en-US" dirty="0"/>
          </a:p>
        </p:txBody>
      </p:sp>
      <p:sp>
        <p:nvSpPr>
          <p:cNvPr id="170" name="文本框 169"/>
          <p:cNvSpPr txBox="1"/>
          <p:nvPr/>
        </p:nvSpPr>
        <p:spPr>
          <a:xfrm>
            <a:off x="7038798" y="1178986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S5</a:t>
            </a:r>
            <a:endParaRPr lang="zh-CN" altLang="en-US"/>
          </a:p>
        </p:txBody>
      </p:sp>
      <p:sp>
        <p:nvSpPr>
          <p:cNvPr id="173" name="Rectangle 17"/>
          <p:cNvSpPr/>
          <p:nvPr/>
        </p:nvSpPr>
        <p:spPr>
          <a:xfrm>
            <a:off x="6864174" y="25751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4" name="Rectangle 18"/>
          <p:cNvSpPr/>
          <p:nvPr/>
        </p:nvSpPr>
        <p:spPr>
          <a:xfrm>
            <a:off x="7245174" y="25751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5" name="Rectangle 25"/>
          <p:cNvSpPr/>
          <p:nvPr/>
        </p:nvSpPr>
        <p:spPr>
          <a:xfrm>
            <a:off x="6864174" y="31085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6" name="Rectangle 26"/>
          <p:cNvSpPr/>
          <p:nvPr/>
        </p:nvSpPr>
        <p:spPr>
          <a:xfrm>
            <a:off x="7245174" y="31085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7" name="Rectangle 29"/>
          <p:cNvSpPr/>
          <p:nvPr/>
        </p:nvSpPr>
        <p:spPr>
          <a:xfrm>
            <a:off x="6864174" y="36419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79" name="Rectangle 31"/>
          <p:cNvSpPr/>
          <p:nvPr/>
        </p:nvSpPr>
        <p:spPr>
          <a:xfrm>
            <a:off x="7245174" y="36419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80" name="Rectangle 32"/>
          <p:cNvSpPr/>
          <p:nvPr/>
        </p:nvSpPr>
        <p:spPr>
          <a:xfrm>
            <a:off x="6864174" y="41753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81" name="Rectangle 33"/>
          <p:cNvSpPr/>
          <p:nvPr/>
        </p:nvSpPr>
        <p:spPr>
          <a:xfrm>
            <a:off x="7245174" y="4175331"/>
            <a:ext cx="381000" cy="381000"/>
          </a:xfrm>
          <a:prstGeom prst="rect">
            <a:avLst/>
          </a:prstGeom>
          <a:solidFill>
            <a:srgbClr val="D5FFD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1</a:t>
            </a:r>
            <a:endParaRPr lang="en-US" sz="1600"/>
          </a:p>
        </p:txBody>
      </p:sp>
      <p:sp>
        <p:nvSpPr>
          <p:cNvPr id="182" name="Rectangle 51"/>
          <p:cNvSpPr/>
          <p:nvPr/>
        </p:nvSpPr>
        <p:spPr>
          <a:xfrm>
            <a:off x="7626174" y="2575131"/>
            <a:ext cx="381000" cy="381000"/>
          </a:xfrm>
          <a:prstGeom prst="rect">
            <a:avLst/>
          </a:prstGeom>
          <a:solidFill>
            <a:srgbClr val="FFFF9B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2</a:t>
            </a:r>
            <a:endParaRPr lang="en-US" sz="1600"/>
          </a:p>
        </p:txBody>
      </p:sp>
      <p:sp>
        <p:nvSpPr>
          <p:cNvPr id="183" name="Rectangle 41"/>
          <p:cNvSpPr/>
          <p:nvPr/>
        </p:nvSpPr>
        <p:spPr>
          <a:xfrm>
            <a:off x="7626174" y="4175331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84" name="Rectangle 43"/>
          <p:cNvSpPr/>
          <p:nvPr/>
        </p:nvSpPr>
        <p:spPr>
          <a:xfrm>
            <a:off x="8007174" y="4175331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85" name="Rectangle 67"/>
          <p:cNvSpPr/>
          <p:nvPr/>
        </p:nvSpPr>
        <p:spPr>
          <a:xfrm>
            <a:off x="8388174" y="4175331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86" name="TextBox 6"/>
          <p:cNvSpPr txBox="1"/>
          <p:nvPr/>
        </p:nvSpPr>
        <p:spPr>
          <a:xfrm>
            <a:off x="6915222" y="15948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1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87" name="TextBox 7"/>
          <p:cNvSpPr txBox="1"/>
          <p:nvPr/>
        </p:nvSpPr>
        <p:spPr>
          <a:xfrm>
            <a:off x="7296222" y="15948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2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88" name="TextBox 8"/>
          <p:cNvSpPr txBox="1"/>
          <p:nvPr/>
        </p:nvSpPr>
        <p:spPr>
          <a:xfrm>
            <a:off x="7677222" y="15948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3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89" name="TextBox 9"/>
          <p:cNvSpPr txBox="1"/>
          <p:nvPr/>
        </p:nvSpPr>
        <p:spPr>
          <a:xfrm>
            <a:off x="8058222" y="1594842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4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7065513" y="1179092"/>
            <a:ext cx="136249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Leader S5</a:t>
            </a:r>
            <a:endParaRPr lang="zh-CN" altLang="en-US"/>
          </a:p>
        </p:txBody>
      </p:sp>
      <p:sp>
        <p:nvSpPr>
          <p:cNvPr id="191" name="Rectangle 41"/>
          <p:cNvSpPr/>
          <p:nvPr/>
        </p:nvSpPr>
        <p:spPr>
          <a:xfrm>
            <a:off x="7626174" y="3637010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92" name="Rectangle 41"/>
          <p:cNvSpPr/>
          <p:nvPr/>
        </p:nvSpPr>
        <p:spPr>
          <a:xfrm>
            <a:off x="7626174" y="3109889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93" name="Rectangle 41"/>
          <p:cNvSpPr/>
          <p:nvPr/>
        </p:nvSpPr>
        <p:spPr>
          <a:xfrm>
            <a:off x="7626174" y="2575131"/>
            <a:ext cx="381000" cy="381000"/>
          </a:xfrm>
          <a:prstGeom prst="rect">
            <a:avLst/>
          </a:prstGeom>
          <a:solidFill>
            <a:srgbClr val="CCD9F4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US" sz="1600"/>
              <a:t>3</a:t>
            </a:r>
            <a:endParaRPr lang="en-US" sz="1600"/>
          </a:p>
        </p:txBody>
      </p:sp>
      <p:sp>
        <p:nvSpPr>
          <p:cNvPr id="195" name="文本框 194"/>
          <p:cNvSpPr txBox="1"/>
          <p:nvPr/>
        </p:nvSpPr>
        <p:spPr>
          <a:xfrm>
            <a:off x="7012459" y="4905082"/>
            <a:ext cx="10594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Term 5</a:t>
            </a:r>
            <a:endParaRPr lang="zh-CN" altLang="en-US"/>
          </a:p>
        </p:txBody>
      </p:sp>
      <p:sp>
        <p:nvSpPr>
          <p:cNvPr id="196" name="任意形状 195"/>
          <p:cNvSpPr/>
          <p:nvPr/>
        </p:nvSpPr>
        <p:spPr>
          <a:xfrm>
            <a:off x="7950190" y="3679867"/>
            <a:ext cx="348114" cy="416560"/>
          </a:xfrm>
          <a:custGeom>
            <a:avLst/>
            <a:gdLst>
              <a:gd name="connsiteX0" fmla="*/ 0 w 348114"/>
              <a:gd name="connsiteY0" fmla="*/ 416560 h 416560"/>
              <a:gd name="connsiteX1" fmla="*/ 345440 w 348114"/>
              <a:gd name="connsiteY1" fmla="*/ 182880 h 416560"/>
              <a:gd name="connsiteX2" fmla="*/ 132080 w 348114"/>
              <a:gd name="connsiteY2" fmla="*/ 0 h 41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114" h="416560">
                <a:moveTo>
                  <a:pt x="0" y="416560"/>
                </a:moveTo>
                <a:cubicBezTo>
                  <a:pt x="161713" y="334433"/>
                  <a:pt x="323427" y="252307"/>
                  <a:pt x="345440" y="182880"/>
                </a:cubicBezTo>
                <a:cubicBezTo>
                  <a:pt x="367453" y="113453"/>
                  <a:pt x="249766" y="56726"/>
                  <a:pt x="13208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任意形状 196"/>
          <p:cNvSpPr/>
          <p:nvPr/>
        </p:nvSpPr>
        <p:spPr>
          <a:xfrm>
            <a:off x="7980670" y="3212507"/>
            <a:ext cx="650301" cy="975360"/>
          </a:xfrm>
          <a:custGeom>
            <a:avLst/>
            <a:gdLst>
              <a:gd name="connsiteX0" fmla="*/ 0 w 650301"/>
              <a:gd name="connsiteY0" fmla="*/ 975360 h 975360"/>
              <a:gd name="connsiteX1" fmla="*/ 650240 w 650301"/>
              <a:gd name="connsiteY1" fmla="*/ 548640 h 975360"/>
              <a:gd name="connsiteX2" fmla="*/ 30480 w 650301"/>
              <a:gd name="connsiteY2" fmla="*/ 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0301" h="975360">
                <a:moveTo>
                  <a:pt x="0" y="975360"/>
                </a:moveTo>
                <a:cubicBezTo>
                  <a:pt x="322580" y="843280"/>
                  <a:pt x="645160" y="711200"/>
                  <a:pt x="650240" y="548640"/>
                </a:cubicBezTo>
                <a:cubicBezTo>
                  <a:pt x="655320" y="386080"/>
                  <a:pt x="342900" y="193040"/>
                  <a:pt x="3048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任意形状 197"/>
          <p:cNvSpPr/>
          <p:nvPr/>
        </p:nvSpPr>
        <p:spPr>
          <a:xfrm>
            <a:off x="7940030" y="2674027"/>
            <a:ext cx="1076996" cy="1554480"/>
          </a:xfrm>
          <a:custGeom>
            <a:avLst/>
            <a:gdLst>
              <a:gd name="connsiteX0" fmla="*/ 30480 w 1076996"/>
              <a:gd name="connsiteY0" fmla="*/ 1554480 h 1554480"/>
              <a:gd name="connsiteX1" fmla="*/ 1076960 w 1076996"/>
              <a:gd name="connsiteY1" fmla="*/ 1219200 h 1554480"/>
              <a:gd name="connsiteX2" fmla="*/ 0 w 1076996"/>
              <a:gd name="connsiteY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6996" h="1554480">
                <a:moveTo>
                  <a:pt x="30480" y="1554480"/>
                </a:moveTo>
                <a:cubicBezTo>
                  <a:pt x="556260" y="1516380"/>
                  <a:pt x="1082040" y="1478280"/>
                  <a:pt x="1076960" y="1219200"/>
                </a:cubicBezTo>
                <a:cubicBezTo>
                  <a:pt x="1071880" y="960120"/>
                  <a:pt x="535940" y="48006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任意形状 198"/>
          <p:cNvSpPr/>
          <p:nvPr/>
        </p:nvSpPr>
        <p:spPr>
          <a:xfrm>
            <a:off x="165999" y="4072350"/>
            <a:ext cx="1885721" cy="132890"/>
          </a:xfrm>
          <a:custGeom>
            <a:avLst/>
            <a:gdLst>
              <a:gd name="connsiteX0" fmla="*/ 0 w 2245360"/>
              <a:gd name="connsiteY0" fmla="*/ 417218 h 417218"/>
              <a:gd name="connsiteX1" fmla="*/ 436880 w 2245360"/>
              <a:gd name="connsiteY1" fmla="*/ 31138 h 417218"/>
              <a:gd name="connsiteX2" fmla="*/ 1239520 w 2245360"/>
              <a:gd name="connsiteY2" fmla="*/ 61618 h 417218"/>
              <a:gd name="connsiteX3" fmla="*/ 2245360 w 2245360"/>
              <a:gd name="connsiteY3" fmla="*/ 366418 h 417218"/>
              <a:gd name="connsiteX0-1" fmla="*/ 0 w 2322383"/>
              <a:gd name="connsiteY0-2" fmla="*/ 417218 h 417218"/>
              <a:gd name="connsiteX1-3" fmla="*/ 436880 w 2322383"/>
              <a:gd name="connsiteY1-4" fmla="*/ 31138 h 417218"/>
              <a:gd name="connsiteX2-5" fmla="*/ 1239520 w 2322383"/>
              <a:gd name="connsiteY2-6" fmla="*/ 61618 h 417218"/>
              <a:gd name="connsiteX3-7" fmla="*/ 2322383 w 2322383"/>
              <a:gd name="connsiteY3-8" fmla="*/ 122939 h 417218"/>
              <a:gd name="connsiteX0-9" fmla="*/ 0 w 2684388"/>
              <a:gd name="connsiteY0-10" fmla="*/ 132890 h 132890"/>
              <a:gd name="connsiteX1-11" fmla="*/ 798885 w 2684388"/>
              <a:gd name="connsiteY1-12" fmla="*/ 11932 h 132890"/>
              <a:gd name="connsiteX2-13" fmla="*/ 1601525 w 2684388"/>
              <a:gd name="connsiteY2-14" fmla="*/ 42412 h 132890"/>
              <a:gd name="connsiteX3-15" fmla="*/ 2684388 w 2684388"/>
              <a:gd name="connsiteY3-16" fmla="*/ 103733 h 1328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684388" h="132890">
                <a:moveTo>
                  <a:pt x="0" y="132890"/>
                </a:moveTo>
                <a:cubicBezTo>
                  <a:pt x="115146" y="-30517"/>
                  <a:pt x="531964" y="27012"/>
                  <a:pt x="798885" y="11932"/>
                </a:cubicBezTo>
                <a:cubicBezTo>
                  <a:pt x="1065806" y="-3148"/>
                  <a:pt x="1300112" y="-13468"/>
                  <a:pt x="1601525" y="42412"/>
                </a:cubicBezTo>
                <a:cubicBezTo>
                  <a:pt x="1902938" y="98292"/>
                  <a:pt x="2332174" y="-20727"/>
                  <a:pt x="2684388" y="103733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1" grpId="0" animBg="1"/>
      <p:bldP spid="92" grpId="0"/>
      <p:bldP spid="93" grpId="0"/>
      <p:bldP spid="94" grpId="0"/>
      <p:bldP spid="95" grpId="0"/>
      <p:bldP spid="96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/>
      <p:bldP spid="135" grpId="0"/>
      <p:bldP spid="136" grpId="0"/>
      <p:bldP spid="137" grpId="0"/>
      <p:bldP spid="138" grpId="0"/>
      <p:bldP spid="139" grpId="0" animBg="1"/>
      <p:bldP spid="140" grpId="0" animBg="1"/>
      <p:bldP spid="141" grpId="0" animBg="1"/>
      <p:bldP spid="142" grpId="0" animBg="1"/>
      <p:bldP spid="143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2" grpId="0" animBg="1"/>
      <p:bldP spid="166" grpId="0" animBg="1"/>
      <p:bldP spid="170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/>
      <p:bldP spid="187" grpId="0"/>
      <p:bldP spid="188" grpId="0"/>
      <p:bldP spid="189" grpId="0"/>
      <p:bldP spid="190" grpId="0" animBg="1"/>
      <p:bldP spid="191" grpId="0" animBg="1"/>
      <p:bldP spid="192" grpId="0" animBg="1"/>
      <p:bldP spid="193" grpId="0" animBg="1"/>
      <p:bldP spid="195" grpId="0" animBg="1"/>
      <p:bldP spid="196" grpId="0" animBg="1"/>
      <p:bldP spid="197" grpId="0" animBg="1"/>
      <p:bldP spid="198" grpId="0" animBg="1"/>
      <p:bldP spid="19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Committing Entry from Earlier Term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841160" cy="4585692"/>
          </a:xfrm>
        </p:spPr>
        <p:txBody>
          <a:bodyPr>
            <a:normAutofit/>
          </a:bodyPr>
          <a:lstStyle/>
          <a:p>
            <a:r>
              <a:rPr lang="en-US" altLang="zh-CN"/>
              <a:t>Case #2/2: Leader is trying to finish committing entry from an earlier term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>
              <a:spcBef>
                <a:spcPts val="600"/>
              </a:spcBef>
            </a:pPr>
            <a:r>
              <a:rPr lang="en-US" altLang="zh-CN"/>
              <a:t>Entry 3 not safely committed: </a:t>
            </a:r>
            <a:endParaRPr lang="en-US" altLang="zh-CN"/>
          </a:p>
          <a:p>
            <a:pPr lvl="1"/>
            <a:r>
              <a:rPr kumimoji="1" lang="en-US" altLang="zh-CN"/>
              <a:t>S5 can still be elected as leader for term 5 </a:t>
            </a:r>
            <a:endParaRPr kumimoji="1" lang="en-US" altLang="zh-CN"/>
          </a:p>
          <a:p>
            <a:pPr lvl="1"/>
            <a:r>
              <a:rPr kumimoji="1" lang="en-US" altLang="zh-CN"/>
              <a:t>If elected, it will overwrite entry 3 on S1, S2 and S3 (recall our previous example)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60" y="1711190"/>
            <a:ext cx="4711700" cy="260787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Commit</a:t>
            </a:r>
            <a:r>
              <a:rPr kumimoji="1" lang="zh-CN" altLang="en-US" dirty="0"/>
              <a:t> </a:t>
            </a:r>
            <a:r>
              <a:rPr lang="en-US" altLang="zh-CN" dirty="0"/>
              <a:t>rules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For a leader to decide an (previous) entry is committed:</a:t>
            </a:r>
            <a:endParaRPr lang="en-US" altLang="zh-CN"/>
          </a:p>
          <a:p>
            <a:pPr lvl="1"/>
            <a:r>
              <a:rPr lang="en-US" altLang="zh-CN"/>
              <a:t>Must be stored on a majority of servers</a:t>
            </a:r>
            <a:endParaRPr lang="en-US" altLang="zh-CN"/>
          </a:p>
          <a:p>
            <a:pPr lvl="1"/>
            <a:r>
              <a:rPr lang="en-US" altLang="zh-CN"/>
              <a:t>At least one new entry from leader’s term must also be stored on majority of servers</a:t>
            </a:r>
            <a:endParaRPr lang="en-US" altLang="zh-CN"/>
          </a:p>
          <a:p>
            <a:r>
              <a:rPr kumimoji="1" lang="en-US" altLang="zh-CN"/>
              <a:t>This is because o</a:t>
            </a:r>
            <a:r>
              <a:rPr lang="en-US" altLang="zh-CN"/>
              <a:t>nce entry 4 committed:</a:t>
            </a:r>
            <a:endParaRPr lang="en-US" altLang="zh-CN"/>
          </a:p>
          <a:p>
            <a:pPr lvl="1"/>
            <a:r>
              <a:rPr lang="en-US" altLang="zh-CN"/>
              <a:t>s</a:t>
            </a:r>
            <a:r>
              <a:rPr lang="en-US" altLang="zh-CN" baseline="-25000"/>
              <a:t>5</a:t>
            </a:r>
            <a:r>
              <a:rPr lang="en-US" altLang="zh-CN"/>
              <a:t> cannot be elected leader for term 5</a:t>
            </a:r>
            <a:endParaRPr lang="en-US" altLang="zh-CN"/>
          </a:p>
          <a:p>
            <a:pPr lvl="1"/>
            <a:r>
              <a:rPr lang="en-US" altLang="zh-CN"/>
              <a:t>Entries 3 and 4 both safe</a:t>
            </a:r>
            <a:endParaRPr lang="en-US" altLang="zh-CN" baseline="-25000"/>
          </a:p>
          <a:p>
            <a:pPr lvl="1"/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2101" y="2474229"/>
            <a:ext cx="3672408" cy="2624724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329686" y="4215794"/>
            <a:ext cx="4700231" cy="739796"/>
            <a:chOff x="912507" y="1040360"/>
            <a:chExt cx="1669753" cy="739796"/>
          </a:xfrm>
        </p:grpSpPr>
        <p:sp>
          <p:nvSpPr>
            <p:cNvPr id="78" name="矩形 77"/>
            <p:cNvSpPr/>
            <p:nvPr/>
          </p:nvSpPr>
          <p:spPr>
            <a:xfrm>
              <a:off x="912507" y="1040360"/>
              <a:ext cx="1669753" cy="739796"/>
            </a:xfrm>
            <a:prstGeom prst="rect">
              <a:avLst/>
            </a:prstGeom>
            <a:solidFill>
              <a:srgbClr val="FFE6FE"/>
            </a:solidFill>
            <a:ln w="12700">
              <a:solidFill>
                <a:schemeClr val="tx1"/>
              </a:solidFill>
              <a:tailEnd type="arrow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912507" y="1068696"/>
              <a:ext cx="166975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>
                  <a:cs typeface="Consolas" panose="020B0609020204030204" pitchFamily="49" charset="0"/>
                </a:rPr>
                <a:t>Combination of election rules &amp; commitment rules makes Raft safe</a:t>
              </a:r>
              <a:endParaRPr kumimoji="1" lang="en-US" altLang="zh-CN"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Neutralizing Old Leaders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471925"/>
          </a:xfrm>
        </p:spPr>
        <p:txBody>
          <a:bodyPr>
            <a:normAutofit/>
          </a:bodyPr>
          <a:lstStyle/>
          <a:p>
            <a:r>
              <a:rPr kumimoji="1" lang="en-GB" altLang="zh-CN"/>
              <a:t>Deposed leader may not be dead:</a:t>
            </a:r>
            <a:endParaRPr kumimoji="1" lang="en-GB" altLang="zh-CN"/>
          </a:p>
          <a:p>
            <a:pPr lvl="1"/>
            <a:r>
              <a:rPr kumimoji="1" lang="en-GB" altLang="zh-CN"/>
              <a:t>Temporarily disconnected from network</a:t>
            </a:r>
            <a:endParaRPr kumimoji="1" lang="en-GB" altLang="zh-CN"/>
          </a:p>
          <a:p>
            <a:pPr lvl="1"/>
            <a:r>
              <a:rPr kumimoji="1" lang="en-GB" altLang="zh-CN"/>
              <a:t>Other servers elect a new leader</a:t>
            </a:r>
            <a:endParaRPr kumimoji="1" lang="en-GB" altLang="zh-CN"/>
          </a:p>
          <a:p>
            <a:pPr lvl="1"/>
            <a:r>
              <a:rPr kumimoji="1" lang="en-GB" altLang="zh-CN"/>
              <a:t>Old leader becomes reconnected, attempts to commit log entries</a:t>
            </a:r>
            <a:endParaRPr kumimoji="1" lang="en-GB" altLang="zh-CN"/>
          </a:p>
          <a:p>
            <a:r>
              <a:rPr kumimoji="1" lang="en-GB" altLang="zh-CN">
                <a:solidFill>
                  <a:srgbClr val="C00000"/>
                </a:solidFill>
              </a:rPr>
              <a:t>Terms</a:t>
            </a:r>
            <a:r>
              <a:rPr kumimoji="1" lang="en-GB" altLang="zh-CN"/>
              <a:t> used to detect stale leaders (and candidates)</a:t>
            </a:r>
            <a:endParaRPr kumimoji="1" lang="en-GB" altLang="zh-CN"/>
          </a:p>
          <a:p>
            <a:pPr lvl="1"/>
            <a:r>
              <a:rPr kumimoji="1" lang="en-GB" altLang="zh-CN"/>
              <a:t>Every RPC contains term of the sender</a:t>
            </a:r>
            <a:endParaRPr kumimoji="1" lang="en-GB" altLang="zh-CN"/>
          </a:p>
          <a:p>
            <a:pPr lvl="1"/>
            <a:r>
              <a:rPr kumimoji="1" lang="en-GB" altLang="zh-CN"/>
              <a:t>If sender’s term is older, RPC is rejected, sender reverts to follower and updates its term</a:t>
            </a:r>
            <a:endParaRPr kumimoji="1" lang="en-GB" altLang="zh-CN"/>
          </a:p>
          <a:p>
            <a:pPr lvl="1"/>
            <a:r>
              <a:rPr kumimoji="1" lang="en-GB" altLang="zh-CN"/>
              <a:t>If receiver’s term is older, it reverts to follower, updates its term, then processes RPC normally</a:t>
            </a:r>
            <a:endParaRPr kumimoji="1" lang="en-GB" altLang="zh-CN"/>
          </a:p>
          <a:p>
            <a:endParaRPr kumimoji="1" lang="en-GB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606" y="1955677"/>
            <a:ext cx="8154416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zh-CN" b="0" kern="0">
                <a:solidFill>
                  <a:srgbClr val="C00000"/>
                </a:solidFill>
                <a:ea typeface="+mn-ea"/>
              </a:rPr>
              <a:t>Case study: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 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Google Spanner</a:t>
            </a:r>
            <a:endParaRPr lang="en-US" altLang="zh-CN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faced by large-scale company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592288"/>
          </a:xfrm>
        </p:spPr>
        <p:txBody>
          <a:bodyPr/>
          <a:lstStyle/>
          <a:p>
            <a:r>
              <a:rPr kumimoji="1" lang="en-US" altLang="zh-CN" dirty="0"/>
              <a:t>Large-scale dataset </a:t>
            </a:r>
            <a:endParaRPr kumimoji="1" lang="en-US" altLang="zh-CN" dirty="0"/>
          </a:p>
          <a:p>
            <a:pPr lvl="1"/>
            <a:r>
              <a:rPr kumimoji="1" lang="en-GB" altLang="zh-CN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Facebook</a:t>
            </a:r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 has more than </a:t>
            </a:r>
            <a:r>
              <a:rPr kumimoji="1" lang="en-GB" altLang="zh-CN" b="1" dirty="0">
                <a:solidFill>
                  <a:srgbClr val="FF7E79"/>
                </a:solidFill>
              </a:rPr>
              <a:t>1 billion </a:t>
            </a:r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of images uploaded </a:t>
            </a:r>
            <a:r>
              <a:rPr kumimoji="1" lang="en-GB" altLang="zh-CN" b="1" dirty="0">
                <a:solidFill>
                  <a:srgbClr val="FF7E79"/>
                </a:solidFill>
              </a:rPr>
              <a:t>weekly</a:t>
            </a:r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GB" altLang="zh-CN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Baidu</a:t>
            </a:r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 stores </a:t>
            </a:r>
            <a:r>
              <a:rPr kumimoji="1" lang="en-GB" altLang="zh-CN" b="1" dirty="0">
                <a:solidFill>
                  <a:srgbClr val="FF7E79"/>
                </a:solidFill>
              </a:rPr>
              <a:t>tens of billions </a:t>
            </a:r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of web pages</a:t>
            </a:r>
            <a:endParaRPr kumimoji="1" lang="en-GB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en-GB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Question</a:t>
            </a:r>
            <a:r>
              <a:rPr kumimoji="1"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how to store such a large dataset? </a:t>
            </a:r>
            <a:endParaRPr kumimoji="1" lang="en-US" altLang="zh-CN" dirty="0"/>
          </a:p>
          <a:p>
            <a:r>
              <a:rPr kumimoji="1" lang="en-US" altLang="zh-CN" dirty="0"/>
              <a:t>Solution: </a:t>
            </a:r>
            <a:r>
              <a:rPr kumimoji="1" lang="en-US" altLang="zh-CN" dirty="0" err="1"/>
              <a:t>sharding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shard is stored in an LSM storage 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77183" y="3766090"/>
            <a:ext cx="3072118" cy="1133807"/>
            <a:chOff x="2387869" y="1590598"/>
            <a:chExt cx="3072118" cy="1133807"/>
          </a:xfrm>
        </p:grpSpPr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2387869" y="2097820"/>
              <a:ext cx="3072118" cy="626585"/>
              <a:chOff x="2003938" y="1785208"/>
              <a:chExt cx="3755391" cy="765944"/>
            </a:xfrm>
          </p:grpSpPr>
          <p:pic>
            <p:nvPicPr>
              <p:cNvPr id="10" name="Picture 16" descr="Huawei - Building a Fully Connected, Intelligent World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09354" y="1932224"/>
                <a:ext cx="1035672" cy="5178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2" descr="Apple | LinkedIn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3410" y="1785208"/>
                <a:ext cx="765944" cy="765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6" descr="Apple 10.2-inch iPad (8th Gen) Wi-Fi 32GB - Space Gray - Walmart.co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3938" y="1845842"/>
                <a:ext cx="650413" cy="6504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8" descr="Apple 10.9-Inch iPad Air Latest Model (4th Generation) with Wi-Fi 64GB Sky  Blue MYFQ2LL/A - Best Buy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597" y="1892039"/>
                <a:ext cx="492646" cy="5580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8" descr="Amazon.com: Huawei P Smart (2021) Dual-SIM 128GB (GSM Only | No CDMA)  Factory Unlocked 4G/LTE Smartphone (Gold) - International Version : Cell  Phones &amp; Accessories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2080" y="1913552"/>
                <a:ext cx="467249" cy="637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矩形 8"/>
            <p:cNvSpPr/>
            <p:nvPr/>
          </p:nvSpPr>
          <p:spPr>
            <a:xfrm>
              <a:off x="3356977" y="1590598"/>
              <a:ext cx="1236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User data</a:t>
              </a:r>
              <a:endParaRPr lang="zh-CN" altLang="en-US" b="1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46865" y="2938857"/>
            <a:ext cx="1031051" cy="1000469"/>
            <a:chOff x="4660207" y="2875117"/>
            <a:chExt cx="1031051" cy="1000469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Server0</a:t>
              </a:r>
              <a:endParaRPr lang="zh-CN" altLang="en-US" b="1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35895" y="4360233"/>
            <a:ext cx="1031051" cy="1000469"/>
            <a:chOff x="4660207" y="2875117"/>
            <a:chExt cx="1031051" cy="1000469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Server1</a:t>
              </a:r>
              <a:endParaRPr lang="zh-CN" altLang="en-US" b="1" dirty="0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506" y="2699540"/>
            <a:ext cx="1752990" cy="85634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9681" y="4186810"/>
            <a:ext cx="1583488" cy="870455"/>
          </a:xfrm>
          <a:prstGeom prst="rect">
            <a:avLst/>
          </a:prstGeom>
        </p:spPr>
      </p:pic>
      <p:sp>
        <p:nvSpPr>
          <p:cNvPr id="5" name="磁盘 4"/>
          <p:cNvSpPr/>
          <p:nvPr/>
        </p:nvSpPr>
        <p:spPr>
          <a:xfrm>
            <a:off x="4135156" y="3775218"/>
            <a:ext cx="1002407" cy="931917"/>
          </a:xfrm>
          <a:prstGeom prst="flowChartMagneticDisk">
            <a:avLst/>
          </a:prstGeom>
          <a:noFill/>
          <a:ln w="127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65852" y="492763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Data center</a:t>
            </a:r>
            <a:endParaRPr lang="zh-CN" altLang="en-US" b="1" dirty="0"/>
          </a:p>
        </p:txBody>
      </p:sp>
      <p:cxnSp>
        <p:nvCxnSpPr>
          <p:cNvPr id="22" name="直线连接符 21"/>
          <p:cNvCxnSpPr/>
          <p:nvPr/>
        </p:nvCxnSpPr>
        <p:spPr>
          <a:xfrm>
            <a:off x="6049953" y="3038470"/>
            <a:ext cx="0" cy="3096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 flipH="1">
            <a:off x="5137563" y="3071005"/>
            <a:ext cx="768374" cy="83342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H="1" flipV="1">
            <a:off x="5137563" y="4619177"/>
            <a:ext cx="768374" cy="58357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shard?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topic orthogonal to the design of Spanner </a:t>
            </a:r>
            <a:endParaRPr kumimoji="1" lang="en-US" altLang="zh-CN" dirty="0"/>
          </a:p>
          <a:p>
            <a:r>
              <a:rPr kumimoji="1" lang="en-US" altLang="zh-CN" dirty="0"/>
              <a:t>Possible way: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Hashing, node id = hash(key) % </a:t>
            </a:r>
            <a:r>
              <a:rPr kumimoji="1" lang="en-US" altLang="zh-CN" dirty="0" err="1"/>
              <a:t>num_of_nodes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Range partitioning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E.g., coordinators record that 0-100 keys are at shard 0, etc. </a:t>
            </a:r>
            <a:endParaRPr kumimoji="1" lang="en-US" altLang="zh-CN" sz="1800" dirty="0"/>
          </a:p>
          <a:p>
            <a:r>
              <a:rPr kumimoji="1" lang="en-US" altLang="zh-CN" dirty="0"/>
              <a:t>A good partition need to consider many factors, e.g.,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Reduce cross shard transaction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(no 2PC for multi-site transactions)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Why? Shards are likely to span across two machines, which needs two-phase-commit for execution </a:t>
            </a:r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Rectangle 13"/>
          <p:cNvSpPr/>
          <p:nvPr/>
        </p:nvSpPr>
        <p:spPr>
          <a:xfrm>
            <a:off x="2292863" y="4900944"/>
            <a:ext cx="4701150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We will not focus </a:t>
            </a:r>
            <a:r>
              <a:rPr kumimoji="1" lang="en-US" altLang="zh-CN" dirty="0" err="1"/>
              <a:t>sharding</a:t>
            </a:r>
            <a:r>
              <a:rPr kumimoji="1" lang="en-US" altLang="zh-CN" dirty="0"/>
              <a:t> in this lecture 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faced by large-scale company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1728192"/>
          </a:xfrm>
        </p:spPr>
        <p:txBody>
          <a:bodyPr/>
          <a:lstStyle/>
          <a:p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Large-scale companies are built over </a:t>
            </a:r>
            <a:r>
              <a:rPr kumimoji="1" lang="en-US" altLang="zh-CN" b="1" dirty="0">
                <a:solidFill>
                  <a:srgbClr val="C00000"/>
                </a:solidFill>
              </a:rPr>
              <a:t>large-scale datacenters </a:t>
            </a:r>
            <a:r>
              <a:rPr kumimoji="1" lang="en-US" altLang="zh-CN" dirty="0"/>
              <a:t>(&gt;10K servers)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Machine failures are particular common in large-scale datacenters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15616" y="2612971"/>
            <a:ext cx="6912768" cy="120032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GB" altLang="zh-CN" dirty="0">
                <a:latin typeface="Lato" panose="020F0502020204030203" pitchFamily="34" charset="0"/>
              </a:rPr>
              <a:t>“Suppose a cluster has ultra-reliable server nodes with a stellar mean time between failures (MTBF) of 30 years (10,000 days)—a cluster of 10,000 servers will see an average of one server failure per day. ”</a:t>
            </a:r>
            <a:endParaRPr lang="en-GB" altLang="zh-CN" dirty="0">
              <a:latin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faced by large-scale company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448272"/>
          </a:xfrm>
        </p:spPr>
        <p:txBody>
          <a:bodyPr/>
          <a:lstStyle/>
          <a:p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Large-scale companies are built over large-scale datacenters (&gt;10K servers)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Machine failures are particular common in large-scale datacenters </a:t>
            </a:r>
            <a:endParaRPr kumimoji="1" lang="en-US" altLang="zh-CN" dirty="0"/>
          </a:p>
          <a:p>
            <a:r>
              <a:rPr kumimoji="1" lang="en-US" altLang="zh-CN" dirty="0"/>
              <a:t>Solution: replication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shard is replicated on multiple servers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磁盘 4"/>
          <p:cNvSpPr/>
          <p:nvPr/>
        </p:nvSpPr>
        <p:spPr>
          <a:xfrm>
            <a:off x="1717153" y="4287470"/>
            <a:ext cx="1002407" cy="931917"/>
          </a:xfrm>
          <a:prstGeom prst="flowChartMagneticDisk">
            <a:avLst/>
          </a:prstGeom>
          <a:noFill/>
          <a:ln w="127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27" y="4416677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Data center</a:t>
            </a:r>
            <a:endParaRPr lang="zh-CN" altLang="en-US" b="1" dirty="0"/>
          </a:p>
        </p:txBody>
      </p:sp>
      <p:cxnSp>
        <p:nvCxnSpPr>
          <p:cNvPr id="8" name="直线连接符 7"/>
          <p:cNvCxnSpPr/>
          <p:nvPr/>
        </p:nvCxnSpPr>
        <p:spPr>
          <a:xfrm>
            <a:off x="3631950" y="3550722"/>
            <a:ext cx="0" cy="3096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 flipH="1">
            <a:off x="2719560" y="3583257"/>
            <a:ext cx="768374" cy="83342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226006" y="3600874"/>
            <a:ext cx="1031051" cy="1000469"/>
            <a:chOff x="4660207" y="2875117"/>
            <a:chExt cx="1031051" cy="100046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Server0</a:t>
              </a:r>
              <a:endParaRPr lang="zh-CN" altLang="en-US" b="1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15036" y="4687107"/>
            <a:ext cx="1031051" cy="1000469"/>
            <a:chOff x="4660207" y="2875117"/>
            <a:chExt cx="1031051" cy="1000469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Server1</a:t>
              </a:r>
              <a:endParaRPr lang="zh-CN" altLang="en-US" b="1" dirty="0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647" y="3361557"/>
            <a:ext cx="1752990" cy="85634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518" y="3361556"/>
            <a:ext cx="1583488" cy="8704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983" y="4513684"/>
            <a:ext cx="1752990" cy="85634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822" y="4513684"/>
            <a:ext cx="1583488" cy="870455"/>
          </a:xfrm>
          <a:prstGeom prst="rect">
            <a:avLst/>
          </a:prstGeom>
        </p:spPr>
      </p:pic>
      <p:sp>
        <p:nvSpPr>
          <p:cNvPr id="21" name="Rectangle 13"/>
          <p:cNvSpPr/>
          <p:nvPr/>
        </p:nvSpPr>
        <p:spPr>
          <a:xfrm>
            <a:off x="5306280" y="4383717"/>
            <a:ext cx="3064456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Replication factor = 2</a:t>
            </a:r>
            <a:endParaRPr kumimoji="1" lang="en-US" altLang="zh-CN" dirty="0"/>
          </a:p>
        </p:txBody>
      </p:sp>
      <p:cxnSp>
        <p:nvCxnSpPr>
          <p:cNvPr id="22" name="直线连接符 21"/>
          <p:cNvCxnSpPr/>
          <p:nvPr/>
        </p:nvCxnSpPr>
        <p:spPr>
          <a:xfrm flipH="1" flipV="1">
            <a:off x="2719560" y="5131429"/>
            <a:ext cx="768374" cy="58357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is a replication factor of 2 ok?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Ok means can achieve </a:t>
            </a:r>
            <a:r>
              <a:rPr kumimoji="1" lang="en-US" altLang="zh-CN" dirty="0">
                <a:highlight>
                  <a:srgbClr val="FFFF00"/>
                </a:highlight>
              </a:rPr>
              <a:t>single-copy consistency 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en-US" altLang="zh-CN" dirty="0"/>
              <a:t>Whether OK depends on the scenarios (&amp; setup)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Under primary-backup replication, it is ok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We have a view server</a:t>
            </a:r>
            <a:endParaRPr kumimoji="1" lang="en-US" altLang="zh-CN" sz="1800" dirty="0"/>
          </a:p>
          <a:p>
            <a:pPr lvl="1"/>
            <a:r>
              <a:rPr kumimoji="1" lang="en-US" altLang="zh-CN" dirty="0"/>
              <a:t>Under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&amp; Raft, it’s not! (no majority) 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  <a:ea typeface="等线" panose="02010600030101010101" charset="-122"/>
                <a:cs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磁盘 5"/>
          <p:cNvSpPr/>
          <p:nvPr/>
        </p:nvSpPr>
        <p:spPr>
          <a:xfrm>
            <a:off x="1717153" y="4287470"/>
            <a:ext cx="1002407" cy="931917"/>
          </a:xfrm>
          <a:prstGeom prst="flowChartMagneticDisk">
            <a:avLst/>
          </a:prstGeom>
          <a:noFill/>
          <a:ln w="127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27" y="4416677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Data center</a:t>
            </a:r>
            <a:endParaRPr lang="zh-CN" altLang="en-US" b="1" dirty="0"/>
          </a:p>
        </p:txBody>
      </p:sp>
      <p:cxnSp>
        <p:nvCxnSpPr>
          <p:cNvPr id="8" name="直线连接符 7"/>
          <p:cNvCxnSpPr/>
          <p:nvPr/>
        </p:nvCxnSpPr>
        <p:spPr>
          <a:xfrm>
            <a:off x="3631950" y="3550722"/>
            <a:ext cx="0" cy="3096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 flipH="1">
            <a:off x="2719560" y="3583257"/>
            <a:ext cx="768374" cy="83342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 flipH="1" flipV="1">
            <a:off x="2719560" y="5131429"/>
            <a:ext cx="768374" cy="58357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226006" y="3600874"/>
            <a:ext cx="1031051" cy="1000469"/>
            <a:chOff x="4660207" y="2875117"/>
            <a:chExt cx="1031051" cy="100046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Server0</a:t>
              </a:r>
              <a:endParaRPr lang="zh-CN" altLang="en-US" b="1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15036" y="4687107"/>
            <a:ext cx="1031051" cy="1000469"/>
            <a:chOff x="4660207" y="2875117"/>
            <a:chExt cx="1031051" cy="1000469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67219" y="2875117"/>
              <a:ext cx="617028" cy="617028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4660207" y="3506254"/>
              <a:ext cx="10310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Server1</a:t>
              </a:r>
              <a:endParaRPr lang="zh-CN" altLang="en-US" b="1" dirty="0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647" y="3361557"/>
            <a:ext cx="1752990" cy="85634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518" y="3361556"/>
            <a:ext cx="1583488" cy="8704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983" y="4513684"/>
            <a:ext cx="1752990" cy="85634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822" y="4513684"/>
            <a:ext cx="1583488" cy="870455"/>
          </a:xfrm>
          <a:prstGeom prst="rect">
            <a:avLst/>
          </a:prstGeom>
        </p:spPr>
      </p:pic>
      <p:sp>
        <p:nvSpPr>
          <p:cNvPr id="21" name="Rectangle 13"/>
          <p:cNvSpPr/>
          <p:nvPr/>
        </p:nvSpPr>
        <p:spPr>
          <a:xfrm>
            <a:off x="5306280" y="4383717"/>
            <a:ext cx="3064456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Replication factor = 2</a:t>
            </a: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Replications causes consistency problem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9309720" cy="2160240"/>
          </a:xfrm>
        </p:spPr>
        <p:txBody>
          <a:bodyPr/>
          <a:lstStyle/>
          <a:p>
            <a:r>
              <a:rPr kumimoji="1" lang="en-US" altLang="zh-CN" dirty="0"/>
              <a:t>Could not </a:t>
            </a:r>
            <a:r>
              <a:rPr kumimoji="1" lang="en-US" altLang="zh-CN" dirty="0">
                <a:solidFill>
                  <a:srgbClr val="C00000"/>
                </a:solidFill>
              </a:rPr>
              <a:t>achieve single-copy consistency </a:t>
            </a:r>
            <a:r>
              <a:rPr kumimoji="1" lang="en-US" altLang="zh-CN" dirty="0"/>
              <a:t>if allow client arbitrary reads/writes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consistency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among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replicas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>
            <a:off x="215516" y="4680207"/>
            <a:ext cx="8712968" cy="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392801" y="4197658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1115616" y="2679200"/>
            <a:ext cx="2448272" cy="910806"/>
            <a:chOff x="1187624" y="2153896"/>
            <a:chExt cx="2448272" cy="910806"/>
          </a:xfrm>
        </p:grpSpPr>
        <p:sp>
          <p:nvSpPr>
            <p:cNvPr id="10" name="矩形 9"/>
            <p:cNvSpPr/>
            <p:nvPr/>
          </p:nvSpPr>
          <p:spPr>
            <a:xfrm>
              <a:off x="1187624" y="2337643"/>
              <a:ext cx="2448272" cy="72705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772343" y="2153896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Request 1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402472" y="2486075"/>
              <a:ext cx="18582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 = 100$</a:t>
              </a:r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819572" y="2678657"/>
            <a:ext cx="2448272" cy="912026"/>
            <a:chOff x="1187624" y="2152676"/>
            <a:chExt cx="2448272" cy="912026"/>
          </a:xfrm>
        </p:grpSpPr>
        <p:sp>
          <p:nvSpPr>
            <p:cNvPr id="14" name="矩形 13"/>
            <p:cNvSpPr/>
            <p:nvPr/>
          </p:nvSpPr>
          <p:spPr>
            <a:xfrm>
              <a:off x="1187624" y="2337643"/>
              <a:ext cx="2448272" cy="72705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800017" y="2152676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Request 2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402472" y="2486075"/>
              <a:ext cx="16850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Print(</a:t>
              </a:r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)</a:t>
              </a:r>
              <a:endParaRPr lang="zh-CN" altLang="en-US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6719497" y="218483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?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8" name="任意形状 17"/>
          <p:cNvSpPr/>
          <p:nvPr/>
        </p:nvSpPr>
        <p:spPr>
          <a:xfrm>
            <a:off x="6200384" y="2336800"/>
            <a:ext cx="576197" cy="441933"/>
          </a:xfrm>
          <a:custGeom>
            <a:avLst/>
            <a:gdLst>
              <a:gd name="connsiteX0" fmla="*/ 0 w 576197"/>
              <a:gd name="connsiteY0" fmla="*/ 418926 h 441933"/>
              <a:gd name="connsiteX1" fmla="*/ 75156 w 576197"/>
              <a:gd name="connsiteY1" fmla="*/ 431452 h 441933"/>
              <a:gd name="connsiteX2" fmla="*/ 338202 w 576197"/>
              <a:gd name="connsiteY2" fmla="*/ 406400 h 441933"/>
              <a:gd name="connsiteX3" fmla="*/ 313150 w 576197"/>
              <a:gd name="connsiteY3" fmla="*/ 55671 h 441933"/>
              <a:gd name="connsiteX4" fmla="*/ 576197 w 576197"/>
              <a:gd name="connsiteY4" fmla="*/ 5567 h 44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97" h="441933">
                <a:moveTo>
                  <a:pt x="0" y="418926"/>
                </a:moveTo>
                <a:cubicBezTo>
                  <a:pt x="9394" y="426233"/>
                  <a:pt x="18789" y="433540"/>
                  <a:pt x="75156" y="431452"/>
                </a:cubicBezTo>
                <a:cubicBezTo>
                  <a:pt x="131523" y="429364"/>
                  <a:pt x="298536" y="469030"/>
                  <a:pt x="338202" y="406400"/>
                </a:cubicBezTo>
                <a:cubicBezTo>
                  <a:pt x="377868" y="343770"/>
                  <a:pt x="273484" y="122476"/>
                  <a:pt x="313150" y="55671"/>
                </a:cubicBezTo>
                <a:cubicBezTo>
                  <a:pt x="352816" y="-11134"/>
                  <a:pt x="464506" y="-2784"/>
                  <a:pt x="576197" y="5567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204509" y="3724160"/>
            <a:ext cx="2251910" cy="931917"/>
            <a:chOff x="1023946" y="4055627"/>
            <a:chExt cx="2251910" cy="931917"/>
          </a:xfrm>
        </p:grpSpPr>
        <p:sp>
          <p:nvSpPr>
            <p:cNvPr id="20" name="磁盘 19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Rep 0</a:t>
              </a:r>
              <a:endParaRPr lang="zh-CN" altLang="en-US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83032" y="4409046"/>
              <a:ext cx="1473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=0$</a:t>
              </a:r>
              <a:endParaRPr kumimoji="1"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89297" y="4785755"/>
            <a:ext cx="2251910" cy="931917"/>
            <a:chOff x="1023946" y="4055627"/>
            <a:chExt cx="2251910" cy="931917"/>
          </a:xfrm>
        </p:grpSpPr>
        <p:sp>
          <p:nvSpPr>
            <p:cNvPr id="24" name="磁盘 23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Rep1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783032" y="4409046"/>
              <a:ext cx="1473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=0$</a:t>
              </a:r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782510" y="3737519"/>
            <a:ext cx="2489047" cy="931917"/>
            <a:chOff x="1023946" y="4055627"/>
            <a:chExt cx="2489047" cy="931917"/>
          </a:xfrm>
        </p:grpSpPr>
        <p:sp>
          <p:nvSpPr>
            <p:cNvPr id="28" name="磁盘 27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783032" y="4409046"/>
              <a:ext cx="1729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</a:t>
              </a:r>
              <a:r>
                <a:rPr kumimoji="1" lang="en-US" altLang="zh-CN" b="1" dirty="0">
                  <a:solidFill>
                    <a:srgbClr val="C00000"/>
                  </a:solidFill>
                </a:rPr>
                <a:t>100$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767298" y="4799114"/>
            <a:ext cx="2251910" cy="931917"/>
            <a:chOff x="1023946" y="4055627"/>
            <a:chExt cx="2251910" cy="931917"/>
          </a:xfrm>
        </p:grpSpPr>
        <p:sp>
          <p:nvSpPr>
            <p:cNvPr id="32" name="磁盘 31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783032" y="4409046"/>
              <a:ext cx="1473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=0$</a:t>
              </a:r>
              <a:endParaRPr kumimoji="1" lang="zh-CN" altLang="en-US" dirty="0"/>
            </a:p>
          </p:txBody>
        </p:sp>
      </p:grpSp>
      <p:sp>
        <p:nvSpPr>
          <p:cNvPr id="35" name="任意形状 34"/>
          <p:cNvSpPr/>
          <p:nvPr/>
        </p:nvSpPr>
        <p:spPr>
          <a:xfrm>
            <a:off x="2754366" y="3344449"/>
            <a:ext cx="2030576" cy="739036"/>
          </a:xfrm>
          <a:custGeom>
            <a:avLst/>
            <a:gdLst>
              <a:gd name="connsiteX0" fmla="*/ 63990 w 2030576"/>
              <a:gd name="connsiteY0" fmla="*/ 0 h 739036"/>
              <a:gd name="connsiteX1" fmla="*/ 176724 w 2030576"/>
              <a:gd name="connsiteY1" fmla="*/ 450937 h 739036"/>
              <a:gd name="connsiteX2" fmla="*/ 1567113 w 2030576"/>
              <a:gd name="connsiteY2" fmla="*/ 137787 h 739036"/>
              <a:gd name="connsiteX3" fmla="*/ 2030576 w 2030576"/>
              <a:gd name="connsiteY3" fmla="*/ 739036 h 739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0576" h="739036">
                <a:moveTo>
                  <a:pt x="63990" y="0"/>
                </a:moveTo>
                <a:cubicBezTo>
                  <a:pt x="-4903" y="213986"/>
                  <a:pt x="-73796" y="427973"/>
                  <a:pt x="176724" y="450937"/>
                </a:cubicBezTo>
                <a:cubicBezTo>
                  <a:pt x="427244" y="473901"/>
                  <a:pt x="1258138" y="89771"/>
                  <a:pt x="1567113" y="137787"/>
                </a:cubicBezTo>
                <a:cubicBezTo>
                  <a:pt x="1876088" y="185803"/>
                  <a:pt x="1953332" y="462419"/>
                  <a:pt x="2030576" y="739036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5654333" y="3724160"/>
            <a:ext cx="2489047" cy="931917"/>
            <a:chOff x="1023946" y="4055627"/>
            <a:chExt cx="2489047" cy="931917"/>
          </a:xfrm>
        </p:grpSpPr>
        <p:sp>
          <p:nvSpPr>
            <p:cNvPr id="37" name="磁盘 36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783032" y="4409046"/>
              <a:ext cx="1729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</a:t>
              </a:r>
              <a:r>
                <a:rPr kumimoji="1" lang="en-US" altLang="zh-CN" b="1" dirty="0">
                  <a:solidFill>
                    <a:srgbClr val="C00000"/>
                  </a:solidFill>
                </a:rPr>
                <a:t>100$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639121" y="4785755"/>
            <a:ext cx="2251910" cy="931917"/>
            <a:chOff x="1023946" y="4055627"/>
            <a:chExt cx="2251910" cy="931917"/>
          </a:xfrm>
        </p:grpSpPr>
        <p:sp>
          <p:nvSpPr>
            <p:cNvPr id="41" name="磁盘 40"/>
            <p:cNvSpPr/>
            <p:nvPr/>
          </p:nvSpPr>
          <p:spPr>
            <a:xfrm>
              <a:off x="1763688" y="4055627"/>
              <a:ext cx="1512168" cy="931917"/>
            </a:xfrm>
            <a:prstGeom prst="flowChartMagneticDisk">
              <a:avLst/>
            </a:prstGeom>
            <a:no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23946" y="4380318"/>
              <a:ext cx="147347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83032" y="4409046"/>
              <a:ext cx="1473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=</a:t>
              </a:r>
              <a:r>
                <a:rPr kumimoji="1" lang="en-US" altLang="zh-CN" b="1" dirty="0">
                  <a:solidFill>
                    <a:srgbClr val="C00000"/>
                  </a:solidFill>
                </a:rPr>
                <a:t>0$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44" name="任意形状 43"/>
          <p:cNvSpPr/>
          <p:nvPr/>
        </p:nvSpPr>
        <p:spPr>
          <a:xfrm>
            <a:off x="5759714" y="3306871"/>
            <a:ext cx="1954317" cy="1866378"/>
          </a:xfrm>
          <a:custGeom>
            <a:avLst/>
            <a:gdLst>
              <a:gd name="connsiteX0" fmla="*/ 1806007 w 1954317"/>
              <a:gd name="connsiteY0" fmla="*/ 1866378 h 1866378"/>
              <a:gd name="connsiteX1" fmla="*/ 1793481 w 1954317"/>
              <a:gd name="connsiteY1" fmla="*/ 1515650 h 1866378"/>
              <a:gd name="connsiteX2" fmla="*/ 165097 w 1954317"/>
              <a:gd name="connsiteY2" fmla="*/ 1327759 h 1866378"/>
              <a:gd name="connsiteX3" fmla="*/ 140045 w 1954317"/>
              <a:gd name="connsiteY3" fmla="*/ 0 h 1866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317" h="1866378">
                <a:moveTo>
                  <a:pt x="1806007" y="1866378"/>
                </a:moveTo>
                <a:cubicBezTo>
                  <a:pt x="1936486" y="1735899"/>
                  <a:pt x="2066966" y="1605420"/>
                  <a:pt x="1793481" y="1515650"/>
                </a:cubicBezTo>
                <a:cubicBezTo>
                  <a:pt x="1519996" y="1425880"/>
                  <a:pt x="440670" y="1580367"/>
                  <a:pt x="165097" y="1327759"/>
                </a:cubicBezTo>
                <a:cubicBezTo>
                  <a:pt x="-110476" y="1075151"/>
                  <a:pt x="14784" y="537575"/>
                  <a:pt x="140045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5" name="Picture 2" descr="❌”意思: 叉号Emoji | EmojiAl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255" y="2710242"/>
            <a:ext cx="881405" cy="88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线连接符 15"/>
          <p:cNvCxnSpPr/>
          <p:nvPr/>
        </p:nvCxnSpPr>
        <p:spPr>
          <a:xfrm>
            <a:off x="6156176" y="2629512"/>
            <a:ext cx="0" cy="3672408"/>
          </a:xfrm>
          <a:prstGeom prst="line">
            <a:avLst/>
          </a:prstGeom>
          <a:ln w="53975">
            <a:solidFill>
              <a:schemeClr val="accent6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Solution: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for single-copy consistency 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581217"/>
          </a:xfrm>
        </p:spPr>
        <p:txBody>
          <a:bodyPr/>
          <a:lstStyle/>
          <a:p>
            <a:r>
              <a:rPr kumimoji="1" lang="en-US" altLang="zh-CN" dirty="0"/>
              <a:t>Spanner uses Multi-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w/ leaders to abstract the replicated shard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On the developer’s perspective, a shard w/ replication can be viewed as a single-shard (single-copy consistency)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428" y="3476464"/>
            <a:ext cx="1752990" cy="8563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626" y="4621621"/>
            <a:ext cx="1583488" cy="8704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996" y="3476464"/>
            <a:ext cx="1752990" cy="85634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3" y="4628591"/>
            <a:ext cx="1583488" cy="8704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458" y="4593706"/>
            <a:ext cx="1583488" cy="8704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38" y="3476464"/>
            <a:ext cx="1752990" cy="856346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5835269" y="4360314"/>
            <a:ext cx="827112" cy="68493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17269" y="5049407"/>
            <a:ext cx="1063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+</a:t>
            </a:r>
            <a:r>
              <a:rPr kumimoji="1" lang="en-US" altLang="zh-CN" b="1" dirty="0" err="1"/>
              <a:t>Paxos</a:t>
            </a:r>
            <a:r>
              <a:rPr kumimoji="1" lang="en-US" altLang="zh-CN" b="1" dirty="0"/>
              <a:t> </a:t>
            </a:r>
            <a:endParaRPr lang="zh-CN" altLang="en-US" b="1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010" y="3473365"/>
            <a:ext cx="1752990" cy="85634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941" y="4465716"/>
            <a:ext cx="1583488" cy="870455"/>
          </a:xfrm>
          <a:prstGeom prst="rect">
            <a:avLst/>
          </a:prstGeom>
        </p:spPr>
      </p:pic>
      <p:sp>
        <p:nvSpPr>
          <p:cNvPr id="17" name="Rectangle 13"/>
          <p:cNvSpPr/>
          <p:nvPr/>
        </p:nvSpPr>
        <p:spPr>
          <a:xfrm>
            <a:off x="2588507" y="3081305"/>
            <a:ext cx="2529574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Physical view</a:t>
            </a:r>
            <a:endParaRPr kumimoji="1" lang="en-US" altLang="zh-CN" dirty="0"/>
          </a:p>
        </p:txBody>
      </p:sp>
      <p:sp>
        <p:nvSpPr>
          <p:cNvPr id="18" name="Rectangle 13"/>
          <p:cNvSpPr/>
          <p:nvPr/>
        </p:nvSpPr>
        <p:spPr>
          <a:xfrm>
            <a:off x="6836081" y="3081305"/>
            <a:ext cx="2112064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Logical view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Geo-replicated datacenters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5486134"/>
            <a:ext cx="37052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800" dirty="0"/>
              <a:t>Source: https://</a:t>
            </a:r>
            <a:r>
              <a:rPr lang="en-GB" altLang="zh-CN" sz="800" dirty="0" err="1"/>
              <a:t>www.alibabacloud.com</a:t>
            </a:r>
            <a:r>
              <a:rPr lang="en-GB" altLang="zh-CN" sz="800" dirty="0"/>
              <a:t>/</a:t>
            </a:r>
            <a:r>
              <a:rPr lang="en-GB" altLang="zh-CN" sz="800" dirty="0" err="1"/>
              <a:t>zh</a:t>
            </a:r>
            <a:r>
              <a:rPr lang="en-GB" altLang="zh-CN" sz="800" dirty="0"/>
              <a:t>/global-locations</a:t>
            </a:r>
            <a:endParaRPr lang="zh-CN" altLang="en-US" sz="8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457199" y="1129307"/>
            <a:ext cx="8507289" cy="1655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e.g., The </a:t>
            </a:r>
            <a:r>
              <a:rPr kumimoji="1" lang="en-US" altLang="zh-CN" dirty="0"/>
              <a:t>locations</a:t>
            </a:r>
            <a:r>
              <a:rPr kumimoji="1" lang="en-US" altLang="zh-CN" b="0" dirty="0"/>
              <a:t> of </a:t>
            </a:r>
            <a:r>
              <a:rPr lang="en-GB" altLang="zh-CN" b="0" dirty="0"/>
              <a:t>Alibaba</a:t>
            </a:r>
            <a:r>
              <a:rPr kumimoji="1" lang="en-US" altLang="zh-CN" b="0" dirty="0"/>
              <a:t> datacenters</a:t>
            </a:r>
            <a:endParaRPr lang="en-GB" altLang="zh-CN" b="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0" y="1778538"/>
            <a:ext cx="9144000" cy="2522037"/>
          </a:xfrm>
          <a:prstGeom prst="rect">
            <a:avLst/>
          </a:prstGeom>
        </p:spPr>
      </p:pic>
      <p:sp>
        <p:nvSpPr>
          <p:cNvPr id="3" name="Rectangle 13"/>
          <p:cNvSpPr/>
          <p:nvPr/>
        </p:nvSpPr>
        <p:spPr>
          <a:xfrm>
            <a:off x="1449130" y="4534301"/>
            <a:ext cx="6723270" cy="811367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sz="2400" dirty="0"/>
              <a:t>What can go wrong if we only replicate the data 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only within one datacenter</a:t>
            </a:r>
            <a:r>
              <a:rPr kumimoji="1" lang="en-US" altLang="zh-CN" sz="2400" dirty="0"/>
              <a:t>? 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Replication within a DC is insufficient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368152"/>
          </a:xfrm>
        </p:spPr>
        <p:txBody>
          <a:bodyPr/>
          <a:lstStyle/>
          <a:p>
            <a:r>
              <a:rPr kumimoji="1" lang="en-US" altLang="zh-CN" dirty="0"/>
              <a:t>A single datacenter (DC) can fail due to natural disasters </a:t>
            </a:r>
            <a:endParaRPr kumimoji="1" lang="en-US" altLang="zh-CN" dirty="0"/>
          </a:p>
          <a:p>
            <a:r>
              <a:rPr kumimoji="1" lang="en-US" altLang="zh-CN" dirty="0"/>
              <a:t>A DC cannot serve requests well (in low latency) across the planet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6" descr="World Data Center Map, transparent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375" y="2857500"/>
            <a:ext cx="4716530" cy="2162561"/>
          </a:xfrm>
          <a:prstGeom prst="rect">
            <a:avLst/>
          </a:prstGeom>
          <a:noFill/>
          <a:scene3d>
            <a:camera prst="orthographicFront">
              <a:rot lat="222000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2059375" y="3760636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5" name="磁盘 14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rgbClr val="C00000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282788"/>
            <a:ext cx="2359566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38694" y="3797357"/>
            <a:ext cx="680542" cy="6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3"/>
          <p:cNvSpPr/>
          <p:nvPr/>
        </p:nvSpPr>
        <p:spPr>
          <a:xfrm>
            <a:off x="6473907" y="4529957"/>
            <a:ext cx="2529574" cy="903700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Users from </a:t>
            </a:r>
            <a:r>
              <a:rPr kumimoji="1" lang="en-US" altLang="zh-CN" dirty="0" err="1"/>
              <a:t>china</a:t>
            </a:r>
            <a:r>
              <a:rPr kumimoji="1" lang="en-US" altLang="zh-CN" dirty="0"/>
              <a:t> will suffer from long latency</a:t>
            </a:r>
            <a:endParaRPr kumimoji="1" lang="en-US" altLang="zh-CN" dirty="0"/>
          </a:p>
        </p:txBody>
      </p:sp>
      <p:sp>
        <p:nvSpPr>
          <p:cNvPr id="23" name="矩形 22"/>
          <p:cNvSpPr/>
          <p:nvPr/>
        </p:nvSpPr>
        <p:spPr>
          <a:xfrm>
            <a:off x="1726593" y="4760425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DC in the US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orld Data Center Map, transparent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4137628"/>
            <a:ext cx="3495069" cy="1602513"/>
          </a:xfrm>
          <a:prstGeom prst="rect">
            <a:avLst/>
          </a:prstGeom>
          <a:noFill/>
          <a:scene3d>
            <a:camera prst="orthographicFront">
              <a:rot lat="222000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Spanner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further replicates the data across datacenters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079438"/>
          </a:xfrm>
        </p:spPr>
        <p:txBody>
          <a:bodyPr/>
          <a:lstStyle/>
          <a:p>
            <a:r>
              <a:rPr kumimoji="1" lang="en-US" altLang="zh-CN" b="0" dirty="0">
                <a:solidFill>
                  <a:schemeClr val="tx1"/>
                </a:solidFill>
              </a:rPr>
              <a:t>Data sharded &amp;</a:t>
            </a:r>
            <a:r>
              <a:rPr kumimoji="1" lang="zh-CN" altLang="en-US" b="0" dirty="0">
                <a:solidFill>
                  <a:schemeClr val="tx1"/>
                </a:solidFill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</a:rPr>
              <a:t>replicated</a:t>
            </a:r>
            <a:r>
              <a:rPr kumimoji="1" lang="zh-CN" altLang="en-US" b="0" dirty="0">
                <a:solidFill>
                  <a:schemeClr val="tx1"/>
                </a:solidFill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</a:rPr>
              <a:t>over many machines &amp; </a:t>
            </a:r>
            <a:r>
              <a:rPr kumimoji="1" lang="en-US" altLang="zh-CN" dirty="0">
                <a:solidFill>
                  <a:srgbClr val="C00000"/>
                </a:solidFill>
              </a:rPr>
              <a:t>datacenters</a:t>
            </a:r>
            <a:r>
              <a:rPr kumimoji="1" lang="zh-CN" altLang="en-US" b="0" dirty="0">
                <a:solidFill>
                  <a:schemeClr val="tx1"/>
                </a:solidFill>
              </a:rPr>
              <a:t> 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Tolerate machine failures across datacenters &amp; lower request latency 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28821" y="44908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Data centers</a:t>
            </a:r>
            <a:endParaRPr lang="zh-CN" altLang="en-US" b="1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28821" y="2097820"/>
            <a:ext cx="4931166" cy="626585"/>
            <a:chOff x="528821" y="2097820"/>
            <a:chExt cx="4931166" cy="626585"/>
          </a:xfrm>
        </p:grpSpPr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2387869" y="2097820"/>
              <a:ext cx="3072118" cy="626585"/>
              <a:chOff x="2003938" y="1785208"/>
              <a:chExt cx="3755391" cy="765944"/>
            </a:xfrm>
          </p:grpSpPr>
          <p:pic>
            <p:nvPicPr>
              <p:cNvPr id="41" name="Picture 16" descr="Huawei - Building a Fully Connected, Intelligent Worl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09354" y="1932224"/>
                <a:ext cx="1035672" cy="5178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2" descr="Apple | LinkedIn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3410" y="1785208"/>
                <a:ext cx="765944" cy="765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6" descr="Apple 10.2-inch iPad (8th Gen) Wi-Fi 32GB - Space Gray - Walmart.co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3938" y="1845842"/>
                <a:ext cx="650413" cy="6504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8" descr="Apple 10.9-Inch iPad Air Latest Model (4th Generation) with Wi-Fi 64GB Sky  Blue MYFQ2LL/A - Best Buy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597" y="1892039"/>
                <a:ext cx="492646" cy="5580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18" descr="Amazon.com: Huawei P Smart (2021) Dual-SIM 128GB (GSM Only | No CDMA)  Factory Unlocked 4G/LTE Smartphone (Gold) - International Version : Cell  Phones &amp; Accessories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2080" y="1913552"/>
                <a:ext cx="467249" cy="637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0" name="矩形 39"/>
            <p:cNvSpPr/>
            <p:nvPr/>
          </p:nvSpPr>
          <p:spPr>
            <a:xfrm>
              <a:off x="528821" y="2259363"/>
              <a:ext cx="1236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User data</a:t>
              </a:r>
              <a:endParaRPr lang="zh-CN" altLang="en-US" b="1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19710" y="4024897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50" name="磁盘 49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rgbClr val="C00000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9488" y="2975778"/>
            <a:ext cx="1564760" cy="9072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7751" y="2967202"/>
            <a:ext cx="1564760" cy="907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任意形状 19"/>
          <p:cNvSpPr/>
          <p:nvPr/>
        </p:nvSpPr>
        <p:spPr>
          <a:xfrm>
            <a:off x="3001727" y="4609578"/>
            <a:ext cx="543139" cy="585642"/>
          </a:xfrm>
          <a:custGeom>
            <a:avLst/>
            <a:gdLst>
              <a:gd name="connsiteX0" fmla="*/ 179884 w 543139"/>
              <a:gd name="connsiteY0" fmla="*/ 0 h 585642"/>
              <a:gd name="connsiteX1" fmla="*/ 17046 w 543139"/>
              <a:gd name="connsiteY1" fmla="*/ 526093 h 585642"/>
              <a:gd name="connsiteX2" fmla="*/ 543139 w 543139"/>
              <a:gd name="connsiteY2" fmla="*/ 551145 h 58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3139" h="585642">
                <a:moveTo>
                  <a:pt x="179884" y="0"/>
                </a:moveTo>
                <a:cubicBezTo>
                  <a:pt x="68194" y="217118"/>
                  <a:pt x="-43496" y="434236"/>
                  <a:pt x="17046" y="526093"/>
                </a:cubicBezTo>
                <a:cubicBezTo>
                  <a:pt x="77588" y="617950"/>
                  <a:pt x="310363" y="584547"/>
                  <a:pt x="543139" y="55114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721885" y="3957199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rgbClr val="C00000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21" name="任意形状 20"/>
          <p:cNvSpPr/>
          <p:nvPr/>
        </p:nvSpPr>
        <p:spPr>
          <a:xfrm>
            <a:off x="5411244" y="4885151"/>
            <a:ext cx="895901" cy="341228"/>
          </a:xfrm>
          <a:custGeom>
            <a:avLst/>
            <a:gdLst>
              <a:gd name="connsiteX0" fmla="*/ 751561 w 895901"/>
              <a:gd name="connsiteY0" fmla="*/ 0 h 341228"/>
              <a:gd name="connsiteX1" fmla="*/ 839244 w 895901"/>
              <a:gd name="connsiteY1" fmla="*/ 338202 h 341228"/>
              <a:gd name="connsiteX2" fmla="*/ 0 w 895901"/>
              <a:gd name="connsiteY2" fmla="*/ 137786 h 341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901" h="341228">
                <a:moveTo>
                  <a:pt x="751561" y="0"/>
                </a:moveTo>
                <a:cubicBezTo>
                  <a:pt x="858032" y="157619"/>
                  <a:pt x="964504" y="315238"/>
                  <a:pt x="839244" y="338202"/>
                </a:cubicBezTo>
                <a:cubicBezTo>
                  <a:pt x="713984" y="361166"/>
                  <a:pt x="356992" y="249476"/>
                  <a:pt x="0" y="137786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38694" y="3797357"/>
            <a:ext cx="680542" cy="6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13"/>
          <p:cNvSpPr/>
          <p:nvPr/>
        </p:nvSpPr>
        <p:spPr>
          <a:xfrm>
            <a:off x="6473907" y="4529957"/>
            <a:ext cx="2529574" cy="903700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Users from china can query DC at china for lower latency </a:t>
            </a:r>
            <a:endParaRPr kumimoji="1" lang="en-US" altLang="zh-CN" dirty="0"/>
          </a:p>
        </p:txBody>
      </p:sp>
      <p:cxnSp>
        <p:nvCxnSpPr>
          <p:cNvPr id="60" name="直线箭头连接符 59"/>
          <p:cNvCxnSpPr/>
          <p:nvPr/>
        </p:nvCxnSpPr>
        <p:spPr>
          <a:xfrm flipH="1">
            <a:off x="6589274" y="4225652"/>
            <a:ext cx="10668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/>
          <p:nvPr/>
        </p:nvCxnSpPr>
        <p:spPr>
          <a:xfrm rot="10800000" flipH="1">
            <a:off x="6642511" y="4362381"/>
            <a:ext cx="10668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2274849" y="3682678"/>
            <a:ext cx="631904" cy="200055"/>
            <a:chOff x="1428970" y="3674445"/>
            <a:chExt cx="631904" cy="200055"/>
          </a:xfrm>
        </p:grpSpPr>
        <p:sp>
          <p:nvSpPr>
            <p:cNvPr id="6" name="矩形 5"/>
            <p:cNvSpPr/>
            <p:nvPr/>
          </p:nvSpPr>
          <p:spPr>
            <a:xfrm>
              <a:off x="1527032" y="3736591"/>
              <a:ext cx="361409" cy="75761"/>
            </a:xfrm>
            <a:prstGeom prst="rect">
              <a:avLst/>
            </a:prstGeom>
            <a:solidFill>
              <a:schemeClr val="bg1"/>
            </a:solidFill>
            <a:ln w="25400">
              <a:noFill/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428970" y="3674445"/>
              <a:ext cx="6319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700" b="1" dirty="0"/>
                <a:t>Server1</a:t>
              </a:r>
              <a:endParaRPr lang="zh-CN" altLang="en-US" sz="700" b="1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039259" y="3682676"/>
            <a:ext cx="631904" cy="200055"/>
            <a:chOff x="1428970" y="3674445"/>
            <a:chExt cx="631904" cy="200055"/>
          </a:xfrm>
        </p:grpSpPr>
        <p:sp>
          <p:nvSpPr>
            <p:cNvPr id="33" name="矩形 32"/>
            <p:cNvSpPr/>
            <p:nvPr/>
          </p:nvSpPr>
          <p:spPr>
            <a:xfrm>
              <a:off x="1527032" y="3736591"/>
              <a:ext cx="361409" cy="75761"/>
            </a:xfrm>
            <a:prstGeom prst="rect">
              <a:avLst/>
            </a:prstGeom>
            <a:solidFill>
              <a:schemeClr val="bg1"/>
            </a:solidFill>
            <a:ln w="25400">
              <a:noFill/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428970" y="3674445"/>
              <a:ext cx="6319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700" b="1" dirty="0"/>
                <a:t>Server1</a:t>
              </a:r>
              <a:endParaRPr lang="zh-CN" altLang="en-US" sz="700" b="1" dirty="0"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2-phase commit + 2-phase locking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With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, multiple replicas of a shard can be viewed as one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the developer sees an X, but X is actually replicated multiple times</a:t>
            </a:r>
            <a:endParaRPr kumimoji="1" lang="en-US" altLang="zh-CN" dirty="0"/>
          </a:p>
          <a:p>
            <a:r>
              <a:rPr kumimoji="1" lang="en-US" altLang="zh-CN" dirty="0"/>
              <a:t>However,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is insufficient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user request (TX) can touch multiple shards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to coordinate these accesses? </a:t>
            </a:r>
            <a:endParaRPr kumimoji="1" lang="en-US" altLang="zh-CN" dirty="0"/>
          </a:p>
          <a:p>
            <a:r>
              <a:rPr kumimoji="1" lang="en-US" altLang="zh-CN" dirty="0"/>
              <a:t>Using two-phase locking for </a:t>
            </a:r>
            <a:r>
              <a:rPr kumimoji="1" lang="en-US" altLang="zh-CN" dirty="0">
                <a:highlight>
                  <a:srgbClr val="FFFF00"/>
                </a:highlight>
              </a:rPr>
              <a:t>before-or-after atomicity </a:t>
            </a:r>
            <a:r>
              <a:rPr kumimoji="1" lang="en-US" altLang="zh-CN" dirty="0"/>
              <a:t>&amp; two-phase commit for </a:t>
            </a:r>
            <a:r>
              <a:rPr kumimoji="1" lang="en-US" altLang="zh-CN" dirty="0">
                <a:highlight>
                  <a:srgbClr val="FFFF00"/>
                </a:highlight>
              </a:rPr>
              <a:t>multi-site atomicity  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834337" y="4154797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sp>
        <p:nvSpPr>
          <p:cNvPr id="11" name="矩形 10"/>
          <p:cNvSpPr/>
          <p:nvPr/>
        </p:nvSpPr>
        <p:spPr>
          <a:xfrm>
            <a:off x="5321325" y="406368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3" name="矩形 12"/>
          <p:cNvSpPr/>
          <p:nvPr/>
        </p:nvSpPr>
        <p:spPr>
          <a:xfrm>
            <a:off x="5307334" y="483260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600" y="4130215"/>
            <a:ext cx="617028" cy="61702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600" y="4861094"/>
            <a:ext cx="617028" cy="61702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Big picture of Spanner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How to scale to a larger dataset?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Shading </a:t>
            </a:r>
            <a:endParaRPr kumimoji="1" lang="en-US" altLang="zh-CN" dirty="0"/>
          </a:p>
          <a:p>
            <a:r>
              <a:rPr kumimoji="1" lang="en-US" altLang="zh-CN" dirty="0"/>
              <a:t>How to tolerate failures across machines &amp; datacenters?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Replicated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 machine w/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Can also use raft (e.g., </a:t>
            </a:r>
            <a:r>
              <a:rPr kumimoji="1" lang="en-US" altLang="zh-CN" sz="1800" dirty="0" err="1"/>
              <a:t>TiDB</a:t>
            </a:r>
            <a:r>
              <a:rPr kumimoji="1" lang="en-US" altLang="zh-CN" sz="1800" dirty="0"/>
              <a:t>) </a:t>
            </a:r>
            <a:endParaRPr kumimoji="1" lang="en-US" altLang="zh-CN" sz="1800" dirty="0"/>
          </a:p>
          <a:p>
            <a:r>
              <a:rPr kumimoji="1" lang="en-US" altLang="zh-CN" dirty="0"/>
              <a:t>How to execute read-write transaction to ensure before-or-after atomicity and multi-site atomicity?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2PL + 2PC</a:t>
            </a:r>
            <a:endParaRPr kumimoji="1" lang="en-US" altLang="zh-CN" dirty="0"/>
          </a:p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Read-write TX: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TX that both reads and writes the data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Read-write TX: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TX that both reads and writes the data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3814312" y="3135199"/>
            <a:ext cx="1118565" cy="1590231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标注 30"/>
          <p:cNvSpPr/>
          <p:nvPr/>
        </p:nvSpPr>
        <p:spPr>
          <a:xfrm>
            <a:off x="4544506" y="4861314"/>
            <a:ext cx="3843917" cy="575373"/>
          </a:xfrm>
          <a:prstGeom prst="wedgeRoundRectCallout">
            <a:avLst>
              <a:gd name="adj1" fmla="val -42355"/>
              <a:gd name="adj2" fmla="val -98461"/>
              <a:gd name="adj3" fmla="val 1666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659739" y="4964334"/>
            <a:ext cx="3412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X,Y are sharded on two servers</a:t>
            </a:r>
            <a:endParaRPr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Each shard is replicated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run PAXOS to behavior as a single (logical) shard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3814312" y="3942364"/>
            <a:ext cx="3998048" cy="559697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标注 30"/>
          <p:cNvSpPr/>
          <p:nvPr/>
        </p:nvSpPr>
        <p:spPr>
          <a:xfrm>
            <a:off x="4544505" y="4861314"/>
            <a:ext cx="4390757" cy="575373"/>
          </a:xfrm>
          <a:prstGeom prst="wedgeRoundRectCallout">
            <a:avLst>
              <a:gd name="adj1" fmla="val -42355"/>
              <a:gd name="adj2" fmla="val -98461"/>
              <a:gd name="adj3" fmla="val 16667"/>
            </a:avLst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659739" y="4964334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Each shard is replicated on multiple DCs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8"/>
            <a:ext cx="8795319" cy="90044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Each shard is replicated w/ PAXOS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replica is selected leader to simplify execution (no Raft introduced then)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5" name="Rectangle 13"/>
          <p:cNvSpPr/>
          <p:nvPr/>
        </p:nvSpPr>
        <p:spPr>
          <a:xfrm>
            <a:off x="3855375" y="4775393"/>
            <a:ext cx="4074463" cy="626701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kumimoji="1" lang="en-US" altLang="zh-CN" dirty="0"/>
              <a:t>Leader will execute request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Start a PAXOS proposal accordingly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Spanner uses standard 2PC &amp; 2PL for executing read-write TX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Two-phase commit &amp; two-phase locking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GB" altLang="zh-CN" dirty="0"/>
              <a:t>Upon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read, </a:t>
            </a:r>
            <a:r>
              <a:rPr kumimoji="1" lang="en-GB" altLang="zh-CN" dirty="0"/>
              <a:t>the leader will return the latest value of data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Also hold the lock on it (2PL)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/>
              <a:t>Rx</a:t>
            </a:r>
            <a:endParaRPr lang="zh-CN" altLang="en-US" dirty="0"/>
          </a:p>
        </p:txBody>
      </p:sp>
      <p:sp>
        <p:nvSpPr>
          <p:cNvPr id="32" name="Rectangle 13"/>
          <p:cNvSpPr/>
          <p:nvPr/>
        </p:nvSpPr>
        <p:spPr>
          <a:xfrm>
            <a:off x="3628714" y="4740599"/>
            <a:ext cx="4046812" cy="903700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/>
              <a:t>Client sends each read to </a:t>
            </a:r>
            <a:r>
              <a:rPr lang="en-GB" altLang="zh-CN" dirty="0" err="1"/>
              <a:t>Paxos</a:t>
            </a:r>
            <a:r>
              <a:rPr lang="en-GB" altLang="zh-CN" dirty="0"/>
              <a:t> leader of relevant shard, lock the record &amp; do the latest value  </a:t>
            </a:r>
            <a:endParaRPr kumimoji="1" lang="en-US" altLang="zh-CN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形状 36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/>
              <a:t>Rx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The write will be buffered at local client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They will be written back via 2PC at the TX’s commit time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2557406"/>
            <a:ext cx="1656184" cy="300094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标注 32"/>
          <p:cNvSpPr/>
          <p:nvPr/>
        </p:nvSpPr>
        <p:spPr>
          <a:xfrm>
            <a:off x="1811606" y="3149654"/>
            <a:ext cx="862545" cy="575373"/>
          </a:xfrm>
          <a:prstGeom prst="wedgeRoundRectCallout">
            <a:avLst>
              <a:gd name="adj1" fmla="val -42355"/>
              <a:gd name="adj2" fmla="val -98461"/>
              <a:gd name="adj3" fmla="val 16667"/>
            </a:avLst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883797" y="3246889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write</a:t>
            </a:r>
            <a:endParaRPr lang="zh-CN" altLang="en-US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Commit will use 2PC to write all the updates back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It will choose a shard leader as the coordinator leader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/>
              <a:t>Rx</a:t>
            </a:r>
            <a:endParaRPr lang="zh-CN" altLang="en-US" dirty="0"/>
          </a:p>
        </p:txBody>
      </p:sp>
      <p:sp>
        <p:nvSpPr>
          <p:cNvPr id="21" name="任意形状 20"/>
          <p:cNvSpPr/>
          <p:nvPr/>
        </p:nvSpPr>
        <p:spPr>
          <a:xfrm>
            <a:off x="1805354" y="4501662"/>
            <a:ext cx="4947138" cy="1153585"/>
          </a:xfrm>
          <a:custGeom>
            <a:avLst/>
            <a:gdLst>
              <a:gd name="connsiteX0" fmla="*/ 0 w 4947138"/>
              <a:gd name="connsiteY0" fmla="*/ 703384 h 1153585"/>
              <a:gd name="connsiteX1" fmla="*/ 1324708 w 4947138"/>
              <a:gd name="connsiteY1" fmla="*/ 1125415 h 1153585"/>
              <a:gd name="connsiteX2" fmla="*/ 4947138 w 4947138"/>
              <a:gd name="connsiteY2" fmla="*/ 0 h 115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7138" h="1153585">
                <a:moveTo>
                  <a:pt x="0" y="703384"/>
                </a:moveTo>
                <a:cubicBezTo>
                  <a:pt x="250092" y="973015"/>
                  <a:pt x="500185" y="1242646"/>
                  <a:pt x="1324708" y="1125415"/>
                </a:cubicBezTo>
                <a:cubicBezTo>
                  <a:pt x="2149231" y="1008184"/>
                  <a:pt x="3548184" y="504092"/>
                  <a:pt x="4947138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324612" y="5090603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/>
              <a:t>Ry</a:t>
            </a:r>
            <a:endParaRPr lang="zh-CN" altLang="en-US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19" y="3858440"/>
            <a:ext cx="337631" cy="337631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The coordinator uses its PAXOS group to replicate the TX states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Why? Otherwise, the 2PC may fail if the coordinator crashes!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  <p:sp>
        <p:nvSpPr>
          <p:cNvPr id="36" name="任意形状 35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Rx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1" name="任意形状 20"/>
          <p:cNvSpPr/>
          <p:nvPr/>
        </p:nvSpPr>
        <p:spPr>
          <a:xfrm>
            <a:off x="1805354" y="4501662"/>
            <a:ext cx="4947138" cy="1153585"/>
          </a:xfrm>
          <a:custGeom>
            <a:avLst/>
            <a:gdLst>
              <a:gd name="connsiteX0" fmla="*/ 0 w 4947138"/>
              <a:gd name="connsiteY0" fmla="*/ 703384 h 1153585"/>
              <a:gd name="connsiteX1" fmla="*/ 1324708 w 4947138"/>
              <a:gd name="connsiteY1" fmla="*/ 1125415 h 1153585"/>
              <a:gd name="connsiteX2" fmla="*/ 4947138 w 4947138"/>
              <a:gd name="connsiteY2" fmla="*/ 0 h 115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7138" h="1153585">
                <a:moveTo>
                  <a:pt x="0" y="703384"/>
                </a:moveTo>
                <a:cubicBezTo>
                  <a:pt x="250092" y="973015"/>
                  <a:pt x="500185" y="1242646"/>
                  <a:pt x="1324708" y="1125415"/>
                </a:cubicBezTo>
                <a:cubicBezTo>
                  <a:pt x="2149231" y="1008184"/>
                  <a:pt x="3548184" y="504092"/>
                  <a:pt x="4947138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324612" y="5090603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Ry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19" y="3858440"/>
            <a:ext cx="337631" cy="337631"/>
          </a:xfrm>
          <a:prstGeom prst="rect">
            <a:avLst/>
          </a:prstGeom>
        </p:spPr>
      </p:pic>
      <p:sp>
        <p:nvSpPr>
          <p:cNvPr id="31" name="任意形状 30"/>
          <p:cNvSpPr/>
          <p:nvPr/>
        </p:nvSpPr>
        <p:spPr>
          <a:xfrm>
            <a:off x="1828800" y="3716215"/>
            <a:ext cx="2368062" cy="1794547"/>
          </a:xfrm>
          <a:custGeom>
            <a:avLst/>
            <a:gdLst>
              <a:gd name="connsiteX0" fmla="*/ 0 w 2368062"/>
              <a:gd name="connsiteY0" fmla="*/ 1524000 h 1794547"/>
              <a:gd name="connsiteX1" fmla="*/ 1031631 w 2368062"/>
              <a:gd name="connsiteY1" fmla="*/ 1793631 h 1794547"/>
              <a:gd name="connsiteX2" fmla="*/ 1652954 w 2368062"/>
              <a:gd name="connsiteY2" fmla="*/ 1441939 h 1794547"/>
              <a:gd name="connsiteX3" fmla="*/ 2368062 w 2368062"/>
              <a:gd name="connsiteY3" fmla="*/ 0 h 179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8062" h="1794547">
                <a:moveTo>
                  <a:pt x="0" y="1524000"/>
                </a:moveTo>
                <a:cubicBezTo>
                  <a:pt x="378069" y="1665654"/>
                  <a:pt x="756139" y="1807308"/>
                  <a:pt x="1031631" y="1793631"/>
                </a:cubicBezTo>
                <a:cubicBezTo>
                  <a:pt x="1307123" y="1779954"/>
                  <a:pt x="1430216" y="1740878"/>
                  <a:pt x="1652954" y="1441939"/>
                </a:cubicBezTo>
                <a:cubicBezTo>
                  <a:pt x="1875693" y="1143000"/>
                  <a:pt x="2121877" y="571500"/>
                  <a:pt x="2368062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761525" y="4520381"/>
            <a:ext cx="305724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Select as coordinator leader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w/ the update values</a:t>
            </a:r>
            <a:endParaRPr lang="zh-CN" altLang="en-US" dirty="0">
              <a:solidFill>
                <a:srgbClr val="BE384B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7"/>
            <a:ext cx="8686799" cy="153182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coordinator leader will send the update values to the host shard leader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And each shard leader execute the </a:t>
            </a:r>
            <a:r>
              <a:rPr kumimoji="1" lang="en-GB" altLang="zh-CN" b="1" dirty="0">
                <a:solidFill>
                  <a:srgbClr val="BE384B"/>
                </a:solidFill>
              </a:rPr>
              <a:t>prepare</a:t>
            </a:r>
            <a:r>
              <a:rPr kumimoji="1" lang="en-GB" altLang="zh-CN" dirty="0"/>
              <a:t> with PAXOS (including locking the write-set, and </a:t>
            </a:r>
            <a:r>
              <a:rPr kumimoji="1" lang="en-GB" altLang="zh-CN" dirty="0">
                <a:highlight>
                  <a:srgbClr val="FFFF00"/>
                </a:highlight>
              </a:rPr>
              <a:t>replicates its locks</a:t>
            </a:r>
            <a:r>
              <a:rPr kumimoji="1" lang="en-GB" altLang="zh-CN" dirty="0"/>
              <a:t> to tolerate leader failure)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  <p:sp>
        <p:nvSpPr>
          <p:cNvPr id="36" name="任意形状 35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Rx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1" name="任意形状 20"/>
          <p:cNvSpPr/>
          <p:nvPr/>
        </p:nvSpPr>
        <p:spPr>
          <a:xfrm>
            <a:off x="1805354" y="4501662"/>
            <a:ext cx="4947138" cy="1153585"/>
          </a:xfrm>
          <a:custGeom>
            <a:avLst/>
            <a:gdLst>
              <a:gd name="connsiteX0" fmla="*/ 0 w 4947138"/>
              <a:gd name="connsiteY0" fmla="*/ 703384 h 1153585"/>
              <a:gd name="connsiteX1" fmla="*/ 1324708 w 4947138"/>
              <a:gd name="connsiteY1" fmla="*/ 1125415 h 1153585"/>
              <a:gd name="connsiteX2" fmla="*/ 4947138 w 4947138"/>
              <a:gd name="connsiteY2" fmla="*/ 0 h 115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7138" h="1153585">
                <a:moveTo>
                  <a:pt x="0" y="703384"/>
                </a:moveTo>
                <a:cubicBezTo>
                  <a:pt x="250092" y="973015"/>
                  <a:pt x="500185" y="1242646"/>
                  <a:pt x="1324708" y="1125415"/>
                </a:cubicBezTo>
                <a:cubicBezTo>
                  <a:pt x="2149231" y="1008184"/>
                  <a:pt x="3548184" y="504092"/>
                  <a:pt x="4947138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324612" y="5090603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Ry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19" y="3858440"/>
            <a:ext cx="337631" cy="337631"/>
          </a:xfrm>
          <a:prstGeom prst="rect">
            <a:avLst/>
          </a:prstGeom>
        </p:spPr>
      </p:pic>
      <p:sp>
        <p:nvSpPr>
          <p:cNvPr id="31" name="任意形状 30"/>
          <p:cNvSpPr/>
          <p:nvPr/>
        </p:nvSpPr>
        <p:spPr>
          <a:xfrm>
            <a:off x="1828800" y="3716215"/>
            <a:ext cx="2368062" cy="1794547"/>
          </a:xfrm>
          <a:custGeom>
            <a:avLst/>
            <a:gdLst>
              <a:gd name="connsiteX0" fmla="*/ 0 w 2368062"/>
              <a:gd name="connsiteY0" fmla="*/ 1524000 h 1794547"/>
              <a:gd name="connsiteX1" fmla="*/ 1031631 w 2368062"/>
              <a:gd name="connsiteY1" fmla="*/ 1793631 h 1794547"/>
              <a:gd name="connsiteX2" fmla="*/ 1652954 w 2368062"/>
              <a:gd name="connsiteY2" fmla="*/ 1441939 h 1794547"/>
              <a:gd name="connsiteX3" fmla="*/ 2368062 w 2368062"/>
              <a:gd name="connsiteY3" fmla="*/ 0 h 179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8062" h="1794547">
                <a:moveTo>
                  <a:pt x="0" y="1524000"/>
                </a:moveTo>
                <a:cubicBezTo>
                  <a:pt x="378069" y="1665654"/>
                  <a:pt x="756139" y="1807308"/>
                  <a:pt x="1031631" y="1793631"/>
                </a:cubicBezTo>
                <a:cubicBezTo>
                  <a:pt x="1307123" y="1779954"/>
                  <a:pt x="1430216" y="1740878"/>
                  <a:pt x="1652954" y="1441939"/>
                </a:cubicBezTo>
                <a:cubicBezTo>
                  <a:pt x="1875693" y="1143000"/>
                  <a:pt x="2121877" y="571500"/>
                  <a:pt x="2368062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761525" y="4520381"/>
            <a:ext cx="305724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accent6"/>
                </a:solidFill>
              </a:rPr>
              <a:t>Select as coordinator leader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accent6"/>
                </a:solidFill>
              </a:rPr>
              <a:t>w/ the update values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4700955" y="3587262"/>
            <a:ext cx="1946030" cy="719088"/>
          </a:xfrm>
          <a:custGeom>
            <a:avLst/>
            <a:gdLst>
              <a:gd name="connsiteX0" fmla="*/ 0 w 1946031"/>
              <a:gd name="connsiteY0" fmla="*/ 0 h 574430"/>
              <a:gd name="connsiteX1" fmla="*/ 1946031 w 1946031"/>
              <a:gd name="connsiteY1" fmla="*/ 574430 h 574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6031" h="574430">
                <a:moveTo>
                  <a:pt x="0" y="0"/>
                </a:moveTo>
                <a:lnTo>
                  <a:pt x="1946031" y="574430"/>
                </a:ln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箭头连接符 25"/>
          <p:cNvCxnSpPr/>
          <p:nvPr/>
        </p:nvCxnSpPr>
        <p:spPr>
          <a:xfrm flipH="1" flipV="1">
            <a:off x="4422931" y="4295841"/>
            <a:ext cx="2059770" cy="25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/>
          <p:nvPr/>
        </p:nvCxnSpPr>
        <p:spPr>
          <a:xfrm flipH="1" flipV="1">
            <a:off x="4675830" y="3479531"/>
            <a:ext cx="2059770" cy="25759"/>
          </a:xfrm>
          <a:prstGeom prst="straightConnector1">
            <a:avLst/>
          </a:prstGeom>
          <a:ln w="254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202295" y="3259727"/>
            <a:ext cx="100540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Prepare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265244" y="4144352"/>
            <a:ext cx="100540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Prepare</a:t>
            </a:r>
            <a:endParaRPr lang="zh-CN" altLang="en-US" dirty="0">
              <a:solidFill>
                <a:srgbClr val="BE384B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Execution flow of read-write transaction(TX)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8"/>
            <a:ext cx="8686799" cy="90044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If all shard leader returns the </a:t>
            </a:r>
            <a:r>
              <a:rPr kumimoji="1" lang="en-US" altLang="zh-CN" dirty="0">
                <a:solidFill>
                  <a:srgbClr val="BE384B"/>
                </a:solidFill>
              </a:rPr>
              <a:t>Yes</a:t>
            </a:r>
            <a:r>
              <a:rPr kumimoji="1" lang="en-US" altLang="zh-CN" dirty="0"/>
              <a:t> to the coordinator leader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coordinator log the commit decision (via PAXOS) &amp; commit others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57200" y="2195000"/>
            <a:ext cx="1656184" cy="1324999"/>
            <a:chOff x="4283968" y="3476717"/>
            <a:chExt cx="1656184" cy="1324999"/>
          </a:xfrm>
        </p:grpSpPr>
        <p:sp>
          <p:nvSpPr>
            <p:cNvPr id="6" name="矩形 5"/>
            <p:cNvSpPr/>
            <p:nvPr/>
          </p:nvSpPr>
          <p:spPr>
            <a:xfrm>
              <a:off x="4283968" y="3476717"/>
              <a:ext cx="1656184" cy="1324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89456" y="3518729"/>
              <a:ext cx="1451038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tx.begin</a:t>
              </a:r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 = x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>
                  <a:solidFill>
                    <a:schemeClr val="accent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y = y + 1</a:t>
              </a:r>
              <a:endParaRPr kumimoji="1" lang="en-US" altLang="zh-CN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tx.end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  <a:endParaRPr lang="zh-CN" altLang="en-US" dirty="0"/>
            </a:p>
          </p:txBody>
        </p:sp>
      </p:grpSp>
      <p:pic>
        <p:nvPicPr>
          <p:cNvPr id="1026" name="Picture 2" descr="Client icon PNG, ICO or ICNS | Free vector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9628"/>
            <a:ext cx="978047" cy="9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498767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82701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1" name="磁盘 10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55375" y="2169314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4" name="磁盘 13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4161310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6774645" y="314495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zh-CN" altLang="en-US" sz="3200" dirty="0"/>
          </a:p>
        </p:txBody>
      </p:sp>
      <p:sp>
        <p:nvSpPr>
          <p:cNvPr id="18" name="矩形 17"/>
          <p:cNvSpPr/>
          <p:nvPr/>
        </p:nvSpPr>
        <p:spPr>
          <a:xfrm>
            <a:off x="4147319" y="391387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sp>
        <p:nvSpPr>
          <p:cNvPr id="19" name="矩形 18"/>
          <p:cNvSpPr/>
          <p:nvPr/>
        </p:nvSpPr>
        <p:spPr>
          <a:xfrm>
            <a:off x="6774645" y="3917286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zh-CN" altLang="en-US" sz="32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211485"/>
            <a:ext cx="617028" cy="61702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85" y="3942364"/>
            <a:ext cx="617028" cy="617028"/>
          </a:xfrm>
          <a:prstGeom prst="rect">
            <a:avLst/>
          </a:prstGeom>
        </p:spPr>
      </p:pic>
      <p:cxnSp>
        <p:nvCxnSpPr>
          <p:cNvPr id="25" name="直线连接符 24"/>
          <p:cNvCxnSpPr/>
          <p:nvPr/>
        </p:nvCxnSpPr>
        <p:spPr>
          <a:xfrm>
            <a:off x="3159585" y="3865612"/>
            <a:ext cx="4652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5652120" y="2070746"/>
            <a:ext cx="0" cy="2488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57792" y="3289223"/>
            <a:ext cx="424681" cy="368172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760654" y="4028416"/>
            <a:ext cx="424681" cy="368172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02188" y="3252952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29844" y="4001497"/>
            <a:ext cx="962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PAXOS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31" y="3097011"/>
            <a:ext cx="337631" cy="337631"/>
          </a:xfrm>
          <a:prstGeom prst="rect">
            <a:avLst/>
          </a:prstGeom>
        </p:spPr>
      </p:pic>
      <p:sp>
        <p:nvSpPr>
          <p:cNvPr id="36" name="任意形状 35"/>
          <p:cNvSpPr/>
          <p:nvPr/>
        </p:nvSpPr>
        <p:spPr>
          <a:xfrm>
            <a:off x="1758462" y="2773487"/>
            <a:ext cx="2379784" cy="2554283"/>
          </a:xfrm>
          <a:custGeom>
            <a:avLst/>
            <a:gdLst>
              <a:gd name="connsiteX0" fmla="*/ 0 w 2379784"/>
              <a:gd name="connsiteY0" fmla="*/ 2419836 h 2554283"/>
              <a:gd name="connsiteX1" fmla="*/ 832338 w 2379784"/>
              <a:gd name="connsiteY1" fmla="*/ 2396390 h 2554283"/>
              <a:gd name="connsiteX2" fmla="*/ 867507 w 2379784"/>
              <a:gd name="connsiteY2" fmla="*/ 837221 h 2554283"/>
              <a:gd name="connsiteX3" fmla="*/ 973015 w 2379784"/>
              <a:gd name="connsiteY3" fmla="*/ 4882 h 2554283"/>
              <a:gd name="connsiteX4" fmla="*/ 2379784 w 2379784"/>
              <a:gd name="connsiteY4" fmla="*/ 555867 h 255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9784" h="2554283">
                <a:moveTo>
                  <a:pt x="0" y="2419836"/>
                </a:moveTo>
                <a:cubicBezTo>
                  <a:pt x="343877" y="2539997"/>
                  <a:pt x="687754" y="2660159"/>
                  <a:pt x="832338" y="2396390"/>
                </a:cubicBezTo>
                <a:cubicBezTo>
                  <a:pt x="976922" y="2132621"/>
                  <a:pt x="844061" y="1235806"/>
                  <a:pt x="867507" y="837221"/>
                </a:cubicBezTo>
                <a:cubicBezTo>
                  <a:pt x="890953" y="438636"/>
                  <a:pt x="720969" y="51774"/>
                  <a:pt x="973015" y="4882"/>
                </a:cubicBezTo>
                <a:cubicBezTo>
                  <a:pt x="1225061" y="-42010"/>
                  <a:pt x="1802422" y="256928"/>
                  <a:pt x="2379784" y="555867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363235" y="4027256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Rx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1" name="任意形状 20"/>
          <p:cNvSpPr/>
          <p:nvPr/>
        </p:nvSpPr>
        <p:spPr>
          <a:xfrm>
            <a:off x="1805354" y="4501662"/>
            <a:ext cx="4947138" cy="1153585"/>
          </a:xfrm>
          <a:custGeom>
            <a:avLst/>
            <a:gdLst>
              <a:gd name="connsiteX0" fmla="*/ 0 w 4947138"/>
              <a:gd name="connsiteY0" fmla="*/ 703384 h 1153585"/>
              <a:gd name="connsiteX1" fmla="*/ 1324708 w 4947138"/>
              <a:gd name="connsiteY1" fmla="*/ 1125415 h 1153585"/>
              <a:gd name="connsiteX2" fmla="*/ 4947138 w 4947138"/>
              <a:gd name="connsiteY2" fmla="*/ 0 h 115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7138" h="1153585">
                <a:moveTo>
                  <a:pt x="0" y="703384"/>
                </a:moveTo>
                <a:cubicBezTo>
                  <a:pt x="250092" y="973015"/>
                  <a:pt x="500185" y="1242646"/>
                  <a:pt x="1324708" y="1125415"/>
                </a:cubicBezTo>
                <a:cubicBezTo>
                  <a:pt x="2149231" y="1008184"/>
                  <a:pt x="3548184" y="504092"/>
                  <a:pt x="4947138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324612" y="5090603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Ry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19" y="3858440"/>
            <a:ext cx="337631" cy="337631"/>
          </a:xfrm>
          <a:prstGeom prst="rect">
            <a:avLst/>
          </a:prstGeom>
        </p:spPr>
      </p:pic>
      <p:sp>
        <p:nvSpPr>
          <p:cNvPr id="31" name="任意形状 30"/>
          <p:cNvSpPr/>
          <p:nvPr/>
        </p:nvSpPr>
        <p:spPr>
          <a:xfrm>
            <a:off x="1828800" y="3716215"/>
            <a:ext cx="2368062" cy="1794547"/>
          </a:xfrm>
          <a:custGeom>
            <a:avLst/>
            <a:gdLst>
              <a:gd name="connsiteX0" fmla="*/ 0 w 2368062"/>
              <a:gd name="connsiteY0" fmla="*/ 1524000 h 1794547"/>
              <a:gd name="connsiteX1" fmla="*/ 1031631 w 2368062"/>
              <a:gd name="connsiteY1" fmla="*/ 1793631 h 1794547"/>
              <a:gd name="connsiteX2" fmla="*/ 1652954 w 2368062"/>
              <a:gd name="connsiteY2" fmla="*/ 1441939 h 1794547"/>
              <a:gd name="connsiteX3" fmla="*/ 2368062 w 2368062"/>
              <a:gd name="connsiteY3" fmla="*/ 0 h 179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8062" h="1794547">
                <a:moveTo>
                  <a:pt x="0" y="1524000"/>
                </a:moveTo>
                <a:cubicBezTo>
                  <a:pt x="378069" y="1665654"/>
                  <a:pt x="756139" y="1807308"/>
                  <a:pt x="1031631" y="1793631"/>
                </a:cubicBezTo>
                <a:cubicBezTo>
                  <a:pt x="1307123" y="1779954"/>
                  <a:pt x="1430216" y="1740878"/>
                  <a:pt x="1652954" y="1441939"/>
                </a:cubicBezTo>
                <a:cubicBezTo>
                  <a:pt x="1875693" y="1143000"/>
                  <a:pt x="2121877" y="571500"/>
                  <a:pt x="2368062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761525" y="4520381"/>
            <a:ext cx="305724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accent6"/>
                </a:solidFill>
              </a:rPr>
              <a:t>Select as coordinator leader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accent6"/>
                </a:solidFill>
              </a:rPr>
              <a:t>w/ the update values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4700955" y="3587262"/>
            <a:ext cx="1946030" cy="719088"/>
          </a:xfrm>
          <a:custGeom>
            <a:avLst/>
            <a:gdLst>
              <a:gd name="connsiteX0" fmla="*/ 0 w 1946031"/>
              <a:gd name="connsiteY0" fmla="*/ 0 h 574430"/>
              <a:gd name="connsiteX1" fmla="*/ 1946031 w 1946031"/>
              <a:gd name="connsiteY1" fmla="*/ 574430 h 574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6031" h="574430">
                <a:moveTo>
                  <a:pt x="0" y="0"/>
                </a:moveTo>
                <a:lnTo>
                  <a:pt x="1946031" y="574430"/>
                </a:ln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箭头连接符 42"/>
          <p:cNvCxnSpPr/>
          <p:nvPr/>
        </p:nvCxnSpPr>
        <p:spPr>
          <a:xfrm flipH="1" flipV="1">
            <a:off x="4675830" y="3479531"/>
            <a:ext cx="2059770" cy="25759"/>
          </a:xfrm>
          <a:prstGeom prst="straightConnector1">
            <a:avLst/>
          </a:prstGeom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3"/>
          <p:cNvSpPr/>
          <p:nvPr/>
        </p:nvSpPr>
        <p:spPr>
          <a:xfrm>
            <a:off x="3456298" y="4713857"/>
            <a:ext cx="5090571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b="1" dirty="0">
                <a:solidFill>
                  <a:srgbClr val="BE384B"/>
                </a:solidFill>
              </a:rPr>
              <a:t>Yes</a:t>
            </a:r>
            <a:r>
              <a:rPr lang="en-GB" altLang="zh-CN" dirty="0"/>
              <a:t>: logs a commit record through </a:t>
            </a:r>
            <a:r>
              <a:rPr lang="en-GB" altLang="zh-CN" dirty="0" err="1"/>
              <a:t>Paxos</a:t>
            </a:r>
            <a:endParaRPr kumimoji="1" lang="en-US" altLang="zh-CN" dirty="0"/>
          </a:p>
        </p:txBody>
      </p:sp>
      <p:cxnSp>
        <p:nvCxnSpPr>
          <p:cNvPr id="46" name="直线箭头连接符 45"/>
          <p:cNvCxnSpPr/>
          <p:nvPr/>
        </p:nvCxnSpPr>
        <p:spPr>
          <a:xfrm flipH="1" flipV="1">
            <a:off x="4422931" y="4295841"/>
            <a:ext cx="2059770" cy="257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/>
          <p:nvPr/>
        </p:nvCxnSpPr>
        <p:spPr>
          <a:xfrm flipH="1" flipV="1">
            <a:off x="4710133" y="3326587"/>
            <a:ext cx="2059770" cy="25759"/>
          </a:xfrm>
          <a:prstGeom prst="straightConnector1">
            <a:avLst/>
          </a:prstGeom>
          <a:ln w="25400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145899" y="3131453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Commit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任意形状 50"/>
          <p:cNvSpPr/>
          <p:nvPr/>
        </p:nvSpPr>
        <p:spPr>
          <a:xfrm>
            <a:off x="4685669" y="3483013"/>
            <a:ext cx="1946030" cy="719088"/>
          </a:xfrm>
          <a:custGeom>
            <a:avLst/>
            <a:gdLst>
              <a:gd name="connsiteX0" fmla="*/ 0 w 1946031"/>
              <a:gd name="connsiteY0" fmla="*/ 0 h 574430"/>
              <a:gd name="connsiteX1" fmla="*/ 1946031 w 1946031"/>
              <a:gd name="connsiteY1" fmla="*/ 574430 h 574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6031" h="574430">
                <a:moveTo>
                  <a:pt x="0" y="0"/>
                </a:moveTo>
                <a:lnTo>
                  <a:pt x="1946031" y="574430"/>
                </a:ln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" name="直线箭头连接符 52"/>
          <p:cNvCxnSpPr/>
          <p:nvPr/>
        </p:nvCxnSpPr>
        <p:spPr>
          <a:xfrm flipH="1" flipV="1">
            <a:off x="4448885" y="4212502"/>
            <a:ext cx="2059770" cy="25759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162242" y="3693857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Commit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184996" y="4080500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Commit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6" name="Rectangle 13"/>
          <p:cNvSpPr/>
          <p:nvPr/>
        </p:nvSpPr>
        <p:spPr>
          <a:xfrm>
            <a:off x="3685457" y="5186285"/>
            <a:ext cx="4546397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b="1" dirty="0">
                <a:solidFill>
                  <a:srgbClr val="BE384B"/>
                </a:solidFill>
              </a:rPr>
              <a:t>Commit</a:t>
            </a:r>
            <a:r>
              <a:rPr lang="en-GB" altLang="zh-CN" dirty="0"/>
              <a:t>: update &amp; release the lock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 dirty="0"/>
              <a:t>Read-write TX: put it all together </a:t>
            </a:r>
            <a:endParaRPr kumimoji="1" lang="zh-CN" altLang="en-US" b="0" dirty="0"/>
          </a:p>
        </p:txBody>
      </p:sp>
      <p:sp>
        <p:nvSpPr>
          <p:cNvPr id="5" name="AutoShape 2" descr="Gmail has a new logo that&amp;#39;s a lot more Google - The Verge"/>
          <p:cNvSpPr>
            <a:spLocks noChangeAspect="1" noChangeArrowheads="1"/>
          </p:cNvSpPr>
          <p:nvPr/>
        </p:nvSpPr>
        <p:spPr bwMode="auto">
          <a:xfrm>
            <a:off x="4425820" y="30158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" name="AutoShape 4" descr="Gmail has a new logo that&amp;#39;s a lot more Google - The Verge"/>
          <p:cNvSpPr>
            <a:spLocks noChangeAspect="1" noChangeArrowheads="1"/>
          </p:cNvSpPr>
          <p:nvPr/>
        </p:nvSpPr>
        <p:spPr bwMode="auto">
          <a:xfrm>
            <a:off x="4578220" y="31682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00144" y="1538717"/>
            <a:ext cx="737716" cy="3730090"/>
            <a:chOff x="593924" y="1228005"/>
            <a:chExt cx="737716" cy="3730090"/>
          </a:xfrm>
        </p:grpSpPr>
        <p:cxnSp>
          <p:nvCxnSpPr>
            <p:cNvPr id="4" name="直线连接符 3"/>
            <p:cNvCxnSpPr/>
            <p:nvPr/>
          </p:nvCxnSpPr>
          <p:spPr>
            <a:xfrm>
              <a:off x="1331640" y="1366505"/>
              <a:ext cx="0" cy="359159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593924" y="1228005"/>
                  <a:ext cx="6917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𝐶𝑙𝑖𝑒𝑛𝑡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924" y="1228005"/>
                  <a:ext cx="691728" cy="27699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/>
          <p:cNvGrpSpPr/>
          <p:nvPr/>
        </p:nvGrpSpPr>
        <p:grpSpPr>
          <a:xfrm>
            <a:off x="1625948" y="2664156"/>
            <a:ext cx="1548890" cy="2604651"/>
            <a:chOff x="1813824" y="1211004"/>
            <a:chExt cx="1354794" cy="3747091"/>
          </a:xfrm>
        </p:grpSpPr>
        <p:cxnSp>
          <p:nvCxnSpPr>
            <p:cNvPr id="25" name="直线连接符 24"/>
            <p:cNvCxnSpPr/>
            <p:nvPr/>
          </p:nvCxnSpPr>
          <p:spPr>
            <a:xfrm>
              <a:off x="3168618" y="1366505"/>
              <a:ext cx="0" cy="359159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813824" y="1211004"/>
                  <a:ext cx="13547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𝐶𝑜𝑜𝑟𝑑𝑖𝑎𝑛𝑡𝑜𝑟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824" y="1211004"/>
                  <a:ext cx="1354794" cy="27699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/>
        </p:nvGrpSpPr>
        <p:grpSpPr>
          <a:xfrm>
            <a:off x="5473678" y="1514242"/>
            <a:ext cx="812723" cy="3737564"/>
            <a:chOff x="518917" y="1220531"/>
            <a:chExt cx="812723" cy="3737564"/>
          </a:xfrm>
        </p:grpSpPr>
        <p:cxnSp>
          <p:nvCxnSpPr>
            <p:cNvPr id="29" name="直线连接符 28"/>
            <p:cNvCxnSpPr/>
            <p:nvPr/>
          </p:nvCxnSpPr>
          <p:spPr>
            <a:xfrm>
              <a:off x="1331640" y="1366505"/>
              <a:ext cx="0" cy="359159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518917" y="1220531"/>
                  <a:ext cx="8127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𝑆ℎ𝑎𝑟𝑑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17" y="1220531"/>
                  <a:ext cx="812723" cy="27699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/>
        </p:nvGrpSpPr>
        <p:grpSpPr>
          <a:xfrm>
            <a:off x="7029459" y="1514241"/>
            <a:ext cx="812723" cy="3737926"/>
            <a:chOff x="542520" y="1220169"/>
            <a:chExt cx="812723" cy="3737926"/>
          </a:xfrm>
        </p:grpSpPr>
        <p:cxnSp>
          <p:nvCxnSpPr>
            <p:cNvPr id="32" name="直线连接符 31"/>
            <p:cNvCxnSpPr/>
            <p:nvPr/>
          </p:nvCxnSpPr>
          <p:spPr>
            <a:xfrm>
              <a:off x="1331640" y="1366505"/>
              <a:ext cx="0" cy="359159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542520" y="1220169"/>
                  <a:ext cx="8127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𝑆ℎ𝑎𝑟𝑑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520" y="1220169"/>
                  <a:ext cx="812723" cy="27699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直线箭头连接符 22"/>
          <p:cNvCxnSpPr/>
          <p:nvPr/>
        </p:nvCxnSpPr>
        <p:spPr>
          <a:xfrm>
            <a:off x="1337860" y="1702206"/>
            <a:ext cx="4966659" cy="24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/>
          <p:nvPr/>
        </p:nvCxnSpPr>
        <p:spPr>
          <a:xfrm>
            <a:off x="1337860" y="2099748"/>
            <a:ext cx="6480719" cy="27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2805932" y="1615647"/>
                <a:ext cx="79495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𝑟𝑒𝑎𝑑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932" y="1615647"/>
                <a:ext cx="794951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63" t="-67" r="5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54472" y="2037374"/>
                <a:ext cx="79495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𝑟𝑒𝑎𝑑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472" y="2037374"/>
                <a:ext cx="794951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6" t="-96" r="7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线箭头连接符 49"/>
          <p:cNvCxnSpPr/>
          <p:nvPr/>
        </p:nvCxnSpPr>
        <p:spPr>
          <a:xfrm flipH="1">
            <a:off x="1337860" y="1962864"/>
            <a:ext cx="4924939" cy="624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/>
          <p:nvPr/>
        </p:nvCxnSpPr>
        <p:spPr>
          <a:xfrm flipH="1">
            <a:off x="1337859" y="2389055"/>
            <a:ext cx="6433514" cy="2147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形标注 55"/>
          <p:cNvSpPr/>
          <p:nvPr/>
        </p:nvSpPr>
        <p:spPr>
          <a:xfrm rot="16200000">
            <a:off x="-3831" y="1970569"/>
            <a:ext cx="1207697" cy="1187592"/>
          </a:xfrm>
          <a:prstGeom prst="wedgeEllipseCallout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-18692" y="2176513"/>
                <a:ext cx="14756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b="0" i="1" dirty="0">
                    <a:latin typeface="Cambria Math" panose="02040503050406030204" pitchFamily="18" charset="0"/>
                  </a:rPr>
                  <a:t>Client Buffer:</a:t>
                </a:r>
                <a:endParaRPr kumimoji="1" lang="en-US" altLang="zh-CN" sz="1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zh-CN" sz="1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1400" b="0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kumimoji="1" lang="en-US" altLang="zh-CN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92" y="2176513"/>
                <a:ext cx="1475688" cy="738664"/>
              </a:xfrm>
              <a:prstGeom prst="rect">
                <a:avLst/>
              </a:prstGeom>
              <a:blipFill rotWithShape="1">
                <a:blip r:embed="rId7"/>
                <a:stretch>
                  <a:fillRect l="19" t="-50" r="21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线箭头连接符 58"/>
          <p:cNvCxnSpPr/>
          <p:nvPr/>
        </p:nvCxnSpPr>
        <p:spPr>
          <a:xfrm>
            <a:off x="1349661" y="3015812"/>
            <a:ext cx="18251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/>
          <p:nvPr/>
        </p:nvCxnSpPr>
        <p:spPr>
          <a:xfrm>
            <a:off x="3186639" y="3017186"/>
            <a:ext cx="3099762" cy="376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/>
          <p:nvPr/>
        </p:nvCxnSpPr>
        <p:spPr>
          <a:xfrm>
            <a:off x="3181270" y="3331413"/>
            <a:ext cx="4660912" cy="380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3173139" y="4121394"/>
            <a:ext cx="3098302" cy="264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/>
          <p:nvPr/>
        </p:nvCxnSpPr>
        <p:spPr>
          <a:xfrm>
            <a:off x="3181270" y="4451191"/>
            <a:ext cx="4637309" cy="387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/>
            </p:nvSpPr>
            <p:spPr>
              <a:xfrm>
                <a:off x="4333143" y="2985219"/>
                <a:ext cx="794951" cy="3084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𝑝𝑒𝑟𝑝𝑎𝑟𝑒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143" y="2985219"/>
                <a:ext cx="794951" cy="308482"/>
              </a:xfrm>
              <a:prstGeom prst="rect">
                <a:avLst/>
              </a:prstGeom>
              <a:blipFill rotWithShape="1">
                <a:blip r:embed="rId8"/>
                <a:stretch>
                  <a:fillRect l="-68" t="-27" r="59" b="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/>
              <p:cNvSpPr txBox="1"/>
              <p:nvPr/>
            </p:nvSpPr>
            <p:spPr>
              <a:xfrm>
                <a:off x="5367678" y="3487309"/>
                <a:ext cx="794951" cy="3084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𝑝𝑒𝑟𝑝𝑎𝑟𝑒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678" y="3487309"/>
                <a:ext cx="794951" cy="308482"/>
              </a:xfrm>
              <a:prstGeom prst="rect">
                <a:avLst/>
              </a:prstGeom>
              <a:blipFill rotWithShape="1">
                <a:blip r:embed="rId8"/>
                <a:stretch>
                  <a:fillRect l="-3" t="-170" r="74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6227331" y="3195721"/>
                <a:ext cx="794951" cy="308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𝑝𝑒𝑟𝑝𝑎𝑟𝑒𝑑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331" y="3195721"/>
                <a:ext cx="794951" cy="308482"/>
              </a:xfrm>
              <a:prstGeom prst="rect">
                <a:avLst/>
              </a:prstGeom>
              <a:blipFill rotWithShape="1">
                <a:blip r:embed="rId9"/>
                <a:stretch>
                  <a:fillRect l="-66" t="-130" r="-5215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/>
              <p:cNvSpPr txBox="1"/>
              <p:nvPr/>
            </p:nvSpPr>
            <p:spPr>
              <a:xfrm>
                <a:off x="7781730" y="3545216"/>
                <a:ext cx="794951" cy="308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𝑝𝑒𝑟𝑝𝑎𝑟𝑒𝑑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730" y="3545216"/>
                <a:ext cx="794951" cy="308482"/>
              </a:xfrm>
              <a:prstGeom prst="rect">
                <a:avLst/>
              </a:prstGeom>
              <a:blipFill rotWithShape="1">
                <a:blip r:embed="rId9"/>
                <a:stretch>
                  <a:fillRect l="-55" t="-4" r="-5225" b="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线箭头连接符 76"/>
          <p:cNvCxnSpPr/>
          <p:nvPr/>
        </p:nvCxnSpPr>
        <p:spPr>
          <a:xfrm flipV="1">
            <a:off x="3174837" y="3415211"/>
            <a:ext cx="3087962" cy="171412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/>
              <p:cNvSpPr txBox="1"/>
              <p:nvPr/>
            </p:nvSpPr>
            <p:spPr>
              <a:xfrm>
                <a:off x="4449172" y="4084916"/>
                <a:ext cx="794951" cy="3084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𝑐𝑜𝑚𝑚𝑖𝑡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172" y="4084916"/>
                <a:ext cx="794951" cy="308482"/>
              </a:xfrm>
              <a:prstGeom prst="rect">
                <a:avLst/>
              </a:prstGeom>
              <a:blipFill rotWithShape="1">
                <a:blip r:embed="rId10"/>
                <a:stretch>
                  <a:fillRect l="-46" t="-193" r="37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线箭头连接符 94"/>
          <p:cNvCxnSpPr>
            <a:endCxn id="76" idx="1"/>
          </p:cNvCxnSpPr>
          <p:nvPr/>
        </p:nvCxnSpPr>
        <p:spPr>
          <a:xfrm flipV="1">
            <a:off x="3172908" y="3699457"/>
            <a:ext cx="4608822" cy="37419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5122837" y="4478327"/>
                <a:ext cx="794951" cy="3084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𝑐𝑜𝑚𝑚𝑖𝑡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837" y="4478327"/>
                <a:ext cx="794951" cy="308482"/>
              </a:xfrm>
              <a:prstGeom prst="rect">
                <a:avLst/>
              </a:prstGeom>
              <a:blipFill rotWithShape="1">
                <a:blip r:embed="rId10"/>
                <a:stretch>
                  <a:fillRect l="-37" t="-100" r="2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线箭头连接符 97"/>
          <p:cNvCxnSpPr/>
          <p:nvPr/>
        </p:nvCxnSpPr>
        <p:spPr>
          <a:xfrm flipV="1">
            <a:off x="3168904" y="4399753"/>
            <a:ext cx="3117495" cy="28371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线箭头连接符 99"/>
          <p:cNvCxnSpPr/>
          <p:nvPr/>
        </p:nvCxnSpPr>
        <p:spPr>
          <a:xfrm flipV="1">
            <a:off x="3151236" y="4860786"/>
            <a:ext cx="4650551" cy="376575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/>
              <p:cNvSpPr txBox="1"/>
              <p:nvPr/>
            </p:nvSpPr>
            <p:spPr>
              <a:xfrm>
                <a:off x="6229480" y="4198117"/>
                <a:ext cx="794951" cy="308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𝑎𝑝𝑝𝑙𝑖𝑒𝑑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102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80" y="4198117"/>
                <a:ext cx="794951" cy="308482"/>
              </a:xfrm>
              <a:prstGeom prst="rect">
                <a:avLst/>
              </a:prstGeom>
              <a:blipFill rotWithShape="1">
                <a:blip r:embed="rId11"/>
                <a:stretch>
                  <a:fillRect l="-16" t="-43" r="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7760751" y="4673998"/>
                <a:ext cx="794951" cy="308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𝑎𝑝𝑝𝑙𝑖𝑒𝑑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51" y="4673998"/>
                <a:ext cx="794951" cy="308482"/>
              </a:xfrm>
              <a:prstGeom prst="rect">
                <a:avLst/>
              </a:prstGeom>
              <a:blipFill rotWithShape="1">
                <a:blip r:embed="rId11"/>
                <a:stretch>
                  <a:fillRect l="-52" t="-129" r="4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20264" y="1154932"/>
                <a:ext cx="2777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𝑷𝑳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𝑷𝑪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𝑷𝒂𝒙𝒐𝒔</m:t>
                      </m:r>
                    </m:oMath>
                  </m:oMathPara>
                </a14:m>
                <a:endParaRPr kumimoji="1"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264" y="1154932"/>
                <a:ext cx="2777525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8" t="-136" r="20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4" name="椭圆 43"/>
          <p:cNvSpPr/>
          <p:nvPr/>
        </p:nvSpPr>
        <p:spPr>
          <a:xfrm>
            <a:off x="5920873" y="132800"/>
            <a:ext cx="3032323" cy="1018086"/>
          </a:xfrm>
          <a:prstGeom prst="ellipse">
            <a:avLst/>
          </a:prstGeom>
          <a:gradFill flip="none" rotWithShape="1">
            <a:gsLst>
              <a:gs pos="0">
                <a:srgbClr val="BE384B"/>
              </a:gs>
              <a:gs pos="70000">
                <a:srgbClr val="C00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9788" y="344443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思源宋体 CN Heavy"/>
                <a:cs typeface="+mn-cs"/>
              </a:rPr>
              <a:t>Multiple physical nodes 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思源宋体 CN Heavy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思源宋体 CN Heavy"/>
                <a:cs typeface="+mn-cs"/>
              </a:rPr>
              <a:t>backed by PAXOS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思源宋体 CN Heavy"/>
              <a:cs typeface="+mn-cs"/>
            </a:endParaRPr>
          </a:p>
        </p:txBody>
      </p:sp>
      <p:sp>
        <p:nvSpPr>
          <p:cNvPr id="7" name="任意形状 6"/>
          <p:cNvSpPr/>
          <p:nvPr/>
        </p:nvSpPr>
        <p:spPr>
          <a:xfrm>
            <a:off x="7608277" y="1148862"/>
            <a:ext cx="128954" cy="386861"/>
          </a:xfrm>
          <a:custGeom>
            <a:avLst/>
            <a:gdLst>
              <a:gd name="connsiteX0" fmla="*/ 0 w 128954"/>
              <a:gd name="connsiteY0" fmla="*/ 386861 h 386861"/>
              <a:gd name="connsiteX1" fmla="*/ 128954 w 128954"/>
              <a:gd name="connsiteY1" fmla="*/ 0 h 386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954" h="386861">
                <a:moveTo>
                  <a:pt x="0" y="386861"/>
                </a:moveTo>
                <a:lnTo>
                  <a:pt x="128954" y="0"/>
                </a:ln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Rectangle 13"/>
          <p:cNvSpPr/>
          <p:nvPr/>
        </p:nvSpPr>
        <p:spPr>
          <a:xfrm>
            <a:off x="1763101" y="5258161"/>
            <a:ext cx="5657329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b="1" dirty="0">
                <a:solidFill>
                  <a:srgbClr val="BE384B"/>
                </a:solidFill>
              </a:rPr>
              <a:t>Note: we skip the network RTTs of </a:t>
            </a:r>
            <a:r>
              <a:rPr lang="en-GB" altLang="zh-CN" b="1" dirty="0" err="1">
                <a:solidFill>
                  <a:srgbClr val="BE384B"/>
                </a:solidFill>
              </a:rPr>
              <a:t>Paxos</a:t>
            </a:r>
            <a:r>
              <a:rPr lang="en-GB" altLang="zh-CN" b="1" dirty="0">
                <a:solidFill>
                  <a:srgbClr val="BE384B"/>
                </a:solidFill>
              </a:rPr>
              <a:t> 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Read-write TX: put it together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807692"/>
          </a:xfrm>
        </p:spPr>
        <p:txBody>
          <a:bodyPr/>
          <a:lstStyle/>
          <a:p>
            <a:r>
              <a:rPr kumimoji="1" lang="en-US" altLang="zh-CN" dirty="0"/>
              <a:t>Spanner’s read-write TX gives a strong abstraction to the user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single-thread “machine” that never fails (even tolerate natural disasters)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“machine” has “unlimited” storage capacity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As long as the machines in the datacenters have enough capacity to store the data </a:t>
            </a:r>
            <a:endParaRPr kumimoji="1" lang="en-US" altLang="zh-CN" sz="1800" dirty="0"/>
          </a:p>
          <a:p>
            <a:r>
              <a:rPr kumimoji="1" lang="en-US" altLang="zh-CN" dirty="0"/>
              <a:t>But, what are the costs?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275856" y="3720631"/>
            <a:ext cx="2952328" cy="361005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Read-write TX of Spanner so far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Techniques: 2PL &amp; 2PC &amp;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 optimized– Spanner finds writes are infrequent at Google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Maybe slow: many messages sent between machines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Also, across datacenters! 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68542"/>
            <a:ext cx="4297484" cy="2948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7032"/>
          <a:stretch>
            <a:fillRect/>
          </a:stretch>
        </p:blipFill>
        <p:spPr>
          <a:xfrm>
            <a:off x="141710" y="3401744"/>
            <a:ext cx="4430290" cy="1416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-396552" y="503591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GB" altLang="zh-CN" dirty="0"/>
              <a:t>Source: https://colin-</a:t>
            </a:r>
            <a:r>
              <a:rPr kumimoji="1" lang="en-GB" altLang="zh-CN" dirty="0" err="1"/>
              <a:t>scott.github.io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personal_website</a:t>
            </a:r>
            <a:r>
              <a:rPr kumimoji="1" lang="en-GB" altLang="zh-CN" dirty="0"/>
              <a:t>/research/</a:t>
            </a:r>
            <a:r>
              <a:rPr kumimoji="1" lang="en-GB" altLang="zh-CN" dirty="0" err="1"/>
              <a:t>interactive_latency.html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about read-only TX?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75252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Problem: read-only TXs are massive faced by Google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read-only TX may touch many datasets</a:t>
            </a:r>
            <a:endParaRPr kumimoji="1" lang="en-US" altLang="zh-CN" dirty="0"/>
          </a:p>
          <a:p>
            <a:r>
              <a:rPr kumimoji="1" lang="en-US" altLang="zh-CN" dirty="0"/>
              <a:t>Drawbacks of 2PL (in read-only TX)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Acquire the read lock is costly (need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!)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May possibly lock the items very long </a:t>
            </a:r>
            <a:endParaRPr kumimoji="1" lang="en-US" altLang="zh-CN" dirty="0"/>
          </a:p>
          <a:p>
            <a:r>
              <a:rPr kumimoji="1" lang="en-US" altLang="zh-CN" dirty="0"/>
              <a:t>Solution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Multi-version concurrency control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046" y="1677579"/>
            <a:ext cx="3076114" cy="2112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Review: Multi-version Concurrency Control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Each data item has </a:t>
            </a:r>
            <a:r>
              <a:rPr kumimoji="1" lang="en-GB" altLang="zh-CN" dirty="0">
                <a:solidFill>
                  <a:srgbClr val="C00000"/>
                </a:solidFill>
              </a:rPr>
              <a:t>multiple</a:t>
            </a:r>
            <a:r>
              <a:rPr kumimoji="1" lang="en-GB" altLang="zh-CN" dirty="0"/>
              <a:t> versions</a:t>
            </a:r>
            <a:endParaRPr kumimoji="1" lang="en-GB" altLang="zh-CN" dirty="0"/>
          </a:p>
          <a:p>
            <a:pPr lvl="1"/>
            <a:r>
              <a:rPr kumimoji="1" lang="en-US" altLang="zh-CN" dirty="0"/>
              <a:t>When accessing different versions of data, probably no conflict!</a:t>
            </a:r>
            <a:endParaRPr kumimoji="1" lang="en-US" altLang="zh-CN" dirty="0"/>
          </a:p>
          <a:p>
            <a:r>
              <a:rPr kumimoji="1" lang="en-US" altLang="zh-CN" dirty="0"/>
              <a:t>Key (high-level) idea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Writes </a:t>
            </a:r>
            <a:r>
              <a:rPr kumimoji="1" lang="en-US" altLang="zh-CN" b="1" dirty="0">
                <a:solidFill>
                  <a:srgbClr val="C00000"/>
                </a:solidFill>
              </a:rPr>
              <a:t>don’t overwrite </a:t>
            </a:r>
            <a:r>
              <a:rPr kumimoji="1" lang="en-US" altLang="zh-CN" dirty="0"/>
              <a:t>the original data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Instead, writes </a:t>
            </a:r>
            <a:r>
              <a:rPr kumimoji="1" lang="en-US" altLang="zh-CN" b="1" dirty="0">
                <a:solidFill>
                  <a:srgbClr val="C00000"/>
                </a:solidFill>
              </a:rPr>
              <a:t>install new versions </a:t>
            </a:r>
            <a:r>
              <a:rPr kumimoji="1" lang="en-US" altLang="zh-CN" dirty="0"/>
              <a:t>of data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Reads read from a "</a:t>
            </a:r>
            <a:r>
              <a:rPr kumimoji="1" lang="en-US" altLang="zh-CN" b="1" dirty="0">
                <a:solidFill>
                  <a:schemeClr val="accent1"/>
                </a:solidFill>
              </a:rPr>
              <a:t>snapshot</a:t>
            </a:r>
            <a:r>
              <a:rPr kumimoji="1" lang="en-US" altLang="zh-CN" dirty="0"/>
              <a:t>" of data </a:t>
            </a:r>
            <a:endParaRPr kumimoji="1" lang="en-US" altLang="zh-CN" dirty="0"/>
          </a:p>
          <a:p>
            <a:r>
              <a:rPr kumimoji="1" lang="en-US" altLang="zh-CN" dirty="0"/>
              <a:t>Benefits: no lock or validation during TX’s execution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768" y="4225652"/>
            <a:ext cx="792088" cy="7920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矩形 5"/>
          <p:cNvSpPr/>
          <p:nvPr/>
        </p:nvSpPr>
        <p:spPr>
          <a:xfrm>
            <a:off x="2555776" y="4629761"/>
            <a:ext cx="648072" cy="188804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0587" y="4560344"/>
            <a:ext cx="1404409" cy="312190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07800" y="4513684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bankA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 100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2324996" y="4547001"/>
            <a:ext cx="230780" cy="827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 flipV="1">
            <a:off x="2358838" y="4818565"/>
            <a:ext cx="196938" cy="4978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"/>
          <p:cNvSpPr/>
          <p:nvPr/>
        </p:nvSpPr>
        <p:spPr>
          <a:xfrm>
            <a:off x="1068327" y="5277033"/>
            <a:ext cx="2023198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Single-version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944" y="4233527"/>
            <a:ext cx="792088" cy="7920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4139952" y="4580201"/>
            <a:ext cx="648072" cy="143962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026110" y="4354831"/>
            <a:ext cx="3603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bankA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 100, </a:t>
            </a:r>
            <a:r>
              <a:rPr kumimoji="1"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 12, </a:t>
            </a:r>
            <a:r>
              <a:rPr kumimoji="1"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pre: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xx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26110" y="4393807"/>
            <a:ext cx="3673478" cy="312190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5013322" y="4883016"/>
            <a:ext cx="3673478" cy="369332"/>
            <a:chOff x="5117028" y="5150014"/>
            <a:chExt cx="3673478" cy="369332"/>
          </a:xfrm>
        </p:grpSpPr>
        <p:sp>
          <p:nvSpPr>
            <p:cNvPr id="24" name="矩形 23"/>
            <p:cNvSpPr/>
            <p:nvPr/>
          </p:nvSpPr>
          <p:spPr>
            <a:xfrm>
              <a:off x="5151831" y="5150014"/>
              <a:ext cx="36038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bankA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: 200, </a:t>
              </a:r>
              <a:r>
                <a:rPr kumimoji="1" lang="en-US" altLang="zh-CN" b="1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ver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: 10, </a:t>
              </a:r>
              <a:r>
                <a:rPr kumimoji="1" lang="en-US" altLang="zh-CN" b="1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pre:</a:t>
              </a:r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xx</a:t>
              </a:r>
              <a:endParaRPr lang="zh-CN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117028" y="5196588"/>
              <a:ext cx="3673478" cy="3121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4139952" y="4845372"/>
            <a:ext cx="648072" cy="143962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直线连接符 28"/>
          <p:cNvCxnSpPr/>
          <p:nvPr/>
        </p:nvCxnSpPr>
        <p:spPr>
          <a:xfrm flipH="1">
            <a:off x="4786433" y="4383239"/>
            <a:ext cx="239677" cy="2075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/>
          <p:cNvCxnSpPr/>
          <p:nvPr/>
        </p:nvCxnSpPr>
        <p:spPr>
          <a:xfrm flipH="1">
            <a:off x="4786433" y="4719509"/>
            <a:ext cx="261692" cy="1269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 flipH="1" flipV="1">
            <a:off x="4788650" y="4855711"/>
            <a:ext cx="211884" cy="894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 flipH="1" flipV="1">
            <a:off x="4788650" y="4996257"/>
            <a:ext cx="224672" cy="2263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任意形状 39"/>
          <p:cNvSpPr/>
          <p:nvPr/>
        </p:nvSpPr>
        <p:spPr>
          <a:xfrm>
            <a:off x="3628746" y="4053098"/>
            <a:ext cx="4937556" cy="873232"/>
          </a:xfrm>
          <a:custGeom>
            <a:avLst/>
            <a:gdLst>
              <a:gd name="connsiteX0" fmla="*/ 4749444 w 4937556"/>
              <a:gd name="connsiteY0" fmla="*/ 427462 h 873232"/>
              <a:gd name="connsiteX1" fmla="*/ 4738014 w 4937556"/>
              <a:gd name="connsiteY1" fmla="*/ 107422 h 873232"/>
              <a:gd name="connsiteX2" fmla="*/ 2703474 w 4937556"/>
              <a:gd name="connsiteY2" fmla="*/ 95992 h 873232"/>
              <a:gd name="connsiteX3" fmla="*/ 1389024 w 4937556"/>
              <a:gd name="connsiteY3" fmla="*/ 153142 h 873232"/>
              <a:gd name="connsiteX4" fmla="*/ 97434 w 4937556"/>
              <a:gd name="connsiteY4" fmla="*/ 15982 h 873232"/>
              <a:gd name="connsiteX5" fmla="*/ 131724 w 4937556"/>
              <a:gd name="connsiteY5" fmla="*/ 587482 h 873232"/>
              <a:gd name="connsiteX6" fmla="*/ 451764 w 4937556"/>
              <a:gd name="connsiteY6" fmla="*/ 873232 h 873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37556" h="873232">
                <a:moveTo>
                  <a:pt x="4749444" y="427462"/>
                </a:moveTo>
                <a:cubicBezTo>
                  <a:pt x="4914226" y="295064"/>
                  <a:pt x="5079009" y="162667"/>
                  <a:pt x="4738014" y="107422"/>
                </a:cubicBezTo>
                <a:cubicBezTo>
                  <a:pt x="4397019" y="52177"/>
                  <a:pt x="3261639" y="88372"/>
                  <a:pt x="2703474" y="95992"/>
                </a:cubicBezTo>
                <a:cubicBezTo>
                  <a:pt x="2145309" y="103612"/>
                  <a:pt x="1823364" y="166477"/>
                  <a:pt x="1389024" y="153142"/>
                </a:cubicBezTo>
                <a:cubicBezTo>
                  <a:pt x="954684" y="139807"/>
                  <a:pt x="306984" y="-56408"/>
                  <a:pt x="97434" y="15982"/>
                </a:cubicBezTo>
                <a:cubicBezTo>
                  <a:pt x="-112116" y="88372"/>
                  <a:pt x="72669" y="444607"/>
                  <a:pt x="131724" y="587482"/>
                </a:cubicBezTo>
                <a:cubicBezTo>
                  <a:pt x="190779" y="730357"/>
                  <a:pt x="321271" y="801794"/>
                  <a:pt x="451764" y="873232"/>
                </a:cubicBezTo>
              </a:path>
            </a:pathLst>
          </a:custGeom>
          <a:noFill/>
          <a:ln w="63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Rectangle 4"/>
          <p:cNvSpPr/>
          <p:nvPr/>
        </p:nvSpPr>
        <p:spPr>
          <a:xfrm>
            <a:off x="4139952" y="5296962"/>
            <a:ext cx="2023198" cy="344128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36000">
            <a:spAutoFit/>
          </a:bodyPr>
          <a:lstStyle/>
          <a:p>
            <a:pPr marL="441325" lvl="0" indent="-384175" algn="ctr" fontAlgn="auto"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</a:pPr>
            <a:r>
              <a:rPr lang="en-US" altLang="zh-CN" sz="2000" dirty="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Multi-version</a:t>
            </a:r>
            <a:endParaRPr lang="en-US" altLang="zh-CN" sz="2000" dirty="0">
              <a:solidFill>
                <a:prstClr val="black"/>
              </a:solidFill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5" name="直线连接符 44"/>
          <p:cNvCxnSpPr/>
          <p:nvPr/>
        </p:nvCxnSpPr>
        <p:spPr>
          <a:xfrm>
            <a:off x="3491880" y="4063304"/>
            <a:ext cx="0" cy="2044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Review: Snapshot Isolation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r>
              <a:rPr kumimoji="1" lang="en-GB" altLang="zh-CN" dirty="0"/>
              <a:t>A popular multi-version concurrency control (MVCC) scheme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Transactions will get </a:t>
            </a:r>
            <a:r>
              <a:rPr kumimoji="1" lang="en-GB" altLang="zh-CN" dirty="0">
                <a:highlight>
                  <a:srgbClr val="FFFF00"/>
                </a:highlight>
              </a:rPr>
              <a:t>start</a:t>
            </a:r>
            <a:r>
              <a:rPr kumimoji="1" lang="en-GB" altLang="zh-CN" dirty="0"/>
              <a:t> and </a:t>
            </a:r>
            <a:r>
              <a:rPr kumimoji="1" lang="en-GB" altLang="zh-CN" dirty="0">
                <a:highlight>
                  <a:srgbClr val="FFFF00"/>
                </a:highlight>
              </a:rPr>
              <a:t>commit</a:t>
            </a:r>
            <a:r>
              <a:rPr kumimoji="1" lang="en-GB" altLang="zh-CN" dirty="0"/>
              <a:t> timestamp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Use start timestamp to find the snapshot to read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Use commit timestamp to install new versions </a:t>
            </a:r>
            <a:endParaRPr kumimoji="1" lang="en-GB" altLang="zh-CN" dirty="0"/>
          </a:p>
          <a:p>
            <a:r>
              <a:rPr kumimoji="1" lang="en-GB" altLang="zh-CN" dirty="0"/>
              <a:t>Transactions:</a:t>
            </a:r>
            <a:endParaRPr kumimoji="1" lang="en-GB" altLang="zh-CN" dirty="0"/>
          </a:p>
          <a:p>
            <a:pPr lvl="1"/>
            <a:r>
              <a:rPr kumimoji="1" lang="en-GB" altLang="zh-CN" b="1" dirty="0">
                <a:solidFill>
                  <a:srgbClr val="C00000"/>
                </a:solidFill>
              </a:rPr>
              <a:t>WRITEs</a:t>
            </a:r>
            <a:r>
              <a:rPr kumimoji="1" lang="en-GB" altLang="zh-CN" dirty="0"/>
              <a:t> a local </a:t>
            </a:r>
            <a:r>
              <a:rPr kumimoji="1" lang="en-GB" altLang="zh-CN" b="1" dirty="0">
                <a:solidFill>
                  <a:srgbClr val="C00000"/>
                </a:solidFill>
              </a:rPr>
              <a:t>buffer</a:t>
            </a:r>
            <a:r>
              <a:rPr kumimoji="1" lang="en-GB" altLang="zh-CN" dirty="0"/>
              <a:t> (similar to OCC)</a:t>
            </a:r>
            <a:endParaRPr kumimoji="1" lang="en-GB" altLang="zh-CN" dirty="0"/>
          </a:p>
          <a:p>
            <a:pPr lvl="1"/>
            <a:r>
              <a:rPr kumimoji="1" lang="en-GB" altLang="zh-CN" b="1" dirty="0">
                <a:solidFill>
                  <a:srgbClr val="C00000"/>
                </a:solidFill>
              </a:rPr>
              <a:t>READs</a:t>
            </a:r>
            <a:r>
              <a:rPr kumimoji="1" lang="en-GB" altLang="zh-CN" dirty="0"/>
              <a:t> a “</a:t>
            </a:r>
            <a:r>
              <a:rPr kumimoji="1" lang="en-GB" altLang="zh-CN" b="1" dirty="0">
                <a:solidFill>
                  <a:srgbClr val="C00000"/>
                </a:solidFill>
              </a:rPr>
              <a:t>snapshot</a:t>
            </a:r>
            <a:r>
              <a:rPr kumimoji="1" lang="en-GB" altLang="zh-CN" dirty="0"/>
              <a:t>” of entire data image</a:t>
            </a:r>
            <a:endParaRPr kumimoji="1" lang="en-GB" altLang="zh-CN" dirty="0"/>
          </a:p>
          <a:p>
            <a:pPr lvl="1"/>
            <a:r>
              <a:rPr kumimoji="1" lang="en-GB" altLang="zh-CN" b="1" dirty="0">
                <a:solidFill>
                  <a:srgbClr val="C00000"/>
                </a:solidFill>
              </a:rPr>
              <a:t>COMMIT</a:t>
            </a:r>
            <a:r>
              <a:rPr kumimoji="1" lang="en-GB" altLang="zh-CN" dirty="0"/>
              <a:t> only if no </a:t>
            </a:r>
            <a:r>
              <a:rPr kumimoji="1" lang="en-GB" altLang="zh-CN" b="1" dirty="0">
                <a:solidFill>
                  <a:srgbClr val="C00000"/>
                </a:solidFill>
              </a:rPr>
              <a:t>write-write</a:t>
            </a:r>
            <a:r>
              <a:rPr kumimoji="1" lang="en-GB" altLang="zh-CN" dirty="0"/>
              <a:t> conflict</a:t>
            </a:r>
            <a:endParaRPr kumimoji="1" lang="en-GB" altLang="zh-CN" dirty="0"/>
          </a:p>
          <a:p>
            <a:pPr lvl="2"/>
            <a:r>
              <a:rPr kumimoji="1" lang="en-GB" altLang="zh-CN" sz="1800" dirty="0"/>
              <a:t>Install new versions of data</a:t>
            </a:r>
            <a:endParaRPr kumimoji="1" lang="en-GB" altLang="zh-CN" sz="1800" dirty="0"/>
          </a:p>
          <a:p>
            <a:r>
              <a:rPr kumimoji="1" lang="en-GB" altLang="zh-CN" dirty="0"/>
              <a:t>Drawback: no serializability guarantee !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Idea: use 2PL for read-write TX, MVCC for read-only TX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Still use 2PL for read-write TX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execution of TXs is always serializable! </a:t>
            </a:r>
            <a:endParaRPr kumimoji="1" lang="en-US" altLang="zh-CN" dirty="0"/>
          </a:p>
          <a:p>
            <a:pPr indent="-285750"/>
            <a:r>
              <a:rPr kumimoji="1" lang="en-US" altLang="zh-CN" dirty="0"/>
              <a:t>Use MVCC to execute the read-only TX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Read-only TX no-longer to acquire locks for the execution </a:t>
            </a:r>
            <a:endParaRPr kumimoji="1" lang="en-US" altLang="zh-CN" dirty="0"/>
          </a:p>
          <a:p>
            <a:r>
              <a:rPr kumimoji="1" lang="en-US" altLang="zh-CN" dirty="0"/>
              <a:t>Note that similar technique also applies to OCC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we can use OCC for read-write TX, and MVCC for read-only TX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Out of the scope of this course </a:t>
            </a:r>
            <a:endParaRPr kumimoji="1"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MV-2PL: read-write TX (w/o 2PC &amp; 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 for simplicity)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Straight Connector 36"/>
          <p:cNvCxnSpPr>
            <a:stCxn id="12" idx="3"/>
            <a:endCxn id="9" idx="1"/>
          </p:cNvCxnSpPr>
          <p:nvPr/>
        </p:nvCxnSpPr>
        <p:spPr>
          <a:xfrm>
            <a:off x="2595000" y="3266849"/>
            <a:ext cx="343000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5"/>
          <p:cNvSpPr/>
          <p:nvPr/>
        </p:nvSpPr>
        <p:spPr>
          <a:xfrm>
            <a:off x="2857500" y="3131849"/>
            <a:ext cx="99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READ(X)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19"/>
          <p:cNvCxnSpPr/>
          <p:nvPr/>
        </p:nvCxnSpPr>
        <p:spPr>
          <a:xfrm>
            <a:off x="1460500" y="3496208"/>
            <a:ext cx="6300000" cy="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0"/>
          <p:cNvSpPr/>
          <p:nvPr/>
        </p:nvSpPr>
        <p:spPr>
          <a:xfrm>
            <a:off x="7172419" y="3133861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9" name="Rectangle 21"/>
          <p:cNvSpPr/>
          <p:nvPr/>
        </p:nvSpPr>
        <p:spPr>
          <a:xfrm>
            <a:off x="6025000" y="3131849"/>
            <a:ext cx="96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COMMIT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22"/>
          <p:cNvSpPr/>
          <p:nvPr/>
        </p:nvSpPr>
        <p:spPr>
          <a:xfrm>
            <a:off x="4822000" y="3131849"/>
            <a:ext cx="102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WRITE(X)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34"/>
          <p:cNvSpPr/>
          <p:nvPr/>
        </p:nvSpPr>
        <p:spPr>
          <a:xfrm>
            <a:off x="1541500" y="3082861"/>
            <a:ext cx="30000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T</a:t>
            </a:r>
            <a:endParaRPr lang="zh-CN" alt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37"/>
          <p:cNvSpPr/>
          <p:nvPr/>
        </p:nvSpPr>
        <p:spPr>
          <a:xfrm>
            <a:off x="1905000" y="3131849"/>
            <a:ext cx="69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START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143000" y="3886806"/>
            <a:ext cx="4127500" cy="522251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>
            <a:defPPr>
              <a:defRPr lang="en-US"/>
            </a:defPPr>
            <a:lvl1pPr>
              <a:defRPr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pPr marL="144145" indent="-144145"/>
            <a:r>
              <a:rPr lang="en-US" altLang="zh-CN" sz="1500" i="0" dirty="0">
                <a:latin typeface="Eras Medium ITC" panose="020B0602030504020804" pitchFamily="34" charset="0"/>
              </a:rPr>
              <a:t>Acquire the read lock on X and then </a:t>
            </a:r>
            <a:endParaRPr lang="en-US" altLang="zh-CN" sz="1500" i="0" dirty="0">
              <a:latin typeface="Eras Medium ITC" panose="020B0602030504020804" pitchFamily="34" charset="0"/>
            </a:endParaRPr>
          </a:p>
          <a:p>
            <a:pPr marL="144145" indent="-144145"/>
            <a:r>
              <a:rPr lang="en-US" altLang="zh-CN" sz="1500" i="0" dirty="0">
                <a:solidFill>
                  <a:srgbClr val="FF0000"/>
                </a:solidFill>
                <a:latin typeface="Eras Medium ITC" panose="020B0602030504020804" pitchFamily="34" charset="0"/>
              </a:rPr>
              <a:t>read</a:t>
            </a:r>
            <a:r>
              <a:rPr lang="zh-CN" altLang="en-US" sz="1500" i="0" dirty="0">
                <a:solidFill>
                  <a:srgbClr val="FF0000"/>
                </a:solidFill>
                <a:latin typeface="Eras Medium ITC" panose="020B0602030504020804" pitchFamily="34" charset="0"/>
              </a:rPr>
              <a:t> </a:t>
            </a:r>
            <a:r>
              <a:rPr lang="en-US" altLang="zh-CN" sz="1500" i="0" dirty="0">
                <a:solidFill>
                  <a:srgbClr val="FF0000"/>
                </a:solidFill>
                <a:latin typeface="Eras Medium ITC" panose="020B0602030504020804" pitchFamily="34" charset="0"/>
              </a:rPr>
              <a:t>the latest </a:t>
            </a:r>
            <a:endParaRPr lang="en-US" altLang="zh-CN" sz="1500" i="0" dirty="0">
              <a:solidFill>
                <a:srgbClr val="FF0000"/>
              </a:solidFill>
              <a:effectLst/>
              <a:latin typeface="Eras Medium ITC" panose="020B0602030504020804" pitchFamily="34" charset="0"/>
            </a:endParaRPr>
          </a:p>
        </p:txBody>
      </p:sp>
      <p:sp>
        <p:nvSpPr>
          <p:cNvPr id="17" name="Right Triangle 41"/>
          <p:cNvSpPr/>
          <p:nvPr/>
        </p:nvSpPr>
        <p:spPr>
          <a:xfrm rot="10800000">
            <a:off x="4957112" y="3886806"/>
            <a:ext cx="313387" cy="270000"/>
          </a:xfrm>
          <a:prstGeom prst="rtTriangl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endParaRPr lang="zh-CN" altLang="en-US" sz="1665"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992501" y="4721361"/>
            <a:ext cx="4008499" cy="291418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>
            <a:defPPr>
              <a:defRPr lang="en-US"/>
            </a:defPPr>
            <a:lvl1pPr>
              <a:defRPr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pPr marL="144145" indent="-144145"/>
            <a:r>
              <a:rPr lang="en-US" altLang="zh-CN" sz="1500" i="0" dirty="0">
                <a:latin typeface="Eras Medium ITC" panose="020B0602030504020804" pitchFamily="34" charset="0"/>
              </a:rPr>
              <a:t>Writes locally </a:t>
            </a:r>
            <a:endParaRPr lang="en-US" altLang="zh-CN" sz="1500" i="0" dirty="0">
              <a:effectLst/>
              <a:latin typeface="Eras Medium ITC" panose="020B0602030504020804" pitchFamily="34" charset="0"/>
            </a:endParaRPr>
          </a:p>
        </p:txBody>
      </p:sp>
      <p:sp>
        <p:nvSpPr>
          <p:cNvPr id="19" name="Right Triangle 43"/>
          <p:cNvSpPr/>
          <p:nvPr/>
        </p:nvSpPr>
        <p:spPr>
          <a:xfrm rot="10800000">
            <a:off x="7687612" y="4721361"/>
            <a:ext cx="313387" cy="270000"/>
          </a:xfrm>
          <a:prstGeom prst="rtTriangl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endParaRPr lang="zh-CN" altLang="en-US" sz="1665"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3549427" y="1540891"/>
            <a:ext cx="4585145" cy="983916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>
            <a:defPPr>
              <a:defRPr lang="en-US"/>
            </a:defPPr>
            <a:lvl1pPr>
              <a:defRPr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pPr marL="144145" indent="-144145"/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Acquire all the write locks, </a:t>
            </a:r>
            <a:r>
              <a:rPr lang="en-US" altLang="zh-CN" sz="1500" b="1" i="0" dirty="0">
                <a:latin typeface="Eras Medium ITC" panose="020B0602030504020804" pitchFamily="34" charset="0"/>
              </a:rPr>
              <a:t>T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 is assigned a commit timestamp </a:t>
            </a:r>
            <a:r>
              <a:rPr lang="en-US" altLang="zh-CN" sz="1500" i="0" dirty="0" err="1">
                <a:solidFill>
                  <a:srgbClr val="FF0066"/>
                </a:solidFill>
                <a:effectLst/>
                <a:latin typeface="Eras Medium ITC" panose="020B0602030504020804" pitchFamily="34" charset="0"/>
              </a:rPr>
              <a:t>T.cts</a:t>
            </a:r>
            <a:endParaRPr lang="en-US" altLang="zh-CN" sz="1500" i="0" dirty="0">
              <a:effectLst/>
              <a:latin typeface="Eras Medium ITC" panose="020B0602030504020804" pitchFamily="34" charset="0"/>
            </a:endParaRPr>
          </a:p>
          <a:p>
            <a:pPr marL="144145" indent="-144145"/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update all data within </a:t>
            </a:r>
            <a:r>
              <a:rPr lang="en-US" altLang="zh-CN" sz="1500" i="0" dirty="0" err="1">
                <a:solidFill>
                  <a:srgbClr val="FF0066"/>
                </a:solidFill>
                <a:effectLst/>
                <a:latin typeface="Eras Medium ITC" panose="020B0602030504020804" pitchFamily="34" charset="0"/>
              </a:rPr>
              <a:t>T.wset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 with </a:t>
            </a:r>
            <a:r>
              <a:rPr lang="en-US" altLang="zh-CN" sz="1500" i="0" dirty="0" err="1">
                <a:solidFill>
                  <a:srgbClr val="FF0066"/>
                </a:solidFill>
                <a:effectLst/>
                <a:latin typeface="Eras Medium ITC" panose="020B0602030504020804" pitchFamily="34" charset="0"/>
              </a:rPr>
              <a:t>T.cts</a:t>
            </a:r>
            <a:endParaRPr lang="en-US" altLang="zh-CN" sz="1500" i="0" dirty="0">
              <a:solidFill>
                <a:srgbClr val="FF0066"/>
              </a:solidFill>
              <a:effectLst/>
              <a:latin typeface="Eras Medium ITC" panose="020B0602030504020804" pitchFamily="34" charset="0"/>
            </a:endParaRPr>
          </a:p>
          <a:p>
            <a:pPr marL="144145" indent="-144145"/>
            <a:r>
              <a:rPr lang="en-US" altLang="zh-CN" sz="1500" b="1" i="0" dirty="0">
                <a:effectLst/>
                <a:latin typeface="Eras Medium ITC" panose="020B0602030504020804" pitchFamily="34" charset="0"/>
              </a:rPr>
              <a:t>Release all the locks </a:t>
            </a:r>
            <a:endParaRPr lang="en-US" altLang="zh-CN" sz="1500" b="1" i="0" dirty="0">
              <a:latin typeface="Eras Medium ITC" panose="020B0602030504020804" pitchFamily="34" charset="0"/>
            </a:endParaRPr>
          </a:p>
        </p:txBody>
      </p:sp>
      <p:sp>
        <p:nvSpPr>
          <p:cNvPr id="21" name="Freeform 2"/>
          <p:cNvSpPr/>
          <p:nvPr/>
        </p:nvSpPr>
        <p:spPr>
          <a:xfrm>
            <a:off x="2877189" y="3407568"/>
            <a:ext cx="223363" cy="479238"/>
          </a:xfrm>
          <a:custGeom>
            <a:avLst/>
            <a:gdLst>
              <a:gd name="connsiteX0" fmla="*/ 268035 w 268035"/>
              <a:gd name="connsiteY0" fmla="*/ 0 h 551793"/>
              <a:gd name="connsiteX1" fmla="*/ 21 w 268035"/>
              <a:gd name="connsiteY1" fmla="*/ 204952 h 551793"/>
              <a:gd name="connsiteX2" fmla="*/ 252270 w 268035"/>
              <a:gd name="connsiteY2" fmla="*/ 315311 h 551793"/>
              <a:gd name="connsiteX3" fmla="*/ 63083 w 268035"/>
              <a:gd name="connsiteY3" fmla="*/ 551793 h 55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035" h="551793">
                <a:moveTo>
                  <a:pt x="268035" y="0"/>
                </a:moveTo>
                <a:cubicBezTo>
                  <a:pt x="135341" y="76200"/>
                  <a:pt x="2648" y="152400"/>
                  <a:pt x="21" y="204952"/>
                </a:cubicBezTo>
                <a:cubicBezTo>
                  <a:pt x="-2606" y="257504"/>
                  <a:pt x="241760" y="257504"/>
                  <a:pt x="252270" y="315311"/>
                </a:cubicBezTo>
                <a:cubicBezTo>
                  <a:pt x="262780" y="373118"/>
                  <a:pt x="162931" y="462455"/>
                  <a:pt x="63083" y="551793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2" name="Freeform 3"/>
          <p:cNvSpPr/>
          <p:nvPr/>
        </p:nvSpPr>
        <p:spPr>
          <a:xfrm>
            <a:off x="5491655" y="3407569"/>
            <a:ext cx="656897" cy="1313793"/>
          </a:xfrm>
          <a:custGeom>
            <a:avLst/>
            <a:gdLst>
              <a:gd name="connsiteX0" fmla="*/ 0 w 788276"/>
              <a:gd name="connsiteY0" fmla="*/ 0 h 1686911"/>
              <a:gd name="connsiteX1" fmla="*/ 204952 w 788276"/>
              <a:gd name="connsiteY1" fmla="*/ 835573 h 1686911"/>
              <a:gd name="connsiteX2" fmla="*/ 551793 w 788276"/>
              <a:gd name="connsiteY2" fmla="*/ 835573 h 1686911"/>
              <a:gd name="connsiteX3" fmla="*/ 788276 w 788276"/>
              <a:gd name="connsiteY3" fmla="*/ 1686911 h 168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276" h="1686911">
                <a:moveTo>
                  <a:pt x="0" y="0"/>
                </a:moveTo>
                <a:cubicBezTo>
                  <a:pt x="56493" y="348155"/>
                  <a:pt x="112987" y="696311"/>
                  <a:pt x="204952" y="835573"/>
                </a:cubicBezTo>
                <a:cubicBezTo>
                  <a:pt x="296917" y="974835"/>
                  <a:pt x="454572" y="693683"/>
                  <a:pt x="551793" y="835573"/>
                </a:cubicBezTo>
                <a:cubicBezTo>
                  <a:pt x="649014" y="977463"/>
                  <a:pt x="718645" y="1332187"/>
                  <a:pt x="788276" y="1686911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3" name="Freeform 4"/>
          <p:cNvSpPr/>
          <p:nvPr/>
        </p:nvSpPr>
        <p:spPr>
          <a:xfrm>
            <a:off x="5806966" y="2434693"/>
            <a:ext cx="512379" cy="683841"/>
          </a:xfrm>
          <a:custGeom>
            <a:avLst/>
            <a:gdLst>
              <a:gd name="connsiteX0" fmla="*/ 614855 w 614855"/>
              <a:gd name="connsiteY0" fmla="*/ 1024759 h 1024759"/>
              <a:gd name="connsiteX1" fmla="*/ 157655 w 614855"/>
              <a:gd name="connsiteY1" fmla="*/ 772511 h 1024759"/>
              <a:gd name="connsiteX2" fmla="*/ 378372 w 614855"/>
              <a:gd name="connsiteY2" fmla="*/ 583324 h 1024759"/>
              <a:gd name="connsiteX3" fmla="*/ 0 w 614855"/>
              <a:gd name="connsiteY3" fmla="*/ 0 h 1024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855" h="1024759">
                <a:moveTo>
                  <a:pt x="614855" y="1024759"/>
                </a:moveTo>
                <a:cubicBezTo>
                  <a:pt x="405962" y="935421"/>
                  <a:pt x="197069" y="846083"/>
                  <a:pt x="157655" y="772511"/>
                </a:cubicBezTo>
                <a:cubicBezTo>
                  <a:pt x="118241" y="698939"/>
                  <a:pt x="404648" y="712076"/>
                  <a:pt x="378372" y="583324"/>
                </a:cubicBezTo>
                <a:cubicBezTo>
                  <a:pt x="352096" y="454572"/>
                  <a:pt x="176048" y="227286"/>
                  <a:pt x="0" y="0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 animBg="1"/>
      <p:bldP spid="11" grpId="0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MV-2PL: read-only TX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Rectangle 15"/>
          <p:cNvSpPr/>
          <p:nvPr/>
        </p:nvSpPr>
        <p:spPr>
          <a:xfrm>
            <a:off x="2857500" y="3131849"/>
            <a:ext cx="99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READ(X)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cxnSp>
        <p:nvCxnSpPr>
          <p:cNvPr id="6" name="Straight Connector 19"/>
          <p:cNvCxnSpPr/>
          <p:nvPr/>
        </p:nvCxnSpPr>
        <p:spPr>
          <a:xfrm>
            <a:off x="1460500" y="3496208"/>
            <a:ext cx="6300000" cy="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0"/>
          <p:cNvSpPr/>
          <p:nvPr/>
        </p:nvSpPr>
        <p:spPr>
          <a:xfrm>
            <a:off x="7172419" y="3133861"/>
            <a:ext cx="5966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</a:t>
            </a:r>
            <a:endParaRPr lang="zh-CN" alt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10" name="Rectangle 34"/>
          <p:cNvSpPr/>
          <p:nvPr/>
        </p:nvSpPr>
        <p:spPr>
          <a:xfrm>
            <a:off x="1541500" y="3082861"/>
            <a:ext cx="30000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T</a:t>
            </a:r>
            <a:endParaRPr lang="zh-CN" alt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37"/>
          <p:cNvSpPr/>
          <p:nvPr/>
        </p:nvSpPr>
        <p:spPr>
          <a:xfrm>
            <a:off x="1905000" y="3131849"/>
            <a:ext cx="690000" cy="27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r>
              <a:rPr lang="en-US" altLang="zh-CN" sz="1665" dirty="0"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START</a:t>
            </a:r>
            <a:endParaRPr lang="zh-CN" altLang="en-US" sz="1665" dirty="0">
              <a:latin typeface="Eras Medium ITC" panose="020B06020305040208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952501" y="1886222"/>
            <a:ext cx="2476499" cy="522251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>
            <a:defPPr>
              <a:defRPr lang="en-US"/>
            </a:defPPr>
            <a:lvl1pPr>
              <a:defRPr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pPr marL="144145" indent="-144145"/>
            <a:r>
              <a:rPr lang="en-US" altLang="zh-CN" sz="1500" b="1" i="0" dirty="0">
                <a:latin typeface="Eras Medium ITC" panose="020B0602030504020804" pitchFamily="34" charset="0"/>
              </a:rPr>
              <a:t>T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 is assigned a start timestamp </a:t>
            </a:r>
            <a:r>
              <a:rPr lang="en-US" altLang="zh-CN" sz="1500" i="0" dirty="0" err="1">
                <a:solidFill>
                  <a:srgbClr val="FF0066"/>
                </a:solidFill>
                <a:effectLst/>
                <a:latin typeface="Eras Medium ITC" panose="020B0602030504020804" pitchFamily="34" charset="0"/>
              </a:rPr>
              <a:t>T.sts</a:t>
            </a:r>
            <a:endParaRPr lang="en-US" altLang="zh-CN" sz="1500" i="0" dirty="0">
              <a:solidFill>
                <a:srgbClr val="FF0066"/>
              </a:solidFill>
              <a:effectLst/>
              <a:latin typeface="Eras Medium ITC" panose="020B0602030504020804" pitchFamily="34" charset="0"/>
            </a:endParaRPr>
          </a:p>
        </p:txBody>
      </p:sp>
      <p:sp>
        <p:nvSpPr>
          <p:cNvPr id="13" name="Right Triangle 39"/>
          <p:cNvSpPr/>
          <p:nvPr/>
        </p:nvSpPr>
        <p:spPr>
          <a:xfrm rot="10800000">
            <a:off x="3158999" y="1886222"/>
            <a:ext cx="270000" cy="270000"/>
          </a:xfrm>
          <a:prstGeom prst="rtTriangl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endParaRPr lang="zh-CN" altLang="en-US" sz="1665"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Freeform 6"/>
          <p:cNvSpPr/>
          <p:nvPr/>
        </p:nvSpPr>
        <p:spPr>
          <a:xfrm>
            <a:off x="1589690" y="2560636"/>
            <a:ext cx="433552" cy="551793"/>
          </a:xfrm>
          <a:custGeom>
            <a:avLst/>
            <a:gdLst>
              <a:gd name="connsiteX0" fmla="*/ 520262 w 520262"/>
              <a:gd name="connsiteY0" fmla="*/ 662151 h 662151"/>
              <a:gd name="connsiteX1" fmla="*/ 47296 w 520262"/>
              <a:gd name="connsiteY1" fmla="*/ 520262 h 662151"/>
              <a:gd name="connsiteX2" fmla="*/ 204951 w 520262"/>
              <a:gd name="connsiteY2" fmla="*/ 315310 h 662151"/>
              <a:gd name="connsiteX3" fmla="*/ 0 w 520262"/>
              <a:gd name="connsiteY3" fmla="*/ 0 h 66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262" h="662151">
                <a:moveTo>
                  <a:pt x="520262" y="662151"/>
                </a:moveTo>
                <a:cubicBezTo>
                  <a:pt x="310055" y="620110"/>
                  <a:pt x="99848" y="578069"/>
                  <a:pt x="47296" y="520262"/>
                </a:cubicBezTo>
                <a:cubicBezTo>
                  <a:pt x="-5256" y="462455"/>
                  <a:pt x="212834" y="402020"/>
                  <a:pt x="204951" y="315310"/>
                </a:cubicBezTo>
                <a:cubicBezTo>
                  <a:pt x="197068" y="228600"/>
                  <a:pt x="98534" y="114300"/>
                  <a:pt x="0" y="0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1143000" y="3886806"/>
            <a:ext cx="4127500" cy="522251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>
            <a:defPPr>
              <a:defRPr lang="en-US"/>
            </a:defPPr>
            <a:lvl1pPr>
              <a:defRPr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pPr marL="144145" indent="-144145"/>
            <a:r>
              <a:rPr lang="en-US" altLang="zh-CN" sz="1500" b="1" i="0" dirty="0">
                <a:latin typeface="Eras Medium ITC" panose="020B0602030504020804" pitchFamily="34" charset="0"/>
              </a:rPr>
              <a:t>T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 reads the </a:t>
            </a:r>
            <a:r>
              <a:rPr lang="en-US" altLang="zh-CN" sz="1500" i="0" dirty="0">
                <a:latin typeface="Eras Medium ITC" panose="020B0602030504020804" pitchFamily="34" charset="0"/>
              </a:rPr>
              <a:t>biggest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 version of </a:t>
            </a:r>
            <a:r>
              <a:rPr lang="en-US" altLang="zh-CN" sz="1500" i="0" dirty="0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X(</a:t>
            </a:r>
            <a:r>
              <a:rPr lang="en-US" altLang="zh-CN" sz="1500" i="0" dirty="0" err="1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i</a:t>
            </a:r>
            <a:r>
              <a:rPr lang="en-US" altLang="zh-CN" sz="1500" i="0" dirty="0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)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, such that </a:t>
            </a:r>
            <a:r>
              <a:rPr lang="en-US" altLang="zh-CN" sz="1500" i="0" dirty="0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X(</a:t>
            </a:r>
            <a:r>
              <a:rPr lang="en-US" altLang="zh-CN" sz="1500" i="0" dirty="0" err="1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i</a:t>
            </a:r>
            <a:r>
              <a:rPr lang="en-US" altLang="zh-CN" sz="1500" i="0" dirty="0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).</a:t>
            </a:r>
            <a:r>
              <a:rPr lang="en-US" altLang="zh-CN" sz="1500" i="0" dirty="0" err="1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cts</a:t>
            </a:r>
            <a:r>
              <a:rPr lang="en-US" altLang="zh-CN" sz="1500" i="0" dirty="0">
                <a:solidFill>
                  <a:srgbClr val="0033CC"/>
                </a:solidFill>
                <a:effectLst/>
                <a:latin typeface="Eras Medium ITC" panose="020B0602030504020804" pitchFamily="34" charset="0"/>
              </a:rPr>
              <a:t> </a:t>
            </a:r>
            <a:r>
              <a:rPr lang="en-US" altLang="zh-CN" sz="1500" i="0" dirty="0">
                <a:effectLst/>
                <a:latin typeface="Eras Medium ITC" panose="020B0602030504020804" pitchFamily="34" charset="0"/>
              </a:rPr>
              <a:t>&lt;= </a:t>
            </a:r>
            <a:r>
              <a:rPr lang="en-US" altLang="zh-CN" sz="1500" i="0" dirty="0" err="1">
                <a:solidFill>
                  <a:srgbClr val="FF0066"/>
                </a:solidFill>
                <a:effectLst/>
                <a:latin typeface="Eras Medium ITC" panose="020B0602030504020804" pitchFamily="34" charset="0"/>
              </a:rPr>
              <a:t>T.sts</a:t>
            </a:r>
            <a:endParaRPr lang="en-US" altLang="zh-CN" sz="1500" i="0" dirty="0">
              <a:solidFill>
                <a:srgbClr val="FF0066"/>
              </a:solidFill>
              <a:effectLst/>
              <a:latin typeface="Eras Medium ITC" panose="020B0602030504020804" pitchFamily="34" charset="0"/>
            </a:endParaRPr>
          </a:p>
        </p:txBody>
      </p:sp>
      <p:sp>
        <p:nvSpPr>
          <p:cNvPr id="16" name="Right Triangle 41"/>
          <p:cNvSpPr/>
          <p:nvPr/>
        </p:nvSpPr>
        <p:spPr>
          <a:xfrm rot="10800000">
            <a:off x="4957112" y="3886806"/>
            <a:ext cx="313387" cy="270000"/>
          </a:xfrm>
          <a:prstGeom prst="rtTriangl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bIns="30000" rtlCol="0" anchor="ctr"/>
          <a:lstStyle/>
          <a:p>
            <a:pPr algn="ctr"/>
            <a:endParaRPr lang="zh-CN" altLang="en-US" sz="1665">
              <a:latin typeface="Eras Medium ITC" panose="020B06020305040208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Freeform 2"/>
          <p:cNvSpPr/>
          <p:nvPr/>
        </p:nvSpPr>
        <p:spPr>
          <a:xfrm>
            <a:off x="2877189" y="3407568"/>
            <a:ext cx="223363" cy="479238"/>
          </a:xfrm>
          <a:custGeom>
            <a:avLst/>
            <a:gdLst>
              <a:gd name="connsiteX0" fmla="*/ 268035 w 268035"/>
              <a:gd name="connsiteY0" fmla="*/ 0 h 551793"/>
              <a:gd name="connsiteX1" fmla="*/ 21 w 268035"/>
              <a:gd name="connsiteY1" fmla="*/ 204952 h 551793"/>
              <a:gd name="connsiteX2" fmla="*/ 252270 w 268035"/>
              <a:gd name="connsiteY2" fmla="*/ 315311 h 551793"/>
              <a:gd name="connsiteX3" fmla="*/ 63083 w 268035"/>
              <a:gd name="connsiteY3" fmla="*/ 551793 h 55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035" h="551793">
                <a:moveTo>
                  <a:pt x="268035" y="0"/>
                </a:moveTo>
                <a:cubicBezTo>
                  <a:pt x="135341" y="76200"/>
                  <a:pt x="2648" y="152400"/>
                  <a:pt x="21" y="204952"/>
                </a:cubicBezTo>
                <a:cubicBezTo>
                  <a:pt x="-2606" y="257504"/>
                  <a:pt x="241760" y="257504"/>
                  <a:pt x="252270" y="315311"/>
                </a:cubicBezTo>
                <a:cubicBezTo>
                  <a:pt x="262780" y="373118"/>
                  <a:pt x="162931" y="462455"/>
                  <a:pt x="63083" y="551793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 remains: how do we assign the time to TXs?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9"/>
            <a:ext cx="8229600" cy="2088232"/>
          </a:xfrm>
        </p:spPr>
        <p:txBody>
          <a:bodyPr/>
          <a:lstStyle/>
          <a:p>
            <a:r>
              <a:rPr kumimoji="1" lang="en-US" altLang="zh-CN" dirty="0"/>
              <a:t>Timestamp of start &amp; commit should be </a:t>
            </a:r>
            <a:r>
              <a:rPr kumimoji="1" lang="en-US" altLang="zh-CN" dirty="0">
                <a:highlight>
                  <a:srgbClr val="FFFF00"/>
                </a:highlight>
              </a:rPr>
              <a:t>assigned in an increasing order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en-US" altLang="zh-CN" dirty="0"/>
              <a:t>E.g., global counters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atomic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increase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Note: read-only TX does not necessary increase the time </a:t>
            </a:r>
            <a:endParaRPr kumimoji="1" lang="en-US" altLang="zh-CN" dirty="0"/>
          </a:p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global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counter (on a single machine)</a:t>
            </a:r>
            <a:endParaRPr kumimoji="1" lang="en-US" altLang="zh-CN" dirty="0"/>
          </a:p>
          <a:p>
            <a:pPr marL="131445" lvl="1" indent="0">
              <a:buNone/>
            </a:pPr>
            <a:endParaRPr kumimoji="1" lang="zh-CN" altLang="en-US" sz="16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3832" y="3324797"/>
            <a:ext cx="3438762" cy="409941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3832" y="3345663"/>
            <a:ext cx="3438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// initial 0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2295" y="3845086"/>
            <a:ext cx="3438762" cy="1641048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93832" y="3916474"/>
            <a:ext cx="35627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TX {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start_time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commit_time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set&lt;...&gt;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write_set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 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27984" y="3220914"/>
            <a:ext cx="4464496" cy="23902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429521" y="3292303"/>
            <a:ext cx="45349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tx_begin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read-only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tx.global_time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READ(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tx_commit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 // read-write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tx.commit_time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FAA(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kumimoji="0" lang="en-US" altLang="zh-CN" b="0" kern="0" dirty="0">
                <a:solidFill>
                  <a:srgbClr val="C00000"/>
                </a:solidFill>
                <a:ea typeface="+mn-ea"/>
              </a:rPr>
              <a:t>Question: is global counter suitable for Spanner’s use case? </a:t>
            </a:r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Global time is inefficient for Spanner’s use case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/>
          <a:lstStyle/>
          <a:p>
            <a:r>
              <a:rPr kumimoji="1" lang="en-US" altLang="zh-CN" dirty="0"/>
              <a:t>Performance overhead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1. Extra latency overhead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2. Scalability bottleneck</a:t>
            </a:r>
            <a:endParaRPr kumimoji="1" lang="en-US" altLang="zh-CN" dirty="0"/>
          </a:p>
          <a:p>
            <a:r>
              <a:rPr kumimoji="1" lang="en-US" altLang="zh-CN" dirty="0"/>
              <a:t>Question: can we avoid reading the global counter?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Possible when considering the read-only TX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6" descr="World Data Center Map, transparent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123283"/>
            <a:ext cx="3495069" cy="1602513"/>
          </a:xfrm>
          <a:prstGeom prst="rect">
            <a:avLst/>
          </a:prstGeom>
          <a:noFill/>
          <a:scene3d>
            <a:camera prst="orthographicFront">
              <a:rot lat="222000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6536813" y="4010552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7" name="磁盘 6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DC1</a:t>
              </a:r>
              <a:endParaRPr lang="zh-CN" altLang="en-US" b="1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03364" y="3932685"/>
            <a:ext cx="1002407" cy="931917"/>
            <a:chOff x="2152702" y="4197600"/>
            <a:chExt cx="1002407" cy="931917"/>
          </a:xfrm>
          <a:solidFill>
            <a:schemeClr val="bg1"/>
          </a:solidFill>
        </p:grpSpPr>
        <p:sp>
          <p:nvSpPr>
            <p:cNvPr id="10" name="磁盘 9"/>
            <p:cNvSpPr/>
            <p:nvPr/>
          </p:nvSpPr>
          <p:spPr>
            <a:xfrm>
              <a:off x="2152702" y="4197600"/>
              <a:ext cx="1002407" cy="931917"/>
            </a:xfrm>
            <a:prstGeom prst="flowChartMagneticDisk">
              <a:avLst/>
            </a:prstGeom>
            <a:grpFill/>
            <a:ln w="127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326826" y="4585692"/>
              <a:ext cx="6463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kumimoji="1" lang="en-US" altLang="zh-CN" b="1" dirty="0"/>
                <a:t>DC0</a:t>
              </a:r>
              <a:endParaRPr lang="zh-CN" altLang="en-US" b="1" dirty="0"/>
            </a:p>
          </p:txBody>
        </p:sp>
      </p:grpSp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15513" y="4549255"/>
            <a:ext cx="680542" cy="6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320" y="3762201"/>
            <a:ext cx="449545" cy="44954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矩形 14"/>
          <p:cNvSpPr/>
          <p:nvPr/>
        </p:nvSpPr>
        <p:spPr>
          <a:xfrm>
            <a:off x="6080433" y="3382450"/>
            <a:ext cx="181331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b="1" dirty="0"/>
              <a:t>Global counter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4219202" y="3377603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User data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651" y="3739304"/>
            <a:ext cx="495338" cy="495338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20" name="直线箭头连接符 19"/>
          <p:cNvCxnSpPr/>
          <p:nvPr/>
        </p:nvCxnSpPr>
        <p:spPr>
          <a:xfrm flipV="1">
            <a:off x="3553609" y="4690109"/>
            <a:ext cx="2890599" cy="444975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 flipH="1">
            <a:off x="3496056" y="4924539"/>
            <a:ext cx="2912555" cy="394278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5123819" y="4917956"/>
            <a:ext cx="312906" cy="369332"/>
            <a:chOff x="5923979" y="2810190"/>
            <a:chExt cx="312906" cy="369332"/>
          </a:xfrm>
        </p:grpSpPr>
        <p:sp>
          <p:nvSpPr>
            <p:cNvPr id="26" name="椭圆 25"/>
            <p:cNvSpPr/>
            <p:nvPr/>
          </p:nvSpPr>
          <p:spPr>
            <a:xfrm>
              <a:off x="5937289" y="2838785"/>
              <a:ext cx="286287" cy="28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923979" y="281019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BE384B"/>
                  </a:solidFill>
                </a:rPr>
                <a:t>1</a:t>
              </a:r>
              <a:endParaRPr lang="zh-CN" altLang="en-US" b="1" dirty="0">
                <a:solidFill>
                  <a:srgbClr val="BE384B"/>
                </a:solidFill>
              </a:endParaRPr>
            </a:p>
          </p:txBody>
        </p:sp>
      </p:grpSp>
      <p:cxnSp>
        <p:nvCxnSpPr>
          <p:cNvPr id="29" name="直线箭头连接符 28"/>
          <p:cNvCxnSpPr>
            <a:endCxn id="10" idx="2"/>
          </p:cNvCxnSpPr>
          <p:nvPr/>
        </p:nvCxnSpPr>
        <p:spPr>
          <a:xfrm flipV="1">
            <a:off x="3392020" y="4398644"/>
            <a:ext cx="911344" cy="376928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 flipH="1">
            <a:off x="3392022" y="4583310"/>
            <a:ext cx="877134" cy="318258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746943" y="4468211"/>
            <a:ext cx="312906" cy="369332"/>
            <a:chOff x="5923979" y="2810190"/>
            <a:chExt cx="312906" cy="369332"/>
          </a:xfrm>
        </p:grpSpPr>
        <p:sp>
          <p:nvSpPr>
            <p:cNvPr id="37" name="椭圆 36"/>
            <p:cNvSpPr/>
            <p:nvPr/>
          </p:nvSpPr>
          <p:spPr>
            <a:xfrm>
              <a:off x="5937289" y="2838785"/>
              <a:ext cx="286287" cy="28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5923979" y="281019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BE384B"/>
                  </a:solidFill>
                </a:rPr>
                <a:t>2</a:t>
              </a:r>
              <a:endParaRPr lang="zh-CN" altLang="en-US" b="1" dirty="0">
                <a:solidFill>
                  <a:srgbClr val="BE384B"/>
                </a:solidFill>
              </a:endParaRPr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841160" cy="900442"/>
          </a:xfrm>
        </p:spPr>
        <p:txBody>
          <a:bodyPr/>
          <a:lstStyle/>
          <a:p>
            <a:r>
              <a:rPr kumimoji="1" lang="en-US" altLang="zh-CN" dirty="0"/>
              <a:t>Cache the time locally to avoid querying the global counter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Observation: the read-only TX can read a stale timestamp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not reading from the latest global counter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Still </a:t>
            </a:r>
            <a:r>
              <a:rPr kumimoji="1" lang="en-US" altLang="zh-CN" dirty="0">
                <a:highlight>
                  <a:srgbClr val="FFFF00"/>
                </a:highlight>
              </a:rPr>
              <a:t>correct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TX only reads from a (possible) stale snapshot </a:t>
            </a:r>
            <a:endParaRPr kumimoji="1" lang="en-US" altLang="zh-CN" sz="1800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Cache global counter to avoid frequently reads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9"/>
            <a:ext cx="8229600" cy="2088232"/>
          </a:xfrm>
        </p:spPr>
        <p:txBody>
          <a:bodyPr/>
          <a:lstStyle/>
          <a:p>
            <a:r>
              <a:rPr kumimoji="1" lang="en-US" altLang="zh-CN" dirty="0"/>
              <a:t>Cache start timestamp for the read-only TX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read-only TX no longer needs to do the FAA all the time  </a:t>
            </a:r>
            <a:endParaRPr kumimoji="1" lang="en-US" altLang="zh-CN" dirty="0"/>
          </a:p>
          <a:p>
            <a:r>
              <a:rPr kumimoji="1" lang="en-US" altLang="zh-CN" dirty="0"/>
              <a:t>Note: here FAA maybe implemented as a remote procedure call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To the server that stores the global counter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3057" y="3102160"/>
            <a:ext cx="3438762" cy="409941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3057" y="3123026"/>
            <a:ext cx="3438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// initial 0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1520" y="3622449"/>
            <a:ext cx="3438762" cy="197878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3057" y="3693837"/>
            <a:ext cx="35627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TX {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start_time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u64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commit_time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Option&lt;u64&gt; </a:t>
            </a:r>
            <a:r>
              <a:rPr kumimoji="1"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cached_time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set&lt;...&gt;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write_set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 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79912" y="3134080"/>
            <a:ext cx="5111031" cy="2390204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923928" y="3205469"/>
            <a:ext cx="49153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tx_begin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kumimoji="1"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cached_time.is_none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endParaRPr kumimoji="1" lang="en-US" altLang="zh-CN" sz="1600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kumimoji="1"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tx.cached_time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 Some(READ(</a:t>
            </a:r>
            <a:r>
              <a:rPr kumimoji="1"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global_time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kumimoji="1" lang="en-US" altLang="zh-CN" sz="1600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tx.start_time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kumimoji="1"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tx.cached_time.unwrap</a:t>
            </a:r>
            <a:r>
              <a:rPr kumimoji="1"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kumimoji="1" lang="en-US" altLang="zh-CN" sz="1600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...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revisit w/ cached time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968414" y="165092"/>
            <a:ext cx="1581155" cy="688343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84090" y="207104"/>
            <a:ext cx="1470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T1: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Print(A+B)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51382" y="145323"/>
            <a:ext cx="1106042" cy="965342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56869" y="187335"/>
            <a:ext cx="8178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T2: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B 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 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3011694" y="1143024"/>
            <a:ext cx="2028302" cy="112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T1 (</a:t>
            </a:r>
            <a:r>
              <a:rPr kumimoji="1" lang="en-US" altLang="zh-CN" dirty="0" err="1"/>
              <a:t>cached_time</a:t>
            </a:r>
            <a:r>
              <a:rPr kumimoji="1" lang="en-US" altLang="zh-CN" dirty="0"/>
              <a:t> = </a:t>
            </a:r>
            <a:r>
              <a:rPr kumimoji="1" lang="en-US" altLang="zh-CN" dirty="0">
                <a:solidFill>
                  <a:srgbClr val="FF0000"/>
                </a:solidFill>
              </a:rPr>
              <a:t>0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5868144" y="1129308"/>
            <a:ext cx="802432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T2</a:t>
            </a:r>
            <a:endParaRPr kumimoji="1" lang="zh-CN" altLang="en-US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521138" y="869512"/>
            <a:ext cx="2345748" cy="109200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Global  counter </a:t>
            </a:r>
            <a:endParaRPr kumimoji="1" lang="en-US" altLang="zh-CN" dirty="0"/>
          </a:p>
          <a:p>
            <a:r>
              <a:rPr kumimoji="1" lang="en-US" altLang="zh-CN" dirty="0"/>
              <a:t>(initial 2)</a:t>
            </a:r>
            <a:endParaRPr kumimoji="1"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1691680" y="1630793"/>
            <a:ext cx="0" cy="366616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7851382" y="1366971"/>
            <a:ext cx="1114410" cy="695343"/>
            <a:chOff x="8144350" y="1556829"/>
            <a:chExt cx="1114410" cy="695343"/>
          </a:xfrm>
        </p:grpSpPr>
        <p:sp>
          <p:nvSpPr>
            <p:cNvPr id="22" name="矩形 21"/>
            <p:cNvSpPr/>
            <p:nvPr/>
          </p:nvSpPr>
          <p:spPr>
            <a:xfrm>
              <a:off x="8144352" y="1556829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A: 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144351" y="1882840"/>
              <a:ext cx="1072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B: 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144350" y="1605371"/>
              <a:ext cx="1072730" cy="59582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内容占位符 2"/>
          <p:cNvSpPr txBox="1"/>
          <p:nvPr/>
        </p:nvSpPr>
        <p:spPr>
          <a:xfrm>
            <a:off x="5184804" y="1894475"/>
            <a:ext cx="2730051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 err="1"/>
              <a:t>Commit_time</a:t>
            </a:r>
            <a:r>
              <a:rPr kumimoji="1" lang="en-US" altLang="zh-CN" b="0" dirty="0"/>
              <a:t> = FAA(G)</a:t>
            </a:r>
            <a:endParaRPr kumimoji="1" lang="zh-CN" altLang="en-US" b="0" dirty="0"/>
          </a:p>
        </p:txBody>
      </p:sp>
      <p:sp>
        <p:nvSpPr>
          <p:cNvPr id="36" name="内容占位符 2"/>
          <p:cNvSpPr txBox="1"/>
          <p:nvPr/>
        </p:nvSpPr>
        <p:spPr>
          <a:xfrm>
            <a:off x="1123299" y="1903084"/>
            <a:ext cx="1758274" cy="50405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cxnSp>
        <p:nvCxnSpPr>
          <p:cNvPr id="41" name="直线箭头连接符 40"/>
          <p:cNvCxnSpPr/>
          <p:nvPr/>
        </p:nvCxnSpPr>
        <p:spPr>
          <a:xfrm flipH="1">
            <a:off x="1824340" y="2099191"/>
            <a:ext cx="325171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内容占位符 2"/>
          <p:cNvSpPr txBox="1"/>
          <p:nvPr/>
        </p:nvSpPr>
        <p:spPr>
          <a:xfrm>
            <a:off x="5507137" y="2257800"/>
            <a:ext cx="178643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Write(B,  B</a:t>
            </a:r>
            <a:r>
              <a:rPr kumimoji="1" lang="en-US" altLang="zh-CN" b="0" baseline="-25000" dirty="0"/>
              <a:t>3</a:t>
            </a:r>
            <a:r>
              <a:rPr kumimoji="1" lang="en-US" altLang="zh-CN" b="0" dirty="0"/>
              <a:t>)</a:t>
            </a:r>
            <a:endParaRPr kumimoji="1" lang="zh-CN" altLang="en-US" b="0" dirty="0"/>
          </a:p>
        </p:txBody>
      </p:sp>
      <p:sp>
        <p:nvSpPr>
          <p:cNvPr id="48" name="内容占位符 2"/>
          <p:cNvSpPr txBox="1"/>
          <p:nvPr/>
        </p:nvSpPr>
        <p:spPr>
          <a:xfrm>
            <a:off x="5507136" y="2701117"/>
            <a:ext cx="178643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Write(A,  A</a:t>
            </a:r>
            <a:r>
              <a:rPr kumimoji="1" lang="en-US" altLang="zh-CN" b="0" baseline="-25000" dirty="0"/>
              <a:t>3</a:t>
            </a:r>
            <a:r>
              <a:rPr kumimoji="1" lang="en-US" altLang="zh-CN" b="0" dirty="0"/>
              <a:t>)</a:t>
            </a:r>
            <a:endParaRPr kumimoji="1" lang="zh-CN" altLang="en-US" b="0" dirty="0"/>
          </a:p>
        </p:txBody>
      </p:sp>
      <p:sp>
        <p:nvSpPr>
          <p:cNvPr id="50" name="内容占位符 2"/>
          <p:cNvSpPr txBox="1"/>
          <p:nvPr/>
        </p:nvSpPr>
        <p:spPr>
          <a:xfrm>
            <a:off x="3138093" y="3684972"/>
            <a:ext cx="2730051" cy="50405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 err="1"/>
              <a:t>Start_time</a:t>
            </a:r>
            <a:r>
              <a:rPr kumimoji="1" lang="en-US" altLang="zh-CN" b="0" dirty="0"/>
              <a:t> = </a:t>
            </a:r>
            <a:r>
              <a:rPr kumimoji="1" lang="en-US" altLang="zh-CN" dirty="0">
                <a:solidFill>
                  <a:srgbClr val="C00000"/>
                </a:solidFill>
              </a:rPr>
              <a:t>0</a:t>
            </a:r>
            <a:r>
              <a:rPr kumimoji="1" lang="en-US" altLang="zh-CN" b="0" dirty="0"/>
              <a:t> // cached</a:t>
            </a:r>
            <a:endParaRPr kumimoji="1" lang="zh-CN" altLang="en-US" b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7517832" y="2288805"/>
            <a:ext cx="1495925" cy="695343"/>
            <a:chOff x="8144349" y="1556829"/>
            <a:chExt cx="1495925" cy="695343"/>
          </a:xfrm>
        </p:grpSpPr>
        <p:sp>
          <p:nvSpPr>
            <p:cNvPr id="52" name="矩形 51"/>
            <p:cNvSpPr/>
            <p:nvPr/>
          </p:nvSpPr>
          <p:spPr>
            <a:xfrm>
              <a:off x="8144352" y="1556829"/>
              <a:ext cx="14959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A: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kumimoji="1" lang="en-US" altLang="zh-CN" b="1" baseline="-25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 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8144351" y="1882840"/>
              <a:ext cx="14542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B: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="1" baseline="-25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 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8144349" y="1605371"/>
              <a:ext cx="1495921" cy="59582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517828" y="4302489"/>
            <a:ext cx="1495925" cy="695343"/>
            <a:chOff x="8144349" y="1556829"/>
            <a:chExt cx="1495925" cy="695343"/>
          </a:xfrm>
        </p:grpSpPr>
        <p:sp>
          <p:nvSpPr>
            <p:cNvPr id="56" name="矩形 55"/>
            <p:cNvSpPr/>
            <p:nvPr/>
          </p:nvSpPr>
          <p:spPr>
            <a:xfrm>
              <a:off x="8144352" y="1556829"/>
              <a:ext cx="14959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A: 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3 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kumimoji="1" lang="en-US" altLang="zh-CN" b="1" baseline="-25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="1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8144351" y="1882840"/>
              <a:ext cx="14542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B: 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3  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kumimoji="1" lang="en-US" altLang="zh-CN" b="1" baseline="-25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kumimoji="1" lang="en-US" altLang="zh-CN" b="1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8144349" y="1605371"/>
              <a:ext cx="1495921" cy="59582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9" name="内容占位符 2"/>
          <p:cNvSpPr txBox="1"/>
          <p:nvPr/>
        </p:nvSpPr>
        <p:spPr>
          <a:xfrm>
            <a:off x="3096418" y="4150800"/>
            <a:ext cx="178643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Read(A) = </a:t>
            </a:r>
            <a:r>
              <a:rPr kumimoji="1" lang="en-US" altLang="zh-CN" dirty="0">
                <a:solidFill>
                  <a:srgbClr val="C00000"/>
                </a:solidFill>
              </a:rPr>
              <a:t>A</a:t>
            </a:r>
            <a:r>
              <a:rPr kumimoji="1" lang="en-US" altLang="zh-CN" baseline="-25000" dirty="0">
                <a:solidFill>
                  <a:srgbClr val="C00000"/>
                </a:solidFill>
              </a:rPr>
              <a:t>0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0" name="内容占位符 2"/>
          <p:cNvSpPr txBox="1"/>
          <p:nvPr/>
        </p:nvSpPr>
        <p:spPr>
          <a:xfrm>
            <a:off x="3096417" y="4566865"/>
            <a:ext cx="178643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Read(B) = </a:t>
            </a:r>
            <a:r>
              <a:rPr kumimoji="1" lang="en-US" altLang="zh-CN" dirty="0">
                <a:solidFill>
                  <a:srgbClr val="C00000"/>
                </a:solidFill>
              </a:rPr>
              <a:t>B</a:t>
            </a:r>
            <a:r>
              <a:rPr kumimoji="1" lang="en-US" altLang="zh-CN" baseline="-25000" dirty="0">
                <a:solidFill>
                  <a:srgbClr val="C00000"/>
                </a:solidFill>
              </a:rPr>
              <a:t>0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 animBg="1"/>
      <p:bldP spid="47" grpId="0"/>
      <p:bldP spid="48" grpId="0"/>
      <p:bldP spid="50" grpId="0" animBg="1"/>
      <p:bldP spid="59" grpId="0"/>
      <p:bldP spid="60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cached time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841160" cy="3771636"/>
          </a:xfrm>
        </p:spPr>
        <p:txBody>
          <a:bodyPr/>
          <a:lstStyle/>
          <a:p>
            <a:r>
              <a:rPr kumimoji="1" lang="en-US" altLang="zh-CN" dirty="0"/>
              <a:t>No freshness guarantees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no external consistency </a:t>
            </a:r>
            <a:endParaRPr kumimoji="1" lang="en-US" altLang="zh-CN" dirty="0"/>
          </a:p>
          <a:p>
            <a:r>
              <a:rPr kumimoji="1" lang="en-US" altLang="zh-CN" dirty="0"/>
              <a:t>External consistency is the most desirable for the programmer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Simplified definition: </a:t>
            </a:r>
            <a:r>
              <a:rPr lang="en-GB" altLang="zh-CN" i="1" dirty="0"/>
              <a:t>If T1 completes before T2 starts, T2 must see T1's writes.</a:t>
            </a:r>
            <a:endParaRPr kumimoji="1" lang="en-US" altLang="zh-CN" i="1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箭头连接符 4"/>
          <p:cNvCxnSpPr/>
          <p:nvPr/>
        </p:nvCxnSpPr>
        <p:spPr>
          <a:xfrm>
            <a:off x="968128" y="3962294"/>
            <a:ext cx="7200800" cy="0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616528" y="4034313"/>
            <a:ext cx="689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Time</a:t>
            </a:r>
            <a:endParaRPr lang="zh-CN" altLang="en-US" dirty="0"/>
          </a:p>
        </p:txBody>
      </p:sp>
      <p:pic>
        <p:nvPicPr>
          <p:cNvPr id="7" name="Picture 2" descr="circled-user-male-skin-type-1-2 | Focus Educa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560" y="4336899"/>
            <a:ext cx="1080787" cy="108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User Experience (UX) &amp; CRO - Pavilion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276" y="4564563"/>
            <a:ext cx="858833" cy="85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1651477" y="5334937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John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57615" y="5416567"/>
            <a:ext cx="595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Bob</a:t>
            </a:r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112144" y="3335226"/>
            <a:ext cx="2448272" cy="927526"/>
            <a:chOff x="1187624" y="2137176"/>
            <a:chExt cx="2448272" cy="927526"/>
          </a:xfrm>
        </p:grpSpPr>
        <p:sp>
          <p:nvSpPr>
            <p:cNvPr id="12" name="矩形 11"/>
            <p:cNvSpPr/>
            <p:nvPr/>
          </p:nvSpPr>
          <p:spPr>
            <a:xfrm>
              <a:off x="1187624" y="2337643"/>
              <a:ext cx="2448272" cy="72705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184775" y="2137176"/>
              <a:ext cx="45397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T1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02472" y="2486075"/>
              <a:ext cx="18582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 = 100$</a:t>
              </a:r>
              <a:endParaRPr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16100" y="3335903"/>
            <a:ext cx="2448272" cy="927526"/>
            <a:chOff x="1187624" y="2137176"/>
            <a:chExt cx="2448272" cy="927526"/>
          </a:xfrm>
        </p:grpSpPr>
        <p:sp>
          <p:nvSpPr>
            <p:cNvPr id="16" name="矩形 15"/>
            <p:cNvSpPr/>
            <p:nvPr/>
          </p:nvSpPr>
          <p:spPr>
            <a:xfrm>
              <a:off x="1187624" y="2337643"/>
              <a:ext cx="2448272" cy="72705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184775" y="2137176"/>
              <a:ext cx="45397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T2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402472" y="2486075"/>
              <a:ext cx="16850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Print(</a:t>
              </a:r>
              <a:r>
                <a:rPr kumimoji="1" lang="en-US" altLang="zh-CN" dirty="0" err="1"/>
                <a:t>bob.acct</a:t>
              </a:r>
              <a:r>
                <a:rPr kumimoji="1" lang="en-US" altLang="zh-CN" dirty="0"/>
                <a:t>)</a:t>
              </a:r>
              <a:endParaRPr lang="zh-CN" altLang="en-US" dirty="0"/>
            </a:p>
          </p:txBody>
        </p:sp>
      </p:grpSp>
      <p:sp>
        <p:nvSpPr>
          <p:cNvPr id="19" name="矩形 18"/>
          <p:cNvSpPr/>
          <p:nvPr/>
        </p:nvSpPr>
        <p:spPr>
          <a:xfrm>
            <a:off x="6716025" y="2857580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Should be 100!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6196912" y="3009546"/>
            <a:ext cx="576197" cy="441933"/>
          </a:xfrm>
          <a:custGeom>
            <a:avLst/>
            <a:gdLst>
              <a:gd name="connsiteX0" fmla="*/ 0 w 576197"/>
              <a:gd name="connsiteY0" fmla="*/ 418926 h 441933"/>
              <a:gd name="connsiteX1" fmla="*/ 75156 w 576197"/>
              <a:gd name="connsiteY1" fmla="*/ 431452 h 441933"/>
              <a:gd name="connsiteX2" fmla="*/ 338202 w 576197"/>
              <a:gd name="connsiteY2" fmla="*/ 406400 h 441933"/>
              <a:gd name="connsiteX3" fmla="*/ 313150 w 576197"/>
              <a:gd name="connsiteY3" fmla="*/ 55671 h 441933"/>
              <a:gd name="connsiteX4" fmla="*/ 576197 w 576197"/>
              <a:gd name="connsiteY4" fmla="*/ 5567 h 44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97" h="441933">
                <a:moveTo>
                  <a:pt x="0" y="418926"/>
                </a:moveTo>
                <a:cubicBezTo>
                  <a:pt x="9394" y="426233"/>
                  <a:pt x="18789" y="433540"/>
                  <a:pt x="75156" y="431452"/>
                </a:cubicBezTo>
                <a:cubicBezTo>
                  <a:pt x="131523" y="429364"/>
                  <a:pt x="298536" y="469030"/>
                  <a:pt x="338202" y="406400"/>
                </a:cubicBezTo>
                <a:cubicBezTo>
                  <a:pt x="377868" y="343770"/>
                  <a:pt x="273484" y="122476"/>
                  <a:pt x="313150" y="55671"/>
                </a:cubicBezTo>
                <a:cubicBezTo>
                  <a:pt x="352816" y="-11134"/>
                  <a:pt x="464506" y="-2784"/>
                  <a:pt x="576197" y="5567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Drawbacks of cached time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No freshness guarantees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no external consistency </a:t>
            </a:r>
            <a:endParaRPr kumimoji="1" lang="en-US" altLang="zh-CN" dirty="0"/>
          </a:p>
          <a:p>
            <a:r>
              <a:rPr kumimoji="1" lang="en-US" altLang="zh-CN" dirty="0"/>
              <a:t>Read-write TX still need to acquire the global counter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Extra latency to communicate with the server that stores the global time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Possible performance bottleneck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Challenge of the timing in MVCC so far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733656" cy="3771636"/>
          </a:xfrm>
        </p:spPr>
        <p:txBody>
          <a:bodyPr/>
          <a:lstStyle/>
          <a:p>
            <a:r>
              <a:rPr kumimoji="1" lang="en-US" altLang="zh-CN" dirty="0"/>
              <a:t>Time needs synchronization for </a:t>
            </a:r>
            <a:r>
              <a:rPr kumimoji="1" lang="en-US" altLang="zh-CN" dirty="0">
                <a:solidFill>
                  <a:srgbClr val="C00000"/>
                </a:solidFill>
              </a:rPr>
              <a:t>external consistency (strict serializability)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dirty="0"/>
              <a:t>If a read-write TX has decided to commit, 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read-only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TX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starts,</a:t>
            </a:r>
            <a:br>
              <a:rPr kumimoji="1" lang="en-US" altLang="zh-CN" dirty="0"/>
            </a:br>
            <a:r>
              <a:rPr kumimoji="1" lang="en-US" altLang="zh-CN" dirty="0"/>
              <a:t>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ensure: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 &gt;= 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baseline="-25000" dirty="0"/>
          </a:p>
          <a:p>
            <a:r>
              <a:rPr kumimoji="1" lang="en-US" altLang="zh-CN" dirty="0"/>
              <a:t>Global counter trivially satisfies this requirement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But requires a centralized time server not suitable for geo-replicated databases</a:t>
            </a:r>
            <a:endParaRPr kumimoji="1" lang="en-US" altLang="zh-CN" dirty="0"/>
          </a:p>
          <a:p>
            <a:r>
              <a:rPr kumimoji="1" lang="en-US" altLang="zh-CN" dirty="0"/>
              <a:t>Can we use the </a:t>
            </a:r>
            <a:r>
              <a:rPr kumimoji="1" lang="en-US" altLang="zh-CN" dirty="0">
                <a:highlight>
                  <a:srgbClr val="FFFF00"/>
                </a:highlight>
              </a:rPr>
              <a:t>physical clock </a:t>
            </a:r>
            <a:r>
              <a:rPr kumimoji="1" lang="en-US" altLang="zh-CN" dirty="0"/>
              <a:t>of the machines?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No. Different machines’ time are different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18097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kumimoji="0" lang="en-US" altLang="zh-CN" b="0" kern="0" dirty="0">
                <a:solidFill>
                  <a:srgbClr val="C00000"/>
                </a:solidFill>
                <a:ea typeface="+mn-ea"/>
              </a:rPr>
              <a:t>Observation</a:t>
            </a:r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: we may not get the accurate physical time, but we can get an accurate 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bound</a:t>
            </a:r>
            <a:endParaRPr kumimoji="0" lang="en-US" altLang="zh-CN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98210" y="2473105"/>
            <a:ext cx="4186808" cy="2544648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 API of Spanner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8"/>
            <a:ext cx="8571751" cy="1728192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 returns a time interval instead of a single point of time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interval is </a:t>
            </a:r>
            <a:r>
              <a:rPr kumimoji="1" lang="en-US" altLang="zh-CN" dirty="0">
                <a:highlight>
                  <a:srgbClr val="FFFF00"/>
                </a:highlight>
              </a:rPr>
              <a:t>a bound</a:t>
            </a:r>
            <a:r>
              <a:rPr kumimoji="1" lang="en-US" altLang="zh-CN" dirty="0"/>
              <a:t>.  i.e., the time </a:t>
            </a:r>
            <a:r>
              <a:rPr kumimoji="1" lang="en-US" altLang="zh-CN" b="1" dirty="0">
                <a:solidFill>
                  <a:srgbClr val="C00000"/>
                </a:solidFill>
              </a:rPr>
              <a:t>of the time server </a:t>
            </a:r>
            <a:r>
              <a:rPr kumimoji="1" lang="en-US" altLang="zh-CN" dirty="0"/>
              <a:t>must be in this bound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interval is the physical time. i.e., familiar to the user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58085" y="2593275"/>
            <a:ext cx="38164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{  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	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time_t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tv_sec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 	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suseconds_t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tv_usec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8210" y="3925490"/>
            <a:ext cx="41361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gettimeofday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(struct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*restrict tv, ...)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" name="直线连接符 8"/>
          <p:cNvCxnSpPr/>
          <p:nvPr/>
        </p:nvCxnSpPr>
        <p:spPr>
          <a:xfrm>
            <a:off x="4629873" y="2220722"/>
            <a:ext cx="0" cy="3888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3"/>
          <p:cNvSpPr/>
          <p:nvPr/>
        </p:nvSpPr>
        <p:spPr>
          <a:xfrm>
            <a:off x="1061317" y="4968875"/>
            <a:ext cx="2701431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>
                <a:solidFill>
                  <a:srgbClr val="BE384B"/>
                </a:solidFill>
              </a:rPr>
              <a:t>Linux Time API</a:t>
            </a:r>
            <a:endParaRPr kumimoji="1" lang="en-US" altLang="zh-CN" dirty="0"/>
          </a:p>
        </p:txBody>
      </p:sp>
      <p:sp>
        <p:nvSpPr>
          <p:cNvPr id="11" name="Rectangle 13"/>
          <p:cNvSpPr/>
          <p:nvPr/>
        </p:nvSpPr>
        <p:spPr>
          <a:xfrm>
            <a:off x="5352143" y="4968875"/>
            <a:ext cx="3106679" cy="349702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 err="1">
                <a:solidFill>
                  <a:srgbClr val="BE384B"/>
                </a:solidFill>
              </a:rPr>
              <a:t>TrueTime</a:t>
            </a:r>
            <a:r>
              <a:rPr lang="en-GB" altLang="zh-CN" dirty="0">
                <a:solidFill>
                  <a:srgbClr val="BE384B"/>
                </a:solidFill>
              </a:rPr>
              <a:t> API (Simplified)</a:t>
            </a:r>
            <a:endParaRPr kumimoji="1" lang="en-US" altLang="zh-CN" dirty="0"/>
          </a:p>
        </p:txBody>
      </p:sp>
      <p:sp>
        <p:nvSpPr>
          <p:cNvPr id="12" name="矩形 11"/>
          <p:cNvSpPr/>
          <p:nvPr/>
        </p:nvSpPr>
        <p:spPr>
          <a:xfrm>
            <a:off x="4892782" y="2545497"/>
            <a:ext cx="41361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time_interval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Lower; 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Upper;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09736" y="3925490"/>
            <a:ext cx="43597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get_truetime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time_interval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*interval); 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Server </a:t>
            </a:r>
            <a:r>
              <a:rPr lang="en-GB" altLang="zh-CN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timeval</a:t>
            </a:r>
            <a:r>
              <a:rPr lang="en-GB" altLang="zh-CN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must be in [L,U]</a:t>
            </a:r>
            <a:endParaRPr lang="en-GB" altLang="zh-CN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Power of </a:t>
            </a:r>
            <a:r>
              <a:rPr kumimoji="1" lang="en-US" altLang="zh-CN" dirty="0" err="1"/>
              <a:t>TrueTime</a:t>
            </a:r>
            <a:r>
              <a:rPr kumimoji="1" lang="en-US" altLang="zh-CN" dirty="0"/>
              <a:t> API (return [L,U])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794075"/>
          </a:xfrm>
        </p:spPr>
        <p:txBody>
          <a:bodyPr/>
          <a:lstStyle/>
          <a:p>
            <a:r>
              <a:rPr kumimoji="1" lang="en-US" altLang="zh-CN" dirty="0"/>
              <a:t>Used to implement external consistency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a read-write TX has decided to commit, then: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 &gt;= 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baseline="-25000" dirty="0"/>
          </a:p>
          <a:p>
            <a:r>
              <a:rPr kumimoji="1" lang="en-US" altLang="zh-CN" dirty="0"/>
              <a:t>How to achieve this?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BE384B"/>
                </a:solidFill>
              </a:rPr>
              <a:t>Commit wait</a:t>
            </a:r>
            <a:r>
              <a:rPr kumimoji="1" lang="en-US" altLang="zh-CN" dirty="0"/>
              <a:t> for read-write TX: after acquire the commit timestamp, the coordinator wait until (U – L) and uses U as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线连接符 5"/>
          <p:cNvCxnSpPr/>
          <p:nvPr/>
        </p:nvCxnSpPr>
        <p:spPr>
          <a:xfrm>
            <a:off x="2915816" y="4408147"/>
            <a:ext cx="4069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30431" y="4223481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Real time</a:t>
            </a:r>
            <a:endParaRPr lang="zh-CN" altLang="en-US" b="1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3563888" y="4009628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35431" y="4571307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Read-write TX</a:t>
            </a:r>
            <a:endParaRPr lang="zh-CN" altLang="en-US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203847" y="4651519"/>
            <a:ext cx="720080" cy="144130"/>
            <a:chOff x="6037559" y="5188039"/>
            <a:chExt cx="720080" cy="144130"/>
          </a:xfrm>
        </p:grpSpPr>
        <p:cxnSp>
          <p:nvCxnSpPr>
            <p:cNvPr id="14" name="直线连接符 13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2864806" y="454495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48119" y="4580099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4288720" y="3992824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979712" y="5008137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Get commit time-stamp</a:t>
            </a:r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568640" y="4469423"/>
            <a:ext cx="720080" cy="144130"/>
            <a:chOff x="6037559" y="5188039"/>
            <a:chExt cx="720080" cy="144130"/>
          </a:xfrm>
        </p:grpSpPr>
        <p:cxnSp>
          <p:nvCxnSpPr>
            <p:cNvPr id="25" name="直线连接符 24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4286787" y="3934618"/>
            <a:ext cx="4609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Commit wait done, time server.time1 &gt;= U1</a:t>
            </a:r>
            <a:endParaRPr lang="zh-CN" altLang="en-US" dirty="0"/>
          </a:p>
        </p:txBody>
      </p:sp>
      <p:sp>
        <p:nvSpPr>
          <p:cNvPr id="30" name="椭圆 29"/>
          <p:cNvSpPr/>
          <p:nvPr/>
        </p:nvSpPr>
        <p:spPr>
          <a:xfrm>
            <a:off x="4505910" y="4500770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1" name="直线箭头连接符 30"/>
          <p:cNvCxnSpPr>
            <a:stCxn id="30" idx="2"/>
          </p:cNvCxnSpPr>
          <p:nvPr/>
        </p:nvCxnSpPr>
        <p:spPr>
          <a:xfrm flipH="1" flipV="1">
            <a:off x="4299497" y="4408147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Power of </a:t>
            </a:r>
            <a:r>
              <a:rPr kumimoji="1" lang="en-US" altLang="zh-CN" dirty="0" err="1"/>
              <a:t>TrueTime</a:t>
            </a:r>
            <a:r>
              <a:rPr kumimoji="1" lang="en-US" altLang="zh-CN" dirty="0"/>
              <a:t> API (return [L,U])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686800" cy="279407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Used to implement external consistency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a read-write TX has decided to commit, then: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 &gt;= 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baseline="-25000" dirty="0"/>
          </a:p>
          <a:p>
            <a:r>
              <a:rPr kumimoji="1" lang="en-US" altLang="zh-CN" dirty="0"/>
              <a:t>How to achieve this?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BE384B"/>
                </a:solidFill>
              </a:rPr>
              <a:t>Commit wait</a:t>
            </a:r>
            <a:r>
              <a:rPr kumimoji="1" lang="en-US" altLang="zh-CN" dirty="0"/>
              <a:t> for read-write TX: after acquire the commit timestamp, the coordinator wait until (U – L) and U1 as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 read-only TX, simply uses U as the read timestamp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线连接符 5"/>
          <p:cNvCxnSpPr/>
          <p:nvPr/>
        </p:nvCxnSpPr>
        <p:spPr>
          <a:xfrm>
            <a:off x="2915816" y="4408147"/>
            <a:ext cx="4069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>
            <a:off x="3563888" y="4009628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35431" y="4571307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Read-write TX</a:t>
            </a:r>
            <a:endParaRPr lang="zh-CN" altLang="en-US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203847" y="4651519"/>
            <a:ext cx="720080" cy="144130"/>
            <a:chOff x="6037559" y="5188039"/>
            <a:chExt cx="720080" cy="144130"/>
          </a:xfrm>
        </p:grpSpPr>
        <p:cxnSp>
          <p:nvCxnSpPr>
            <p:cNvPr id="14" name="直线连接符 13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2864806" y="454495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48119" y="4580099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4288720" y="3992824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68640" y="4469423"/>
            <a:ext cx="720080" cy="144130"/>
            <a:chOff x="6037559" y="5188039"/>
            <a:chExt cx="720080" cy="144130"/>
          </a:xfrm>
        </p:grpSpPr>
        <p:cxnSp>
          <p:nvCxnSpPr>
            <p:cNvPr id="25" name="直线连接符 24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4286787" y="3934618"/>
            <a:ext cx="4108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Commit wait done, server.time1 &gt;= U1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237559" y="4968461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Read-only TX</a:t>
            </a:r>
            <a:endParaRPr lang="zh-CN" altLang="en-US" b="1" dirty="0"/>
          </a:p>
        </p:txBody>
      </p:sp>
      <p:cxnSp>
        <p:nvCxnSpPr>
          <p:cNvPr id="30" name="直线连接符 29"/>
          <p:cNvCxnSpPr/>
          <p:nvPr/>
        </p:nvCxnSpPr>
        <p:spPr>
          <a:xfrm>
            <a:off x="5364088" y="4408147"/>
            <a:ext cx="0" cy="10409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5004048" y="5075085"/>
            <a:ext cx="720080" cy="144130"/>
            <a:chOff x="6037559" y="5188039"/>
            <a:chExt cx="720080" cy="144130"/>
          </a:xfrm>
        </p:grpSpPr>
        <p:cxnSp>
          <p:nvCxnSpPr>
            <p:cNvPr id="32" name="直线连接符 31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427984" y="5237576"/>
            <a:ext cx="428841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Get read timestamp, U2 &gt;= server.time2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4640815" y="495507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L2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724128" y="4990218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U2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4505910" y="4500770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13" name="直线箭头连接符 12"/>
          <p:cNvCxnSpPr>
            <a:stCxn id="8" idx="2"/>
          </p:cNvCxnSpPr>
          <p:nvPr/>
        </p:nvCxnSpPr>
        <p:spPr>
          <a:xfrm flipH="1" flipV="1">
            <a:off x="4299497" y="4408147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5603638" y="4509258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9" name="直线箭头连接符 38"/>
          <p:cNvCxnSpPr>
            <a:stCxn id="38" idx="2"/>
          </p:cNvCxnSpPr>
          <p:nvPr/>
        </p:nvCxnSpPr>
        <p:spPr>
          <a:xfrm flipH="1" flipV="1">
            <a:off x="5397225" y="4416635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730431" y="4223481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Real time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Power of </a:t>
            </a:r>
            <a:r>
              <a:rPr kumimoji="1" lang="en-US" altLang="zh-CN" dirty="0" err="1"/>
              <a:t>TrueTime</a:t>
            </a:r>
            <a:r>
              <a:rPr kumimoji="1" lang="en-US" altLang="zh-CN" dirty="0"/>
              <a:t> API (return [L,U])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Used to implement external consistency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a read-write TX has decided to commit, then: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 &gt;= 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baseline="-25000" dirty="0"/>
          </a:p>
          <a:p>
            <a:r>
              <a:rPr kumimoji="1" lang="en-US" altLang="zh-CN" dirty="0"/>
              <a:t>Correctness 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 </a:t>
            </a:r>
            <a:r>
              <a:rPr kumimoji="1" lang="en-US" altLang="zh-CN" dirty="0"/>
              <a:t>(U1) &lt; server.time1 &lt; server.time2 &lt; U2 (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)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2915816" y="4408147"/>
            <a:ext cx="4069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3563888" y="4009628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235431" y="4571307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Read-write TX</a:t>
            </a:r>
            <a:endParaRPr lang="zh-CN" altLang="en-US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3203847" y="4651519"/>
            <a:ext cx="720080" cy="144130"/>
            <a:chOff x="6037559" y="5188039"/>
            <a:chExt cx="720080" cy="144130"/>
          </a:xfrm>
        </p:grpSpPr>
        <p:cxnSp>
          <p:nvCxnSpPr>
            <p:cNvPr id="10" name="直线连接符 9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/>
        </p:nvSpPr>
        <p:spPr>
          <a:xfrm>
            <a:off x="2864806" y="454495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48119" y="4580099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cxnSp>
        <p:nvCxnSpPr>
          <p:cNvPr id="15" name="直线连接符 14"/>
          <p:cNvCxnSpPr/>
          <p:nvPr/>
        </p:nvCxnSpPr>
        <p:spPr>
          <a:xfrm>
            <a:off x="4288720" y="3992824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3568640" y="4469423"/>
            <a:ext cx="720080" cy="144130"/>
            <a:chOff x="6037559" y="5188039"/>
            <a:chExt cx="720080" cy="144130"/>
          </a:xfrm>
        </p:grpSpPr>
        <p:cxnSp>
          <p:nvCxnSpPr>
            <p:cNvPr id="17" name="直线连接符 16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4286787" y="3934618"/>
            <a:ext cx="4108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Commit wait done, server.time1 &gt;= U1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237559" y="4968461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Read-only TX</a:t>
            </a:r>
            <a:endParaRPr lang="zh-CN" altLang="en-US" b="1" dirty="0"/>
          </a:p>
        </p:txBody>
      </p:sp>
      <p:cxnSp>
        <p:nvCxnSpPr>
          <p:cNvPr id="22" name="直线连接符 21"/>
          <p:cNvCxnSpPr/>
          <p:nvPr/>
        </p:nvCxnSpPr>
        <p:spPr>
          <a:xfrm>
            <a:off x="5364088" y="4303950"/>
            <a:ext cx="0" cy="11451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5004048" y="5075085"/>
            <a:ext cx="720080" cy="144130"/>
            <a:chOff x="6037559" y="5188039"/>
            <a:chExt cx="720080" cy="144130"/>
          </a:xfrm>
        </p:grpSpPr>
        <p:cxnSp>
          <p:nvCxnSpPr>
            <p:cNvPr id="24" name="直线连接符 23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4427984" y="5237576"/>
            <a:ext cx="428841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Get read timestamp, U2 &gt;= server.time2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640815" y="495507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L2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24128" y="4990218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U2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505910" y="4500770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1" name="直线箭头连接符 30"/>
          <p:cNvCxnSpPr>
            <a:stCxn id="30" idx="2"/>
          </p:cNvCxnSpPr>
          <p:nvPr/>
        </p:nvCxnSpPr>
        <p:spPr>
          <a:xfrm flipH="1" flipV="1">
            <a:off x="4299497" y="4408147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5603638" y="4509258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3" name="直线箭头连接符 32"/>
          <p:cNvCxnSpPr>
            <a:stCxn id="32" idx="2"/>
          </p:cNvCxnSpPr>
          <p:nvPr/>
        </p:nvCxnSpPr>
        <p:spPr>
          <a:xfrm flipH="1" flipV="1">
            <a:off x="5397225" y="4416635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1730431" y="4223481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Real time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170459" y="2425452"/>
            <a:ext cx="680308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kumimoji="0" lang="en-US" altLang="zh-CN" b="0" kern="0" dirty="0">
                <a:solidFill>
                  <a:srgbClr val="C00000"/>
                </a:solidFill>
                <a:ea typeface="+mn-ea"/>
              </a:rPr>
              <a:t>How to achieve the bound of </a:t>
            </a:r>
            <a:r>
              <a:rPr kumimoji="0" lang="en-US" altLang="zh-CN" b="0" kern="0" dirty="0" err="1">
                <a:solidFill>
                  <a:srgbClr val="C00000"/>
                </a:solidFill>
                <a:ea typeface="+mn-ea"/>
              </a:rPr>
              <a:t>TrueTime</a:t>
            </a:r>
            <a:r>
              <a:rPr kumimoji="0" lang="en-US" altLang="zh-CN" b="0" kern="0" dirty="0">
                <a:solidFill>
                  <a:srgbClr val="C00000"/>
                </a:solidFill>
                <a:ea typeface="+mn-ea"/>
              </a:rPr>
              <a:t>?</a:t>
            </a:r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: how to achieve the bound?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bound is relative to the time servers as the ground truth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 simplicity, we first assume there is only one time server</a:t>
            </a:r>
            <a:endParaRPr kumimoji="1" lang="en-US" altLang="zh-CN" dirty="0"/>
          </a:p>
          <a:p>
            <a:r>
              <a:rPr kumimoji="1" lang="en-US" altLang="zh-CN" dirty="0"/>
              <a:t>Spanner adopts a variant of </a:t>
            </a:r>
            <a:r>
              <a:rPr lang="en-GB" altLang="zh-CN" dirty="0" err="1">
                <a:solidFill>
                  <a:srgbClr val="BE384B"/>
                </a:solidFill>
              </a:rPr>
              <a:t>Marzullo’s</a:t>
            </a:r>
            <a:r>
              <a:rPr lang="en-GB" altLang="zh-CN" dirty="0">
                <a:solidFill>
                  <a:srgbClr val="BE384B"/>
                </a:solidFill>
              </a:rPr>
              <a:t> algorithm</a:t>
            </a:r>
            <a:r>
              <a:rPr lang="en-GB" altLang="zh-CN" baseline="30000" dirty="0"/>
              <a:t>[1]</a:t>
            </a:r>
            <a:endParaRPr lang="en-GB" altLang="zh-CN" baseline="30000" dirty="0"/>
          </a:p>
          <a:p>
            <a:pPr lvl="1"/>
            <a:r>
              <a:rPr lang="en-GB" altLang="zh-CN" dirty="0"/>
              <a:t>Similar to NTP, sync w/ the time server to </a:t>
            </a:r>
            <a:r>
              <a:rPr lang="en-GB" altLang="zh-CN" dirty="0">
                <a:highlight>
                  <a:srgbClr val="FFFF00"/>
                </a:highlight>
              </a:rPr>
              <a:t>calculate the bound </a:t>
            </a:r>
            <a:endParaRPr lang="en-GB" altLang="zh-CN" dirty="0">
              <a:highlight>
                <a:srgbClr val="FFFF00"/>
              </a:highlight>
            </a:endParaRPr>
          </a:p>
          <a:p>
            <a:pPr lvl="1"/>
            <a:r>
              <a:rPr lang="en-GB" altLang="zh-CN" dirty="0"/>
              <a:t>Even single time server will not become the bottleneck: syncing is not on the critical path of the TX’s execution </a:t>
            </a:r>
            <a:endParaRPr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-468560" y="5301468"/>
            <a:ext cx="6876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/>
              <a:t>[1] </a:t>
            </a:r>
            <a:r>
              <a:rPr lang="en-GB" altLang="zh-CN" dirty="0"/>
              <a:t>Maintaining the Time in a Distributed System </a:t>
            </a:r>
            <a:endParaRPr lang="en-GB" altLang="zh-CN" dirty="0"/>
          </a:p>
          <a:p>
            <a:pPr lvl="1"/>
            <a:endParaRPr kumimoji="1" lang="en-US" altLang="zh-CN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线连接符 25"/>
          <p:cNvCxnSpPr/>
          <p:nvPr/>
        </p:nvCxnSpPr>
        <p:spPr>
          <a:xfrm flipH="1">
            <a:off x="6825673" y="3533456"/>
            <a:ext cx="3734" cy="1588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: how to calculate the bound?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686800" cy="2248495"/>
          </a:xfrm>
        </p:spPr>
        <p:txBody>
          <a:bodyPr/>
          <a:lstStyle/>
          <a:p>
            <a:r>
              <a:rPr kumimoji="1" lang="en-US" altLang="zh-CN" dirty="0"/>
              <a:t>Problem statement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the local clock of client is T, what is the time interval of the time server? </a:t>
            </a:r>
            <a:endParaRPr kumimoji="1" lang="en-US" altLang="zh-CN" dirty="0"/>
          </a:p>
          <a:p>
            <a:r>
              <a:rPr kumimoji="1" lang="en-US" altLang="zh-CN" dirty="0"/>
              <a:t>High-level idea: send RPC to the server for the query as the measurements!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But unlike NTP, we don’t adjust local time according to </a:t>
            </a:r>
            <a:r>
              <a:rPr kumimoji="1" lang="en-US" altLang="zh-CN" dirty="0" err="1"/>
              <a:t>tsrv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calculate the future time based on </a:t>
            </a:r>
            <a:r>
              <a:rPr kumimoji="1" lang="en-US" altLang="zh-CN" dirty="0" err="1"/>
              <a:t>tsrv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2628000" y="4900944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2628000" y="3773822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619672" y="4716278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1619672" y="3538910"/>
            <a:ext cx="902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Time </a:t>
            </a:r>
            <a:endParaRPr kumimoji="1" lang="en-US" altLang="zh-CN" b="1" dirty="0"/>
          </a:p>
          <a:p>
            <a:r>
              <a:rPr kumimoji="1" lang="en-US" altLang="zh-CN" b="1" dirty="0"/>
              <a:t>Server</a:t>
            </a:r>
            <a:endParaRPr lang="zh-CN" altLang="en-US" b="1" dirty="0"/>
          </a:p>
        </p:txBody>
      </p:sp>
      <p:cxnSp>
        <p:nvCxnSpPr>
          <p:cNvPr id="9" name="直线箭头连接符 8"/>
          <p:cNvCxnSpPr/>
          <p:nvPr/>
        </p:nvCxnSpPr>
        <p:spPr>
          <a:xfrm flipV="1">
            <a:off x="3167844" y="3773822"/>
            <a:ext cx="756084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>
            <a:off x="3923928" y="3773822"/>
            <a:ext cx="828092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614647" y="3383355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tsrv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889562" y="4957775"/>
            <a:ext cx="8130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tbegin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435268" y="4951437"/>
            <a:ext cx="63350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tend</a:t>
            </a:r>
            <a:endParaRPr lang="zh-CN" altLang="en-US" dirty="0"/>
          </a:p>
        </p:txBody>
      </p:sp>
      <p:cxnSp>
        <p:nvCxnSpPr>
          <p:cNvPr id="17" name="直线连接符 16"/>
          <p:cNvCxnSpPr/>
          <p:nvPr/>
        </p:nvCxnSpPr>
        <p:spPr>
          <a:xfrm>
            <a:off x="5220072" y="3377803"/>
            <a:ext cx="0" cy="23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874705" y="3158161"/>
            <a:ext cx="6976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Sync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857472" y="4966327"/>
            <a:ext cx="195758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get_truetime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6737540" y="4786327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标注 20"/>
          <p:cNvSpPr/>
          <p:nvPr/>
        </p:nvSpPr>
        <p:spPr>
          <a:xfrm>
            <a:off x="6805707" y="3056864"/>
            <a:ext cx="2198257" cy="410324"/>
          </a:xfrm>
          <a:prstGeom prst="wedgeRoundRectCallout">
            <a:avLst>
              <a:gd name="adj1" fmla="val -43570"/>
              <a:gd name="adj2" fmla="val 99072"/>
              <a:gd name="adj3" fmla="val 16667"/>
            </a:avLst>
          </a:prstGeom>
          <a:noFill/>
          <a:ln w="127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737540" y="3683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796593" y="3088393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What is the time?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411810" y="4517162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6411810" y="3287254"/>
            <a:ext cx="39356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BE384B"/>
                </a:solidFill>
              </a:rPr>
              <a:t>T</a:t>
            </a:r>
            <a:r>
              <a:rPr lang="en-US" altLang="zh-CN" b="1" baseline="-25000" dirty="0">
                <a:solidFill>
                  <a:srgbClr val="BE384B"/>
                </a:solidFill>
              </a:rPr>
              <a:t>s</a:t>
            </a:r>
            <a:endParaRPr lang="zh-CN" altLang="en-US" b="1" baseline="-25000" dirty="0">
              <a:solidFill>
                <a:srgbClr val="BE384B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: how to calculate the bound?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3771636"/>
          </a:xfrm>
        </p:spPr>
        <p:txBody>
          <a:bodyPr/>
          <a:lstStyle/>
          <a:p>
            <a:r>
              <a:rPr kumimoji="1" lang="en-US" altLang="zh-CN" dirty="0"/>
              <a:t>Simplification: first assuming server advances in the same speed as clients</a:t>
            </a:r>
            <a:endParaRPr kumimoji="1" lang="en-US" altLang="zh-CN" dirty="0"/>
          </a:p>
          <a:p>
            <a:pPr lvl="1"/>
            <a:r>
              <a:rPr kumimoji="1" lang="en-US" altLang="zh-CN" b="0" dirty="0">
                <a:solidFill>
                  <a:schemeClr val="tx1"/>
                </a:solidFill>
              </a:rPr>
              <a:t>Since we know the </a:t>
            </a:r>
            <a:r>
              <a:rPr kumimoji="1" lang="en-US" altLang="zh-CN" dirty="0" err="1">
                <a:solidFill>
                  <a:srgbClr val="C00000"/>
                </a:solidFill>
              </a:rPr>
              <a:t>tsrv</a:t>
            </a:r>
            <a:r>
              <a:rPr kumimoji="1" lang="en-US" altLang="zh-CN" b="0" dirty="0">
                <a:solidFill>
                  <a:schemeClr val="tx1"/>
                </a:solidFill>
              </a:rPr>
              <a:t>, the key question is how to calculate the </a:t>
            </a:r>
            <a:r>
              <a:rPr kumimoji="1" lang="en-US" altLang="zh-CN" dirty="0">
                <a:solidFill>
                  <a:srgbClr val="BE384B"/>
                </a:solidFill>
              </a:rPr>
              <a:t>interval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en-US" altLang="zh-CN" b="1" dirty="0">
                <a:solidFill>
                  <a:schemeClr val="tx1"/>
                </a:solidFill>
              </a:rPr>
              <a:t>Question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How do we calculate the interval based on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,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 &amp; tend? 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 flipH="1">
            <a:off x="6825673" y="3533456"/>
            <a:ext cx="3734" cy="1588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2628000" y="4900944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2628000" y="3773822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619672" y="4716278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1619672" y="3538910"/>
            <a:ext cx="902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Time </a:t>
            </a:r>
            <a:endParaRPr kumimoji="1" lang="en-US" altLang="zh-CN" b="1" dirty="0"/>
          </a:p>
          <a:p>
            <a:r>
              <a:rPr kumimoji="1" lang="en-US" altLang="zh-CN" b="1" dirty="0"/>
              <a:t>Server</a:t>
            </a:r>
            <a:endParaRPr lang="zh-CN" altLang="en-US" b="1" dirty="0"/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3167844" y="3773822"/>
            <a:ext cx="756084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>
            <a:off x="3923928" y="3773822"/>
            <a:ext cx="828092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614647" y="3383355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tsrv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889562" y="4957775"/>
            <a:ext cx="8130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tbegin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435268" y="4951437"/>
            <a:ext cx="63350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tend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857472" y="4966327"/>
            <a:ext cx="195758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get_truetime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6737540" y="4786327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411810" y="4517162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cxnSp>
        <p:nvCxnSpPr>
          <p:cNvPr id="24" name="直线连接符 23"/>
          <p:cNvCxnSpPr/>
          <p:nvPr/>
        </p:nvCxnSpPr>
        <p:spPr>
          <a:xfrm>
            <a:off x="5220072" y="3377803"/>
            <a:ext cx="0" cy="23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874705" y="3158161"/>
            <a:ext cx="6976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Sync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4844969" y="3860070"/>
            <a:ext cx="100540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Interval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11810" y="3287254"/>
            <a:ext cx="39356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BE384B"/>
                </a:solidFill>
              </a:rPr>
              <a:t>T</a:t>
            </a:r>
            <a:r>
              <a:rPr lang="en-US" altLang="zh-CN" b="1" baseline="-25000" dirty="0">
                <a:solidFill>
                  <a:srgbClr val="BE384B"/>
                </a:solidFill>
              </a:rPr>
              <a:t>s</a:t>
            </a:r>
            <a:endParaRPr lang="zh-CN" altLang="en-US" b="1" baseline="-25000" dirty="0">
              <a:solidFill>
                <a:srgbClr val="BE384B"/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981061" y="3653570"/>
            <a:ext cx="2844612" cy="307804"/>
            <a:chOff x="3892928" y="2760360"/>
            <a:chExt cx="2844612" cy="307804"/>
          </a:xfrm>
        </p:grpSpPr>
        <p:cxnSp>
          <p:nvCxnSpPr>
            <p:cNvPr id="36" name="直线连接符 35"/>
            <p:cNvCxnSpPr/>
            <p:nvPr/>
          </p:nvCxnSpPr>
          <p:spPr>
            <a:xfrm flipV="1">
              <a:off x="3892929" y="2892587"/>
              <a:ext cx="2844611" cy="4710"/>
            </a:xfrm>
            <a:prstGeom prst="line">
              <a:avLst/>
            </a:prstGeom>
            <a:ln w="635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3892928" y="2760360"/>
              <a:ext cx="0" cy="307804"/>
            </a:xfrm>
            <a:prstGeom prst="line">
              <a:avLst/>
            </a:prstGeom>
            <a:ln w="381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6737540" y="2760360"/>
              <a:ext cx="0" cy="307804"/>
            </a:xfrm>
            <a:prstGeom prst="line">
              <a:avLst/>
            </a:prstGeom>
            <a:ln w="381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椭圆 18"/>
          <p:cNvSpPr/>
          <p:nvPr/>
        </p:nvSpPr>
        <p:spPr>
          <a:xfrm>
            <a:off x="6737540" y="3683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: how to calculate the bound?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0" dirty="0">
                <a:solidFill>
                  <a:schemeClr val="tx1"/>
                </a:solidFill>
              </a:rPr>
              <a:t>Since we know the </a:t>
            </a:r>
            <a:r>
              <a:rPr kumimoji="1" lang="en-US" altLang="zh-CN" dirty="0" err="1">
                <a:solidFill>
                  <a:srgbClr val="C00000"/>
                </a:solidFill>
              </a:rPr>
              <a:t>tsrv</a:t>
            </a:r>
            <a:r>
              <a:rPr kumimoji="1" lang="en-US" altLang="zh-CN" b="0" dirty="0">
                <a:solidFill>
                  <a:schemeClr val="tx1"/>
                </a:solidFill>
              </a:rPr>
              <a:t>, the key question is how to calculate the </a:t>
            </a:r>
            <a:r>
              <a:rPr kumimoji="1" lang="en-US" altLang="zh-CN" dirty="0">
                <a:solidFill>
                  <a:srgbClr val="BE384B"/>
                </a:solidFill>
              </a:rPr>
              <a:t>interval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Interval &gt;= T – tend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Interval &lt;= T –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r>
              <a:rPr kumimoji="1" lang="en-US" altLang="zh-CN" baseline="-25000" dirty="0">
                <a:solidFill>
                  <a:schemeClr val="tx1"/>
                </a:solidFill>
              </a:rPr>
              <a:t>s</a:t>
            </a:r>
            <a:r>
              <a:rPr kumimoji="1" lang="en-US" altLang="zh-CN" dirty="0">
                <a:solidFill>
                  <a:schemeClr val="tx1"/>
                </a:solidFill>
              </a:rPr>
              <a:t> =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 + Interval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>
              <a:buClr>
                <a:srgbClr val="BE384B"/>
              </a:buClr>
              <a:buFont typeface="Wingdings" panose="05000000000000000000" pitchFamily="2" charset="2"/>
              <a:buChar char="Ø"/>
            </a:pP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T – tend + </a:t>
            </a:r>
            <a:r>
              <a:rPr kumimoji="1" lang="en-US" altLang="zh-CN" dirty="0" err="1">
                <a:solidFill>
                  <a:schemeClr val="tx1"/>
                </a:solidFill>
                <a:highlight>
                  <a:srgbClr val="FFFF00"/>
                </a:highlight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 &lt;= T</a:t>
            </a:r>
            <a:r>
              <a:rPr kumimoji="1" lang="en-US" altLang="zh-CN" baseline="-25000" dirty="0">
                <a:solidFill>
                  <a:schemeClr val="tx1"/>
                </a:solidFill>
                <a:highlight>
                  <a:srgbClr val="FFFF00"/>
                </a:highlight>
              </a:rPr>
              <a:t>s 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&lt;= T – </a:t>
            </a:r>
            <a:r>
              <a:rPr kumimoji="1" lang="en-US" altLang="zh-CN" dirty="0" err="1">
                <a:solidFill>
                  <a:schemeClr val="tx1"/>
                </a:solidFill>
                <a:highlight>
                  <a:srgbClr val="FFFF00"/>
                </a:highlight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 + </a:t>
            </a:r>
            <a:r>
              <a:rPr kumimoji="1" lang="en-US" altLang="zh-CN" dirty="0" err="1">
                <a:solidFill>
                  <a:schemeClr val="tx1"/>
                </a:solidFill>
                <a:highlight>
                  <a:srgbClr val="FFFF00"/>
                </a:highlight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 (based on our simplification)</a:t>
            </a:r>
            <a:endParaRPr kumimoji="1" lang="en-US" altLang="zh-CN" dirty="0">
              <a:solidFill>
                <a:srgbClr val="BE384B"/>
              </a:solidFill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 flipH="1">
            <a:off x="6825673" y="3533456"/>
            <a:ext cx="3734" cy="1588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2628000" y="4900944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2628000" y="3773822"/>
            <a:ext cx="5760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619672" y="4716278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Client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1619672" y="3538910"/>
            <a:ext cx="902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Time </a:t>
            </a:r>
            <a:endParaRPr kumimoji="1" lang="en-US" altLang="zh-CN" b="1" dirty="0"/>
          </a:p>
          <a:p>
            <a:r>
              <a:rPr kumimoji="1" lang="en-US" altLang="zh-CN" b="1" dirty="0"/>
              <a:t>Server</a:t>
            </a:r>
            <a:endParaRPr lang="zh-CN" altLang="en-US" b="1" dirty="0"/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3167844" y="3773822"/>
            <a:ext cx="756084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>
            <a:off x="3923928" y="3773822"/>
            <a:ext cx="828092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614647" y="3383355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tsrv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889562" y="4957775"/>
            <a:ext cx="8130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tbegin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435268" y="4951437"/>
            <a:ext cx="63350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tend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6737540" y="4786327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411810" y="4517162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cxnSp>
        <p:nvCxnSpPr>
          <p:cNvPr id="24" name="直线连接符 23"/>
          <p:cNvCxnSpPr/>
          <p:nvPr/>
        </p:nvCxnSpPr>
        <p:spPr>
          <a:xfrm>
            <a:off x="5220072" y="3377803"/>
            <a:ext cx="0" cy="23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874705" y="3158161"/>
            <a:ext cx="6976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Sync</a:t>
            </a:r>
            <a:endParaRPr lang="zh-CN" altLang="en-US" dirty="0"/>
          </a:p>
        </p:txBody>
      </p:sp>
      <p:grpSp>
        <p:nvGrpSpPr>
          <p:cNvPr id="32" name="组合 31"/>
          <p:cNvGrpSpPr/>
          <p:nvPr/>
        </p:nvGrpSpPr>
        <p:grpSpPr>
          <a:xfrm>
            <a:off x="3981061" y="3653570"/>
            <a:ext cx="2844612" cy="307804"/>
            <a:chOff x="3892928" y="2760360"/>
            <a:chExt cx="2844612" cy="307804"/>
          </a:xfrm>
        </p:grpSpPr>
        <p:cxnSp>
          <p:nvCxnSpPr>
            <p:cNvPr id="26" name="直线连接符 25"/>
            <p:cNvCxnSpPr/>
            <p:nvPr/>
          </p:nvCxnSpPr>
          <p:spPr>
            <a:xfrm flipV="1">
              <a:off x="3892929" y="2892587"/>
              <a:ext cx="2844611" cy="4710"/>
            </a:xfrm>
            <a:prstGeom prst="line">
              <a:avLst/>
            </a:prstGeom>
            <a:ln w="635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/>
            <p:cNvCxnSpPr/>
            <p:nvPr/>
          </p:nvCxnSpPr>
          <p:spPr>
            <a:xfrm>
              <a:off x="3892928" y="2760360"/>
              <a:ext cx="0" cy="307804"/>
            </a:xfrm>
            <a:prstGeom prst="line">
              <a:avLst/>
            </a:prstGeom>
            <a:ln w="381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/>
            <p:cNvCxnSpPr/>
            <p:nvPr/>
          </p:nvCxnSpPr>
          <p:spPr>
            <a:xfrm>
              <a:off x="6737540" y="2760360"/>
              <a:ext cx="0" cy="307804"/>
            </a:xfrm>
            <a:prstGeom prst="line">
              <a:avLst/>
            </a:prstGeom>
            <a:ln w="381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4844969" y="3860070"/>
            <a:ext cx="100540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Interval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11810" y="3287254"/>
            <a:ext cx="39356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BE384B"/>
                </a:solidFill>
              </a:rPr>
              <a:t>T</a:t>
            </a:r>
            <a:r>
              <a:rPr lang="en-US" altLang="zh-CN" b="1" baseline="-25000" dirty="0">
                <a:solidFill>
                  <a:srgbClr val="BE384B"/>
                </a:solidFill>
              </a:rPr>
              <a:t>s</a:t>
            </a:r>
            <a:endParaRPr lang="zh-CN" altLang="en-US" b="1" baseline="-25000" dirty="0">
              <a:solidFill>
                <a:srgbClr val="BE384B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737540" y="3683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Rectangle 13"/>
          <p:cNvSpPr/>
          <p:nvPr/>
        </p:nvSpPr>
        <p:spPr>
          <a:xfrm>
            <a:off x="5272333" y="1824863"/>
            <a:ext cx="3106679" cy="626701"/>
          </a:xfrm>
          <a:prstGeom prst="rect">
            <a:avLst/>
          </a:prstGeom>
          <a:solidFill>
            <a:srgbClr val="FFE7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/>
              <a:t>Question: what if there is a drift between client &amp; server?</a:t>
            </a: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: how to calculate the bound?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trike="sngStrike" dirty="0"/>
              <a:t>Simplification: assuming server advances in the same speed as clients</a:t>
            </a:r>
            <a:endParaRPr kumimoji="1" lang="en-US" altLang="zh-CN" strike="sngStrike" dirty="0"/>
          </a:p>
          <a:p>
            <a:pPr lvl="1">
              <a:buClr>
                <a:srgbClr val="BE384B"/>
              </a:buClr>
              <a:buFont typeface="Wingdings" panose="05000000000000000000" pitchFamily="2" charset="2"/>
              <a:buChar char="Ø"/>
            </a:pPr>
            <a:r>
              <a:rPr kumimoji="1" lang="en-US" altLang="zh-CN" dirty="0">
                <a:solidFill>
                  <a:schemeClr val="tx1"/>
                </a:solidFill>
              </a:rPr>
              <a:t>T – tend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 &lt;= T</a:t>
            </a:r>
            <a:r>
              <a:rPr kumimoji="1" lang="en-US" altLang="zh-CN" baseline="-25000" dirty="0">
                <a:solidFill>
                  <a:schemeClr val="tx1"/>
                </a:solidFill>
              </a:rPr>
              <a:t>s </a:t>
            </a:r>
            <a:r>
              <a:rPr kumimoji="1" lang="en-US" altLang="zh-CN" dirty="0">
                <a:solidFill>
                  <a:schemeClr val="tx1"/>
                </a:solidFill>
              </a:rPr>
              <a:t>&lt;= T –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 (based on our simplification)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en-US" altLang="zh-CN" dirty="0"/>
              <a:t>Assume</a:t>
            </a:r>
            <a:r>
              <a:rPr kumimoji="1" lang="zh-CN" altLang="en-US" dirty="0"/>
              <a:t> </a:t>
            </a:r>
            <a:r>
              <a:rPr kumimoji="1" lang="en-US" altLang="zh-CN" dirty="0"/>
              <a:t>a fixed </a:t>
            </a:r>
            <a:r>
              <a:rPr kumimoji="1" lang="en-US" altLang="zh-CN" sz="3200" dirty="0">
                <a:solidFill>
                  <a:srgbClr val="C00000"/>
                </a:solidFill>
                <a:latin typeface="Symbol" panose="05050102010706020507" pitchFamily="2" charset="2"/>
              </a:rPr>
              <a:t>e </a:t>
            </a:r>
            <a:r>
              <a:rPr kumimoji="1" lang="en-US" altLang="zh-CN" dirty="0"/>
              <a:t>drift rate between client &amp; server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After t time, the drift between client &amp; server is </a:t>
            </a:r>
            <a:r>
              <a:rPr kumimoji="1" lang="en-US" altLang="zh-CN" b="1" dirty="0">
                <a:solidFill>
                  <a:srgbClr val="C00000"/>
                </a:solidFill>
              </a:rPr>
              <a:t>(1 + </a:t>
            </a:r>
            <a:r>
              <a:rPr kumimoji="1" lang="en-US" altLang="zh-CN" b="1" dirty="0">
                <a:solidFill>
                  <a:srgbClr val="C00000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b="1" dirty="0">
                <a:solidFill>
                  <a:srgbClr val="C00000"/>
                </a:solidFill>
              </a:rPr>
              <a:t>)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solidFill>
                  <a:srgbClr val="C00000"/>
                </a:solidFill>
              </a:rPr>
              <a:t>(1 - </a:t>
            </a:r>
            <a:r>
              <a:rPr kumimoji="1" lang="en-US" altLang="zh-CN" b="1" dirty="0">
                <a:solidFill>
                  <a:srgbClr val="C00000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2"/>
            <a:r>
              <a:rPr kumimoji="1" lang="en-US" altLang="zh-CN" sz="1800" dirty="0">
                <a:solidFill>
                  <a:schemeClr val="tx1"/>
                </a:solidFill>
              </a:rPr>
              <a:t>Spanner assumes a fixed as 200us / second</a:t>
            </a:r>
            <a:endParaRPr kumimoji="1" lang="en-US" altLang="zh-CN" sz="1800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Then the interval is regulated as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(T – tend) *</a:t>
            </a:r>
            <a:r>
              <a:rPr kumimoji="1" lang="en-US" altLang="zh-CN" b="1" dirty="0">
                <a:solidFill>
                  <a:srgbClr val="C00000"/>
                </a:solidFill>
              </a:rPr>
              <a:t>  (1 - </a:t>
            </a:r>
            <a:r>
              <a:rPr kumimoji="1" lang="en-US" altLang="zh-CN" b="1" dirty="0">
                <a:solidFill>
                  <a:srgbClr val="C00000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r>
              <a:rPr kumimoji="1" lang="en-US" altLang="zh-CN" dirty="0">
                <a:solidFill>
                  <a:schemeClr val="tx1"/>
                </a:solidFill>
              </a:rPr>
              <a:t> 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 &lt;= T</a:t>
            </a:r>
            <a:r>
              <a:rPr kumimoji="1" lang="en-US" altLang="zh-CN" baseline="-25000" dirty="0">
                <a:solidFill>
                  <a:schemeClr val="tx1"/>
                </a:solidFill>
              </a:rPr>
              <a:t>s </a:t>
            </a:r>
            <a:r>
              <a:rPr kumimoji="1" lang="en-US" altLang="zh-CN" dirty="0">
                <a:solidFill>
                  <a:schemeClr val="tx1"/>
                </a:solidFill>
              </a:rPr>
              <a:t>&lt;= (T –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) * </a:t>
            </a:r>
            <a:r>
              <a:rPr kumimoji="1" lang="en-US" altLang="zh-CN" b="1" dirty="0">
                <a:solidFill>
                  <a:srgbClr val="C00000"/>
                </a:solidFill>
              </a:rPr>
              <a:t>(1 + </a:t>
            </a:r>
            <a:r>
              <a:rPr kumimoji="1" lang="en-US" altLang="zh-CN" b="1" dirty="0">
                <a:solidFill>
                  <a:srgbClr val="C00000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r>
              <a:rPr kumimoji="1" lang="en-US" altLang="zh-CN" dirty="0">
                <a:solidFill>
                  <a:schemeClr val="tx1"/>
                </a:solidFill>
              </a:rPr>
              <a:t>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Done 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27584" y="3937620"/>
            <a:ext cx="2664296" cy="360040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55976" y="3895086"/>
            <a:ext cx="2880320" cy="360040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483768" y="4297660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L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422419" y="429766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U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6" name="Rectangle 13"/>
          <p:cNvSpPr/>
          <p:nvPr/>
        </p:nvSpPr>
        <p:spPr>
          <a:xfrm>
            <a:off x="6300191" y="1906762"/>
            <a:ext cx="2880321" cy="626701"/>
          </a:xfrm>
          <a:prstGeom prst="rect">
            <a:avLst/>
          </a:prstGeom>
          <a:solidFill>
            <a:srgbClr val="FFE7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US" altLang="zh-CN" dirty="0"/>
              <a:t>Solution: regulate with the drift rate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Commit </a:t>
            </a:r>
            <a:r>
              <a:rPr kumimoji="1" lang="en-US" altLang="zh-CN"/>
              <a:t>wait revisited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794075"/>
          </a:xfrm>
        </p:spPr>
        <p:txBody>
          <a:bodyPr/>
          <a:lstStyle/>
          <a:p>
            <a:r>
              <a:rPr kumimoji="1" lang="en-US" altLang="zh-CN" dirty="0"/>
              <a:t>Used to implement external consistency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a read-write TX has decided to commit, then:</a:t>
            </a:r>
            <a:endParaRPr kumimoji="1" lang="en-US" altLang="zh-CN" dirty="0"/>
          </a:p>
          <a:p>
            <a:pPr lvl="2"/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-only</a:t>
            </a:r>
            <a:r>
              <a:rPr kumimoji="1" lang="en-US" altLang="zh-CN" dirty="0"/>
              <a:t> &gt;= 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baseline="-25000" dirty="0"/>
          </a:p>
          <a:p>
            <a:r>
              <a:rPr kumimoji="1" lang="en-US" altLang="zh-CN" dirty="0"/>
              <a:t>How to achieve this?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BE384B"/>
                </a:solidFill>
              </a:rPr>
              <a:t>Commit wait</a:t>
            </a:r>
            <a:r>
              <a:rPr kumimoji="1" lang="en-US" altLang="zh-CN" dirty="0"/>
              <a:t> for read-write TX: after acquire the commit timestamp, the coordinator wait until (U – L)</a:t>
            </a:r>
            <a:r>
              <a:rPr kumimoji="1" lang="en-US" altLang="zh-CN" b="1" dirty="0">
                <a:solidFill>
                  <a:srgbClr val="C00000"/>
                </a:solidFill>
              </a:rPr>
              <a:t>(1 + </a:t>
            </a:r>
            <a:r>
              <a:rPr kumimoji="1" lang="en-US" altLang="zh-CN" b="1" dirty="0">
                <a:solidFill>
                  <a:srgbClr val="C00000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r>
              <a:rPr kumimoji="1" lang="en-US" altLang="zh-CN" dirty="0"/>
              <a:t> and uses U as </a:t>
            </a:r>
            <a:r>
              <a:rPr kumimoji="1" lang="en-US" altLang="zh-CN" dirty="0" err="1"/>
              <a:t>Time</a:t>
            </a:r>
            <a:r>
              <a:rPr kumimoji="1" lang="en-US" altLang="zh-CN" baseline="-25000" dirty="0" err="1"/>
              <a:t>read</a:t>
            </a:r>
            <a:r>
              <a:rPr kumimoji="1" lang="en-US" altLang="zh-CN" baseline="-25000" dirty="0"/>
              <a:t>-write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线连接符 5"/>
          <p:cNvCxnSpPr/>
          <p:nvPr/>
        </p:nvCxnSpPr>
        <p:spPr>
          <a:xfrm>
            <a:off x="2915816" y="4408147"/>
            <a:ext cx="4069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30431" y="4223481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Real time</a:t>
            </a:r>
            <a:endParaRPr lang="zh-CN" altLang="en-US" b="1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3563888" y="4009628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35431" y="4571307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Read-write TX</a:t>
            </a:r>
            <a:endParaRPr lang="zh-CN" altLang="en-US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203847" y="4651519"/>
            <a:ext cx="720080" cy="144130"/>
            <a:chOff x="6037559" y="5188039"/>
            <a:chExt cx="720080" cy="144130"/>
          </a:xfrm>
        </p:grpSpPr>
        <p:cxnSp>
          <p:nvCxnSpPr>
            <p:cNvPr id="14" name="直线连接符 13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>
            <a:off x="2864806" y="454495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L1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48119" y="4580099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BE384B"/>
                </a:solidFill>
              </a:rPr>
              <a:t>U1</a:t>
            </a:r>
            <a:endParaRPr lang="zh-CN" altLang="en-US" b="1" dirty="0">
              <a:solidFill>
                <a:srgbClr val="BE384B"/>
              </a:solidFill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4288720" y="3992824"/>
            <a:ext cx="0" cy="10081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979712" y="5008137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Get commit time-stamp</a:t>
            </a:r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568640" y="4469423"/>
            <a:ext cx="720080" cy="144130"/>
            <a:chOff x="6037559" y="5188039"/>
            <a:chExt cx="720080" cy="144130"/>
          </a:xfrm>
        </p:grpSpPr>
        <p:cxnSp>
          <p:nvCxnSpPr>
            <p:cNvPr id="25" name="直线连接符 24"/>
            <p:cNvCxnSpPr/>
            <p:nvPr/>
          </p:nvCxnSpPr>
          <p:spPr>
            <a:xfrm>
              <a:off x="6037559" y="5260289"/>
              <a:ext cx="720080" cy="0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>
              <a:off x="6048440" y="5188040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757639" y="5188039"/>
              <a:ext cx="0" cy="144129"/>
            </a:xfrm>
            <a:prstGeom prst="line">
              <a:avLst/>
            </a:prstGeom>
            <a:ln w="25400"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4286787" y="3934618"/>
            <a:ext cx="4108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Commit wait done, server.time1 &gt;= U1</a:t>
            </a:r>
            <a:endParaRPr lang="zh-CN" altLang="en-US" dirty="0"/>
          </a:p>
        </p:txBody>
      </p:sp>
      <p:sp>
        <p:nvSpPr>
          <p:cNvPr id="30" name="椭圆 29"/>
          <p:cNvSpPr/>
          <p:nvPr/>
        </p:nvSpPr>
        <p:spPr>
          <a:xfrm>
            <a:off x="4505910" y="4500770"/>
            <a:ext cx="219217" cy="215549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1" name="直线箭头连接符 30"/>
          <p:cNvCxnSpPr>
            <a:stCxn id="30" idx="2"/>
          </p:cNvCxnSpPr>
          <p:nvPr/>
        </p:nvCxnSpPr>
        <p:spPr>
          <a:xfrm flipH="1" flipV="1">
            <a:off x="4299497" y="4408147"/>
            <a:ext cx="206413" cy="200398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3"/>
          <p:cNvSpPr/>
          <p:nvPr/>
        </p:nvSpPr>
        <p:spPr>
          <a:xfrm>
            <a:off x="5274477" y="4764765"/>
            <a:ext cx="2701431" cy="626701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>
                <a:solidFill>
                  <a:srgbClr val="BE384B"/>
                </a:solidFill>
              </a:rPr>
              <a:t>Note! During the interval, the TX is not committed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 adopts multiple time servers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891765"/>
            <a:ext cx="8229600" cy="684589"/>
          </a:xfrm>
        </p:spPr>
        <p:txBody>
          <a:bodyPr/>
          <a:lstStyle/>
          <a:p>
            <a:r>
              <a:rPr kumimoji="1" lang="en-US" altLang="zh-CN" dirty="0"/>
              <a:t>Called </a:t>
            </a:r>
            <a:r>
              <a:rPr kumimoji="1" lang="en-US" altLang="zh-CN" dirty="0" err="1"/>
              <a:t>timemaster</a:t>
            </a:r>
            <a:r>
              <a:rPr kumimoji="1" lang="en-US" altLang="zh-CN" dirty="0"/>
              <a:t> (</a:t>
            </a:r>
            <a:r>
              <a:rPr kumimoji="1" lang="en-US" altLang="zh-CN" dirty="0">
                <a:sym typeface="Wingdings" panose="05000000000000000000" pitchFamily="2" charset="2"/>
              </a:rPr>
              <a:t>) in Spanner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334454" y="4442765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Datacenter 1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6053195" y="4442765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Datacenter n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5260729" y="4442765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3161220" y="4442765"/>
            <a:ext cx="140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Datacenter 2</a:t>
            </a:r>
            <a:endParaRPr lang="en-US" dirty="0"/>
          </a:p>
        </p:txBody>
      </p:sp>
      <p:sp>
        <p:nvSpPr>
          <p:cNvPr id="10" name="Rectangle 10"/>
          <p:cNvSpPr/>
          <p:nvPr/>
        </p:nvSpPr>
        <p:spPr>
          <a:xfrm>
            <a:off x="1279157" y="1454150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1" name="Rectangle 12"/>
          <p:cNvSpPr/>
          <p:nvPr/>
        </p:nvSpPr>
        <p:spPr>
          <a:xfrm>
            <a:off x="3105923" y="1454150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2" name="Rectangle 13"/>
          <p:cNvSpPr/>
          <p:nvPr/>
        </p:nvSpPr>
        <p:spPr>
          <a:xfrm>
            <a:off x="5997898" y="1454150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3" name="Rectangle 14"/>
          <p:cNvSpPr/>
          <p:nvPr/>
        </p:nvSpPr>
        <p:spPr>
          <a:xfrm>
            <a:off x="3105923" y="2441575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4" name="Rectangle 15"/>
          <p:cNvSpPr/>
          <p:nvPr/>
        </p:nvSpPr>
        <p:spPr>
          <a:xfrm>
            <a:off x="5997898" y="2441575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1279157" y="3759200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0000"/>
                </a:solidFill>
              </a:rPr>
              <a:t>Client</a:t>
            </a:r>
            <a:endParaRPr lang="en-US" dirty="0">
              <a:solidFill>
                <a:srgbClr val="800000"/>
              </a:solidFill>
            </a:endParaRPr>
          </a:p>
        </p:txBody>
      </p:sp>
      <p:cxnSp>
        <p:nvCxnSpPr>
          <p:cNvPr id="16" name="Straight Connector 5"/>
          <p:cNvCxnSpPr/>
          <p:nvPr/>
        </p:nvCxnSpPr>
        <p:spPr>
          <a:xfrm>
            <a:off x="850900" y="3479800"/>
            <a:ext cx="6858000" cy="0"/>
          </a:xfrm>
          <a:prstGeom prst="line">
            <a:avLst/>
          </a:prstGeom>
          <a:ln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590800" y="3089275"/>
            <a:ext cx="1016000" cy="669925"/>
          </a:xfrm>
          <a:prstGeom prst="line">
            <a:avLst/>
          </a:prstGeom>
          <a:ln>
            <a:solidFill>
              <a:schemeClr val="accent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9"/>
          <p:cNvCxnSpPr>
            <a:stCxn id="15" idx="3"/>
          </p:cNvCxnSpPr>
          <p:nvPr/>
        </p:nvCxnSpPr>
        <p:spPr>
          <a:xfrm flipV="1">
            <a:off x="2790457" y="2101851"/>
            <a:ext cx="3635743" cy="1981199"/>
          </a:xfrm>
          <a:prstGeom prst="line">
            <a:avLst/>
          </a:prstGeom>
          <a:ln>
            <a:solidFill>
              <a:srgbClr val="F7964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0"/>
          <p:cNvCxnSpPr>
            <a:stCxn id="15" idx="0"/>
            <a:endCxn id="21" idx="2"/>
          </p:cNvCxnSpPr>
          <p:nvPr/>
        </p:nvCxnSpPr>
        <p:spPr>
          <a:xfrm flipV="1">
            <a:off x="2034807" y="3089275"/>
            <a:ext cx="0" cy="669925"/>
          </a:xfrm>
          <a:prstGeom prst="line">
            <a:avLst/>
          </a:prstGeom>
          <a:ln>
            <a:solidFill>
              <a:srgbClr val="F7964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3"/>
          <p:cNvCxnSpPr/>
          <p:nvPr/>
        </p:nvCxnSpPr>
        <p:spPr>
          <a:xfrm flipV="1">
            <a:off x="1603007" y="2101851"/>
            <a:ext cx="0" cy="1657349"/>
          </a:xfrm>
          <a:prstGeom prst="line">
            <a:avLst/>
          </a:prstGeom>
          <a:ln>
            <a:solidFill>
              <a:srgbClr val="F7964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11"/>
          <p:cNvSpPr/>
          <p:nvPr/>
        </p:nvSpPr>
        <p:spPr>
          <a:xfrm>
            <a:off x="1279157" y="2441575"/>
            <a:ext cx="1511300" cy="647700"/>
          </a:xfrm>
          <a:prstGeom prst="rect">
            <a:avLst/>
          </a:prstGeom>
          <a:ln>
            <a:solidFill>
              <a:srgbClr val="1F497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800000"/>
                </a:solidFill>
              </a:rPr>
              <a:t>timemaster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2" name="Rectangle 13"/>
          <p:cNvSpPr/>
          <p:nvPr/>
        </p:nvSpPr>
        <p:spPr>
          <a:xfrm>
            <a:off x="1420313" y="2187056"/>
            <a:ext cx="6120680" cy="349702"/>
          </a:xfrm>
          <a:prstGeom prst="rect">
            <a:avLst/>
          </a:prstGeom>
          <a:solidFill>
            <a:srgbClr val="FFE7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08000" tIns="36000" rIns="108000" bIns="36000">
            <a:spAutoFit/>
          </a:bodyPr>
          <a:lstStyle/>
          <a:p>
            <a:pPr algn="ctr"/>
            <a:r>
              <a:rPr lang="en-GB" altLang="zh-CN" dirty="0"/>
              <a:t>Question: </a:t>
            </a:r>
            <a:r>
              <a:rPr lang="en-US" altLang="zh-CN" dirty="0"/>
              <a:t>how to keep different </a:t>
            </a:r>
            <a:r>
              <a:rPr lang="en-US" altLang="zh-CN" dirty="0" err="1"/>
              <a:t>timemasters</a:t>
            </a:r>
            <a:r>
              <a:rPr lang="en-US" altLang="zh-CN" dirty="0"/>
              <a:t> sync?</a:t>
            </a: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  <p:bldP spid="22" grpId="1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TrueTime</a:t>
            </a:r>
            <a:r>
              <a:rPr kumimoji="1" lang="en-US" altLang="zh-CN" dirty="0"/>
              <a:t> adopts multiple time servers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Time servers are backed by GPS &amp; atomic clocks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High-precision clocks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E.g., 1 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second</a:t>
            </a:r>
            <a:r>
              <a:rPr kumimoji="1" lang="en-US" altLang="zh-CN" dirty="0">
                <a:solidFill>
                  <a:schemeClr val="tx1"/>
                </a:solidFill>
              </a:rPr>
              <a:t> drift after 20,000,000 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year</a:t>
            </a:r>
            <a:r>
              <a:rPr kumimoji="1" lang="en-US" altLang="zh-CN" dirty="0">
                <a:solidFill>
                  <a:schemeClr val="tx1"/>
                </a:solidFill>
              </a:rPr>
              <a:t>  (vs. 200us per second of CPU)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Atomic clocks are synchronized with each other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482" name="Picture 2" descr="創新科技署- 銫原子鐘標準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70102"/>
            <a:ext cx="2796942" cy="104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188" y="3069819"/>
            <a:ext cx="5053623" cy="2531414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-US" altLang="zh-CN" dirty="0"/>
              <a:t>Final takeaway of </a:t>
            </a:r>
            <a:r>
              <a:rPr kumimoji="1" lang="en-US" altLang="zh-CN" dirty="0" err="1"/>
              <a:t>TrueTime</a:t>
            </a:r>
            <a:r>
              <a:rPr kumimoji="1" lang="en-US" altLang="zh-CN" dirty="0"/>
              <a:t>: </a:t>
            </a:r>
            <a:r>
              <a:rPr lang="en-US" altLang="zh-CN" dirty="0"/>
              <a:t>Network-Induced Uncertainty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Interval of T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[ (T – tend) *</a:t>
            </a:r>
            <a:r>
              <a:rPr kumimoji="1" lang="en-US" altLang="zh-CN" b="1" dirty="0">
                <a:solidFill>
                  <a:srgbClr val="C00000"/>
                </a:solidFill>
              </a:rPr>
              <a:t>  </a:t>
            </a:r>
            <a:r>
              <a:rPr kumimoji="1" lang="en-US" altLang="zh-CN" dirty="0">
                <a:solidFill>
                  <a:schemeClr val="tx1"/>
                </a:solidFill>
              </a:rPr>
              <a:t>(1 - </a:t>
            </a:r>
            <a:r>
              <a:rPr kumimoji="1" lang="en-US" altLang="zh-CN" dirty="0">
                <a:solidFill>
                  <a:schemeClr val="tx1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dirty="0">
                <a:solidFill>
                  <a:schemeClr val="tx1"/>
                </a:solidFill>
              </a:rPr>
              <a:t>) 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, (T –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) * (1 + </a:t>
            </a:r>
            <a:r>
              <a:rPr kumimoji="1" lang="en-US" altLang="zh-CN" dirty="0">
                <a:solidFill>
                  <a:schemeClr val="tx1"/>
                </a:solidFill>
                <a:latin typeface="Symbol" panose="05050102010706020507" pitchFamily="2" charset="2"/>
              </a:rPr>
              <a:t>e</a:t>
            </a:r>
            <a:r>
              <a:rPr kumimoji="1" lang="en-US" altLang="zh-CN" dirty="0">
                <a:solidFill>
                  <a:schemeClr val="tx1"/>
                </a:solidFill>
              </a:rPr>
              <a:t>) + </a:t>
            </a:r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]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tsrv</a:t>
            </a:r>
            <a:r>
              <a:rPr kumimoji="1" lang="en-US" altLang="zh-CN" dirty="0">
                <a:solidFill>
                  <a:schemeClr val="tx1"/>
                </a:solidFill>
              </a:rPr>
              <a:t> – </a:t>
            </a:r>
            <a:r>
              <a:rPr kumimoji="1" lang="en-US" altLang="zh-CN" dirty="0" err="1">
                <a:solidFill>
                  <a:schemeClr val="tx1"/>
                </a:solidFill>
              </a:rPr>
              <a:t>tbegin</a:t>
            </a:r>
            <a:r>
              <a:rPr kumimoji="1" lang="en-US" altLang="zh-CN" dirty="0">
                <a:solidFill>
                  <a:schemeClr val="tx1"/>
                </a:solidFill>
              </a:rPr>
              <a:t> is </a:t>
            </a:r>
            <a:r>
              <a:rPr kumimoji="1" lang="en-US" altLang="zh-CN" dirty="0" err="1">
                <a:solidFill>
                  <a:schemeClr val="tx1"/>
                </a:solidFill>
              </a:rPr>
              <a:t>rougly</a:t>
            </a:r>
            <a:r>
              <a:rPr kumimoji="1" lang="en-US" altLang="zh-CN" dirty="0">
                <a:solidFill>
                  <a:schemeClr val="tx1"/>
                </a:solidFill>
              </a:rPr>
              <a:t> estimated as the network delay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Can have spikes if </a:t>
            </a:r>
            <a:r>
              <a:rPr kumimoji="1" lang="en-US" altLang="zh-CN" dirty="0" err="1">
                <a:solidFill>
                  <a:schemeClr val="tx1"/>
                </a:solidFill>
              </a:rPr>
              <a:t>timemasters</a:t>
            </a:r>
            <a:r>
              <a:rPr kumimoji="1" lang="en-US" altLang="zh-CN" dirty="0">
                <a:solidFill>
                  <a:schemeClr val="tx1"/>
                </a:solidFill>
              </a:rPr>
              <a:t> are out of services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584157" y="3735009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584157" y="4862131"/>
            <a:ext cx="3672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73021" y="3538771"/>
            <a:ext cx="86433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73021" y="4626972"/>
            <a:ext cx="77457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Client</a:t>
            </a:r>
            <a:endParaRPr lang="zh-CN" altLang="en-US" dirty="0"/>
          </a:p>
        </p:txBody>
      </p:sp>
      <p:cxnSp>
        <p:nvCxnSpPr>
          <p:cNvPr id="9" name="直线箭头连接符 8"/>
          <p:cNvCxnSpPr/>
          <p:nvPr/>
        </p:nvCxnSpPr>
        <p:spPr>
          <a:xfrm flipV="1">
            <a:off x="1664277" y="3735009"/>
            <a:ext cx="756084" cy="11271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111080" y="3344542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tsrv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385995" y="4918962"/>
            <a:ext cx="8130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tbegin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931701" y="4912624"/>
            <a:ext cx="63350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/>
              <a:t>tend</a:t>
            </a:r>
            <a:endParaRPr lang="zh-CN" altLang="en-US" dirty="0"/>
          </a:p>
        </p:txBody>
      </p:sp>
      <p:cxnSp>
        <p:nvCxnSpPr>
          <p:cNvPr id="13" name="直线连接符 12"/>
          <p:cNvCxnSpPr/>
          <p:nvPr/>
        </p:nvCxnSpPr>
        <p:spPr>
          <a:xfrm flipH="1">
            <a:off x="2420361" y="3756145"/>
            <a:ext cx="1" cy="11598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649825" y="3735009"/>
            <a:ext cx="1" cy="11187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>
            <a:off x="1649825" y="4503647"/>
            <a:ext cx="770536" cy="3002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685641" y="4088583"/>
            <a:ext cx="73609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delay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7" name="直线箭头连接符 16"/>
          <p:cNvCxnSpPr/>
          <p:nvPr/>
        </p:nvCxnSpPr>
        <p:spPr>
          <a:xfrm>
            <a:off x="2443961" y="3756145"/>
            <a:ext cx="804493" cy="109761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3923928" y="1924782"/>
            <a:ext cx="87372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5796136" y="1921396"/>
            <a:ext cx="6480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696" y="3265200"/>
            <a:ext cx="4083774" cy="201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圆角矩形标注 24"/>
          <p:cNvSpPr/>
          <p:nvPr/>
        </p:nvSpPr>
        <p:spPr>
          <a:xfrm>
            <a:off x="6444208" y="2671809"/>
            <a:ext cx="2717793" cy="575373"/>
          </a:xfrm>
          <a:prstGeom prst="wedgeRoundRectCallout">
            <a:avLst>
              <a:gd name="adj1" fmla="val 6275"/>
              <a:gd name="adj2" fmla="val 87595"/>
              <a:gd name="adj3" fmla="val 16667"/>
            </a:avLst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444208" y="2777211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Maintain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2 </a:t>
            </a:r>
            <a:r>
              <a:rPr kumimoji="1" lang="en-US" altLang="zh-CN" dirty="0" err="1"/>
              <a:t>timemasters</a:t>
            </a:r>
            <a:endParaRPr lang="zh-CN" altLang="en-US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/>
          <a:lstStyle/>
          <a:p>
            <a:r>
              <a:rPr lang="en-US" altLang="zh-CN" dirty="0"/>
              <a:t>Reify clock uncertainty in time APIs</a:t>
            </a:r>
            <a:endParaRPr lang="en-US" altLang="zh-CN" dirty="0"/>
          </a:p>
          <a:p>
            <a:pPr lvl="1"/>
            <a:r>
              <a:rPr lang="en-US" altLang="zh-CN" dirty="0"/>
              <a:t>Known unknowns are better than unknown unknowns</a:t>
            </a:r>
            <a:endParaRPr lang="en-US" altLang="zh-CN" dirty="0"/>
          </a:p>
          <a:p>
            <a:pPr lvl="1"/>
            <a:r>
              <a:rPr lang="en-US" altLang="zh-CN" dirty="0"/>
              <a:t>Rethink algorithms (TX’s concurrency control) to make use of uncertainty</a:t>
            </a:r>
            <a:endParaRPr lang="en-US" altLang="zh-CN" dirty="0"/>
          </a:p>
          <a:p>
            <a:r>
              <a:rPr lang="en-US" altLang="zh-CN" dirty="0"/>
              <a:t>Stronger semantics are achievable</a:t>
            </a:r>
            <a:endParaRPr lang="en-US" altLang="zh-CN" dirty="0"/>
          </a:p>
          <a:p>
            <a:pPr lvl="1"/>
            <a:r>
              <a:rPr lang="en-US" altLang="zh-CN" dirty="0"/>
              <a:t>Greater scale != weaker semantics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/>
          </a:solidFill>
          <a:tailEnd type="arrow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38301</Words>
  <Application>WPS 演示</Application>
  <PresentationFormat>全屏显示(16:10)</PresentationFormat>
  <Paragraphs>3717</Paragraphs>
  <Slides>129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57" baseType="lpstr">
      <vt:lpstr>Arial</vt:lpstr>
      <vt:lpstr>宋体</vt:lpstr>
      <vt:lpstr>Wingdings</vt:lpstr>
      <vt:lpstr>等线</vt:lpstr>
      <vt:lpstr>微软雅黑 Light</vt:lpstr>
      <vt:lpstr>PingFang SC Bold</vt:lpstr>
      <vt:lpstr>PingFang SC</vt:lpstr>
      <vt:lpstr>微软雅黑</vt:lpstr>
      <vt:lpstr>Calibri</vt:lpstr>
      <vt:lpstr>Verdana</vt:lpstr>
      <vt:lpstr>Eras Medium ITC</vt:lpstr>
      <vt:lpstr>MS PGothic</vt:lpstr>
      <vt:lpstr>Tahoma</vt:lpstr>
      <vt:lpstr>Candara</vt:lpstr>
      <vt:lpstr>Comic Sans MS</vt:lpstr>
      <vt:lpstr>Arial Unicode MS</vt:lpstr>
      <vt:lpstr>Arial</vt:lpstr>
      <vt:lpstr>Consolas</vt:lpstr>
      <vt:lpstr>Times New Roman</vt:lpstr>
      <vt:lpstr>Lato</vt:lpstr>
      <vt:lpstr>Calibri</vt:lpstr>
      <vt:lpstr>Cambria Math</vt:lpstr>
      <vt:lpstr>Roboto</vt:lpstr>
      <vt:lpstr>思源黑体 CN Regular</vt:lpstr>
      <vt:lpstr>思源宋体 CN Heavy</vt:lpstr>
      <vt:lpstr>Symbol</vt:lpstr>
      <vt:lpstr>黑体</vt:lpstr>
      <vt:lpstr>1_Office 主题​​</vt:lpstr>
      <vt:lpstr>Multi-Paxos, Raft &amp; NewSQL Consistency across replicas</vt:lpstr>
      <vt:lpstr>Paxos Summary</vt:lpstr>
      <vt:lpstr>Paxos Setup</vt:lpstr>
      <vt:lpstr>Paxos in Action: Phase 0</vt:lpstr>
      <vt:lpstr>Paxos in Action: Phase 1a (Prepare)</vt:lpstr>
      <vt:lpstr>Paxos in Action: Phase 1b (Prepare)</vt:lpstr>
      <vt:lpstr>Paxos in Action: Phase 2a (Accept)</vt:lpstr>
      <vt:lpstr>Paxos in Action: Phase 2b (Accept)</vt:lpstr>
      <vt:lpstr>Paxos in Action: Phase 3 (Learn)</vt:lpstr>
      <vt:lpstr>PowerPoint 演示文稿</vt:lpstr>
      <vt:lpstr>Question</vt:lpstr>
      <vt:lpstr>Multi-Paxos builds on top of the basic Paxos </vt:lpstr>
      <vt:lpstr>Single-decree Paxos vs. Multi-Paxos </vt:lpstr>
      <vt:lpstr>PowerPoint 演示文稿</vt:lpstr>
      <vt:lpstr>Basic Multi-Paxos </vt:lpstr>
      <vt:lpstr>Basic Multi-Paxos </vt:lpstr>
      <vt:lpstr>Basic Multi-Paxos </vt:lpstr>
      <vt:lpstr>Basic Multi-Paxos </vt:lpstr>
      <vt:lpstr>PowerPoint 演示文稿</vt:lpstr>
      <vt:lpstr>Basic Multi-Paxos is correct but inefficient </vt:lpstr>
      <vt:lpstr>Multi-paxos uses a distinguished proposer (leader)</vt:lpstr>
      <vt:lpstr>Not relying a single leader simplifies user implementation</vt:lpstr>
      <vt:lpstr>Benefits of leader election: prepare message batching </vt:lpstr>
      <vt:lpstr>Benefits of leader election: prepare message batching </vt:lpstr>
      <vt:lpstr>Problem: hole in the log</vt:lpstr>
      <vt:lpstr>Summary of Multi-Paxos </vt:lpstr>
      <vt:lpstr>More: Raft replicated log </vt:lpstr>
      <vt:lpstr>Why learn raft? </vt:lpstr>
      <vt:lpstr>Abstraction of the operations: replicated log </vt:lpstr>
      <vt:lpstr>Raft’s high-level approach: problem decomposition </vt:lpstr>
      <vt:lpstr>Raft server states </vt:lpstr>
      <vt:lpstr>Raft server states </vt:lpstr>
      <vt:lpstr>Raft basics: terms for one leader  </vt:lpstr>
      <vt:lpstr>Raft server state switch: Heartbeats &amp; Timeouts </vt:lpstr>
      <vt:lpstr>Election Basics </vt:lpstr>
      <vt:lpstr>Election Basics </vt:lpstr>
      <vt:lpstr>Election requirements: safety </vt:lpstr>
      <vt:lpstr>Election requirements: liveness  </vt:lpstr>
      <vt:lpstr>Persistent state of each server so far </vt:lpstr>
      <vt:lpstr>Basic request vote RPC so far  </vt:lpstr>
      <vt:lpstr>Raft’s high-level approach: problem decomposition </vt:lpstr>
      <vt:lpstr>Log structure </vt:lpstr>
      <vt:lpstr>Persistent state of each server + log </vt:lpstr>
      <vt:lpstr>Normal operations to update the log </vt:lpstr>
      <vt:lpstr>Normal operations to update the log </vt:lpstr>
      <vt:lpstr>Challenge: crash can cause log to inconsistencies </vt:lpstr>
      <vt:lpstr>Challenge: crash can cause log to inconsistencies </vt:lpstr>
      <vt:lpstr>Consistency of the log </vt:lpstr>
      <vt:lpstr>AppendEntries consistency checks </vt:lpstr>
      <vt:lpstr>Why can rejection happens? Leader changes </vt:lpstr>
      <vt:lpstr>Handle rejections </vt:lpstr>
      <vt:lpstr>More on Repairing Follower Logs</vt:lpstr>
      <vt:lpstr>AppendEntries RPC (Simplified) </vt:lpstr>
      <vt:lpstr>AppendEntries RPC (Simplified) </vt:lpstr>
      <vt:lpstr>PowerPoint 演示文稿</vt:lpstr>
      <vt:lpstr>Intuitive result:  replicating on a majority </vt:lpstr>
      <vt:lpstr>Case study: raft overwriting </vt:lpstr>
      <vt:lpstr>Case study: raft overwriting </vt:lpstr>
      <vt:lpstr>Safety requirement of the commit entry </vt:lpstr>
      <vt:lpstr>PowerPoint 演示文稿</vt:lpstr>
      <vt:lpstr>Committing Entry from the Current Term </vt:lpstr>
      <vt:lpstr>Picking the Best Leader</vt:lpstr>
      <vt:lpstr>Comparing the best leader </vt:lpstr>
      <vt:lpstr>Committing Entry from the Current Term </vt:lpstr>
      <vt:lpstr>Complete picture of request vote RPC </vt:lpstr>
      <vt:lpstr>Commit rule for raft so far </vt:lpstr>
      <vt:lpstr>Case study: a majority replicated entry can be overwritten </vt:lpstr>
      <vt:lpstr>Case study: a majority replicated entry can be overwritten </vt:lpstr>
      <vt:lpstr>Committing Entry from Earlier Term</vt:lpstr>
      <vt:lpstr>Commit rules </vt:lpstr>
      <vt:lpstr>Neutralizing Old Leaders</vt:lpstr>
      <vt:lpstr>PowerPoint 演示文稿</vt:lpstr>
      <vt:lpstr>Problems faced by large-scale company </vt:lpstr>
      <vt:lpstr>How to shard? </vt:lpstr>
      <vt:lpstr>Problems faced by large-scale company </vt:lpstr>
      <vt:lpstr>Problems faced by large-scale company </vt:lpstr>
      <vt:lpstr>Question: is a replication factor of 2 ok?</vt:lpstr>
      <vt:lpstr>Replications causes consistency problem </vt:lpstr>
      <vt:lpstr>Solution: Paxos for single-copy consistency  </vt:lpstr>
      <vt:lpstr>Geo-replicated datacenters</vt:lpstr>
      <vt:lpstr>Replication within a DC is insufficient </vt:lpstr>
      <vt:lpstr>Spanner further replicates the data across datacenters</vt:lpstr>
      <vt:lpstr>2-phase commit + 2-phase locking </vt:lpstr>
      <vt:lpstr>Big picture of Spanner 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Execution flow of read-write transaction(TX)</vt:lpstr>
      <vt:lpstr>Read-write TX: put it all together </vt:lpstr>
      <vt:lpstr>Read-write TX: put it together </vt:lpstr>
      <vt:lpstr>Read-write TX of Spanner so far </vt:lpstr>
      <vt:lpstr>What about read-only TX? </vt:lpstr>
      <vt:lpstr>Review: Multi-version Concurrency Control</vt:lpstr>
      <vt:lpstr>Review: Snapshot Isolation</vt:lpstr>
      <vt:lpstr>Idea: use 2PL for read-write TX, MVCC for read-only TX</vt:lpstr>
      <vt:lpstr>MV-2PL: read-write TX (w/o 2PC &amp; Paxos for simplicity)</vt:lpstr>
      <vt:lpstr>MV-2PL: read-only TX </vt:lpstr>
      <vt:lpstr>Question remains: how do we assign the time to TXs? </vt:lpstr>
      <vt:lpstr>PowerPoint 演示文稿</vt:lpstr>
      <vt:lpstr>Global time is inefficient for Spanner’s use case </vt:lpstr>
      <vt:lpstr>Cache the time locally to avoid querying the global counter</vt:lpstr>
      <vt:lpstr>Cache global counter to avoid frequently reads</vt:lpstr>
      <vt:lpstr>Example revisit w/ cached time</vt:lpstr>
      <vt:lpstr>Drawbacks of cached time </vt:lpstr>
      <vt:lpstr>Drawbacks of cached time </vt:lpstr>
      <vt:lpstr>Challenge of the timing in MVCC so far </vt:lpstr>
      <vt:lpstr>PowerPoint 演示文稿</vt:lpstr>
      <vt:lpstr>TrueTime API of Spanner</vt:lpstr>
      <vt:lpstr>Power of TrueTime API (return [L,U])</vt:lpstr>
      <vt:lpstr>Power of TrueTime API (return [L,U])</vt:lpstr>
      <vt:lpstr>Power of TrueTime API (return [L,U])</vt:lpstr>
      <vt:lpstr>PowerPoint 演示文稿</vt:lpstr>
      <vt:lpstr>TrueTime: how to achieve the bound? </vt:lpstr>
      <vt:lpstr>TrueTime: how to calculate the bound? </vt:lpstr>
      <vt:lpstr>TrueTime: how to calculate the bound? </vt:lpstr>
      <vt:lpstr>TrueTime: how to calculate the bound? </vt:lpstr>
      <vt:lpstr>TrueTime: how to calculate the bound? </vt:lpstr>
      <vt:lpstr>Commit wait revisited </vt:lpstr>
      <vt:lpstr>TrueTime adopts multiple time servers</vt:lpstr>
      <vt:lpstr>TrueTime adopts multiple time servers</vt:lpstr>
      <vt:lpstr>Final takeaway of TrueTime: Network-Induced Uncertainty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245</cp:revision>
  <cp:lastPrinted>2020-03-02T13:38:00Z</cp:lastPrinted>
  <dcterms:created xsi:type="dcterms:W3CDTF">2017-11-24T09:35:00Z</dcterms:created>
  <dcterms:modified xsi:type="dcterms:W3CDTF">2024-11-19T01:55:57Z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4137E96311D34A04BBB920EDED6F33D4_12</vt:lpwstr>
  </property>
  <property fmtid="{D5CDD505-2E9C-101B-9397-08002B2CF9AE}" pid="3" name="KSOProductBuildVer">
    <vt:lpwstr>2052-12.1.0.18912</vt:lpwstr>
  </property>
</Properties>
</file>