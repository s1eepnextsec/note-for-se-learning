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1"/>
  </p:handoutMasterIdLst>
  <p:sldIdLst>
    <p:sldId id="2241" r:id="rId3"/>
    <p:sldId id="409" r:id="rId5"/>
    <p:sldId id="410" r:id="rId6"/>
    <p:sldId id="411" r:id="rId7"/>
    <p:sldId id="413" r:id="rId8"/>
    <p:sldId id="414" r:id="rId9"/>
    <p:sldId id="338" r:id="rId10"/>
    <p:sldId id="348" r:id="rId11"/>
    <p:sldId id="350" r:id="rId12"/>
    <p:sldId id="339" r:id="rId13"/>
    <p:sldId id="2765" r:id="rId14"/>
    <p:sldId id="341" r:id="rId15"/>
    <p:sldId id="342" r:id="rId16"/>
    <p:sldId id="343" r:id="rId17"/>
    <p:sldId id="344" r:id="rId18"/>
    <p:sldId id="345" r:id="rId19"/>
    <p:sldId id="2766" r:id="rId20"/>
    <p:sldId id="2764" r:id="rId21"/>
    <p:sldId id="556" r:id="rId22"/>
    <p:sldId id="557" r:id="rId23"/>
    <p:sldId id="558" r:id="rId24"/>
    <p:sldId id="559" r:id="rId25"/>
    <p:sldId id="560" r:id="rId26"/>
    <p:sldId id="561" r:id="rId27"/>
    <p:sldId id="562" r:id="rId28"/>
    <p:sldId id="563" r:id="rId29"/>
    <p:sldId id="564" r:id="rId30"/>
    <p:sldId id="565" r:id="rId31"/>
    <p:sldId id="566" r:id="rId32"/>
    <p:sldId id="567" r:id="rId33"/>
    <p:sldId id="568" r:id="rId34"/>
    <p:sldId id="569" r:id="rId35"/>
    <p:sldId id="570" r:id="rId36"/>
    <p:sldId id="571" r:id="rId37"/>
    <p:sldId id="572" r:id="rId38"/>
    <p:sldId id="573" r:id="rId39"/>
    <p:sldId id="574" r:id="rId40"/>
    <p:sldId id="575" r:id="rId41"/>
    <p:sldId id="580" r:id="rId42"/>
    <p:sldId id="581" r:id="rId43"/>
    <p:sldId id="576" r:id="rId44"/>
    <p:sldId id="577" r:id="rId45"/>
    <p:sldId id="578" r:id="rId46"/>
    <p:sldId id="579" r:id="rId47"/>
    <p:sldId id="582" r:id="rId48"/>
    <p:sldId id="594" r:id="rId49"/>
    <p:sldId id="2726" r:id="rId5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4" userDrawn="1">
          <p15:clr>
            <a:srgbClr val="A4A3A4"/>
          </p15:clr>
        </p15:guide>
        <p15:guide id="3" pos="52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0432FF"/>
    <a:srgbClr val="0066B8"/>
    <a:srgbClr val="BD374B"/>
    <a:srgbClr val="BE374B"/>
    <a:srgbClr val="EACBA3"/>
    <a:srgbClr val="E2EAF7"/>
    <a:srgbClr val="FF5F00"/>
    <a:srgbClr val="FF7E79"/>
    <a:srgbClr val="F6F9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3" autoAdjust="0"/>
    <p:restoredTop sz="88708" autoAdjust="0"/>
  </p:normalViewPr>
  <p:slideViewPr>
    <p:cSldViewPr showGuides="1">
      <p:cViewPr varScale="1">
        <p:scale>
          <a:sx n="161" d="100"/>
          <a:sy n="161" d="100"/>
        </p:scale>
        <p:origin x="2144" y="184"/>
      </p:cViewPr>
      <p:guideLst>
        <p:guide orient="horz" pos="2934"/>
        <p:guide pos="5284"/>
      </p:guideLst>
    </p:cSldViewPr>
  </p:slideViewPr>
  <p:outlineViewPr>
    <p:cViewPr>
      <p:scale>
        <a:sx n="33" d="100"/>
        <a:sy n="33" d="100"/>
      </p:scale>
      <p:origin x="0" y="-572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7.xml"/><Relationship Id="rId7" Type="http://schemas.openxmlformats.org/officeDocument/2006/relationships/slide" Target="slides/slide16.xml"/><Relationship Id="rId6" Type="http://schemas.openxmlformats.org/officeDocument/2006/relationships/slide" Target="slides/slide15.xml"/><Relationship Id="rId5" Type="http://schemas.openxmlformats.org/officeDocument/2006/relationships/slide" Target="slides/slide14.xml"/><Relationship Id="rId4" Type="http://schemas.openxmlformats.org/officeDocument/2006/relationships/slide" Target="slides/slide13.xml"/><Relationship Id="rId3" Type="http://schemas.openxmlformats.org/officeDocument/2006/relationships/slide" Target="slides/slide12.xml"/><Relationship Id="rId2" Type="http://schemas.openxmlformats.org/officeDocument/2006/relationships/slide" Target="slides/slide11.xml"/><Relationship Id="rId1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C5DDC72-24A6-914B-BC07-4BC853EA3881}" type="slidenum">
              <a:rPr lang="en-US" altLang="zh-CN" sz="1300" b="0">
                <a:latin typeface="Times New Roman" panose="02020603050405020304" pitchFamily="18" charset="0"/>
              </a:rPr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1D85448-B993-BF47-A4EB-2768BE487AB6}" type="slidenum">
              <a:rPr lang="en-US" altLang="zh-CN" sz="1300" b="0">
                <a:latin typeface="Times New Roman" panose="02020603050405020304" pitchFamily="18" charset="0"/>
              </a:rPr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3A5738F-F23C-944C-A3C1-45F04E0A168D}" type="slidenum">
              <a:rPr lang="en-US" altLang="zh-CN" sz="1300" b="0">
                <a:latin typeface="Times New Roman" panose="02020603050405020304" pitchFamily="18" charset="0"/>
              </a:rPr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E705657-BE0C-F048-8915-275F1D48C388}" type="slidenum">
              <a:rPr lang="en-US" altLang="zh-CN" sz="1300" b="0">
                <a:latin typeface="Times New Roman" panose="02020603050405020304" pitchFamily="18" charset="0"/>
              </a:rPr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C3527D0-4620-3E4A-A3C2-1CB60E4AD65B}" type="slidenum">
              <a:rPr lang="en-US" altLang="zh-CN" sz="1300" b="0">
                <a:latin typeface="Times New Roman" panose="02020603050405020304" pitchFamily="18" charset="0"/>
              </a:rPr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AB5B44B-6F0C-6C4C-8D97-677B227A0AE4}" type="slidenum">
              <a:rPr lang="en-US" altLang="zh-CN" sz="1300" b="0">
                <a:latin typeface="Times New Roman" panose="02020603050405020304" pitchFamily="18" charset="0"/>
              </a:rPr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5C210D7-8EAD-DE4B-9A38-7DE6D7FFDE2D}" type="slidenum">
              <a:rPr lang="en-US" altLang="zh-CN" sz="1300" b="0">
                <a:latin typeface="Times New Roman" panose="02020603050405020304" pitchFamily="18" charset="0"/>
              </a:rPr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F2E7889-153D-6046-B358-41891FB68BF3}" type="slidenum">
              <a:rPr lang="en-US" altLang="zh-CN" sz="1300" b="0">
                <a:latin typeface="Times New Roman" panose="02020603050405020304" pitchFamily="18" charset="0"/>
              </a:rPr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4FB40F2-56E9-A84C-BC62-BEFE788C54F7}" type="slidenum">
              <a:rPr lang="en-US" altLang="zh-CN" sz="1300" b="0">
                <a:latin typeface="Times New Roman" panose="02020603050405020304" pitchFamily="18" charset="0"/>
              </a:rPr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defTabSz="957580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3954369-30F9-EA4F-8528-B7A01D5A0150}" type="slidenum">
              <a:rPr lang="en-US" altLang="zh-CN" sz="1300" b="0">
                <a:latin typeface="Times New Roman" panose="02020603050405020304" pitchFamily="18" charset="0"/>
              </a:rPr>
            </a:fld>
            <a:endParaRPr lang="en-US" altLang="zh-CN" sz="1300" b="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nb-NO" altLang="zh-CN"/>
              <a:t>** Challenges:</a:t>
            </a:r>
            <a:endParaRPr lang="nb-NO" altLang="zh-CN"/>
          </a:p>
          <a:p>
            <a:pPr eaLnBrk="1" hangingPunct="1"/>
            <a:r>
              <a:rPr lang="en-US" altLang="zh-CN"/>
              <a:t>  Tracking which peer has what</a:t>
            </a:r>
            <a:endParaRPr lang="en-US" altLang="zh-CN"/>
          </a:p>
          <a:p>
            <a:pPr eaLnBrk="1" hangingPunct="1"/>
            <a:r>
              <a:rPr lang="en-US" altLang="zh-CN"/>
              <a:t>  Handling high churn rates</a:t>
            </a:r>
            <a:endParaRPr lang="en-US" altLang="zh-CN"/>
          </a:p>
          <a:p>
            <a:pPr eaLnBrk="1" hangingPunct="1"/>
            <a:r>
              <a:rPr lang="en-US" altLang="zh-CN"/>
              <a:t>  Download rate proportional to upload rate</a:t>
            </a:r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6349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AB4C55A4-2FC0-3146-B861-FE2C92924457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   strict?</a:t>
            </a:r>
            <a:endParaRPr lang="en-US" altLang="zh-CN" dirty="0"/>
          </a:p>
          <a:p>
            <a:pPr eaLnBrk="1" hangingPunct="1"/>
            <a:r>
              <a:rPr lang="en-US" altLang="zh-CN" dirty="0"/>
              <a:t>rarest first?</a:t>
            </a:r>
            <a:endParaRPr lang="en-US" altLang="zh-CN" dirty="0"/>
          </a:p>
          <a:p>
            <a:pPr eaLnBrk="1" hangingPunct="1"/>
            <a:r>
              <a:rPr lang="en-US" altLang="zh-CN" dirty="0"/>
              <a:t>    ensures that every piece is widely available</a:t>
            </a:r>
            <a:endParaRPr lang="en-US" altLang="zh-CN" dirty="0"/>
          </a:p>
          <a:p>
            <a:pPr eaLnBrk="1" hangingPunct="1"/>
            <a:r>
              <a:rPr lang="en-US" altLang="zh-CN" dirty="0"/>
              <a:t>    also helps with the seed and bootstrapping rapidly</a:t>
            </a:r>
            <a:endParaRPr lang="en-US" altLang="zh-CN" dirty="0"/>
          </a:p>
          <a:p>
            <a:pPr eaLnBrk="1" hangingPunct="1"/>
            <a:r>
              <a:rPr lang="en-US" altLang="zh-CN" dirty="0"/>
              <a:t>    won't retrieve the same piece multiple times from the seed</a:t>
            </a:r>
            <a:endParaRPr lang="en-US" altLang="zh-CN" dirty="0"/>
          </a:p>
          <a:p>
            <a:pPr eaLnBrk="1" hangingPunct="1"/>
            <a:r>
              <a:rPr lang="es-ES_tradnl" altLang="zh-CN" dirty="0" err="1"/>
              <a:t>random</a:t>
            </a:r>
            <a:r>
              <a:rPr lang="es-ES_tradnl" altLang="zh-CN" dirty="0"/>
              <a:t>?</a:t>
            </a:r>
            <a:endParaRPr lang="es-ES_tradnl" altLang="zh-CN" dirty="0"/>
          </a:p>
          <a:p>
            <a:pPr eaLnBrk="1" hangingPunct="1"/>
            <a:r>
              <a:rPr lang="en-US" altLang="zh-CN" dirty="0"/>
              <a:t>    avoid overloading seed when starting download</a:t>
            </a:r>
            <a:endParaRPr lang="en-US" altLang="zh-CN" dirty="0"/>
          </a:p>
          <a:p>
            <a:pPr eaLnBrk="1" hangingPunct="1"/>
            <a:r>
              <a:rPr lang="en-US" altLang="zh-CN" dirty="0"/>
              <a:t>    if peer has no piece, get as quickly as possible a piece so that it can upload</a:t>
            </a:r>
            <a:endParaRPr lang="en-US" altLang="zh-CN" dirty="0"/>
          </a:p>
          <a:p>
            <a:pPr eaLnBrk="1" hangingPunct="1"/>
            <a:r>
              <a:rPr lang="en-US" altLang="zh-CN" dirty="0"/>
              <a:t>    don't use rarest because it is likely only one peer has it</a:t>
            </a:r>
            <a:endParaRPr lang="en-US" altLang="zh-CN" dirty="0"/>
          </a:p>
          <a:p>
            <a:pPr eaLnBrk="1" hangingPunct="1"/>
            <a:r>
              <a:rPr lang="en-US" altLang="zh-CN" dirty="0"/>
              <a:t>    --&gt; use random, can download </a:t>
            </a:r>
            <a:r>
              <a:rPr lang="en-US" altLang="zh-CN" dirty="0" err="1"/>
              <a:t>subpieces</a:t>
            </a:r>
            <a:r>
              <a:rPr lang="en-US" altLang="zh-CN" dirty="0"/>
              <a:t> in parallel</a:t>
            </a:r>
            <a:endParaRPr lang="en-US" altLang="zh-CN" dirty="0"/>
          </a:p>
          <a:p>
            <a:pPr eaLnBrk="1" hangingPunct="1"/>
            <a:r>
              <a:rPr lang="en-US" altLang="zh-CN" dirty="0"/>
              <a:t>parallel download of same pieces?</a:t>
            </a:r>
            <a:endParaRPr lang="en-US" altLang="zh-CN" dirty="0"/>
          </a:p>
          <a:p>
            <a:pPr eaLnBrk="1" hangingPunct="1"/>
            <a:r>
              <a:rPr lang="en-US" altLang="zh-CN" dirty="0"/>
              <a:t>    avoid waiting on slowest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4657855-F5EA-F946-9A14-7678F5F42D40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options: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data,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ID,</a:t>
            </a:r>
            <a:r>
              <a:rPr kumimoji="1" lang="zh-CN" altLang="en-US" dirty="0"/>
              <a:t> </a:t>
            </a:r>
            <a:r>
              <a:rPr kumimoji="1" lang="en-US" altLang="zh-CN" dirty="0"/>
              <a:t>who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data.</a:t>
            </a:r>
            <a:r>
              <a:rPr kumimoji="1" lang="zh-CN" altLang="en-US" dirty="0"/>
              <a:t> </a:t>
            </a:r>
            <a:r>
              <a:rPr kumimoji="1" lang="en-US" altLang="zh-CN" dirty="0"/>
              <a:t>focus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latter.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xx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800" b="1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60045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581025" indent="-225425">
              <a:lnSpc>
                <a:spcPct val="120000"/>
              </a:lnSpc>
              <a:defRPr sz="1800" b="0" i="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ea"/>
                <a:ea typeface="+mn-ea"/>
                <a:cs typeface="PingFang SC" panose="020B0400000000000000" pitchFamily="34" charset="-122"/>
              </a:defRPr>
            </a:lvl5pPr>
          </a:lstStyle>
          <a:p>
            <a:pPr lvl="0"/>
            <a:r>
              <a:rPr lang="en-US" altLang="zh-CN" dirty="0" err="1"/>
              <a:t>yy</a:t>
            </a:r>
            <a:endParaRPr lang="zh-CN" altLang="en-US" dirty="0"/>
          </a:p>
          <a:p>
            <a:pPr lvl="1"/>
            <a:r>
              <a:rPr lang="en-US" altLang="zh-CN" dirty="0"/>
              <a:t>xx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sp>
        <p:nvSpPr>
          <p:cNvPr id="8" name="三角形 7"/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5"/>
            </a:lvl1pPr>
            <a:lvl2pPr>
              <a:defRPr sz="2000"/>
            </a:lvl2pPr>
            <a:lvl3pPr>
              <a:defRPr sz="166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5"/>
            </a:lvl1pPr>
            <a:lvl2pPr>
              <a:defRPr sz="2000"/>
            </a:lvl2pPr>
            <a:lvl3pPr>
              <a:defRPr sz="166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62C7B7-2D14-F44B-8D40-DE24D78A36FA}" type="datetime1">
              <a:rPr lang="en-US" altLang="zh-CN"/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0833A8-DD38-9C42-BA4E-5352862B030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662B19-828C-AE45-AAB3-F9122B4828A4}" type="datetime1">
              <a:rPr lang="en-US" altLang="zh-CN"/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C25B3A-250A-B846-B0F7-346AE111B7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defRPr>
            </a:lvl1pPr>
          </a:lstStyle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等线" panose="0201060003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tif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suprnova.org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31048" y="1492992"/>
            <a:ext cx="9358808" cy="158053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3200" dirty="0">
                <a:latin typeface="+mn-lt"/>
              </a:rPr>
              <a:t>P2P</a:t>
            </a:r>
            <a:r>
              <a:rPr kumimoji="1" lang="zh-CN" altLang="en-US" sz="3200" dirty="0">
                <a:latin typeface="+mn-lt"/>
              </a:rPr>
              <a:t> </a:t>
            </a:r>
            <a:r>
              <a:rPr kumimoji="1" lang="en-US" altLang="zh-CN" sz="3200" dirty="0">
                <a:latin typeface="+mn-lt"/>
              </a:rPr>
              <a:t>Network</a:t>
            </a:r>
            <a:endParaRPr kumimoji="1" lang="zh-CN" altLang="en-US" sz="3200" dirty="0">
              <a:latin typeface="+mn-lt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IPADS,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Shanghai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Jiao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Tong</a:t>
            </a: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University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www.sjtu.edu.cn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/>
          <p:cNvSpPr txBox="1"/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+mj-lt"/>
              </a:rPr>
              <a:t>SE3331-1 (2024 Fall)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j-lt"/>
              <a:ea typeface="微软雅黑" panose="020B0503020204020204" charset="-122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</p:spPr>
      </p:pic>
      <p:sp>
        <p:nvSpPr>
          <p:cNvPr id="10" name="副标题 5"/>
          <p:cNvSpPr txBox="1"/>
          <p:nvPr/>
        </p:nvSpPr>
        <p:spPr>
          <a:xfrm>
            <a:off x="-6647" y="5210411"/>
            <a:ext cx="822452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等线" panose="02010600030101010101" charset="-122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xx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endParaRPr kumimoji="1" lang="en-GB" altLang="zh-CN" sz="18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26"/>
    </mc:Choice>
    <mc:Fallback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Content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Distribution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Files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Internet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Content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Distribution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load</a:t>
            </a:r>
            <a:r>
              <a:rPr kumimoji="1" lang="zh-CN" altLang="en-US" dirty="0"/>
              <a:t> </a:t>
            </a:r>
            <a:r>
              <a:rPr kumimoji="1" lang="en-US" altLang="zh-CN" dirty="0"/>
              <a:t>latency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over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Internet?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Especially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large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images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videos</a:t>
            </a:r>
            <a:endParaRPr kumimoji="1" lang="en-US" altLang="zh-CN" dirty="0"/>
          </a:p>
          <a:p>
            <a:r>
              <a:rPr kumimoji="1" lang="en-US" altLang="zh-CN" dirty="0"/>
              <a:t>Client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side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people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SJTU</a:t>
            </a:r>
            <a:r>
              <a:rPr kumimoji="1" lang="zh-CN" altLang="en-US" dirty="0"/>
              <a:t> </a:t>
            </a:r>
            <a:r>
              <a:rPr kumimoji="1" lang="en-US" altLang="zh-CN" dirty="0"/>
              <a:t>might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same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bandwidth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96FF"/>
                </a:solidFill>
              </a:rPr>
              <a:t>caching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copy</a:t>
            </a:r>
            <a:endParaRPr kumimoji="1" lang="en-US" altLang="zh-CN" dirty="0"/>
          </a:p>
          <a:p>
            <a:r>
              <a:rPr kumimoji="1" lang="en-US" altLang="zh-CN" dirty="0"/>
              <a:t>Server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side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clients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Push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i="1" dirty="0"/>
              <a:t>content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distribution</a:t>
            </a:r>
            <a:r>
              <a:rPr kumimoji="1" lang="zh-CN" altLang="en-US" i="1" dirty="0"/>
              <a:t> </a:t>
            </a:r>
            <a:r>
              <a:rPr kumimoji="1" lang="en-US" altLang="zh-CN" i="1" dirty="0"/>
              <a:t>network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(CDN)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Caching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9308"/>
            <a:ext cx="8363272" cy="377163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browser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caches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accessed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E.g.,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"back"</a:t>
            </a:r>
            <a:r>
              <a:rPr kumimoji="1" lang="zh-CN" altLang="en-US" dirty="0"/>
              <a:t> </a:t>
            </a:r>
            <a:r>
              <a:rPr kumimoji="1" lang="en-US" altLang="zh-CN" dirty="0"/>
              <a:t>button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operate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efficiently</a:t>
            </a:r>
            <a:endParaRPr kumimoji="1" lang="en-US" altLang="zh-CN" dirty="0"/>
          </a:p>
          <a:p>
            <a:r>
              <a:rPr kumimoji="1" lang="en-US" altLang="zh-CN" dirty="0"/>
              <a:t>Web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proxies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accessed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URLs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bandwidth/time</a:t>
            </a:r>
            <a:r>
              <a:rPr kumimoji="1" lang="zh-CN" altLang="en-US" dirty="0"/>
              <a:t> </a:t>
            </a:r>
            <a:r>
              <a:rPr kumimoji="1" lang="en-US" altLang="zh-CN" dirty="0"/>
              <a:t>when</a:t>
            </a:r>
            <a:r>
              <a:rPr kumimoji="1" lang="zh-CN" altLang="en-US" dirty="0"/>
              <a:t> </a:t>
            </a:r>
            <a:r>
              <a:rPr kumimoji="1" lang="en-US" altLang="zh-CN" dirty="0"/>
              <a:t>multiple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people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same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URL</a:t>
            </a:r>
            <a:endParaRPr kumimoji="1" lang="en-US" altLang="zh-CN" dirty="0"/>
          </a:p>
          <a:p>
            <a:r>
              <a:rPr kumimoji="1" lang="en-US" altLang="zh-CN" dirty="0"/>
              <a:t>DNS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resolvers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resource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records</a:t>
            </a:r>
            <a:r>
              <a:rPr kumimoji="1" lang="zh-CN" altLang="en-US" dirty="0"/>
              <a:t> </a:t>
            </a:r>
            <a:r>
              <a:rPr kumimoji="1" lang="en-US" altLang="zh-CN" dirty="0"/>
              <a:t>(URL→IP)</a:t>
            </a:r>
            <a:endParaRPr kumimoji="1" lang="en-US" altLang="zh-CN" dirty="0"/>
          </a:p>
          <a:p>
            <a:r>
              <a:rPr kumimoji="1" lang="en-US" altLang="zh-CN" dirty="0"/>
              <a:t>NFS</a:t>
            </a:r>
            <a:r>
              <a:rPr kumimoji="1" lang="zh-CN" altLang="en-US" dirty="0"/>
              <a:t> </a:t>
            </a:r>
            <a:r>
              <a:rPr kumimoji="1" lang="en-US" altLang="zh-CN" dirty="0"/>
              <a:t>clients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read/written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Content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Distribution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Network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(CDN)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Network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computers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that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replicate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content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across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Internet</a:t>
            </a:r>
            <a:endParaRPr kumimoji="1" lang="en-US" altLang="zh-CN" sz="2000" dirty="0"/>
          </a:p>
          <a:p>
            <a:pPr lvl="1"/>
            <a:r>
              <a:rPr kumimoji="1" lang="en-US" altLang="zh-CN" dirty="0"/>
              <a:t>Bringing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requests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End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(not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shared)</a:t>
            </a:r>
            <a:r>
              <a:rPr kumimoji="1" lang="zh-CN" altLang="en-US" dirty="0"/>
              <a:t> </a:t>
            </a:r>
            <a:r>
              <a:rPr kumimoji="1" lang="en-US" altLang="zh-CN" dirty="0"/>
              <a:t>network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capacity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sz="2000" dirty="0"/>
              <a:t>Content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providers</a:t>
            </a:r>
            <a:r>
              <a:rPr kumimoji="1" lang="zh-CN" altLang="en-US" sz="2000" dirty="0"/>
              <a:t> </a:t>
            </a:r>
            <a:r>
              <a:rPr kumimoji="1" lang="en-US" altLang="zh-CN" sz="2000" dirty="0">
                <a:solidFill>
                  <a:srgbClr val="0096FF"/>
                </a:solidFill>
              </a:rPr>
              <a:t>actively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pushes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data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into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network</a:t>
            </a:r>
            <a:endParaRPr kumimoji="1" lang="en-US" altLang="zh-CN" sz="2000" dirty="0"/>
          </a:p>
          <a:p>
            <a:pPr lvl="1"/>
            <a:r>
              <a:rPr kumimoji="1" lang="en-US" altLang="zh-CN" dirty="0"/>
              <a:t>Improve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performance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costs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Content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Distribution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Network</a:t>
            </a:r>
            <a:r>
              <a:rPr kumimoji="1" lang="zh-CN" altLang="en-US" dirty="0"/>
              <a:t> </a:t>
            </a:r>
            <a:r>
              <a:rPr kumimoji="1" lang="en-US" altLang="zh-CN" dirty="0"/>
              <a:t>(CDN)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1" y="1921396"/>
            <a:ext cx="8229600" cy="304076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0663" y="1156020"/>
            <a:ext cx="4664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i="1" dirty="0"/>
              <a:t>Akamai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Server Selection Mechanism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>
                <a:ea typeface="MS PGothic" panose="020B0600070205080204" pitchFamily="34" charset="-128"/>
                <a:sym typeface="Wingdings" panose="05000000000000000000" pitchFamily="2" charset="2"/>
              </a:rPr>
              <a:t>Application</a:t>
            </a:r>
            <a:endParaRPr lang="en-US" altLang="zh-CN" sz="2000" b="1" dirty="0">
              <a:ea typeface="MS PGothic" panose="020B0600070205080204" pitchFamily="34" charset="-128"/>
              <a:sym typeface="Wingdings" panose="05000000000000000000" pitchFamily="2" charset="2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  <a:sym typeface="Wingdings" panose="05000000000000000000" pitchFamily="2" charset="2"/>
              </a:rPr>
              <a:t>HTTP redirection</a:t>
            </a:r>
            <a:endParaRPr lang="en-US" altLang="zh-CN" sz="1800" dirty="0">
              <a:ea typeface="MS PGothic" panose="020B0600070205080204" pitchFamily="34" charset="-128"/>
              <a:sym typeface="Wingdings" panose="05000000000000000000" pitchFamily="2" charset="2"/>
            </a:endParaRPr>
          </a:p>
        </p:txBody>
      </p:sp>
      <p:sp>
        <p:nvSpPr>
          <p:cNvPr id="74" name="Content Placeholder 73"/>
          <p:cNvSpPr>
            <a:spLocks noGrp="1"/>
          </p:cNvSpPr>
          <p:nvPr>
            <p:ph sz="half" idx="2"/>
          </p:nvPr>
        </p:nvSpPr>
        <p:spPr>
          <a:xfrm>
            <a:off x="4635500" y="1333500"/>
            <a:ext cx="3746500" cy="3771636"/>
          </a:xfrm>
        </p:spPr>
        <p:txBody>
          <a:bodyPr/>
          <a:lstStyle/>
          <a:p>
            <a:r>
              <a:rPr lang="en-US" altLang="zh-CN" sz="2000" b="1" dirty="0">
                <a:ea typeface="MS PGothic" panose="020B0600070205080204" pitchFamily="34" charset="-128"/>
              </a:rPr>
              <a:t>Advantages</a:t>
            </a:r>
            <a:endParaRPr lang="en-US" altLang="zh-CN" sz="2000" b="1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Fine-grain control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Selection based on client IP address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r>
              <a:rPr lang="en-US" altLang="zh-CN" sz="2000" b="1" dirty="0">
                <a:ea typeface="MS PGothic" panose="020B0600070205080204" pitchFamily="34" charset="-128"/>
              </a:rPr>
              <a:t>Disadvantages</a:t>
            </a:r>
            <a:endParaRPr lang="en-US" altLang="zh-CN" sz="2000" b="1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Extra round-trips for TCP connection to server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Overhead on the server</a:t>
            </a:r>
            <a:endParaRPr lang="en-US" altLang="zh-CN" sz="1800" dirty="0">
              <a:ea typeface="MS PGothic" panose="020B0600070205080204" pitchFamily="34" charset="-128"/>
            </a:endParaRPr>
          </a:p>
        </p:txBody>
      </p:sp>
      <p:pic>
        <p:nvPicPr>
          <p:cNvPr id="36869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412750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85750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1" name="Picture 13" descr="Computer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3175000"/>
            <a:ext cx="1031875" cy="9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Straight Arrow Connector 21"/>
          <p:cNvCxnSpPr>
            <a:cxnSpLocks noChangeShapeType="1"/>
          </p:cNvCxnSpPr>
          <p:nvPr/>
        </p:nvCxnSpPr>
        <p:spPr bwMode="auto">
          <a:xfrm flipV="1">
            <a:off x="1587500" y="3048000"/>
            <a:ext cx="1968500" cy="44450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Arrow Connector 24"/>
          <p:cNvCxnSpPr>
            <a:cxnSpLocks noChangeShapeType="1"/>
          </p:cNvCxnSpPr>
          <p:nvPr/>
        </p:nvCxnSpPr>
        <p:spPr bwMode="auto">
          <a:xfrm rot="10800000" flipV="1">
            <a:off x="1587500" y="3175000"/>
            <a:ext cx="2032000" cy="50800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Arrow Connector 28"/>
          <p:cNvCxnSpPr>
            <a:cxnSpLocks noChangeShapeType="1"/>
          </p:cNvCxnSpPr>
          <p:nvPr/>
        </p:nvCxnSpPr>
        <p:spPr bwMode="auto">
          <a:xfrm>
            <a:off x="1587500" y="3683000"/>
            <a:ext cx="2159000" cy="57150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Arrow Connector 30"/>
          <p:cNvCxnSpPr>
            <a:cxnSpLocks noChangeShapeType="1"/>
          </p:cNvCxnSpPr>
          <p:nvPr/>
        </p:nvCxnSpPr>
        <p:spPr bwMode="auto">
          <a:xfrm rot="10800000">
            <a:off x="1651000" y="3873500"/>
            <a:ext cx="2095500" cy="63500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6" name="TextBox 33"/>
          <p:cNvSpPr txBox="1">
            <a:spLocks noChangeArrowheads="1"/>
          </p:cNvSpPr>
          <p:nvPr/>
        </p:nvSpPr>
        <p:spPr bwMode="auto">
          <a:xfrm>
            <a:off x="2095500" y="3048000"/>
            <a:ext cx="184731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/>
          </a:p>
        </p:txBody>
      </p:sp>
      <p:sp>
        <p:nvSpPr>
          <p:cNvPr id="33807" name="TextBox 34"/>
          <p:cNvSpPr txBox="1">
            <a:spLocks noChangeArrowheads="1"/>
          </p:cNvSpPr>
          <p:nvPr/>
        </p:nvSpPr>
        <p:spPr bwMode="auto">
          <a:xfrm>
            <a:off x="2222501" y="2921000"/>
            <a:ext cx="569387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665"/>
              <a:t>GET</a:t>
            </a:r>
            <a:endParaRPr lang="en-US" altLang="zh-CN" sz="1665"/>
          </a:p>
        </p:txBody>
      </p:sp>
      <p:sp>
        <p:nvSpPr>
          <p:cNvPr id="33808" name="TextBox 35"/>
          <p:cNvSpPr txBox="1">
            <a:spLocks noChangeArrowheads="1"/>
          </p:cNvSpPr>
          <p:nvPr/>
        </p:nvSpPr>
        <p:spPr bwMode="auto">
          <a:xfrm>
            <a:off x="2222500" y="3413125"/>
            <a:ext cx="121058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665"/>
              <a:t>Redirect</a:t>
            </a:r>
            <a:endParaRPr lang="en-US" altLang="zh-CN" sz="1665"/>
          </a:p>
        </p:txBody>
      </p:sp>
      <p:sp>
        <p:nvSpPr>
          <p:cNvPr id="33809" name="TextBox 38"/>
          <p:cNvSpPr txBox="1">
            <a:spLocks noChangeArrowheads="1"/>
          </p:cNvSpPr>
          <p:nvPr/>
        </p:nvSpPr>
        <p:spPr bwMode="auto">
          <a:xfrm>
            <a:off x="2984501" y="3810000"/>
            <a:ext cx="569387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665"/>
              <a:t>GET</a:t>
            </a:r>
            <a:endParaRPr lang="en-US" altLang="zh-CN" sz="1665"/>
          </a:p>
        </p:txBody>
      </p:sp>
      <p:sp>
        <p:nvSpPr>
          <p:cNvPr id="33810" name="TextBox 41"/>
          <p:cNvSpPr txBox="1">
            <a:spLocks noChangeArrowheads="1"/>
          </p:cNvSpPr>
          <p:nvPr/>
        </p:nvSpPr>
        <p:spPr bwMode="auto">
          <a:xfrm>
            <a:off x="2984500" y="4365625"/>
            <a:ext cx="44114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665"/>
              <a:t>OK</a:t>
            </a:r>
            <a:endParaRPr lang="en-US" altLang="zh-CN" sz="1665"/>
          </a:p>
        </p:txBody>
      </p:sp>
      <p:sp>
        <p:nvSpPr>
          <p:cNvPr id="36881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1608395" indent="-31227395"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381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762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143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524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275A32E-9968-2D4A-ADF6-EFE0F14CAF78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uild="p"/>
      <p:bldP spid="33807" grpId="0"/>
      <p:bldP spid="33808" grpId="0"/>
      <p:bldP spid="33809" grpId="0"/>
      <p:bldP spid="338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Server Selection Mechanism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sp>
        <p:nvSpPr>
          <p:cNvPr id="38915" name="Content Placeholder 40"/>
          <p:cNvSpPr>
            <a:spLocks noGrp="1"/>
          </p:cNvSpPr>
          <p:nvPr>
            <p:ph sz="half" idx="1"/>
          </p:nvPr>
        </p:nvSpPr>
        <p:spPr>
          <a:xfrm>
            <a:off x="548418" y="1225668"/>
            <a:ext cx="3365500" cy="3771636"/>
          </a:xfrm>
        </p:spPr>
        <p:txBody>
          <a:bodyPr/>
          <a:lstStyle/>
          <a:p>
            <a:r>
              <a:rPr lang="en-US" altLang="zh-CN" sz="2000" b="1" dirty="0">
                <a:ea typeface="MS PGothic" panose="020B0600070205080204" pitchFamily="34" charset="-128"/>
              </a:rPr>
              <a:t>Routing</a:t>
            </a:r>
            <a:endParaRPr lang="en-US" altLang="zh-CN" sz="2000" b="1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Anycast routing</a:t>
            </a:r>
            <a:endParaRPr lang="en-US" altLang="zh-CN" sz="1800" dirty="0">
              <a:ea typeface="MS PGothic" panose="020B0600070205080204" pitchFamily="34" charset="-128"/>
            </a:endParaRPr>
          </a:p>
        </p:txBody>
      </p:sp>
      <p:sp>
        <p:nvSpPr>
          <p:cNvPr id="63" name="Content Placeholder 62"/>
          <p:cNvSpPr>
            <a:spLocks noGrp="1"/>
          </p:cNvSpPr>
          <p:nvPr>
            <p:ph sz="half" idx="2"/>
          </p:nvPr>
        </p:nvSpPr>
        <p:spPr>
          <a:xfrm>
            <a:off x="4952689" y="1225668"/>
            <a:ext cx="3987800" cy="3771636"/>
          </a:xfrm>
        </p:spPr>
        <p:txBody>
          <a:bodyPr>
            <a:noAutofit/>
          </a:bodyPr>
          <a:lstStyle/>
          <a:p>
            <a:r>
              <a:rPr lang="en-US" altLang="zh-CN" sz="2000" b="1" dirty="0">
                <a:ea typeface="MS PGothic" panose="020B0600070205080204" pitchFamily="34" charset="-128"/>
              </a:rPr>
              <a:t>Advantages</a:t>
            </a:r>
            <a:endParaRPr lang="en-US" altLang="zh-CN" sz="2000" b="1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No extra round trips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pPr lvl="1">
              <a:spcAft>
                <a:spcPts val="1000"/>
              </a:spcAft>
            </a:pPr>
            <a:r>
              <a:rPr lang="en-US" altLang="zh-CN" sz="1800" dirty="0">
                <a:ea typeface="MS PGothic" panose="020B0600070205080204" pitchFamily="34" charset="-128"/>
              </a:rPr>
              <a:t>Route to nearby server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r>
              <a:rPr lang="en-US" altLang="zh-CN" sz="2000" b="1" dirty="0">
                <a:ea typeface="MS PGothic" panose="020B0600070205080204" pitchFamily="34" charset="-128"/>
              </a:rPr>
              <a:t>Disadvantages</a:t>
            </a:r>
            <a:endParaRPr lang="en-US" altLang="zh-CN" sz="2000" b="1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Does not consider network or server load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Different packets may go to different servers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Used only for simple request-response apps</a:t>
            </a:r>
            <a:endParaRPr lang="en-US" altLang="zh-CN" sz="1800" dirty="0">
              <a:ea typeface="MS PGothic" panose="020B0600070205080204" pitchFamily="34" charset="-128"/>
            </a:endParaRPr>
          </a:p>
        </p:txBody>
      </p:sp>
      <p:grpSp>
        <p:nvGrpSpPr>
          <p:cNvPr id="38917" name="Group 69"/>
          <p:cNvGrpSpPr/>
          <p:nvPr/>
        </p:nvGrpSpPr>
        <p:grpSpPr bwMode="auto">
          <a:xfrm>
            <a:off x="971600" y="2425452"/>
            <a:ext cx="3619500" cy="2634834"/>
            <a:chOff x="4800600" y="3200400"/>
            <a:chExt cx="4343400" cy="3161862"/>
          </a:xfrm>
        </p:grpSpPr>
        <p:grpSp>
          <p:nvGrpSpPr>
            <p:cNvPr id="3" name="Group 3"/>
            <p:cNvGrpSpPr/>
            <p:nvPr/>
          </p:nvGrpSpPr>
          <p:grpSpPr bwMode="auto">
            <a:xfrm>
              <a:off x="5486400" y="4191000"/>
              <a:ext cx="2819400" cy="1600200"/>
              <a:chOff x="3360" y="96"/>
              <a:chExt cx="1056" cy="720"/>
            </a:xfrm>
            <a:solidFill>
              <a:srgbClr val="8EB4E3"/>
            </a:solidFill>
          </p:grpSpPr>
          <p:sp>
            <p:nvSpPr>
              <p:cNvPr id="46" name="Oval 4"/>
              <p:cNvSpPr>
                <a:spLocks noChangeArrowheads="1"/>
              </p:cNvSpPr>
              <p:nvPr/>
            </p:nvSpPr>
            <p:spPr bwMode="auto">
              <a:xfrm>
                <a:off x="3360" y="144"/>
                <a:ext cx="528" cy="384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1500">
                  <a:latin typeface="Courier New" panose="02070309020205020404" pitchFamily="49" charset="0"/>
                </a:endParaRPr>
              </a:p>
            </p:txBody>
          </p:sp>
          <p:sp>
            <p:nvSpPr>
              <p:cNvPr id="47" name="Oval 5"/>
              <p:cNvSpPr>
                <a:spLocks noChangeArrowheads="1"/>
              </p:cNvSpPr>
              <p:nvPr/>
            </p:nvSpPr>
            <p:spPr bwMode="auto">
              <a:xfrm>
                <a:off x="3600" y="96"/>
                <a:ext cx="528" cy="384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1500">
                  <a:latin typeface="Courier New" panose="02070309020205020404" pitchFamily="49" charset="0"/>
                </a:endParaRPr>
              </a:p>
            </p:txBody>
          </p:sp>
          <p:sp>
            <p:nvSpPr>
              <p:cNvPr id="48" name="Oval 6"/>
              <p:cNvSpPr>
                <a:spLocks noChangeArrowheads="1"/>
              </p:cNvSpPr>
              <p:nvPr/>
            </p:nvSpPr>
            <p:spPr bwMode="auto">
              <a:xfrm>
                <a:off x="3840" y="192"/>
                <a:ext cx="528" cy="384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1500">
                  <a:latin typeface="Courier New" panose="02070309020205020404" pitchFamily="49" charset="0"/>
                </a:endParaRPr>
              </a:p>
            </p:txBody>
          </p:sp>
          <p:sp>
            <p:nvSpPr>
              <p:cNvPr id="49" name="Oval 7"/>
              <p:cNvSpPr>
                <a:spLocks noChangeArrowheads="1"/>
              </p:cNvSpPr>
              <p:nvPr/>
            </p:nvSpPr>
            <p:spPr bwMode="auto">
              <a:xfrm>
                <a:off x="3888" y="432"/>
                <a:ext cx="528" cy="384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1500">
                  <a:latin typeface="Courier New" panose="02070309020205020404" pitchFamily="49" charset="0"/>
                </a:endParaRPr>
              </a:p>
            </p:txBody>
          </p:sp>
          <p:sp>
            <p:nvSpPr>
              <p:cNvPr id="50" name="Oval 8"/>
              <p:cNvSpPr>
                <a:spLocks noChangeArrowheads="1"/>
              </p:cNvSpPr>
              <p:nvPr/>
            </p:nvSpPr>
            <p:spPr bwMode="auto">
              <a:xfrm>
                <a:off x="3600" y="432"/>
                <a:ext cx="528" cy="384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1500">
                  <a:latin typeface="Courier New" panose="02070309020205020404" pitchFamily="49" charset="0"/>
                </a:endParaRPr>
              </a:p>
            </p:txBody>
          </p:sp>
          <p:sp>
            <p:nvSpPr>
              <p:cNvPr id="51" name="Oval 9"/>
              <p:cNvSpPr>
                <a:spLocks noChangeArrowheads="1"/>
              </p:cNvSpPr>
              <p:nvPr/>
            </p:nvSpPr>
            <p:spPr bwMode="auto">
              <a:xfrm>
                <a:off x="3360" y="384"/>
                <a:ext cx="528" cy="384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 sz="1500">
                  <a:latin typeface="Courier New" panose="02070309020205020404" pitchFamily="49" charset="0"/>
                </a:endParaRPr>
              </a:p>
            </p:txBody>
          </p:sp>
        </p:grpSp>
        <p:pic>
          <p:nvPicPr>
            <p:cNvPr id="38920" name="Picture 14" descr="paketaro box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9600" y="4038600"/>
              <a:ext cx="9144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21" name="Picture 14" descr="paketaro box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9600" y="5410200"/>
              <a:ext cx="9144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22" name="Picture 13" descr="Computer5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3200400"/>
              <a:ext cx="1238250" cy="1089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56" name="Straight Connector 55"/>
            <p:cNvCxnSpPr>
              <a:cxnSpLocks noChangeShapeType="1"/>
            </p:cNvCxnSpPr>
            <p:nvPr/>
          </p:nvCxnSpPr>
          <p:spPr bwMode="auto">
            <a:xfrm>
              <a:off x="5638800" y="3886213"/>
              <a:ext cx="695325" cy="430221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57"/>
            <p:cNvCxnSpPr>
              <a:cxnSpLocks noChangeShapeType="1"/>
            </p:cNvCxnSpPr>
            <p:nvPr/>
          </p:nvCxnSpPr>
          <p:spPr bwMode="auto">
            <a:xfrm rot="5400000" flipH="1" flipV="1">
              <a:off x="8121649" y="4268812"/>
              <a:ext cx="109540" cy="411162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Straight Connector 59"/>
            <p:cNvCxnSpPr>
              <a:cxnSpLocks noChangeShapeType="1"/>
            </p:cNvCxnSpPr>
            <p:nvPr/>
          </p:nvCxnSpPr>
          <p:spPr bwMode="auto">
            <a:xfrm rot="16200000" flipH="1">
              <a:off x="8178006" y="5587254"/>
              <a:ext cx="125414" cy="282575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926" name="TextBox 60"/>
            <p:cNvSpPr txBox="1">
              <a:spLocks noChangeArrowheads="1"/>
            </p:cNvSpPr>
            <p:nvPr/>
          </p:nvSpPr>
          <p:spPr bwMode="auto">
            <a:xfrm>
              <a:off x="7010400" y="3657600"/>
              <a:ext cx="1760482" cy="41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665"/>
                <a:t>1.2.3.0/24</a:t>
              </a:r>
              <a:endParaRPr lang="en-US" altLang="zh-CN" sz="1665"/>
            </a:p>
          </p:txBody>
        </p:sp>
        <p:sp>
          <p:nvSpPr>
            <p:cNvPr id="38927" name="TextBox 61"/>
            <p:cNvSpPr txBox="1">
              <a:spLocks noChangeArrowheads="1"/>
            </p:cNvSpPr>
            <p:nvPr/>
          </p:nvSpPr>
          <p:spPr bwMode="auto">
            <a:xfrm>
              <a:off x="6705600" y="5943600"/>
              <a:ext cx="1760482" cy="418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665"/>
                <a:t>1.2.3.0/24</a:t>
              </a:r>
              <a:endParaRPr lang="en-US" altLang="zh-CN" sz="1665"/>
            </a:p>
          </p:txBody>
        </p:sp>
        <p:sp>
          <p:nvSpPr>
            <p:cNvPr id="68" name="Freeform 67"/>
            <p:cNvSpPr>
              <a:spLocks noChangeArrowheads="1"/>
            </p:cNvSpPr>
            <p:nvPr/>
          </p:nvSpPr>
          <p:spPr bwMode="auto">
            <a:xfrm>
              <a:off x="5572125" y="4000515"/>
              <a:ext cx="2873375" cy="865205"/>
            </a:xfrm>
            <a:custGeom>
              <a:avLst/>
              <a:gdLst>
                <a:gd name="T0" fmla="*/ 0 w 2873375"/>
                <a:gd name="T1" fmla="*/ 0 h 865187"/>
                <a:gd name="T2" fmla="*/ 1238250 w 2873375"/>
                <a:gd name="T3" fmla="*/ 762016 h 865187"/>
                <a:gd name="T4" fmla="*/ 2873375 w 2873375"/>
                <a:gd name="T5" fmla="*/ 619138 h 865187"/>
                <a:gd name="T6" fmla="*/ 0 60000 65536"/>
                <a:gd name="T7" fmla="*/ 0 60000 65536"/>
                <a:gd name="T8" fmla="*/ 0 60000 65536"/>
                <a:gd name="T9" fmla="*/ 0 w 2873375"/>
                <a:gd name="T10" fmla="*/ 0 h 865187"/>
                <a:gd name="T11" fmla="*/ 2873375 w 2873375"/>
                <a:gd name="T12" fmla="*/ 865187 h 865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73375" h="865187">
                  <a:moveTo>
                    <a:pt x="0" y="0"/>
                  </a:moveTo>
                  <a:cubicBezTo>
                    <a:pt x="379677" y="329406"/>
                    <a:pt x="759354" y="658813"/>
                    <a:pt x="1238250" y="762000"/>
                  </a:cubicBezTo>
                  <a:cubicBezTo>
                    <a:pt x="1717146" y="865187"/>
                    <a:pt x="2873375" y="619125"/>
                    <a:pt x="2873375" y="619125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 type="arrow" w="lg" len="lg"/>
              <a:tailEnd type="arrow" w="lg" len="lg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zh-CN" altLang="zh-CN" sz="1665">
                <a:latin typeface="Calibri" panose="020F0502020204030204" pitchFamily="34" charset="0"/>
              </a:endParaRPr>
            </a:p>
          </p:txBody>
        </p:sp>
      </p:grpSp>
      <p:sp>
        <p:nvSpPr>
          <p:cNvPr id="3891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1608395" indent="-31227395"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381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762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143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524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75A836B-93E6-1444-AB54-CD719A87127E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Server Selection Mechanism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sp>
        <p:nvSpPr>
          <p:cNvPr id="40963" name="Content Placeholder 2"/>
          <p:cNvSpPr>
            <a:spLocks noGrp="1"/>
          </p:cNvSpPr>
          <p:nvPr>
            <p:ph sz="half" idx="1"/>
          </p:nvPr>
        </p:nvSpPr>
        <p:spPr>
          <a:xfrm>
            <a:off x="577302" y="1146873"/>
            <a:ext cx="4066705" cy="3771636"/>
          </a:xfrm>
        </p:spPr>
        <p:txBody>
          <a:bodyPr/>
          <a:lstStyle/>
          <a:p>
            <a:r>
              <a:rPr lang="en-US" altLang="zh-CN" sz="2000" b="1" dirty="0">
                <a:ea typeface="MS PGothic" panose="020B0600070205080204" pitchFamily="34" charset="-128"/>
              </a:rPr>
              <a:t>Naming</a:t>
            </a:r>
            <a:endParaRPr lang="en-US" altLang="zh-CN" sz="2000" b="1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DNS-based server selection</a:t>
            </a:r>
            <a:endParaRPr lang="en-US" altLang="zh-CN" sz="1800" dirty="0">
              <a:ea typeface="MS PGothic" panose="020B0600070205080204" pitchFamily="34" charset="-128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032" y="1143000"/>
            <a:ext cx="4216977" cy="4318000"/>
          </a:xfrm>
        </p:spPr>
        <p:txBody>
          <a:bodyPr>
            <a:noAutofit/>
          </a:bodyPr>
          <a:lstStyle/>
          <a:p>
            <a:r>
              <a:rPr lang="en-US" altLang="zh-CN" sz="2000" b="1" dirty="0">
                <a:ea typeface="MS PGothic" panose="020B0600070205080204" pitchFamily="34" charset="-128"/>
              </a:rPr>
              <a:t>Advantages</a:t>
            </a:r>
            <a:endParaRPr lang="en-US" altLang="zh-CN" sz="2000" b="1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Avoid TCP set-up delay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DNS caching reduces overhead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pPr lvl="1">
              <a:spcAft>
                <a:spcPts val="1000"/>
              </a:spcAft>
            </a:pPr>
            <a:r>
              <a:rPr lang="en-US" altLang="zh-CN" sz="1800" dirty="0">
                <a:ea typeface="MS PGothic" panose="020B0600070205080204" pitchFamily="34" charset="-128"/>
              </a:rPr>
              <a:t>Relatively fine control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r>
              <a:rPr lang="en-US" altLang="zh-CN" sz="2000" b="1" dirty="0">
                <a:ea typeface="MS PGothic" panose="020B0600070205080204" pitchFamily="34" charset="-128"/>
              </a:rPr>
              <a:t>Disadvantage</a:t>
            </a:r>
            <a:endParaRPr lang="en-US" altLang="zh-CN" sz="2000" b="1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Based on IP address of local DNS server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“Hidden load” effect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pPr lvl="1"/>
            <a:r>
              <a:rPr lang="en-US" altLang="zh-CN" sz="1800" dirty="0">
                <a:ea typeface="MS PGothic" panose="020B0600070205080204" pitchFamily="34" charset="-128"/>
              </a:rPr>
              <a:t>DNS TTL limits adaptation</a:t>
            </a:r>
            <a:endParaRPr lang="en-US" altLang="zh-CN" sz="1800" dirty="0">
              <a:ea typeface="MS PGothic" panose="020B0600070205080204" pitchFamily="34" charset="-128"/>
            </a:endParaRPr>
          </a:p>
          <a:p>
            <a:pPr lvl="1"/>
            <a:endParaRPr lang="en-US" altLang="zh-CN" sz="1600" dirty="0">
              <a:ea typeface="MS PGothic" panose="020B0600070205080204" pitchFamily="34" charset="-128"/>
            </a:endParaRP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1608395" indent="-31227395"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381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762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143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524000" eaLnBrk="0" fontAlgn="base" hangingPunct="0">
              <a:spcBef>
                <a:spcPct val="0"/>
              </a:spcBef>
              <a:spcAft>
                <a:spcPct val="0"/>
              </a:spcAft>
              <a:defRPr sz="1665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938515B-D8EC-A543-9051-08A1D9EA3396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1564026" y="3234627"/>
            <a:ext cx="2349502" cy="1333500"/>
            <a:chOff x="3360" y="96"/>
            <a:chExt cx="1056" cy="720"/>
          </a:xfrm>
          <a:solidFill>
            <a:srgbClr val="8EB4E3"/>
          </a:solidFill>
        </p:grpSpPr>
        <p:sp>
          <p:nvSpPr>
            <p:cNvPr id="17" name="Oval 4"/>
            <p:cNvSpPr>
              <a:spLocks noChangeArrowheads="1"/>
            </p:cNvSpPr>
            <p:nvPr/>
          </p:nvSpPr>
          <p:spPr bwMode="auto">
            <a:xfrm>
              <a:off x="3360" y="14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18" name="Oval 5"/>
            <p:cNvSpPr>
              <a:spLocks noChangeArrowheads="1"/>
            </p:cNvSpPr>
            <p:nvPr/>
          </p:nvSpPr>
          <p:spPr bwMode="auto">
            <a:xfrm>
              <a:off x="3600" y="96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3840" y="19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20" name="Oval 7"/>
            <p:cNvSpPr>
              <a:spLocks noChangeArrowheads="1"/>
            </p:cNvSpPr>
            <p:nvPr/>
          </p:nvSpPr>
          <p:spPr bwMode="auto">
            <a:xfrm>
              <a:off x="3888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21" name="Oval 8"/>
            <p:cNvSpPr>
              <a:spLocks noChangeArrowheads="1"/>
            </p:cNvSpPr>
            <p:nvPr/>
          </p:nvSpPr>
          <p:spPr bwMode="auto">
            <a:xfrm>
              <a:off x="3600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22" name="Oval 9"/>
            <p:cNvSpPr>
              <a:spLocks noChangeArrowheads="1"/>
            </p:cNvSpPr>
            <p:nvPr/>
          </p:nvSpPr>
          <p:spPr bwMode="auto">
            <a:xfrm>
              <a:off x="3360" y="38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</p:grpSp>
      <p:pic>
        <p:nvPicPr>
          <p:cNvPr id="40967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021" y="310762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8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021" y="425062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9" name="Picture 13" descr="Computer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21" y="2409127"/>
            <a:ext cx="1031875" cy="9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10"/>
          <p:cNvCxnSpPr>
            <a:cxnSpLocks noChangeShapeType="1"/>
          </p:cNvCxnSpPr>
          <p:nvPr/>
        </p:nvCxnSpPr>
        <p:spPr bwMode="auto">
          <a:xfrm>
            <a:off x="1691021" y="2980627"/>
            <a:ext cx="579438" cy="358511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/>
          <p:cNvCxnSpPr>
            <a:cxnSpLocks noChangeShapeType="1"/>
          </p:cNvCxnSpPr>
          <p:nvPr/>
        </p:nvCxnSpPr>
        <p:spPr bwMode="auto">
          <a:xfrm rot="5400000" flipH="1" flipV="1">
            <a:off x="3760063" y="3299450"/>
            <a:ext cx="91282" cy="342635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12"/>
          <p:cNvCxnSpPr>
            <a:cxnSpLocks noChangeShapeType="1"/>
          </p:cNvCxnSpPr>
          <p:nvPr/>
        </p:nvCxnSpPr>
        <p:spPr bwMode="auto">
          <a:xfrm rot="16200000" flipH="1">
            <a:off x="3807027" y="4398133"/>
            <a:ext cx="104510" cy="235479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73" name="TextBox 13"/>
          <p:cNvSpPr txBox="1">
            <a:spLocks noChangeArrowheads="1"/>
          </p:cNvSpPr>
          <p:nvPr/>
        </p:nvSpPr>
        <p:spPr bwMode="auto">
          <a:xfrm>
            <a:off x="3025844" y="2790127"/>
            <a:ext cx="108234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665"/>
              <a:t>1.2.3.4</a:t>
            </a:r>
            <a:endParaRPr lang="en-US" altLang="zh-CN" sz="1665"/>
          </a:p>
        </p:txBody>
      </p:sp>
      <p:sp>
        <p:nvSpPr>
          <p:cNvPr id="40974" name="TextBox 14"/>
          <p:cNvSpPr txBox="1">
            <a:spLocks noChangeArrowheads="1"/>
          </p:cNvSpPr>
          <p:nvPr/>
        </p:nvSpPr>
        <p:spPr bwMode="auto">
          <a:xfrm>
            <a:off x="2771844" y="4695127"/>
            <a:ext cx="1082348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665"/>
              <a:t>1.2.3.5</a:t>
            </a:r>
            <a:endParaRPr lang="en-US" altLang="zh-CN" sz="1665"/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1635459" y="3075877"/>
            <a:ext cx="2394479" cy="720990"/>
          </a:xfrm>
          <a:custGeom>
            <a:avLst/>
            <a:gdLst>
              <a:gd name="T0" fmla="*/ 0 w 2873375"/>
              <a:gd name="T1" fmla="*/ 0 h 865187"/>
              <a:gd name="T2" fmla="*/ 1238250 w 2873375"/>
              <a:gd name="T3" fmla="*/ 762001 h 865187"/>
              <a:gd name="T4" fmla="*/ 2873375 w 2873375"/>
              <a:gd name="T5" fmla="*/ 619126 h 865187"/>
              <a:gd name="T6" fmla="*/ 0 60000 65536"/>
              <a:gd name="T7" fmla="*/ 0 60000 65536"/>
              <a:gd name="T8" fmla="*/ 0 60000 65536"/>
              <a:gd name="T9" fmla="*/ 0 w 2873375"/>
              <a:gd name="T10" fmla="*/ 0 h 865187"/>
              <a:gd name="T11" fmla="*/ 2873375 w 2873375"/>
              <a:gd name="T12" fmla="*/ 865187 h 8651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73375" h="865187">
                <a:moveTo>
                  <a:pt x="0" y="0"/>
                </a:moveTo>
                <a:cubicBezTo>
                  <a:pt x="379677" y="329406"/>
                  <a:pt x="759354" y="658813"/>
                  <a:pt x="1238250" y="762000"/>
                </a:cubicBezTo>
                <a:cubicBezTo>
                  <a:pt x="1717146" y="865187"/>
                  <a:pt x="2873375" y="619125"/>
                  <a:pt x="2873375" y="619125"/>
                </a:cubicBezTo>
              </a:path>
            </a:pathLst>
          </a:custGeom>
          <a:noFill/>
          <a:ln w="25400">
            <a:solidFill>
              <a:schemeClr val="tx1"/>
            </a:solidFill>
            <a:miter lim="800000"/>
            <a:headEnd type="arrow" w="lg" len="lg"/>
            <a:tailEnd type="arrow" w="lg" len="lg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latin typeface="Calibri" panose="020F0502020204030204" pitchFamily="34" charset="0"/>
            </a:endParaRPr>
          </a:p>
        </p:txBody>
      </p:sp>
      <p:pic>
        <p:nvPicPr>
          <p:cNvPr id="40976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21" y="426650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Arrow Connector 24"/>
          <p:cNvCxnSpPr>
            <a:cxnSpLocks noChangeShapeType="1"/>
          </p:cNvCxnSpPr>
          <p:nvPr/>
        </p:nvCxnSpPr>
        <p:spPr bwMode="auto">
          <a:xfrm rot="16200000" flipH="1">
            <a:off x="831126" y="3795544"/>
            <a:ext cx="1013354" cy="5556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arrow" w="med" len="med"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78" name="TextBox 25"/>
          <p:cNvSpPr txBox="1">
            <a:spLocks noChangeArrowheads="1"/>
          </p:cNvSpPr>
          <p:nvPr/>
        </p:nvSpPr>
        <p:spPr bwMode="auto">
          <a:xfrm>
            <a:off x="512504" y="3485981"/>
            <a:ext cx="8191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665" dirty="0"/>
              <a:t>DNS</a:t>
            </a:r>
            <a:endParaRPr lang="en-US" altLang="zh-CN" sz="1665" dirty="0"/>
          </a:p>
          <a:p>
            <a:pPr eaLnBrk="1" hangingPunct="1"/>
            <a:r>
              <a:rPr lang="en-US" altLang="zh-CN" sz="1665" dirty="0"/>
              <a:t>query</a:t>
            </a:r>
            <a:endParaRPr lang="en-US" altLang="zh-CN" sz="1665" dirty="0"/>
          </a:p>
        </p:txBody>
      </p:sp>
      <p:sp>
        <p:nvSpPr>
          <p:cNvPr id="40979" name="TextBox 26"/>
          <p:cNvSpPr txBox="1">
            <a:spLocks noChangeArrowheads="1"/>
          </p:cNvSpPr>
          <p:nvPr/>
        </p:nvSpPr>
        <p:spPr bwMode="auto">
          <a:xfrm>
            <a:off x="392129" y="5028902"/>
            <a:ext cx="2512952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665" dirty="0"/>
              <a:t>local DNS server</a:t>
            </a:r>
            <a:endParaRPr lang="en-US" altLang="zh-CN" sz="166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085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How Akamai Uses DNS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206500" y="2667000"/>
            <a:ext cx="4318000" cy="2349500"/>
            <a:chOff x="3360" y="96"/>
            <a:chExt cx="1056" cy="720"/>
          </a:xfrm>
          <a:solidFill>
            <a:srgbClr val="8EB4E3"/>
          </a:solidFill>
        </p:grpSpPr>
        <p:sp>
          <p:nvSpPr>
            <p:cNvPr id="90159" name="Oval 4"/>
            <p:cNvSpPr>
              <a:spLocks noChangeArrowheads="1"/>
            </p:cNvSpPr>
            <p:nvPr/>
          </p:nvSpPr>
          <p:spPr bwMode="auto">
            <a:xfrm>
              <a:off x="3360" y="14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0" name="Oval 5"/>
            <p:cNvSpPr>
              <a:spLocks noChangeArrowheads="1"/>
            </p:cNvSpPr>
            <p:nvPr/>
          </p:nvSpPr>
          <p:spPr bwMode="auto">
            <a:xfrm>
              <a:off x="3600" y="96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1" name="Oval 6"/>
            <p:cNvSpPr>
              <a:spLocks noChangeArrowheads="1"/>
            </p:cNvSpPr>
            <p:nvPr/>
          </p:nvSpPr>
          <p:spPr bwMode="auto">
            <a:xfrm>
              <a:off x="3840" y="19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2" name="Oval 7"/>
            <p:cNvSpPr>
              <a:spLocks noChangeArrowheads="1"/>
            </p:cNvSpPr>
            <p:nvPr/>
          </p:nvSpPr>
          <p:spPr bwMode="auto">
            <a:xfrm>
              <a:off x="3888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3" name="Oval 8"/>
            <p:cNvSpPr>
              <a:spLocks noChangeArrowheads="1"/>
            </p:cNvSpPr>
            <p:nvPr/>
          </p:nvSpPr>
          <p:spPr bwMode="auto">
            <a:xfrm>
              <a:off x="3600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4" name="Oval 9"/>
            <p:cNvSpPr>
              <a:spLocks noChangeArrowheads="1"/>
            </p:cNvSpPr>
            <p:nvPr/>
          </p:nvSpPr>
          <p:spPr bwMode="auto">
            <a:xfrm>
              <a:off x="3360" y="38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</p:grpSp>
      <p:sp>
        <p:nvSpPr>
          <p:cNvPr id="44038" name="Rectangle 12"/>
          <p:cNvSpPr>
            <a:spLocks noChangeArrowheads="1"/>
          </p:cNvSpPr>
          <p:nvPr/>
        </p:nvSpPr>
        <p:spPr bwMode="auto">
          <a:xfrm>
            <a:off x="802320" y="1076415"/>
            <a:ext cx="285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cnn.com</a:t>
            </a: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 (content provider)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4039" name="Picture 13" descr="Computer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3810000"/>
            <a:ext cx="1031875" cy="9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0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524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1" name="Picture 15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51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42" name="Rectangle 17"/>
          <p:cNvSpPr>
            <a:spLocks noChangeArrowheads="1"/>
          </p:cNvSpPr>
          <p:nvPr/>
        </p:nvSpPr>
        <p:spPr bwMode="auto">
          <a:xfrm>
            <a:off x="3398267" y="1276616"/>
            <a:ext cx="2603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DNS root server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043" name="Line 19"/>
          <p:cNvSpPr>
            <a:spLocks noChangeShapeType="1"/>
          </p:cNvSpPr>
          <p:nvPr/>
        </p:nvSpPr>
        <p:spPr bwMode="auto">
          <a:xfrm flipV="1">
            <a:off x="1778000" y="2413000"/>
            <a:ext cx="0" cy="1397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4044" name="Line 20"/>
          <p:cNvSpPr>
            <a:spLocks noChangeShapeType="1"/>
          </p:cNvSpPr>
          <p:nvPr/>
        </p:nvSpPr>
        <p:spPr bwMode="auto">
          <a:xfrm flipV="1">
            <a:off x="1905000" y="2476500"/>
            <a:ext cx="0" cy="1333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4045" name="Rectangle 21"/>
          <p:cNvSpPr>
            <a:spLocks noChangeArrowheads="1"/>
          </p:cNvSpPr>
          <p:nvPr/>
        </p:nvSpPr>
        <p:spPr bwMode="auto">
          <a:xfrm>
            <a:off x="1524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046" name="Rectangle 22"/>
          <p:cNvSpPr>
            <a:spLocks noChangeArrowheads="1"/>
          </p:cNvSpPr>
          <p:nvPr/>
        </p:nvSpPr>
        <p:spPr bwMode="auto">
          <a:xfrm>
            <a:off x="1905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4047" name="Picture 27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26035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8" name="Picture 28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34290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9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0" y="4318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50" name="Rectangle 32"/>
          <p:cNvSpPr>
            <a:spLocks noChangeArrowheads="1"/>
          </p:cNvSpPr>
          <p:nvPr/>
        </p:nvSpPr>
        <p:spPr bwMode="auto">
          <a:xfrm>
            <a:off x="6881440" y="4572000"/>
            <a:ext cx="1651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Nearby </a:t>
            </a:r>
            <a:b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Akamai 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051" name="Rectangle 45"/>
          <p:cNvSpPr>
            <a:spLocks noChangeArrowheads="1"/>
          </p:cNvSpPr>
          <p:nvPr/>
        </p:nvSpPr>
        <p:spPr bwMode="auto">
          <a:xfrm>
            <a:off x="179512" y="3294112"/>
            <a:ext cx="182691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chemeClr val="accent1"/>
                </a:solidFill>
                <a:latin typeface="Arial" panose="020B0604020202020204" pitchFamily="34" charset="0"/>
              </a:rPr>
              <a:t>GET </a:t>
            </a:r>
            <a:r>
              <a:rPr lang="en-US" altLang="zh-CN" sz="1500" dirty="0" err="1">
                <a:solidFill>
                  <a:schemeClr val="accent1"/>
                </a:solidFill>
                <a:latin typeface="Arial" panose="020B0604020202020204" pitchFamily="34" charset="0"/>
              </a:rPr>
              <a:t>index.html</a:t>
            </a:r>
            <a:endParaRPr lang="en-US" altLang="zh-CN" sz="1500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44052" name="Slide Number Placeholder 2"/>
          <p:cNvSpPr txBox="1"/>
          <p:nvPr/>
        </p:nvSpPr>
        <p:spPr bwMode="auto">
          <a:xfrm>
            <a:off x="6604000" y="-63500"/>
            <a:ext cx="1778000" cy="304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5833C4E7-F89C-A94A-A80C-566C1AC97AB2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  <p:sp>
        <p:nvSpPr>
          <p:cNvPr id="44053" name="Rectangle 46"/>
          <p:cNvSpPr>
            <a:spLocks noChangeArrowheads="1"/>
          </p:cNvSpPr>
          <p:nvPr/>
        </p:nvSpPr>
        <p:spPr bwMode="auto">
          <a:xfrm>
            <a:off x="1932611" y="3286125"/>
            <a:ext cx="285749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chemeClr val="accent1"/>
                </a:solidFill>
                <a:latin typeface="Arial" panose="020B0604020202020204" pitchFamily="34" charset="0"/>
              </a:rPr>
              <a:t>http://</a:t>
            </a:r>
            <a:r>
              <a:rPr lang="en-US" altLang="zh-CN" sz="1500" dirty="0" err="1">
                <a:solidFill>
                  <a:schemeClr val="accent1"/>
                </a:solidFill>
                <a:latin typeface="Arial" panose="020B0604020202020204" pitchFamily="34" charset="0"/>
              </a:rPr>
              <a:t>cache.cnn.com</a:t>
            </a:r>
            <a:r>
              <a:rPr lang="en-US" altLang="zh-CN" sz="1500" dirty="0">
                <a:solidFill>
                  <a:schemeClr val="accent1"/>
                </a:solidFill>
                <a:latin typeface="Arial" panose="020B0604020202020204" pitchFamily="34" charset="0"/>
              </a:rPr>
              <a:t>/</a:t>
            </a:r>
            <a:r>
              <a:rPr lang="en-US" altLang="zh-CN" sz="1500" dirty="0" err="1">
                <a:solidFill>
                  <a:schemeClr val="accent1"/>
                </a:solidFill>
                <a:latin typeface="Arial" panose="020B0604020202020204" pitchFamily="34" charset="0"/>
              </a:rPr>
              <a:t>foo.jpg</a:t>
            </a:r>
            <a:endParaRPr lang="en-US" altLang="zh-CN" sz="1500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5080000" y="4254500"/>
            <a:ext cx="1778000" cy="1270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44056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635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57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4953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58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1333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59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60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1968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6794500" y="1270000"/>
            <a:ext cx="1270000" cy="12065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44062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032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63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64" name="Rectangle 32"/>
          <p:cNvSpPr>
            <a:spLocks noChangeArrowheads="1"/>
          </p:cNvSpPr>
          <p:nvPr/>
        </p:nvSpPr>
        <p:spPr bwMode="auto">
          <a:xfrm>
            <a:off x="6921500" y="2476500"/>
            <a:ext cx="13335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Akamai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065" name="Rectangle 29"/>
          <p:cNvSpPr>
            <a:spLocks noChangeArrowheads="1"/>
          </p:cNvSpPr>
          <p:nvPr/>
        </p:nvSpPr>
        <p:spPr bwMode="auto">
          <a:xfrm>
            <a:off x="5308235" y="2603500"/>
            <a:ext cx="1856053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Akamai global 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066" name="Rectangle 30"/>
          <p:cNvSpPr>
            <a:spLocks noChangeArrowheads="1"/>
          </p:cNvSpPr>
          <p:nvPr/>
        </p:nvSpPr>
        <p:spPr bwMode="auto">
          <a:xfrm>
            <a:off x="5907360" y="3365500"/>
            <a:ext cx="1905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Akamai regional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067" name="TextBox 49"/>
          <p:cNvSpPr txBox="1">
            <a:spLocks noChangeArrowheads="1"/>
          </p:cNvSpPr>
          <p:nvPr/>
        </p:nvSpPr>
        <p:spPr bwMode="auto">
          <a:xfrm>
            <a:off x="1143000" y="4699000"/>
            <a:ext cx="10615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user</a:t>
            </a:r>
            <a:endParaRPr lang="en-US" altLang="zh-CN" sz="16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ChangeArrowheads="1"/>
          </p:cNvSpPr>
          <p:nvPr/>
        </p:nvSpPr>
        <p:spPr bwMode="auto">
          <a:xfrm>
            <a:off x="1016000" y="1206500"/>
            <a:ext cx="7112000" cy="41910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sz="1500" dirty="0">
                <a:latin typeface="Courier New" panose="02070309020205020404" pitchFamily="49" charset="0"/>
              </a:rPr>
              <a:t>HTTP</a:t>
            </a:r>
            <a:endParaRPr lang="en-US" sz="1500" dirty="0">
              <a:latin typeface="Courier New" panose="02070309020205020404" pitchFamily="49" charset="0"/>
            </a:endParaRPr>
          </a:p>
        </p:txBody>
      </p:sp>
      <p:pic>
        <p:nvPicPr>
          <p:cNvPr id="46083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085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How Akamai Uses DNS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206500" y="2667000"/>
            <a:ext cx="4318000" cy="2349500"/>
            <a:chOff x="3360" y="96"/>
            <a:chExt cx="1056" cy="720"/>
          </a:xfrm>
          <a:solidFill>
            <a:srgbClr val="8EB4E3"/>
          </a:solidFill>
        </p:grpSpPr>
        <p:sp>
          <p:nvSpPr>
            <p:cNvPr id="90159" name="Oval 4"/>
            <p:cNvSpPr>
              <a:spLocks noChangeArrowheads="1"/>
            </p:cNvSpPr>
            <p:nvPr/>
          </p:nvSpPr>
          <p:spPr bwMode="auto">
            <a:xfrm>
              <a:off x="3360" y="14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0" name="Oval 5"/>
            <p:cNvSpPr>
              <a:spLocks noChangeArrowheads="1"/>
            </p:cNvSpPr>
            <p:nvPr/>
          </p:nvSpPr>
          <p:spPr bwMode="auto">
            <a:xfrm>
              <a:off x="3600" y="96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1" name="Oval 6"/>
            <p:cNvSpPr>
              <a:spLocks noChangeArrowheads="1"/>
            </p:cNvSpPr>
            <p:nvPr/>
          </p:nvSpPr>
          <p:spPr bwMode="auto">
            <a:xfrm>
              <a:off x="3840" y="19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2" name="Oval 7"/>
            <p:cNvSpPr>
              <a:spLocks noChangeArrowheads="1"/>
            </p:cNvSpPr>
            <p:nvPr/>
          </p:nvSpPr>
          <p:spPr bwMode="auto">
            <a:xfrm>
              <a:off x="3888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3" name="Oval 8"/>
            <p:cNvSpPr>
              <a:spLocks noChangeArrowheads="1"/>
            </p:cNvSpPr>
            <p:nvPr/>
          </p:nvSpPr>
          <p:spPr bwMode="auto">
            <a:xfrm>
              <a:off x="3600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4" name="Oval 9"/>
            <p:cNvSpPr>
              <a:spLocks noChangeArrowheads="1"/>
            </p:cNvSpPr>
            <p:nvPr/>
          </p:nvSpPr>
          <p:spPr bwMode="auto">
            <a:xfrm>
              <a:off x="3360" y="38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</p:grpSp>
      <p:sp>
        <p:nvSpPr>
          <p:cNvPr id="46086" name="Rectangle 12"/>
          <p:cNvSpPr>
            <a:spLocks noChangeArrowheads="1"/>
          </p:cNvSpPr>
          <p:nvPr/>
        </p:nvSpPr>
        <p:spPr bwMode="auto">
          <a:xfrm>
            <a:off x="889000" y="1206500"/>
            <a:ext cx="285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cnn.com (content provider)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6087" name="Picture 13" descr="Computer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3810000"/>
            <a:ext cx="1031875" cy="9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8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524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Picture 15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51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0" name="Rectangle 17"/>
          <p:cNvSpPr>
            <a:spLocks noChangeArrowheads="1"/>
          </p:cNvSpPr>
          <p:nvPr/>
        </p:nvSpPr>
        <p:spPr bwMode="auto">
          <a:xfrm>
            <a:off x="3480668" y="1270000"/>
            <a:ext cx="2603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DNS TLD server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091" name="Line 19"/>
          <p:cNvSpPr>
            <a:spLocks noChangeShapeType="1"/>
          </p:cNvSpPr>
          <p:nvPr/>
        </p:nvSpPr>
        <p:spPr bwMode="auto">
          <a:xfrm flipV="1">
            <a:off x="1778000" y="2413000"/>
            <a:ext cx="0" cy="1397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6092" name="Line 20"/>
          <p:cNvSpPr>
            <a:spLocks noChangeShapeType="1"/>
          </p:cNvSpPr>
          <p:nvPr/>
        </p:nvSpPr>
        <p:spPr bwMode="auto">
          <a:xfrm flipV="1">
            <a:off x="1905000" y="2476500"/>
            <a:ext cx="0" cy="1333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6093" name="Rectangle 21"/>
          <p:cNvSpPr>
            <a:spLocks noChangeArrowheads="1"/>
          </p:cNvSpPr>
          <p:nvPr/>
        </p:nvSpPr>
        <p:spPr bwMode="auto">
          <a:xfrm>
            <a:off x="1524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094" name="Rectangle 22"/>
          <p:cNvSpPr>
            <a:spLocks noChangeArrowheads="1"/>
          </p:cNvSpPr>
          <p:nvPr/>
        </p:nvSpPr>
        <p:spPr bwMode="auto">
          <a:xfrm>
            <a:off x="1905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6095" name="Picture 27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26035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6" name="Picture 28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34290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97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0" y="4318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98" name="Rectangle 32"/>
          <p:cNvSpPr>
            <a:spLocks noChangeArrowheads="1"/>
          </p:cNvSpPr>
          <p:nvPr/>
        </p:nvSpPr>
        <p:spPr bwMode="auto">
          <a:xfrm>
            <a:off x="6881440" y="4572000"/>
            <a:ext cx="1651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Nearby </a:t>
            </a:r>
            <a:b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Akamai 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099" name="Slide Number Placeholder 2"/>
          <p:cNvSpPr txBox="1"/>
          <p:nvPr/>
        </p:nvSpPr>
        <p:spPr bwMode="auto">
          <a:xfrm>
            <a:off x="6604000" y="-63500"/>
            <a:ext cx="1778000" cy="304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BD18EC1F-D934-8741-9946-B9FAB0765B3B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  <p:sp>
        <p:nvSpPr>
          <p:cNvPr id="46100" name="Rectangle 46"/>
          <p:cNvSpPr>
            <a:spLocks noChangeArrowheads="1"/>
          </p:cNvSpPr>
          <p:nvPr/>
        </p:nvSpPr>
        <p:spPr bwMode="auto">
          <a:xfrm>
            <a:off x="2159000" y="2032000"/>
            <a:ext cx="1968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660066"/>
                </a:solidFill>
                <a:latin typeface="Arial" panose="020B0604020202020204" pitchFamily="34" charset="0"/>
              </a:rPr>
              <a:t>DNS lookup </a:t>
            </a:r>
            <a:endParaRPr lang="en-US" altLang="zh-CN" sz="1500" dirty="0">
              <a:solidFill>
                <a:srgbClr val="660066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 err="1">
                <a:solidFill>
                  <a:srgbClr val="660066"/>
                </a:solidFill>
                <a:latin typeface="Arial" panose="020B0604020202020204" pitchFamily="34" charset="0"/>
              </a:rPr>
              <a:t>cache.cnn.com</a:t>
            </a:r>
            <a:endParaRPr lang="en-US" altLang="zh-CN" sz="1500" dirty="0">
              <a:solidFill>
                <a:srgbClr val="660066"/>
              </a:solidFill>
              <a:latin typeface="Arial" panose="020B0604020202020204" pitchFamily="34" charset="0"/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5080000" y="4254500"/>
            <a:ext cx="1778000" cy="1270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46102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635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03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4953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04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1333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05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06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1968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6794500" y="1270000"/>
            <a:ext cx="1270000" cy="12065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46108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032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109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110" name="Rectangle 32"/>
          <p:cNvSpPr>
            <a:spLocks noChangeArrowheads="1"/>
          </p:cNvSpPr>
          <p:nvPr/>
        </p:nvSpPr>
        <p:spPr bwMode="auto">
          <a:xfrm>
            <a:off x="6921500" y="2476500"/>
            <a:ext cx="13335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Akamai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111" name="Line 23"/>
          <p:cNvSpPr>
            <a:spLocks noChangeShapeType="1"/>
          </p:cNvSpPr>
          <p:nvPr/>
        </p:nvSpPr>
        <p:spPr bwMode="auto">
          <a:xfrm flipV="1">
            <a:off x="1968500" y="2413000"/>
            <a:ext cx="2209271" cy="14605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6112" name="Line 24"/>
          <p:cNvSpPr>
            <a:spLocks noChangeShapeType="1"/>
          </p:cNvSpPr>
          <p:nvPr/>
        </p:nvSpPr>
        <p:spPr bwMode="auto">
          <a:xfrm flipV="1">
            <a:off x="2032000" y="2563813"/>
            <a:ext cx="2209271" cy="1436688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6113" name="Rectangle 25"/>
          <p:cNvSpPr>
            <a:spLocks noChangeArrowheads="1"/>
          </p:cNvSpPr>
          <p:nvPr/>
        </p:nvSpPr>
        <p:spPr bwMode="auto">
          <a:xfrm>
            <a:off x="2730500" y="2921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114" name="Rectangle 26"/>
          <p:cNvSpPr>
            <a:spLocks noChangeArrowheads="1"/>
          </p:cNvSpPr>
          <p:nvPr/>
        </p:nvSpPr>
        <p:spPr bwMode="auto">
          <a:xfrm>
            <a:off x="2984500" y="3302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115" name="Rectangle 46"/>
          <p:cNvSpPr>
            <a:spLocks noChangeArrowheads="1"/>
          </p:cNvSpPr>
          <p:nvPr/>
        </p:nvSpPr>
        <p:spPr bwMode="auto">
          <a:xfrm>
            <a:off x="3131840" y="3294112"/>
            <a:ext cx="2158999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660066"/>
                </a:solidFill>
                <a:latin typeface="Arial" panose="020B0604020202020204" pitchFamily="34" charset="0"/>
              </a:rPr>
              <a:t>ALIAS:</a:t>
            </a:r>
            <a:endParaRPr lang="en-US" altLang="zh-CN" sz="1500" dirty="0">
              <a:solidFill>
                <a:srgbClr val="660066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 err="1">
                <a:solidFill>
                  <a:srgbClr val="660066"/>
                </a:solidFill>
                <a:latin typeface="Arial" panose="020B0604020202020204" pitchFamily="34" charset="0"/>
              </a:rPr>
              <a:t>g.akamai.net</a:t>
            </a:r>
            <a:endParaRPr lang="en-US" altLang="zh-CN" sz="1500" dirty="0">
              <a:solidFill>
                <a:srgbClr val="660066"/>
              </a:solidFill>
              <a:latin typeface="Arial" panose="020B0604020202020204" pitchFamily="34" charset="0"/>
            </a:endParaRPr>
          </a:p>
        </p:txBody>
      </p:sp>
      <p:sp>
        <p:nvSpPr>
          <p:cNvPr id="46116" name="Rectangle 29"/>
          <p:cNvSpPr>
            <a:spLocks noChangeArrowheads="1"/>
          </p:cNvSpPr>
          <p:nvPr/>
        </p:nvSpPr>
        <p:spPr bwMode="auto">
          <a:xfrm>
            <a:off x="5323408" y="2603500"/>
            <a:ext cx="1856053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Akamai global 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117" name="Rectangle 30"/>
          <p:cNvSpPr>
            <a:spLocks noChangeArrowheads="1"/>
          </p:cNvSpPr>
          <p:nvPr/>
        </p:nvSpPr>
        <p:spPr bwMode="auto">
          <a:xfrm>
            <a:off x="5894908" y="3365500"/>
            <a:ext cx="1905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Akamai regional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118" name="TextBox 47"/>
          <p:cNvSpPr txBox="1">
            <a:spLocks noChangeArrowheads="1"/>
          </p:cNvSpPr>
          <p:nvPr/>
        </p:nvSpPr>
        <p:spPr bwMode="auto">
          <a:xfrm>
            <a:off x="1143000" y="4699000"/>
            <a:ext cx="1175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1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085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How Akamai Uses DNS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206500" y="2667000"/>
            <a:ext cx="4318000" cy="2349500"/>
            <a:chOff x="3360" y="96"/>
            <a:chExt cx="1056" cy="720"/>
          </a:xfrm>
          <a:solidFill>
            <a:srgbClr val="8EB4E3"/>
          </a:solidFill>
        </p:grpSpPr>
        <p:sp>
          <p:nvSpPr>
            <p:cNvPr id="90159" name="Oval 4"/>
            <p:cNvSpPr>
              <a:spLocks noChangeArrowheads="1"/>
            </p:cNvSpPr>
            <p:nvPr/>
          </p:nvSpPr>
          <p:spPr bwMode="auto">
            <a:xfrm>
              <a:off x="3360" y="14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0" name="Oval 5"/>
            <p:cNvSpPr>
              <a:spLocks noChangeArrowheads="1"/>
            </p:cNvSpPr>
            <p:nvPr/>
          </p:nvSpPr>
          <p:spPr bwMode="auto">
            <a:xfrm>
              <a:off x="3600" y="96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1" name="Oval 6"/>
            <p:cNvSpPr>
              <a:spLocks noChangeArrowheads="1"/>
            </p:cNvSpPr>
            <p:nvPr/>
          </p:nvSpPr>
          <p:spPr bwMode="auto">
            <a:xfrm>
              <a:off x="3840" y="19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2" name="Oval 7"/>
            <p:cNvSpPr>
              <a:spLocks noChangeArrowheads="1"/>
            </p:cNvSpPr>
            <p:nvPr/>
          </p:nvSpPr>
          <p:spPr bwMode="auto">
            <a:xfrm>
              <a:off x="3888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3" name="Oval 8"/>
            <p:cNvSpPr>
              <a:spLocks noChangeArrowheads="1"/>
            </p:cNvSpPr>
            <p:nvPr/>
          </p:nvSpPr>
          <p:spPr bwMode="auto">
            <a:xfrm>
              <a:off x="3600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4" name="Oval 9"/>
            <p:cNvSpPr>
              <a:spLocks noChangeArrowheads="1"/>
            </p:cNvSpPr>
            <p:nvPr/>
          </p:nvSpPr>
          <p:spPr bwMode="auto">
            <a:xfrm>
              <a:off x="3360" y="38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</p:grpSp>
      <p:sp>
        <p:nvSpPr>
          <p:cNvPr id="48134" name="Rectangle 12"/>
          <p:cNvSpPr>
            <a:spLocks noChangeArrowheads="1"/>
          </p:cNvSpPr>
          <p:nvPr/>
        </p:nvSpPr>
        <p:spPr bwMode="auto">
          <a:xfrm>
            <a:off x="889000" y="1206500"/>
            <a:ext cx="285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cnn.com (content provider)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8135" name="Picture 13" descr="Computer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3810000"/>
            <a:ext cx="1031875" cy="9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6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524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7" name="Picture 15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51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8" name="Rectangle 17"/>
          <p:cNvSpPr>
            <a:spLocks noChangeArrowheads="1"/>
          </p:cNvSpPr>
          <p:nvPr/>
        </p:nvSpPr>
        <p:spPr bwMode="auto">
          <a:xfrm>
            <a:off x="3498924" y="1270000"/>
            <a:ext cx="2603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DNS TLD server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39" name="Line 19"/>
          <p:cNvSpPr>
            <a:spLocks noChangeShapeType="1"/>
          </p:cNvSpPr>
          <p:nvPr/>
        </p:nvSpPr>
        <p:spPr bwMode="auto">
          <a:xfrm flipV="1">
            <a:off x="1778000" y="2413000"/>
            <a:ext cx="0" cy="1397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8140" name="Line 20"/>
          <p:cNvSpPr>
            <a:spLocks noChangeShapeType="1"/>
          </p:cNvSpPr>
          <p:nvPr/>
        </p:nvSpPr>
        <p:spPr bwMode="auto">
          <a:xfrm flipV="1">
            <a:off x="1905000" y="2476500"/>
            <a:ext cx="0" cy="1333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8141" name="Rectangle 21"/>
          <p:cNvSpPr>
            <a:spLocks noChangeArrowheads="1"/>
          </p:cNvSpPr>
          <p:nvPr/>
        </p:nvSpPr>
        <p:spPr bwMode="auto">
          <a:xfrm>
            <a:off x="1524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42" name="Rectangle 22"/>
          <p:cNvSpPr>
            <a:spLocks noChangeArrowheads="1"/>
          </p:cNvSpPr>
          <p:nvPr/>
        </p:nvSpPr>
        <p:spPr bwMode="auto">
          <a:xfrm>
            <a:off x="1905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8143" name="Picture 27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26035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44" name="Picture 28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34290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45" name="Rectangle 29"/>
          <p:cNvSpPr>
            <a:spLocks noChangeArrowheads="1"/>
          </p:cNvSpPr>
          <p:nvPr/>
        </p:nvSpPr>
        <p:spPr bwMode="auto">
          <a:xfrm>
            <a:off x="5316364" y="2603500"/>
            <a:ext cx="1856053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Akamai global 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46" name="Rectangle 30"/>
          <p:cNvSpPr>
            <a:spLocks noChangeArrowheads="1"/>
          </p:cNvSpPr>
          <p:nvPr/>
        </p:nvSpPr>
        <p:spPr bwMode="auto">
          <a:xfrm>
            <a:off x="5887864" y="3365500"/>
            <a:ext cx="1905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Akamai regional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8147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0" y="4318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48" name="Rectangle 32"/>
          <p:cNvSpPr>
            <a:spLocks noChangeArrowheads="1"/>
          </p:cNvSpPr>
          <p:nvPr/>
        </p:nvSpPr>
        <p:spPr bwMode="auto">
          <a:xfrm>
            <a:off x="6881440" y="4572000"/>
            <a:ext cx="1651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Nearby </a:t>
            </a:r>
            <a:b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Akamai 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49" name="Slide Number Placeholder 2"/>
          <p:cNvSpPr txBox="1"/>
          <p:nvPr/>
        </p:nvSpPr>
        <p:spPr bwMode="auto">
          <a:xfrm>
            <a:off x="6604000" y="-63500"/>
            <a:ext cx="1778000" cy="304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F857236A-2F25-0B49-9677-04883F4A9072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5080000" y="4254500"/>
            <a:ext cx="1778000" cy="1270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48151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635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52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4953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53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1333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54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55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1968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6794500" y="1270000"/>
            <a:ext cx="1270000" cy="12065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48157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032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58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59" name="Rectangle 32"/>
          <p:cNvSpPr>
            <a:spLocks noChangeArrowheads="1"/>
          </p:cNvSpPr>
          <p:nvPr/>
        </p:nvSpPr>
        <p:spPr bwMode="auto">
          <a:xfrm>
            <a:off x="6921500" y="2476500"/>
            <a:ext cx="13335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Akamai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60" name="Line 23"/>
          <p:cNvSpPr>
            <a:spLocks noChangeShapeType="1"/>
          </p:cNvSpPr>
          <p:nvPr/>
        </p:nvSpPr>
        <p:spPr bwMode="auto">
          <a:xfrm flipV="1">
            <a:off x="1968500" y="2413000"/>
            <a:ext cx="2209271" cy="14605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8161" name="Line 24"/>
          <p:cNvSpPr>
            <a:spLocks noChangeShapeType="1"/>
          </p:cNvSpPr>
          <p:nvPr/>
        </p:nvSpPr>
        <p:spPr bwMode="auto">
          <a:xfrm flipV="1">
            <a:off x="2032000" y="2563813"/>
            <a:ext cx="2209271" cy="1436688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8162" name="Rectangle 25"/>
          <p:cNvSpPr>
            <a:spLocks noChangeArrowheads="1"/>
          </p:cNvSpPr>
          <p:nvPr/>
        </p:nvSpPr>
        <p:spPr bwMode="auto">
          <a:xfrm>
            <a:off x="2730500" y="2921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63" name="Rectangle 26"/>
          <p:cNvSpPr>
            <a:spLocks noChangeArrowheads="1"/>
          </p:cNvSpPr>
          <p:nvPr/>
        </p:nvSpPr>
        <p:spPr bwMode="auto">
          <a:xfrm>
            <a:off x="2984500" y="3302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64" name="Line 33"/>
          <p:cNvSpPr>
            <a:spLocks noChangeShapeType="1"/>
          </p:cNvSpPr>
          <p:nvPr/>
        </p:nvSpPr>
        <p:spPr bwMode="auto">
          <a:xfrm flipV="1">
            <a:off x="2032000" y="3022865"/>
            <a:ext cx="2819136" cy="110463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8165" name="Line 34"/>
          <p:cNvSpPr>
            <a:spLocks noChangeShapeType="1"/>
          </p:cNvSpPr>
          <p:nvPr/>
        </p:nvSpPr>
        <p:spPr bwMode="auto">
          <a:xfrm flipV="1">
            <a:off x="2032000" y="3149865"/>
            <a:ext cx="2819136" cy="110463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48166" name="Rectangle 38"/>
          <p:cNvSpPr>
            <a:spLocks noChangeArrowheads="1"/>
          </p:cNvSpPr>
          <p:nvPr/>
        </p:nvSpPr>
        <p:spPr bwMode="auto">
          <a:xfrm>
            <a:off x="4508500" y="3238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67" name="Rectangle 51"/>
          <p:cNvSpPr>
            <a:spLocks noChangeArrowheads="1"/>
          </p:cNvSpPr>
          <p:nvPr/>
        </p:nvSpPr>
        <p:spPr bwMode="auto">
          <a:xfrm>
            <a:off x="4508500" y="2794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168" name="Rectangle 46"/>
          <p:cNvSpPr>
            <a:spLocks noChangeArrowheads="1"/>
          </p:cNvSpPr>
          <p:nvPr/>
        </p:nvSpPr>
        <p:spPr bwMode="auto">
          <a:xfrm>
            <a:off x="3111500" y="3492500"/>
            <a:ext cx="1968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660066"/>
                </a:solidFill>
                <a:latin typeface="Arial" panose="020B0604020202020204" pitchFamily="34" charset="0"/>
              </a:rPr>
              <a:t>ALIAS</a:t>
            </a:r>
            <a:endParaRPr lang="en-US" altLang="zh-CN" sz="1500">
              <a:solidFill>
                <a:srgbClr val="660066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660066"/>
                </a:solidFill>
                <a:latin typeface="Arial" panose="020B0604020202020204" pitchFamily="34" charset="0"/>
              </a:rPr>
              <a:t>a73.g.akamai.net</a:t>
            </a:r>
            <a:endParaRPr lang="en-US" altLang="zh-CN" sz="1500">
              <a:solidFill>
                <a:srgbClr val="660066"/>
              </a:solidFill>
              <a:latin typeface="Arial" panose="020B0604020202020204" pitchFamily="34" charset="0"/>
            </a:endParaRPr>
          </a:p>
        </p:txBody>
      </p:sp>
      <p:sp>
        <p:nvSpPr>
          <p:cNvPr id="48169" name="Rectangle 46"/>
          <p:cNvSpPr>
            <a:spLocks noChangeArrowheads="1"/>
          </p:cNvSpPr>
          <p:nvPr/>
        </p:nvSpPr>
        <p:spPr bwMode="auto">
          <a:xfrm>
            <a:off x="4634880" y="1968500"/>
            <a:ext cx="1968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660066"/>
                </a:solidFill>
                <a:latin typeface="Arial" panose="020B0604020202020204" pitchFamily="34" charset="0"/>
              </a:rPr>
              <a:t>DNS lookup</a:t>
            </a:r>
            <a:endParaRPr lang="en-US" altLang="zh-CN" sz="1500" dirty="0">
              <a:solidFill>
                <a:srgbClr val="660066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 err="1">
                <a:solidFill>
                  <a:srgbClr val="660066"/>
                </a:solidFill>
                <a:latin typeface="Arial" panose="020B0604020202020204" pitchFamily="34" charset="0"/>
              </a:rPr>
              <a:t>g.akamai.net</a:t>
            </a:r>
            <a:endParaRPr lang="en-US" altLang="zh-CN" sz="1500" dirty="0">
              <a:solidFill>
                <a:srgbClr val="660066"/>
              </a:solidFill>
              <a:latin typeface="Arial" panose="020B0604020202020204" pitchFamily="34" charset="0"/>
            </a:endParaRPr>
          </a:p>
        </p:txBody>
      </p:sp>
      <p:sp>
        <p:nvSpPr>
          <p:cNvPr id="48170" name="TextBox 57"/>
          <p:cNvSpPr txBox="1">
            <a:spLocks noChangeArrowheads="1"/>
          </p:cNvSpPr>
          <p:nvPr/>
        </p:nvSpPr>
        <p:spPr bwMode="auto">
          <a:xfrm>
            <a:off x="1143000" y="4699000"/>
            <a:ext cx="1175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085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How Akamai Uses DNS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206500" y="2667000"/>
            <a:ext cx="4318000" cy="2349500"/>
            <a:chOff x="3360" y="96"/>
            <a:chExt cx="1056" cy="720"/>
          </a:xfrm>
          <a:solidFill>
            <a:srgbClr val="8EB4E3"/>
          </a:solidFill>
        </p:grpSpPr>
        <p:sp>
          <p:nvSpPr>
            <p:cNvPr id="90159" name="Oval 4"/>
            <p:cNvSpPr>
              <a:spLocks noChangeArrowheads="1"/>
            </p:cNvSpPr>
            <p:nvPr/>
          </p:nvSpPr>
          <p:spPr bwMode="auto">
            <a:xfrm>
              <a:off x="3360" y="14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0" name="Oval 5"/>
            <p:cNvSpPr>
              <a:spLocks noChangeArrowheads="1"/>
            </p:cNvSpPr>
            <p:nvPr/>
          </p:nvSpPr>
          <p:spPr bwMode="auto">
            <a:xfrm>
              <a:off x="3600" y="96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1" name="Oval 6"/>
            <p:cNvSpPr>
              <a:spLocks noChangeArrowheads="1"/>
            </p:cNvSpPr>
            <p:nvPr/>
          </p:nvSpPr>
          <p:spPr bwMode="auto">
            <a:xfrm>
              <a:off x="3840" y="19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2" name="Oval 7"/>
            <p:cNvSpPr>
              <a:spLocks noChangeArrowheads="1"/>
            </p:cNvSpPr>
            <p:nvPr/>
          </p:nvSpPr>
          <p:spPr bwMode="auto">
            <a:xfrm>
              <a:off x="3888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3" name="Oval 8"/>
            <p:cNvSpPr>
              <a:spLocks noChangeArrowheads="1"/>
            </p:cNvSpPr>
            <p:nvPr/>
          </p:nvSpPr>
          <p:spPr bwMode="auto">
            <a:xfrm>
              <a:off x="3600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4" name="Oval 9"/>
            <p:cNvSpPr>
              <a:spLocks noChangeArrowheads="1"/>
            </p:cNvSpPr>
            <p:nvPr/>
          </p:nvSpPr>
          <p:spPr bwMode="auto">
            <a:xfrm>
              <a:off x="3360" y="38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</p:grpSp>
      <p:sp>
        <p:nvSpPr>
          <p:cNvPr id="50182" name="Rectangle 12"/>
          <p:cNvSpPr>
            <a:spLocks noChangeArrowheads="1"/>
          </p:cNvSpPr>
          <p:nvPr/>
        </p:nvSpPr>
        <p:spPr bwMode="auto">
          <a:xfrm>
            <a:off x="889000" y="1206500"/>
            <a:ext cx="285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cnn.com (content provider)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0183" name="Picture 13" descr="Computer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3810000"/>
            <a:ext cx="1031875" cy="9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4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524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5" name="Picture 15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51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6" name="Rectangle 17"/>
          <p:cNvSpPr>
            <a:spLocks noChangeArrowheads="1"/>
          </p:cNvSpPr>
          <p:nvPr/>
        </p:nvSpPr>
        <p:spPr bwMode="auto">
          <a:xfrm>
            <a:off x="3480668" y="1270000"/>
            <a:ext cx="2603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DNS TLD server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187" name="Line 19"/>
          <p:cNvSpPr>
            <a:spLocks noChangeShapeType="1"/>
          </p:cNvSpPr>
          <p:nvPr/>
        </p:nvSpPr>
        <p:spPr bwMode="auto">
          <a:xfrm flipV="1">
            <a:off x="1778000" y="2413000"/>
            <a:ext cx="0" cy="1397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0188" name="Line 20"/>
          <p:cNvSpPr>
            <a:spLocks noChangeShapeType="1"/>
          </p:cNvSpPr>
          <p:nvPr/>
        </p:nvSpPr>
        <p:spPr bwMode="auto">
          <a:xfrm flipV="1">
            <a:off x="1905000" y="2476500"/>
            <a:ext cx="0" cy="1333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0189" name="Rectangle 21"/>
          <p:cNvSpPr>
            <a:spLocks noChangeArrowheads="1"/>
          </p:cNvSpPr>
          <p:nvPr/>
        </p:nvSpPr>
        <p:spPr bwMode="auto">
          <a:xfrm>
            <a:off x="1524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190" name="Rectangle 22"/>
          <p:cNvSpPr>
            <a:spLocks noChangeArrowheads="1"/>
          </p:cNvSpPr>
          <p:nvPr/>
        </p:nvSpPr>
        <p:spPr bwMode="auto">
          <a:xfrm>
            <a:off x="1905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0191" name="Picture 27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26035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92" name="Picture 28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34290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93" name="Rectangle 29"/>
          <p:cNvSpPr>
            <a:spLocks noChangeArrowheads="1"/>
          </p:cNvSpPr>
          <p:nvPr/>
        </p:nvSpPr>
        <p:spPr bwMode="auto">
          <a:xfrm>
            <a:off x="5335860" y="2603500"/>
            <a:ext cx="1856053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Akamai global 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194" name="Rectangle 30"/>
          <p:cNvSpPr>
            <a:spLocks noChangeArrowheads="1"/>
          </p:cNvSpPr>
          <p:nvPr/>
        </p:nvSpPr>
        <p:spPr bwMode="auto">
          <a:xfrm>
            <a:off x="5907360" y="3365500"/>
            <a:ext cx="1905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Akamai regional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0195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0" y="4318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96" name="Rectangle 32"/>
          <p:cNvSpPr>
            <a:spLocks noChangeArrowheads="1"/>
          </p:cNvSpPr>
          <p:nvPr/>
        </p:nvSpPr>
        <p:spPr bwMode="auto">
          <a:xfrm>
            <a:off x="6881440" y="4572000"/>
            <a:ext cx="1651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Nearby </a:t>
            </a:r>
            <a:b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Akamai 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197" name="Slide Number Placeholder 2"/>
          <p:cNvSpPr txBox="1"/>
          <p:nvPr/>
        </p:nvSpPr>
        <p:spPr bwMode="auto">
          <a:xfrm>
            <a:off x="6604000" y="-63500"/>
            <a:ext cx="1778000" cy="304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DE31C5A3-94A8-544A-9786-B8F939485B88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5080000" y="4254500"/>
            <a:ext cx="1778000" cy="1270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50199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635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200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4953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201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1333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202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203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1968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6794500" y="1270000"/>
            <a:ext cx="1270000" cy="12065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50205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032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206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207" name="Rectangle 32"/>
          <p:cNvSpPr>
            <a:spLocks noChangeArrowheads="1"/>
          </p:cNvSpPr>
          <p:nvPr/>
        </p:nvSpPr>
        <p:spPr bwMode="auto">
          <a:xfrm>
            <a:off x="6921500" y="2476500"/>
            <a:ext cx="13335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Akamai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208" name="Line 23"/>
          <p:cNvSpPr>
            <a:spLocks noChangeShapeType="1"/>
          </p:cNvSpPr>
          <p:nvPr/>
        </p:nvSpPr>
        <p:spPr bwMode="auto">
          <a:xfrm flipV="1">
            <a:off x="1968500" y="2413000"/>
            <a:ext cx="2209271" cy="14605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0209" name="Line 24"/>
          <p:cNvSpPr>
            <a:spLocks noChangeShapeType="1"/>
          </p:cNvSpPr>
          <p:nvPr/>
        </p:nvSpPr>
        <p:spPr bwMode="auto">
          <a:xfrm flipV="1">
            <a:off x="2032000" y="2563813"/>
            <a:ext cx="2209271" cy="1436688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0210" name="Rectangle 25"/>
          <p:cNvSpPr>
            <a:spLocks noChangeArrowheads="1"/>
          </p:cNvSpPr>
          <p:nvPr/>
        </p:nvSpPr>
        <p:spPr bwMode="auto">
          <a:xfrm>
            <a:off x="2730500" y="2921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211" name="Rectangle 26"/>
          <p:cNvSpPr>
            <a:spLocks noChangeArrowheads="1"/>
          </p:cNvSpPr>
          <p:nvPr/>
        </p:nvSpPr>
        <p:spPr bwMode="auto">
          <a:xfrm>
            <a:off x="2984500" y="3302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212" name="Line 33"/>
          <p:cNvSpPr>
            <a:spLocks noChangeShapeType="1"/>
          </p:cNvSpPr>
          <p:nvPr/>
        </p:nvSpPr>
        <p:spPr bwMode="auto">
          <a:xfrm flipV="1">
            <a:off x="2032000" y="3022865"/>
            <a:ext cx="2819136" cy="110463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0213" name="Line 34"/>
          <p:cNvSpPr>
            <a:spLocks noChangeShapeType="1"/>
          </p:cNvSpPr>
          <p:nvPr/>
        </p:nvSpPr>
        <p:spPr bwMode="auto">
          <a:xfrm flipV="1">
            <a:off x="2032000" y="3149865"/>
            <a:ext cx="2819136" cy="110463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0214" name="Rectangle 38"/>
          <p:cNvSpPr>
            <a:spLocks noChangeArrowheads="1"/>
          </p:cNvSpPr>
          <p:nvPr/>
        </p:nvSpPr>
        <p:spPr bwMode="auto">
          <a:xfrm>
            <a:off x="4508500" y="3238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215" name="Rectangle 51"/>
          <p:cNvSpPr>
            <a:spLocks noChangeArrowheads="1"/>
          </p:cNvSpPr>
          <p:nvPr/>
        </p:nvSpPr>
        <p:spPr bwMode="auto">
          <a:xfrm>
            <a:off x="4508500" y="2794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216" name="Line 39"/>
          <p:cNvSpPr>
            <a:spLocks noChangeShapeType="1"/>
          </p:cNvSpPr>
          <p:nvPr/>
        </p:nvSpPr>
        <p:spPr bwMode="auto">
          <a:xfrm flipV="1">
            <a:off x="2159000" y="3619500"/>
            <a:ext cx="3238500" cy="889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0217" name="Line 40"/>
          <p:cNvSpPr>
            <a:spLocks noChangeShapeType="1"/>
          </p:cNvSpPr>
          <p:nvPr/>
        </p:nvSpPr>
        <p:spPr bwMode="auto">
          <a:xfrm flipV="1">
            <a:off x="2159000" y="3746500"/>
            <a:ext cx="3238500" cy="889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0218" name="Rectangle 42"/>
          <p:cNvSpPr>
            <a:spLocks noChangeArrowheads="1"/>
          </p:cNvSpPr>
          <p:nvPr/>
        </p:nvSpPr>
        <p:spPr bwMode="auto">
          <a:xfrm>
            <a:off x="4699000" y="3873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219" name="Rectangle 41"/>
          <p:cNvSpPr>
            <a:spLocks noChangeArrowheads="1"/>
          </p:cNvSpPr>
          <p:nvPr/>
        </p:nvSpPr>
        <p:spPr bwMode="auto">
          <a:xfrm>
            <a:off x="4699000" y="3492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220" name="Rectangle 46"/>
          <p:cNvSpPr>
            <a:spLocks noChangeArrowheads="1"/>
          </p:cNvSpPr>
          <p:nvPr/>
        </p:nvSpPr>
        <p:spPr bwMode="auto">
          <a:xfrm rot="20700000">
            <a:off x="2569104" y="3772958"/>
            <a:ext cx="232568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660066"/>
                </a:solidFill>
                <a:latin typeface="Arial" panose="020B0604020202020204" pitchFamily="34" charset="0"/>
              </a:rPr>
              <a:t>DNS a73.g.akamai.net</a:t>
            </a:r>
            <a:endParaRPr lang="en-US" altLang="zh-CN" sz="1500">
              <a:solidFill>
                <a:srgbClr val="660066"/>
              </a:solidFill>
              <a:latin typeface="Arial" panose="020B0604020202020204" pitchFamily="34" charset="0"/>
            </a:endParaRPr>
          </a:p>
        </p:txBody>
      </p:sp>
      <p:sp>
        <p:nvSpPr>
          <p:cNvPr id="50221" name="Rectangle 46"/>
          <p:cNvSpPr>
            <a:spLocks noChangeArrowheads="1"/>
          </p:cNvSpPr>
          <p:nvPr/>
        </p:nvSpPr>
        <p:spPr bwMode="auto">
          <a:xfrm>
            <a:off x="3302000" y="4191000"/>
            <a:ext cx="1968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660066"/>
                </a:solidFill>
                <a:latin typeface="Arial" panose="020B0604020202020204" pitchFamily="34" charset="0"/>
              </a:rPr>
              <a:t>Address</a:t>
            </a:r>
            <a:endParaRPr lang="en-US" altLang="zh-CN" sz="1500">
              <a:solidFill>
                <a:srgbClr val="660066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660066"/>
                </a:solidFill>
                <a:latin typeface="Arial" panose="020B0604020202020204" pitchFamily="34" charset="0"/>
              </a:rPr>
              <a:t>1.2.3.4</a:t>
            </a:r>
            <a:endParaRPr lang="en-US" altLang="zh-CN" sz="1500">
              <a:solidFill>
                <a:srgbClr val="660066"/>
              </a:solidFill>
              <a:latin typeface="Arial" panose="020B0604020202020204" pitchFamily="34" charset="0"/>
            </a:endParaRPr>
          </a:p>
        </p:txBody>
      </p:sp>
      <p:sp>
        <p:nvSpPr>
          <p:cNvPr id="50222" name="TextBox 55"/>
          <p:cNvSpPr txBox="1">
            <a:spLocks noChangeArrowheads="1"/>
          </p:cNvSpPr>
          <p:nvPr/>
        </p:nvSpPr>
        <p:spPr bwMode="auto">
          <a:xfrm>
            <a:off x="1143000" y="4699000"/>
            <a:ext cx="1175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085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How Akamai Uses DNS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206500" y="2667000"/>
            <a:ext cx="4318000" cy="2349500"/>
            <a:chOff x="3360" y="96"/>
            <a:chExt cx="1056" cy="720"/>
          </a:xfrm>
          <a:solidFill>
            <a:srgbClr val="8EB4E3"/>
          </a:solidFill>
        </p:grpSpPr>
        <p:sp>
          <p:nvSpPr>
            <p:cNvPr id="90159" name="Oval 4"/>
            <p:cNvSpPr>
              <a:spLocks noChangeArrowheads="1"/>
            </p:cNvSpPr>
            <p:nvPr/>
          </p:nvSpPr>
          <p:spPr bwMode="auto">
            <a:xfrm>
              <a:off x="3360" y="14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0" name="Oval 5"/>
            <p:cNvSpPr>
              <a:spLocks noChangeArrowheads="1"/>
            </p:cNvSpPr>
            <p:nvPr/>
          </p:nvSpPr>
          <p:spPr bwMode="auto">
            <a:xfrm>
              <a:off x="3600" y="96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1" name="Oval 6"/>
            <p:cNvSpPr>
              <a:spLocks noChangeArrowheads="1"/>
            </p:cNvSpPr>
            <p:nvPr/>
          </p:nvSpPr>
          <p:spPr bwMode="auto">
            <a:xfrm>
              <a:off x="3840" y="19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2" name="Oval 7"/>
            <p:cNvSpPr>
              <a:spLocks noChangeArrowheads="1"/>
            </p:cNvSpPr>
            <p:nvPr/>
          </p:nvSpPr>
          <p:spPr bwMode="auto">
            <a:xfrm>
              <a:off x="3888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3" name="Oval 8"/>
            <p:cNvSpPr>
              <a:spLocks noChangeArrowheads="1"/>
            </p:cNvSpPr>
            <p:nvPr/>
          </p:nvSpPr>
          <p:spPr bwMode="auto">
            <a:xfrm>
              <a:off x="3600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4" name="Oval 9"/>
            <p:cNvSpPr>
              <a:spLocks noChangeArrowheads="1"/>
            </p:cNvSpPr>
            <p:nvPr/>
          </p:nvSpPr>
          <p:spPr bwMode="auto">
            <a:xfrm>
              <a:off x="3360" y="38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</p:grpSp>
      <p:sp>
        <p:nvSpPr>
          <p:cNvPr id="52230" name="Rectangle 12"/>
          <p:cNvSpPr>
            <a:spLocks noChangeArrowheads="1"/>
          </p:cNvSpPr>
          <p:nvPr/>
        </p:nvSpPr>
        <p:spPr bwMode="auto">
          <a:xfrm>
            <a:off x="889000" y="1206500"/>
            <a:ext cx="285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cnn.com (content provider)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2231" name="Picture 13" descr="Computer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3810000"/>
            <a:ext cx="1031875" cy="9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2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524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3" name="Picture 15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51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4" name="Rectangle 17"/>
          <p:cNvSpPr>
            <a:spLocks noChangeArrowheads="1"/>
          </p:cNvSpPr>
          <p:nvPr/>
        </p:nvSpPr>
        <p:spPr bwMode="auto">
          <a:xfrm>
            <a:off x="3943424" y="1246717"/>
            <a:ext cx="2603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DNS TLD server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35" name="Line 19"/>
          <p:cNvSpPr>
            <a:spLocks noChangeShapeType="1"/>
          </p:cNvSpPr>
          <p:nvPr/>
        </p:nvSpPr>
        <p:spPr bwMode="auto">
          <a:xfrm flipV="1">
            <a:off x="1778000" y="2413000"/>
            <a:ext cx="0" cy="1397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2236" name="Line 20"/>
          <p:cNvSpPr>
            <a:spLocks noChangeShapeType="1"/>
          </p:cNvSpPr>
          <p:nvPr/>
        </p:nvSpPr>
        <p:spPr bwMode="auto">
          <a:xfrm flipV="1">
            <a:off x="1905000" y="2476500"/>
            <a:ext cx="0" cy="1333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2237" name="Rectangle 21"/>
          <p:cNvSpPr>
            <a:spLocks noChangeArrowheads="1"/>
          </p:cNvSpPr>
          <p:nvPr/>
        </p:nvSpPr>
        <p:spPr bwMode="auto">
          <a:xfrm>
            <a:off x="1524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38" name="Rectangle 22"/>
          <p:cNvSpPr>
            <a:spLocks noChangeArrowheads="1"/>
          </p:cNvSpPr>
          <p:nvPr/>
        </p:nvSpPr>
        <p:spPr bwMode="auto">
          <a:xfrm>
            <a:off x="1905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2239" name="Picture 27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26035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40" name="Picture 28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34290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1" name="Rectangle 29"/>
          <p:cNvSpPr>
            <a:spLocks noChangeArrowheads="1"/>
          </p:cNvSpPr>
          <p:nvPr/>
        </p:nvSpPr>
        <p:spPr bwMode="auto">
          <a:xfrm>
            <a:off x="5335860" y="2603500"/>
            <a:ext cx="1856053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Akamai global 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42" name="Rectangle 30"/>
          <p:cNvSpPr>
            <a:spLocks noChangeArrowheads="1"/>
          </p:cNvSpPr>
          <p:nvPr/>
        </p:nvSpPr>
        <p:spPr bwMode="auto">
          <a:xfrm>
            <a:off x="5907360" y="3365500"/>
            <a:ext cx="1905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Akamai regional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2243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0" y="4318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44" name="Rectangle 32"/>
          <p:cNvSpPr>
            <a:spLocks noChangeArrowheads="1"/>
          </p:cNvSpPr>
          <p:nvPr/>
        </p:nvSpPr>
        <p:spPr bwMode="auto">
          <a:xfrm>
            <a:off x="6881440" y="4572000"/>
            <a:ext cx="1651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Nearby </a:t>
            </a:r>
            <a:b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Akamai 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45" name="Slide Number Placeholder 2"/>
          <p:cNvSpPr txBox="1"/>
          <p:nvPr/>
        </p:nvSpPr>
        <p:spPr bwMode="auto">
          <a:xfrm>
            <a:off x="6604000" y="-63500"/>
            <a:ext cx="1778000" cy="304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CE299261-F2DC-6649-9713-54B9FF51B9B0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5080000" y="4254500"/>
            <a:ext cx="1778000" cy="1270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52247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635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48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4953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49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1333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50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51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1968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6794500" y="1270000"/>
            <a:ext cx="1270000" cy="12065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52253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032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54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55" name="Rectangle 32"/>
          <p:cNvSpPr>
            <a:spLocks noChangeArrowheads="1"/>
          </p:cNvSpPr>
          <p:nvPr/>
        </p:nvSpPr>
        <p:spPr bwMode="auto">
          <a:xfrm>
            <a:off x="6921500" y="2476500"/>
            <a:ext cx="13335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Akamai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56" name="Line 23"/>
          <p:cNvSpPr>
            <a:spLocks noChangeShapeType="1"/>
          </p:cNvSpPr>
          <p:nvPr/>
        </p:nvSpPr>
        <p:spPr bwMode="auto">
          <a:xfrm flipV="1">
            <a:off x="1968500" y="2413000"/>
            <a:ext cx="2209271" cy="14605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2257" name="Line 24"/>
          <p:cNvSpPr>
            <a:spLocks noChangeShapeType="1"/>
          </p:cNvSpPr>
          <p:nvPr/>
        </p:nvSpPr>
        <p:spPr bwMode="auto">
          <a:xfrm flipV="1">
            <a:off x="2032000" y="2563813"/>
            <a:ext cx="2209271" cy="1436688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2258" name="Rectangle 25"/>
          <p:cNvSpPr>
            <a:spLocks noChangeArrowheads="1"/>
          </p:cNvSpPr>
          <p:nvPr/>
        </p:nvSpPr>
        <p:spPr bwMode="auto">
          <a:xfrm>
            <a:off x="2730500" y="2921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59" name="Rectangle 26"/>
          <p:cNvSpPr>
            <a:spLocks noChangeArrowheads="1"/>
          </p:cNvSpPr>
          <p:nvPr/>
        </p:nvSpPr>
        <p:spPr bwMode="auto">
          <a:xfrm>
            <a:off x="2984500" y="3302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60" name="Line 33"/>
          <p:cNvSpPr>
            <a:spLocks noChangeShapeType="1"/>
          </p:cNvSpPr>
          <p:nvPr/>
        </p:nvSpPr>
        <p:spPr bwMode="auto">
          <a:xfrm flipV="1">
            <a:off x="2032000" y="3022865"/>
            <a:ext cx="2819136" cy="110463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2261" name="Line 34"/>
          <p:cNvSpPr>
            <a:spLocks noChangeShapeType="1"/>
          </p:cNvSpPr>
          <p:nvPr/>
        </p:nvSpPr>
        <p:spPr bwMode="auto">
          <a:xfrm flipV="1">
            <a:off x="2032000" y="3149865"/>
            <a:ext cx="2819136" cy="110463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2262" name="Rectangle 38"/>
          <p:cNvSpPr>
            <a:spLocks noChangeArrowheads="1"/>
          </p:cNvSpPr>
          <p:nvPr/>
        </p:nvSpPr>
        <p:spPr bwMode="auto">
          <a:xfrm>
            <a:off x="4508500" y="3238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63" name="Rectangle 51"/>
          <p:cNvSpPr>
            <a:spLocks noChangeArrowheads="1"/>
          </p:cNvSpPr>
          <p:nvPr/>
        </p:nvSpPr>
        <p:spPr bwMode="auto">
          <a:xfrm>
            <a:off x="4508500" y="2794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64" name="Line 39"/>
          <p:cNvSpPr>
            <a:spLocks noChangeShapeType="1"/>
          </p:cNvSpPr>
          <p:nvPr/>
        </p:nvSpPr>
        <p:spPr bwMode="auto">
          <a:xfrm flipV="1">
            <a:off x="2159000" y="3619500"/>
            <a:ext cx="3238500" cy="889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2265" name="Line 40"/>
          <p:cNvSpPr>
            <a:spLocks noChangeShapeType="1"/>
          </p:cNvSpPr>
          <p:nvPr/>
        </p:nvSpPr>
        <p:spPr bwMode="auto">
          <a:xfrm flipV="1">
            <a:off x="2159000" y="3746500"/>
            <a:ext cx="3238500" cy="889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2266" name="Rectangle 42"/>
          <p:cNvSpPr>
            <a:spLocks noChangeArrowheads="1"/>
          </p:cNvSpPr>
          <p:nvPr/>
        </p:nvSpPr>
        <p:spPr bwMode="auto">
          <a:xfrm>
            <a:off x="4699000" y="3873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67" name="Rectangle 41"/>
          <p:cNvSpPr>
            <a:spLocks noChangeArrowheads="1"/>
          </p:cNvSpPr>
          <p:nvPr/>
        </p:nvSpPr>
        <p:spPr bwMode="auto">
          <a:xfrm>
            <a:off x="4699000" y="3492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68" name="Line 35"/>
          <p:cNvSpPr>
            <a:spLocks noChangeShapeType="1"/>
          </p:cNvSpPr>
          <p:nvPr/>
        </p:nvSpPr>
        <p:spPr bwMode="auto">
          <a:xfrm>
            <a:off x="2222500" y="4762500"/>
            <a:ext cx="3048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2269" name="Rectangle 43"/>
          <p:cNvSpPr>
            <a:spLocks noChangeArrowheads="1"/>
          </p:cNvSpPr>
          <p:nvPr/>
        </p:nvSpPr>
        <p:spPr bwMode="auto">
          <a:xfrm>
            <a:off x="4191000" y="4445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9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270" name="Rectangle 45"/>
          <p:cNvSpPr>
            <a:spLocks noChangeArrowheads="1"/>
          </p:cNvSpPr>
          <p:nvPr/>
        </p:nvSpPr>
        <p:spPr bwMode="auto">
          <a:xfrm>
            <a:off x="2286000" y="4889500"/>
            <a:ext cx="2603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ts val="1135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</a:rPr>
              <a:t>GET /</a:t>
            </a:r>
            <a:r>
              <a:rPr lang="en-US" altLang="zh-CN" sz="1500" dirty="0" err="1">
                <a:solidFill>
                  <a:srgbClr val="FF0000"/>
                </a:solidFill>
                <a:latin typeface="Arial" panose="020B0604020202020204" pitchFamily="34" charset="0"/>
              </a:rPr>
              <a:t>foo.jpg</a:t>
            </a:r>
            <a:endParaRPr lang="en-US" altLang="zh-CN" sz="15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ts val="1135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FF0000"/>
                </a:solidFill>
                <a:latin typeface="Arial" panose="020B0604020202020204" pitchFamily="34" charset="0"/>
              </a:rPr>
              <a:t>Host: </a:t>
            </a:r>
            <a:r>
              <a:rPr lang="en-US" altLang="zh-CN" sz="1500" dirty="0" err="1">
                <a:solidFill>
                  <a:srgbClr val="FF0000"/>
                </a:solidFill>
                <a:latin typeface="Arial" panose="020B0604020202020204" pitchFamily="34" charset="0"/>
              </a:rPr>
              <a:t>cache.cnn.com</a:t>
            </a:r>
            <a:endParaRPr lang="en-US" altLang="zh-CN" sz="15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2271" name="TextBox 57"/>
          <p:cNvSpPr txBox="1">
            <a:spLocks noChangeArrowheads="1"/>
          </p:cNvSpPr>
          <p:nvPr/>
        </p:nvSpPr>
        <p:spPr bwMode="auto">
          <a:xfrm>
            <a:off x="1143000" y="4699000"/>
            <a:ext cx="1175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5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085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How Akamai Uses DNS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206500" y="2667000"/>
            <a:ext cx="4318000" cy="2349500"/>
            <a:chOff x="3360" y="96"/>
            <a:chExt cx="1056" cy="720"/>
          </a:xfrm>
          <a:solidFill>
            <a:srgbClr val="8EB4E3"/>
          </a:solidFill>
        </p:grpSpPr>
        <p:sp>
          <p:nvSpPr>
            <p:cNvPr id="90159" name="Oval 4"/>
            <p:cNvSpPr>
              <a:spLocks noChangeArrowheads="1"/>
            </p:cNvSpPr>
            <p:nvPr/>
          </p:nvSpPr>
          <p:spPr bwMode="auto">
            <a:xfrm>
              <a:off x="3360" y="14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0" name="Oval 5"/>
            <p:cNvSpPr>
              <a:spLocks noChangeArrowheads="1"/>
            </p:cNvSpPr>
            <p:nvPr/>
          </p:nvSpPr>
          <p:spPr bwMode="auto">
            <a:xfrm>
              <a:off x="3600" y="96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1" name="Oval 6"/>
            <p:cNvSpPr>
              <a:spLocks noChangeArrowheads="1"/>
            </p:cNvSpPr>
            <p:nvPr/>
          </p:nvSpPr>
          <p:spPr bwMode="auto">
            <a:xfrm>
              <a:off x="3840" y="19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2" name="Oval 7"/>
            <p:cNvSpPr>
              <a:spLocks noChangeArrowheads="1"/>
            </p:cNvSpPr>
            <p:nvPr/>
          </p:nvSpPr>
          <p:spPr bwMode="auto">
            <a:xfrm>
              <a:off x="3888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3" name="Oval 8"/>
            <p:cNvSpPr>
              <a:spLocks noChangeArrowheads="1"/>
            </p:cNvSpPr>
            <p:nvPr/>
          </p:nvSpPr>
          <p:spPr bwMode="auto">
            <a:xfrm>
              <a:off x="3600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4" name="Oval 9"/>
            <p:cNvSpPr>
              <a:spLocks noChangeArrowheads="1"/>
            </p:cNvSpPr>
            <p:nvPr/>
          </p:nvSpPr>
          <p:spPr bwMode="auto">
            <a:xfrm>
              <a:off x="3360" y="38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</p:grpSp>
      <p:sp>
        <p:nvSpPr>
          <p:cNvPr id="54278" name="Rectangle 12"/>
          <p:cNvSpPr>
            <a:spLocks noChangeArrowheads="1"/>
          </p:cNvSpPr>
          <p:nvPr/>
        </p:nvSpPr>
        <p:spPr bwMode="auto">
          <a:xfrm>
            <a:off x="889000" y="1206500"/>
            <a:ext cx="285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cnn.com (content provider)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4279" name="Picture 13" descr="Computer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3810000"/>
            <a:ext cx="1031875" cy="9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80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524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81" name="Picture 15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51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2" name="Rectangle 17"/>
          <p:cNvSpPr>
            <a:spLocks noChangeArrowheads="1"/>
          </p:cNvSpPr>
          <p:nvPr/>
        </p:nvSpPr>
        <p:spPr bwMode="auto">
          <a:xfrm>
            <a:off x="3480668" y="1270000"/>
            <a:ext cx="2603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DNS TLD server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83" name="Line 19"/>
          <p:cNvSpPr>
            <a:spLocks noChangeShapeType="1"/>
          </p:cNvSpPr>
          <p:nvPr/>
        </p:nvSpPr>
        <p:spPr bwMode="auto">
          <a:xfrm flipV="1">
            <a:off x="1778000" y="2413000"/>
            <a:ext cx="0" cy="1397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4284" name="Line 20"/>
          <p:cNvSpPr>
            <a:spLocks noChangeShapeType="1"/>
          </p:cNvSpPr>
          <p:nvPr/>
        </p:nvSpPr>
        <p:spPr bwMode="auto">
          <a:xfrm flipV="1">
            <a:off x="1905000" y="2476500"/>
            <a:ext cx="0" cy="1333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4285" name="Rectangle 21"/>
          <p:cNvSpPr>
            <a:spLocks noChangeArrowheads="1"/>
          </p:cNvSpPr>
          <p:nvPr/>
        </p:nvSpPr>
        <p:spPr bwMode="auto">
          <a:xfrm>
            <a:off x="1524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86" name="Rectangle 22"/>
          <p:cNvSpPr>
            <a:spLocks noChangeArrowheads="1"/>
          </p:cNvSpPr>
          <p:nvPr/>
        </p:nvSpPr>
        <p:spPr bwMode="auto">
          <a:xfrm>
            <a:off x="1905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4287" name="Picture 27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26035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88" name="Picture 28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34290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9" name="Rectangle 29"/>
          <p:cNvSpPr>
            <a:spLocks noChangeArrowheads="1"/>
          </p:cNvSpPr>
          <p:nvPr/>
        </p:nvSpPr>
        <p:spPr bwMode="auto">
          <a:xfrm>
            <a:off x="5335860" y="2603500"/>
            <a:ext cx="1856053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Akamai global 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90" name="Rectangle 30"/>
          <p:cNvSpPr>
            <a:spLocks noChangeArrowheads="1"/>
          </p:cNvSpPr>
          <p:nvPr/>
        </p:nvSpPr>
        <p:spPr bwMode="auto">
          <a:xfrm>
            <a:off x="5907360" y="3365500"/>
            <a:ext cx="1905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Akamai regional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4291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0" y="4318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92" name="Rectangle 32"/>
          <p:cNvSpPr>
            <a:spLocks noChangeArrowheads="1"/>
          </p:cNvSpPr>
          <p:nvPr/>
        </p:nvSpPr>
        <p:spPr bwMode="auto">
          <a:xfrm>
            <a:off x="6881440" y="4572000"/>
            <a:ext cx="1651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Nearby </a:t>
            </a:r>
            <a:b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Akamai 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293" name="Slide Number Placeholder 2"/>
          <p:cNvSpPr txBox="1"/>
          <p:nvPr/>
        </p:nvSpPr>
        <p:spPr bwMode="auto">
          <a:xfrm>
            <a:off x="6604000" y="-63500"/>
            <a:ext cx="1778000" cy="304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452E05BE-B87F-B540-BF3D-46AFE7B222B5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5080000" y="4254500"/>
            <a:ext cx="1778000" cy="1270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54295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635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96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4953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97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1333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98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99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1968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6794500" y="1270000"/>
            <a:ext cx="1270000" cy="12065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54301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032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302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303" name="Rectangle 32"/>
          <p:cNvSpPr>
            <a:spLocks noChangeArrowheads="1"/>
          </p:cNvSpPr>
          <p:nvPr/>
        </p:nvSpPr>
        <p:spPr bwMode="auto">
          <a:xfrm>
            <a:off x="6921500" y="2476500"/>
            <a:ext cx="13335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Akamai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04" name="Line 23"/>
          <p:cNvSpPr>
            <a:spLocks noChangeShapeType="1"/>
          </p:cNvSpPr>
          <p:nvPr/>
        </p:nvSpPr>
        <p:spPr bwMode="auto">
          <a:xfrm flipV="1">
            <a:off x="1968500" y="2413000"/>
            <a:ext cx="2209271" cy="14605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4305" name="Line 24"/>
          <p:cNvSpPr>
            <a:spLocks noChangeShapeType="1"/>
          </p:cNvSpPr>
          <p:nvPr/>
        </p:nvSpPr>
        <p:spPr bwMode="auto">
          <a:xfrm flipV="1">
            <a:off x="2032000" y="2563813"/>
            <a:ext cx="2209271" cy="1436688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4306" name="Rectangle 25"/>
          <p:cNvSpPr>
            <a:spLocks noChangeArrowheads="1"/>
          </p:cNvSpPr>
          <p:nvPr/>
        </p:nvSpPr>
        <p:spPr bwMode="auto">
          <a:xfrm>
            <a:off x="2730500" y="2921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07" name="Rectangle 26"/>
          <p:cNvSpPr>
            <a:spLocks noChangeArrowheads="1"/>
          </p:cNvSpPr>
          <p:nvPr/>
        </p:nvSpPr>
        <p:spPr bwMode="auto">
          <a:xfrm>
            <a:off x="2984500" y="3302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08" name="Line 33"/>
          <p:cNvSpPr>
            <a:spLocks noChangeShapeType="1"/>
          </p:cNvSpPr>
          <p:nvPr/>
        </p:nvSpPr>
        <p:spPr bwMode="auto">
          <a:xfrm flipV="1">
            <a:off x="2032000" y="3022865"/>
            <a:ext cx="2819136" cy="110463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4309" name="Line 34"/>
          <p:cNvSpPr>
            <a:spLocks noChangeShapeType="1"/>
          </p:cNvSpPr>
          <p:nvPr/>
        </p:nvSpPr>
        <p:spPr bwMode="auto">
          <a:xfrm flipV="1">
            <a:off x="2032000" y="3149865"/>
            <a:ext cx="2819136" cy="110463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4310" name="Rectangle 38"/>
          <p:cNvSpPr>
            <a:spLocks noChangeArrowheads="1"/>
          </p:cNvSpPr>
          <p:nvPr/>
        </p:nvSpPr>
        <p:spPr bwMode="auto">
          <a:xfrm>
            <a:off x="4508500" y="3238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11" name="Rectangle 51"/>
          <p:cNvSpPr>
            <a:spLocks noChangeArrowheads="1"/>
          </p:cNvSpPr>
          <p:nvPr/>
        </p:nvSpPr>
        <p:spPr bwMode="auto">
          <a:xfrm>
            <a:off x="4508500" y="2794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12" name="Line 39"/>
          <p:cNvSpPr>
            <a:spLocks noChangeShapeType="1"/>
          </p:cNvSpPr>
          <p:nvPr/>
        </p:nvSpPr>
        <p:spPr bwMode="auto">
          <a:xfrm flipV="1">
            <a:off x="2159000" y="3619500"/>
            <a:ext cx="3238500" cy="889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4313" name="Line 40"/>
          <p:cNvSpPr>
            <a:spLocks noChangeShapeType="1"/>
          </p:cNvSpPr>
          <p:nvPr/>
        </p:nvSpPr>
        <p:spPr bwMode="auto">
          <a:xfrm flipV="1">
            <a:off x="2159000" y="3746500"/>
            <a:ext cx="3238500" cy="889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4314" name="Rectangle 42"/>
          <p:cNvSpPr>
            <a:spLocks noChangeArrowheads="1"/>
          </p:cNvSpPr>
          <p:nvPr/>
        </p:nvSpPr>
        <p:spPr bwMode="auto">
          <a:xfrm>
            <a:off x="4699000" y="3873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15" name="Rectangle 41"/>
          <p:cNvSpPr>
            <a:spLocks noChangeArrowheads="1"/>
          </p:cNvSpPr>
          <p:nvPr/>
        </p:nvSpPr>
        <p:spPr bwMode="auto">
          <a:xfrm>
            <a:off x="4699000" y="3492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16" name="Line 35"/>
          <p:cNvSpPr>
            <a:spLocks noChangeShapeType="1"/>
          </p:cNvSpPr>
          <p:nvPr/>
        </p:nvSpPr>
        <p:spPr bwMode="auto">
          <a:xfrm>
            <a:off x="2222500" y="4762500"/>
            <a:ext cx="3048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4317" name="Rectangle 43"/>
          <p:cNvSpPr>
            <a:spLocks noChangeArrowheads="1"/>
          </p:cNvSpPr>
          <p:nvPr/>
        </p:nvSpPr>
        <p:spPr bwMode="auto">
          <a:xfrm>
            <a:off x="4191000" y="4445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9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18" name="Rectangle 45"/>
          <p:cNvSpPr>
            <a:spLocks noChangeArrowheads="1"/>
          </p:cNvSpPr>
          <p:nvPr/>
        </p:nvSpPr>
        <p:spPr bwMode="auto">
          <a:xfrm>
            <a:off x="2286000" y="4889500"/>
            <a:ext cx="2603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ts val="1135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FF0000"/>
                </a:solidFill>
                <a:latin typeface="Arial" panose="020B0604020202020204" pitchFamily="34" charset="0"/>
              </a:rPr>
              <a:t>GET /foo.jpg</a:t>
            </a:r>
            <a:endParaRPr lang="en-US" altLang="zh-CN" sz="15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ts val="1135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FF0000"/>
                </a:solidFill>
                <a:latin typeface="Arial" panose="020B0604020202020204" pitchFamily="34" charset="0"/>
              </a:rPr>
              <a:t>Host: cache.cnn.com</a:t>
            </a:r>
            <a:endParaRPr lang="en-US" altLang="zh-CN" sz="15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4319" name="Rectangle 37"/>
          <p:cNvSpPr>
            <a:spLocks noChangeArrowheads="1"/>
          </p:cNvSpPr>
          <p:nvPr/>
        </p:nvSpPr>
        <p:spPr bwMode="auto">
          <a:xfrm>
            <a:off x="2794000" y="2222500"/>
            <a:ext cx="381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54320" name="AutoShape 47"/>
          <p:cNvCxnSpPr>
            <a:cxnSpLocks noChangeShapeType="1"/>
          </p:cNvCxnSpPr>
          <p:nvPr/>
        </p:nvCxnSpPr>
        <p:spPr bwMode="auto">
          <a:xfrm>
            <a:off x="2286000" y="1873250"/>
            <a:ext cx="3238500" cy="269875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321" name="AutoShape 48"/>
          <p:cNvCxnSpPr>
            <a:cxnSpLocks noChangeShapeType="1"/>
          </p:cNvCxnSpPr>
          <p:nvPr/>
        </p:nvCxnSpPr>
        <p:spPr bwMode="auto">
          <a:xfrm>
            <a:off x="2222500" y="2032000"/>
            <a:ext cx="3238500" cy="26670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322" name="Rectangle 49"/>
          <p:cNvSpPr>
            <a:spLocks noChangeArrowheads="1"/>
          </p:cNvSpPr>
          <p:nvPr/>
        </p:nvSpPr>
        <p:spPr bwMode="auto">
          <a:xfrm>
            <a:off x="3302000" y="1968500"/>
            <a:ext cx="381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11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323" name="Rectangle 50"/>
          <p:cNvSpPr>
            <a:spLocks noChangeArrowheads="1"/>
          </p:cNvSpPr>
          <p:nvPr/>
        </p:nvSpPr>
        <p:spPr bwMode="auto">
          <a:xfrm>
            <a:off x="2222500" y="1587500"/>
            <a:ext cx="152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FF0000"/>
                </a:solidFill>
                <a:latin typeface="Arial" panose="020B0604020202020204" pitchFamily="34" charset="0"/>
              </a:rPr>
              <a:t>GET foo.jpg</a:t>
            </a:r>
            <a:endParaRPr lang="en-US" altLang="zh-CN" sz="15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063" y="5135563"/>
            <a:ext cx="51858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8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094" y="2222500"/>
            <a:ext cx="51726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326" name="TextBox 64"/>
          <p:cNvSpPr txBox="1">
            <a:spLocks noChangeArrowheads="1"/>
          </p:cNvSpPr>
          <p:nvPr/>
        </p:nvSpPr>
        <p:spPr bwMode="auto">
          <a:xfrm>
            <a:off x="1143000" y="4699000"/>
            <a:ext cx="1175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3783E-6 4.18459E-6 C 0.05779 0.0451 0.11559 0.09044 0.14613 0.14619 C 0.17668 0.20217 0.13277 0.27527 0.18344 0.33587 C 0.23412 0.39648 0.34224 0.45338 0.45071 0.5105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27" y="255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085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How Akamai Uses DNS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206500" y="2667000"/>
            <a:ext cx="4318000" cy="2349500"/>
            <a:chOff x="3360" y="96"/>
            <a:chExt cx="1056" cy="720"/>
          </a:xfrm>
          <a:solidFill>
            <a:srgbClr val="8EB4E3"/>
          </a:solidFill>
        </p:grpSpPr>
        <p:sp>
          <p:nvSpPr>
            <p:cNvPr id="90159" name="Oval 4"/>
            <p:cNvSpPr>
              <a:spLocks noChangeArrowheads="1"/>
            </p:cNvSpPr>
            <p:nvPr/>
          </p:nvSpPr>
          <p:spPr bwMode="auto">
            <a:xfrm>
              <a:off x="3360" y="14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0" name="Oval 5"/>
            <p:cNvSpPr>
              <a:spLocks noChangeArrowheads="1"/>
            </p:cNvSpPr>
            <p:nvPr/>
          </p:nvSpPr>
          <p:spPr bwMode="auto">
            <a:xfrm>
              <a:off x="3600" y="96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1" name="Oval 6"/>
            <p:cNvSpPr>
              <a:spLocks noChangeArrowheads="1"/>
            </p:cNvSpPr>
            <p:nvPr/>
          </p:nvSpPr>
          <p:spPr bwMode="auto">
            <a:xfrm>
              <a:off x="3840" y="19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2" name="Oval 7"/>
            <p:cNvSpPr>
              <a:spLocks noChangeArrowheads="1"/>
            </p:cNvSpPr>
            <p:nvPr/>
          </p:nvSpPr>
          <p:spPr bwMode="auto">
            <a:xfrm>
              <a:off x="3888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3" name="Oval 8"/>
            <p:cNvSpPr>
              <a:spLocks noChangeArrowheads="1"/>
            </p:cNvSpPr>
            <p:nvPr/>
          </p:nvSpPr>
          <p:spPr bwMode="auto">
            <a:xfrm>
              <a:off x="3600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4" name="Oval 9"/>
            <p:cNvSpPr>
              <a:spLocks noChangeArrowheads="1"/>
            </p:cNvSpPr>
            <p:nvPr/>
          </p:nvSpPr>
          <p:spPr bwMode="auto">
            <a:xfrm>
              <a:off x="3360" y="38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</p:grpSp>
      <p:sp>
        <p:nvSpPr>
          <p:cNvPr id="56326" name="Rectangle 12"/>
          <p:cNvSpPr>
            <a:spLocks noChangeArrowheads="1"/>
          </p:cNvSpPr>
          <p:nvPr/>
        </p:nvSpPr>
        <p:spPr bwMode="auto">
          <a:xfrm>
            <a:off x="889000" y="1206500"/>
            <a:ext cx="285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cnn.com (content provider)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6327" name="Picture 13" descr="Computer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3810000"/>
            <a:ext cx="1031875" cy="9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8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524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9" name="Picture 15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51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30" name="Rectangle 17"/>
          <p:cNvSpPr>
            <a:spLocks noChangeArrowheads="1"/>
          </p:cNvSpPr>
          <p:nvPr/>
        </p:nvSpPr>
        <p:spPr bwMode="auto">
          <a:xfrm>
            <a:off x="3483768" y="1270000"/>
            <a:ext cx="2603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DNS TLD server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31" name="Line 19"/>
          <p:cNvSpPr>
            <a:spLocks noChangeShapeType="1"/>
          </p:cNvSpPr>
          <p:nvPr/>
        </p:nvSpPr>
        <p:spPr bwMode="auto">
          <a:xfrm flipV="1">
            <a:off x="1778000" y="2413000"/>
            <a:ext cx="0" cy="1397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6332" name="Line 20"/>
          <p:cNvSpPr>
            <a:spLocks noChangeShapeType="1"/>
          </p:cNvSpPr>
          <p:nvPr/>
        </p:nvSpPr>
        <p:spPr bwMode="auto">
          <a:xfrm flipV="1">
            <a:off x="1905000" y="2476500"/>
            <a:ext cx="0" cy="1333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6333" name="Rectangle 21"/>
          <p:cNvSpPr>
            <a:spLocks noChangeArrowheads="1"/>
          </p:cNvSpPr>
          <p:nvPr/>
        </p:nvSpPr>
        <p:spPr bwMode="auto">
          <a:xfrm>
            <a:off x="1524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34" name="Rectangle 22"/>
          <p:cNvSpPr>
            <a:spLocks noChangeArrowheads="1"/>
          </p:cNvSpPr>
          <p:nvPr/>
        </p:nvSpPr>
        <p:spPr bwMode="auto">
          <a:xfrm>
            <a:off x="1905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6335" name="Picture 27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26035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36" name="Picture 28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34290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37" name="Rectangle 29"/>
          <p:cNvSpPr>
            <a:spLocks noChangeArrowheads="1"/>
          </p:cNvSpPr>
          <p:nvPr/>
        </p:nvSpPr>
        <p:spPr bwMode="auto">
          <a:xfrm>
            <a:off x="5335860" y="2603500"/>
            <a:ext cx="1856053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Akamai global 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38" name="Rectangle 30"/>
          <p:cNvSpPr>
            <a:spLocks noChangeArrowheads="1"/>
          </p:cNvSpPr>
          <p:nvPr/>
        </p:nvSpPr>
        <p:spPr bwMode="auto">
          <a:xfrm>
            <a:off x="5907360" y="3365500"/>
            <a:ext cx="1905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Akamai regional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6339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0" y="4318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40" name="Rectangle 32"/>
          <p:cNvSpPr>
            <a:spLocks noChangeArrowheads="1"/>
          </p:cNvSpPr>
          <p:nvPr/>
        </p:nvSpPr>
        <p:spPr bwMode="auto">
          <a:xfrm>
            <a:off x="6881440" y="4572000"/>
            <a:ext cx="1651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Nearby </a:t>
            </a:r>
            <a:b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Akamai 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41" name="Slide Number Placeholder 2"/>
          <p:cNvSpPr txBox="1"/>
          <p:nvPr/>
        </p:nvSpPr>
        <p:spPr bwMode="auto">
          <a:xfrm>
            <a:off x="6604000" y="-63500"/>
            <a:ext cx="1778000" cy="304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FDFE80D4-2C84-A44C-BDE2-2E82641235B3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5080000" y="4254500"/>
            <a:ext cx="1778000" cy="1270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56343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635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44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4953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45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1333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46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47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1968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6794500" y="1270000"/>
            <a:ext cx="1270000" cy="12065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56349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032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50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51" name="Rectangle 32"/>
          <p:cNvSpPr>
            <a:spLocks noChangeArrowheads="1"/>
          </p:cNvSpPr>
          <p:nvPr/>
        </p:nvSpPr>
        <p:spPr bwMode="auto">
          <a:xfrm>
            <a:off x="6921500" y="2476500"/>
            <a:ext cx="13335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Akamai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52" name="Line 23"/>
          <p:cNvSpPr>
            <a:spLocks noChangeShapeType="1"/>
          </p:cNvSpPr>
          <p:nvPr/>
        </p:nvSpPr>
        <p:spPr bwMode="auto">
          <a:xfrm flipV="1">
            <a:off x="1968500" y="2413000"/>
            <a:ext cx="2209271" cy="14605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6353" name="Line 24"/>
          <p:cNvSpPr>
            <a:spLocks noChangeShapeType="1"/>
          </p:cNvSpPr>
          <p:nvPr/>
        </p:nvSpPr>
        <p:spPr bwMode="auto">
          <a:xfrm flipV="1">
            <a:off x="2032000" y="2563813"/>
            <a:ext cx="2209271" cy="1436688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6354" name="Rectangle 25"/>
          <p:cNvSpPr>
            <a:spLocks noChangeArrowheads="1"/>
          </p:cNvSpPr>
          <p:nvPr/>
        </p:nvSpPr>
        <p:spPr bwMode="auto">
          <a:xfrm>
            <a:off x="2730500" y="2921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55" name="Rectangle 26"/>
          <p:cNvSpPr>
            <a:spLocks noChangeArrowheads="1"/>
          </p:cNvSpPr>
          <p:nvPr/>
        </p:nvSpPr>
        <p:spPr bwMode="auto">
          <a:xfrm>
            <a:off x="2984500" y="3302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56" name="Line 33"/>
          <p:cNvSpPr>
            <a:spLocks noChangeShapeType="1"/>
          </p:cNvSpPr>
          <p:nvPr/>
        </p:nvSpPr>
        <p:spPr bwMode="auto">
          <a:xfrm flipV="1">
            <a:off x="2032000" y="3022865"/>
            <a:ext cx="2819136" cy="110463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6357" name="Line 34"/>
          <p:cNvSpPr>
            <a:spLocks noChangeShapeType="1"/>
          </p:cNvSpPr>
          <p:nvPr/>
        </p:nvSpPr>
        <p:spPr bwMode="auto">
          <a:xfrm flipV="1">
            <a:off x="2032000" y="3149865"/>
            <a:ext cx="2819136" cy="1104635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6358" name="Rectangle 38"/>
          <p:cNvSpPr>
            <a:spLocks noChangeArrowheads="1"/>
          </p:cNvSpPr>
          <p:nvPr/>
        </p:nvSpPr>
        <p:spPr bwMode="auto">
          <a:xfrm>
            <a:off x="4508500" y="3238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59" name="Rectangle 51"/>
          <p:cNvSpPr>
            <a:spLocks noChangeArrowheads="1"/>
          </p:cNvSpPr>
          <p:nvPr/>
        </p:nvSpPr>
        <p:spPr bwMode="auto">
          <a:xfrm>
            <a:off x="4508500" y="2794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60" name="Line 39"/>
          <p:cNvSpPr>
            <a:spLocks noChangeShapeType="1"/>
          </p:cNvSpPr>
          <p:nvPr/>
        </p:nvSpPr>
        <p:spPr bwMode="auto">
          <a:xfrm flipV="1">
            <a:off x="2159000" y="3619500"/>
            <a:ext cx="3238500" cy="889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6361" name="Line 40"/>
          <p:cNvSpPr>
            <a:spLocks noChangeShapeType="1"/>
          </p:cNvSpPr>
          <p:nvPr/>
        </p:nvSpPr>
        <p:spPr bwMode="auto">
          <a:xfrm flipV="1">
            <a:off x="2159000" y="3746500"/>
            <a:ext cx="3238500" cy="889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6362" name="Rectangle 42"/>
          <p:cNvSpPr>
            <a:spLocks noChangeArrowheads="1"/>
          </p:cNvSpPr>
          <p:nvPr/>
        </p:nvSpPr>
        <p:spPr bwMode="auto">
          <a:xfrm>
            <a:off x="4699000" y="3873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63" name="Rectangle 41"/>
          <p:cNvSpPr>
            <a:spLocks noChangeArrowheads="1"/>
          </p:cNvSpPr>
          <p:nvPr/>
        </p:nvSpPr>
        <p:spPr bwMode="auto">
          <a:xfrm>
            <a:off x="4699000" y="3492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64" name="Line 35"/>
          <p:cNvSpPr>
            <a:spLocks noChangeShapeType="1"/>
          </p:cNvSpPr>
          <p:nvPr/>
        </p:nvSpPr>
        <p:spPr bwMode="auto">
          <a:xfrm>
            <a:off x="2222500" y="4762500"/>
            <a:ext cx="3048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6365" name="Rectangle 43"/>
          <p:cNvSpPr>
            <a:spLocks noChangeArrowheads="1"/>
          </p:cNvSpPr>
          <p:nvPr/>
        </p:nvSpPr>
        <p:spPr bwMode="auto">
          <a:xfrm>
            <a:off x="4191000" y="4445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9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66" name="Rectangle 37"/>
          <p:cNvSpPr>
            <a:spLocks noChangeArrowheads="1"/>
          </p:cNvSpPr>
          <p:nvPr/>
        </p:nvSpPr>
        <p:spPr bwMode="auto">
          <a:xfrm>
            <a:off x="2794000" y="2222500"/>
            <a:ext cx="381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56367" name="AutoShape 47"/>
          <p:cNvCxnSpPr>
            <a:cxnSpLocks noChangeShapeType="1"/>
          </p:cNvCxnSpPr>
          <p:nvPr/>
        </p:nvCxnSpPr>
        <p:spPr bwMode="auto">
          <a:xfrm>
            <a:off x="2286000" y="1873250"/>
            <a:ext cx="3238500" cy="269875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68" name="AutoShape 48"/>
          <p:cNvCxnSpPr>
            <a:cxnSpLocks noChangeShapeType="1"/>
          </p:cNvCxnSpPr>
          <p:nvPr/>
        </p:nvCxnSpPr>
        <p:spPr bwMode="auto">
          <a:xfrm>
            <a:off x="2222500" y="2032000"/>
            <a:ext cx="3238500" cy="266700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69" name="Rectangle 49"/>
          <p:cNvSpPr>
            <a:spLocks noChangeArrowheads="1"/>
          </p:cNvSpPr>
          <p:nvPr/>
        </p:nvSpPr>
        <p:spPr bwMode="auto">
          <a:xfrm>
            <a:off x="3302000" y="1968500"/>
            <a:ext cx="381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11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370" name="Line 36"/>
          <p:cNvSpPr>
            <a:spLocks noChangeShapeType="1"/>
          </p:cNvSpPr>
          <p:nvPr/>
        </p:nvSpPr>
        <p:spPr bwMode="auto">
          <a:xfrm>
            <a:off x="2222500" y="4889500"/>
            <a:ext cx="3048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6371" name="Rectangle 44"/>
          <p:cNvSpPr>
            <a:spLocks noChangeArrowheads="1"/>
          </p:cNvSpPr>
          <p:nvPr/>
        </p:nvSpPr>
        <p:spPr bwMode="auto">
          <a:xfrm>
            <a:off x="4381500" y="4889500"/>
            <a:ext cx="444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6372" name="Picture 8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063" y="5135563"/>
            <a:ext cx="51858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73" name="Picture 8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5016500"/>
            <a:ext cx="517261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74" name="TextBox 64"/>
          <p:cNvSpPr txBox="1">
            <a:spLocks noChangeArrowheads="1"/>
          </p:cNvSpPr>
          <p:nvPr/>
        </p:nvSpPr>
        <p:spPr bwMode="auto">
          <a:xfrm>
            <a:off x="1143000" y="4699000"/>
            <a:ext cx="1175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1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085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>
                <a:ea typeface="MS PGothic" panose="020B0600070205080204" pitchFamily="34" charset="-128"/>
              </a:rPr>
              <a:t>How Akamai Works: Cache Hit</a:t>
            </a:r>
            <a:endParaRPr lang="en-US" altLang="zh-CN" sz="2800" dirty="0">
              <a:ea typeface="MS PGothic" panose="020B0600070205080204" pitchFamily="34" charset="-128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206500" y="2667000"/>
            <a:ext cx="4318000" cy="2349500"/>
            <a:chOff x="3360" y="96"/>
            <a:chExt cx="1056" cy="720"/>
          </a:xfrm>
          <a:solidFill>
            <a:srgbClr val="8EB4E3"/>
          </a:solidFill>
        </p:grpSpPr>
        <p:sp>
          <p:nvSpPr>
            <p:cNvPr id="90159" name="Oval 4"/>
            <p:cNvSpPr>
              <a:spLocks noChangeArrowheads="1"/>
            </p:cNvSpPr>
            <p:nvPr/>
          </p:nvSpPr>
          <p:spPr bwMode="auto">
            <a:xfrm>
              <a:off x="3360" y="14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0" name="Oval 5"/>
            <p:cNvSpPr>
              <a:spLocks noChangeArrowheads="1"/>
            </p:cNvSpPr>
            <p:nvPr/>
          </p:nvSpPr>
          <p:spPr bwMode="auto">
            <a:xfrm>
              <a:off x="3600" y="96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1" name="Oval 6"/>
            <p:cNvSpPr>
              <a:spLocks noChangeArrowheads="1"/>
            </p:cNvSpPr>
            <p:nvPr/>
          </p:nvSpPr>
          <p:spPr bwMode="auto">
            <a:xfrm>
              <a:off x="3840" y="19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2" name="Oval 7"/>
            <p:cNvSpPr>
              <a:spLocks noChangeArrowheads="1"/>
            </p:cNvSpPr>
            <p:nvPr/>
          </p:nvSpPr>
          <p:spPr bwMode="auto">
            <a:xfrm>
              <a:off x="3888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3" name="Oval 8"/>
            <p:cNvSpPr>
              <a:spLocks noChangeArrowheads="1"/>
            </p:cNvSpPr>
            <p:nvPr/>
          </p:nvSpPr>
          <p:spPr bwMode="auto">
            <a:xfrm>
              <a:off x="3600" y="432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  <p:sp>
          <p:nvSpPr>
            <p:cNvPr id="90164" name="Oval 9"/>
            <p:cNvSpPr>
              <a:spLocks noChangeArrowheads="1"/>
            </p:cNvSpPr>
            <p:nvPr/>
          </p:nvSpPr>
          <p:spPr bwMode="auto">
            <a:xfrm>
              <a:off x="3360" y="384"/>
              <a:ext cx="528" cy="384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wrap="none" anchor="ctr"/>
            <a:lstStyle/>
            <a:p>
              <a:pPr>
                <a:defRPr/>
              </a:pPr>
              <a:endParaRPr lang="en-US" sz="1500">
                <a:latin typeface="Courier New" panose="02070309020205020404" pitchFamily="49" charset="0"/>
              </a:endParaRPr>
            </a:p>
          </p:txBody>
        </p:sp>
      </p:grpSp>
      <p:sp>
        <p:nvSpPr>
          <p:cNvPr id="58374" name="Rectangle 12"/>
          <p:cNvSpPr>
            <a:spLocks noChangeArrowheads="1"/>
          </p:cNvSpPr>
          <p:nvPr/>
        </p:nvSpPr>
        <p:spPr bwMode="auto">
          <a:xfrm>
            <a:off x="889000" y="1206500"/>
            <a:ext cx="285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cnn.com (content provider)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8375" name="Picture 13" descr="Computer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3810000"/>
            <a:ext cx="1031875" cy="907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6" name="Picture 14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524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7" name="Picture 15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651000"/>
            <a:ext cx="9525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8" name="Rectangle 17"/>
          <p:cNvSpPr>
            <a:spLocks noChangeArrowheads="1"/>
          </p:cNvSpPr>
          <p:nvPr/>
        </p:nvSpPr>
        <p:spPr bwMode="auto">
          <a:xfrm>
            <a:off x="3498924" y="1270000"/>
            <a:ext cx="2603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DNS TLD server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379" name="Line 19"/>
          <p:cNvSpPr>
            <a:spLocks noChangeShapeType="1"/>
          </p:cNvSpPr>
          <p:nvPr/>
        </p:nvSpPr>
        <p:spPr bwMode="auto">
          <a:xfrm flipV="1">
            <a:off x="1778000" y="2413000"/>
            <a:ext cx="0" cy="1397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8380" name="Line 20"/>
          <p:cNvSpPr>
            <a:spLocks noChangeShapeType="1"/>
          </p:cNvSpPr>
          <p:nvPr/>
        </p:nvSpPr>
        <p:spPr bwMode="auto">
          <a:xfrm flipV="1">
            <a:off x="1905000" y="2476500"/>
            <a:ext cx="0" cy="1333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8381" name="Rectangle 21"/>
          <p:cNvSpPr>
            <a:spLocks noChangeArrowheads="1"/>
          </p:cNvSpPr>
          <p:nvPr/>
        </p:nvSpPr>
        <p:spPr bwMode="auto">
          <a:xfrm>
            <a:off x="1524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382" name="Rectangle 22"/>
          <p:cNvSpPr>
            <a:spLocks noChangeArrowheads="1"/>
          </p:cNvSpPr>
          <p:nvPr/>
        </p:nvSpPr>
        <p:spPr bwMode="auto">
          <a:xfrm>
            <a:off x="1905000" y="2984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8383" name="Picture 27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26035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84" name="Picture 28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342900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85" name="Rectangle 29"/>
          <p:cNvSpPr>
            <a:spLocks noChangeArrowheads="1"/>
          </p:cNvSpPr>
          <p:nvPr/>
        </p:nvSpPr>
        <p:spPr bwMode="auto">
          <a:xfrm>
            <a:off x="5335860" y="2603500"/>
            <a:ext cx="1856053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Akamai global 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 dirty="0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386" name="Rectangle 30"/>
          <p:cNvSpPr>
            <a:spLocks noChangeArrowheads="1"/>
          </p:cNvSpPr>
          <p:nvPr/>
        </p:nvSpPr>
        <p:spPr bwMode="auto">
          <a:xfrm>
            <a:off x="5907360" y="3365500"/>
            <a:ext cx="1905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Akamai regional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335">
                <a:solidFill>
                  <a:srgbClr val="000000"/>
                </a:solidFill>
                <a:latin typeface="Arial" panose="020B0604020202020204" pitchFamily="34" charset="0"/>
              </a:rPr>
              <a:t>DNS server</a:t>
            </a:r>
            <a:endParaRPr lang="en-US" altLang="zh-CN" sz="133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8387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0" y="4318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88" name="Rectangle 32"/>
          <p:cNvSpPr>
            <a:spLocks noChangeArrowheads="1"/>
          </p:cNvSpPr>
          <p:nvPr/>
        </p:nvSpPr>
        <p:spPr bwMode="auto">
          <a:xfrm>
            <a:off x="6881440" y="4572000"/>
            <a:ext cx="16510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Nearby </a:t>
            </a:r>
            <a:b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Akamai 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389" name="Slide Number Placeholder 2"/>
          <p:cNvSpPr txBox="1"/>
          <p:nvPr/>
        </p:nvSpPr>
        <p:spPr bwMode="auto">
          <a:xfrm>
            <a:off x="6604000" y="-63500"/>
            <a:ext cx="1778000" cy="304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56E8B3AD-F32E-D04E-BD89-B33FB8E3FE21}" type="slidenum">
              <a:rPr lang="en-US" altLang="zh-CN" sz="1000">
                <a:solidFill>
                  <a:srgbClr val="898989"/>
                </a:solidFill>
              </a:rPr>
            </a:fld>
            <a:endParaRPr lang="en-US" altLang="zh-CN" sz="1000">
              <a:solidFill>
                <a:srgbClr val="898989"/>
              </a:solidFill>
            </a:endParaRPr>
          </a:p>
        </p:txBody>
      </p:sp>
      <p:sp>
        <p:nvSpPr>
          <p:cNvPr id="57" name="Oval 56"/>
          <p:cNvSpPr>
            <a:spLocks noChangeArrowheads="1"/>
          </p:cNvSpPr>
          <p:nvPr/>
        </p:nvSpPr>
        <p:spPr bwMode="auto">
          <a:xfrm>
            <a:off x="5080000" y="4254500"/>
            <a:ext cx="1778000" cy="1270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58391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635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92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4953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93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1333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94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95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19685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Oval 63"/>
          <p:cNvSpPr>
            <a:spLocks noChangeArrowheads="1"/>
          </p:cNvSpPr>
          <p:nvPr/>
        </p:nvSpPr>
        <p:spPr bwMode="auto">
          <a:xfrm>
            <a:off x="6794500" y="1270000"/>
            <a:ext cx="1270000" cy="12065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zh-CN" altLang="zh-CN" sz="1665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58397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032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98" name="Picture 31" descr="paketaro bo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651000"/>
            <a:ext cx="317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99" name="Rectangle 32"/>
          <p:cNvSpPr>
            <a:spLocks noChangeArrowheads="1"/>
          </p:cNvSpPr>
          <p:nvPr/>
        </p:nvSpPr>
        <p:spPr bwMode="auto">
          <a:xfrm>
            <a:off x="6921500" y="2476500"/>
            <a:ext cx="13335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Akamai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cluster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400" name="Line 39"/>
          <p:cNvSpPr>
            <a:spLocks noChangeShapeType="1"/>
          </p:cNvSpPr>
          <p:nvPr/>
        </p:nvSpPr>
        <p:spPr bwMode="auto">
          <a:xfrm flipV="1">
            <a:off x="2159000" y="3619500"/>
            <a:ext cx="3238500" cy="889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8401" name="Line 40"/>
          <p:cNvSpPr>
            <a:spLocks noChangeShapeType="1"/>
          </p:cNvSpPr>
          <p:nvPr/>
        </p:nvSpPr>
        <p:spPr bwMode="auto">
          <a:xfrm flipV="1">
            <a:off x="2159000" y="3746500"/>
            <a:ext cx="3238500" cy="889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8402" name="Rectangle 42"/>
          <p:cNvSpPr>
            <a:spLocks noChangeArrowheads="1"/>
          </p:cNvSpPr>
          <p:nvPr/>
        </p:nvSpPr>
        <p:spPr bwMode="auto">
          <a:xfrm>
            <a:off x="4699000" y="3873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403" name="Rectangle 41"/>
          <p:cNvSpPr>
            <a:spLocks noChangeArrowheads="1"/>
          </p:cNvSpPr>
          <p:nvPr/>
        </p:nvSpPr>
        <p:spPr bwMode="auto">
          <a:xfrm>
            <a:off x="4699000" y="34925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404" name="Line 35"/>
          <p:cNvSpPr>
            <a:spLocks noChangeShapeType="1"/>
          </p:cNvSpPr>
          <p:nvPr/>
        </p:nvSpPr>
        <p:spPr bwMode="auto">
          <a:xfrm>
            <a:off x="2222500" y="4762500"/>
            <a:ext cx="3048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8405" name="Rectangle 43"/>
          <p:cNvSpPr>
            <a:spLocks noChangeArrowheads="1"/>
          </p:cNvSpPr>
          <p:nvPr/>
        </p:nvSpPr>
        <p:spPr bwMode="auto">
          <a:xfrm>
            <a:off x="4191000" y="4445000"/>
            <a:ext cx="2540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8406" name="Line 36"/>
          <p:cNvSpPr>
            <a:spLocks noChangeShapeType="1"/>
          </p:cNvSpPr>
          <p:nvPr/>
        </p:nvSpPr>
        <p:spPr bwMode="auto">
          <a:xfrm>
            <a:off x="2222500" y="4889500"/>
            <a:ext cx="3048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1500"/>
          </a:p>
        </p:txBody>
      </p:sp>
      <p:sp>
        <p:nvSpPr>
          <p:cNvPr id="58407" name="Rectangle 44"/>
          <p:cNvSpPr>
            <a:spLocks noChangeArrowheads="1"/>
          </p:cNvSpPr>
          <p:nvPr/>
        </p:nvSpPr>
        <p:spPr bwMode="auto">
          <a:xfrm>
            <a:off x="4381500" y="4889500"/>
            <a:ext cx="444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000000"/>
              </a:buClr>
            </a:pPr>
            <a:r>
              <a:rPr lang="en-US" altLang="zh-CN" sz="15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  <a:endParaRPr lang="en-US" altLang="zh-CN" sz="15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8408" name="Picture 8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063" y="5135563"/>
            <a:ext cx="51858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409" name="Picture 8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5016500"/>
            <a:ext cx="517261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410" name="TextBox 64"/>
          <p:cNvSpPr txBox="1">
            <a:spLocks noChangeArrowheads="1"/>
          </p:cNvSpPr>
          <p:nvPr/>
        </p:nvSpPr>
        <p:spPr bwMode="auto">
          <a:xfrm>
            <a:off x="1143000" y="4699000"/>
            <a:ext cx="11753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657350" y="2281436"/>
            <a:ext cx="58293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BD374B"/>
                </a:solidFill>
              </a:rPr>
              <a:t>P2P Network</a:t>
            </a:r>
            <a:endParaRPr lang="en-US" altLang="zh-CN" dirty="0">
              <a:solidFill>
                <a:srgbClr val="BD374B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396552" y="228866"/>
            <a:ext cx="1728192" cy="1476506"/>
          </a:xfrm>
          <a:prstGeom prst="rect">
            <a:avLst/>
          </a:prstGeom>
          <a:solidFill>
            <a:schemeClr val="bg1"/>
          </a:solidFill>
          <a:ln w="12700">
            <a:noFill/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Downsides of Centralized Infrastructure</a:t>
            </a:r>
            <a:endParaRPr lang="en-US" altLang="zh-CN" dirty="0"/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+mn-lt"/>
              </a:rPr>
              <a:t>Centralized point of failure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High management costs</a:t>
            </a:r>
            <a:endParaRPr lang="en-US" altLang="zh-CN" dirty="0">
              <a:latin typeface="+mn-lt"/>
            </a:endParaRPr>
          </a:p>
          <a:p>
            <a:pPr lvl="1" eaLnBrk="1" hangingPunct="1"/>
            <a:r>
              <a:rPr lang="en-US" altLang="zh-CN" dirty="0">
                <a:latin typeface="+mn-lt"/>
              </a:rPr>
              <a:t>If one org has to host millions of files, etc.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Not suitable for many scenarios</a:t>
            </a:r>
            <a:endParaRPr lang="en-US" altLang="zh-CN" dirty="0">
              <a:latin typeface="+mn-lt"/>
            </a:endParaRPr>
          </a:p>
          <a:p>
            <a:pPr lvl="1" eaLnBrk="1" hangingPunct="1"/>
            <a:r>
              <a:rPr lang="en-US" altLang="zh-CN" dirty="0">
                <a:latin typeface="+mn-lt"/>
              </a:rPr>
              <a:t>E.g., cooperation between you and me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Lack ability to aggregate clients</a:t>
            </a:r>
            <a:endParaRPr lang="en-US" altLang="zh-CN" dirty="0">
              <a:latin typeface="+mn-lt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P2P (Peer-to-peer):</a:t>
            </a:r>
            <a:r>
              <a:rPr lang="zh-CN" altLang="en-US" dirty="0"/>
              <a:t> </a:t>
            </a:r>
            <a:r>
              <a:rPr lang="en-US" altLang="zh-CN" dirty="0"/>
              <a:t>No central servers!</a:t>
            </a:r>
            <a:endParaRPr lang="en-US" altLang="zh-CN" dirty="0"/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dirty="0"/>
              <a:t>How to track nodes and objects in the system?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How do you find other nodes in the system?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How should data be split up between nodes?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How to prevent data from being lost? 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How to keep it available?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How to provide consistency?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How to provide security? anonymity?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BitTorrent</a:t>
            </a:r>
            <a:endParaRPr lang="en-US" altLang="zh-CN"/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>
          <a:xfrm>
            <a:off x="457200" y="1129308"/>
            <a:ext cx="8363272" cy="3771636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dirty="0"/>
              <a:t>Usage Model: Cooperative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User downloads file from someone using simple user interface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While downloading, </a:t>
            </a:r>
            <a:r>
              <a:rPr lang="en-US" altLang="zh-CN" dirty="0" err="1"/>
              <a:t>BitTorrent</a:t>
            </a:r>
            <a:r>
              <a:rPr lang="en-US" altLang="zh-CN" dirty="0"/>
              <a:t> serves file also to others</a:t>
            </a:r>
            <a:endParaRPr lang="en-US" altLang="zh-CN" dirty="0"/>
          </a:p>
          <a:p>
            <a:pPr lvl="1" eaLnBrk="1" hangingPunct="1"/>
            <a:r>
              <a:rPr lang="en-US" altLang="zh-CN" dirty="0" err="1"/>
              <a:t>BitTorrent</a:t>
            </a:r>
            <a:r>
              <a:rPr lang="en-US" altLang="zh-CN" dirty="0"/>
              <a:t> keeps running for a little while after download completes</a:t>
            </a:r>
            <a:endParaRPr lang="en-US" altLang="zh-CN" dirty="0"/>
          </a:p>
          <a:p>
            <a:pPr eaLnBrk="1" hangingPunct="1"/>
            <a:r>
              <a:rPr lang="en-US" altLang="zh-CN" dirty="0"/>
              <a:t>3 Roles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Tracker</a:t>
            </a:r>
            <a:r>
              <a:rPr lang="en-US" altLang="zh-CN" dirty="0"/>
              <a:t>: What peer serves which parts of a file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Seeder</a:t>
            </a:r>
            <a:r>
              <a:rPr lang="en-US" altLang="zh-CN" dirty="0"/>
              <a:t>: Own the whole file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Peer</a:t>
            </a:r>
            <a:r>
              <a:rPr lang="en-US" altLang="zh-CN" dirty="0"/>
              <a:t>: Turn a seeder once has 100% of a file</a:t>
            </a:r>
            <a:endParaRPr lang="en-US" altLang="zh-CN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BitTorrent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621" y="1129308"/>
            <a:ext cx="8074819" cy="3996929"/>
          </a:xfrm>
        </p:spPr>
        <p:txBody>
          <a:bodyPr>
            <a:no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dirty="0"/>
              <a:t>Publisher a .torrent file on a Web server (e.g., </a:t>
            </a:r>
            <a:r>
              <a:rPr lang="en-US" u="sng" dirty="0">
                <a:hlinkClick r:id="rId1"/>
              </a:rPr>
              <a:t>suprnova.org)</a:t>
            </a:r>
            <a:endParaRPr lang="en-US" u="sng" dirty="0"/>
          </a:p>
          <a:p>
            <a:pPr lvl="1" eaLnBrk="1" hangingPunct="1">
              <a:buFont typeface="Symbol" panose="05050102010706020507" charset="0"/>
              <a:buChar char="-"/>
              <a:defRPr/>
            </a:pPr>
            <a:r>
              <a:rPr lang="en-US" dirty="0">
                <a:cs typeface="+mn-cs"/>
              </a:rPr>
              <a:t>URL of tracker</a:t>
            </a:r>
            <a:r>
              <a:rPr lang="en-US" altLang="zh-CN" dirty="0">
                <a:cs typeface="+mn-cs"/>
              </a:rPr>
              <a:t>,</a:t>
            </a:r>
            <a:r>
              <a:rPr lang="zh-CN" altLang="en-US" dirty="0">
                <a:cs typeface="+mn-cs"/>
              </a:rPr>
              <a:t> </a:t>
            </a:r>
            <a:r>
              <a:rPr lang="en-US" dirty="0">
                <a:cs typeface="+mn-cs"/>
              </a:rPr>
              <a:t>file name, length</a:t>
            </a:r>
            <a:r>
              <a:rPr lang="en-US" altLang="zh-CN" dirty="0">
                <a:cs typeface="+mn-cs"/>
              </a:rPr>
              <a:t>,</a:t>
            </a:r>
            <a:r>
              <a:rPr lang="zh-CN" altLang="en-US" dirty="0">
                <a:cs typeface="+mn-cs"/>
              </a:rPr>
              <a:t> </a:t>
            </a:r>
            <a:r>
              <a:rPr lang="en-US" dirty="0">
                <a:cs typeface="+mn-cs"/>
              </a:rPr>
              <a:t>SHA1s of data blocks (64-512Kbyte)</a:t>
            </a:r>
            <a:endParaRPr lang="en-US" dirty="0">
              <a:cs typeface="+mn-cs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sv-SE" dirty="0" err="1"/>
              <a:t>Tracker</a:t>
            </a:r>
            <a:endParaRPr lang="sv-SE" dirty="0"/>
          </a:p>
          <a:p>
            <a:pPr lvl="1" eaLnBrk="1" hangingPunct="1">
              <a:buFont typeface="Symbol" panose="05050102010706020507" charset="0"/>
              <a:buChar char="-"/>
              <a:defRPr/>
            </a:pPr>
            <a:r>
              <a:rPr lang="en-US" dirty="0">
                <a:cs typeface="+mn-cs"/>
              </a:rPr>
              <a:t>Organizes a swarm of peers (who has what block?)</a:t>
            </a:r>
            <a:endParaRPr lang="en-US" dirty="0">
              <a:cs typeface="+mn-cs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dirty="0"/>
              <a:t>Seed</a:t>
            </a:r>
            <a:r>
              <a:rPr lang="en-US" altLang="zh-CN" dirty="0"/>
              <a:t>er</a:t>
            </a:r>
            <a:r>
              <a:rPr lang="en-US" dirty="0"/>
              <a:t> posts the URL for .torrent with tracker</a:t>
            </a:r>
            <a:endParaRPr lang="en-US" dirty="0"/>
          </a:p>
          <a:p>
            <a:pPr lvl="1" eaLnBrk="1" hangingPunct="1">
              <a:buFont typeface="Symbol" panose="05050102010706020507" charset="0"/>
              <a:buChar char="-"/>
              <a:defRPr/>
            </a:pPr>
            <a:r>
              <a:rPr lang="en-US" dirty="0">
                <a:cs typeface="+mn-cs"/>
              </a:rPr>
              <a:t>Seed</a:t>
            </a:r>
            <a:r>
              <a:rPr lang="en-US" altLang="zh-CN" dirty="0">
                <a:cs typeface="+mn-cs"/>
              </a:rPr>
              <a:t>er</a:t>
            </a:r>
            <a:r>
              <a:rPr lang="en-US" dirty="0">
                <a:cs typeface="+mn-cs"/>
              </a:rPr>
              <a:t> must have complete copy of file</a:t>
            </a:r>
            <a:endParaRPr lang="en-US" dirty="0">
              <a:cs typeface="+mn-cs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dirty="0"/>
              <a:t>Peer asks tracker for list of peers to download from</a:t>
            </a:r>
            <a:endParaRPr lang="en-US" dirty="0"/>
          </a:p>
          <a:p>
            <a:pPr lvl="1" eaLnBrk="1" hangingPunct="1">
              <a:buFont typeface="Symbol" panose="05050102010706020507" charset="0"/>
              <a:buChar char="-"/>
              <a:defRPr/>
            </a:pPr>
            <a:r>
              <a:rPr lang="en-US" dirty="0">
                <a:cs typeface="+mn-cs"/>
              </a:rPr>
              <a:t>Tracker returns list with random selection of peers</a:t>
            </a:r>
            <a:endParaRPr lang="en-US" dirty="0">
              <a:cs typeface="+mn-cs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dirty="0"/>
              <a:t>Peers contact peers to learn what parts of the file they have etc.</a:t>
            </a:r>
            <a:endParaRPr lang="en-US" dirty="0"/>
          </a:p>
          <a:p>
            <a:pPr lvl="1" eaLnBrk="1" hangingPunct="1">
              <a:buFont typeface="Symbol" panose="05050102010706020507" charset="0"/>
              <a:buChar char="-"/>
              <a:defRPr/>
            </a:pPr>
            <a:r>
              <a:rPr lang="en-US" dirty="0">
                <a:cs typeface="+mn-cs"/>
              </a:rPr>
              <a:t>Download from other peers</a:t>
            </a:r>
            <a:endParaRPr lang="en-US" dirty="0">
              <a:cs typeface="+mn-cs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zh-CN"/>
              <a:t>A torrent file </a:t>
            </a:r>
            <a:endParaRPr lang="en-US" altLang="zh-CN"/>
          </a:p>
        </p:txBody>
      </p:sp>
      <p:sp>
        <p:nvSpPr>
          <p:cNvPr id="65538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'</a:t>
            </a:r>
            <a:r>
              <a:rPr lang="tr-TR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announce</a:t>
            </a: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': 'http://bttracker.debian.org:6969/</a:t>
            </a:r>
            <a:r>
              <a:rPr lang="tr-TR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announce</a:t>
            </a: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', </a:t>
            </a:r>
            <a:endParaRPr lang="tr-TR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'</a:t>
            </a:r>
            <a:r>
              <a:rPr lang="tr-TR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':</a:t>
            </a:r>
            <a:b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{ </a:t>
            </a:r>
            <a:endParaRPr lang="tr-TR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'name': 'debian-503-amd64-CD-1.iso', </a:t>
            </a:r>
            <a:endParaRPr lang="tr-TR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'</a:t>
            </a:r>
            <a:r>
              <a:rPr lang="tr-TR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piece</a:t>
            </a: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tr-TR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length</a:t>
            </a: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': 262144,</a:t>
            </a:r>
            <a:b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'</a:t>
            </a:r>
            <a:r>
              <a:rPr lang="tr-TR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length</a:t>
            </a: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': 678301696,</a:t>
            </a:r>
            <a:b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'</a:t>
            </a:r>
            <a:r>
              <a:rPr lang="tr-TR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pieces</a:t>
            </a: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': </a:t>
            </a:r>
            <a:endParaRPr lang="tr-TR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'841ae846bc5b6d7bd6e9aa3dd9e551559c82abc1...d14f1631d              </a:t>
            </a:r>
            <a:endParaRPr lang="tr-TR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776008f83772ee170c42411618190a4' </a:t>
            </a:r>
            <a:endParaRPr lang="tr-TR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  <a:endParaRPr lang="tr-TR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tr-TR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endParaRPr lang="tr-TR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Which Piece to Download?</a:t>
            </a:r>
            <a:endParaRPr lang="en-US" altLang="zh-CN" dirty="0"/>
          </a:p>
        </p:txBody>
      </p:sp>
      <p:sp>
        <p:nvSpPr>
          <p:cNvPr id="66562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policies:</a:t>
            </a:r>
            <a:r>
              <a:rPr lang="zh-CN" altLang="en-US" dirty="0"/>
              <a:t> </a:t>
            </a:r>
            <a:r>
              <a:rPr lang="en-US" altLang="zh-CN" dirty="0"/>
              <a:t>Order of parts downloading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Strict?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Rarest first?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Random?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Parallel?</a:t>
            </a:r>
            <a:endParaRPr lang="en-US" altLang="zh-CN" dirty="0"/>
          </a:p>
          <a:p>
            <a:pPr eaLnBrk="1" hangingPunct="1"/>
            <a:r>
              <a:rPr lang="en-US" altLang="zh-CN" dirty="0" err="1"/>
              <a:t>BitTorrent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Random for the first one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Rarest first for the rest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Parallel for the last one</a:t>
            </a:r>
            <a:endParaRPr lang="en-US" altLang="zh-CN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Drawback of BitTorrent</a:t>
            </a:r>
            <a:endParaRPr lang="en-US" altLang="zh-CN"/>
          </a:p>
        </p:txBody>
      </p:sp>
      <p:sp>
        <p:nvSpPr>
          <p:cNvPr id="686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Rely on Tracker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Tracker is central component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Cannot scale to large number of torrents</a:t>
            </a:r>
            <a:endParaRPr lang="en-US" altLang="zh-CN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Scalable Lookup:</a:t>
            </a:r>
            <a:r>
              <a:rPr lang="zh-CN" altLang="en-US" dirty="0"/>
              <a:t> </a:t>
            </a:r>
            <a:r>
              <a:rPr lang="en-US" altLang="zh-CN" dirty="0"/>
              <a:t>DHT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99678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/>
              <a:t>DHT:</a:t>
            </a:r>
            <a:r>
              <a:rPr lang="zh-CN" altLang="en-US" dirty="0"/>
              <a:t> </a:t>
            </a:r>
            <a:r>
              <a:rPr lang="en-US" altLang="zh-CN" dirty="0"/>
              <a:t>Distributed</a:t>
            </a:r>
            <a:r>
              <a:rPr lang="zh-CN" altLang="en-US" dirty="0"/>
              <a:t> </a:t>
            </a:r>
            <a:r>
              <a:rPr lang="en-US" altLang="zh-CN" dirty="0"/>
              <a:t>hash</a:t>
            </a:r>
            <a:r>
              <a:rPr lang="zh-CN" altLang="en-US" dirty="0"/>
              <a:t> </a:t>
            </a:r>
            <a:r>
              <a:rPr lang="en-US" altLang="zh-CN" dirty="0"/>
              <a:t>table</a:t>
            </a:r>
            <a:endParaRPr lang="en-US" altLang="zh-CN" dirty="0"/>
          </a:p>
          <a:p>
            <a:pPr lvl="1"/>
            <a:r>
              <a:rPr lang="en-US" altLang="zh-CN" dirty="0"/>
              <a:t>Used to find the node responsible for a key quickly</a:t>
            </a:r>
            <a:endParaRPr lang="en-US" altLang="zh-CN" dirty="0"/>
          </a:p>
          <a:p>
            <a:pPr lvl="1"/>
            <a:r>
              <a:rPr lang="en-US" altLang="zh-CN" dirty="0"/>
              <a:t>Distributed index: each node keeps a subset of the index </a:t>
            </a:r>
            <a:endParaRPr lang="en-US" altLang="zh-CN" dirty="0"/>
          </a:p>
          <a:p>
            <a:pPr lvl="1"/>
            <a:endParaRPr lang="en-US" altLang="zh-CN" dirty="0"/>
          </a:p>
          <a:p>
            <a:pPr eaLnBrk="1" hangingPunct="1"/>
            <a:r>
              <a:rPr lang="en-US" altLang="zh-CN" dirty="0"/>
              <a:t>Typical DHT interface:</a:t>
            </a:r>
            <a:endParaRPr lang="en-US" altLang="zh-CN" dirty="0"/>
          </a:p>
          <a:p>
            <a:pPr lvl="1" eaLnBrk="1" hangingPunct="1">
              <a:spcBef>
                <a:spcPts val="1200"/>
              </a:spcBef>
            </a:pPr>
            <a:r>
              <a:rPr lang="fi-FI" altLang="zh-CN" dirty="0" err="1"/>
              <a:t>put</a:t>
            </a:r>
            <a:r>
              <a:rPr lang="fi-FI" altLang="zh-CN" dirty="0"/>
              <a:t>(</a:t>
            </a:r>
            <a:r>
              <a:rPr lang="fi-FI" altLang="zh-CN" dirty="0" err="1"/>
              <a:t>key</a:t>
            </a:r>
            <a:r>
              <a:rPr lang="fi-FI" altLang="zh-CN" dirty="0"/>
              <a:t>, </a:t>
            </a:r>
            <a:r>
              <a:rPr lang="fi-FI" altLang="zh-CN" dirty="0" err="1"/>
              <a:t>value</a:t>
            </a:r>
            <a:r>
              <a:rPr lang="fi-FI" altLang="zh-CN" dirty="0"/>
              <a:t>)</a:t>
            </a:r>
            <a:endParaRPr lang="fi-FI" altLang="zh-CN" dirty="0"/>
          </a:p>
          <a:p>
            <a:pPr lvl="1" eaLnBrk="1" hangingPunct="1">
              <a:spcBef>
                <a:spcPts val="1200"/>
              </a:spcBef>
            </a:pPr>
            <a:r>
              <a:rPr lang="fi-FI" altLang="zh-CN" dirty="0" err="1"/>
              <a:t>get</a:t>
            </a:r>
            <a:r>
              <a:rPr lang="fi-FI" altLang="zh-CN" dirty="0"/>
              <a:t>(</a:t>
            </a:r>
            <a:r>
              <a:rPr lang="fi-FI" altLang="zh-CN" dirty="0" err="1"/>
              <a:t>key</a:t>
            </a:r>
            <a:r>
              <a:rPr lang="fi-FI" altLang="zh-CN" dirty="0"/>
              <a:t>) -&gt; </a:t>
            </a:r>
            <a:r>
              <a:rPr lang="fi-FI" altLang="zh-CN" dirty="0" err="1"/>
              <a:t>value</a:t>
            </a:r>
            <a:endParaRPr lang="fi-FI" altLang="zh-CN" dirty="0"/>
          </a:p>
          <a:p>
            <a:pPr lvl="1" eaLnBrk="1" hangingPunct="1">
              <a:spcBef>
                <a:spcPts val="1200"/>
              </a:spcBef>
            </a:pPr>
            <a:r>
              <a:rPr lang="en-US" altLang="zh-CN" dirty="0"/>
              <a:t>Loose guarantees about keeping data alive</a:t>
            </a:r>
            <a:endParaRPr lang="en-US" altLang="zh-CN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P2P Implementation of DHT</a:t>
            </a:r>
            <a:endParaRPr lang="en-US" altLang="zh-CN"/>
          </a:p>
        </p:txBody>
      </p:sp>
      <p:sp>
        <p:nvSpPr>
          <p:cNvPr id="706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Overlay Network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Partition hash table over n nodes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Not every node knows about all other n nodes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Route to find right hash table</a:t>
            </a:r>
            <a:endParaRPr lang="en-US" altLang="zh-CN" dirty="0"/>
          </a:p>
          <a:p>
            <a:pPr eaLnBrk="1" hangingPunct="1"/>
            <a:r>
              <a:rPr lang="nl-NL" altLang="zh-CN" dirty="0"/>
              <a:t>Goals</a:t>
            </a:r>
            <a:endParaRPr lang="nl-NL" altLang="zh-CN" dirty="0"/>
          </a:p>
          <a:p>
            <a:pPr lvl="1" eaLnBrk="1" hangingPunct="1"/>
            <a:r>
              <a:rPr lang="en-US" altLang="zh-CN" dirty="0"/>
              <a:t>log(n) hops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Guarantees about load balance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 DHT in Operation: put()</a:t>
            </a:r>
            <a:endParaRPr lang="en-US" altLang="zh-CN"/>
          </a:p>
        </p:txBody>
      </p:sp>
      <p:pic>
        <p:nvPicPr>
          <p:cNvPr id="71683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510" y="1562100"/>
            <a:ext cx="7920038" cy="3301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 DHT in Operation: get()</a:t>
            </a:r>
            <a:endParaRPr lang="en-US" altLang="zh-CN"/>
          </a:p>
        </p:txBody>
      </p:sp>
      <p:pic>
        <p:nvPicPr>
          <p:cNvPr id="72707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54" y="1346597"/>
            <a:ext cx="8065294" cy="3594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Chord Properties</a:t>
            </a:r>
            <a:endParaRPr lang="en-US" altLang="zh-CN" dirty="0"/>
          </a:p>
        </p:txBody>
      </p:sp>
      <p:sp>
        <p:nvSpPr>
          <p:cNvPr id="737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dirty="0"/>
              <a:t>Efficient: O(</a:t>
            </a:r>
            <a:r>
              <a:rPr lang="en-US" altLang="zh-CN" i="1" dirty="0"/>
              <a:t>log(N)</a:t>
            </a:r>
            <a:r>
              <a:rPr lang="en-US" altLang="zh-CN" dirty="0"/>
              <a:t>) messages per lookup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N is the total number of servers 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Scalable: O(</a:t>
            </a:r>
            <a:r>
              <a:rPr lang="en-US" altLang="zh-CN" i="1" dirty="0"/>
              <a:t>log(N)</a:t>
            </a:r>
            <a:r>
              <a:rPr lang="en-US" altLang="zh-CN" dirty="0"/>
              <a:t>) state per node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Robust: survives massive failures </a:t>
            </a:r>
            <a:endParaRPr lang="en-US" altLang="zh-CN" dirty="0"/>
          </a:p>
          <a:p>
            <a:pPr eaLnBrk="1" hangingPunct="1">
              <a:lnSpc>
                <a:spcPct val="120000"/>
              </a:lnSpc>
            </a:pPr>
            <a:endParaRPr lang="en-US" altLang="zh-CN" sz="2700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Chord IDs</a:t>
            </a:r>
            <a:endParaRPr lang="en-US" altLang="zh-CN"/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latin typeface="+mn-lt"/>
              </a:rPr>
              <a:t>Key identifier = SHA-1(key)</a:t>
            </a:r>
            <a:endParaRPr lang="en-US" altLang="zh-CN" dirty="0">
              <a:latin typeface="+mn-lt"/>
            </a:endParaRPr>
          </a:p>
          <a:p>
            <a:pPr lvl="1"/>
            <a:r>
              <a:rPr lang="en-US" altLang="zh-CN" dirty="0">
                <a:latin typeface="+mn-lt"/>
              </a:rPr>
              <a:t>SHA-1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is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a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hash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function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Node identifier = SHA-1(IP address)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Both are uniformly distributed</a:t>
            </a:r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Both exist in the </a:t>
            </a:r>
            <a:r>
              <a:rPr lang="en-US" altLang="zh-CN" dirty="0">
                <a:solidFill>
                  <a:schemeClr val="accent1"/>
                </a:solidFill>
                <a:latin typeface="+mn-lt"/>
              </a:rPr>
              <a:t>same ID space</a:t>
            </a:r>
            <a:endParaRPr lang="en-US" altLang="zh-CN" dirty="0">
              <a:solidFill>
                <a:schemeClr val="accent1"/>
              </a:solidFill>
              <a:latin typeface="+mn-lt"/>
            </a:endParaRPr>
          </a:p>
          <a:p>
            <a:pPr eaLnBrk="1" hangingPunct="1"/>
            <a:endParaRPr lang="en-US" altLang="zh-CN" dirty="0">
              <a:latin typeface="+mn-lt"/>
            </a:endParaRPr>
          </a:p>
          <a:p>
            <a:pPr eaLnBrk="1" hangingPunct="1"/>
            <a:r>
              <a:rPr lang="en-US" altLang="zh-CN" dirty="0">
                <a:latin typeface="+mn-lt"/>
              </a:rPr>
              <a:t>How to map key IDs to node IDs?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</a:rPr>
              <a:t>by</a:t>
            </a:r>
            <a:r>
              <a:rPr lang="zh-CN" altLang="en-US" dirty="0">
                <a:latin typeface="+mn-lt"/>
              </a:rPr>
              <a:t> </a:t>
            </a:r>
            <a:r>
              <a:rPr lang="en-US" altLang="zh-CN" dirty="0">
                <a:latin typeface="+mn-lt"/>
                <a:cs typeface="Consolas" panose="020B0609020204030204" pitchFamily="49" charset="0"/>
              </a:rPr>
              <a:t>mod</a:t>
            </a:r>
            <a:r>
              <a:rPr lang="en-US" altLang="zh-CN" dirty="0">
                <a:latin typeface="+mn-lt"/>
              </a:rPr>
              <a:t>?</a:t>
            </a:r>
            <a:endParaRPr lang="en-US" altLang="zh-CN" dirty="0">
              <a:latin typeface="+mn-lt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Consistent Hashing</a:t>
            </a:r>
            <a:endParaRPr lang="en-US" altLang="zh-CN" dirty="0"/>
          </a:p>
        </p:txBody>
      </p:sp>
      <p:pic>
        <p:nvPicPr>
          <p:cNvPr id="75779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85" y="1291828"/>
            <a:ext cx="7452122" cy="350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Basic Lookup</a:t>
            </a:r>
            <a:endParaRPr lang="en-US" altLang="zh-CN" dirty="0"/>
          </a:p>
        </p:txBody>
      </p:sp>
      <p:pic>
        <p:nvPicPr>
          <p:cNvPr id="76803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98985"/>
            <a:ext cx="7596188" cy="3482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Simple Lookup Algorithm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Lookup(my-id, key-id) </a:t>
            </a:r>
            <a:endParaRPr 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  <a:defRPr/>
            </a:pP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   n = my successor</a:t>
            </a:r>
            <a:endParaRPr 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  <a:defRPr/>
            </a:pPr>
            <a:r>
              <a:rPr lang="fi-FI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i-FI" b="0" dirty="0" err="1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fi-FI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b="0" dirty="0" err="1">
                <a:latin typeface="Consolas" panose="020B0609020204030204" pitchFamily="49" charset="0"/>
                <a:cs typeface="Consolas" panose="020B0609020204030204" pitchFamily="49" charset="0"/>
              </a:rPr>
              <a:t>my-id</a:t>
            </a:r>
            <a:r>
              <a:rPr lang="fi-FI" b="0" dirty="0">
                <a:latin typeface="Consolas" panose="020B0609020204030204" pitchFamily="49" charset="0"/>
                <a:cs typeface="Consolas" panose="020B0609020204030204" pitchFamily="49" charset="0"/>
              </a:rPr>
              <a:t> &lt; n &lt; </a:t>
            </a:r>
            <a:r>
              <a:rPr lang="fi-FI" b="0" dirty="0" err="1">
                <a:latin typeface="Consolas" panose="020B0609020204030204" pitchFamily="49" charset="0"/>
                <a:cs typeface="Consolas" panose="020B0609020204030204" pitchFamily="49" charset="0"/>
              </a:rPr>
              <a:t>key-id</a:t>
            </a:r>
            <a:endParaRPr lang="fi-FI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  <a:defRPr/>
            </a:pP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       call Lookup(id) on node n    </a:t>
            </a:r>
            <a:r>
              <a:rPr lang="en-US" b="0" i="1" dirty="0">
                <a:latin typeface="Consolas" panose="020B0609020204030204" pitchFamily="49" charset="0"/>
                <a:cs typeface="Consolas" panose="020B0609020204030204" pitchFamily="49" charset="0"/>
              </a:rPr>
              <a:t>// next hop</a:t>
            </a:r>
            <a:endParaRPr lang="en-US" b="0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  <a:defRPr/>
            </a:pP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   else</a:t>
            </a:r>
            <a:endParaRPr 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  <a:defRPr/>
            </a:pP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       return my successor             </a:t>
            </a:r>
            <a:r>
              <a:rPr lang="en-US" b="0" i="1" dirty="0">
                <a:latin typeface="Consolas" panose="020B0609020204030204" pitchFamily="49" charset="0"/>
                <a:cs typeface="Consolas" panose="020B0609020204030204" pitchFamily="49" charset="0"/>
              </a:rPr>
              <a:t>// done</a:t>
            </a:r>
            <a:endParaRPr lang="en-US" b="0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  <a:defRPr/>
            </a:pPr>
            <a:endParaRPr 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Correctness depends only on successors</a:t>
            </a:r>
            <a:endParaRPr 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宋体" panose="02010600030101010101" pitchFamily="2" charset="-122"/>
              </a:rPr>
              <a:t>"</a:t>
            </a:r>
            <a:r>
              <a:rPr lang="en-US" altLang="zh-CN" dirty="0"/>
              <a:t>Finger Table</a:t>
            </a:r>
            <a:r>
              <a:rPr lang="en-US" altLang="en-US" dirty="0">
                <a:ea typeface="宋体" panose="02010600030101010101" pitchFamily="2" charset="-122"/>
              </a:rPr>
              <a:t>"</a:t>
            </a:r>
            <a:r>
              <a:rPr lang="en-US" altLang="zh-CN" dirty="0"/>
              <a:t> allows log(N) lookups</a:t>
            </a:r>
            <a:endParaRPr lang="en-US" altLang="zh-CN" dirty="0"/>
          </a:p>
        </p:txBody>
      </p:sp>
      <p:pic>
        <p:nvPicPr>
          <p:cNvPr id="78851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944" y="1453754"/>
            <a:ext cx="5283994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le 1"/>
          <p:cNvSpPr>
            <a:spLocks noGrp="1"/>
          </p:cNvSpPr>
          <p:nvPr>
            <p:ph type="title"/>
          </p:nvPr>
        </p:nvSpPr>
        <p:spPr>
          <a:xfrm>
            <a:off x="467544" y="193204"/>
            <a:ext cx="7886700" cy="994172"/>
          </a:xfrm>
        </p:spPr>
        <p:txBody>
          <a:bodyPr/>
          <a:lstStyle/>
          <a:p>
            <a:pPr eaLnBrk="1" hangingPunct="1"/>
            <a:r>
              <a:rPr lang="en-US" altLang="zh-CN" dirty="0"/>
              <a:t>Finger </a:t>
            </a:r>
            <a:r>
              <a:rPr lang="en-US" altLang="zh-CN" dirty="0" err="1"/>
              <a:t>i</a:t>
            </a:r>
            <a:r>
              <a:rPr lang="en-US" altLang="zh-CN" dirty="0"/>
              <a:t> points to successor of n+2</a:t>
            </a:r>
            <a:r>
              <a:rPr lang="en-US" altLang="zh-CN" baseline="30000" dirty="0"/>
              <a:t>i</a:t>
            </a:r>
            <a:endParaRPr lang="en-US" altLang="zh-CN" baseline="30000" dirty="0"/>
          </a:p>
        </p:txBody>
      </p:sp>
      <p:pic>
        <p:nvPicPr>
          <p:cNvPr id="7987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075135"/>
            <a:ext cx="6317456" cy="398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Lookup with fingers</a:t>
            </a:r>
            <a:endParaRPr lang="en-US" altLang="zh-CN"/>
          </a:p>
        </p:txBody>
      </p:sp>
      <p:sp>
        <p:nvSpPr>
          <p:cNvPr id="8089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Lookup(my-id, key-id) </a:t>
            </a:r>
            <a:endParaRPr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    look in local finger table for</a:t>
            </a:r>
            <a:endParaRPr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        highest node n </a:t>
            </a:r>
            <a:r>
              <a:rPr lang="en-US" altLang="zh-CN" b="0" dirty="0" err="1">
                <a:latin typeface="Consolas" panose="020B0609020204030204" pitchFamily="49" charset="0"/>
                <a:cs typeface="Consolas" panose="020B0609020204030204" pitchFamily="49" charset="0"/>
              </a:rPr>
              <a:t>s.t.</a:t>
            </a:r>
            <a:r>
              <a:rPr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 my-id &lt; n &lt; key-id</a:t>
            </a:r>
            <a:endParaRPr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fi-FI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i-FI" altLang="zh-CN" b="0" dirty="0" err="1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fi-FI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 n </a:t>
            </a:r>
            <a:r>
              <a:rPr lang="fi-FI" altLang="zh-CN" b="0" dirty="0" err="1">
                <a:latin typeface="Consolas" panose="020B0609020204030204" pitchFamily="49" charset="0"/>
                <a:cs typeface="Consolas" panose="020B0609020204030204" pitchFamily="49" charset="0"/>
              </a:rPr>
              <a:t>exists</a:t>
            </a:r>
            <a:endParaRPr lang="fi-FI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        call Lookup(id) on node n    </a:t>
            </a:r>
            <a:r>
              <a:rPr lang="en-US" altLang="zh-CN" b="0" i="1" dirty="0">
                <a:latin typeface="Consolas" panose="020B0609020204030204" pitchFamily="49" charset="0"/>
                <a:cs typeface="Consolas" panose="020B0609020204030204" pitchFamily="49" charset="0"/>
              </a:rPr>
              <a:t>// next hop</a:t>
            </a:r>
            <a:endParaRPr lang="en-US" altLang="zh-CN" b="0" i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    else</a:t>
            </a:r>
            <a:endParaRPr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        return my successor             </a:t>
            </a:r>
            <a:r>
              <a:rPr lang="en-US" altLang="zh-CN" b="0" i="1" dirty="0">
                <a:latin typeface="Consolas" panose="020B0609020204030204" pitchFamily="49" charset="0"/>
                <a:cs typeface="Consolas" panose="020B0609020204030204" pitchFamily="49" charset="0"/>
              </a:rPr>
              <a:t>// done</a:t>
            </a:r>
            <a:endParaRPr lang="en-US" altLang="zh-CN" b="0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/>
          <p:cNvSpPr>
            <a:spLocks noGrp="1"/>
          </p:cNvSpPr>
          <p:nvPr>
            <p:ph type="title"/>
          </p:nvPr>
        </p:nvSpPr>
        <p:spPr>
          <a:xfrm>
            <a:off x="323528" y="167803"/>
            <a:ext cx="7886700" cy="994172"/>
          </a:xfrm>
        </p:spPr>
        <p:txBody>
          <a:bodyPr/>
          <a:lstStyle/>
          <a:p>
            <a:pPr eaLnBrk="1" hangingPunct="1"/>
            <a:r>
              <a:rPr lang="en-US" altLang="zh-CN" dirty="0"/>
              <a:t>Lookups take O(</a:t>
            </a:r>
            <a:r>
              <a:rPr lang="en-US" altLang="zh-CN" i="1" dirty="0">
                <a:latin typeface="Times New Roman" panose="02020603050405020304" pitchFamily="18" charset="0"/>
              </a:rPr>
              <a:t>log(N)</a:t>
            </a:r>
            <a:r>
              <a:rPr lang="en-US" altLang="zh-CN" dirty="0"/>
              <a:t>) hops</a:t>
            </a:r>
            <a:endParaRPr lang="en-US" altLang="zh-CN" dirty="0"/>
          </a:p>
        </p:txBody>
      </p:sp>
      <p:pic>
        <p:nvPicPr>
          <p:cNvPr id="81923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7" y="1183482"/>
            <a:ext cx="7668815" cy="4127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Failures might cause incorrect lookup </a:t>
            </a:r>
            <a:endParaRPr lang="en-US" altLang="zh-CN"/>
          </a:p>
        </p:txBody>
      </p:sp>
      <p:sp>
        <p:nvSpPr>
          <p:cNvPr id="5" name="Oval 4"/>
          <p:cNvSpPr/>
          <p:nvPr/>
        </p:nvSpPr>
        <p:spPr>
          <a:xfrm>
            <a:off x="2700337" y="1777604"/>
            <a:ext cx="3671888" cy="2753915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solidFill>
                <a:srgbClr val="FFFFFF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51448" y="4045744"/>
            <a:ext cx="935831" cy="3774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N80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91879" y="3451623"/>
            <a:ext cx="935831" cy="377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N85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19251" y="2533650"/>
            <a:ext cx="937022" cy="3774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N102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07382" y="1939529"/>
            <a:ext cx="937022" cy="377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N113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44404" y="1398985"/>
            <a:ext cx="935831" cy="378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N120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07832" y="1453754"/>
            <a:ext cx="935831" cy="377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N10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2865835" y="3599260"/>
            <a:ext cx="542925" cy="594122"/>
          </a:xfrm>
          <a:custGeom>
            <a:avLst/>
            <a:gdLst>
              <a:gd name="connsiteX0" fmla="*/ 542751 w 542751"/>
              <a:gd name="connsiteY0" fmla="*/ 792456 h 792456"/>
              <a:gd name="connsiteX1" fmla="*/ 401636 w 542751"/>
              <a:gd name="connsiteY1" fmla="*/ 141122 h 792456"/>
              <a:gd name="connsiteX2" fmla="*/ 0 w 542751"/>
              <a:gd name="connsiteY2" fmla="*/ 0 h 79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2751" h="792456">
                <a:moveTo>
                  <a:pt x="542751" y="792456"/>
                </a:moveTo>
                <a:cubicBezTo>
                  <a:pt x="517422" y="532827"/>
                  <a:pt x="492094" y="273198"/>
                  <a:pt x="401636" y="141122"/>
                </a:cubicBezTo>
                <a:cubicBezTo>
                  <a:pt x="311178" y="9046"/>
                  <a:pt x="0" y="0"/>
                  <a:pt x="0" y="0"/>
                </a:cubicBezTo>
              </a:path>
            </a:pathLst>
          </a:custGeom>
          <a:ln>
            <a:prstDash val="dot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33" name="Freeform 32"/>
          <p:cNvSpPr/>
          <p:nvPr/>
        </p:nvSpPr>
        <p:spPr>
          <a:xfrm>
            <a:off x="3440906" y="2027635"/>
            <a:ext cx="653654" cy="2174081"/>
          </a:xfrm>
          <a:custGeom>
            <a:avLst/>
            <a:gdLst>
              <a:gd name="connsiteX0" fmla="*/ 0 w 653253"/>
              <a:gd name="connsiteY0" fmla="*/ 2898434 h 2898434"/>
              <a:gd name="connsiteX1" fmla="*/ 651302 w 653253"/>
              <a:gd name="connsiteY1" fmla="*/ 1432934 h 2898434"/>
              <a:gd name="connsiteX2" fmla="*/ 206246 w 653253"/>
              <a:gd name="connsiteY2" fmla="*/ 0 h 2898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253" h="2898434">
                <a:moveTo>
                  <a:pt x="0" y="2898434"/>
                </a:moveTo>
                <a:cubicBezTo>
                  <a:pt x="308464" y="2407220"/>
                  <a:pt x="616928" y="1916006"/>
                  <a:pt x="651302" y="1432934"/>
                </a:cubicBezTo>
                <a:cubicBezTo>
                  <a:pt x="685676" y="949862"/>
                  <a:pt x="255094" y="202637"/>
                  <a:pt x="206246" y="0"/>
                </a:cubicBezTo>
              </a:path>
            </a:pathLst>
          </a:cu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34" name="Freeform 33"/>
          <p:cNvSpPr/>
          <p:nvPr/>
        </p:nvSpPr>
        <p:spPr>
          <a:xfrm>
            <a:off x="2821782" y="2826544"/>
            <a:ext cx="927497" cy="1375172"/>
          </a:xfrm>
          <a:custGeom>
            <a:avLst/>
            <a:gdLst>
              <a:gd name="connsiteX0" fmla="*/ 597026 w 927178"/>
              <a:gd name="connsiteY0" fmla="*/ 1834589 h 1834589"/>
              <a:gd name="connsiteX1" fmla="*/ 900967 w 927178"/>
              <a:gd name="connsiteY1" fmla="*/ 705611 h 1834589"/>
              <a:gd name="connsiteX2" fmla="*/ 0 w 927178"/>
              <a:gd name="connsiteY2" fmla="*/ 0 h 1834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7178" h="1834589">
                <a:moveTo>
                  <a:pt x="597026" y="1834589"/>
                </a:moveTo>
                <a:cubicBezTo>
                  <a:pt x="798748" y="1422982"/>
                  <a:pt x="1000471" y="1011376"/>
                  <a:pt x="900967" y="705611"/>
                </a:cubicBezTo>
                <a:cubicBezTo>
                  <a:pt x="801463" y="399846"/>
                  <a:pt x="32565" y="72370"/>
                  <a:pt x="0" y="0"/>
                </a:cubicBezTo>
              </a:path>
            </a:pathLst>
          </a:custGeom>
          <a:ln>
            <a:prstDash val="dot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35" name="Freeform 34"/>
          <p:cNvSpPr/>
          <p:nvPr/>
        </p:nvSpPr>
        <p:spPr>
          <a:xfrm>
            <a:off x="3549254" y="2118122"/>
            <a:ext cx="2076450" cy="2100263"/>
          </a:xfrm>
          <a:custGeom>
            <a:avLst/>
            <a:gdLst>
              <a:gd name="connsiteX0" fmla="*/ 2073309 w 2076638"/>
              <a:gd name="connsiteY0" fmla="*/ 0 h 2800734"/>
              <a:gd name="connsiteX1" fmla="*/ 1747658 w 2076638"/>
              <a:gd name="connsiteY1" fmla="*/ 1693467 h 2800734"/>
              <a:gd name="connsiteX2" fmla="*/ 0 w 2076638"/>
              <a:gd name="connsiteY2" fmla="*/ 2800734 h 2800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76638" h="2800734">
                <a:moveTo>
                  <a:pt x="2073309" y="0"/>
                </a:moveTo>
                <a:cubicBezTo>
                  <a:pt x="2083259" y="613339"/>
                  <a:pt x="2093210" y="1226678"/>
                  <a:pt x="1747658" y="1693467"/>
                </a:cubicBezTo>
                <a:cubicBezTo>
                  <a:pt x="1402106" y="2160256"/>
                  <a:pt x="0" y="2800734"/>
                  <a:pt x="0" y="2800734"/>
                </a:cubicBezTo>
              </a:path>
            </a:pathLst>
          </a:cu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87054" name="Rectangle 35"/>
          <p:cNvSpPr>
            <a:spLocks noChangeArrowheads="1"/>
          </p:cNvSpPr>
          <p:nvPr/>
        </p:nvSpPr>
        <p:spPr bwMode="auto">
          <a:xfrm>
            <a:off x="611982" y="4855369"/>
            <a:ext cx="59347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latin typeface="+mn-lt"/>
              </a:rPr>
              <a:t>N80 doesn</a:t>
            </a:r>
            <a:r>
              <a:rPr lang="en-US" altLang="en-US" sz="1800" dirty="0">
                <a:latin typeface="+mn-lt"/>
              </a:rPr>
              <a:t>'</a:t>
            </a:r>
            <a:r>
              <a:rPr lang="en-US" altLang="zh-CN" sz="1800" dirty="0">
                <a:latin typeface="+mn-lt"/>
              </a:rPr>
              <a:t>t know correct successor, so incorrect lookup</a:t>
            </a:r>
            <a:endParaRPr lang="en-US" altLang="zh-CN" sz="1800" dirty="0">
              <a:latin typeface="+mn-lt"/>
            </a:endParaRPr>
          </a:p>
        </p:txBody>
      </p:sp>
      <p:sp>
        <p:nvSpPr>
          <p:cNvPr id="87055" name="Rectangle 36"/>
          <p:cNvSpPr>
            <a:spLocks noChangeArrowheads="1"/>
          </p:cNvSpPr>
          <p:nvPr/>
        </p:nvSpPr>
        <p:spPr bwMode="auto">
          <a:xfrm>
            <a:off x="3924300" y="2101454"/>
            <a:ext cx="124611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700" baseline="30000"/>
              <a:t>Lookup(90)</a:t>
            </a:r>
            <a:endParaRPr lang="en-US" altLang="zh-CN" sz="2700"/>
          </a:p>
        </p:txBody>
      </p:sp>
      <p:cxnSp>
        <p:nvCxnSpPr>
          <p:cNvPr id="39" name="Straight Connector 38"/>
          <p:cNvCxnSpPr/>
          <p:nvPr/>
        </p:nvCxnSpPr>
        <p:spPr>
          <a:xfrm>
            <a:off x="1475185" y="2749154"/>
            <a:ext cx="122515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1547812" y="3667125"/>
            <a:ext cx="12239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Solution: successor lists </a:t>
            </a:r>
            <a:endParaRPr lang="en-US" altLang="zh-CN"/>
          </a:p>
        </p:txBody>
      </p:sp>
      <p:sp>
        <p:nvSpPr>
          <p:cNvPr id="880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Successor Lists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Each node knows </a:t>
            </a:r>
            <a:r>
              <a:rPr lang="en-US" altLang="zh-CN" i="1" dirty="0"/>
              <a:t>r </a:t>
            </a:r>
            <a:r>
              <a:rPr lang="en-US" altLang="zh-CN" dirty="0"/>
              <a:t>immediate successors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After failure, will know first live successor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Correct successors guarantee correct lookups 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Guarantee is with some probability 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Join (1)</a:t>
            </a:r>
            <a:endParaRPr lang="en-US" altLang="zh-CN"/>
          </a:p>
        </p:txBody>
      </p:sp>
      <p:sp>
        <p:nvSpPr>
          <p:cNvPr id="5" name="Oval 4"/>
          <p:cNvSpPr/>
          <p:nvPr/>
        </p:nvSpPr>
        <p:spPr>
          <a:xfrm>
            <a:off x="1619250" y="1560910"/>
            <a:ext cx="3673079" cy="2755106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solidFill>
                <a:srgbClr val="FFFFFF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87278" y="2425304"/>
            <a:ext cx="937022" cy="378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N36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2949" name="TextBox 6"/>
          <p:cNvSpPr txBox="1">
            <a:spLocks noChangeArrowheads="1"/>
          </p:cNvSpPr>
          <p:nvPr/>
        </p:nvSpPr>
        <p:spPr bwMode="auto">
          <a:xfrm>
            <a:off x="2412207" y="3019425"/>
            <a:ext cx="20883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/>
              <a:t>1. Lookup(36)</a:t>
            </a:r>
            <a:endParaRPr lang="en-US" altLang="zh-CN" sz="1800"/>
          </a:p>
        </p:txBody>
      </p:sp>
      <p:sp>
        <p:nvSpPr>
          <p:cNvPr id="8" name="Rectangle 7"/>
          <p:cNvSpPr/>
          <p:nvPr/>
        </p:nvSpPr>
        <p:spPr>
          <a:xfrm>
            <a:off x="5219701" y="1939529"/>
            <a:ext cx="937022" cy="377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N25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19701" y="3505200"/>
            <a:ext cx="937022" cy="378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N40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8" idx="2"/>
            <a:endCxn id="9" idx="0"/>
          </p:cNvCxnSpPr>
          <p:nvPr/>
        </p:nvCxnSpPr>
        <p:spPr>
          <a:xfrm>
            <a:off x="5687616" y="2316957"/>
            <a:ext cx="0" cy="118824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72225" y="3398044"/>
            <a:ext cx="72032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K30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2225" y="3667125"/>
            <a:ext cx="72032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K38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Join (2)</a:t>
            </a:r>
            <a:endParaRPr lang="en-US" altLang="zh-CN"/>
          </a:p>
        </p:txBody>
      </p:sp>
      <p:sp>
        <p:nvSpPr>
          <p:cNvPr id="5" name="Oval 4"/>
          <p:cNvSpPr/>
          <p:nvPr/>
        </p:nvSpPr>
        <p:spPr>
          <a:xfrm>
            <a:off x="1619250" y="1560910"/>
            <a:ext cx="3673079" cy="2755106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solidFill>
                <a:srgbClr val="FFFFFF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7728" y="2857500"/>
            <a:ext cx="937022" cy="378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N36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3973" name="TextBox 6"/>
          <p:cNvSpPr txBox="1">
            <a:spLocks noChangeArrowheads="1"/>
          </p:cNvSpPr>
          <p:nvPr/>
        </p:nvSpPr>
        <p:spPr bwMode="auto">
          <a:xfrm>
            <a:off x="2412207" y="3019425"/>
            <a:ext cx="20883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/>
              <a:t>1. Lookup(36)</a:t>
            </a:r>
            <a:endParaRPr lang="en-US" altLang="zh-CN" sz="1800"/>
          </a:p>
        </p:txBody>
      </p:sp>
      <p:sp>
        <p:nvSpPr>
          <p:cNvPr id="8" name="Rectangle 7"/>
          <p:cNvSpPr/>
          <p:nvPr/>
        </p:nvSpPr>
        <p:spPr>
          <a:xfrm>
            <a:off x="5219701" y="1939529"/>
            <a:ext cx="937022" cy="377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N25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19701" y="3505200"/>
            <a:ext cx="937022" cy="378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N40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8" idx="2"/>
            <a:endCxn id="9" idx="0"/>
          </p:cNvCxnSpPr>
          <p:nvPr/>
        </p:nvCxnSpPr>
        <p:spPr>
          <a:xfrm>
            <a:off x="5687616" y="2316957"/>
            <a:ext cx="0" cy="118824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72225" y="3398044"/>
            <a:ext cx="72032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K30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2225" y="3667125"/>
            <a:ext cx="72032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K38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012656" y="3236119"/>
            <a:ext cx="863204" cy="26908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Join (3)</a:t>
            </a:r>
            <a:endParaRPr lang="en-US" altLang="zh-CN"/>
          </a:p>
        </p:txBody>
      </p:sp>
      <p:sp>
        <p:nvSpPr>
          <p:cNvPr id="5" name="Oval 4"/>
          <p:cNvSpPr/>
          <p:nvPr/>
        </p:nvSpPr>
        <p:spPr>
          <a:xfrm>
            <a:off x="1619250" y="1560910"/>
            <a:ext cx="3673079" cy="2755106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solidFill>
                <a:srgbClr val="FFFFFF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7728" y="2857500"/>
            <a:ext cx="937022" cy="378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N36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4997" name="TextBox 6"/>
          <p:cNvSpPr txBox="1">
            <a:spLocks noChangeArrowheads="1"/>
          </p:cNvSpPr>
          <p:nvPr/>
        </p:nvSpPr>
        <p:spPr bwMode="auto">
          <a:xfrm>
            <a:off x="2412207" y="3019425"/>
            <a:ext cx="20883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/>
              <a:t>1. Lookup(36)</a:t>
            </a:r>
            <a:endParaRPr lang="en-US" altLang="zh-CN" sz="1800"/>
          </a:p>
        </p:txBody>
      </p:sp>
      <p:sp>
        <p:nvSpPr>
          <p:cNvPr id="8" name="Rectangle 7"/>
          <p:cNvSpPr/>
          <p:nvPr/>
        </p:nvSpPr>
        <p:spPr>
          <a:xfrm>
            <a:off x="5219701" y="1939529"/>
            <a:ext cx="937022" cy="377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N25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19701" y="3505200"/>
            <a:ext cx="937022" cy="378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N40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8" idx="2"/>
            <a:endCxn id="9" idx="0"/>
          </p:cNvCxnSpPr>
          <p:nvPr/>
        </p:nvCxnSpPr>
        <p:spPr>
          <a:xfrm>
            <a:off x="5687616" y="2316957"/>
            <a:ext cx="0" cy="118824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72225" y="3398044"/>
            <a:ext cx="72032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K30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2225" y="3667125"/>
            <a:ext cx="72032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K38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012656" y="3236119"/>
            <a:ext cx="863204" cy="26908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96187" y="2889647"/>
            <a:ext cx="72032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K30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Join (4)</a:t>
            </a:r>
            <a:endParaRPr lang="en-US" altLang="zh-CN"/>
          </a:p>
        </p:txBody>
      </p:sp>
      <p:sp>
        <p:nvSpPr>
          <p:cNvPr id="5" name="Oval 4"/>
          <p:cNvSpPr/>
          <p:nvPr/>
        </p:nvSpPr>
        <p:spPr>
          <a:xfrm>
            <a:off x="1619250" y="1560910"/>
            <a:ext cx="3673079" cy="2755106"/>
          </a:xfrm>
          <a:prstGeom prst="ellipse">
            <a:avLst/>
          </a:prstGeom>
          <a:noFill/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solidFill>
                <a:srgbClr val="FFFFFF"/>
              </a:solidFill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7728" y="2857500"/>
            <a:ext cx="937022" cy="378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N36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6021" name="TextBox 6"/>
          <p:cNvSpPr txBox="1">
            <a:spLocks noChangeArrowheads="1"/>
          </p:cNvSpPr>
          <p:nvPr/>
        </p:nvSpPr>
        <p:spPr bwMode="auto">
          <a:xfrm>
            <a:off x="2268141" y="2695575"/>
            <a:ext cx="23752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800" dirty="0"/>
              <a:t>4. Set N25</a:t>
            </a:r>
            <a:r>
              <a:rPr lang="en-US" altLang="en-US" sz="1800" dirty="0"/>
              <a:t>'</a:t>
            </a:r>
            <a:r>
              <a:rPr lang="en-US" altLang="zh-CN" sz="1800" dirty="0"/>
              <a:t>s successor pointer</a:t>
            </a:r>
            <a:endParaRPr lang="en-US" altLang="zh-CN" sz="1800" dirty="0"/>
          </a:p>
        </p:txBody>
      </p:sp>
      <p:sp>
        <p:nvSpPr>
          <p:cNvPr id="8" name="Rectangle 7"/>
          <p:cNvSpPr/>
          <p:nvPr/>
        </p:nvSpPr>
        <p:spPr>
          <a:xfrm>
            <a:off x="5219701" y="1939529"/>
            <a:ext cx="937022" cy="377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N25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19701" y="3505200"/>
            <a:ext cx="937022" cy="378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N40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8" idx="2"/>
          </p:cNvCxnSpPr>
          <p:nvPr/>
        </p:nvCxnSpPr>
        <p:spPr>
          <a:xfrm>
            <a:off x="5687616" y="2316957"/>
            <a:ext cx="1188244" cy="54054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72225" y="3398044"/>
            <a:ext cx="72032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K30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2225" y="3667125"/>
            <a:ext cx="72032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K38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012656" y="3236119"/>
            <a:ext cx="863204" cy="26908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96187" y="2889647"/>
            <a:ext cx="720329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K30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6029" name="Rectangle 9"/>
          <p:cNvSpPr>
            <a:spLocks noChangeArrowheads="1"/>
          </p:cNvSpPr>
          <p:nvPr/>
        </p:nvSpPr>
        <p:spPr bwMode="auto">
          <a:xfrm>
            <a:off x="683419" y="4585097"/>
            <a:ext cx="72729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latin typeface="+mn-lt"/>
              </a:rPr>
              <a:t>Update finger pointers in the background </a:t>
            </a:r>
            <a:endParaRPr lang="en-US" altLang="zh-CN" sz="1800" dirty="0">
              <a:latin typeface="+mn-lt"/>
            </a:endParaRPr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Solution: successor lists </a:t>
            </a:r>
            <a:endParaRPr lang="en-US" altLang="zh-CN"/>
          </a:p>
        </p:txBody>
      </p:sp>
      <p:sp>
        <p:nvSpPr>
          <p:cNvPr id="890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Successor List Length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Assume 1/2 of nodes fail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P(successor list all dead) = </a:t>
            </a:r>
            <a:r>
              <a:rPr lang="en-US" altLang="zh-CN" i="1" dirty="0">
                <a:latin typeface="Times New Roman" panose="02020603050405020304" pitchFamily="18" charset="0"/>
              </a:rPr>
              <a:t>(1/2)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r</a:t>
            </a:r>
            <a:endParaRPr lang="en-US" altLang="zh-CN" i="1" baseline="30000" dirty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1600" dirty="0"/>
              <a:t>I.e. P(this node breaks the Chord ring) </a:t>
            </a:r>
            <a:endParaRPr lang="en-US" altLang="zh-CN" sz="1600" dirty="0"/>
          </a:p>
          <a:p>
            <a:pPr lvl="2" eaLnBrk="1" hangingPunct="1"/>
            <a:r>
              <a:rPr lang="en-US" altLang="zh-CN" sz="1600" dirty="0"/>
              <a:t>Depends on independent failure </a:t>
            </a:r>
            <a:endParaRPr lang="en-US" altLang="zh-CN" sz="1600" dirty="0"/>
          </a:p>
          <a:p>
            <a:pPr lvl="1" eaLnBrk="1" hangingPunct="1"/>
            <a:r>
              <a:rPr lang="en-US" altLang="zh-CN" dirty="0"/>
              <a:t>P(no broken nodes) = </a:t>
            </a:r>
            <a:r>
              <a:rPr lang="en-US" altLang="zh-CN" i="1" dirty="0">
                <a:latin typeface="Times New Roman" panose="02020603050405020304" pitchFamily="18" charset="0"/>
                <a:ea typeface="MS PGothic" panose="020B0600070205080204" pitchFamily="34" charset="-128"/>
              </a:rPr>
              <a:t>(1 – (1/2)</a:t>
            </a:r>
            <a:r>
              <a:rPr lang="en-US" altLang="zh-CN" i="1" baseline="30000" dirty="0">
                <a:latin typeface="Times New Roman" panose="02020603050405020304" pitchFamily="18" charset="0"/>
                <a:ea typeface="MS PGothic" panose="020B0600070205080204" pitchFamily="34" charset="-128"/>
              </a:rPr>
              <a:t>r</a:t>
            </a:r>
            <a:r>
              <a:rPr lang="en-US" altLang="zh-CN" i="1" dirty="0">
                <a:latin typeface="Times New Roman" panose="02020603050405020304" pitchFamily="18" charset="0"/>
                <a:ea typeface="MS PGothic" panose="020B0600070205080204" pitchFamily="34" charset="-128"/>
              </a:rPr>
              <a:t>)</a:t>
            </a:r>
            <a:r>
              <a:rPr lang="en-US" altLang="zh-CN" i="1" baseline="30000" dirty="0">
                <a:latin typeface="Times New Roman" panose="02020603050405020304" pitchFamily="18" charset="0"/>
                <a:ea typeface="MS PGothic" panose="020B0600070205080204" pitchFamily="34" charset="-128"/>
              </a:rPr>
              <a:t>N</a:t>
            </a:r>
            <a:endParaRPr lang="en-US" altLang="zh-CN" i="1" baseline="30000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pPr lvl="2" eaLnBrk="1" hangingPunct="1"/>
            <a:r>
              <a:rPr lang="en-US" altLang="zh-CN" sz="1600" i="1" dirty="0">
                <a:latin typeface="Times New Roman" panose="02020603050405020304" pitchFamily="18" charset="0"/>
                <a:ea typeface="MS PGothic" panose="020B0600070205080204" pitchFamily="34" charset="-128"/>
              </a:rPr>
              <a:t>r = 2log(N)</a:t>
            </a:r>
            <a:r>
              <a:rPr lang="en-US" altLang="zh-CN" sz="1600" i="1" dirty="0"/>
              <a:t> </a:t>
            </a:r>
            <a:r>
              <a:rPr lang="en-US" altLang="zh-CN" sz="1600" dirty="0"/>
              <a:t>makes prob. = </a:t>
            </a:r>
            <a:r>
              <a:rPr lang="en-US" altLang="zh-CN" sz="1600" i="1" dirty="0">
                <a:latin typeface="Times New Roman" panose="02020603050405020304" pitchFamily="18" charset="0"/>
              </a:rPr>
              <a:t>1 – 1/N 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zh-CN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144" y="2353444"/>
            <a:ext cx="3151394" cy="294351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Load</a:t>
            </a:r>
            <a:r>
              <a:rPr kumimoji="1" lang="zh-CN" altLang="en-US" dirty="0"/>
              <a:t> </a:t>
            </a:r>
            <a:r>
              <a:rPr kumimoji="1" lang="en-US" altLang="zh-CN"/>
              <a:t>Balance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Load</a:t>
            </a:r>
            <a:r>
              <a:rPr kumimoji="1" lang="zh-CN" altLang="en-US" dirty="0"/>
              <a:t> </a:t>
            </a:r>
            <a:r>
              <a:rPr kumimoji="1" lang="en-US" altLang="zh-CN" dirty="0"/>
              <a:t>balance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could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problem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nodes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most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</a:t>
            </a:r>
            <a:endParaRPr kumimoji="1" lang="en-US" altLang="zh-CN" dirty="0"/>
          </a:p>
          <a:p>
            <a:r>
              <a:rPr kumimoji="1" lang="en-US" altLang="zh-CN" dirty="0"/>
              <a:t>Solution: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distributed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across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ring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physical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multiple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better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load</a:t>
            </a:r>
            <a:r>
              <a:rPr kumimoji="1" lang="zh-CN" altLang="en-US" dirty="0"/>
              <a:t> </a:t>
            </a:r>
            <a:r>
              <a:rPr kumimoji="1" lang="en-US" altLang="zh-CN" dirty="0"/>
              <a:t>balance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Summary:</a:t>
            </a:r>
            <a:r>
              <a:rPr kumimoji="1" lang="zh-CN" altLang="en-US" dirty="0"/>
              <a:t> </a:t>
            </a:r>
            <a:r>
              <a:rPr kumimoji="1" lang="en-US" altLang="zh-CN" dirty="0"/>
              <a:t>Different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Sharing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Techniques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487" y="1999431"/>
            <a:ext cx="7557025" cy="2427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rgbClr val="BE374B"/>
          </a:solidFill>
          <a:tailEnd type="arrow" w="lg" len="lg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0</TotalTime>
  <Words>7867</Words>
  <Application>WPS 演示</Application>
  <PresentationFormat>全屏显示(16:10)</PresentationFormat>
  <Paragraphs>757</Paragraphs>
  <Slides>47</Slides>
  <Notes>19</Notes>
  <HiddenSlides>2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4" baseType="lpstr">
      <vt:lpstr>Arial</vt:lpstr>
      <vt:lpstr>宋体</vt:lpstr>
      <vt:lpstr>Wingdings</vt:lpstr>
      <vt:lpstr>等线</vt:lpstr>
      <vt:lpstr>微软雅黑 Light</vt:lpstr>
      <vt:lpstr>PingFang SC</vt:lpstr>
      <vt:lpstr>微软雅黑</vt:lpstr>
      <vt:lpstr>Calibri</vt:lpstr>
      <vt:lpstr>MS PGothic</vt:lpstr>
      <vt:lpstr>Courier New</vt:lpstr>
      <vt:lpstr>Times New Roman</vt:lpstr>
      <vt:lpstr>Calibri</vt:lpstr>
      <vt:lpstr>Arial Unicode MS</vt:lpstr>
      <vt:lpstr>Comic Sans MS</vt:lpstr>
      <vt:lpstr>Symbol</vt:lpstr>
      <vt:lpstr>Consolas</vt:lpstr>
      <vt:lpstr>1_Office 主题​​</vt:lpstr>
      <vt:lpstr>P2P Network</vt:lpstr>
      <vt:lpstr>Content Distribution</vt:lpstr>
      <vt:lpstr>Content Distribution</vt:lpstr>
      <vt:lpstr>Caching Examples</vt:lpstr>
      <vt:lpstr>Content Distribution Network (CDN)</vt:lpstr>
      <vt:lpstr>Content Distribution Network (CDN)</vt:lpstr>
      <vt:lpstr>Server Selection Mechanism</vt:lpstr>
      <vt:lpstr>Server Selection Mechanism</vt:lpstr>
      <vt:lpstr>Server Selection Mechanism</vt:lpstr>
      <vt:lpstr>How Akamai Uses DNS</vt:lpstr>
      <vt:lpstr>How Akamai Uses DNS</vt:lpstr>
      <vt:lpstr>How Akamai Uses DNS</vt:lpstr>
      <vt:lpstr>How Akamai Uses DNS</vt:lpstr>
      <vt:lpstr>How Akamai Uses DNS</vt:lpstr>
      <vt:lpstr>How Akamai Uses DNS</vt:lpstr>
      <vt:lpstr>How Akamai Uses DNS</vt:lpstr>
      <vt:lpstr>How Akamai Works: Cache Hit</vt:lpstr>
      <vt:lpstr>PowerPoint 演示文稿</vt:lpstr>
      <vt:lpstr>Downsides of Centralized Infrastructure</vt:lpstr>
      <vt:lpstr>P2P (Peer-to-peer): No central servers!</vt:lpstr>
      <vt:lpstr>BitTorrent</vt:lpstr>
      <vt:lpstr>BitTorrent</vt:lpstr>
      <vt:lpstr>A torrent file </vt:lpstr>
      <vt:lpstr>Which Piece to Download?</vt:lpstr>
      <vt:lpstr>Drawback of BitTorrent</vt:lpstr>
      <vt:lpstr>Scalable Lookup: DHT</vt:lpstr>
      <vt:lpstr>P2P Implementation of DHT</vt:lpstr>
      <vt:lpstr>A DHT in Operation: put()</vt:lpstr>
      <vt:lpstr>A DHT in Operation: get()</vt:lpstr>
      <vt:lpstr>Chord Properties</vt:lpstr>
      <vt:lpstr>Chord IDs</vt:lpstr>
      <vt:lpstr>Consistent Hashing</vt:lpstr>
      <vt:lpstr>Basic Lookup</vt:lpstr>
      <vt:lpstr>Simple Lookup Algorithm</vt:lpstr>
      <vt:lpstr>"Finger Table" allows log(N) lookups</vt:lpstr>
      <vt:lpstr>Finger i points to successor of n+2i</vt:lpstr>
      <vt:lpstr>Lookup with fingers</vt:lpstr>
      <vt:lpstr>Lookups take O(log(N)) hops</vt:lpstr>
      <vt:lpstr>Failures might cause incorrect lookup </vt:lpstr>
      <vt:lpstr>Solution: successor lists </vt:lpstr>
      <vt:lpstr>Join (1)</vt:lpstr>
      <vt:lpstr>Join (2)</vt:lpstr>
      <vt:lpstr>Join (3)</vt:lpstr>
      <vt:lpstr>Join (4)</vt:lpstr>
      <vt:lpstr>Solution: successor lists </vt:lpstr>
      <vt:lpstr>Virtual Nodes for Load Balance</vt:lpstr>
      <vt:lpstr>Summary: Different File Sharing Techniques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。</cp:lastModifiedBy>
  <cp:revision>1620</cp:revision>
  <cp:lastPrinted>2020-03-02T13:38:00Z</cp:lastPrinted>
  <dcterms:created xsi:type="dcterms:W3CDTF">2017-11-24T09:35:00Z</dcterms:created>
  <dcterms:modified xsi:type="dcterms:W3CDTF">2025-01-15T07:18:16Z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DDE9D556C2CB4C6BACD9F25412B14087_12</vt:lpwstr>
  </property>
  <property fmtid="{D5CDD505-2E9C-101B-9397-08002B2CF9AE}" pid="3" name="KSOProductBuildVer">
    <vt:lpwstr>2052-12.1.0.19770</vt:lpwstr>
  </property>
</Properties>
</file>