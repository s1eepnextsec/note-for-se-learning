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4"/>
  </p:handoutMasterIdLst>
  <p:sldIdLst>
    <p:sldId id="2241" r:id="rId3"/>
    <p:sldId id="2866" r:id="rId5"/>
    <p:sldId id="2274" r:id="rId6"/>
    <p:sldId id="2275" r:id="rId7"/>
    <p:sldId id="2276" r:id="rId8"/>
    <p:sldId id="2277" r:id="rId9"/>
    <p:sldId id="2860" r:id="rId10"/>
    <p:sldId id="2879" r:id="rId11"/>
    <p:sldId id="2878" r:id="rId12"/>
    <p:sldId id="2429" r:id="rId13"/>
    <p:sldId id="2279" r:id="rId14"/>
    <p:sldId id="2423" r:id="rId15"/>
    <p:sldId id="2422" r:id="rId16"/>
    <p:sldId id="2424" r:id="rId17"/>
    <p:sldId id="4592" r:id="rId18"/>
    <p:sldId id="2880" r:id="rId19"/>
    <p:sldId id="2445" r:id="rId20"/>
    <p:sldId id="2251" r:id="rId21"/>
    <p:sldId id="2855" r:id="rId22"/>
    <p:sldId id="2287" r:id="rId23"/>
    <p:sldId id="2284" r:id="rId24"/>
    <p:sldId id="2285" r:id="rId25"/>
    <p:sldId id="2286" r:id="rId26"/>
    <p:sldId id="2863" r:id="rId27"/>
    <p:sldId id="2864" r:id="rId28"/>
    <p:sldId id="771" r:id="rId29"/>
    <p:sldId id="2288" r:id="rId30"/>
    <p:sldId id="2289" r:id="rId31"/>
    <p:sldId id="2290" r:id="rId32"/>
    <p:sldId id="2291" r:id="rId33"/>
    <p:sldId id="2293" r:id="rId34"/>
    <p:sldId id="2294" r:id="rId35"/>
    <p:sldId id="2295" r:id="rId36"/>
    <p:sldId id="2296" r:id="rId37"/>
    <p:sldId id="2297" r:id="rId38"/>
    <p:sldId id="2298" r:id="rId39"/>
    <p:sldId id="787" r:id="rId40"/>
    <p:sldId id="2426" r:id="rId41"/>
    <p:sldId id="2427" r:id="rId42"/>
    <p:sldId id="2431" r:id="rId43"/>
    <p:sldId id="2292" r:id="rId44"/>
    <p:sldId id="2446" r:id="rId45"/>
    <p:sldId id="2432" r:id="rId46"/>
    <p:sldId id="292" r:id="rId47"/>
    <p:sldId id="2302" r:id="rId48"/>
    <p:sldId id="2419" r:id="rId49"/>
    <p:sldId id="2304" r:id="rId50"/>
    <p:sldId id="2309" r:id="rId51"/>
    <p:sldId id="2421" r:id="rId52"/>
    <p:sldId id="2867" r:id="rId53"/>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4" userDrawn="1">
          <p15:clr>
            <a:srgbClr val="A4A3A4"/>
          </p15:clr>
        </p15:guide>
        <p15:guide id="3" pos="29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432FF"/>
    <a:srgbClr val="BF569D"/>
    <a:srgbClr val="6E45A1"/>
    <a:srgbClr val="CDCCFE"/>
    <a:srgbClr val="FFE6FE"/>
    <a:srgbClr val="FFFC00"/>
    <a:srgbClr val="00CD28"/>
    <a:srgbClr val="CDF8CC"/>
    <a:srgbClr val="F7F9D6"/>
    <a:srgbClr val="32C0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92" autoAdjust="0"/>
    <p:restoredTop sz="85468" autoAdjust="0"/>
  </p:normalViewPr>
  <p:slideViewPr>
    <p:cSldViewPr showGuides="1">
      <p:cViewPr varScale="1">
        <p:scale>
          <a:sx n="123" d="100"/>
          <a:sy n="123" d="100"/>
        </p:scale>
        <p:origin x="504" y="176"/>
      </p:cViewPr>
      <p:guideLst>
        <p:guide orient="horz" pos="2454"/>
        <p:guide pos="2955"/>
      </p:guideLst>
    </p:cSldViewPr>
  </p:slideViewPr>
  <p:outlineViewPr>
    <p:cViewPr>
      <p:scale>
        <a:sx n="33" d="100"/>
        <a:sy n="33" d="100"/>
      </p:scale>
      <p:origin x="0" y="-572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Sort may be important.  E.g., </a:t>
            </a:r>
            <a:r>
              <a:rPr lang="en-GB" altLang="zh-CN" sz="1800" dirty="0">
                <a:effectLst/>
                <a:latin typeface="Times"/>
              </a:rPr>
              <a:t>sometimes the output keys are URLs, and we want all entries for a single host to end up in the same output file. </a:t>
            </a:r>
            <a:endParaRPr lang="en-GB"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fld>
            <a:endParaRPr lang="en-US" altLang="zh-TW"/>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具体到实现，以文件作为</a:t>
            </a:r>
            <a:r>
              <a:rPr kumimoji="1" lang="en-US" altLang="zh-CN" dirty="0"/>
              <a:t>input</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sz="180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02840" y="228866"/>
            <a:ext cx="8229600" cy="900442"/>
          </a:xfrm>
        </p:spPr>
        <p:txBody>
          <a:bodyPr>
            <a:normAutofit/>
          </a:bodyPr>
          <a:lstStyle>
            <a:lvl1pPr>
              <a:defRPr sz="2400" b="1">
                <a:solidFill>
                  <a:schemeClr val="accent1"/>
                </a:solidFill>
                <a:latin typeface="+mn-lt"/>
                <a:ea typeface="+mj-ea"/>
                <a:cs typeface="微软雅黑 Light" panose="020B0502040204020203" pitchFamily="34" charset="-122"/>
              </a:defRPr>
            </a:lvl1pPr>
          </a:lstStyle>
          <a:p>
            <a:r>
              <a:rPr lang="en-US" altLang="zh-CN" dirty="0"/>
              <a:t>xx</a:t>
            </a:r>
            <a:endParaRPr lang="zh-CN" altLang="en-US" dirty="0"/>
          </a:p>
        </p:txBody>
      </p:sp>
      <p:sp>
        <p:nvSpPr>
          <p:cNvPr id="3" name="内容占位符 2"/>
          <p:cNvSpPr>
            <a:spLocks noGrp="1"/>
          </p:cNvSpPr>
          <p:nvPr>
            <p:ph idx="1" hasCustomPrompt="1"/>
          </p:nvPr>
        </p:nvSpPr>
        <p:spPr>
          <a:xfrm>
            <a:off x="302840" y="1129308"/>
            <a:ext cx="8229600" cy="3771636"/>
          </a:xfrm>
        </p:spPr>
        <p:txBody>
          <a:bodyPr>
            <a:normAutofit/>
          </a:bodyPr>
          <a:lstStyle>
            <a:lvl1pPr marL="0" indent="0">
              <a:lnSpc>
                <a:spcPct val="120000"/>
              </a:lnSpc>
              <a:buFontTx/>
              <a:buNone/>
              <a:defRPr sz="1800" b="1" i="0">
                <a:latin typeface="+mn-lt"/>
                <a:ea typeface="微软雅黑" panose="020B0503020204020204" pitchFamily="34" charset="-122"/>
                <a:cs typeface="微软雅黑" panose="020B0503020204020204" pitchFamily="34" charset="-122"/>
              </a:defRPr>
            </a:lvl1pPr>
            <a:lvl2pPr marL="360045">
              <a:lnSpc>
                <a:spcPct val="120000"/>
              </a:lnSpc>
              <a:defRPr sz="18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en-US" altLang="zh-CN" dirty="0" err="1"/>
              <a:t>yy</a:t>
            </a:r>
            <a:endParaRPr lang="zh-CN" altLang="en-US" dirty="0"/>
          </a:p>
          <a:p>
            <a:pPr lvl="1"/>
            <a:r>
              <a:rPr lang="en-US" altLang="zh-CN" dirty="0"/>
              <a:t>xx</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latin typeface="Consolas" panose="020B0609020204030204" pitchFamily="49" charset="0"/>
                <a:cs typeface="Consolas" panose="020B0609020204030204" pitchFamily="49" charset="0"/>
              </a:defRPr>
            </a:lvl1pPr>
          </a:lstStyle>
          <a:p>
            <a:fld id="{ADE361C3-C043-4A6E-BDCE-8DA1E7D90A3B}" type="slidenum">
              <a:rPr lang="zh-CN" altLang="en-US" smtClean="0"/>
            </a:fld>
            <a:endParaRPr lang="zh-CN" altLang="en-US" dirty="0"/>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8" name="三角形 7"/>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fld id="{ADE361C3-C043-4A6E-BDCE-8DA1E7D90A3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anose="020B0604020202020204" pitchFamily="34" charset="0"/>
        <a:buChar char="•"/>
        <a:defRPr sz="2600" b="0" kern="1200">
          <a:solidFill>
            <a:schemeClr val="tx1">
              <a:lumMod val="75000"/>
              <a:lumOff val="25000"/>
            </a:schemeClr>
          </a:solidFill>
          <a:latin typeface="+mn-lt"/>
          <a:ea typeface="+mn-ea"/>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kern="1200">
          <a:solidFill>
            <a:schemeClr val="tx1">
              <a:lumMod val="75000"/>
              <a:lumOff val="25000"/>
            </a:schemeClr>
          </a:solidFill>
          <a:latin typeface="+mn-lt"/>
          <a:ea typeface="+mn-ea"/>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kern="1200">
          <a:solidFill>
            <a:schemeClr val="tx1">
              <a:lumMod val="75000"/>
              <a:lumOff val="25000"/>
            </a:schemeClr>
          </a:solidFill>
          <a:latin typeface="+mn-lt"/>
          <a:ea typeface="+mn-ea"/>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tif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tiff"/><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85800" y="1430287"/>
            <a:ext cx="7772400" cy="1600685"/>
          </a:xfrm>
        </p:spPr>
        <p:txBody>
          <a:bodyPr>
            <a:noAutofit/>
          </a:bodyPr>
          <a:lstStyle/>
          <a:p>
            <a:pPr>
              <a:lnSpc>
                <a:spcPct val="110000"/>
              </a:lnSpc>
            </a:pPr>
            <a:r>
              <a:rPr kumimoji="1" lang="en-US" altLang="zh-CN" sz="3600" b="0" dirty="0"/>
              <a:t>The distributed (and parallel) programming on a single device &amp; MapReduce</a:t>
            </a:r>
            <a:endParaRPr kumimoji="1" lang="zh-CN" altLang="en-US" sz="1800" b="0" dirty="0">
              <a:latin typeface="+mn-lt"/>
            </a:endParaRPr>
          </a:p>
        </p:txBody>
      </p:sp>
      <p:pic>
        <p:nvPicPr>
          <p:cNvPr id="9" name="图片 8"/>
          <p:cNvPicPr>
            <a:picLocks noChangeAspect="1"/>
          </p:cNvPicPr>
          <p:nvPr/>
        </p:nvPicPr>
        <p:blipFill>
          <a:blip r:embed="rId1" cstate="screen">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p:cNvSpPr txBox="1"/>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anose="020B0604020202020204" pitchFamily="34" charset="0"/>
              <a:buNone/>
              <a:defRPr sz="2600" b="0" kern="1200">
                <a:solidFill>
                  <a:schemeClr val="tx1">
                    <a:tint val="75000"/>
                  </a:schemeClr>
                </a:solidFill>
                <a:latin typeface="+mn-ea"/>
                <a:ea typeface="+mn-ea"/>
                <a:cs typeface="等线" panose="02010600030101010101" charset="-122"/>
              </a:defRPr>
            </a:lvl1pPr>
            <a:lvl2pPr marL="457200" indent="0" algn="ctr" defTabSz="914400" rtl="0" eaLnBrk="1" latinLnBrk="0" hangingPunct="1">
              <a:lnSpc>
                <a:spcPct val="120000"/>
              </a:lnSpc>
              <a:spcBef>
                <a:spcPct val="20000"/>
              </a:spcBef>
              <a:buFont typeface="Arial" panose="020B0604020202020204" pitchFamily="34" charset="0"/>
              <a:buNone/>
              <a:defRPr sz="2400" kern="1200">
                <a:solidFill>
                  <a:schemeClr val="tx1">
                    <a:tint val="75000"/>
                  </a:schemeClr>
                </a:solidFill>
                <a:latin typeface="+mn-ea"/>
                <a:ea typeface="+mn-ea"/>
                <a:cs typeface="等线" panose="02010600030101010101" charset="-122"/>
              </a:defRPr>
            </a:lvl2pPr>
            <a:lvl3pPr marL="914400" indent="0" algn="ctr" defTabSz="914400" rtl="0" eaLnBrk="1" latinLnBrk="0" hangingPunct="1">
              <a:lnSpc>
                <a:spcPct val="120000"/>
              </a:lnSpc>
              <a:spcBef>
                <a:spcPct val="20000"/>
              </a:spcBef>
              <a:buFont typeface="Arial" panose="020B0604020202020204" pitchFamily="34" charset="0"/>
              <a:buNone/>
              <a:defRPr sz="2000" kern="1200">
                <a:solidFill>
                  <a:schemeClr val="tx1">
                    <a:tint val="75000"/>
                  </a:schemeClr>
                </a:solidFill>
                <a:latin typeface="+mn-ea"/>
                <a:ea typeface="+mn-ea"/>
                <a:cs typeface="等线" panose="02010600030101010101" charset="-122"/>
              </a:defRPr>
            </a:lvl3pPr>
            <a:lvl4pPr marL="13716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ea"/>
                <a:ea typeface="+mn-ea"/>
                <a:cs typeface="等线" panose="02010600030101010101" charset="-122"/>
              </a:defRPr>
            </a:lvl4pPr>
            <a:lvl5pPr marL="18288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ea"/>
                <a:ea typeface="+mn-ea"/>
                <a:cs typeface="等线" panose="02010600030101010101" charset="-122"/>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mj-lt"/>
              </a:rPr>
              <a:t>SE3331-1 (2024 Fall)</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mj-lt"/>
              <a:ea typeface="微软雅黑" panose="020B0503020204020204" pitchFamily="34" charset="-122"/>
            </a:endParaRPr>
          </a:p>
        </p:txBody>
      </p:sp>
      <p:pic>
        <p:nvPicPr>
          <p:cNvPr id="8" name="Picture 6" descr="http://korean.onlinesjtu.com/%E6%A0%A1%E5%BE%BD%E7%B3%BB%E5%88%97/%E7%BC%A9%E5%B0%8F%E7%89%88/%E8%93%9D%E8%89%B2%E7%B3%BB%20%E5%B0%8F%E5%B0%BA%E5%AF%B8%E6%A0%A1%E5%BE%BD%E5%B1%95%E5%BC%80%E5%BC%8F%20(10mm%E4%BB%A5%E4%B8%8B%E4%BD%BF%E7%94%A8)%20%5b%E8%BD%AC%E6%8D%A2%5d.png"/>
          <p:cNvPicPr>
            <a:picLocks noChangeAspect="1" noChangeArrowheads="1"/>
          </p:cNvPicPr>
          <p:nvPr/>
        </p:nvPicPr>
        <p:blipFill>
          <a:blip r:embed="rId2" cstate="screen">
            <a:duotone>
              <a:schemeClr val="accent1">
                <a:shade val="45000"/>
                <a:satMod val="135000"/>
              </a:schemeClr>
              <a:prstClr val="white"/>
            </a:duotone>
          </a:blip>
          <a:srcRect/>
          <a:stretch>
            <a:fillRect/>
          </a:stretch>
        </p:blipFill>
        <p:spPr bwMode="auto">
          <a:xfrm>
            <a:off x="7164288" y="282539"/>
            <a:ext cx="1642840" cy="432048"/>
          </a:xfrm>
          <a:prstGeom prst="rect">
            <a:avLst/>
          </a:prstGeom>
          <a:noFill/>
        </p:spPr>
      </p:pic>
      <p:sp>
        <p:nvSpPr>
          <p:cNvPr id="10" name="副标题 5"/>
          <p:cNvSpPr>
            <a:spLocks noGrp="1"/>
          </p:cNvSpPr>
          <p:nvPr>
            <p:ph type="subTitle" idx="1"/>
          </p:nvPr>
        </p:nvSpPr>
        <p:spPr>
          <a:xfrm>
            <a:off x="685800" y="3484370"/>
            <a:ext cx="7772400" cy="1461362"/>
          </a:xfrm>
        </p:spPr>
        <p:txBody>
          <a:bodyPr>
            <a:noAutofit/>
          </a:bodyPr>
          <a:lstStyle/>
          <a:p>
            <a:pPr>
              <a:lnSpc>
                <a:spcPct val="150000"/>
              </a:lnSpc>
              <a:spcBef>
                <a:spcPts val="0"/>
              </a:spcBef>
            </a:pPr>
            <a:r>
              <a:rPr kumimoji="1" lang="en-US" altLang="zh-CN" sz="1800" dirty="0" err="1">
                <a:solidFill>
                  <a:schemeClr val="tx1">
                    <a:lumMod val="75000"/>
                    <a:lumOff val="25000"/>
                  </a:schemeClr>
                </a:solidFill>
                <a:latin typeface="+mj-lt"/>
              </a:rPr>
              <a:t>Xingda</a:t>
            </a:r>
            <a:r>
              <a:rPr kumimoji="1" lang="en-US" altLang="zh-CN" sz="1800" dirty="0">
                <a:solidFill>
                  <a:schemeClr val="tx1">
                    <a:lumMod val="75000"/>
                    <a:lumOff val="25000"/>
                  </a:schemeClr>
                </a:solidFill>
                <a:latin typeface="+mj-lt"/>
              </a:rPr>
              <a:t> Wei, </a:t>
            </a:r>
            <a:r>
              <a:rPr kumimoji="1" lang="en-US" altLang="zh-CN" sz="1800" dirty="0" err="1">
                <a:solidFill>
                  <a:schemeClr val="tx1">
                    <a:lumMod val="75000"/>
                    <a:lumOff val="25000"/>
                  </a:schemeClr>
                </a:solidFill>
                <a:latin typeface="+mj-lt"/>
              </a:rPr>
              <a:t>Yubin</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Xia</a:t>
            </a:r>
            <a:endParaRPr kumimoji="1" lang="en-US" altLang="zh-CN" sz="1800" dirty="0">
              <a:solidFill>
                <a:schemeClr val="tx1">
                  <a:lumMod val="75000"/>
                  <a:lumOff val="25000"/>
                </a:schemeClr>
              </a:solidFill>
              <a:latin typeface="+mj-lt"/>
            </a:endParaRPr>
          </a:p>
          <a:p>
            <a:pPr>
              <a:lnSpc>
                <a:spcPct val="150000"/>
              </a:lnSpc>
              <a:spcBef>
                <a:spcPts val="0"/>
              </a:spcBef>
            </a:pPr>
            <a:r>
              <a:rPr kumimoji="1" lang="en-US" altLang="zh-CN" sz="1800" dirty="0">
                <a:solidFill>
                  <a:schemeClr val="tx1">
                    <a:lumMod val="75000"/>
                    <a:lumOff val="25000"/>
                  </a:schemeClr>
                </a:solidFill>
                <a:latin typeface="+mj-lt"/>
              </a:rPr>
              <a:t>IPADS,</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Shanghai</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Jiao</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Tong</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University</a:t>
            </a:r>
            <a:endParaRPr kumimoji="1" lang="en-US" altLang="zh-CN" sz="1800" dirty="0">
              <a:solidFill>
                <a:schemeClr val="tx1">
                  <a:lumMod val="75000"/>
                  <a:lumOff val="25000"/>
                </a:schemeClr>
              </a:solidFill>
              <a:latin typeface="+mj-lt"/>
            </a:endParaRPr>
          </a:p>
          <a:p>
            <a:pPr>
              <a:lnSpc>
                <a:spcPct val="150000"/>
              </a:lnSpc>
              <a:spcBef>
                <a:spcPts val="0"/>
              </a:spcBef>
            </a:pPr>
            <a:r>
              <a:rPr kumimoji="1" lang="en-US" altLang="zh-CN" sz="1800" dirty="0">
                <a:solidFill>
                  <a:schemeClr val="tx1">
                    <a:lumMod val="50000"/>
                    <a:lumOff val="50000"/>
                  </a:schemeClr>
                </a:solidFill>
                <a:latin typeface="+mj-lt"/>
              </a:rPr>
              <a:t>https://</a:t>
            </a:r>
            <a:r>
              <a:rPr kumimoji="1" lang="en-US" altLang="zh-CN" sz="1800" dirty="0" err="1">
                <a:solidFill>
                  <a:schemeClr val="tx1">
                    <a:lumMod val="50000"/>
                    <a:lumOff val="50000"/>
                  </a:schemeClr>
                </a:solidFill>
                <a:latin typeface="+mj-lt"/>
              </a:rPr>
              <a:t>www.sjtu.edu.cn</a:t>
            </a:r>
            <a:endParaRPr kumimoji="1" lang="en-GB" altLang="zh-CN" sz="1800" dirty="0">
              <a:solidFill>
                <a:schemeClr val="tx1">
                  <a:lumMod val="50000"/>
                  <a:lumOff val="50000"/>
                </a:schemeClr>
              </a:solidFill>
              <a:latin typeface="+mj-lt"/>
            </a:endParaRPr>
          </a:p>
        </p:txBody>
      </p:sp>
      <p:sp>
        <p:nvSpPr>
          <p:cNvPr id="2" name="矩形 1"/>
          <p:cNvSpPr/>
          <p:nvPr/>
        </p:nvSpPr>
        <p:spPr>
          <a:xfrm>
            <a:off x="64006" y="5319186"/>
            <a:ext cx="3073855" cy="395749"/>
          </a:xfrm>
          <a:prstGeom prst="rect">
            <a:avLst/>
          </a:prstGeom>
        </p:spPr>
        <p:txBody>
          <a:bodyPr wrap="none">
            <a:spAutoFit/>
          </a:bodyPr>
          <a:lstStyle/>
          <a:p>
            <a:pPr>
              <a:lnSpc>
                <a:spcPct val="150000"/>
              </a:lnSpc>
            </a:pPr>
            <a:r>
              <a:rPr kumimoji="1" lang="en-US" altLang="zh-CN" sz="1500" dirty="0"/>
              <a:t>Credits: AI-sys Sp22, CMU15-418</a:t>
            </a:r>
            <a:endParaRPr kumimoji="1" lang="en-US" altLang="zh-CN" sz="1500" dirty="0"/>
          </a:p>
        </p:txBody>
      </p:sp>
    </p:spTree>
  </p:cSld>
  <p:clrMapOvr>
    <a:masterClrMapping/>
  </p:clrMapOvr>
  <mc:AlternateContent xmlns:mc="http://schemas.openxmlformats.org/markup-compatibility/2006">
    <mc:Choice xmlns:p14="http://schemas.microsoft.com/office/powerpoint/2010/main" Requires="p14">
      <p:transition spd="slow" p14:dur="2000" advTm="11626"/>
    </mc:Choice>
    <mc:Fallback>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939336" cy="900442"/>
          </a:xfrm>
        </p:spPr>
        <p:txBody>
          <a:bodyPr/>
          <a:lstStyle/>
          <a:p>
            <a:r>
              <a:rPr kumimoji="1" lang="en-US" altLang="zh-CN" dirty="0"/>
              <a:t>Use distributed computing frameworks </a:t>
            </a:r>
            <a:r>
              <a:rPr kumimoji="1" lang="en-US" altLang="zh-CN" b="0" dirty="0"/>
              <a:t>for complex queries</a:t>
            </a:r>
            <a:endParaRPr kumimoji="1" lang="zh-CN" altLang="en-US" dirty="0"/>
          </a:p>
        </p:txBody>
      </p:sp>
      <p:sp>
        <p:nvSpPr>
          <p:cNvPr id="3" name="内容占位符 2"/>
          <p:cNvSpPr>
            <a:spLocks noGrp="1"/>
          </p:cNvSpPr>
          <p:nvPr>
            <p:ph idx="1"/>
          </p:nvPr>
        </p:nvSpPr>
        <p:spPr>
          <a:xfrm>
            <a:off x="457200" y="1129308"/>
            <a:ext cx="8229600" cy="4356826"/>
          </a:xfrm>
        </p:spPr>
        <p:txBody>
          <a:bodyPr/>
          <a:lstStyle/>
          <a:p>
            <a:r>
              <a:rPr kumimoji="1" lang="en-US" altLang="zh-CN" dirty="0"/>
              <a:t>Each fits a common application scenario </a:t>
            </a:r>
            <a:endParaRPr kumimoji="1" lang="en-US" altLang="zh-CN" dirty="0"/>
          </a:p>
          <a:p>
            <a:pPr lvl="1"/>
            <a:r>
              <a:rPr kumimoji="1" lang="en-US" altLang="zh-CN" dirty="0"/>
              <a:t>One sit (typically) does not fit all! </a:t>
            </a:r>
            <a:endParaRPr kumimoji="1" lang="en-US" altLang="zh-CN" dirty="0"/>
          </a:p>
          <a:p>
            <a:r>
              <a:rPr kumimoji="1" lang="en-US" altLang="zh-CN" dirty="0"/>
              <a:t>Batch processing system </a:t>
            </a:r>
            <a:endParaRPr kumimoji="1" lang="en-US" altLang="zh-CN" dirty="0"/>
          </a:p>
          <a:p>
            <a:pPr lvl="1"/>
            <a:r>
              <a:rPr kumimoji="1" lang="en-US" altLang="zh-CN" dirty="0"/>
              <a:t>Spark, Hadoop, etc.</a:t>
            </a:r>
            <a:endParaRPr kumimoji="1" lang="en-US" altLang="zh-CN" dirty="0"/>
          </a:p>
          <a:p>
            <a:r>
              <a:rPr kumimoji="1" lang="en-US" altLang="zh-CN" dirty="0"/>
              <a:t>Graph processing system</a:t>
            </a:r>
            <a:endParaRPr kumimoji="1" lang="en-US" altLang="zh-CN" dirty="0"/>
          </a:p>
          <a:p>
            <a:pPr lvl="1"/>
            <a:r>
              <a:rPr kumimoji="1" lang="en-US" altLang="zh-CN" dirty="0" err="1"/>
              <a:t>GraphLab</a:t>
            </a:r>
            <a:r>
              <a:rPr kumimoji="1" lang="en-US" altLang="zh-CN" dirty="0"/>
              <a:t>, etc. </a:t>
            </a:r>
            <a:endParaRPr kumimoji="1" lang="en-US" altLang="zh-CN" dirty="0"/>
          </a:p>
          <a:p>
            <a:r>
              <a:rPr kumimoji="1" lang="en-US" altLang="zh-CN" dirty="0"/>
              <a:t>Machine learning system</a:t>
            </a:r>
            <a:endParaRPr kumimoji="1" lang="en-US" altLang="zh-CN" dirty="0"/>
          </a:p>
          <a:p>
            <a:pPr lvl="1"/>
            <a:r>
              <a:rPr kumimoji="1" lang="en-US" altLang="zh-CN" dirty="0"/>
              <a:t>TensorFlow, </a:t>
            </a:r>
            <a:r>
              <a:rPr kumimoji="1" lang="en-US" altLang="zh-CN" dirty="0" err="1"/>
              <a:t>Pytorch</a:t>
            </a:r>
            <a:r>
              <a:rPr kumimoji="1" lang="en-US" altLang="zh-CN" dirty="0"/>
              <a:t>, etc. </a:t>
            </a:r>
            <a:endParaRPr kumimoji="1" lang="en-US" altLang="zh-CN" dirty="0"/>
          </a:p>
          <a:p>
            <a:r>
              <a:rPr kumimoji="1" lang="en-US" altLang="zh-CN" dirty="0"/>
              <a:t>Note that we can also use one for another </a:t>
            </a:r>
            <a:endParaRPr kumimoji="1" lang="en-US" altLang="zh-CN" dirty="0"/>
          </a:p>
          <a:p>
            <a:pPr lvl="1"/>
            <a:r>
              <a:rPr kumimoji="1" lang="en-US" altLang="zh-CN" dirty="0"/>
              <a:t>At the cost of programming effort and performance </a:t>
            </a:r>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5" name="Picture 2" descr="Apache Spark - Wikipedi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00459" y="3014964"/>
            <a:ext cx="2125216" cy="11034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Apache Hadoop Consulting &amp; Fully Managed Services | Digital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2125" y="1985325"/>
            <a:ext cx="2398544" cy="13602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GraphLab: Big Data Analytics Scaled From Inspiration to Production | AWS  Startups Bl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971" y="1161385"/>
            <a:ext cx="1539908" cy="10842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TensorFl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4175" y="4120196"/>
            <a:ext cx="2661500" cy="1490439"/>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323528" y="1929856"/>
            <a:ext cx="4248472" cy="900442"/>
          </a:xfrm>
          <a:prstGeom prst="rect">
            <a:avLst/>
          </a:prstGeom>
          <a:noFill/>
          <a:ln w="12700">
            <a:solidFill>
              <a:srgbClr val="C00000"/>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p:cNvSpPr txBox="1"/>
          <p:nvPr/>
        </p:nvSpPr>
        <p:spPr>
          <a:xfrm>
            <a:off x="3680447" y="2645632"/>
            <a:ext cx="2021981" cy="369332"/>
          </a:xfrm>
          <a:prstGeom prst="rect">
            <a:avLst/>
          </a:prstGeom>
          <a:solidFill>
            <a:schemeClr val="bg1"/>
          </a:solidFill>
        </p:spPr>
        <p:txBody>
          <a:bodyPr wrap="square">
            <a:spAutoFit/>
          </a:bodyPr>
          <a:lstStyle/>
          <a:p>
            <a:r>
              <a:rPr kumimoji="1" lang="en-US" altLang="zh-CN" dirty="0">
                <a:solidFill>
                  <a:srgbClr val="C00000"/>
                </a:solidFill>
              </a:rPr>
              <a:t>Today’s focus</a:t>
            </a:r>
            <a:endParaRPr lang="zh-CN" altLang="en-US"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Example: batching processing</a:t>
            </a:r>
            <a:endParaRPr kumimoji="1" lang="zh-CN" altLang="en-US" dirty="0"/>
          </a:p>
        </p:txBody>
      </p:sp>
      <p:sp>
        <p:nvSpPr>
          <p:cNvPr id="3" name="内容占位符 2"/>
          <p:cNvSpPr>
            <a:spLocks noGrp="1"/>
          </p:cNvSpPr>
          <p:nvPr>
            <p:ph idx="1"/>
          </p:nvPr>
        </p:nvSpPr>
        <p:spPr>
          <a:xfrm>
            <a:off x="457200" y="1129308"/>
            <a:ext cx="8229600" cy="1080120"/>
          </a:xfrm>
        </p:spPr>
        <p:txBody>
          <a:bodyPr/>
          <a:lstStyle/>
          <a:p>
            <a:r>
              <a:rPr kumimoji="1" lang="en-US" altLang="zh-CN" dirty="0"/>
              <a:t>Suppose our web server records every requests in a log file</a:t>
            </a:r>
            <a:endParaRPr kumimoji="1" lang="en-US" altLang="zh-CN" dirty="0"/>
          </a:p>
          <a:p>
            <a:pPr lvl="1"/>
            <a:r>
              <a:rPr kumimoji="1" lang="en-US" altLang="zh-CN" dirty="0"/>
              <a:t>E.g., using </a:t>
            </a:r>
            <a:r>
              <a:rPr kumimoji="1" lang="en-US" altLang="zh-CN" dirty="0" err="1"/>
              <a:t>nginx</a:t>
            </a:r>
            <a:r>
              <a:rPr kumimoji="1" lang="en-US" altLang="zh-CN" dirty="0"/>
              <a:t> log format, a log record looks</a:t>
            </a:r>
            <a:r>
              <a:rPr kumimoji="1" lang="zh-CN" altLang="en-US" dirty="0"/>
              <a:t> </a:t>
            </a:r>
            <a:r>
              <a:rPr kumimoji="1" lang="en-US" altLang="zh-CN" dirty="0"/>
              <a:t>like</a:t>
            </a:r>
            <a:r>
              <a:rPr kumimoji="1" lang="zh-CN" altLang="en-US" dirty="0"/>
              <a:t> </a:t>
            </a:r>
            <a:r>
              <a:rPr kumimoji="1" lang="en-US" altLang="zh-CN" dirty="0"/>
              <a:t>this: </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矩形 4"/>
          <p:cNvSpPr/>
          <p:nvPr/>
        </p:nvSpPr>
        <p:spPr>
          <a:xfrm>
            <a:off x="389509" y="2029750"/>
            <a:ext cx="8507858" cy="1477328"/>
          </a:xfrm>
          <a:prstGeom prst="rect">
            <a:avLst/>
          </a:prstGeom>
          <a:ln>
            <a:solidFill>
              <a:schemeClr val="tx1"/>
            </a:solidFill>
          </a:ln>
        </p:spPr>
        <p:txBody>
          <a:bodyPr wrap="square">
            <a:spAutoFit/>
          </a:bodyPr>
          <a:lstStyle/>
          <a:p>
            <a:r>
              <a:rPr lang="en-GB" altLang="zh-CN" dirty="0">
                <a:latin typeface="Consolas" panose="020B0609020204030204" pitchFamily="49" charset="0"/>
                <a:cs typeface="Consolas" panose="020B0609020204030204" pitchFamily="49" charset="0"/>
              </a:rPr>
              <a:t>216.58.210.78 - - [27/Feb/2015:17:55:11 +0000] </a:t>
            </a:r>
            <a:br>
              <a:rPr lang="en-GB" altLang="zh-CN" dirty="0">
                <a:latin typeface="Consolas" panose="020B0609020204030204" pitchFamily="49" charset="0"/>
                <a:cs typeface="Consolas" panose="020B0609020204030204" pitchFamily="49" charset="0"/>
              </a:rPr>
            </a:br>
            <a:r>
              <a:rPr lang="en-GB" altLang="zh-CN" dirty="0">
                <a:latin typeface="Consolas" panose="020B0609020204030204" pitchFamily="49" charset="0"/>
                <a:cs typeface="Consolas" panose="020B0609020204030204" pitchFamily="49" charset="0"/>
              </a:rPr>
              <a:t>"GET /</a:t>
            </a:r>
            <a:r>
              <a:rPr lang="en-GB" altLang="zh-CN" dirty="0" err="1">
                <a:latin typeface="Consolas" panose="020B0609020204030204" pitchFamily="49" charset="0"/>
                <a:cs typeface="Consolas" panose="020B0609020204030204" pitchFamily="49" charset="0"/>
              </a:rPr>
              <a:t>css</a:t>
            </a:r>
            <a:r>
              <a:rPr lang="en-GB" altLang="zh-CN" dirty="0">
                <a:latin typeface="Consolas" panose="020B0609020204030204" pitchFamily="49" charset="0"/>
                <a:cs typeface="Consolas" panose="020B0609020204030204" pitchFamily="49" charset="0"/>
              </a:rPr>
              <a:t>/</a:t>
            </a:r>
            <a:r>
              <a:rPr lang="en-GB" altLang="zh-CN" dirty="0" err="1">
                <a:latin typeface="Consolas" panose="020B0609020204030204" pitchFamily="49" charset="0"/>
                <a:cs typeface="Consolas" panose="020B0609020204030204" pitchFamily="49" charset="0"/>
              </a:rPr>
              <a:t>typography.css</a:t>
            </a:r>
            <a:r>
              <a:rPr lang="en-GB" altLang="zh-CN" dirty="0">
                <a:latin typeface="Consolas" panose="020B0609020204030204" pitchFamily="49" charset="0"/>
                <a:cs typeface="Consolas" panose="020B0609020204030204" pitchFamily="49" charset="0"/>
              </a:rPr>
              <a:t> HTTP/1.1" 200 3377 "http://</a:t>
            </a:r>
            <a:r>
              <a:rPr lang="en-GB" altLang="zh-CN" dirty="0" err="1">
                <a:latin typeface="Consolas" panose="020B0609020204030204" pitchFamily="49" charset="0"/>
                <a:cs typeface="Consolas" panose="020B0609020204030204" pitchFamily="49" charset="0"/>
              </a:rPr>
              <a:t>martin.kleppmann.com</a:t>
            </a:r>
            <a:r>
              <a:rPr lang="en-GB" altLang="zh-CN" dirty="0">
                <a:latin typeface="Consolas" panose="020B0609020204030204" pitchFamily="49" charset="0"/>
                <a:cs typeface="Consolas" panose="020B0609020204030204" pitchFamily="49" charset="0"/>
              </a:rPr>
              <a:t>/" </a:t>
            </a:r>
            <a:br>
              <a:rPr lang="en-GB" altLang="zh-CN" dirty="0">
                <a:latin typeface="Consolas" panose="020B0609020204030204" pitchFamily="49" charset="0"/>
                <a:cs typeface="Consolas" panose="020B0609020204030204" pitchFamily="49" charset="0"/>
              </a:rPr>
            </a:br>
            <a:r>
              <a:rPr lang="en-GB" altLang="zh-CN" dirty="0">
                <a:latin typeface="Consolas" panose="020B0609020204030204" pitchFamily="49" charset="0"/>
                <a:cs typeface="Consolas" panose="020B0609020204030204" pitchFamily="49" charset="0"/>
              </a:rPr>
              <a:t>"Mozilla/5.0 (Macintosh; Intel Mac OS X 10_9_5) </a:t>
            </a:r>
            <a:r>
              <a:rPr lang="en-GB" altLang="zh-CN" dirty="0" err="1">
                <a:latin typeface="Consolas" panose="020B0609020204030204" pitchFamily="49" charset="0"/>
                <a:cs typeface="Consolas" panose="020B0609020204030204" pitchFamily="49" charset="0"/>
              </a:rPr>
              <a:t>AppleWebKit</a:t>
            </a:r>
            <a:r>
              <a:rPr lang="en-GB" altLang="zh-CN" dirty="0">
                <a:latin typeface="Consolas" panose="020B0609020204030204" pitchFamily="49" charset="0"/>
                <a:cs typeface="Consolas" panose="020B0609020204030204" pitchFamily="49" charset="0"/>
              </a:rPr>
              <a:t>/537.36 (KHTML, like Gecko) Chrome/40.0.2214.115 Safari/537.36" </a:t>
            </a:r>
            <a:endParaRPr lang="en-GB" altLang="zh-CN" dirty="0">
              <a:latin typeface="Consolas" panose="020B0609020204030204" pitchFamily="49" charset="0"/>
              <a:cs typeface="Consolas" panose="020B0609020204030204" pitchFamily="49" charset="0"/>
            </a:endParaRPr>
          </a:p>
        </p:txBody>
      </p:sp>
      <p:sp>
        <p:nvSpPr>
          <p:cNvPr id="6" name="内容占位符 2"/>
          <p:cNvSpPr txBox="1"/>
          <p:nvPr/>
        </p:nvSpPr>
        <p:spPr>
          <a:xfrm>
            <a:off x="457200" y="3712785"/>
            <a:ext cx="8229600" cy="1888447"/>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200"/>
              </a:spcBef>
              <a:buFontTx/>
              <a:buNone/>
              <a:defRPr sz="1800" b="1" i="0" kern="1200">
                <a:solidFill>
                  <a:schemeClr val="tx1">
                    <a:lumMod val="75000"/>
                    <a:lumOff val="25000"/>
                  </a:schemeClr>
                </a:solidFill>
                <a:latin typeface="+mn-ea"/>
                <a:ea typeface="+mn-ea"/>
                <a:cs typeface="PingFang SC Bold" panose="020B0400000000000000" pitchFamily="34" charset="-122"/>
              </a:defRPr>
            </a:lvl1pPr>
            <a:lvl2pPr marL="360045" indent="-28575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mn-ea"/>
                <a:ea typeface="+mn-ea"/>
                <a:cs typeface="PingFang SC" panose="020B0400000000000000" pitchFamily="3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mn-ea"/>
                <a:ea typeface="+mn-ea"/>
                <a:cs typeface="PingFang SC" panose="020B0400000000000000" pitchFamily="3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mn-ea"/>
                <a:ea typeface="+mn-ea"/>
                <a:cs typeface="PingFang SC" panose="020B0400000000000000" pitchFamily="3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mn-ea"/>
                <a:ea typeface="+mn-ea"/>
                <a:cs typeface="PingFang SC" panose="020B0400000000000000" pitchFamily="3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kumimoji="1" lang="en-US" altLang="zh-CN" dirty="0"/>
              <a:t>Abstract format: </a:t>
            </a:r>
            <a:r>
              <a:rPr lang="en-GB" altLang="zh-CN" b="0" dirty="0">
                <a:latin typeface="Consolas" panose="020B0609020204030204" pitchFamily="49" charset="0"/>
                <a:cs typeface="Consolas" panose="020B0609020204030204" pitchFamily="49" charset="0"/>
              </a:rPr>
              <a:t>$</a:t>
            </a:r>
            <a:r>
              <a:rPr lang="en-GB" altLang="zh-CN" b="0" dirty="0" err="1">
                <a:latin typeface="Consolas" panose="020B0609020204030204" pitchFamily="49" charset="0"/>
                <a:cs typeface="Consolas" panose="020B0609020204030204" pitchFamily="49" charset="0"/>
              </a:rPr>
              <a:t>remote_addr</a:t>
            </a:r>
            <a:r>
              <a:rPr lang="en-GB" altLang="zh-CN" b="0" dirty="0">
                <a:latin typeface="Consolas" panose="020B0609020204030204" pitchFamily="49" charset="0"/>
                <a:cs typeface="Consolas" panose="020B0609020204030204" pitchFamily="49" charset="0"/>
              </a:rPr>
              <a:t> - $</a:t>
            </a:r>
            <a:r>
              <a:rPr lang="en-GB" altLang="zh-CN" b="0" dirty="0" err="1">
                <a:latin typeface="Consolas" panose="020B0609020204030204" pitchFamily="49" charset="0"/>
                <a:cs typeface="Consolas" panose="020B0609020204030204" pitchFamily="49" charset="0"/>
              </a:rPr>
              <a:t>remote_user</a:t>
            </a:r>
            <a:r>
              <a:rPr lang="en-GB" altLang="zh-CN" b="0" dirty="0">
                <a:latin typeface="Consolas" panose="020B0609020204030204" pitchFamily="49" charset="0"/>
                <a:cs typeface="Consolas" panose="020B0609020204030204" pitchFamily="49" charset="0"/>
              </a:rPr>
              <a:t> [$</a:t>
            </a:r>
            <a:r>
              <a:rPr lang="en-GB" altLang="zh-CN" b="0" dirty="0" err="1">
                <a:latin typeface="Consolas" panose="020B0609020204030204" pitchFamily="49" charset="0"/>
                <a:cs typeface="Consolas" panose="020B0609020204030204" pitchFamily="49" charset="0"/>
              </a:rPr>
              <a:t>time_local</a:t>
            </a:r>
            <a:r>
              <a:rPr lang="en-GB" altLang="zh-CN" b="0" dirty="0">
                <a:latin typeface="Consolas" panose="020B0609020204030204" pitchFamily="49" charset="0"/>
                <a:cs typeface="Consolas" panose="020B0609020204030204" pitchFamily="49" charset="0"/>
              </a:rPr>
              <a:t>] "$request" $status $</a:t>
            </a:r>
            <a:r>
              <a:rPr lang="en-GB" altLang="zh-CN" b="0" dirty="0" err="1">
                <a:latin typeface="Consolas" panose="020B0609020204030204" pitchFamily="49" charset="0"/>
                <a:cs typeface="Consolas" panose="020B0609020204030204" pitchFamily="49" charset="0"/>
              </a:rPr>
              <a:t>body_bytes_sent</a:t>
            </a:r>
            <a:r>
              <a:rPr lang="en-GB" altLang="zh-CN" b="0" dirty="0">
                <a:latin typeface="Consolas" panose="020B0609020204030204" pitchFamily="49" charset="0"/>
                <a:cs typeface="Consolas" panose="020B0609020204030204" pitchFamily="49" charset="0"/>
              </a:rPr>
              <a:t> </a:t>
            </a:r>
            <a:br>
              <a:rPr lang="en-GB" altLang="zh-CN" b="0" dirty="0">
                <a:latin typeface="Consolas" panose="020B0609020204030204" pitchFamily="49" charset="0"/>
                <a:cs typeface="Consolas" panose="020B0609020204030204" pitchFamily="49" charset="0"/>
              </a:rPr>
            </a:br>
            <a:r>
              <a:rPr lang="en-GB" altLang="zh-CN" b="0" dirty="0">
                <a:latin typeface="Consolas" panose="020B0609020204030204" pitchFamily="49" charset="0"/>
                <a:cs typeface="Consolas" panose="020B0609020204030204" pitchFamily="49" charset="0"/>
              </a:rPr>
              <a:t>"$</a:t>
            </a:r>
            <a:r>
              <a:rPr lang="en-GB" altLang="zh-CN" b="0" dirty="0" err="1">
                <a:latin typeface="Consolas" panose="020B0609020204030204" pitchFamily="49" charset="0"/>
                <a:cs typeface="Consolas" panose="020B0609020204030204" pitchFamily="49" charset="0"/>
              </a:rPr>
              <a:t>http_referer</a:t>
            </a:r>
            <a:r>
              <a:rPr lang="en-GB" altLang="zh-CN" b="0" dirty="0">
                <a:latin typeface="Consolas" panose="020B0609020204030204" pitchFamily="49" charset="0"/>
                <a:cs typeface="Consolas" panose="020B0609020204030204" pitchFamily="49" charset="0"/>
              </a:rPr>
              <a:t>" "$</a:t>
            </a:r>
            <a:r>
              <a:rPr lang="en-GB" altLang="zh-CN" b="0" dirty="0" err="1">
                <a:latin typeface="Consolas" panose="020B0609020204030204" pitchFamily="49" charset="0"/>
                <a:cs typeface="Consolas" panose="020B0609020204030204" pitchFamily="49" charset="0"/>
              </a:rPr>
              <a:t>http_user_agent</a:t>
            </a:r>
            <a:r>
              <a:rPr lang="en-GB" altLang="zh-CN" b="0" dirty="0">
                <a:latin typeface="Consolas" panose="020B0609020204030204" pitchFamily="49" charset="0"/>
                <a:cs typeface="Consolas" panose="020B0609020204030204" pitchFamily="49" charset="0"/>
              </a:rPr>
              <a:t>" </a:t>
            </a:r>
            <a:endParaRPr lang="en-GB" altLang="zh-CN" b="0" dirty="0">
              <a:latin typeface="Consolas" panose="020B0609020204030204" pitchFamily="49" charset="0"/>
              <a:cs typeface="Consolas" panose="020B0609020204030204" pitchFamily="49" charset="0"/>
            </a:endParaRPr>
          </a:p>
          <a:p>
            <a:pPr lvl="1"/>
            <a:r>
              <a:rPr lang="en-US" altLang="zh-CN" b="1" dirty="0">
                <a:solidFill>
                  <a:srgbClr val="C00000"/>
                </a:solidFill>
                <a:latin typeface="+mn-lt"/>
              </a:rPr>
              <a:t>Task (simple log analysis)</a:t>
            </a:r>
            <a:r>
              <a:rPr lang="en-US" altLang="zh-CN" b="0" dirty="0">
                <a:latin typeface="+mn-lt"/>
              </a:rPr>
              <a:t>: how to</a:t>
            </a:r>
            <a:r>
              <a:rPr lang="zh-CN" altLang="en-US" b="0" dirty="0">
                <a:latin typeface="+mn-lt"/>
              </a:rPr>
              <a:t> </a:t>
            </a:r>
            <a:r>
              <a:rPr lang="en-US" altLang="zh-CN" dirty="0"/>
              <a:t>find top</a:t>
            </a:r>
            <a:r>
              <a:rPr lang="zh-CN" altLang="en-US" dirty="0"/>
              <a:t> </a:t>
            </a:r>
            <a:r>
              <a:rPr lang="en-US" altLang="zh-CN" dirty="0"/>
              <a:t>five popular pages?</a:t>
            </a:r>
            <a:endParaRPr lang="en-US" altLang="zh-CN" dirty="0"/>
          </a:p>
          <a:p>
            <a:pPr lvl="1"/>
            <a:endParaRPr lang="en-GB" altLang="zh-CN" b="0" dirty="0">
              <a:latin typeface="+mn-lt"/>
            </a:endParaRPr>
          </a:p>
          <a:p>
            <a:endParaRPr kumimoji="1" lang="zh-CN" altLang="en-US" dirty="0"/>
          </a:p>
        </p:txBody>
      </p:sp>
      <p:pic>
        <p:nvPicPr>
          <p:cNvPr id="7" name="图片 6"/>
          <p:cNvPicPr>
            <a:picLocks noChangeAspect="1"/>
          </p:cNvPicPr>
          <p:nvPr/>
        </p:nvPicPr>
        <p:blipFill>
          <a:blip r:embed="rId1"/>
          <a:stretch>
            <a:fillRect/>
          </a:stretch>
        </p:blipFill>
        <p:spPr>
          <a:xfrm>
            <a:off x="8425271" y="3107619"/>
            <a:ext cx="658440" cy="658440"/>
          </a:xfrm>
          <a:prstGeom prst="rect">
            <a:avLst/>
          </a:prstGeom>
          <a:solidFill>
            <a:schemeClr val="bg1"/>
          </a:solid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Old days:</a:t>
            </a:r>
            <a:r>
              <a:rPr kumimoji="1" lang="zh-CN" altLang="en-US" dirty="0"/>
              <a:t> </a:t>
            </a:r>
            <a:r>
              <a:rPr kumimoji="1" lang="en-US" altLang="zh-CN" dirty="0"/>
              <a:t>using command line to process the log </a:t>
            </a:r>
            <a:endParaRPr kumimoji="1" lang="zh-CN" altLang="en-US" dirty="0"/>
          </a:p>
        </p:txBody>
      </p:sp>
      <p:sp>
        <p:nvSpPr>
          <p:cNvPr id="3" name="内容占位符 2"/>
          <p:cNvSpPr>
            <a:spLocks noGrp="1"/>
          </p:cNvSpPr>
          <p:nvPr>
            <p:ph idx="1"/>
          </p:nvPr>
        </p:nvSpPr>
        <p:spPr>
          <a:xfrm>
            <a:off x="457200" y="2929508"/>
            <a:ext cx="8229600" cy="2227262"/>
          </a:xfrm>
        </p:spPr>
        <p:txBody>
          <a:bodyPr/>
          <a:lstStyle/>
          <a:p>
            <a:r>
              <a:rPr lang="en-US" altLang="zh-CN" b="0" dirty="0"/>
              <a:t>Find top</a:t>
            </a:r>
            <a:r>
              <a:rPr lang="zh-CN" altLang="en-US" b="0" dirty="0"/>
              <a:t> </a:t>
            </a:r>
            <a:r>
              <a:rPr lang="en-US" altLang="zh-CN" b="0" dirty="0"/>
              <a:t>five most</a:t>
            </a:r>
            <a:r>
              <a:rPr lang="zh-CN" altLang="en-US" b="0" dirty="0"/>
              <a:t> </a:t>
            </a:r>
            <a:r>
              <a:rPr lang="en-US" altLang="zh-CN" b="0" dirty="0"/>
              <a:t>popular pages w/ command line tools</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矩形 4"/>
          <p:cNvSpPr/>
          <p:nvPr/>
        </p:nvSpPr>
        <p:spPr>
          <a:xfrm>
            <a:off x="528638" y="1129308"/>
            <a:ext cx="8229600" cy="1754326"/>
          </a:xfrm>
          <a:prstGeom prst="rect">
            <a:avLst/>
          </a:prstGeom>
          <a:ln>
            <a:solidFill>
              <a:schemeClr val="tx1"/>
            </a:solidFill>
          </a:ln>
        </p:spPr>
        <p:txBody>
          <a:bodyPr wrap="square">
            <a:spAutoFit/>
          </a:bodyPr>
          <a:lstStyle/>
          <a:p>
            <a:r>
              <a:rPr lang="en-GB" altLang="zh-CN" dirty="0">
                <a:latin typeface="Consolas" panose="020B0609020204030204" pitchFamily="49" charset="0"/>
                <a:cs typeface="Consolas" panose="020B0609020204030204" pitchFamily="49" charset="0"/>
              </a:rPr>
              <a:t>216.58.210.78 - - [27/Feb/2015:17:55:11 +0000] </a:t>
            </a:r>
            <a:br>
              <a:rPr lang="en-GB" altLang="zh-CN" dirty="0">
                <a:latin typeface="Consolas" panose="020B0609020204030204" pitchFamily="49" charset="0"/>
                <a:cs typeface="Consolas" panose="020B0609020204030204" pitchFamily="49" charset="0"/>
              </a:rPr>
            </a:br>
            <a:r>
              <a:rPr lang="en-GB" altLang="zh-CN" dirty="0">
                <a:latin typeface="Consolas" panose="020B0609020204030204" pitchFamily="49" charset="0"/>
                <a:cs typeface="Consolas" panose="020B0609020204030204" pitchFamily="49" charset="0"/>
              </a:rPr>
              <a:t>"GET </a:t>
            </a:r>
            <a:r>
              <a:rPr lang="en-GB" altLang="zh-CN" dirty="0">
                <a:highlight>
                  <a:srgbClr val="FFFF00"/>
                </a:highlight>
                <a:latin typeface="Consolas" panose="020B0609020204030204" pitchFamily="49" charset="0"/>
                <a:cs typeface="Consolas" panose="020B0609020204030204" pitchFamily="49" charset="0"/>
              </a:rPr>
              <a:t>/</a:t>
            </a:r>
            <a:r>
              <a:rPr lang="en-GB" altLang="zh-CN" dirty="0" err="1">
                <a:highlight>
                  <a:srgbClr val="FFFF00"/>
                </a:highlight>
                <a:latin typeface="Consolas" panose="020B0609020204030204" pitchFamily="49" charset="0"/>
                <a:cs typeface="Consolas" panose="020B0609020204030204" pitchFamily="49" charset="0"/>
              </a:rPr>
              <a:t>css</a:t>
            </a:r>
            <a:r>
              <a:rPr lang="en-GB" altLang="zh-CN" dirty="0">
                <a:highlight>
                  <a:srgbClr val="FFFF00"/>
                </a:highlight>
                <a:latin typeface="Consolas" panose="020B0609020204030204" pitchFamily="49" charset="0"/>
                <a:cs typeface="Consolas" panose="020B0609020204030204" pitchFamily="49" charset="0"/>
              </a:rPr>
              <a:t>/</a:t>
            </a:r>
            <a:r>
              <a:rPr lang="en-GB" altLang="zh-CN" dirty="0" err="1">
                <a:highlight>
                  <a:srgbClr val="FFFF00"/>
                </a:highlight>
                <a:latin typeface="Consolas" panose="020B0609020204030204" pitchFamily="49" charset="0"/>
                <a:cs typeface="Consolas" panose="020B0609020204030204" pitchFamily="49" charset="0"/>
              </a:rPr>
              <a:t>typography.css</a:t>
            </a:r>
            <a:r>
              <a:rPr lang="en-GB" altLang="zh-CN" dirty="0">
                <a:latin typeface="Consolas" panose="020B0609020204030204" pitchFamily="49" charset="0"/>
                <a:cs typeface="Consolas" panose="020B0609020204030204" pitchFamily="49" charset="0"/>
              </a:rPr>
              <a:t> HTTP/1.1" 200 3377 "http://</a:t>
            </a:r>
            <a:r>
              <a:rPr lang="en-GB" altLang="zh-CN" dirty="0" err="1">
                <a:latin typeface="Consolas" panose="020B0609020204030204" pitchFamily="49" charset="0"/>
                <a:cs typeface="Consolas" panose="020B0609020204030204" pitchFamily="49" charset="0"/>
              </a:rPr>
              <a:t>martin.kleppmann.com</a:t>
            </a:r>
            <a:r>
              <a:rPr lang="en-GB" altLang="zh-CN" dirty="0">
                <a:latin typeface="Consolas" panose="020B0609020204030204" pitchFamily="49" charset="0"/>
                <a:cs typeface="Consolas" panose="020B0609020204030204" pitchFamily="49" charset="0"/>
              </a:rPr>
              <a:t>/" </a:t>
            </a:r>
            <a:br>
              <a:rPr lang="en-GB" altLang="zh-CN" dirty="0">
                <a:latin typeface="Consolas" panose="020B0609020204030204" pitchFamily="49" charset="0"/>
                <a:cs typeface="Consolas" panose="020B0609020204030204" pitchFamily="49" charset="0"/>
              </a:rPr>
            </a:br>
            <a:r>
              <a:rPr lang="en-GB" altLang="zh-CN" dirty="0">
                <a:latin typeface="Consolas" panose="020B0609020204030204" pitchFamily="49" charset="0"/>
                <a:cs typeface="Consolas" panose="020B0609020204030204" pitchFamily="49" charset="0"/>
              </a:rPr>
              <a:t>"Mozilla/5.0 (Macintosh; Intel Mac OS X 10_9_5) </a:t>
            </a:r>
            <a:r>
              <a:rPr lang="en-GB" altLang="zh-CN" dirty="0" err="1">
                <a:latin typeface="Consolas" panose="020B0609020204030204" pitchFamily="49" charset="0"/>
                <a:cs typeface="Consolas" panose="020B0609020204030204" pitchFamily="49" charset="0"/>
              </a:rPr>
              <a:t>AppleWebKit</a:t>
            </a:r>
            <a:r>
              <a:rPr lang="en-GB" altLang="zh-CN" dirty="0">
                <a:latin typeface="Consolas" panose="020B0609020204030204" pitchFamily="49" charset="0"/>
                <a:cs typeface="Consolas" panose="020B0609020204030204" pitchFamily="49" charset="0"/>
              </a:rPr>
              <a:t>/537.36 (KHTML, like Gecko) Chrome/40.0.2214.115 Safari/537.36" </a:t>
            </a:r>
            <a:endParaRPr lang="en-GB" altLang="zh-CN" dirty="0">
              <a:latin typeface="Consolas" panose="020B0609020204030204" pitchFamily="49" charset="0"/>
              <a:cs typeface="Consolas" panose="020B0609020204030204" pitchFamily="49" charset="0"/>
            </a:endParaRPr>
          </a:p>
        </p:txBody>
      </p:sp>
      <p:pic>
        <p:nvPicPr>
          <p:cNvPr id="6" name="图片 5"/>
          <p:cNvPicPr>
            <a:picLocks noChangeAspect="1"/>
          </p:cNvPicPr>
          <p:nvPr/>
        </p:nvPicPr>
        <p:blipFill>
          <a:blip r:embed="rId1"/>
          <a:stretch>
            <a:fillRect/>
          </a:stretch>
        </p:blipFill>
        <p:spPr>
          <a:xfrm>
            <a:off x="1911350" y="3297144"/>
            <a:ext cx="5321300" cy="2235200"/>
          </a:xfrm>
          <a:prstGeom prst="rect">
            <a:avLst/>
          </a:prstGeom>
        </p:spPr>
      </p:pic>
      <p:pic>
        <p:nvPicPr>
          <p:cNvPr id="7" name="图片 6"/>
          <p:cNvPicPr>
            <a:picLocks noChangeAspect="1"/>
          </p:cNvPicPr>
          <p:nvPr/>
        </p:nvPicPr>
        <p:blipFill>
          <a:blip r:embed="rId2"/>
          <a:stretch>
            <a:fillRect/>
          </a:stretch>
        </p:blipFill>
        <p:spPr>
          <a:xfrm>
            <a:off x="8357580" y="2199060"/>
            <a:ext cx="658440" cy="658440"/>
          </a:xfrm>
          <a:prstGeom prst="rect">
            <a:avLst/>
          </a:prstGeom>
          <a:solidFill>
            <a:schemeClr val="bg1"/>
          </a:solid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Use command line tools for batch processing</a:t>
            </a:r>
            <a:endParaRPr kumimoji="1" lang="zh-CN" altLang="en-US" dirty="0"/>
          </a:p>
        </p:txBody>
      </p:sp>
      <p:sp>
        <p:nvSpPr>
          <p:cNvPr id="3" name="内容占位符 2"/>
          <p:cNvSpPr>
            <a:spLocks noGrp="1"/>
          </p:cNvSpPr>
          <p:nvPr>
            <p:ph idx="1"/>
          </p:nvPr>
        </p:nvSpPr>
        <p:spPr>
          <a:xfrm>
            <a:off x="457200" y="1089506"/>
            <a:ext cx="8229600" cy="2403484"/>
          </a:xfrm>
        </p:spPr>
        <p:txBody>
          <a:bodyPr/>
          <a:lstStyle/>
          <a:p>
            <a:r>
              <a:rPr lang="en-US" altLang="zh-CN" b="0" dirty="0"/>
              <a:t>Find top five most popular pages</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1911350" y="1496044"/>
            <a:ext cx="5321300" cy="2235200"/>
          </a:xfrm>
          <a:prstGeom prst="rect">
            <a:avLst/>
          </a:prstGeom>
        </p:spPr>
      </p:pic>
      <p:sp>
        <p:nvSpPr>
          <p:cNvPr id="7" name="椭圆 6"/>
          <p:cNvSpPr/>
          <p:nvPr/>
        </p:nvSpPr>
        <p:spPr>
          <a:xfrm>
            <a:off x="525600" y="3949200"/>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8" name="椭圆 7"/>
          <p:cNvSpPr/>
          <p:nvPr/>
        </p:nvSpPr>
        <p:spPr>
          <a:xfrm>
            <a:off x="525600" y="4510800"/>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9" name="矩形 8"/>
          <p:cNvSpPr/>
          <p:nvPr/>
        </p:nvSpPr>
        <p:spPr>
          <a:xfrm>
            <a:off x="864000" y="3906000"/>
            <a:ext cx="1531188" cy="369332"/>
          </a:xfrm>
          <a:prstGeom prst="rect">
            <a:avLst/>
          </a:prstGeom>
        </p:spPr>
        <p:txBody>
          <a:bodyPr wrap="none">
            <a:spAutoFit/>
          </a:bodyPr>
          <a:lstStyle/>
          <a:p>
            <a:r>
              <a:rPr kumimoji="1" lang="en-US" altLang="zh-CN" dirty="0"/>
              <a:t>Read log file </a:t>
            </a:r>
            <a:endParaRPr lang="zh-CN" altLang="en-US" dirty="0"/>
          </a:p>
        </p:txBody>
      </p:sp>
      <p:sp>
        <p:nvSpPr>
          <p:cNvPr id="10" name="矩形 9"/>
          <p:cNvSpPr/>
          <p:nvPr/>
        </p:nvSpPr>
        <p:spPr>
          <a:xfrm>
            <a:off x="864000" y="4380670"/>
            <a:ext cx="3506088" cy="646331"/>
          </a:xfrm>
          <a:prstGeom prst="rect">
            <a:avLst/>
          </a:prstGeom>
        </p:spPr>
        <p:txBody>
          <a:bodyPr wrap="none">
            <a:spAutoFit/>
          </a:bodyPr>
          <a:lstStyle/>
          <a:p>
            <a:r>
              <a:rPr kumimoji="1" lang="en-US" altLang="zh-CN" dirty="0"/>
              <a:t>Filter the line,</a:t>
            </a:r>
            <a:r>
              <a:rPr kumimoji="1" lang="zh-CN" altLang="en-US" dirty="0"/>
              <a:t> </a:t>
            </a:r>
            <a:r>
              <a:rPr kumimoji="1" lang="en-US" altLang="zh-CN" dirty="0"/>
              <a:t>pick the 7</a:t>
            </a:r>
            <a:r>
              <a:rPr kumimoji="1" lang="en-US" altLang="zh-CN" baseline="30000" dirty="0"/>
              <a:t>th</a:t>
            </a:r>
            <a:r>
              <a:rPr kumimoji="1" lang="en-US" altLang="zh-CN" dirty="0"/>
              <a:t> token, </a:t>
            </a:r>
            <a:endParaRPr kumimoji="1" lang="en-US" altLang="zh-CN" dirty="0"/>
          </a:p>
          <a:p>
            <a:r>
              <a:rPr kumimoji="1" lang="en-US" altLang="zh-CN" dirty="0">
                <a:latin typeface="UbuntuMono"/>
              </a:rPr>
              <a:t>i.e., </a:t>
            </a:r>
            <a:r>
              <a:rPr lang="en-GB" altLang="zh-CN" dirty="0">
                <a:latin typeface="Consolas" panose="020B0609020204030204" pitchFamily="49" charset="0"/>
                <a:cs typeface="Consolas" panose="020B0609020204030204" pitchFamily="49" charset="0"/>
              </a:rPr>
              <a:t>/</a:t>
            </a:r>
            <a:r>
              <a:rPr lang="en-GB" altLang="zh-CN" dirty="0" err="1">
                <a:latin typeface="Consolas" panose="020B0609020204030204" pitchFamily="49" charset="0"/>
                <a:cs typeface="Consolas" panose="020B0609020204030204" pitchFamily="49" charset="0"/>
              </a:rPr>
              <a:t>css</a:t>
            </a:r>
            <a:r>
              <a:rPr lang="en-GB" altLang="zh-CN" dirty="0">
                <a:latin typeface="Consolas" panose="020B0609020204030204" pitchFamily="49" charset="0"/>
                <a:cs typeface="Consolas" panose="020B0609020204030204" pitchFamily="49" charset="0"/>
              </a:rPr>
              <a:t>/</a:t>
            </a:r>
            <a:r>
              <a:rPr lang="en-GB" altLang="zh-CN" dirty="0" err="1">
                <a:latin typeface="Consolas" panose="020B0609020204030204" pitchFamily="49" charset="0"/>
                <a:cs typeface="Consolas" panose="020B0609020204030204" pitchFamily="49" charset="0"/>
              </a:rPr>
              <a:t>typography.css</a:t>
            </a:r>
            <a:r>
              <a:rPr lang="en-GB" altLang="zh-CN" dirty="0">
                <a:latin typeface="Consolas" panose="020B0609020204030204" pitchFamily="49" charset="0"/>
                <a:cs typeface="Consolas" panose="020B0609020204030204" pitchFamily="49" charset="0"/>
              </a:rPr>
              <a:t> </a:t>
            </a:r>
            <a:endParaRPr lang="zh-CN" altLang="en-US" dirty="0">
              <a:latin typeface="Consolas" panose="020B0609020204030204" pitchFamily="49" charset="0"/>
              <a:cs typeface="Consolas" panose="020B0609020204030204" pitchFamily="49" charset="0"/>
            </a:endParaRPr>
          </a:p>
        </p:txBody>
      </p:sp>
      <p:sp>
        <p:nvSpPr>
          <p:cNvPr id="11" name="椭圆 10"/>
          <p:cNvSpPr/>
          <p:nvPr/>
        </p:nvSpPr>
        <p:spPr>
          <a:xfrm>
            <a:off x="525600" y="5032800"/>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2" name="矩形 11"/>
          <p:cNvSpPr/>
          <p:nvPr/>
        </p:nvSpPr>
        <p:spPr>
          <a:xfrm>
            <a:off x="864000" y="4989600"/>
            <a:ext cx="3347959" cy="646331"/>
          </a:xfrm>
          <a:prstGeom prst="rect">
            <a:avLst/>
          </a:prstGeom>
        </p:spPr>
        <p:txBody>
          <a:bodyPr wrap="square">
            <a:spAutoFit/>
          </a:bodyPr>
          <a:lstStyle/>
          <a:p>
            <a:r>
              <a:rPr kumimoji="1" lang="en-US" altLang="zh-CN" dirty="0"/>
              <a:t>Sort so that the same requests come together </a:t>
            </a:r>
            <a:endParaRPr lang="zh-CN" altLang="en-US" dirty="0"/>
          </a:p>
        </p:txBody>
      </p:sp>
      <p:sp>
        <p:nvSpPr>
          <p:cNvPr id="13" name="椭圆 12"/>
          <p:cNvSpPr/>
          <p:nvPr/>
        </p:nvSpPr>
        <p:spPr>
          <a:xfrm>
            <a:off x="4722047" y="3949200"/>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4" name="矩形 13"/>
          <p:cNvSpPr/>
          <p:nvPr/>
        </p:nvSpPr>
        <p:spPr>
          <a:xfrm>
            <a:off x="5046047" y="3906000"/>
            <a:ext cx="4134465" cy="369332"/>
          </a:xfrm>
          <a:prstGeom prst="rect">
            <a:avLst/>
          </a:prstGeom>
        </p:spPr>
        <p:txBody>
          <a:bodyPr wrap="none">
            <a:spAutoFit/>
          </a:bodyPr>
          <a:lstStyle/>
          <a:p>
            <a:r>
              <a:rPr lang="en-US" altLang="zh-CN" dirty="0"/>
              <a:t>Aggregate,</a:t>
            </a:r>
            <a:r>
              <a:rPr lang="zh-CN" altLang="en-US" dirty="0"/>
              <a:t> </a:t>
            </a:r>
            <a:r>
              <a:rPr lang="en-US" altLang="zh-CN" dirty="0"/>
              <a:t>with</a:t>
            </a:r>
            <a:r>
              <a:rPr lang="zh-CN" altLang="en-US" dirty="0"/>
              <a:t> </a:t>
            </a:r>
            <a:r>
              <a:rPr lang="en-US" altLang="zh-CN" dirty="0"/>
              <a:t>a</a:t>
            </a:r>
            <a:r>
              <a:rPr lang="zh-CN" altLang="en-US" dirty="0"/>
              <a:t> </a:t>
            </a:r>
            <a:r>
              <a:rPr lang="en-US" altLang="zh-CN" dirty="0"/>
              <a:t>counter for</a:t>
            </a:r>
            <a:r>
              <a:rPr lang="zh-CN" altLang="en-US" dirty="0"/>
              <a:t> </a:t>
            </a:r>
            <a:r>
              <a:rPr lang="en-US" altLang="zh-CN" dirty="0"/>
              <a:t>each</a:t>
            </a:r>
            <a:r>
              <a:rPr lang="zh-CN" altLang="en-US" dirty="0"/>
              <a:t> </a:t>
            </a:r>
            <a:r>
              <a:rPr lang="en-US" altLang="zh-CN" dirty="0"/>
              <a:t>line</a:t>
            </a:r>
            <a:endParaRPr lang="zh-CN" altLang="en-US" dirty="0"/>
          </a:p>
        </p:txBody>
      </p:sp>
      <p:sp>
        <p:nvSpPr>
          <p:cNvPr id="15" name="椭圆 14"/>
          <p:cNvSpPr/>
          <p:nvPr/>
        </p:nvSpPr>
        <p:spPr>
          <a:xfrm>
            <a:off x="4722047" y="4510800"/>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6" name="矩形 15"/>
          <p:cNvSpPr/>
          <p:nvPr/>
        </p:nvSpPr>
        <p:spPr>
          <a:xfrm>
            <a:off x="5046047" y="4469179"/>
            <a:ext cx="3223959" cy="369332"/>
          </a:xfrm>
          <a:prstGeom prst="rect">
            <a:avLst/>
          </a:prstGeom>
        </p:spPr>
        <p:txBody>
          <a:bodyPr wrap="none">
            <a:spAutoFit/>
          </a:bodyPr>
          <a:lstStyle/>
          <a:p>
            <a:r>
              <a:rPr lang="en-US" altLang="zh-CN" dirty="0"/>
              <a:t>Sort again</a:t>
            </a:r>
            <a:r>
              <a:rPr lang="zh-CN" altLang="en-US" dirty="0"/>
              <a:t> </a:t>
            </a:r>
            <a:r>
              <a:rPr lang="en-US" altLang="zh-CN" dirty="0"/>
              <a:t>(using</a:t>
            </a:r>
            <a:r>
              <a:rPr lang="zh-CN" altLang="en-US" dirty="0"/>
              <a:t> </a:t>
            </a:r>
            <a:r>
              <a:rPr lang="en-US" altLang="zh-CN" dirty="0"/>
              <a:t>the</a:t>
            </a:r>
            <a:r>
              <a:rPr lang="zh-CN" altLang="en-US" dirty="0"/>
              <a:t> </a:t>
            </a:r>
            <a:r>
              <a:rPr lang="en-US" altLang="zh-CN" dirty="0"/>
              <a:t>counter)</a:t>
            </a:r>
            <a:endParaRPr lang="zh-CN" altLang="en-US" dirty="0"/>
          </a:p>
        </p:txBody>
      </p:sp>
      <p:sp>
        <p:nvSpPr>
          <p:cNvPr id="17" name="椭圆 16"/>
          <p:cNvSpPr/>
          <p:nvPr/>
        </p:nvSpPr>
        <p:spPr>
          <a:xfrm>
            <a:off x="4722047" y="5032800"/>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8" name="矩形 17"/>
          <p:cNvSpPr/>
          <p:nvPr/>
        </p:nvSpPr>
        <p:spPr>
          <a:xfrm>
            <a:off x="5046047" y="4989600"/>
            <a:ext cx="1736373" cy="369332"/>
          </a:xfrm>
          <a:prstGeom prst="rect">
            <a:avLst/>
          </a:prstGeom>
        </p:spPr>
        <p:txBody>
          <a:bodyPr wrap="none">
            <a:spAutoFit/>
          </a:bodyPr>
          <a:lstStyle/>
          <a:p>
            <a:r>
              <a:rPr lang="en-US" altLang="zh-CN" dirty="0"/>
              <a:t>Print 1-5 items </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Does batch processing with command line tools </a:t>
            </a:r>
            <a:r>
              <a:rPr kumimoji="1" lang="en-US" altLang="zh-CN" b="1" dirty="0"/>
              <a:t>scale</a:t>
            </a:r>
            <a:r>
              <a:rPr kumimoji="1" lang="en-US" altLang="zh-CN" dirty="0"/>
              <a:t>? </a:t>
            </a:r>
            <a:endParaRPr kumimoji="1" lang="zh-CN" altLang="en-US" b="1" dirty="0"/>
          </a:p>
        </p:txBody>
      </p:sp>
      <p:sp>
        <p:nvSpPr>
          <p:cNvPr id="3" name="内容占位符 2"/>
          <p:cNvSpPr>
            <a:spLocks noGrp="1"/>
          </p:cNvSpPr>
          <p:nvPr>
            <p:ph idx="1"/>
          </p:nvPr>
        </p:nvSpPr>
        <p:spPr>
          <a:xfrm>
            <a:off x="457200" y="3649588"/>
            <a:ext cx="8229600" cy="1647374"/>
          </a:xfrm>
        </p:spPr>
        <p:txBody>
          <a:bodyPr/>
          <a:lstStyle/>
          <a:p>
            <a:r>
              <a:rPr kumimoji="1" lang="en-US" altLang="zh-CN" b="0" dirty="0"/>
              <a:t>Command line tools are mostly </a:t>
            </a:r>
            <a:r>
              <a:rPr kumimoji="1" lang="en-US" altLang="zh-CN" dirty="0">
                <a:solidFill>
                  <a:srgbClr val="C00000"/>
                </a:solidFill>
              </a:rPr>
              <a:t>single-threaded</a:t>
            </a:r>
            <a:r>
              <a:rPr kumimoji="1" lang="en-US" altLang="zh-CN" b="0" dirty="0"/>
              <a:t>, and </a:t>
            </a:r>
            <a:r>
              <a:rPr kumimoji="1" lang="en-US" altLang="zh-CN" dirty="0">
                <a:solidFill>
                  <a:srgbClr val="C00000"/>
                </a:solidFill>
              </a:rPr>
              <a:t>single-machine</a:t>
            </a:r>
            <a:endParaRPr kumimoji="1" lang="en-US" altLang="zh-CN" dirty="0">
              <a:solidFill>
                <a:srgbClr val="C00000"/>
              </a:solidFill>
            </a:endParaRPr>
          </a:p>
          <a:p>
            <a:pPr lvl="1"/>
            <a:r>
              <a:rPr kumimoji="1" lang="zh-CN" altLang="en-US" dirty="0"/>
              <a:t>     </a:t>
            </a:r>
            <a:r>
              <a:rPr kumimoji="1" lang="en-US" altLang="zh-CN" dirty="0"/>
              <a:t>:</a:t>
            </a:r>
            <a:r>
              <a:rPr kumimoji="1" lang="zh-CN" altLang="en-US" dirty="0"/>
              <a:t> </a:t>
            </a:r>
            <a:r>
              <a:rPr kumimoji="1" lang="en-US" altLang="zh-CN" dirty="0"/>
              <a:t>scalability is restricted by the disk capacity</a:t>
            </a:r>
            <a:endParaRPr kumimoji="1" lang="en-US" altLang="zh-CN" dirty="0"/>
          </a:p>
          <a:p>
            <a:pPr lvl="1"/>
            <a:r>
              <a:rPr kumimoji="1" lang="zh-CN" altLang="en-US" b="0" dirty="0"/>
              <a:t>     ～      </a:t>
            </a:r>
            <a:r>
              <a:rPr kumimoji="1" lang="en-US" altLang="zh-CN" b="0" dirty="0"/>
              <a:t> :</a:t>
            </a:r>
            <a:r>
              <a:rPr kumimoji="1" lang="zh-CN" altLang="en-US" b="0" dirty="0"/>
              <a:t> </a:t>
            </a:r>
            <a:r>
              <a:rPr kumimoji="1" lang="en-US" altLang="zh-CN" b="0" dirty="0"/>
              <a:t>restricted by single-thread computing power</a:t>
            </a:r>
            <a:endParaRPr kumimoji="1" lang="en-US" altLang="zh-CN" b="0" dirty="0"/>
          </a:p>
          <a:p>
            <a:pPr lvl="1"/>
            <a:r>
              <a:rPr kumimoji="1" lang="zh-CN" altLang="en-US" b="0" dirty="0"/>
              <a:t>     </a:t>
            </a:r>
            <a:r>
              <a:rPr kumimoji="1" lang="zh-CN" altLang="en-US" dirty="0"/>
              <a:t>～</a:t>
            </a:r>
            <a:r>
              <a:rPr kumimoji="1" lang="en-US" altLang="zh-CN" dirty="0"/>
              <a:t>   </a:t>
            </a:r>
            <a:r>
              <a:rPr kumimoji="1" lang="zh-CN" altLang="en-US" dirty="0"/>
              <a:t>   </a:t>
            </a:r>
            <a:r>
              <a:rPr kumimoji="1" lang="en-US" altLang="zh-CN" dirty="0"/>
              <a:t> :</a:t>
            </a:r>
            <a:r>
              <a:rPr kumimoji="1" lang="zh-CN" altLang="en-US" dirty="0"/>
              <a:t> </a:t>
            </a:r>
            <a:r>
              <a:rPr kumimoji="1" lang="en-US" altLang="zh-CN" dirty="0"/>
              <a:t>also</a:t>
            </a:r>
            <a:r>
              <a:rPr kumimoji="1" lang="zh-CN" altLang="en-US" dirty="0"/>
              <a:t> </a:t>
            </a:r>
            <a:r>
              <a:rPr kumimoji="1" lang="en-US" altLang="zh-CN" dirty="0"/>
              <a:t>restricted by the machine’s DRAM capacity</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911350" y="1129308"/>
            <a:ext cx="5321300" cy="2235200"/>
          </a:xfrm>
          <a:prstGeom prst="rect">
            <a:avLst/>
          </a:prstGeom>
          <a:ln w="19050">
            <a:solidFill>
              <a:schemeClr val="tx1"/>
            </a:solidFill>
          </a:ln>
        </p:spPr>
      </p:pic>
      <p:sp>
        <p:nvSpPr>
          <p:cNvPr id="6" name="椭圆 5"/>
          <p:cNvSpPr/>
          <p:nvPr/>
        </p:nvSpPr>
        <p:spPr>
          <a:xfrm>
            <a:off x="899592" y="4081636"/>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7" name="椭圆 6"/>
          <p:cNvSpPr/>
          <p:nvPr/>
        </p:nvSpPr>
        <p:spPr>
          <a:xfrm>
            <a:off x="903875" y="4473275"/>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8" name="椭圆 7"/>
          <p:cNvSpPr/>
          <p:nvPr/>
        </p:nvSpPr>
        <p:spPr>
          <a:xfrm>
            <a:off x="1547664" y="4473275"/>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9" name="椭圆 8"/>
          <p:cNvSpPr/>
          <p:nvPr/>
        </p:nvSpPr>
        <p:spPr>
          <a:xfrm>
            <a:off x="903875" y="4859946"/>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0" name="椭圆 9"/>
          <p:cNvSpPr/>
          <p:nvPr/>
        </p:nvSpPr>
        <p:spPr>
          <a:xfrm>
            <a:off x="1547664" y="4859946"/>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2" name="矩形 11"/>
          <p:cNvSpPr/>
          <p:nvPr/>
        </p:nvSpPr>
        <p:spPr>
          <a:xfrm>
            <a:off x="402894" y="4068324"/>
            <a:ext cx="5400600" cy="360040"/>
          </a:xfrm>
          <a:prstGeom prst="rect">
            <a:avLst/>
          </a:prstGeom>
          <a:noFill/>
          <a:ln w="25400">
            <a:solidFill>
              <a:srgbClr val="C00000"/>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标注 12"/>
          <p:cNvSpPr/>
          <p:nvPr/>
        </p:nvSpPr>
        <p:spPr>
          <a:xfrm>
            <a:off x="6444208" y="4022075"/>
            <a:ext cx="2304256" cy="510297"/>
          </a:xfrm>
          <a:prstGeom prst="wedgeRectCallout">
            <a:avLst>
              <a:gd name="adj1" fmla="val -67824"/>
              <a:gd name="adj2" fmla="val 17801"/>
            </a:avLst>
          </a:prstGeom>
          <a:solidFill>
            <a:schemeClr val="bg1"/>
          </a:solid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p:cNvSpPr txBox="1"/>
          <p:nvPr/>
        </p:nvSpPr>
        <p:spPr>
          <a:xfrm>
            <a:off x="6610795" y="4079094"/>
            <a:ext cx="2070410" cy="369332"/>
          </a:xfrm>
          <a:prstGeom prst="rect">
            <a:avLst/>
          </a:prstGeom>
          <a:noFill/>
        </p:spPr>
        <p:txBody>
          <a:bodyPr wrap="square">
            <a:spAutoFit/>
          </a:bodyPr>
          <a:lstStyle/>
          <a:p>
            <a:r>
              <a:rPr kumimoji="1" lang="en-US" altLang="zh-CN" b="0" dirty="0"/>
              <a:t>Scale using GFS</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Scaling log processing using RPC: step #1 </a:t>
            </a:r>
            <a:endParaRPr kumimoji="1" lang="zh-CN" altLang="en-US" dirty="0"/>
          </a:p>
        </p:txBody>
      </p:sp>
      <p:sp>
        <p:nvSpPr>
          <p:cNvPr id="3" name="内容占位符 2"/>
          <p:cNvSpPr>
            <a:spLocks noGrp="1"/>
          </p:cNvSpPr>
          <p:nvPr>
            <p:ph idx="1"/>
          </p:nvPr>
        </p:nvSpPr>
        <p:spPr>
          <a:xfrm>
            <a:off x="3779912" y="1129308"/>
            <a:ext cx="4968552" cy="1800200"/>
          </a:xfrm>
          <a:ln>
            <a:solidFill>
              <a:schemeClr val="tx1"/>
            </a:solidFill>
          </a:ln>
        </p:spPr>
        <p:txBody>
          <a:bodyPr>
            <a:normAutofit fontScale="92500"/>
          </a:bodyPr>
          <a:lstStyle/>
          <a:p>
            <a:pPr>
              <a:spcBef>
                <a:spcPts val="0"/>
              </a:spcBef>
            </a:pPr>
            <a:r>
              <a:rPr kumimoji="1" lang="en-US" altLang="zh-CN" b="0" dirty="0">
                <a:latin typeface="Consolas" panose="020B0609020204030204" pitchFamily="49" charset="0"/>
                <a:cs typeface="Consolas" panose="020B0609020204030204" pitchFamily="49" charset="0"/>
              </a:rPr>
              <a:t>for w in workers:</a:t>
            </a:r>
            <a:endParaRPr kumimoji="1" lang="en-US" altLang="zh-CN" b="0" dirty="0">
              <a:latin typeface="Consolas" panose="020B0609020204030204" pitchFamily="49" charset="0"/>
              <a:cs typeface="Consolas" panose="020B0609020204030204" pitchFamily="49" charset="0"/>
            </a:endParaRPr>
          </a:p>
          <a:p>
            <a:pPr>
              <a:spcBef>
                <a:spcPts val="0"/>
              </a:spcBef>
            </a:pPr>
            <a:r>
              <a:rPr kumimoji="1" lang="en-US" altLang="zh-CN" b="0" dirty="0">
                <a:latin typeface="Consolas" panose="020B0609020204030204" pitchFamily="49" charset="0"/>
                <a:cs typeface="Consolas" panose="020B0609020204030204" pitchFamily="49" charset="0"/>
              </a:rPr>
              <a:t>    </a:t>
            </a:r>
            <a:r>
              <a:rPr kumimoji="1" lang="en-US" altLang="zh-CN" b="0" dirty="0" err="1">
                <a:latin typeface="Consolas" panose="020B0609020204030204" pitchFamily="49" charset="0"/>
                <a:cs typeface="Consolas" panose="020B0609020204030204" pitchFamily="49" charset="0"/>
              </a:rPr>
              <a:t>execute_command</a:t>
            </a:r>
            <a:r>
              <a:rPr kumimoji="1" lang="en-US" altLang="zh-CN" b="0" dirty="0">
                <a:latin typeface="Consolas" panose="020B0609020204030204" pitchFamily="49" charset="0"/>
                <a:cs typeface="Consolas" panose="020B0609020204030204" pitchFamily="49" charset="0"/>
              </a:rPr>
              <a:t>(w,...) // parallelly</a:t>
            </a:r>
            <a:endParaRPr kumimoji="1" lang="en-US" altLang="zh-CN" b="0" dirty="0">
              <a:latin typeface="Consolas" panose="020B0609020204030204" pitchFamily="49" charset="0"/>
              <a:cs typeface="Consolas" panose="020B0609020204030204" pitchFamily="49" charset="0"/>
            </a:endParaRPr>
          </a:p>
          <a:p>
            <a:pPr>
              <a:spcBef>
                <a:spcPts val="0"/>
              </a:spcBef>
            </a:pPr>
            <a:r>
              <a:rPr kumimoji="1" lang="en-US" altLang="zh-CN" b="0" dirty="0">
                <a:solidFill>
                  <a:schemeClr val="bg1"/>
                </a:solidFill>
                <a:latin typeface="Consolas" panose="020B0609020204030204" pitchFamily="49" charset="0"/>
                <a:cs typeface="Consolas" panose="020B0609020204030204" pitchFamily="49" charset="0"/>
              </a:rPr>
              <a:t>res = []</a:t>
            </a:r>
            <a:endParaRPr kumimoji="1" lang="en-US" altLang="zh-CN" b="0" dirty="0">
              <a:solidFill>
                <a:schemeClr val="bg1"/>
              </a:solidFill>
              <a:latin typeface="Consolas" panose="020B0609020204030204" pitchFamily="49" charset="0"/>
              <a:cs typeface="Consolas" panose="020B0609020204030204" pitchFamily="49" charset="0"/>
            </a:endParaRPr>
          </a:p>
          <a:p>
            <a:pPr>
              <a:spcBef>
                <a:spcPts val="0"/>
              </a:spcBef>
            </a:pPr>
            <a:r>
              <a:rPr kumimoji="1" lang="en-US" altLang="zh-CN" b="0" dirty="0">
                <a:solidFill>
                  <a:schemeClr val="bg1"/>
                </a:solidFill>
                <a:latin typeface="Consolas" panose="020B0609020204030204" pitchFamily="49" charset="0"/>
                <a:cs typeface="Consolas" panose="020B0609020204030204" pitchFamily="49" charset="0"/>
              </a:rPr>
              <a:t>for machines in workers:</a:t>
            </a:r>
            <a:endParaRPr kumimoji="1" lang="en-US" altLang="zh-CN" b="0" dirty="0">
              <a:solidFill>
                <a:schemeClr val="bg1"/>
              </a:solidFill>
              <a:latin typeface="Consolas" panose="020B0609020204030204" pitchFamily="49" charset="0"/>
              <a:cs typeface="Consolas" panose="020B0609020204030204" pitchFamily="49" charset="0"/>
            </a:endParaRPr>
          </a:p>
          <a:p>
            <a:pPr>
              <a:spcBef>
                <a:spcPts val="0"/>
              </a:spcBef>
            </a:pPr>
            <a:r>
              <a:rPr kumimoji="1" lang="en-US" altLang="zh-CN" b="0" dirty="0">
                <a:solidFill>
                  <a:schemeClr val="bg1"/>
                </a:solidFill>
                <a:latin typeface="Consolas" panose="020B0609020204030204" pitchFamily="49" charset="0"/>
                <a:cs typeface="Consolas" panose="020B0609020204030204" pitchFamily="49" charset="0"/>
              </a:rPr>
              <a:t>    </a:t>
            </a:r>
            <a:r>
              <a:rPr kumimoji="1" lang="en-US" altLang="zh-CN" b="0" dirty="0" err="1">
                <a:solidFill>
                  <a:schemeClr val="bg1"/>
                </a:solidFill>
                <a:latin typeface="Consolas" panose="020B0609020204030204" pitchFamily="49" charset="0"/>
                <a:cs typeface="Consolas" panose="020B0609020204030204" pitchFamily="49" charset="0"/>
              </a:rPr>
              <a:t>res.append</a:t>
            </a:r>
            <a:r>
              <a:rPr kumimoji="1" lang="en-US" altLang="zh-CN" b="0" dirty="0">
                <a:solidFill>
                  <a:schemeClr val="bg1"/>
                </a:solidFill>
                <a:latin typeface="Consolas" panose="020B0609020204030204" pitchFamily="49" charset="0"/>
                <a:cs typeface="Consolas" panose="020B0609020204030204" pitchFamily="49" charset="0"/>
              </a:rPr>
              <a:t>(</a:t>
            </a:r>
            <a:r>
              <a:rPr kumimoji="1" lang="en-US" altLang="zh-CN" b="0" dirty="0" err="1">
                <a:solidFill>
                  <a:schemeClr val="bg1"/>
                </a:solidFill>
                <a:latin typeface="Consolas" panose="020B0609020204030204" pitchFamily="49" charset="0"/>
                <a:cs typeface="Consolas" panose="020B0609020204030204" pitchFamily="49" charset="0"/>
              </a:rPr>
              <a:t>get_res</a:t>
            </a:r>
            <a:r>
              <a:rPr kumimoji="1" lang="en-US" altLang="zh-CN" b="0" dirty="0">
                <a:solidFill>
                  <a:schemeClr val="bg1"/>
                </a:solidFill>
                <a:latin typeface="Consolas" panose="020B0609020204030204" pitchFamily="49" charset="0"/>
                <a:cs typeface="Consolas" panose="020B0609020204030204" pitchFamily="49" charset="0"/>
              </a:rPr>
              <a:t>(w))</a:t>
            </a:r>
            <a:endParaRPr kumimoji="1" lang="zh-CN" altLang="en-US" b="0" dirty="0">
              <a:solidFill>
                <a:schemeClr val="bg1"/>
              </a:solidFill>
              <a:latin typeface="Consolas" panose="020B0609020204030204" pitchFamily="49" charset="0"/>
              <a:cs typeface="Consolas" panose="020B0609020204030204" pitchFamily="49" charset="0"/>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827584" y="4585692"/>
            <a:ext cx="936104" cy="936104"/>
          </a:xfrm>
          <a:prstGeom prst="rect">
            <a:avLst/>
          </a:prstGeom>
        </p:spPr>
      </p:pic>
      <p:pic>
        <p:nvPicPr>
          <p:cNvPr id="6" name="图片 5"/>
          <p:cNvPicPr>
            <a:picLocks noChangeAspect="1"/>
          </p:cNvPicPr>
          <p:nvPr/>
        </p:nvPicPr>
        <p:blipFill>
          <a:blip r:embed="rId1"/>
          <a:stretch>
            <a:fillRect/>
          </a:stretch>
        </p:blipFill>
        <p:spPr>
          <a:xfrm>
            <a:off x="2267744" y="4585692"/>
            <a:ext cx="936104" cy="936104"/>
          </a:xfrm>
          <a:prstGeom prst="rect">
            <a:avLst/>
          </a:prstGeom>
        </p:spPr>
      </p:pic>
      <p:pic>
        <p:nvPicPr>
          <p:cNvPr id="7" name="图片 6"/>
          <p:cNvPicPr>
            <a:picLocks noChangeAspect="1"/>
          </p:cNvPicPr>
          <p:nvPr/>
        </p:nvPicPr>
        <p:blipFill>
          <a:blip r:embed="rId1"/>
          <a:stretch>
            <a:fillRect/>
          </a:stretch>
        </p:blipFill>
        <p:spPr>
          <a:xfrm>
            <a:off x="3707904" y="4581499"/>
            <a:ext cx="936104" cy="936104"/>
          </a:xfrm>
          <a:prstGeom prst="rect">
            <a:avLst/>
          </a:prstGeom>
        </p:spPr>
      </p:pic>
      <p:pic>
        <p:nvPicPr>
          <p:cNvPr id="8" name="图片 7"/>
          <p:cNvPicPr>
            <a:picLocks noChangeAspect="1"/>
          </p:cNvPicPr>
          <p:nvPr/>
        </p:nvPicPr>
        <p:blipFill>
          <a:blip r:embed="rId1"/>
          <a:stretch>
            <a:fillRect/>
          </a:stretch>
        </p:blipFill>
        <p:spPr>
          <a:xfrm>
            <a:off x="6228184" y="4585692"/>
            <a:ext cx="936104" cy="936104"/>
          </a:xfrm>
          <a:prstGeom prst="rect">
            <a:avLst/>
          </a:prstGeom>
        </p:spPr>
      </p:pic>
      <p:pic>
        <p:nvPicPr>
          <p:cNvPr id="9" name="图片 8"/>
          <p:cNvPicPr>
            <a:picLocks noChangeAspect="1"/>
          </p:cNvPicPr>
          <p:nvPr/>
        </p:nvPicPr>
        <p:blipFill>
          <a:blip r:embed="rId1"/>
          <a:stretch>
            <a:fillRect/>
          </a:stretch>
        </p:blipFill>
        <p:spPr>
          <a:xfrm>
            <a:off x="827584" y="1381336"/>
            <a:ext cx="936104" cy="936104"/>
          </a:xfrm>
          <a:prstGeom prst="rect">
            <a:avLst/>
          </a:prstGeom>
        </p:spPr>
      </p:pic>
      <p:pic>
        <p:nvPicPr>
          <p:cNvPr id="10" name="图片 9"/>
          <p:cNvPicPr>
            <a:picLocks noChangeAspect="1"/>
          </p:cNvPicPr>
          <p:nvPr/>
        </p:nvPicPr>
        <p:blipFill>
          <a:blip r:embed="rId2"/>
          <a:stretch>
            <a:fillRect/>
          </a:stretch>
        </p:blipFill>
        <p:spPr>
          <a:xfrm>
            <a:off x="181352" y="3721596"/>
            <a:ext cx="2228568" cy="936105"/>
          </a:xfrm>
          <a:prstGeom prst="rect">
            <a:avLst/>
          </a:prstGeom>
          <a:ln w="19050">
            <a:solidFill>
              <a:schemeClr val="tx1"/>
            </a:solidFill>
          </a:ln>
        </p:spPr>
      </p:pic>
      <p:pic>
        <p:nvPicPr>
          <p:cNvPr id="11" name="图片 10"/>
          <p:cNvPicPr>
            <a:picLocks noChangeAspect="1"/>
          </p:cNvPicPr>
          <p:nvPr/>
        </p:nvPicPr>
        <p:blipFill>
          <a:blip r:embed="rId2"/>
          <a:stretch>
            <a:fillRect/>
          </a:stretch>
        </p:blipFill>
        <p:spPr>
          <a:xfrm>
            <a:off x="1717783" y="3712325"/>
            <a:ext cx="2228568" cy="936105"/>
          </a:xfrm>
          <a:prstGeom prst="rect">
            <a:avLst/>
          </a:prstGeom>
          <a:ln w="19050">
            <a:solidFill>
              <a:schemeClr val="tx1"/>
            </a:solidFill>
          </a:ln>
        </p:spPr>
      </p:pic>
      <p:pic>
        <p:nvPicPr>
          <p:cNvPr id="12" name="图片 11"/>
          <p:cNvPicPr>
            <a:picLocks noChangeAspect="1"/>
          </p:cNvPicPr>
          <p:nvPr/>
        </p:nvPicPr>
        <p:blipFill>
          <a:blip r:embed="rId2"/>
          <a:stretch>
            <a:fillRect/>
          </a:stretch>
        </p:blipFill>
        <p:spPr>
          <a:xfrm>
            <a:off x="3295723" y="3711470"/>
            <a:ext cx="2228568" cy="936105"/>
          </a:xfrm>
          <a:prstGeom prst="rect">
            <a:avLst/>
          </a:prstGeom>
          <a:ln w="19050">
            <a:solidFill>
              <a:schemeClr val="tx1"/>
            </a:solidFill>
          </a:ln>
        </p:spPr>
      </p:pic>
      <p:pic>
        <p:nvPicPr>
          <p:cNvPr id="13" name="图片 12"/>
          <p:cNvPicPr>
            <a:picLocks noChangeAspect="1"/>
          </p:cNvPicPr>
          <p:nvPr/>
        </p:nvPicPr>
        <p:blipFill>
          <a:blip r:embed="rId2"/>
          <a:stretch>
            <a:fillRect/>
          </a:stretch>
        </p:blipFill>
        <p:spPr>
          <a:xfrm>
            <a:off x="5868144" y="3721596"/>
            <a:ext cx="2228568" cy="936105"/>
          </a:xfrm>
          <a:prstGeom prst="rect">
            <a:avLst/>
          </a:prstGeom>
          <a:ln w="19050">
            <a:solidFill>
              <a:schemeClr val="tx1"/>
            </a:solidFill>
          </a:ln>
        </p:spPr>
      </p:pic>
      <p:sp>
        <p:nvSpPr>
          <p:cNvPr id="15" name="矩形 14"/>
          <p:cNvSpPr/>
          <p:nvPr/>
        </p:nvSpPr>
        <p:spPr>
          <a:xfrm>
            <a:off x="4933460" y="3805773"/>
            <a:ext cx="72008" cy="100932"/>
          </a:xfrm>
          <a:prstGeom prst="rect">
            <a:avLst/>
          </a:prstGeom>
          <a:solidFill>
            <a:schemeClr val="bg1"/>
          </a:solidFill>
          <a:ln w="25400">
            <a:no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p:cNvSpPr txBox="1"/>
          <p:nvPr/>
        </p:nvSpPr>
        <p:spPr>
          <a:xfrm>
            <a:off x="4791434" y="3756211"/>
            <a:ext cx="284052" cy="200055"/>
          </a:xfrm>
          <a:prstGeom prst="rect">
            <a:avLst/>
          </a:prstGeom>
          <a:noFill/>
        </p:spPr>
        <p:txBody>
          <a:bodyPr wrap="none" rtlCol="0">
            <a:spAutoFit/>
          </a:bodyPr>
          <a:lstStyle/>
          <a:p>
            <a:r>
              <a:rPr kumimoji="1" lang="en-US" altLang="zh-CN" sz="700" dirty="0">
                <a:latin typeface="Consolas" panose="020B0609020204030204" pitchFamily="49" charset="0"/>
                <a:cs typeface="Consolas" panose="020B0609020204030204" pitchFamily="49" charset="0"/>
              </a:rPr>
              <a:t>.3</a:t>
            </a:r>
            <a:endParaRPr kumimoji="1" lang="zh-CN" altLang="en-US" sz="700" dirty="0">
              <a:latin typeface="Consolas" panose="020B0609020204030204" pitchFamily="49" charset="0"/>
              <a:cs typeface="Consolas" panose="020B0609020204030204" pitchFamily="49" charset="0"/>
            </a:endParaRPr>
          </a:p>
        </p:txBody>
      </p:sp>
      <p:sp>
        <p:nvSpPr>
          <p:cNvPr id="17" name="矩形 16"/>
          <p:cNvSpPr/>
          <p:nvPr/>
        </p:nvSpPr>
        <p:spPr>
          <a:xfrm>
            <a:off x="7524328" y="3793604"/>
            <a:ext cx="72008" cy="150493"/>
          </a:xfrm>
          <a:prstGeom prst="rect">
            <a:avLst/>
          </a:prstGeom>
          <a:solidFill>
            <a:schemeClr val="bg1"/>
          </a:solidFill>
          <a:ln w="25400">
            <a:no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p:cNvSpPr txBox="1"/>
          <p:nvPr/>
        </p:nvSpPr>
        <p:spPr>
          <a:xfrm>
            <a:off x="7382302" y="3764273"/>
            <a:ext cx="284052" cy="200055"/>
          </a:xfrm>
          <a:prstGeom prst="rect">
            <a:avLst/>
          </a:prstGeom>
          <a:noFill/>
        </p:spPr>
        <p:txBody>
          <a:bodyPr wrap="none" rtlCol="0">
            <a:spAutoFit/>
          </a:bodyPr>
          <a:lstStyle/>
          <a:p>
            <a:r>
              <a:rPr kumimoji="1" lang="en-US" altLang="zh-CN" sz="700" dirty="0">
                <a:latin typeface="Consolas" panose="020B0609020204030204" pitchFamily="49" charset="0"/>
                <a:cs typeface="Consolas" panose="020B0609020204030204" pitchFamily="49" charset="0"/>
              </a:rPr>
              <a:t>.4</a:t>
            </a:r>
            <a:endParaRPr kumimoji="1" lang="zh-CN" altLang="en-US" sz="700" dirty="0">
              <a:latin typeface="Consolas" panose="020B0609020204030204" pitchFamily="49" charset="0"/>
              <a:cs typeface="Consolas" panose="020B0609020204030204" pitchFamily="49" charset="0"/>
            </a:endParaRPr>
          </a:p>
        </p:txBody>
      </p:sp>
      <p:cxnSp>
        <p:nvCxnSpPr>
          <p:cNvPr id="19" name="直线连接符 18"/>
          <p:cNvCxnSpPr/>
          <p:nvPr/>
        </p:nvCxnSpPr>
        <p:spPr>
          <a:xfrm flipV="1">
            <a:off x="1907704" y="1129308"/>
            <a:ext cx="1872208" cy="4320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a:off x="1763688" y="2097011"/>
            <a:ext cx="2016224" cy="8158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任意形状 22"/>
          <p:cNvSpPr/>
          <p:nvPr/>
        </p:nvSpPr>
        <p:spPr>
          <a:xfrm>
            <a:off x="928914" y="1596571"/>
            <a:ext cx="3338286" cy="2075543"/>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任意形状 25"/>
          <p:cNvSpPr/>
          <p:nvPr/>
        </p:nvSpPr>
        <p:spPr>
          <a:xfrm>
            <a:off x="2753772" y="1748972"/>
            <a:ext cx="1665827" cy="2007240"/>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任意形状 26"/>
          <p:cNvSpPr/>
          <p:nvPr/>
        </p:nvSpPr>
        <p:spPr>
          <a:xfrm flipH="1">
            <a:off x="5257283" y="1767331"/>
            <a:ext cx="45905" cy="2007241"/>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任意形状 27"/>
          <p:cNvSpPr/>
          <p:nvPr/>
        </p:nvSpPr>
        <p:spPr>
          <a:xfrm flipH="1">
            <a:off x="5409682" y="1919732"/>
            <a:ext cx="1492675" cy="1649038"/>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nvSpPr>
        <p:spPr>
          <a:xfrm>
            <a:off x="5076056" y="4864885"/>
            <a:ext cx="811007" cy="369332"/>
          </a:xfrm>
          <a:prstGeom prst="rect">
            <a:avLst/>
          </a:prstGeom>
          <a:noFill/>
        </p:spPr>
        <p:txBody>
          <a:bodyPr wrap="square" rtlCol="0">
            <a:spAutoFit/>
          </a:bodyPr>
          <a:lstStyle/>
          <a:p>
            <a:pPr algn="ctr"/>
            <a:r>
              <a:rPr kumimoji="1" lang="en-US" altLang="zh-CN" dirty="0"/>
              <a:t>…</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From theory to reality </a:t>
            </a:r>
            <a:endParaRPr kumimoji="1" lang="zh-CN" altLang="en-US" dirty="0"/>
          </a:p>
        </p:txBody>
      </p:sp>
      <p:sp>
        <p:nvSpPr>
          <p:cNvPr id="3" name="内容占位符 2"/>
          <p:cNvSpPr>
            <a:spLocks noGrp="1"/>
          </p:cNvSpPr>
          <p:nvPr>
            <p:ph idx="1"/>
          </p:nvPr>
        </p:nvSpPr>
        <p:spPr/>
        <p:txBody>
          <a:bodyPr/>
          <a:lstStyle/>
          <a:p>
            <a:r>
              <a:rPr kumimoji="1" lang="en-US" altLang="zh-CN" dirty="0"/>
              <a:t>Strategy (in theory)  </a:t>
            </a:r>
            <a:endParaRPr kumimoji="1" lang="en-US" altLang="zh-CN" dirty="0"/>
          </a:p>
          <a:p>
            <a:pPr lvl="1"/>
            <a:r>
              <a:rPr kumimoji="1" lang="en-US" altLang="zh-CN" dirty="0"/>
              <a:t>Step 1: decompose the file into M pieces, count top 5 concurrently </a:t>
            </a:r>
            <a:endParaRPr kumimoji="1" lang="en-US" altLang="zh-CN" dirty="0"/>
          </a:p>
          <a:p>
            <a:pPr lvl="1"/>
            <a:r>
              <a:rPr kumimoji="1" lang="en-US" altLang="zh-CN" dirty="0"/>
              <a:t>Step 2: merge the top 5 from all the others &amp; calculate the final top 5</a:t>
            </a:r>
            <a:endParaRPr kumimoji="1" lang="zh-CN" altLang="en-US" dirty="0"/>
          </a:p>
          <a:p>
            <a:r>
              <a:rPr kumimoji="1" lang="en-US" altLang="zh-CN" dirty="0"/>
              <a:t>Step #1 </a:t>
            </a:r>
            <a:endParaRPr kumimoji="1" lang="en-US" altLang="zh-CN" dirty="0"/>
          </a:p>
          <a:p>
            <a:pPr lvl="1"/>
            <a:r>
              <a:rPr kumimoji="1" lang="en-US" altLang="zh-CN" dirty="0"/>
              <a:t>How to decompose? How to assign threads to do chunks? </a:t>
            </a:r>
            <a:endParaRPr kumimoji="1" lang="en-US" altLang="zh-CN" dirty="0"/>
          </a:p>
          <a:p>
            <a:pPr lvl="1"/>
            <a:r>
              <a:rPr kumimoji="1" lang="en-US" altLang="zh-CN" b="1" dirty="0"/>
              <a:t>Try #1:  </a:t>
            </a:r>
            <a:r>
              <a:rPr kumimoji="1" lang="en-US" altLang="zh-CN" dirty="0"/>
              <a:t>RPC to M machines, run the program, each given a different file</a:t>
            </a:r>
            <a:endParaRPr kumimoji="1" lang="en-US" altLang="zh-CN" dirty="0"/>
          </a:p>
          <a:p>
            <a:r>
              <a:rPr kumimoji="1" lang="en-US" altLang="zh-CN" dirty="0"/>
              <a:t>Question</a:t>
            </a:r>
            <a:endParaRPr kumimoji="1" lang="en-US" altLang="zh-CN" dirty="0"/>
          </a:p>
          <a:p>
            <a:pPr lvl="1"/>
            <a:r>
              <a:rPr kumimoji="1" lang="en-US" altLang="zh-CN" dirty="0"/>
              <a:t>How can we collect the results from all the others?  </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Scaling log processing using RPC: step #2</a:t>
            </a:r>
            <a:endParaRPr kumimoji="1" lang="zh-CN" altLang="en-US" dirty="0"/>
          </a:p>
        </p:txBody>
      </p:sp>
      <p:sp>
        <p:nvSpPr>
          <p:cNvPr id="3" name="内容占位符 2"/>
          <p:cNvSpPr>
            <a:spLocks noGrp="1"/>
          </p:cNvSpPr>
          <p:nvPr>
            <p:ph idx="1"/>
          </p:nvPr>
        </p:nvSpPr>
        <p:spPr>
          <a:xfrm>
            <a:off x="3779912" y="1129308"/>
            <a:ext cx="4968552" cy="1800200"/>
          </a:xfrm>
          <a:ln>
            <a:solidFill>
              <a:schemeClr val="tx1"/>
            </a:solidFill>
          </a:ln>
        </p:spPr>
        <p:txBody>
          <a:bodyPr>
            <a:normAutofit fontScale="92500"/>
          </a:bodyPr>
          <a:lstStyle/>
          <a:p>
            <a:pPr>
              <a:spcBef>
                <a:spcPts val="0"/>
              </a:spcBef>
            </a:pPr>
            <a:r>
              <a:rPr kumimoji="1" lang="en-US" altLang="zh-CN" b="0" dirty="0">
                <a:solidFill>
                  <a:schemeClr val="accent6"/>
                </a:solidFill>
                <a:latin typeface="Consolas" panose="020B0609020204030204" pitchFamily="49" charset="0"/>
                <a:cs typeface="Consolas" panose="020B0609020204030204" pitchFamily="49" charset="0"/>
              </a:rPr>
              <a:t>for w in workers:</a:t>
            </a:r>
            <a:endParaRPr kumimoji="1" lang="en-US" altLang="zh-CN" b="0" dirty="0">
              <a:solidFill>
                <a:schemeClr val="accent6"/>
              </a:solidFill>
              <a:latin typeface="Consolas" panose="020B0609020204030204" pitchFamily="49" charset="0"/>
              <a:cs typeface="Consolas" panose="020B0609020204030204" pitchFamily="49" charset="0"/>
            </a:endParaRPr>
          </a:p>
          <a:p>
            <a:pPr>
              <a:spcBef>
                <a:spcPts val="0"/>
              </a:spcBef>
            </a:pPr>
            <a:r>
              <a:rPr kumimoji="1" lang="en-US" altLang="zh-CN" b="0" dirty="0">
                <a:solidFill>
                  <a:schemeClr val="accent6"/>
                </a:solidFill>
                <a:latin typeface="Consolas" panose="020B0609020204030204" pitchFamily="49" charset="0"/>
                <a:cs typeface="Consolas" panose="020B0609020204030204" pitchFamily="49" charset="0"/>
              </a:rPr>
              <a:t>    </a:t>
            </a:r>
            <a:r>
              <a:rPr kumimoji="1" lang="en-US" altLang="zh-CN" b="0" dirty="0" err="1">
                <a:solidFill>
                  <a:schemeClr val="accent6"/>
                </a:solidFill>
                <a:latin typeface="Consolas" panose="020B0609020204030204" pitchFamily="49" charset="0"/>
                <a:cs typeface="Consolas" panose="020B0609020204030204" pitchFamily="49" charset="0"/>
              </a:rPr>
              <a:t>execute_command</a:t>
            </a:r>
            <a:r>
              <a:rPr kumimoji="1" lang="en-US" altLang="zh-CN" b="0" dirty="0">
                <a:solidFill>
                  <a:schemeClr val="accent6"/>
                </a:solidFill>
                <a:latin typeface="Consolas" panose="020B0609020204030204" pitchFamily="49" charset="0"/>
                <a:cs typeface="Consolas" panose="020B0609020204030204" pitchFamily="49" charset="0"/>
              </a:rPr>
              <a:t>(w,...) // parallelly</a:t>
            </a:r>
            <a:endParaRPr kumimoji="1" lang="en-US" altLang="zh-CN" b="0" dirty="0">
              <a:solidFill>
                <a:schemeClr val="accent6"/>
              </a:solidFill>
              <a:latin typeface="Consolas" panose="020B0609020204030204" pitchFamily="49" charset="0"/>
              <a:cs typeface="Consolas" panose="020B0609020204030204" pitchFamily="49" charset="0"/>
            </a:endParaRPr>
          </a:p>
          <a:p>
            <a:pPr>
              <a:spcBef>
                <a:spcPts val="0"/>
              </a:spcBef>
            </a:pPr>
            <a:r>
              <a:rPr kumimoji="1" lang="en-US" altLang="zh-CN" b="0" dirty="0">
                <a:solidFill>
                  <a:schemeClr val="tx1"/>
                </a:solidFill>
                <a:latin typeface="Consolas" panose="020B0609020204030204" pitchFamily="49" charset="0"/>
                <a:cs typeface="Consolas" panose="020B0609020204030204" pitchFamily="49" charset="0"/>
              </a:rPr>
              <a:t>res = []</a:t>
            </a:r>
            <a:endParaRPr kumimoji="1" lang="en-US" altLang="zh-CN" b="0" dirty="0">
              <a:solidFill>
                <a:schemeClr val="tx1"/>
              </a:solidFill>
              <a:latin typeface="Consolas" panose="020B0609020204030204" pitchFamily="49" charset="0"/>
              <a:cs typeface="Consolas" panose="020B0609020204030204" pitchFamily="49" charset="0"/>
            </a:endParaRPr>
          </a:p>
          <a:p>
            <a:pPr>
              <a:spcBef>
                <a:spcPts val="0"/>
              </a:spcBef>
            </a:pPr>
            <a:r>
              <a:rPr kumimoji="1" lang="en-US" altLang="zh-CN" b="0" dirty="0">
                <a:solidFill>
                  <a:schemeClr val="tx1"/>
                </a:solidFill>
                <a:latin typeface="Consolas" panose="020B0609020204030204" pitchFamily="49" charset="0"/>
                <a:cs typeface="Consolas" panose="020B0609020204030204" pitchFamily="49" charset="0"/>
              </a:rPr>
              <a:t>for machines in workers:</a:t>
            </a:r>
            <a:endParaRPr kumimoji="1" lang="en-US" altLang="zh-CN" b="0" dirty="0">
              <a:solidFill>
                <a:schemeClr val="tx1"/>
              </a:solidFill>
              <a:latin typeface="Consolas" panose="020B0609020204030204" pitchFamily="49" charset="0"/>
              <a:cs typeface="Consolas" panose="020B0609020204030204" pitchFamily="49" charset="0"/>
            </a:endParaRPr>
          </a:p>
          <a:p>
            <a:pPr>
              <a:spcBef>
                <a:spcPts val="0"/>
              </a:spcBef>
            </a:pPr>
            <a:r>
              <a:rPr kumimoji="1" lang="en-US" altLang="zh-CN" b="0" dirty="0">
                <a:solidFill>
                  <a:schemeClr val="tx1"/>
                </a:solidFill>
                <a:latin typeface="Consolas" panose="020B0609020204030204" pitchFamily="49" charset="0"/>
                <a:cs typeface="Consolas" panose="020B0609020204030204" pitchFamily="49" charset="0"/>
              </a:rPr>
              <a:t>    </a:t>
            </a:r>
            <a:r>
              <a:rPr kumimoji="1" lang="en-US" altLang="zh-CN" b="0" dirty="0" err="1">
                <a:solidFill>
                  <a:schemeClr val="tx1"/>
                </a:solidFill>
                <a:latin typeface="Consolas" panose="020B0609020204030204" pitchFamily="49" charset="0"/>
                <a:cs typeface="Consolas" panose="020B0609020204030204" pitchFamily="49" charset="0"/>
              </a:rPr>
              <a:t>res.append</a:t>
            </a:r>
            <a:r>
              <a:rPr kumimoji="1" lang="en-US" altLang="zh-CN" b="0" dirty="0">
                <a:solidFill>
                  <a:schemeClr val="tx1"/>
                </a:solidFill>
                <a:latin typeface="Consolas" panose="020B0609020204030204" pitchFamily="49" charset="0"/>
                <a:cs typeface="Consolas" panose="020B0609020204030204" pitchFamily="49" charset="0"/>
              </a:rPr>
              <a:t>(</a:t>
            </a:r>
            <a:r>
              <a:rPr kumimoji="1" lang="en-US" altLang="zh-CN" b="0" dirty="0" err="1">
                <a:solidFill>
                  <a:schemeClr val="tx1"/>
                </a:solidFill>
                <a:latin typeface="Consolas" panose="020B0609020204030204" pitchFamily="49" charset="0"/>
                <a:cs typeface="Consolas" panose="020B0609020204030204" pitchFamily="49" charset="0"/>
              </a:rPr>
              <a:t>get_res</a:t>
            </a:r>
            <a:r>
              <a:rPr kumimoji="1" lang="en-US" altLang="zh-CN" b="0" dirty="0">
                <a:solidFill>
                  <a:schemeClr val="tx1"/>
                </a:solidFill>
                <a:latin typeface="Consolas" panose="020B0609020204030204" pitchFamily="49" charset="0"/>
                <a:cs typeface="Consolas" panose="020B0609020204030204" pitchFamily="49" charset="0"/>
              </a:rPr>
              <a:t>(w))</a:t>
            </a:r>
            <a:endParaRPr kumimoji="1" lang="zh-CN" altLang="en-US" b="0" dirty="0">
              <a:solidFill>
                <a:schemeClr val="tx1"/>
              </a:solidFill>
              <a:latin typeface="Consolas" panose="020B0609020204030204" pitchFamily="49" charset="0"/>
              <a:cs typeface="Consolas" panose="020B0609020204030204" pitchFamily="49" charset="0"/>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827584" y="4585692"/>
            <a:ext cx="936104" cy="936104"/>
          </a:xfrm>
          <a:prstGeom prst="rect">
            <a:avLst/>
          </a:prstGeom>
        </p:spPr>
      </p:pic>
      <p:pic>
        <p:nvPicPr>
          <p:cNvPr id="6" name="图片 5"/>
          <p:cNvPicPr>
            <a:picLocks noChangeAspect="1"/>
          </p:cNvPicPr>
          <p:nvPr/>
        </p:nvPicPr>
        <p:blipFill>
          <a:blip r:embed="rId1"/>
          <a:stretch>
            <a:fillRect/>
          </a:stretch>
        </p:blipFill>
        <p:spPr>
          <a:xfrm>
            <a:off x="2267744" y="4585692"/>
            <a:ext cx="936104" cy="936104"/>
          </a:xfrm>
          <a:prstGeom prst="rect">
            <a:avLst/>
          </a:prstGeom>
        </p:spPr>
      </p:pic>
      <p:pic>
        <p:nvPicPr>
          <p:cNvPr id="7" name="图片 6"/>
          <p:cNvPicPr>
            <a:picLocks noChangeAspect="1"/>
          </p:cNvPicPr>
          <p:nvPr/>
        </p:nvPicPr>
        <p:blipFill>
          <a:blip r:embed="rId1"/>
          <a:stretch>
            <a:fillRect/>
          </a:stretch>
        </p:blipFill>
        <p:spPr>
          <a:xfrm>
            <a:off x="3707904" y="4581499"/>
            <a:ext cx="936104" cy="936104"/>
          </a:xfrm>
          <a:prstGeom prst="rect">
            <a:avLst/>
          </a:prstGeom>
        </p:spPr>
      </p:pic>
      <p:pic>
        <p:nvPicPr>
          <p:cNvPr id="8" name="图片 7"/>
          <p:cNvPicPr>
            <a:picLocks noChangeAspect="1"/>
          </p:cNvPicPr>
          <p:nvPr/>
        </p:nvPicPr>
        <p:blipFill>
          <a:blip r:embed="rId1"/>
          <a:stretch>
            <a:fillRect/>
          </a:stretch>
        </p:blipFill>
        <p:spPr>
          <a:xfrm>
            <a:off x="6228184" y="4585692"/>
            <a:ext cx="936104" cy="936104"/>
          </a:xfrm>
          <a:prstGeom prst="rect">
            <a:avLst/>
          </a:prstGeom>
        </p:spPr>
      </p:pic>
      <p:pic>
        <p:nvPicPr>
          <p:cNvPr id="9" name="图片 8"/>
          <p:cNvPicPr>
            <a:picLocks noChangeAspect="1"/>
          </p:cNvPicPr>
          <p:nvPr/>
        </p:nvPicPr>
        <p:blipFill>
          <a:blip r:embed="rId1"/>
          <a:stretch>
            <a:fillRect/>
          </a:stretch>
        </p:blipFill>
        <p:spPr>
          <a:xfrm>
            <a:off x="827584" y="1381336"/>
            <a:ext cx="936104" cy="936104"/>
          </a:xfrm>
          <a:prstGeom prst="rect">
            <a:avLst/>
          </a:prstGeom>
        </p:spPr>
      </p:pic>
      <p:pic>
        <p:nvPicPr>
          <p:cNvPr id="10" name="图片 9"/>
          <p:cNvPicPr>
            <a:picLocks noChangeAspect="1"/>
          </p:cNvPicPr>
          <p:nvPr/>
        </p:nvPicPr>
        <p:blipFill>
          <a:blip r:embed="rId2"/>
          <a:stretch>
            <a:fillRect/>
          </a:stretch>
        </p:blipFill>
        <p:spPr>
          <a:xfrm>
            <a:off x="181352" y="3721596"/>
            <a:ext cx="2228568" cy="936105"/>
          </a:xfrm>
          <a:prstGeom prst="rect">
            <a:avLst/>
          </a:prstGeom>
          <a:ln w="19050">
            <a:solidFill>
              <a:schemeClr val="tx1"/>
            </a:solidFill>
          </a:ln>
        </p:spPr>
      </p:pic>
      <p:pic>
        <p:nvPicPr>
          <p:cNvPr id="11" name="图片 10"/>
          <p:cNvPicPr>
            <a:picLocks noChangeAspect="1"/>
          </p:cNvPicPr>
          <p:nvPr/>
        </p:nvPicPr>
        <p:blipFill>
          <a:blip r:embed="rId2"/>
          <a:stretch>
            <a:fillRect/>
          </a:stretch>
        </p:blipFill>
        <p:spPr>
          <a:xfrm>
            <a:off x="1717783" y="3712325"/>
            <a:ext cx="2228568" cy="936105"/>
          </a:xfrm>
          <a:prstGeom prst="rect">
            <a:avLst/>
          </a:prstGeom>
          <a:ln w="19050">
            <a:solidFill>
              <a:schemeClr val="tx1"/>
            </a:solidFill>
          </a:ln>
        </p:spPr>
      </p:pic>
      <p:pic>
        <p:nvPicPr>
          <p:cNvPr id="12" name="图片 11"/>
          <p:cNvPicPr>
            <a:picLocks noChangeAspect="1"/>
          </p:cNvPicPr>
          <p:nvPr/>
        </p:nvPicPr>
        <p:blipFill>
          <a:blip r:embed="rId2"/>
          <a:stretch>
            <a:fillRect/>
          </a:stretch>
        </p:blipFill>
        <p:spPr>
          <a:xfrm>
            <a:off x="3295723" y="3711470"/>
            <a:ext cx="2228568" cy="936105"/>
          </a:xfrm>
          <a:prstGeom prst="rect">
            <a:avLst/>
          </a:prstGeom>
          <a:ln w="19050">
            <a:solidFill>
              <a:schemeClr val="tx1"/>
            </a:solidFill>
          </a:ln>
        </p:spPr>
      </p:pic>
      <p:pic>
        <p:nvPicPr>
          <p:cNvPr id="13" name="图片 12"/>
          <p:cNvPicPr>
            <a:picLocks noChangeAspect="1"/>
          </p:cNvPicPr>
          <p:nvPr/>
        </p:nvPicPr>
        <p:blipFill>
          <a:blip r:embed="rId2"/>
          <a:stretch>
            <a:fillRect/>
          </a:stretch>
        </p:blipFill>
        <p:spPr>
          <a:xfrm>
            <a:off x="5868144" y="3721596"/>
            <a:ext cx="2228568" cy="936105"/>
          </a:xfrm>
          <a:prstGeom prst="rect">
            <a:avLst/>
          </a:prstGeom>
          <a:ln w="19050">
            <a:solidFill>
              <a:schemeClr val="tx1"/>
            </a:solidFill>
          </a:ln>
        </p:spPr>
      </p:pic>
      <p:sp>
        <p:nvSpPr>
          <p:cNvPr id="15" name="矩形 14"/>
          <p:cNvSpPr/>
          <p:nvPr/>
        </p:nvSpPr>
        <p:spPr>
          <a:xfrm>
            <a:off x="4933460" y="3805773"/>
            <a:ext cx="72008" cy="100932"/>
          </a:xfrm>
          <a:prstGeom prst="rect">
            <a:avLst/>
          </a:prstGeom>
          <a:solidFill>
            <a:schemeClr val="bg1"/>
          </a:solidFill>
          <a:ln w="25400">
            <a:no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p:cNvSpPr txBox="1"/>
          <p:nvPr/>
        </p:nvSpPr>
        <p:spPr>
          <a:xfrm>
            <a:off x="4791434" y="3756211"/>
            <a:ext cx="284052" cy="200055"/>
          </a:xfrm>
          <a:prstGeom prst="rect">
            <a:avLst/>
          </a:prstGeom>
          <a:noFill/>
        </p:spPr>
        <p:txBody>
          <a:bodyPr wrap="none" rtlCol="0">
            <a:spAutoFit/>
          </a:bodyPr>
          <a:lstStyle/>
          <a:p>
            <a:r>
              <a:rPr kumimoji="1" lang="en-US" altLang="zh-CN" sz="700" dirty="0">
                <a:latin typeface="Consolas" panose="020B0609020204030204" pitchFamily="49" charset="0"/>
                <a:cs typeface="Consolas" panose="020B0609020204030204" pitchFamily="49" charset="0"/>
              </a:rPr>
              <a:t>.3</a:t>
            </a:r>
            <a:endParaRPr kumimoji="1" lang="zh-CN" altLang="en-US" sz="700" dirty="0">
              <a:latin typeface="Consolas" panose="020B0609020204030204" pitchFamily="49" charset="0"/>
              <a:cs typeface="Consolas" panose="020B0609020204030204" pitchFamily="49" charset="0"/>
            </a:endParaRPr>
          </a:p>
        </p:txBody>
      </p:sp>
      <p:sp>
        <p:nvSpPr>
          <p:cNvPr id="17" name="矩形 16"/>
          <p:cNvSpPr/>
          <p:nvPr/>
        </p:nvSpPr>
        <p:spPr>
          <a:xfrm>
            <a:off x="7524328" y="3793604"/>
            <a:ext cx="72008" cy="150493"/>
          </a:xfrm>
          <a:prstGeom prst="rect">
            <a:avLst/>
          </a:prstGeom>
          <a:solidFill>
            <a:schemeClr val="bg1"/>
          </a:solidFill>
          <a:ln w="25400">
            <a:no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p:cNvSpPr txBox="1"/>
          <p:nvPr/>
        </p:nvSpPr>
        <p:spPr>
          <a:xfrm>
            <a:off x="7382302" y="3764273"/>
            <a:ext cx="284052" cy="200055"/>
          </a:xfrm>
          <a:prstGeom prst="rect">
            <a:avLst/>
          </a:prstGeom>
          <a:noFill/>
        </p:spPr>
        <p:txBody>
          <a:bodyPr wrap="none" rtlCol="0">
            <a:spAutoFit/>
          </a:bodyPr>
          <a:lstStyle/>
          <a:p>
            <a:r>
              <a:rPr kumimoji="1" lang="en-US" altLang="zh-CN" sz="700" dirty="0">
                <a:latin typeface="Consolas" panose="020B0609020204030204" pitchFamily="49" charset="0"/>
                <a:cs typeface="Consolas" panose="020B0609020204030204" pitchFamily="49" charset="0"/>
              </a:rPr>
              <a:t>.4</a:t>
            </a:r>
            <a:endParaRPr kumimoji="1" lang="zh-CN" altLang="en-US" sz="700" dirty="0">
              <a:latin typeface="Consolas" panose="020B0609020204030204" pitchFamily="49" charset="0"/>
              <a:cs typeface="Consolas" panose="020B0609020204030204" pitchFamily="49" charset="0"/>
            </a:endParaRPr>
          </a:p>
        </p:txBody>
      </p:sp>
      <p:cxnSp>
        <p:nvCxnSpPr>
          <p:cNvPr id="19" name="直线连接符 18"/>
          <p:cNvCxnSpPr/>
          <p:nvPr/>
        </p:nvCxnSpPr>
        <p:spPr>
          <a:xfrm flipV="1">
            <a:off x="1907704" y="1129308"/>
            <a:ext cx="1872208" cy="4320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a:off x="1763688" y="2097011"/>
            <a:ext cx="2016224" cy="8158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任意形状 22"/>
          <p:cNvSpPr/>
          <p:nvPr/>
        </p:nvSpPr>
        <p:spPr>
          <a:xfrm flipH="1" flipV="1">
            <a:off x="827584" y="2698103"/>
            <a:ext cx="4536506" cy="1056690"/>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任意形状 25"/>
          <p:cNvSpPr/>
          <p:nvPr/>
        </p:nvSpPr>
        <p:spPr>
          <a:xfrm flipH="1" flipV="1">
            <a:off x="2591716" y="2762152"/>
            <a:ext cx="3060404" cy="959441"/>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任意形状 26"/>
          <p:cNvSpPr/>
          <p:nvPr/>
        </p:nvSpPr>
        <p:spPr>
          <a:xfrm flipH="1" flipV="1">
            <a:off x="4123765" y="2790226"/>
            <a:ext cx="1838809" cy="937912"/>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任意形状 27"/>
          <p:cNvSpPr/>
          <p:nvPr/>
        </p:nvSpPr>
        <p:spPr>
          <a:xfrm flipV="1">
            <a:off x="6293070" y="2790226"/>
            <a:ext cx="151138" cy="936107"/>
          </a:xfrm>
          <a:custGeom>
            <a:avLst/>
            <a:gdLst>
              <a:gd name="connsiteX0" fmla="*/ 3338286 w 3338286"/>
              <a:gd name="connsiteY0" fmla="*/ 0 h 2075543"/>
              <a:gd name="connsiteX1" fmla="*/ 0 w 3338286"/>
              <a:gd name="connsiteY1" fmla="*/ 2075543 h 2075543"/>
            </a:gdLst>
            <a:ahLst/>
            <a:cxnLst>
              <a:cxn ang="0">
                <a:pos x="connsiteX0" y="connsiteY0"/>
              </a:cxn>
              <a:cxn ang="0">
                <a:pos x="connsiteX1" y="connsiteY1"/>
              </a:cxn>
            </a:cxnLst>
            <a:rect l="l" t="t" r="r" b="b"/>
            <a:pathLst>
              <a:path w="3338286" h="2075543">
                <a:moveTo>
                  <a:pt x="3338286" y="0"/>
                </a:moveTo>
                <a:lnTo>
                  <a:pt x="0" y="2075543"/>
                </a:lnTo>
              </a:path>
            </a:pathLst>
          </a:custGeom>
          <a:noFill/>
          <a:ln w="254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nvSpPr>
        <p:spPr>
          <a:xfrm>
            <a:off x="5076056" y="4864885"/>
            <a:ext cx="811007" cy="369332"/>
          </a:xfrm>
          <a:prstGeom prst="rect">
            <a:avLst/>
          </a:prstGeom>
          <a:noFill/>
        </p:spPr>
        <p:txBody>
          <a:bodyPr wrap="square" rtlCol="0">
            <a:spAutoFit/>
          </a:bodyPr>
          <a:lstStyle/>
          <a:p>
            <a:pPr algn="ctr"/>
            <a:r>
              <a:rPr kumimoji="1" lang="en-US" altLang="zh-CN" dirty="0"/>
              <a:t>…</a:t>
            </a:r>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2840" y="228866"/>
            <a:ext cx="8733656" cy="900442"/>
          </a:xfrm>
        </p:spPr>
        <p:txBody>
          <a:bodyPr/>
          <a:lstStyle/>
          <a:p>
            <a:r>
              <a:rPr kumimoji="1" lang="en-US" altLang="zh-CN" dirty="0"/>
              <a:t>Building application with distributed computing: old days</a:t>
            </a:r>
            <a:endParaRPr kumimoji="1" lang="zh-CN" altLang="en-US" dirty="0"/>
          </a:p>
        </p:txBody>
      </p:sp>
      <p:sp>
        <p:nvSpPr>
          <p:cNvPr id="3" name="内容占位符 2"/>
          <p:cNvSpPr>
            <a:spLocks noGrp="1"/>
          </p:cNvSpPr>
          <p:nvPr>
            <p:ph idx="1"/>
          </p:nvPr>
        </p:nvSpPr>
        <p:spPr/>
        <p:txBody>
          <a:bodyPr/>
          <a:lstStyle/>
          <a:p>
            <a:r>
              <a:rPr kumimoji="1" lang="en-GB" altLang="zh-CN" dirty="0">
                <a:solidFill>
                  <a:srgbClr val="C00000"/>
                </a:solidFill>
              </a:rPr>
              <a:t>ML</a:t>
            </a:r>
            <a:r>
              <a:rPr kumimoji="1" lang="en-GB" altLang="zh-CN" b="0" dirty="0"/>
              <a:t> </a:t>
            </a:r>
            <a:r>
              <a:rPr kumimoji="1" lang="en-GB" altLang="zh-CN" dirty="0">
                <a:solidFill>
                  <a:srgbClr val="C00000"/>
                </a:solidFill>
              </a:rPr>
              <a:t>experts</a:t>
            </a:r>
            <a:r>
              <a:rPr kumimoji="1" lang="en-GB" altLang="zh-CN" b="0" dirty="0"/>
              <a:t> repeatedly solve </a:t>
            </a:r>
            <a:r>
              <a:rPr kumimoji="1" lang="en-GB" altLang="zh-CN" dirty="0">
                <a:solidFill>
                  <a:srgbClr val="C00000"/>
                </a:solidFill>
              </a:rPr>
              <a:t>the same </a:t>
            </a:r>
            <a:r>
              <a:rPr kumimoji="1" lang="en-GB" altLang="zh-CN" b="0" dirty="0"/>
              <a:t>parallel design challenges</a:t>
            </a:r>
            <a:endParaRPr kumimoji="1" lang="en-GB" altLang="zh-CN" b="0" dirty="0"/>
          </a:p>
          <a:p>
            <a:pPr lvl="1"/>
            <a:r>
              <a:rPr kumimoji="1" lang="en-US" altLang="zh-CN" dirty="0"/>
              <a:t>Implement</a:t>
            </a:r>
            <a:r>
              <a:rPr kumimoji="1" lang="en-GB" altLang="zh-CN" dirty="0"/>
              <a:t> and debug complex parallel &amp; distributed systems</a:t>
            </a:r>
            <a:endParaRPr kumimoji="1" lang="en-GB" altLang="zh-CN" dirty="0"/>
          </a:p>
          <a:p>
            <a:pPr lvl="1"/>
            <a:r>
              <a:rPr kumimoji="1" lang="en-GB" altLang="zh-CN" dirty="0"/>
              <a:t>Tune for a specific parallel platform</a:t>
            </a:r>
            <a:endParaRPr kumimoji="1" lang="en-GB" altLang="zh-CN" dirty="0"/>
          </a:p>
          <a:p>
            <a:r>
              <a:rPr kumimoji="1" lang="en-GB" altLang="zh-CN" b="0" dirty="0"/>
              <a:t>6 months later, </a:t>
            </a:r>
            <a:r>
              <a:rPr kumimoji="1" lang="en-US" altLang="zh-CN" b="0" dirty="0"/>
              <a:t>a</a:t>
            </a:r>
            <a:r>
              <a:rPr kumimoji="1" lang="en-GB" altLang="zh-CN" b="0" dirty="0"/>
              <a:t> conference paper contains: </a:t>
            </a:r>
            <a:endParaRPr kumimoji="1" lang="en-GB" altLang="zh-CN" b="0" dirty="0"/>
          </a:p>
          <a:p>
            <a:endParaRPr kumimoji="1" lang="en-US" altLang="zh-CN" b="0" dirty="0"/>
          </a:p>
          <a:p>
            <a:endParaRPr kumimoji="1" lang="en-US" altLang="zh-CN" b="0" dirty="0"/>
          </a:p>
          <a:p>
            <a:r>
              <a:rPr kumimoji="1" lang="en-US" altLang="zh-CN" b="0" dirty="0"/>
              <a:t>However,</a:t>
            </a:r>
            <a:r>
              <a:rPr kumimoji="1" lang="zh-CN" altLang="en-US" b="0" dirty="0"/>
              <a:t> </a:t>
            </a:r>
            <a:r>
              <a:rPr kumimoji="1" lang="en-US" altLang="zh-CN" b="0" dirty="0"/>
              <a:t>the resulting </a:t>
            </a:r>
            <a:r>
              <a:rPr kumimoji="1" lang="en-US" altLang="zh-CN" dirty="0">
                <a:solidFill>
                  <a:srgbClr val="C00000"/>
                </a:solidFill>
              </a:rPr>
              <a:t>code</a:t>
            </a:r>
            <a:r>
              <a:rPr kumimoji="1" lang="zh-CN" altLang="en-US" dirty="0">
                <a:solidFill>
                  <a:srgbClr val="C00000"/>
                </a:solidFill>
              </a:rPr>
              <a:t> </a:t>
            </a:r>
            <a:r>
              <a:rPr kumimoji="1" lang="en-US" altLang="zh-CN" b="0" dirty="0"/>
              <a:t>will</a:t>
            </a:r>
            <a:r>
              <a:rPr kumimoji="1" lang="zh-CN" altLang="en-US" b="0" dirty="0"/>
              <a:t> </a:t>
            </a:r>
            <a:r>
              <a:rPr kumimoji="1" lang="en-US" altLang="zh-CN" b="0" dirty="0"/>
              <a:t>be</a:t>
            </a:r>
            <a:r>
              <a:rPr kumimoji="1" lang="zh-CN" altLang="en-US" b="0" dirty="0"/>
              <a:t> </a:t>
            </a:r>
            <a:r>
              <a:rPr kumimoji="1" lang="en-US" altLang="zh-CN" b="0" dirty="0"/>
              <a:t>difficult to </a:t>
            </a:r>
            <a:r>
              <a:rPr kumimoji="1" lang="en-US" altLang="zh-CN" b="1" dirty="0"/>
              <a:t>maintain</a:t>
            </a:r>
            <a:r>
              <a:rPr kumimoji="1" lang="en-US" altLang="zh-CN" b="0" dirty="0"/>
              <a:t> and </a:t>
            </a:r>
            <a:r>
              <a:rPr kumimoji="1" lang="en-US" altLang="zh-CN" b="1" dirty="0"/>
              <a:t>extend</a:t>
            </a:r>
            <a:endParaRPr kumimoji="1" lang="en-US" altLang="zh-CN" b="1" dirty="0"/>
          </a:p>
          <a:p>
            <a:endParaRPr kumimoji="1" lang="en-US" altLang="zh-CN"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6"/>
          <p:cNvSpPr/>
          <p:nvPr/>
        </p:nvSpPr>
        <p:spPr>
          <a:xfrm>
            <a:off x="457200" y="822195"/>
            <a:ext cx="2005677" cy="369332"/>
          </a:xfrm>
          <a:prstGeom prst="rect">
            <a:avLst/>
          </a:prstGeom>
        </p:spPr>
        <p:txBody>
          <a:bodyPr wrap="none">
            <a:spAutoFit/>
          </a:bodyPr>
          <a:lstStyle/>
          <a:p>
            <a:r>
              <a:rPr lang="en-GB" altLang="zh-CN">
                <a:solidFill>
                  <a:srgbClr val="FF0066"/>
                </a:solidFill>
              </a:rPr>
              <a:t>Graduate Student</a:t>
            </a:r>
            <a:endParaRPr lang="en-GB" altLang="zh-CN">
              <a:solidFill>
                <a:srgbClr val="FF0066"/>
              </a:solidFill>
            </a:endParaRPr>
          </a:p>
        </p:txBody>
      </p:sp>
      <p:cxnSp>
        <p:nvCxnSpPr>
          <p:cNvPr id="7" name="直线连接符 6"/>
          <p:cNvCxnSpPr/>
          <p:nvPr/>
        </p:nvCxnSpPr>
        <p:spPr>
          <a:xfrm>
            <a:off x="502677" y="1345332"/>
            <a:ext cx="126101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3"/>
          <p:cNvSpPr/>
          <p:nvPr/>
        </p:nvSpPr>
        <p:spPr>
          <a:xfrm>
            <a:off x="2151353" y="3058044"/>
            <a:ext cx="4984170" cy="344128"/>
          </a:xfrm>
          <a:prstGeom prst="rect">
            <a:avLst/>
          </a:prstGeom>
          <a:solidFill>
            <a:srgbClr val="F5FED6"/>
          </a:solidFill>
          <a:effectLst>
            <a:outerShdw blurRad="63500" sx="102000" sy="102000" algn="ctr" rotWithShape="0">
              <a:prstClr val="black">
                <a:alpha val="40000"/>
              </a:prstClr>
            </a:outerShdw>
          </a:effectLst>
        </p:spPr>
        <p:txBody>
          <a:bodyPr wrap="square" lIns="72000" tIns="0" rIns="72000" bIns="36000">
            <a:spAutoFit/>
          </a:bodyPr>
          <a:lstStyle/>
          <a:p>
            <a:pPr algn="ctr"/>
            <a:r>
              <a:rPr lang="en-US" altLang="zh-CN" sz="2000" dirty="0">
                <a:latin typeface="Eras Medium ITC" panose="020B0602030504020804" pitchFamily="34" charset="0"/>
              </a:rPr>
              <a:t>“We implemented ____ in parallel.”</a:t>
            </a:r>
            <a:endParaRPr lang="en-US" altLang="zh-CN" sz="2000" dirty="0">
              <a:latin typeface="Eras Medium ITC" panose="020B0602030504020804" pitchFamily="34" charset="0"/>
            </a:endParaRPr>
          </a:p>
        </p:txBody>
      </p:sp>
      <p:sp>
        <p:nvSpPr>
          <p:cNvPr id="11" name="Rectangle 13"/>
          <p:cNvSpPr/>
          <p:nvPr/>
        </p:nvSpPr>
        <p:spPr>
          <a:xfrm>
            <a:off x="1056049" y="4585692"/>
            <a:ext cx="7031902" cy="380480"/>
          </a:xfrm>
          <a:prstGeom prst="rect">
            <a:avLst/>
          </a:prstGeom>
          <a:solidFill>
            <a:srgbClr val="FFE7FF"/>
          </a:solidFill>
          <a:ln>
            <a:solidFill>
              <a:srgbClr val="7030A0"/>
            </a:solidFill>
          </a:ln>
          <a:effectLst>
            <a:outerShdw blurRad="63500" sx="102000" sy="102000" algn="ctr" rotWithShape="0">
              <a:prstClr val="black">
                <a:alpha val="40000"/>
              </a:prstClr>
            </a:outerShdw>
          </a:effectLst>
        </p:spPr>
        <p:txBody>
          <a:bodyPr wrap="square" lIns="108000" tIns="36000" rIns="108000" bIns="36000">
            <a:spAutoFit/>
          </a:bodyPr>
          <a:lstStyle/>
          <a:p>
            <a:pPr algn="ctr"/>
            <a:r>
              <a:rPr lang="en-US" altLang="zh-CN" sz="2000" b="1" dirty="0">
                <a:effectLst>
                  <a:outerShdw blurRad="38100" dist="38100" dir="2700000" algn="tl">
                    <a:srgbClr val="000000">
                      <a:alpha val="43137"/>
                    </a:srgbClr>
                  </a:outerShdw>
                </a:effectLst>
                <a:latin typeface="Eras Medium ITC" panose="020B0602030504020804" pitchFamily="34" charset="0"/>
              </a:rPr>
              <a:t>couples computation task with distributed implementation</a:t>
            </a:r>
            <a:endParaRPr lang="en-US" altLang="zh-CN" sz="2000" b="1" dirty="0">
              <a:effectLst>
                <a:outerShdw blurRad="38100" dist="38100" dir="2700000" algn="tl">
                  <a:srgbClr val="000000">
                    <a:alpha val="43137"/>
                  </a:srgbClr>
                </a:outerShdw>
              </a:effectLst>
              <a:latin typeface="Eras Medium ITC" panose="020B06020305040208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Challenges programmers facing </a:t>
            </a:r>
            <a:endParaRPr kumimoji="1" lang="zh-CN" altLang="en-US" dirty="0"/>
          </a:p>
        </p:txBody>
      </p:sp>
      <p:sp>
        <p:nvSpPr>
          <p:cNvPr id="3" name="内容占位符 2"/>
          <p:cNvSpPr>
            <a:spLocks noGrp="1"/>
          </p:cNvSpPr>
          <p:nvPr>
            <p:ph idx="1"/>
          </p:nvPr>
        </p:nvSpPr>
        <p:spPr/>
        <p:txBody>
          <a:bodyPr/>
          <a:lstStyle/>
          <a:p>
            <a:pPr marL="342900" indent="-342900">
              <a:buAutoNum type="arabicPeriod"/>
            </a:pPr>
            <a:r>
              <a:rPr kumimoji="1" lang="en-US" altLang="zh-CN" b="0" dirty="0"/>
              <a:t>Sending </a:t>
            </a:r>
            <a:r>
              <a:rPr kumimoji="1" lang="en-US" altLang="zh-CN" dirty="0">
                <a:solidFill>
                  <a:srgbClr val="C00000"/>
                </a:solidFill>
              </a:rPr>
              <a:t>data</a:t>
            </a:r>
            <a:r>
              <a:rPr kumimoji="1" lang="en-US" altLang="zh-CN" b="0" dirty="0"/>
              <a:t> to/from nodes</a:t>
            </a:r>
            <a:endParaRPr kumimoji="1" lang="en-US" altLang="zh-CN" b="0" dirty="0"/>
          </a:p>
          <a:p>
            <a:pPr marL="342900" indent="-342900">
              <a:buAutoNum type="arabicPeriod"/>
            </a:pPr>
            <a:r>
              <a:rPr kumimoji="1" lang="en-US" altLang="zh-CN" dirty="0">
                <a:solidFill>
                  <a:schemeClr val="accent6"/>
                </a:solidFill>
              </a:rPr>
              <a:t>Coordinating</a:t>
            </a:r>
            <a:r>
              <a:rPr kumimoji="1" lang="en-US" altLang="zh-CN" b="0" dirty="0">
                <a:solidFill>
                  <a:schemeClr val="accent6"/>
                </a:solidFill>
              </a:rPr>
              <a:t> among nodes</a:t>
            </a:r>
            <a:endParaRPr kumimoji="1" lang="en-US" altLang="zh-CN" b="0" dirty="0">
              <a:solidFill>
                <a:schemeClr val="accent6"/>
              </a:solidFill>
            </a:endParaRPr>
          </a:p>
          <a:p>
            <a:pPr marL="342900" indent="-342900">
              <a:buAutoNum type="arabicPeriod"/>
            </a:pPr>
            <a:r>
              <a:rPr kumimoji="1" lang="en-US" altLang="zh-CN" b="0" dirty="0">
                <a:solidFill>
                  <a:schemeClr val="accent6"/>
                </a:solidFill>
              </a:rPr>
              <a:t>Recovering from node </a:t>
            </a:r>
            <a:r>
              <a:rPr kumimoji="1" lang="en-US" altLang="zh-CN" dirty="0">
                <a:solidFill>
                  <a:schemeClr val="accent6"/>
                </a:solidFill>
              </a:rPr>
              <a:t>failure</a:t>
            </a:r>
            <a:endParaRPr kumimoji="1" lang="en-US" altLang="zh-CN" dirty="0">
              <a:solidFill>
                <a:schemeClr val="accent6"/>
              </a:solidFill>
            </a:endParaRPr>
          </a:p>
          <a:p>
            <a:pPr marL="342900" indent="-342900">
              <a:buAutoNum type="arabicPeriod"/>
            </a:pPr>
            <a:r>
              <a:rPr kumimoji="1" lang="en-US" altLang="zh-CN" b="0" dirty="0">
                <a:solidFill>
                  <a:schemeClr val="accent6"/>
                </a:solidFill>
              </a:rPr>
              <a:t>Optimizing for </a:t>
            </a:r>
            <a:r>
              <a:rPr kumimoji="1" lang="en-US" altLang="zh-CN" dirty="0">
                <a:solidFill>
                  <a:schemeClr val="accent6"/>
                </a:solidFill>
              </a:rPr>
              <a:t>locality</a:t>
            </a:r>
            <a:endParaRPr kumimoji="1" lang="en-US" altLang="zh-CN" dirty="0">
              <a:solidFill>
                <a:schemeClr val="accent6"/>
              </a:solidFill>
            </a:endParaRPr>
          </a:p>
          <a:p>
            <a:pPr marL="342900" indent="-342900">
              <a:buAutoNum type="arabicPeriod"/>
            </a:pPr>
            <a:r>
              <a:rPr kumimoji="1" lang="en-US" altLang="zh-CN" b="0" dirty="0">
                <a:solidFill>
                  <a:schemeClr val="accent6"/>
                </a:solidFill>
              </a:rPr>
              <a:t>Partition data to to enable more </a:t>
            </a:r>
            <a:r>
              <a:rPr kumimoji="1" lang="en-US" altLang="zh-CN" dirty="0">
                <a:solidFill>
                  <a:schemeClr val="accent6"/>
                </a:solidFill>
              </a:rPr>
              <a:t>parallelism</a:t>
            </a:r>
            <a:r>
              <a:rPr kumimoji="1" lang="en-US" altLang="zh-CN" b="0" dirty="0">
                <a:solidFill>
                  <a:schemeClr val="accent6"/>
                </a:solidFill>
              </a:rPr>
              <a:t>  </a:t>
            </a:r>
            <a:endParaRPr kumimoji="1" lang="en-US" altLang="zh-CN" b="0" dirty="0">
              <a:solidFill>
                <a:schemeClr val="accent6"/>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Rectangle 5"/>
          <p:cNvSpPr/>
          <p:nvPr/>
        </p:nvSpPr>
        <p:spPr>
          <a:xfrm>
            <a:off x="4306201" y="913284"/>
            <a:ext cx="4493997" cy="12003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i="1" dirty="0">
                <a:effectLst>
                  <a:outerShdw blurRad="38100" dist="38100" dir="2700000" algn="tl">
                    <a:srgbClr val="000000">
                      <a:alpha val="43137"/>
                    </a:srgbClr>
                  </a:outerShdw>
                </a:effectLst>
                <a:latin typeface="Candara" panose="020E0502030303020204" pitchFamily="34" charset="0"/>
              </a:rPr>
              <a:t>Communicating</a:t>
            </a:r>
            <a:r>
              <a:rPr lang="zh-CN" altLang="en-US" i="1" dirty="0">
                <a:effectLst>
                  <a:outerShdw blurRad="38100" dist="38100" dir="2700000" algn="tl">
                    <a:srgbClr val="000000">
                      <a:alpha val="43137"/>
                    </a:srgbClr>
                  </a:outerShdw>
                </a:effectLst>
                <a:latin typeface="Candara" panose="020E0502030303020204" pitchFamily="34" charset="0"/>
              </a:rPr>
              <a:t> </a:t>
            </a:r>
            <a:r>
              <a:rPr lang="en-US" altLang="zh-CN" i="1" dirty="0">
                <a:effectLst>
                  <a:outerShdw blurRad="38100" dist="38100" dir="2700000" algn="tl">
                    <a:srgbClr val="000000">
                      <a:alpha val="43137"/>
                    </a:srgbClr>
                  </a:outerShdw>
                </a:effectLst>
                <a:latin typeface="Candara" panose="020E0502030303020204" pitchFamily="34" charset="0"/>
              </a:rPr>
              <a:t>between two machines</a:t>
            </a:r>
            <a:endParaRPr lang="en-US" altLang="zh-CN" i="1" dirty="0">
              <a:effectLst>
                <a:outerShdw blurRad="38100" dist="38100" dir="2700000" algn="tl">
                  <a:srgbClr val="000000">
                    <a:alpha val="43137"/>
                  </a:srgbClr>
                </a:outerShdw>
              </a:effectLst>
              <a:latin typeface="Candara" panose="020E0502030303020204" pitchFamily="34" charset="0"/>
            </a:endParaRPr>
          </a:p>
          <a:p>
            <a:r>
              <a:rPr lang="en-US" altLang="zh-CN" i="1" dirty="0">
                <a:effectLst>
                  <a:outerShdw blurRad="38100" dist="38100" dir="2700000" algn="tl">
                    <a:srgbClr val="000000">
                      <a:alpha val="43137"/>
                    </a:srgbClr>
                  </a:outerShdw>
                </a:effectLst>
                <a:latin typeface="Candara" panose="020E0502030303020204" pitchFamily="34" charset="0"/>
              </a:rPr>
              <a:t>can</a:t>
            </a:r>
            <a:r>
              <a:rPr lang="zh-CN" altLang="en-US" i="1" dirty="0">
                <a:effectLst>
                  <a:outerShdw blurRad="38100" dist="38100" dir="2700000" algn="tl">
                    <a:srgbClr val="000000">
                      <a:alpha val="43137"/>
                    </a:srgbClr>
                  </a:outerShdw>
                </a:effectLst>
                <a:latin typeface="Candara" panose="020E0502030303020204" pitchFamily="34" charset="0"/>
              </a:rPr>
              <a:t> </a:t>
            </a:r>
            <a:r>
              <a:rPr lang="en-US" altLang="zh-CN" i="1" dirty="0">
                <a:effectLst>
                  <a:outerShdw blurRad="38100" dist="38100" dir="2700000" algn="tl">
                    <a:srgbClr val="000000">
                      <a:alpha val="43137"/>
                    </a:srgbClr>
                  </a:outerShdw>
                </a:effectLst>
                <a:latin typeface="Candara" panose="020E0502030303020204" pitchFamily="34" charset="0"/>
              </a:rPr>
              <a:t>be simple,</a:t>
            </a:r>
            <a:r>
              <a:rPr lang="zh-CN" altLang="en-US" i="1" dirty="0">
                <a:effectLst>
                  <a:outerShdw blurRad="38100" dist="38100" dir="2700000" algn="tl">
                    <a:srgbClr val="000000">
                      <a:alpha val="43137"/>
                    </a:srgbClr>
                  </a:outerShdw>
                </a:effectLst>
                <a:latin typeface="Candara" panose="020E0502030303020204" pitchFamily="34" charset="0"/>
              </a:rPr>
              <a:t> </a:t>
            </a:r>
            <a:r>
              <a:rPr lang="en-US" altLang="zh-CN" i="1" dirty="0">
                <a:effectLst>
                  <a:outerShdw blurRad="38100" dist="38100" dir="2700000" algn="tl">
                    <a:srgbClr val="000000">
                      <a:alpha val="43137"/>
                    </a:srgbClr>
                  </a:outerShdw>
                </a:effectLst>
                <a:latin typeface="Candara" panose="020E0502030303020204" pitchFamily="34" charset="0"/>
              </a:rPr>
              <a:t>e.g., with RPC </a:t>
            </a:r>
            <a:endParaRPr lang="en-US" altLang="zh-CN" i="1" dirty="0">
              <a:effectLst>
                <a:outerShdw blurRad="38100" dist="38100" dir="2700000" algn="tl">
                  <a:srgbClr val="000000">
                    <a:alpha val="43137"/>
                  </a:srgbClr>
                </a:outerShdw>
              </a:effectLst>
              <a:latin typeface="Candara" panose="020E0502030303020204" pitchFamily="34" charset="0"/>
            </a:endParaRPr>
          </a:p>
          <a:p>
            <a:endParaRPr lang="en-US" altLang="zh-CN" i="1" dirty="0">
              <a:effectLst>
                <a:outerShdw blurRad="38100" dist="38100" dir="2700000" algn="tl">
                  <a:srgbClr val="000000">
                    <a:alpha val="43137"/>
                  </a:srgbClr>
                </a:outerShdw>
              </a:effectLst>
              <a:latin typeface="Candara" panose="020E0502030303020204" pitchFamily="34" charset="0"/>
            </a:endParaRPr>
          </a:p>
          <a:p>
            <a:r>
              <a:rPr lang="en-US" altLang="zh-CN" i="1" dirty="0">
                <a:effectLst>
                  <a:outerShdw blurRad="38100" dist="38100" dir="2700000" algn="tl">
                    <a:srgbClr val="000000">
                      <a:alpha val="43137"/>
                    </a:srgbClr>
                  </a:outerShdw>
                </a:effectLst>
                <a:latin typeface="Candara" panose="020E0502030303020204" pitchFamily="34" charset="0"/>
              </a:rPr>
              <a:t>But,</a:t>
            </a:r>
            <a:r>
              <a:rPr lang="zh-CN" altLang="en-US" i="1" dirty="0">
                <a:effectLst>
                  <a:outerShdw blurRad="38100" dist="38100" dir="2700000" algn="tl">
                    <a:srgbClr val="000000">
                      <a:alpha val="43137"/>
                    </a:srgbClr>
                  </a:outerShdw>
                </a:effectLst>
                <a:latin typeface="Candara" panose="020E0502030303020204" pitchFamily="34" charset="0"/>
              </a:rPr>
              <a:t> </a:t>
            </a:r>
            <a:r>
              <a:rPr lang="en-US" altLang="zh-CN" i="1" dirty="0">
                <a:effectLst>
                  <a:outerShdw blurRad="38100" dist="38100" dir="2700000" algn="tl">
                    <a:srgbClr val="000000">
                      <a:alpha val="43137"/>
                    </a:srgbClr>
                  </a:outerShdw>
                </a:effectLst>
                <a:latin typeface="Candara" panose="020E0502030303020204" pitchFamily="34" charset="0"/>
              </a:rPr>
              <a:t>what about </a:t>
            </a:r>
            <a:r>
              <a:rPr lang="en-US" altLang="zh-CN" b="1" i="1" dirty="0">
                <a:solidFill>
                  <a:srgbClr val="BE384B"/>
                </a:solidFill>
                <a:effectLst>
                  <a:outerShdw blurRad="38100" dist="38100" dir="2700000" algn="tl">
                    <a:srgbClr val="000000">
                      <a:alpha val="43137"/>
                    </a:srgbClr>
                  </a:outerShdw>
                </a:effectLst>
                <a:latin typeface="Candara" panose="020E0502030303020204" pitchFamily="34" charset="0"/>
              </a:rPr>
              <a:t>10,000</a:t>
            </a:r>
            <a:r>
              <a:rPr lang="en-US" altLang="zh-CN" i="1" dirty="0">
                <a:effectLst>
                  <a:outerShdw blurRad="38100" dist="38100" dir="2700000" algn="tl">
                    <a:srgbClr val="000000">
                      <a:alpha val="43137"/>
                    </a:srgbClr>
                  </a:outerShdw>
                </a:effectLst>
                <a:latin typeface="Candara" panose="020E0502030303020204" pitchFamily="34" charset="0"/>
              </a:rPr>
              <a:t> machines? </a:t>
            </a:r>
            <a:endParaRPr lang="en-US" altLang="zh-CN" i="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Challenges programmers facing </a:t>
            </a:r>
            <a:endParaRPr kumimoji="1" lang="zh-CN" altLang="en-US" dirty="0"/>
          </a:p>
        </p:txBody>
      </p:sp>
      <p:sp>
        <p:nvSpPr>
          <p:cNvPr id="3" name="内容占位符 2"/>
          <p:cNvSpPr>
            <a:spLocks noGrp="1"/>
          </p:cNvSpPr>
          <p:nvPr>
            <p:ph idx="1"/>
          </p:nvPr>
        </p:nvSpPr>
        <p:spPr/>
        <p:txBody>
          <a:bodyPr/>
          <a:lstStyle/>
          <a:p>
            <a:pPr marL="342900" indent="-342900">
              <a:buAutoNum type="arabicPeriod"/>
            </a:pPr>
            <a:r>
              <a:rPr kumimoji="1" lang="en-US" altLang="zh-CN" b="0" dirty="0">
                <a:solidFill>
                  <a:schemeClr val="accent6"/>
                </a:solidFill>
              </a:rPr>
              <a:t>Sending </a:t>
            </a:r>
            <a:r>
              <a:rPr kumimoji="1" lang="en-US" altLang="zh-CN" dirty="0">
                <a:solidFill>
                  <a:schemeClr val="accent6"/>
                </a:solidFill>
              </a:rPr>
              <a:t>data</a:t>
            </a:r>
            <a:r>
              <a:rPr kumimoji="1" lang="en-US" altLang="zh-CN" b="0" dirty="0">
                <a:solidFill>
                  <a:schemeClr val="accent6"/>
                </a:solidFill>
              </a:rPr>
              <a:t> to/from nodes</a:t>
            </a:r>
            <a:endParaRPr kumimoji="1" lang="en-US" altLang="zh-CN" b="0" dirty="0">
              <a:solidFill>
                <a:schemeClr val="accent6"/>
              </a:solidFill>
            </a:endParaRPr>
          </a:p>
          <a:p>
            <a:pPr marL="342900" indent="-342900">
              <a:buAutoNum type="arabicPeriod"/>
            </a:pPr>
            <a:r>
              <a:rPr kumimoji="1" lang="en-US" altLang="zh-CN" dirty="0">
                <a:solidFill>
                  <a:srgbClr val="C00000"/>
                </a:solidFill>
              </a:rPr>
              <a:t>Coordinating</a:t>
            </a:r>
            <a:r>
              <a:rPr kumimoji="1" lang="en-US" altLang="zh-CN" b="0" dirty="0"/>
              <a:t> among nodes</a:t>
            </a:r>
            <a:endParaRPr kumimoji="1" lang="en-US" altLang="zh-CN" b="0" dirty="0"/>
          </a:p>
          <a:p>
            <a:pPr marL="342900" indent="-342900">
              <a:buAutoNum type="arabicPeriod"/>
            </a:pPr>
            <a:r>
              <a:rPr kumimoji="1" lang="en-US" altLang="zh-CN" b="0" dirty="0">
                <a:solidFill>
                  <a:schemeClr val="accent6"/>
                </a:solidFill>
              </a:rPr>
              <a:t>Recovering from node </a:t>
            </a:r>
            <a:r>
              <a:rPr kumimoji="1" lang="en-US" altLang="zh-CN" dirty="0">
                <a:solidFill>
                  <a:schemeClr val="accent6"/>
                </a:solidFill>
              </a:rPr>
              <a:t>failure</a:t>
            </a:r>
            <a:endParaRPr kumimoji="1" lang="en-US" altLang="zh-CN" dirty="0">
              <a:solidFill>
                <a:schemeClr val="accent6"/>
              </a:solidFill>
            </a:endParaRPr>
          </a:p>
          <a:p>
            <a:pPr marL="342900" indent="-342900">
              <a:buAutoNum type="arabicPeriod"/>
            </a:pPr>
            <a:r>
              <a:rPr kumimoji="1" lang="en-US" altLang="zh-CN" b="0" dirty="0">
                <a:solidFill>
                  <a:schemeClr val="accent6"/>
                </a:solidFill>
              </a:rPr>
              <a:t>Optimizing for </a:t>
            </a:r>
            <a:r>
              <a:rPr kumimoji="1" lang="en-US" altLang="zh-CN" dirty="0">
                <a:solidFill>
                  <a:schemeClr val="accent6"/>
                </a:solidFill>
              </a:rPr>
              <a:t>locality</a:t>
            </a:r>
            <a:endParaRPr kumimoji="1" lang="en-US" altLang="zh-CN" dirty="0">
              <a:solidFill>
                <a:schemeClr val="accent6"/>
              </a:solidFill>
            </a:endParaRPr>
          </a:p>
          <a:p>
            <a:pPr marL="342900" indent="-342900">
              <a:buFontTx/>
              <a:buAutoNum type="arabicPeriod"/>
            </a:pPr>
            <a:r>
              <a:rPr kumimoji="1" lang="en-US" altLang="zh-CN" b="0" dirty="0">
                <a:solidFill>
                  <a:schemeClr val="accent6"/>
                </a:solidFill>
              </a:rPr>
              <a:t>Partition data to to enable more </a:t>
            </a:r>
            <a:r>
              <a:rPr kumimoji="1" lang="en-US" altLang="zh-CN" dirty="0">
                <a:solidFill>
                  <a:schemeClr val="accent6"/>
                </a:solidFill>
              </a:rPr>
              <a:t>parallelism</a:t>
            </a:r>
            <a:r>
              <a:rPr kumimoji="1" lang="en-US" altLang="zh-CN" b="0" dirty="0">
                <a:solidFill>
                  <a:schemeClr val="accent6"/>
                </a:solidFill>
              </a:rPr>
              <a:t>  </a:t>
            </a:r>
            <a:endParaRPr kumimoji="1" lang="en-US" altLang="zh-CN" b="0" dirty="0">
              <a:solidFill>
                <a:schemeClr val="accent6"/>
              </a:solidFill>
            </a:endParaRPr>
          </a:p>
          <a:p>
            <a:pPr marL="342900" indent="-342900">
              <a:buAutoNum type="arabicPeriod"/>
            </a:pPr>
            <a:endParaRPr kumimoji="1" lang="en-US" altLang="zh-CN" dirty="0">
              <a:solidFill>
                <a:schemeClr val="accent6"/>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Rectangle 5"/>
          <p:cNvSpPr/>
          <p:nvPr/>
        </p:nvSpPr>
        <p:spPr>
          <a:xfrm>
            <a:off x="4306201" y="1525326"/>
            <a:ext cx="4493997" cy="646331"/>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i="1" dirty="0">
                <a:effectLst>
                  <a:outerShdw blurRad="38100" dist="38100" dir="2700000" algn="tl">
                    <a:srgbClr val="000000">
                      <a:alpha val="43137"/>
                    </a:srgbClr>
                  </a:outerShdw>
                </a:effectLst>
                <a:latin typeface="Candara" panose="020E0502030303020204" pitchFamily="34" charset="0"/>
              </a:rPr>
              <a:t>When can we collect computing results from all the computing nodes? </a:t>
            </a:r>
            <a:endParaRPr lang="zh-CN" altLang="en-US" i="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Challenges programmers facing </a:t>
            </a:r>
            <a:endParaRPr kumimoji="1" lang="zh-CN" altLang="en-US" dirty="0"/>
          </a:p>
        </p:txBody>
      </p:sp>
      <p:sp>
        <p:nvSpPr>
          <p:cNvPr id="3" name="内容占位符 2"/>
          <p:cNvSpPr>
            <a:spLocks noGrp="1"/>
          </p:cNvSpPr>
          <p:nvPr>
            <p:ph idx="1"/>
          </p:nvPr>
        </p:nvSpPr>
        <p:spPr/>
        <p:txBody>
          <a:bodyPr/>
          <a:lstStyle/>
          <a:p>
            <a:pPr marL="342900" indent="-342900">
              <a:buAutoNum type="arabicPeriod"/>
            </a:pPr>
            <a:r>
              <a:rPr kumimoji="1" lang="en-US" altLang="zh-CN" b="0" dirty="0">
                <a:solidFill>
                  <a:schemeClr val="accent6"/>
                </a:solidFill>
              </a:rPr>
              <a:t>Sending </a:t>
            </a:r>
            <a:r>
              <a:rPr kumimoji="1" lang="en-US" altLang="zh-CN" dirty="0">
                <a:solidFill>
                  <a:schemeClr val="accent6"/>
                </a:solidFill>
              </a:rPr>
              <a:t>data</a:t>
            </a:r>
            <a:r>
              <a:rPr kumimoji="1" lang="en-US" altLang="zh-CN" b="0" dirty="0">
                <a:solidFill>
                  <a:schemeClr val="accent6"/>
                </a:solidFill>
              </a:rPr>
              <a:t> to/from nodes</a:t>
            </a:r>
            <a:endParaRPr kumimoji="1" lang="en-US" altLang="zh-CN" b="0" dirty="0">
              <a:solidFill>
                <a:schemeClr val="accent6"/>
              </a:solidFill>
            </a:endParaRPr>
          </a:p>
          <a:p>
            <a:pPr marL="342900" indent="-342900">
              <a:buAutoNum type="arabicPeriod"/>
            </a:pPr>
            <a:r>
              <a:rPr kumimoji="1" lang="en-US" altLang="zh-CN" dirty="0">
                <a:solidFill>
                  <a:schemeClr val="accent6"/>
                </a:solidFill>
              </a:rPr>
              <a:t>Coordinating</a:t>
            </a:r>
            <a:r>
              <a:rPr kumimoji="1" lang="en-US" altLang="zh-CN" b="0" dirty="0">
                <a:solidFill>
                  <a:schemeClr val="accent6"/>
                </a:solidFill>
              </a:rPr>
              <a:t> among nodes</a:t>
            </a:r>
            <a:endParaRPr kumimoji="1" lang="en-US" altLang="zh-CN" b="0" dirty="0">
              <a:solidFill>
                <a:schemeClr val="accent6"/>
              </a:solidFill>
            </a:endParaRPr>
          </a:p>
          <a:p>
            <a:pPr marL="342900" indent="-342900">
              <a:buAutoNum type="arabicPeriod"/>
            </a:pPr>
            <a:r>
              <a:rPr kumimoji="1" lang="en-US" altLang="zh-CN" b="0" dirty="0"/>
              <a:t>Recovering from node </a:t>
            </a:r>
            <a:r>
              <a:rPr kumimoji="1" lang="en-US" altLang="zh-CN" dirty="0">
                <a:solidFill>
                  <a:srgbClr val="C00000"/>
                </a:solidFill>
              </a:rPr>
              <a:t>failure</a:t>
            </a:r>
            <a:endParaRPr kumimoji="1" lang="en-US" altLang="zh-CN" dirty="0">
              <a:solidFill>
                <a:srgbClr val="C00000"/>
              </a:solidFill>
            </a:endParaRPr>
          </a:p>
          <a:p>
            <a:pPr marL="342900" indent="-342900">
              <a:buAutoNum type="arabicPeriod"/>
            </a:pPr>
            <a:r>
              <a:rPr kumimoji="1" lang="en-US" altLang="zh-CN" b="0" dirty="0">
                <a:solidFill>
                  <a:schemeClr val="accent6"/>
                </a:solidFill>
              </a:rPr>
              <a:t>Optimizing for </a:t>
            </a:r>
            <a:r>
              <a:rPr kumimoji="1" lang="en-US" altLang="zh-CN" dirty="0">
                <a:solidFill>
                  <a:schemeClr val="accent6"/>
                </a:solidFill>
              </a:rPr>
              <a:t>locality</a:t>
            </a:r>
            <a:endParaRPr kumimoji="1" lang="en-US" altLang="zh-CN" dirty="0">
              <a:solidFill>
                <a:schemeClr val="accent6"/>
              </a:solidFill>
            </a:endParaRPr>
          </a:p>
          <a:p>
            <a:pPr marL="342900" indent="-342900">
              <a:buFontTx/>
              <a:buAutoNum type="arabicPeriod"/>
            </a:pPr>
            <a:r>
              <a:rPr kumimoji="1" lang="en-US" altLang="zh-CN" b="0" dirty="0">
                <a:solidFill>
                  <a:schemeClr val="accent6"/>
                </a:solidFill>
              </a:rPr>
              <a:t>Partition data to to enable more </a:t>
            </a:r>
            <a:r>
              <a:rPr kumimoji="1" lang="en-US" altLang="zh-CN" dirty="0">
                <a:solidFill>
                  <a:schemeClr val="accent6"/>
                </a:solidFill>
              </a:rPr>
              <a:t>parallelism</a:t>
            </a:r>
            <a:r>
              <a:rPr kumimoji="1" lang="en-US" altLang="zh-CN" b="0" dirty="0">
                <a:solidFill>
                  <a:schemeClr val="accent6"/>
                </a:solidFill>
              </a:rPr>
              <a:t>  </a:t>
            </a:r>
            <a:endParaRPr kumimoji="1" lang="en-US" altLang="zh-CN" b="0" dirty="0">
              <a:solidFill>
                <a:schemeClr val="accent6"/>
              </a:solidFill>
            </a:endParaRPr>
          </a:p>
          <a:p>
            <a:pPr marL="342900" indent="-342900">
              <a:buAutoNum type="arabicPeriod"/>
            </a:pPr>
            <a:endParaRPr kumimoji="1" lang="en-US" altLang="zh-CN" dirty="0">
              <a:solidFill>
                <a:schemeClr val="accent6"/>
              </a:solidFill>
            </a:endParaRPr>
          </a:p>
          <a:p>
            <a:endParaRPr kumimoji="1" lang="en-US" altLang="zh-CN" dirty="0">
              <a:solidFill>
                <a:schemeClr val="accent6"/>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Rectangle 5"/>
          <p:cNvSpPr/>
          <p:nvPr/>
        </p:nvSpPr>
        <p:spPr>
          <a:xfrm>
            <a:off x="4427984" y="1994329"/>
            <a:ext cx="2642063" cy="646331"/>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i="1" dirty="0">
                <a:effectLst>
                  <a:outerShdw blurRad="38100" dist="38100" dir="2700000" algn="tl">
                    <a:srgbClr val="000000">
                      <a:alpha val="43137"/>
                    </a:srgbClr>
                  </a:outerShdw>
                </a:effectLst>
                <a:latin typeface="Candara" panose="020E0502030303020204" pitchFamily="34" charset="0"/>
              </a:rPr>
              <a:t>Failure is common,</a:t>
            </a:r>
            <a:endParaRPr lang="en-US" altLang="zh-CN" i="1" dirty="0">
              <a:effectLst>
                <a:outerShdw blurRad="38100" dist="38100" dir="2700000" algn="tl">
                  <a:srgbClr val="000000">
                    <a:alpha val="43137"/>
                  </a:srgbClr>
                </a:outerShdw>
              </a:effectLst>
              <a:latin typeface="Candara" panose="020E0502030303020204" pitchFamily="34" charset="0"/>
            </a:endParaRPr>
          </a:p>
          <a:p>
            <a:r>
              <a:rPr lang="en-US" altLang="zh-CN" i="1" dirty="0">
                <a:effectLst>
                  <a:outerShdw blurRad="38100" dist="38100" dir="2700000" algn="tl">
                    <a:srgbClr val="000000">
                      <a:alpha val="43137"/>
                    </a:srgbClr>
                  </a:outerShdw>
                </a:effectLst>
                <a:latin typeface="Candara" panose="020E0502030303020204" pitchFamily="34" charset="0"/>
              </a:rPr>
              <a:t>especially at large-scale</a:t>
            </a:r>
            <a:endParaRPr lang="zh-CN" altLang="en-US" i="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Challenges programmers facing </a:t>
            </a:r>
            <a:endParaRPr kumimoji="1" lang="zh-CN" altLang="en-US" dirty="0"/>
          </a:p>
        </p:txBody>
      </p:sp>
      <p:sp>
        <p:nvSpPr>
          <p:cNvPr id="3" name="内容占位符 2"/>
          <p:cNvSpPr>
            <a:spLocks noGrp="1"/>
          </p:cNvSpPr>
          <p:nvPr>
            <p:ph idx="1"/>
          </p:nvPr>
        </p:nvSpPr>
        <p:spPr/>
        <p:txBody>
          <a:bodyPr/>
          <a:lstStyle/>
          <a:p>
            <a:pPr marL="342900" indent="-342900">
              <a:buAutoNum type="arabicPeriod"/>
            </a:pPr>
            <a:r>
              <a:rPr kumimoji="1" lang="en-US" altLang="zh-CN" b="0" dirty="0">
                <a:solidFill>
                  <a:schemeClr val="accent6"/>
                </a:solidFill>
              </a:rPr>
              <a:t>Sending </a:t>
            </a:r>
            <a:r>
              <a:rPr kumimoji="1" lang="en-US" altLang="zh-CN" dirty="0">
                <a:solidFill>
                  <a:schemeClr val="accent6"/>
                </a:solidFill>
              </a:rPr>
              <a:t>data</a:t>
            </a:r>
            <a:r>
              <a:rPr kumimoji="1" lang="en-US" altLang="zh-CN" b="0" dirty="0">
                <a:solidFill>
                  <a:schemeClr val="accent6"/>
                </a:solidFill>
              </a:rPr>
              <a:t> to/from nodes</a:t>
            </a:r>
            <a:endParaRPr kumimoji="1" lang="en-US" altLang="zh-CN" b="0" dirty="0">
              <a:solidFill>
                <a:schemeClr val="accent6"/>
              </a:solidFill>
            </a:endParaRPr>
          </a:p>
          <a:p>
            <a:pPr marL="342900" indent="-342900">
              <a:buAutoNum type="arabicPeriod"/>
            </a:pPr>
            <a:r>
              <a:rPr kumimoji="1" lang="en-US" altLang="zh-CN" dirty="0">
                <a:solidFill>
                  <a:schemeClr val="accent6"/>
                </a:solidFill>
              </a:rPr>
              <a:t>Coordinating</a:t>
            </a:r>
            <a:r>
              <a:rPr kumimoji="1" lang="en-US" altLang="zh-CN" b="0" dirty="0">
                <a:solidFill>
                  <a:schemeClr val="accent6"/>
                </a:solidFill>
              </a:rPr>
              <a:t> among nodes</a:t>
            </a:r>
            <a:endParaRPr kumimoji="1" lang="en-US" altLang="zh-CN" b="0" dirty="0">
              <a:solidFill>
                <a:schemeClr val="accent6"/>
              </a:solidFill>
            </a:endParaRPr>
          </a:p>
          <a:p>
            <a:pPr marL="342900" indent="-342900">
              <a:buAutoNum type="arabicPeriod"/>
            </a:pPr>
            <a:r>
              <a:rPr kumimoji="1" lang="en-US" altLang="zh-CN" b="0" dirty="0">
                <a:solidFill>
                  <a:schemeClr val="accent6"/>
                </a:solidFill>
              </a:rPr>
              <a:t>Recovering from node </a:t>
            </a:r>
            <a:r>
              <a:rPr kumimoji="1" lang="en-US" altLang="zh-CN" dirty="0">
                <a:solidFill>
                  <a:schemeClr val="accent6"/>
                </a:solidFill>
              </a:rPr>
              <a:t>failure</a:t>
            </a:r>
            <a:endParaRPr kumimoji="1" lang="en-US" altLang="zh-CN" dirty="0">
              <a:solidFill>
                <a:schemeClr val="accent6"/>
              </a:solidFill>
            </a:endParaRPr>
          </a:p>
          <a:p>
            <a:pPr marL="342900" indent="-342900">
              <a:buAutoNum type="arabicPeriod"/>
            </a:pPr>
            <a:r>
              <a:rPr kumimoji="1" lang="en-US" altLang="zh-CN" b="0" dirty="0"/>
              <a:t>Optimizing for </a:t>
            </a:r>
            <a:r>
              <a:rPr kumimoji="1" lang="en-US" altLang="zh-CN" dirty="0">
                <a:solidFill>
                  <a:srgbClr val="C00000"/>
                </a:solidFill>
              </a:rPr>
              <a:t>locality</a:t>
            </a:r>
            <a:endParaRPr kumimoji="1" lang="en-US" altLang="zh-CN" dirty="0">
              <a:solidFill>
                <a:srgbClr val="C00000"/>
              </a:solidFill>
            </a:endParaRPr>
          </a:p>
          <a:p>
            <a:pPr marL="342900" indent="-342900">
              <a:buFontTx/>
              <a:buAutoNum type="arabicPeriod"/>
            </a:pPr>
            <a:r>
              <a:rPr kumimoji="1" lang="en-US" altLang="zh-CN" b="0" dirty="0">
                <a:solidFill>
                  <a:schemeClr val="accent6"/>
                </a:solidFill>
              </a:rPr>
              <a:t>Partition data to to enable more </a:t>
            </a:r>
            <a:r>
              <a:rPr kumimoji="1" lang="en-US" altLang="zh-CN" dirty="0">
                <a:solidFill>
                  <a:schemeClr val="accent6"/>
                </a:solidFill>
              </a:rPr>
              <a:t>parallelism</a:t>
            </a:r>
            <a:r>
              <a:rPr kumimoji="1" lang="en-US" altLang="zh-CN" b="0" dirty="0">
                <a:solidFill>
                  <a:schemeClr val="accent6"/>
                </a:solidFill>
              </a:rPr>
              <a:t>  </a:t>
            </a:r>
            <a:endParaRPr kumimoji="1" lang="en-US" altLang="zh-CN" b="0" dirty="0">
              <a:solidFill>
                <a:schemeClr val="accent6"/>
              </a:solidFill>
            </a:endParaRPr>
          </a:p>
          <a:p>
            <a:pPr marL="342900" indent="-342900">
              <a:buAutoNum type="arabicPeriod"/>
            </a:pPr>
            <a:endParaRPr kumimoji="1" lang="en-US" altLang="zh-CN" dirty="0">
              <a:solidFill>
                <a:srgbClr val="C00000"/>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Rectangle 5"/>
          <p:cNvSpPr/>
          <p:nvPr/>
        </p:nvSpPr>
        <p:spPr>
          <a:xfrm>
            <a:off x="3779912" y="2534334"/>
            <a:ext cx="4032448" cy="646331"/>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i="1" dirty="0">
                <a:effectLst>
                  <a:outerShdw blurRad="38100" dist="38100" dir="2700000" algn="tl">
                    <a:srgbClr val="000000">
                      <a:alpha val="43137"/>
                    </a:srgbClr>
                  </a:outerShdw>
                </a:effectLst>
                <a:latin typeface="Candara" panose="020E0502030303020204" pitchFamily="34" charset="0"/>
              </a:rPr>
              <a:t>Transferring data over network is usually</a:t>
            </a:r>
            <a:r>
              <a:rPr lang="zh-CN" altLang="en-US" i="1" dirty="0">
                <a:effectLst>
                  <a:outerShdw blurRad="38100" dist="38100" dir="2700000" algn="tl">
                    <a:srgbClr val="000000">
                      <a:alpha val="43137"/>
                    </a:srgbClr>
                  </a:outerShdw>
                </a:effectLst>
                <a:latin typeface="Candara" panose="020E0502030303020204" pitchFamily="34" charset="0"/>
              </a:rPr>
              <a:t> </a:t>
            </a:r>
            <a:r>
              <a:rPr lang="en-US" altLang="zh-CN" i="1" dirty="0">
                <a:effectLst>
                  <a:outerShdw blurRad="38100" dist="38100" dir="2700000" algn="tl">
                    <a:srgbClr val="000000">
                      <a:alpha val="43137"/>
                    </a:srgbClr>
                  </a:outerShdw>
                </a:effectLst>
                <a:latin typeface="Candara" panose="020E0502030303020204" pitchFamily="34" charset="0"/>
              </a:rPr>
              <a:t>much slower than local data access</a:t>
            </a:r>
            <a:endParaRPr lang="zh-CN" altLang="en-US" i="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Challenges programmers facing </a:t>
            </a:r>
            <a:endParaRPr kumimoji="1" lang="zh-CN" altLang="en-US" dirty="0"/>
          </a:p>
        </p:txBody>
      </p:sp>
      <p:sp>
        <p:nvSpPr>
          <p:cNvPr id="3" name="内容占位符 2"/>
          <p:cNvSpPr>
            <a:spLocks noGrp="1"/>
          </p:cNvSpPr>
          <p:nvPr>
            <p:ph idx="1"/>
          </p:nvPr>
        </p:nvSpPr>
        <p:spPr/>
        <p:txBody>
          <a:bodyPr/>
          <a:lstStyle/>
          <a:p>
            <a:pPr marL="342900" indent="-342900">
              <a:buAutoNum type="arabicPeriod"/>
            </a:pPr>
            <a:r>
              <a:rPr kumimoji="1" lang="en-US" altLang="zh-CN" b="0" dirty="0">
                <a:solidFill>
                  <a:schemeClr val="accent6"/>
                </a:solidFill>
              </a:rPr>
              <a:t>Sending </a:t>
            </a:r>
            <a:r>
              <a:rPr kumimoji="1" lang="en-US" altLang="zh-CN" dirty="0">
                <a:solidFill>
                  <a:schemeClr val="accent6"/>
                </a:solidFill>
              </a:rPr>
              <a:t>data</a:t>
            </a:r>
            <a:r>
              <a:rPr kumimoji="1" lang="en-US" altLang="zh-CN" b="0" dirty="0">
                <a:solidFill>
                  <a:schemeClr val="accent6"/>
                </a:solidFill>
              </a:rPr>
              <a:t> to/from nodes</a:t>
            </a:r>
            <a:endParaRPr kumimoji="1" lang="en-US" altLang="zh-CN" b="0" dirty="0">
              <a:solidFill>
                <a:schemeClr val="accent6"/>
              </a:solidFill>
            </a:endParaRPr>
          </a:p>
          <a:p>
            <a:pPr marL="342900" indent="-342900">
              <a:buAutoNum type="arabicPeriod"/>
            </a:pPr>
            <a:r>
              <a:rPr kumimoji="1" lang="en-US" altLang="zh-CN" dirty="0">
                <a:solidFill>
                  <a:schemeClr val="accent6"/>
                </a:solidFill>
              </a:rPr>
              <a:t>Coordinating</a:t>
            </a:r>
            <a:r>
              <a:rPr kumimoji="1" lang="en-US" altLang="zh-CN" b="0" dirty="0">
                <a:solidFill>
                  <a:schemeClr val="accent6"/>
                </a:solidFill>
              </a:rPr>
              <a:t> among nodes</a:t>
            </a:r>
            <a:endParaRPr kumimoji="1" lang="en-US" altLang="zh-CN" b="0" dirty="0">
              <a:solidFill>
                <a:schemeClr val="accent6"/>
              </a:solidFill>
            </a:endParaRPr>
          </a:p>
          <a:p>
            <a:pPr marL="342900" indent="-342900">
              <a:buAutoNum type="arabicPeriod"/>
            </a:pPr>
            <a:r>
              <a:rPr kumimoji="1" lang="en-US" altLang="zh-CN" b="0" dirty="0">
                <a:solidFill>
                  <a:schemeClr val="accent6"/>
                </a:solidFill>
              </a:rPr>
              <a:t>Recovering from node </a:t>
            </a:r>
            <a:r>
              <a:rPr kumimoji="1" lang="en-US" altLang="zh-CN" dirty="0">
                <a:solidFill>
                  <a:schemeClr val="accent6"/>
                </a:solidFill>
              </a:rPr>
              <a:t>failure</a:t>
            </a:r>
            <a:endParaRPr kumimoji="1" lang="en-US" altLang="zh-CN" dirty="0">
              <a:solidFill>
                <a:schemeClr val="accent6"/>
              </a:solidFill>
            </a:endParaRPr>
          </a:p>
          <a:p>
            <a:pPr marL="342900" indent="-342900">
              <a:buAutoNum type="arabicPeriod"/>
            </a:pPr>
            <a:r>
              <a:rPr kumimoji="1" lang="en-US" altLang="zh-CN" b="0" dirty="0">
                <a:solidFill>
                  <a:schemeClr val="accent6"/>
                </a:solidFill>
              </a:rPr>
              <a:t>Optimizing for </a:t>
            </a:r>
            <a:r>
              <a:rPr kumimoji="1" lang="en-US" altLang="zh-CN" dirty="0">
                <a:solidFill>
                  <a:schemeClr val="accent6"/>
                </a:solidFill>
              </a:rPr>
              <a:t>locality</a:t>
            </a:r>
            <a:endParaRPr kumimoji="1" lang="en-US" altLang="zh-CN" dirty="0">
              <a:solidFill>
                <a:schemeClr val="accent6"/>
              </a:solidFill>
            </a:endParaRPr>
          </a:p>
          <a:p>
            <a:pPr marL="342900" indent="-342900">
              <a:buFontTx/>
              <a:buAutoNum type="arabicPeriod"/>
            </a:pPr>
            <a:r>
              <a:rPr kumimoji="1" lang="en-US" altLang="zh-CN" b="0" dirty="0">
                <a:solidFill>
                  <a:schemeClr val="tx1"/>
                </a:solidFill>
              </a:rPr>
              <a:t>Partition data to to enable more </a:t>
            </a:r>
            <a:r>
              <a:rPr kumimoji="1" lang="en-US" altLang="zh-CN" dirty="0">
                <a:solidFill>
                  <a:srgbClr val="C00000"/>
                </a:solidFill>
              </a:rPr>
              <a:t>parallelism</a:t>
            </a:r>
            <a:r>
              <a:rPr kumimoji="1" lang="en-US" altLang="zh-CN" b="0" dirty="0">
                <a:solidFill>
                  <a:schemeClr val="tx1"/>
                </a:solidFill>
              </a:rPr>
              <a:t>  </a:t>
            </a:r>
            <a:endParaRPr kumimoji="1" lang="en-US" altLang="zh-CN" b="0" dirty="0">
              <a:solidFill>
                <a:schemeClr val="tx1"/>
              </a:solidFill>
            </a:endParaRPr>
          </a:p>
          <a:p>
            <a:pPr marL="342900" indent="-342900">
              <a:buAutoNum type="arabicPeriod"/>
            </a:pPr>
            <a:endParaRPr kumimoji="1" lang="en-US" altLang="zh-CN" dirty="0">
              <a:solidFill>
                <a:srgbClr val="C00000"/>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Rectangle 5"/>
          <p:cNvSpPr/>
          <p:nvPr/>
        </p:nvSpPr>
        <p:spPr>
          <a:xfrm>
            <a:off x="3923928" y="3577580"/>
            <a:ext cx="4032448" cy="369332"/>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i="1" dirty="0">
                <a:effectLst>
                  <a:outerShdw blurRad="38100" dist="38100" dir="2700000" algn="tl">
                    <a:srgbClr val="000000">
                      <a:alpha val="43137"/>
                    </a:srgbClr>
                  </a:outerShdw>
                </a:effectLst>
                <a:latin typeface="Candara" panose="020E0502030303020204" pitchFamily="34" charset="0"/>
              </a:rPr>
              <a:t>Reduce the bottleneck of sequential part</a:t>
            </a:r>
            <a:endParaRPr lang="zh-CN" altLang="en-US" i="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Idea: we build a framework to hide the above tasks </a:t>
            </a:r>
            <a:endParaRPr kumimoji="1" lang="zh-CN" altLang="en-US" dirty="0"/>
          </a:p>
        </p:txBody>
      </p:sp>
      <p:sp>
        <p:nvSpPr>
          <p:cNvPr id="3" name="内容占位符 2"/>
          <p:cNvSpPr>
            <a:spLocks noGrp="1"/>
          </p:cNvSpPr>
          <p:nvPr>
            <p:ph idx="1"/>
          </p:nvPr>
        </p:nvSpPr>
        <p:spPr>
          <a:xfrm>
            <a:off x="302840" y="1129308"/>
            <a:ext cx="8589640" cy="3771636"/>
          </a:xfrm>
        </p:spPr>
        <p:txBody>
          <a:bodyPr/>
          <a:lstStyle/>
          <a:p>
            <a:r>
              <a:rPr kumimoji="1" lang="en-US" altLang="zh-CN" dirty="0"/>
              <a:t>Goal</a:t>
            </a:r>
            <a:endParaRPr kumimoji="1" lang="en-US" altLang="zh-CN" dirty="0"/>
          </a:p>
          <a:p>
            <a:pPr lvl="1"/>
            <a:r>
              <a:rPr kumimoji="1" lang="en-US" altLang="zh-CN" dirty="0"/>
              <a:t>Reduce programmer’s effort in solving the above challenges </a:t>
            </a:r>
            <a:endParaRPr kumimoji="1" lang="en-US" altLang="zh-CN" dirty="0"/>
          </a:p>
          <a:p>
            <a:r>
              <a:rPr kumimoji="1" lang="en-US" altLang="zh-CN" dirty="0"/>
              <a:t>Challenges </a:t>
            </a:r>
            <a:endParaRPr kumimoji="1" lang="en-US" altLang="zh-CN" dirty="0"/>
          </a:p>
          <a:p>
            <a:pPr lvl="1"/>
            <a:r>
              <a:rPr kumimoji="1" lang="en-US" altLang="zh-CN" dirty="0"/>
              <a:t>What is the right </a:t>
            </a:r>
            <a:r>
              <a:rPr kumimoji="1" lang="en-US" altLang="zh-CN" b="1" dirty="0">
                <a:solidFill>
                  <a:srgbClr val="C00000"/>
                </a:solidFill>
              </a:rPr>
              <a:t>abstraction</a:t>
            </a:r>
            <a:r>
              <a:rPr kumimoji="1" lang="en-US" altLang="zh-CN" dirty="0"/>
              <a:t>? Thread &amp; RPC is insufficient </a:t>
            </a:r>
            <a:endParaRPr kumimoji="1" lang="en-US" altLang="zh-CN" dirty="0"/>
          </a:p>
          <a:p>
            <a:pPr lvl="1"/>
            <a:r>
              <a:rPr kumimoji="1" lang="en-US" altLang="zh-CN" dirty="0"/>
              <a:t>More general, harder to provide the properties presented in the previous slide </a:t>
            </a:r>
            <a:endParaRPr kumimoji="1" lang="en-US" altLang="zh-CN" dirty="0"/>
          </a:p>
          <a:p>
            <a:pPr lvl="1"/>
            <a:r>
              <a:rPr kumimoji="1" lang="en-US" altLang="zh-CN" dirty="0"/>
              <a:t>E.g., if a thread fails, how can we know its progress? </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722312" y="3672418"/>
            <a:ext cx="8098159" cy="1135062"/>
          </a:xfrm>
        </p:spPr>
        <p:txBody>
          <a:bodyPr>
            <a:normAutofit fontScale="90000"/>
          </a:bodyPr>
          <a:lstStyle/>
          <a:p>
            <a:r>
              <a:rPr lang="en-US" altLang="zh-CN" sz="3665" cap="none" dirty="0">
                <a:latin typeface="+mn-lt"/>
              </a:rPr>
              <a:t>MapReduce</a:t>
            </a:r>
            <a:r>
              <a:rPr lang="en-US" altLang="zh-CN" sz="3600" cap="none" dirty="0">
                <a:latin typeface="+mn-lt"/>
              </a:rPr>
              <a:t>: Simplified Data</a:t>
            </a:r>
            <a:r>
              <a:rPr lang="zh-CN" altLang="en-US" sz="3600" cap="none" dirty="0">
                <a:latin typeface="+mn-lt"/>
              </a:rPr>
              <a:t> </a:t>
            </a:r>
            <a:r>
              <a:rPr lang="en-US" altLang="zh-CN" sz="3600" cap="none" dirty="0">
                <a:latin typeface="+mn-lt"/>
              </a:rPr>
              <a:t>Processing on Large Clusters</a:t>
            </a:r>
            <a:endParaRPr lang="zh-CN" altLang="en-US" dirty="0">
              <a:latin typeface="+mn-lt"/>
            </a:endParaRPr>
          </a:p>
        </p:txBody>
      </p:sp>
      <p:sp>
        <p:nvSpPr>
          <p:cNvPr id="6" name="文本占位符 5"/>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a:t>
            </a:r>
            <a:r>
              <a:rPr kumimoji="1" lang="zh-CN" altLang="en-US" dirty="0"/>
              <a:t> </a:t>
            </a:r>
            <a:r>
              <a:rPr kumimoji="1" lang="en-US" altLang="zh-CN" dirty="0"/>
              <a:t>a distributed batch processing system</a:t>
            </a:r>
            <a:endParaRPr kumimoji="1" lang="zh-CN" altLang="en-US" dirty="0"/>
          </a:p>
        </p:txBody>
      </p:sp>
      <p:sp>
        <p:nvSpPr>
          <p:cNvPr id="3" name="内容占位符 2"/>
          <p:cNvSpPr>
            <a:spLocks noGrp="1"/>
          </p:cNvSpPr>
          <p:nvPr>
            <p:ph idx="1"/>
          </p:nvPr>
        </p:nvSpPr>
        <p:spPr/>
        <p:txBody>
          <a:bodyPr>
            <a:normAutofit/>
          </a:bodyPr>
          <a:lstStyle/>
          <a:p>
            <a:r>
              <a:rPr kumimoji="1" lang="en-US" altLang="zh-CN" b="0" dirty="0"/>
              <a:t>Created by </a:t>
            </a:r>
            <a:r>
              <a:rPr kumimoji="1" lang="en-US" altLang="zh-CN" dirty="0">
                <a:solidFill>
                  <a:srgbClr val="C00000"/>
                </a:solidFill>
              </a:rPr>
              <a:t>Google</a:t>
            </a:r>
            <a:r>
              <a:rPr kumimoji="1" lang="en-US" altLang="zh-CN" b="0" dirty="0"/>
              <a:t> (OSDI’04)</a:t>
            </a:r>
            <a:endParaRPr kumimoji="1" lang="en-US" altLang="zh-CN" b="0" dirty="0"/>
          </a:p>
          <a:p>
            <a:pPr lvl="1"/>
            <a:r>
              <a:rPr kumimoji="1" lang="en-US" altLang="zh-CN" dirty="0"/>
              <a:t>Jeffrey Dean </a:t>
            </a:r>
            <a:r>
              <a:rPr kumimoji="1" lang="en-US" altLang="zh-CN" b="0" dirty="0"/>
              <a:t>and Sanjay Ghemawat</a:t>
            </a:r>
            <a:endParaRPr kumimoji="1" lang="en-US" altLang="zh-CN" b="0" dirty="0"/>
          </a:p>
          <a:p>
            <a:r>
              <a:rPr kumimoji="1" lang="en-US" altLang="zh-CN" b="0" dirty="0"/>
              <a:t>Inspired by LISP (function language)</a:t>
            </a:r>
            <a:endParaRPr kumimoji="1" lang="en-US" altLang="zh-CN" b="0" dirty="0"/>
          </a:p>
          <a:p>
            <a:pPr lvl="1"/>
            <a:r>
              <a:rPr kumimoji="1" lang="en-US" altLang="zh-CN" b="1" dirty="0">
                <a:solidFill>
                  <a:srgbClr val="C00000"/>
                </a:solidFill>
              </a:rPr>
              <a:t>Map</a:t>
            </a:r>
            <a:r>
              <a:rPr kumimoji="1" lang="en-US" altLang="zh-CN" b="0" dirty="0"/>
              <a:t> (function, set of values)</a:t>
            </a:r>
            <a:endParaRPr kumimoji="1" lang="en-US" altLang="zh-CN" b="0" dirty="0"/>
          </a:p>
          <a:p>
            <a:pPr lvl="2"/>
            <a:r>
              <a:rPr kumimoji="1" lang="en-US" altLang="zh-CN" sz="1800" dirty="0"/>
              <a:t>Applies function to each value in the set</a:t>
            </a:r>
            <a:endParaRPr kumimoji="1" lang="en-US" altLang="zh-CN" sz="1800" dirty="0"/>
          </a:p>
          <a:p>
            <a:pPr lvl="1"/>
            <a:endParaRPr kumimoji="1" lang="en-US" altLang="zh-CN" b="0" dirty="0"/>
          </a:p>
          <a:p>
            <a:pPr lvl="1"/>
            <a:endParaRPr kumimoji="1" lang="en-US" altLang="zh-CN" dirty="0"/>
          </a:p>
          <a:p>
            <a:pPr lvl="1"/>
            <a:r>
              <a:rPr kumimoji="1" lang="en-US" altLang="zh-CN" b="1" dirty="0">
                <a:solidFill>
                  <a:srgbClr val="C00000"/>
                </a:solidFill>
              </a:rPr>
              <a:t>Reduce</a:t>
            </a:r>
            <a:r>
              <a:rPr kumimoji="1" lang="en-US" altLang="zh-CN" dirty="0"/>
              <a:t> (function, set of values)</a:t>
            </a:r>
            <a:endParaRPr kumimoji="1" lang="en-US" altLang="zh-CN" dirty="0"/>
          </a:p>
          <a:p>
            <a:pPr lvl="2"/>
            <a:r>
              <a:rPr kumimoji="1" lang="en-US" altLang="zh-CN" sz="1800" dirty="0"/>
              <a:t>Combines all the values using a function (e.g., +)</a:t>
            </a:r>
            <a:endParaRPr kumimoji="1" lang="en-US" altLang="zh-CN" sz="1800" dirty="0"/>
          </a:p>
          <a:p>
            <a:pPr lvl="1"/>
            <a:endParaRPr kumimoji="1" lang="zh-CN" altLang="en-US"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5"/>
          <p:cNvSpPr/>
          <p:nvPr/>
        </p:nvSpPr>
        <p:spPr>
          <a:xfrm>
            <a:off x="899592" y="3289548"/>
            <a:ext cx="6696744" cy="400110"/>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pPr marL="0" lvl="3" defTabSz="268605">
              <a:buClr>
                <a:srgbClr val="FF0066"/>
              </a:buClr>
              <a:buNone/>
            </a:pP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rPr>
              <a:t>(</a:t>
            </a:r>
            <a:r>
              <a:rPr lang="en-US" altLang="zh-TW" sz="2000" b="1" dirty="0">
                <a:solidFill>
                  <a:srgbClr val="0233BE"/>
                </a:solidFill>
                <a:latin typeface="Verdana" panose="020B0604030504040204" pitchFamily="34" charset="0"/>
                <a:ea typeface="Verdana" panose="020B0604030504040204" pitchFamily="34" charset="0"/>
                <a:cs typeface="Verdana" panose="020B0604030504040204" pitchFamily="34" charset="0"/>
              </a:rPr>
              <a:t>map</a:t>
            </a: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rPr>
              <a:t> </a:t>
            </a:r>
            <a:r>
              <a:rPr lang="en-US" altLang="zh-CN" sz="2000" dirty="0">
                <a:solidFill>
                  <a:srgbClr val="0233BE"/>
                </a:solidFill>
                <a:latin typeface="Verdana" panose="020B0604030504040204" pitchFamily="34" charset="0"/>
                <a:ea typeface="Verdana" panose="020B0604030504040204" pitchFamily="34" charset="0"/>
                <a:cs typeface="Verdana" panose="020B0604030504040204" pitchFamily="34" charset="0"/>
              </a:rPr>
              <a:t>#</a:t>
            </a: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rPr>
              <a:t>‘length’ (() (a) (a b) (a b c))) </a:t>
            </a: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(0 1 2 3)</a:t>
            </a:r>
            <a:endPar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angle 4"/>
          <p:cNvSpPr/>
          <p:nvPr/>
        </p:nvSpPr>
        <p:spPr>
          <a:xfrm>
            <a:off x="899592" y="4801716"/>
            <a:ext cx="4343400" cy="400110"/>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pPr marL="0" lvl="3" defTabSz="268605">
              <a:buClr>
                <a:srgbClr val="FF0066"/>
              </a:buClr>
              <a:buNone/>
            </a:pP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rPr>
              <a:t>(</a:t>
            </a:r>
            <a:r>
              <a:rPr lang="en-US" altLang="zh-TW" sz="2000" b="1" dirty="0">
                <a:solidFill>
                  <a:srgbClr val="0233BE"/>
                </a:solidFill>
                <a:latin typeface="Verdana" panose="020B0604030504040204" pitchFamily="34" charset="0"/>
                <a:ea typeface="Verdana" panose="020B0604030504040204" pitchFamily="34" charset="0"/>
                <a:cs typeface="Verdana" panose="020B0604030504040204" pitchFamily="34" charset="0"/>
              </a:rPr>
              <a:t>reduce</a:t>
            </a: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rPr>
              <a:t> #‘+’ (1 2 3 4 5)) </a:t>
            </a:r>
            <a:r>
              <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15</a:t>
            </a:r>
            <a:endParaRPr lang="en-US" altLang="zh-TW" sz="2000" dirty="0">
              <a:solidFill>
                <a:srgbClr val="0233BE"/>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abstraction matches our requirements well</a:t>
            </a:r>
            <a:endParaRPr kumimoji="1" lang="zh-CN" altLang="en-US" dirty="0"/>
          </a:p>
        </p:txBody>
      </p:sp>
      <p:sp>
        <p:nvSpPr>
          <p:cNvPr id="3" name="内容占位符 2"/>
          <p:cNvSpPr>
            <a:spLocks noGrp="1"/>
          </p:cNvSpPr>
          <p:nvPr>
            <p:ph idx="1"/>
          </p:nvPr>
        </p:nvSpPr>
        <p:spPr>
          <a:xfrm>
            <a:off x="457200" y="1034480"/>
            <a:ext cx="8229600" cy="4680520"/>
          </a:xfrm>
        </p:spPr>
        <p:txBody>
          <a:bodyPr>
            <a:normAutofit/>
          </a:bodyPr>
          <a:lstStyle/>
          <a:p>
            <a:pPr marL="342900" indent="-342900">
              <a:buAutoNum type="arabicPeriod"/>
            </a:pPr>
            <a:r>
              <a:rPr kumimoji="1" lang="en-US" altLang="zh-CN" sz="1600" b="0" dirty="0">
                <a:solidFill>
                  <a:schemeClr val="tx1"/>
                </a:solidFill>
              </a:rPr>
              <a:t>Sending data to/from nodes</a:t>
            </a:r>
            <a:endParaRPr kumimoji="1" lang="en-US" altLang="zh-CN" sz="1600" b="0" dirty="0">
              <a:solidFill>
                <a:schemeClr val="tx1"/>
              </a:solidFill>
            </a:endParaRPr>
          </a:p>
          <a:p>
            <a:pPr lvl="1" indent="0">
              <a:buNone/>
            </a:pPr>
            <a:r>
              <a:rPr kumimoji="1" lang="en-US" altLang="zh-CN" sz="1600" dirty="0">
                <a:solidFill>
                  <a:schemeClr val="tx1"/>
                </a:solidFill>
              </a:rPr>
              <a:t>Data is sent between </a:t>
            </a:r>
            <a:r>
              <a:rPr kumimoji="1" lang="en-US" altLang="zh-CN" sz="1600" b="1" dirty="0">
                <a:solidFill>
                  <a:srgbClr val="C00000"/>
                </a:solidFill>
              </a:rPr>
              <a:t>Map</a:t>
            </a:r>
            <a:r>
              <a:rPr kumimoji="1" lang="en-US" altLang="zh-CN" sz="1600" dirty="0">
                <a:solidFill>
                  <a:schemeClr val="tx1"/>
                </a:solidFill>
              </a:rPr>
              <a:t> &amp; </a:t>
            </a:r>
            <a:r>
              <a:rPr kumimoji="1" lang="en-US" altLang="zh-CN" sz="1600" b="1" dirty="0">
                <a:solidFill>
                  <a:srgbClr val="C00000"/>
                </a:solidFill>
              </a:rPr>
              <a:t>Reduce</a:t>
            </a:r>
            <a:endParaRPr kumimoji="1" lang="en-US" altLang="zh-CN" sz="1600" b="1" dirty="0">
              <a:solidFill>
                <a:srgbClr val="C00000"/>
              </a:solidFill>
            </a:endParaRPr>
          </a:p>
          <a:p>
            <a:pPr marL="342900" indent="-342900">
              <a:buAutoNum type="arabicPeriod"/>
            </a:pPr>
            <a:r>
              <a:rPr kumimoji="1" lang="en-US" altLang="zh-CN" sz="1600" b="0" dirty="0">
                <a:solidFill>
                  <a:schemeClr val="tx1"/>
                </a:solidFill>
              </a:rPr>
              <a:t>Coordinating among nodes</a:t>
            </a:r>
            <a:endParaRPr kumimoji="1" lang="en-US" altLang="zh-CN" sz="1600" b="0" dirty="0">
              <a:solidFill>
                <a:schemeClr val="tx1"/>
              </a:solidFill>
            </a:endParaRPr>
          </a:p>
          <a:p>
            <a:pPr lvl="1" indent="0">
              <a:buNone/>
            </a:pPr>
            <a:r>
              <a:rPr kumimoji="1" lang="en-US" altLang="zh-CN" sz="1600" dirty="0">
                <a:solidFill>
                  <a:schemeClr val="tx1"/>
                </a:solidFill>
              </a:rPr>
              <a:t>Use the MapReduce semantic to coordinate </a:t>
            </a:r>
            <a:endParaRPr kumimoji="1" lang="en-US" altLang="zh-CN" sz="1600" dirty="0">
              <a:solidFill>
                <a:schemeClr val="tx1"/>
              </a:solidFill>
            </a:endParaRPr>
          </a:p>
          <a:p>
            <a:pPr lvl="2"/>
            <a:r>
              <a:rPr kumimoji="1" lang="en-US" altLang="zh-CN" sz="1600" dirty="0"/>
              <a:t>i.e.</a:t>
            </a:r>
            <a:r>
              <a:rPr kumimoji="1" lang="zh-CN" altLang="en-US" sz="1600" dirty="0"/>
              <a:t>，</a:t>
            </a:r>
            <a:r>
              <a:rPr kumimoji="1" lang="en-US" altLang="zh-CN" sz="1600" dirty="0"/>
              <a:t> only need to schedule the reducer after the mapper </a:t>
            </a:r>
            <a:endParaRPr kumimoji="1" lang="en-US" altLang="zh-CN" sz="1600" dirty="0"/>
          </a:p>
          <a:p>
            <a:pPr marL="342900" indent="-342900">
              <a:buAutoNum type="arabicPeriod"/>
            </a:pPr>
            <a:r>
              <a:rPr kumimoji="1" lang="en-US" altLang="zh-CN" sz="1600" b="0" dirty="0">
                <a:solidFill>
                  <a:schemeClr val="tx1"/>
                </a:solidFill>
              </a:rPr>
              <a:t>Recovering from node failure</a:t>
            </a:r>
            <a:endParaRPr kumimoji="1" lang="en-US" altLang="zh-CN" sz="1600" b="0" dirty="0">
              <a:solidFill>
                <a:schemeClr val="tx1"/>
              </a:solidFill>
            </a:endParaRPr>
          </a:p>
          <a:p>
            <a:pPr lvl="1" indent="0">
              <a:buNone/>
            </a:pPr>
            <a:r>
              <a:rPr kumimoji="1" lang="en-US" altLang="zh-CN" sz="1600" dirty="0">
                <a:solidFill>
                  <a:schemeClr val="tx1"/>
                </a:solidFill>
              </a:rPr>
              <a:t>Via re-execution </a:t>
            </a:r>
            <a:endParaRPr kumimoji="1" lang="en-US" altLang="zh-CN" sz="1600" b="0" dirty="0">
              <a:solidFill>
                <a:schemeClr val="tx1"/>
              </a:solidFill>
            </a:endParaRPr>
          </a:p>
          <a:p>
            <a:pPr marL="342900" indent="-342900">
              <a:buAutoNum type="arabicPeriod"/>
            </a:pPr>
            <a:r>
              <a:rPr kumimoji="1" lang="en-US" altLang="zh-CN" sz="1600" b="0" dirty="0">
                <a:solidFill>
                  <a:schemeClr val="tx1"/>
                </a:solidFill>
              </a:rPr>
              <a:t>Optimizing for locality</a:t>
            </a:r>
            <a:endParaRPr kumimoji="1" lang="en-US" altLang="zh-CN" sz="1600" b="0" dirty="0">
              <a:solidFill>
                <a:schemeClr val="tx1"/>
              </a:solidFill>
            </a:endParaRPr>
          </a:p>
          <a:p>
            <a:pPr lvl="1" indent="0">
              <a:buNone/>
            </a:pPr>
            <a:r>
              <a:rPr kumimoji="1" lang="en-US" altLang="zh-CN" sz="1600" b="0" dirty="0">
                <a:solidFill>
                  <a:schemeClr val="tx1"/>
                </a:solidFill>
              </a:rPr>
              <a:t>e.g., schedule the map and reduce on the same machine </a:t>
            </a:r>
            <a:endParaRPr kumimoji="1" lang="en-US" altLang="zh-CN" sz="1600" b="0" dirty="0">
              <a:solidFill>
                <a:schemeClr val="tx1"/>
              </a:solidFill>
            </a:endParaRPr>
          </a:p>
          <a:p>
            <a:pPr marL="342900" indent="-342900">
              <a:buFontTx/>
              <a:buAutoNum type="arabicPeriod"/>
            </a:pPr>
            <a:r>
              <a:rPr kumimoji="1" lang="en-US" altLang="zh-CN" sz="1600" b="0" dirty="0">
                <a:solidFill>
                  <a:schemeClr val="tx1"/>
                </a:solidFill>
              </a:rPr>
              <a:t>Partition data to to enable more </a:t>
            </a:r>
            <a:r>
              <a:rPr kumimoji="1" lang="en-US" altLang="zh-CN" sz="1600" dirty="0">
                <a:solidFill>
                  <a:srgbClr val="C00000"/>
                </a:solidFill>
              </a:rPr>
              <a:t>parallelism</a:t>
            </a:r>
            <a:r>
              <a:rPr kumimoji="1" lang="en-US" altLang="zh-CN" sz="1600" b="0" dirty="0">
                <a:solidFill>
                  <a:schemeClr val="tx1"/>
                </a:solidFill>
              </a:rPr>
              <a:t>  </a:t>
            </a:r>
            <a:endParaRPr kumimoji="1" lang="en-US" altLang="zh-CN" sz="1600" b="0" dirty="0">
              <a:solidFill>
                <a:schemeClr val="tx1"/>
              </a:solidFill>
            </a:endParaRPr>
          </a:p>
          <a:p>
            <a:pPr lvl="1" indent="0">
              <a:buNone/>
            </a:pPr>
            <a:r>
              <a:rPr kumimoji="1" lang="en-US" altLang="zh-CN" sz="1600" dirty="0">
                <a:solidFill>
                  <a:schemeClr val="tx1"/>
                </a:solidFill>
              </a:rPr>
              <a:t>Map on different parts of the data can be run in parallel, but what about reduce? </a:t>
            </a:r>
            <a:endParaRPr kumimoji="1" lang="en-US" altLang="zh-CN" sz="1600" b="0" dirty="0">
              <a:solidFill>
                <a:schemeClr val="tx1"/>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a:t>
            </a:r>
            <a:r>
              <a:rPr kumimoji="1" lang="zh-CN" altLang="en-US" dirty="0"/>
              <a:t> </a:t>
            </a:r>
            <a:r>
              <a:rPr kumimoji="1" lang="en-US" altLang="zh-CN" dirty="0"/>
              <a:t>Programming</a:t>
            </a:r>
            <a:r>
              <a:rPr kumimoji="1" lang="zh-CN" altLang="en-US" dirty="0"/>
              <a:t> </a:t>
            </a:r>
            <a:r>
              <a:rPr kumimoji="1" lang="en-US" altLang="zh-CN" dirty="0"/>
              <a:t>Interface</a:t>
            </a:r>
            <a:endParaRPr kumimoji="1" lang="zh-CN" altLang="en-US" dirty="0"/>
          </a:p>
        </p:txBody>
      </p:sp>
      <p:sp>
        <p:nvSpPr>
          <p:cNvPr id="3" name="内容占位符 2"/>
          <p:cNvSpPr>
            <a:spLocks noGrp="1"/>
          </p:cNvSpPr>
          <p:nvPr>
            <p:ph idx="1"/>
          </p:nvPr>
        </p:nvSpPr>
        <p:spPr>
          <a:xfrm>
            <a:off x="457200" y="1129307"/>
            <a:ext cx="8229600" cy="4471925"/>
          </a:xfrm>
        </p:spPr>
        <p:txBody>
          <a:bodyPr>
            <a:normAutofit/>
          </a:bodyPr>
          <a:lstStyle/>
          <a:p>
            <a:r>
              <a:rPr kumimoji="1" lang="en-US" altLang="zh-CN" dirty="0">
                <a:solidFill>
                  <a:srgbClr val="C00000"/>
                </a:solidFill>
              </a:rPr>
              <a:t>Map</a:t>
            </a:r>
            <a:r>
              <a:rPr kumimoji="1" lang="en-US" altLang="zh-CN" b="0" dirty="0"/>
              <a:t>: (input shard) </a:t>
            </a:r>
            <a:r>
              <a:rPr lang="en-US" altLang="zh-CN" dirty="0">
                <a:solidFill>
                  <a:prstClr val="black"/>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kumimoji="1" lang="en-US" altLang="zh-CN" b="0" dirty="0"/>
              <a:t> intermediate (k/v pairs)</a:t>
            </a:r>
            <a:endParaRPr kumimoji="1" lang="en-US" altLang="zh-CN" b="0" dirty="0"/>
          </a:p>
          <a:p>
            <a:pPr lvl="1"/>
            <a:r>
              <a:rPr kumimoji="1" lang="en-US" altLang="zh-CN" dirty="0"/>
              <a:t>Partition the input data into </a:t>
            </a:r>
            <a:r>
              <a:rPr kumimoji="1" lang="en-US" altLang="zh-CN" b="1" dirty="0">
                <a:solidFill>
                  <a:srgbClr val="C00000"/>
                </a:solidFill>
              </a:rPr>
              <a:t>M</a:t>
            </a:r>
            <a:r>
              <a:rPr kumimoji="1" lang="en-US" altLang="zh-CN" dirty="0"/>
              <a:t> “shards”</a:t>
            </a:r>
            <a:endParaRPr kumimoji="1" lang="en-US" altLang="zh-CN" dirty="0"/>
          </a:p>
          <a:p>
            <a:pPr lvl="1"/>
            <a:r>
              <a:rPr kumimoji="1" lang="en-US" altLang="zh-CN" dirty="0"/>
              <a:t>Group all intermediate values associated with the same key </a:t>
            </a:r>
            <a:endParaRPr kumimoji="1" lang="en-US" altLang="zh-CN" dirty="0"/>
          </a:p>
          <a:p>
            <a:pPr lvl="1"/>
            <a:r>
              <a:rPr kumimoji="1" lang="en-US" altLang="zh-CN" dirty="0"/>
              <a:t>Pass them to the </a:t>
            </a:r>
            <a:r>
              <a:rPr kumimoji="1" lang="en-US" altLang="zh-CN" b="1" dirty="0">
                <a:solidFill>
                  <a:srgbClr val="C00000"/>
                </a:solidFill>
              </a:rPr>
              <a:t>Reduce</a:t>
            </a:r>
            <a:r>
              <a:rPr kumimoji="1" lang="en-US" altLang="zh-CN" dirty="0"/>
              <a:t> function</a:t>
            </a:r>
            <a:endParaRPr kumimoji="1" lang="en-US" altLang="zh-CN" dirty="0"/>
          </a:p>
          <a:p>
            <a:r>
              <a:rPr kumimoji="1" lang="en-US" altLang="zh-CN" dirty="0">
                <a:solidFill>
                  <a:srgbClr val="C00000"/>
                </a:solidFill>
              </a:rPr>
              <a:t>Reduce</a:t>
            </a:r>
            <a:r>
              <a:rPr kumimoji="1" lang="en-US" altLang="zh-CN" b="0" dirty="0"/>
              <a:t>: intermediate (k/v pairs) </a:t>
            </a:r>
            <a:r>
              <a:rPr lang="en-US" altLang="zh-CN" dirty="0">
                <a:solidFill>
                  <a:prstClr val="black"/>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kumimoji="1" lang="en-US" altLang="zh-CN" b="0" dirty="0"/>
              <a:t> (results)</a:t>
            </a:r>
            <a:endParaRPr kumimoji="1" lang="en-US" altLang="zh-CN" b="0" dirty="0"/>
          </a:p>
          <a:p>
            <a:pPr lvl="1"/>
            <a:r>
              <a:rPr kumimoji="1" lang="en-US" altLang="zh-CN" dirty="0"/>
              <a:t>Partition the key space into </a:t>
            </a:r>
            <a:r>
              <a:rPr kumimoji="1" lang="en-US" altLang="zh-CN" b="1" dirty="0">
                <a:solidFill>
                  <a:srgbClr val="C00000"/>
                </a:solidFill>
              </a:rPr>
              <a:t>R</a:t>
            </a:r>
            <a:r>
              <a:rPr kumimoji="1" lang="en-US" altLang="zh-CN" dirty="0"/>
              <a:t> “pieces” using a </a:t>
            </a:r>
            <a:r>
              <a:rPr kumimoji="1" lang="en-US" altLang="zh-CN" dirty="0">
                <a:latin typeface="Courier New" panose="02070309020205020404" pitchFamily="49" charset="0"/>
                <a:cs typeface="Courier New" panose="02070309020205020404" pitchFamily="49" charset="0"/>
              </a:rPr>
              <a:t>Partition function </a:t>
            </a:r>
            <a:endParaRPr kumimoji="1" lang="en-US" altLang="zh-CN" dirty="0">
              <a:latin typeface="Courier New" panose="02070309020205020404" pitchFamily="49" charset="0"/>
              <a:cs typeface="Courier New" panose="02070309020205020404" pitchFamily="49" charset="0"/>
            </a:endParaRPr>
          </a:p>
          <a:p>
            <a:pPr lvl="2"/>
            <a:r>
              <a:rPr kumimoji="1" lang="en-US" altLang="zh-CN" sz="1800" dirty="0"/>
              <a:t>E.g., hash(key) mod R (unsorted)</a:t>
            </a:r>
            <a:endParaRPr kumimoji="1" lang="en-US" altLang="zh-CN" sz="1800" dirty="0"/>
          </a:p>
          <a:p>
            <a:pPr lvl="1"/>
            <a:r>
              <a:rPr kumimoji="1" lang="en-US" altLang="zh-CN" dirty="0"/>
              <a:t>Accept a key &amp; a set of values</a:t>
            </a:r>
            <a:endParaRPr kumimoji="1" lang="en-US" altLang="zh-CN" dirty="0"/>
          </a:p>
          <a:p>
            <a:pPr lvl="1"/>
            <a:r>
              <a:rPr kumimoji="1" lang="en-US" altLang="zh-CN" dirty="0"/>
              <a:t>Merge these values to form result of the key</a:t>
            </a:r>
            <a:endParaRPr kumimoji="1" lang="en-US" altLang="zh-CN" dirty="0"/>
          </a:p>
          <a:p>
            <a:endParaRPr kumimoji="1" lang="en-US" altLang="zh-CN" b="0" dirty="0"/>
          </a:p>
          <a:p>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矩形 4"/>
          <p:cNvSpPr/>
          <p:nvPr/>
        </p:nvSpPr>
        <p:spPr>
          <a:xfrm>
            <a:off x="338844" y="3145532"/>
            <a:ext cx="8157592" cy="360040"/>
          </a:xfrm>
          <a:prstGeom prst="rect">
            <a:avLst/>
          </a:prstGeom>
          <a:ln w="28575">
            <a:solidFill>
              <a:schemeClr val="tx1"/>
            </a:solidFill>
            <a:prstDash val="sysDot"/>
            <a:headEnd type="none" w="med" len="med"/>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Programming Model </a:t>
            </a:r>
            <a:endParaRPr kumimoji="1" lang="zh-CN" altLang="en-US" dirty="0"/>
          </a:p>
        </p:txBody>
      </p:sp>
      <p:sp>
        <p:nvSpPr>
          <p:cNvPr id="3" name="内容占位符 2"/>
          <p:cNvSpPr>
            <a:spLocks noGrp="1"/>
          </p:cNvSpPr>
          <p:nvPr>
            <p:ph idx="1"/>
          </p:nvPr>
        </p:nvSpPr>
        <p:spPr>
          <a:xfrm>
            <a:off x="457200" y="2209428"/>
            <a:ext cx="8229600" cy="3087534"/>
          </a:xfrm>
        </p:spPr>
        <p:txBody>
          <a:bodyPr>
            <a:normAutofit/>
          </a:bodyPr>
          <a:lstStyle/>
          <a:p>
            <a:r>
              <a:rPr kumimoji="1" lang="en-US" altLang="zh-CN" b="0" dirty="0"/>
              <a:t>Framework for </a:t>
            </a:r>
            <a:r>
              <a:rPr kumimoji="1" lang="en-US" altLang="zh-CN" dirty="0">
                <a:solidFill>
                  <a:srgbClr val="C00000"/>
                </a:solidFill>
              </a:rPr>
              <a:t>data-parallel</a:t>
            </a:r>
            <a:r>
              <a:rPr kumimoji="1" lang="en-US" altLang="zh-CN" b="0" dirty="0"/>
              <a:t> computing</a:t>
            </a:r>
            <a:endParaRPr kumimoji="1" lang="en-US" altLang="zh-CN" b="0" dirty="0"/>
          </a:p>
          <a:p>
            <a:pPr lvl="1"/>
            <a:r>
              <a:rPr kumimoji="1" lang="en-US" altLang="zh-CN" dirty="0"/>
              <a:t>Programmers get </a:t>
            </a:r>
            <a:r>
              <a:rPr kumimoji="1" lang="en-US" altLang="zh-CN" b="1" dirty="0">
                <a:solidFill>
                  <a:srgbClr val="C00000"/>
                </a:solidFill>
              </a:rPr>
              <a:t>simple yet restricted</a:t>
            </a:r>
            <a:r>
              <a:rPr kumimoji="1" lang="en-US" altLang="zh-CN" dirty="0"/>
              <a:t> API</a:t>
            </a:r>
            <a:endParaRPr kumimoji="1" lang="en-US" altLang="zh-CN" dirty="0"/>
          </a:p>
          <a:p>
            <a:r>
              <a:rPr kumimoji="1" lang="en-US" altLang="zh-CN" b="0" dirty="0"/>
              <a:t>Users</a:t>
            </a:r>
            <a:r>
              <a:rPr kumimoji="1" lang="zh-CN" altLang="en-US" b="0" dirty="0"/>
              <a:t> </a:t>
            </a:r>
            <a:r>
              <a:rPr kumimoji="1" lang="en-US" altLang="zh-CN" dirty="0">
                <a:solidFill>
                  <a:srgbClr val="C00000"/>
                </a:solidFill>
              </a:rPr>
              <a:t>don’t</a:t>
            </a:r>
            <a:r>
              <a:rPr kumimoji="1" lang="en-US" altLang="zh-CN" b="0" dirty="0"/>
              <a:t> have to worry about handling:</a:t>
            </a:r>
            <a:endParaRPr kumimoji="1" lang="en-US" altLang="zh-CN" b="0" dirty="0"/>
          </a:p>
          <a:p>
            <a:pPr lvl="1">
              <a:buSzPct val="73000"/>
              <a:buFont typeface="Wingdings" panose="05000000000000000000" pitchFamily="2" charset="2"/>
              <a:buChar char="p"/>
            </a:pPr>
            <a:r>
              <a:rPr kumimoji="1" lang="en-US" altLang="zh-CN" strike="sngStrike" dirty="0"/>
              <a:t> parallelization</a:t>
            </a:r>
            <a:endParaRPr kumimoji="1" lang="en-US" altLang="zh-CN" strike="sngStrike" dirty="0"/>
          </a:p>
          <a:p>
            <a:pPr lvl="1">
              <a:buSzPct val="73000"/>
              <a:buFont typeface="Wingdings" panose="05000000000000000000" pitchFamily="2" charset="2"/>
              <a:buChar char="p"/>
            </a:pPr>
            <a:r>
              <a:rPr kumimoji="1" lang="en-US" altLang="zh-CN" strike="sngStrike" dirty="0"/>
              <a:t> data distribution</a:t>
            </a:r>
            <a:endParaRPr kumimoji="1" lang="en-US" altLang="zh-CN" strike="sngStrike" dirty="0"/>
          </a:p>
          <a:p>
            <a:pPr lvl="1">
              <a:buSzPct val="73000"/>
              <a:buFont typeface="Wingdings" panose="05000000000000000000" pitchFamily="2" charset="2"/>
              <a:buChar char="p"/>
            </a:pPr>
            <a:r>
              <a:rPr kumimoji="1" lang="en-US" altLang="zh-CN" strike="sngStrike" dirty="0"/>
              <a:t> load balancing</a:t>
            </a:r>
            <a:endParaRPr kumimoji="1" lang="en-US" altLang="zh-CN" strike="sngStrike" dirty="0"/>
          </a:p>
          <a:p>
            <a:pPr lvl="1">
              <a:buSzPct val="73000"/>
              <a:buFont typeface="Wingdings" panose="05000000000000000000" pitchFamily="2" charset="2"/>
              <a:buChar char="p"/>
            </a:pPr>
            <a:r>
              <a:rPr kumimoji="1" lang="en-US" altLang="zh-CN" strike="sngStrike" dirty="0"/>
              <a:t> fault tolerance</a:t>
            </a:r>
            <a:endParaRPr kumimoji="1" lang="en-US" altLang="zh-CN" strike="sngStrike"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6"/>
          <p:cNvSpPr/>
          <p:nvPr/>
        </p:nvSpPr>
        <p:spPr>
          <a:xfrm>
            <a:off x="1878546" y="1146253"/>
            <a:ext cx="5386908" cy="830997"/>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pPr algn="ctr"/>
            <a:r>
              <a:rPr lang="en-US" altLang="zh-CN" sz="2400" dirty="0">
                <a:latin typeface="Candara" panose="020E0502030303020204" pitchFamily="34" charset="0"/>
                <a:ea typeface="Verdana" panose="020B0604030504040204" pitchFamily="34" charset="0"/>
                <a:cs typeface="Verdana" panose="020B0604030504040204" pitchFamily="34" charset="0"/>
              </a:rPr>
              <a:t>Allows user to process </a:t>
            </a:r>
            <a:r>
              <a:rPr lang="en-US" altLang="zh-CN" sz="2400" i="1" dirty="0">
                <a:solidFill>
                  <a:srgbClr val="C00000"/>
                </a:solidFill>
                <a:effectLst>
                  <a:outerShdw blurRad="38100" dist="38100" dir="2700000" algn="tl">
                    <a:srgbClr val="000000">
                      <a:alpha val="43137"/>
                    </a:srgbClr>
                  </a:outerShdw>
                </a:effectLst>
                <a:latin typeface="Candara" panose="020E0502030303020204" pitchFamily="34" charset="0"/>
                <a:ea typeface="Verdana" panose="020B0604030504040204" pitchFamily="34" charset="0"/>
                <a:cs typeface="Verdana" panose="020B0604030504040204" pitchFamily="34" charset="0"/>
              </a:rPr>
              <a:t>huge</a:t>
            </a:r>
            <a:r>
              <a:rPr lang="en-US" altLang="zh-CN" sz="2400" dirty="0">
                <a:latin typeface="Candara" panose="020E0502030303020204" pitchFamily="34" charset="0"/>
                <a:ea typeface="Verdana" panose="020B0604030504040204" pitchFamily="34" charset="0"/>
                <a:cs typeface="Verdana" panose="020B0604030504040204" pitchFamily="34" charset="0"/>
              </a:rPr>
              <a:t> amounts of data on </a:t>
            </a:r>
            <a:r>
              <a:rPr lang="en-US" altLang="zh-CN" sz="2400" i="1" dirty="0">
                <a:solidFill>
                  <a:srgbClr val="C00000"/>
                </a:solidFill>
                <a:effectLst>
                  <a:outerShdw blurRad="38100" dist="38100" dir="2700000" algn="tl">
                    <a:srgbClr val="000000">
                      <a:alpha val="43137"/>
                    </a:srgbClr>
                  </a:outerShdw>
                </a:effectLst>
                <a:latin typeface="Candara" panose="020E0502030303020204" pitchFamily="34" charset="0"/>
                <a:ea typeface="Verdana" panose="020B0604030504040204" pitchFamily="34" charset="0"/>
                <a:cs typeface="Verdana" panose="020B0604030504040204" pitchFamily="34" charset="0"/>
              </a:rPr>
              <a:t>thousands</a:t>
            </a:r>
            <a:r>
              <a:rPr lang="en-US" altLang="zh-CN" sz="2400" dirty="0">
                <a:latin typeface="Candara" panose="020E0502030303020204" pitchFamily="34" charset="0"/>
                <a:ea typeface="Verdana" panose="020B0604030504040204" pitchFamily="34" charset="0"/>
                <a:cs typeface="Verdana" panose="020B0604030504040204" pitchFamily="34" charset="0"/>
              </a:rPr>
              <a:t> of nodes </a:t>
            </a:r>
            <a:endParaRPr lang="zh-CN" altLang="en-US" sz="2000" dirty="0">
              <a:latin typeface="Candara" panose="020E0502030303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Programming Model </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dirty="0"/>
          </a:p>
        </p:txBody>
      </p:sp>
      <p:pic>
        <p:nvPicPr>
          <p:cNvPr id="5" name="Picture 2"/>
          <p:cNvPicPr>
            <a:picLocks noChangeAspect="1" noChangeArrowheads="1"/>
          </p:cNvPicPr>
          <p:nvPr/>
        </p:nvPicPr>
        <p:blipFill>
          <a:blip r:embed="rId1"/>
          <a:srcRect/>
          <a:stretch>
            <a:fillRect/>
          </a:stretch>
        </p:blipFill>
        <p:spPr bwMode="auto">
          <a:xfrm>
            <a:off x="1416822" y="3167730"/>
            <a:ext cx="773889" cy="971661"/>
          </a:xfrm>
          <a:prstGeom prst="rect">
            <a:avLst/>
          </a:prstGeom>
          <a:noFill/>
          <a:ln w="9525">
            <a:noFill/>
            <a:miter lim="800000"/>
            <a:headEnd/>
            <a:tailEnd/>
          </a:ln>
        </p:spPr>
      </p:pic>
      <p:sp>
        <p:nvSpPr>
          <p:cNvPr id="6" name="TextBox 7"/>
          <p:cNvSpPr txBox="1"/>
          <p:nvPr/>
        </p:nvSpPr>
        <p:spPr>
          <a:xfrm>
            <a:off x="1119163" y="4133568"/>
            <a:ext cx="1357337" cy="400110"/>
          </a:xfrm>
          <a:prstGeom prst="rect">
            <a:avLst/>
          </a:prstGeom>
          <a:noFill/>
          <a:effectLst/>
        </p:spPr>
        <p:txBody>
          <a:bodyPr wrap="square" rtlCol="0">
            <a:spAutoFit/>
          </a:bodyPr>
          <a:lstStyle/>
          <a:p>
            <a:pPr algn="ctr"/>
            <a:r>
              <a:rPr lang="en-US" altLang="zh-CN" sz="20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user</a:t>
            </a:r>
            <a:endParaRPr lang="en-US" sz="1835"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7" name="Cloud Callout 8"/>
          <p:cNvSpPr/>
          <p:nvPr/>
        </p:nvSpPr>
        <p:spPr>
          <a:xfrm>
            <a:off x="2012138" y="2647158"/>
            <a:ext cx="714380" cy="416722"/>
          </a:xfrm>
          <a:prstGeom prst="cloudCallout">
            <a:avLst>
              <a:gd name="adj1" fmla="val -52540"/>
              <a:gd name="adj2" fmla="val 88622"/>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 name="Rounded Rectangle 9"/>
          <p:cNvSpPr/>
          <p:nvPr/>
        </p:nvSpPr>
        <p:spPr>
          <a:xfrm>
            <a:off x="3083708" y="2587627"/>
            <a:ext cx="1845482" cy="535785"/>
          </a:xfrm>
          <a:prstGeom prst="roundRect">
            <a:avLst>
              <a:gd name="adj" fmla="val 17717"/>
            </a:avLst>
          </a:prstGeom>
          <a:effectLst>
            <a:glow rad="101600">
              <a:schemeClr val="accent1">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Parallelization</a:t>
            </a:r>
            <a:endParaRPr lang="zh-CN" altLang="en-US"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9" name="Rounded Rectangle 10"/>
          <p:cNvSpPr/>
          <p:nvPr/>
        </p:nvSpPr>
        <p:spPr>
          <a:xfrm>
            <a:off x="3083708" y="1968500"/>
            <a:ext cx="1845482" cy="500063"/>
          </a:xfrm>
          <a:prstGeom prst="roundRect">
            <a:avLst>
              <a:gd name="adj" fmla="val 17717"/>
            </a:avLst>
          </a:prstGeom>
          <a:solidFill>
            <a:srgbClr val="FF4747"/>
          </a:solidFill>
          <a:ln>
            <a:noFill/>
          </a:ln>
          <a:effectLst>
            <a:glow rad="101600">
              <a:srgbClr val="C0000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Functionality</a:t>
            </a:r>
            <a:endPar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11"/>
          <p:cNvSpPr/>
          <p:nvPr/>
        </p:nvSpPr>
        <p:spPr>
          <a:xfrm>
            <a:off x="3083708" y="3242475"/>
            <a:ext cx="1845482" cy="654848"/>
          </a:xfrm>
          <a:prstGeom prst="roundRect">
            <a:avLst>
              <a:gd name="adj" fmla="val 17717"/>
            </a:avLst>
          </a:prstGeom>
          <a:solidFill>
            <a:srgbClr val="D09E00"/>
          </a:solidFill>
          <a:ln>
            <a:solidFill>
              <a:srgbClr val="D09E00"/>
            </a:solidFill>
          </a:ln>
          <a:effectLst>
            <a:glow rad="101600">
              <a:srgbClr val="D09E0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Data Distribution</a:t>
            </a:r>
            <a:endParaRPr lang="zh-CN" altLang="en-US"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1" name="Rounded Rectangle 12"/>
          <p:cNvSpPr/>
          <p:nvPr/>
        </p:nvSpPr>
        <p:spPr>
          <a:xfrm>
            <a:off x="3083708" y="4016387"/>
            <a:ext cx="1845482" cy="476253"/>
          </a:xfrm>
          <a:prstGeom prst="roundRect">
            <a:avLst>
              <a:gd name="adj" fmla="val 17717"/>
            </a:avLst>
          </a:prstGeom>
          <a:solidFill>
            <a:srgbClr val="00B050"/>
          </a:solidFill>
          <a:ln>
            <a:solidFill>
              <a:srgbClr val="00B050"/>
            </a:solidFill>
          </a:ln>
          <a:effectLst>
            <a:glow rad="101600">
              <a:srgbClr val="00B05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Fault Tolerance</a:t>
            </a:r>
            <a:endParaRPr lang="zh-CN" altLang="en-US"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2" name="Rounded Rectangle 13"/>
          <p:cNvSpPr/>
          <p:nvPr/>
        </p:nvSpPr>
        <p:spPr>
          <a:xfrm>
            <a:off x="3083708" y="4611704"/>
            <a:ext cx="1845482" cy="476253"/>
          </a:xfrm>
          <a:prstGeom prst="roundRect">
            <a:avLst>
              <a:gd name="adj" fmla="val 17717"/>
            </a:avLst>
          </a:prstGeom>
          <a:solidFill>
            <a:srgbClr val="7030A0"/>
          </a:solidFill>
          <a:ln>
            <a:solidFill>
              <a:srgbClr val="7030A0"/>
            </a:solidFill>
          </a:ln>
          <a:effectLst>
            <a:glow rad="101600">
              <a:srgbClr val="7030A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Load Balance</a:t>
            </a:r>
            <a:endParaRPr lang="zh-CN" altLang="en-US"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par>
                          <p:cTn id="9" fill="hold">
                            <p:stCondLst>
                              <p:cond delay="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250"/>
                                        <p:tgtEl>
                                          <p:spTgt spid="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250"/>
                                        <p:tgtEl>
                                          <p:spTgt spid="9"/>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250"/>
                                        <p:tgtEl>
                                          <p:spTgt spid="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250"/>
                                        <p:tgtEl>
                                          <p:spTgt spid="10"/>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up)">
                                      <p:cBhvr>
                                        <p:cTn id="28" dur="250"/>
                                        <p:tgtEl>
                                          <p:spTgt spid="1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Programming Model </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5" name="Picture 2"/>
          <p:cNvPicPr>
            <a:picLocks noChangeAspect="1" noChangeArrowheads="1"/>
          </p:cNvPicPr>
          <p:nvPr/>
        </p:nvPicPr>
        <p:blipFill>
          <a:blip r:embed="rId1"/>
          <a:srcRect/>
          <a:stretch>
            <a:fillRect/>
          </a:stretch>
        </p:blipFill>
        <p:spPr bwMode="auto">
          <a:xfrm>
            <a:off x="1416822" y="3167730"/>
            <a:ext cx="773889" cy="971661"/>
          </a:xfrm>
          <a:prstGeom prst="rect">
            <a:avLst/>
          </a:prstGeom>
          <a:noFill/>
          <a:ln w="9525">
            <a:noFill/>
            <a:miter lim="800000"/>
            <a:headEnd/>
            <a:tailEnd/>
          </a:ln>
        </p:spPr>
      </p:pic>
      <p:sp>
        <p:nvSpPr>
          <p:cNvPr id="6" name="TextBox 7"/>
          <p:cNvSpPr txBox="1"/>
          <p:nvPr/>
        </p:nvSpPr>
        <p:spPr>
          <a:xfrm>
            <a:off x="1119163" y="4133568"/>
            <a:ext cx="1357337" cy="369332"/>
          </a:xfrm>
          <a:prstGeom prst="rect">
            <a:avLst/>
          </a:prstGeom>
          <a:noFill/>
        </p:spPr>
        <p:txBody>
          <a:bodyPr wrap="square" rtlCol="0">
            <a:spAutoFit/>
          </a:bodyPr>
          <a:lstStyle/>
          <a:p>
            <a:pPr algn="ctr"/>
            <a:r>
              <a:rPr lang="en-US" altLang="zh-CN"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user</a:t>
            </a:r>
            <a:endParaRPr lang="en-US" altLang="zh-CN"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7" name="Cloud Callout 8"/>
          <p:cNvSpPr/>
          <p:nvPr/>
        </p:nvSpPr>
        <p:spPr>
          <a:xfrm>
            <a:off x="2012138" y="2647158"/>
            <a:ext cx="714380" cy="416722"/>
          </a:xfrm>
          <a:prstGeom prst="cloudCallout">
            <a:avLst>
              <a:gd name="adj1" fmla="val -52540"/>
              <a:gd name="adj2" fmla="val 88622"/>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Verdana" panose="020B0604030504040204" pitchFamily="34" charset="0"/>
              <a:ea typeface="Verdana" panose="020B0604030504040204" pitchFamily="34" charset="0"/>
              <a:cs typeface="Verdana" panose="020B0604030504040204" pitchFamily="34" charset="0"/>
            </a:endParaRPr>
          </a:p>
        </p:txBody>
      </p:sp>
      <p:sp>
        <p:nvSpPr>
          <p:cNvPr id="8" name="Folded Corner 14"/>
          <p:cNvSpPr/>
          <p:nvPr/>
        </p:nvSpPr>
        <p:spPr>
          <a:xfrm>
            <a:off x="5405444" y="1932758"/>
            <a:ext cx="2797988" cy="3274242"/>
          </a:xfrm>
          <a:prstGeom prst="foldedCorner">
            <a:avLst/>
          </a:prstGeom>
          <a:solidFill>
            <a:srgbClr val="FFFFCD"/>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9" name="Rounded Rectangle 15"/>
          <p:cNvSpPr/>
          <p:nvPr/>
        </p:nvSpPr>
        <p:spPr>
          <a:xfrm>
            <a:off x="3083708" y="2587627"/>
            <a:ext cx="1845482" cy="535785"/>
          </a:xfrm>
          <a:prstGeom prst="roundRect">
            <a:avLst>
              <a:gd name="adj" fmla="val 17717"/>
            </a:avLst>
          </a:prstGeom>
          <a:effectLst>
            <a:glow rad="101600">
              <a:schemeClr val="accent1">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sz="16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Parallelization</a:t>
            </a:r>
            <a:endParaRPr lang="zh-CN" altLang="en-US" sz="1600"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0" name="Rounded Rectangle 16"/>
          <p:cNvSpPr/>
          <p:nvPr/>
        </p:nvSpPr>
        <p:spPr>
          <a:xfrm>
            <a:off x="3083708" y="1968500"/>
            <a:ext cx="1845482" cy="500063"/>
          </a:xfrm>
          <a:prstGeom prst="roundRect">
            <a:avLst>
              <a:gd name="adj" fmla="val 17717"/>
            </a:avLst>
          </a:prstGeom>
          <a:solidFill>
            <a:srgbClr val="FF4747"/>
          </a:solidFill>
          <a:ln>
            <a:noFill/>
          </a:ln>
          <a:effectLst>
            <a:glow rad="101600">
              <a:srgbClr val="C0000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Functionality</a:t>
            </a:r>
            <a:endParaRPr lang="en-US" altLang="zh-CN" sz="16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endParaRPr lang="zh-CN" altLang="en-US" sz="335"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1" name="Rounded Rectangle 17"/>
          <p:cNvSpPr/>
          <p:nvPr/>
        </p:nvSpPr>
        <p:spPr>
          <a:xfrm>
            <a:off x="3083708" y="3242475"/>
            <a:ext cx="1845482" cy="654848"/>
          </a:xfrm>
          <a:prstGeom prst="roundRect">
            <a:avLst>
              <a:gd name="adj" fmla="val 17717"/>
            </a:avLst>
          </a:prstGeom>
          <a:solidFill>
            <a:srgbClr val="D09E00"/>
          </a:solidFill>
          <a:ln>
            <a:solidFill>
              <a:srgbClr val="D09E00"/>
            </a:solidFill>
          </a:ln>
          <a:effectLst>
            <a:glow rad="101600">
              <a:srgbClr val="D09E0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sz="16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Data Distribution</a:t>
            </a:r>
            <a:endParaRPr lang="zh-CN" altLang="en-US" sz="1600"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2" name="Rounded Rectangle 18"/>
          <p:cNvSpPr/>
          <p:nvPr/>
        </p:nvSpPr>
        <p:spPr>
          <a:xfrm>
            <a:off x="3083708" y="4016387"/>
            <a:ext cx="1845482" cy="476253"/>
          </a:xfrm>
          <a:prstGeom prst="roundRect">
            <a:avLst>
              <a:gd name="adj" fmla="val 17717"/>
            </a:avLst>
          </a:prstGeom>
          <a:solidFill>
            <a:srgbClr val="00B050"/>
          </a:solidFill>
          <a:ln>
            <a:solidFill>
              <a:srgbClr val="00B050"/>
            </a:solidFill>
          </a:ln>
          <a:effectLst>
            <a:glow rad="101600">
              <a:srgbClr val="00B05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sz="16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Fault Tolerance</a:t>
            </a:r>
            <a:endParaRPr lang="zh-CN" altLang="en-US" sz="1600"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3" name="Rounded Rectangle 19"/>
          <p:cNvSpPr/>
          <p:nvPr/>
        </p:nvSpPr>
        <p:spPr>
          <a:xfrm>
            <a:off x="3083708" y="4611704"/>
            <a:ext cx="1845482" cy="476253"/>
          </a:xfrm>
          <a:prstGeom prst="roundRect">
            <a:avLst>
              <a:gd name="adj" fmla="val 17717"/>
            </a:avLst>
          </a:prstGeom>
          <a:solidFill>
            <a:srgbClr val="7030A0"/>
          </a:solidFill>
          <a:ln>
            <a:solidFill>
              <a:srgbClr val="7030A0"/>
            </a:solidFill>
          </a:ln>
          <a:effectLst>
            <a:glow rad="101600">
              <a:srgbClr val="7030A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sz="16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Load Balance</a:t>
            </a:r>
            <a:endParaRPr lang="zh-CN" altLang="en-US" sz="1600"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4" name="Rounded Rectangle 20"/>
          <p:cNvSpPr/>
          <p:nvPr/>
        </p:nvSpPr>
        <p:spPr>
          <a:xfrm>
            <a:off x="3076594" y="3498133"/>
            <a:ext cx="1845482" cy="1130400"/>
          </a:xfrm>
          <a:prstGeom prst="roundRect">
            <a:avLst>
              <a:gd name="adj" fmla="val 17717"/>
            </a:avLst>
          </a:prstGeom>
          <a:solidFill>
            <a:schemeClr val="tx2">
              <a:lumMod val="50000"/>
            </a:schemeClr>
          </a:solidFill>
          <a:ln>
            <a:solidFill>
              <a:schemeClr val="tx2">
                <a:lumMod val="50000"/>
              </a:schemeClr>
            </a:solidFill>
          </a:ln>
          <a:effectLst>
            <a:glow rad="139700">
              <a:schemeClr val="tx2">
                <a:lumMod val="50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sz="20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MapReduce</a:t>
            </a:r>
            <a:endParaRPr lang="en-US" altLang="zh-CN" sz="20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endParaRPr lang="en-US" altLang="zh-CN" sz="5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endParaRPr lang="en-US" altLang="zh-CN" sz="5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r>
              <a:rPr lang="en-US" altLang="zh-CN" sz="20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Runtime</a:t>
            </a:r>
            <a:endParaRPr lang="zh-CN" altLang="en-US" sz="2000"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5" name="TextBox 21"/>
          <p:cNvSpPr txBox="1"/>
          <p:nvPr/>
        </p:nvSpPr>
        <p:spPr>
          <a:xfrm>
            <a:off x="5464800" y="1933200"/>
            <a:ext cx="2738457" cy="400110"/>
          </a:xfrm>
          <a:prstGeom prst="rect">
            <a:avLst/>
          </a:prstGeom>
          <a:noFill/>
        </p:spPr>
        <p:txBody>
          <a:bodyPr wrap="square" rtlCol="0">
            <a:spAutoFit/>
          </a:bodyPr>
          <a:lstStyle/>
          <a:p>
            <a:r>
              <a:rPr lang="en-US" altLang="zh-CN" sz="2000" b="1" u="sng" dirty="0">
                <a:effectLst>
                  <a:outerShdw blurRad="38100" dist="38100" dir="2700000" algn="tl">
                    <a:srgbClr val="000000">
                      <a:alpha val="43137"/>
                    </a:srgbClr>
                  </a:outerShdw>
                </a:effectLst>
              </a:rPr>
              <a:t>Two Primitives: </a:t>
            </a:r>
            <a:endParaRPr lang="en-US" altLang="zh-CN" sz="2000" b="1" dirty="0"/>
          </a:p>
        </p:txBody>
      </p:sp>
      <p:sp>
        <p:nvSpPr>
          <p:cNvPr id="16" name="TextBox 22"/>
          <p:cNvSpPr txBox="1"/>
          <p:nvPr/>
        </p:nvSpPr>
        <p:spPr>
          <a:xfrm>
            <a:off x="5643570" y="2409012"/>
            <a:ext cx="2440798" cy="589392"/>
          </a:xfrm>
          <a:prstGeom prst="rect">
            <a:avLst/>
          </a:prstGeom>
          <a:noFill/>
        </p:spPr>
        <p:txBody>
          <a:bodyPr wrap="square" rtlCol="0">
            <a:spAutoFit/>
          </a:bodyPr>
          <a:lstStyle/>
          <a:p>
            <a:pPr>
              <a:lnSpc>
                <a:spcPct val="120000"/>
              </a:lnSpc>
            </a:pPr>
            <a:r>
              <a:rPr lang="en-US" altLang="zh-CN" sz="1500" b="1" dirty="0">
                <a:effectLst>
                  <a:outerShdw blurRad="38100" dist="38100" dir="2700000" algn="tl">
                    <a:srgbClr val="000000">
                      <a:alpha val="43137"/>
                    </a:srgbClr>
                  </a:outerShdw>
                </a:effectLst>
                <a:latin typeface="Verdana" panose="020B0604030504040204" pitchFamily="34" charset="0"/>
              </a:rPr>
              <a:t>Map </a:t>
            </a:r>
            <a:r>
              <a:rPr lang="en-US" altLang="zh-CN" sz="1335" dirty="0">
                <a:effectLst>
                  <a:outerShdw blurRad="38100" dist="38100" dir="2700000" algn="tl">
                    <a:srgbClr val="000000">
                      <a:alpha val="43137"/>
                    </a:srgbClr>
                  </a:outerShdw>
                </a:effectLst>
                <a:latin typeface="Verdana" panose="020B0604030504040204" pitchFamily="34" charset="0"/>
              </a:rPr>
              <a:t>(</a:t>
            </a:r>
            <a:r>
              <a:rPr lang="en-US" altLang="zh-CN" sz="1335" b="1" i="1" dirty="0">
                <a:latin typeface="Verdana" panose="020B0604030504040204" pitchFamily="34" charset="0"/>
              </a:rPr>
              <a:t>input</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endParaRPr lang="en-US" altLang="zh-CN" sz="1335" dirty="0">
              <a:effectLst>
                <a:outerShdw blurRad="38100" dist="38100" dir="2700000" algn="tl">
                  <a:srgbClr val="000000">
                    <a:alpha val="43137"/>
                  </a:srgbClr>
                </a:outerShdw>
              </a:effectLst>
              <a:latin typeface="Verdana" panose="020B0604030504040204" pitchFamily="34" charset="0"/>
            </a:endParaRPr>
          </a:p>
        </p:txBody>
      </p:sp>
      <p:sp>
        <p:nvSpPr>
          <p:cNvPr id="17" name="TextBox 23"/>
          <p:cNvSpPr txBox="1"/>
          <p:nvPr/>
        </p:nvSpPr>
        <p:spPr>
          <a:xfrm>
            <a:off x="5643570" y="3540114"/>
            <a:ext cx="2559862" cy="339901"/>
          </a:xfrm>
          <a:prstGeom prst="rect">
            <a:avLst/>
          </a:prstGeom>
          <a:noFill/>
        </p:spPr>
        <p:txBody>
          <a:bodyPr wrap="square" rtlCol="0">
            <a:spAutoFit/>
          </a:bodyPr>
          <a:lstStyle/>
          <a:p>
            <a:pPr>
              <a:lnSpc>
                <a:spcPct val="120000"/>
              </a:lnSpc>
            </a:pPr>
            <a:r>
              <a:rPr lang="en-US" altLang="zh-CN" sz="1500" b="1" dirty="0">
                <a:effectLst>
                  <a:outerShdw blurRad="38100" dist="38100" dir="2700000" algn="tl">
                    <a:srgbClr val="000000">
                      <a:alpha val="43137"/>
                    </a:srgbClr>
                  </a:outerShdw>
                </a:effectLst>
                <a:latin typeface="Verdana" panose="020B0604030504040204" pitchFamily="34" charset="0"/>
              </a:rPr>
              <a:t>Reduce </a:t>
            </a:r>
            <a:r>
              <a:rPr lang="en-US" altLang="zh-CN" sz="1335" dirty="0">
                <a:effectLst>
                  <a:outerShdw blurRad="38100" dist="38100" dir="2700000" algn="tl">
                    <a:srgbClr val="000000">
                      <a:alpha val="43137"/>
                    </a:srgbClr>
                  </a:outerShdw>
                </a:effectLst>
                <a:latin typeface="Verdana" panose="020B0604030504040204" pitchFamily="34" charset="0"/>
              </a:rPr>
              <a:t>(</a:t>
            </a:r>
            <a:r>
              <a:rPr lang="en-US" altLang="zh-CN" sz="1335" b="1" i="1" dirty="0">
                <a:latin typeface="Verdana" panose="020B0604030504040204" pitchFamily="34" charset="0"/>
              </a:rPr>
              <a:t>key</a:t>
            </a:r>
            <a:r>
              <a:rPr lang="en-US" altLang="zh-CN" sz="1335" dirty="0">
                <a:effectLst>
                  <a:outerShdw blurRad="38100" dist="38100" dir="2700000" algn="tl">
                    <a:srgbClr val="000000">
                      <a:alpha val="43137"/>
                    </a:srgbClr>
                  </a:outerShdw>
                </a:effectLst>
                <a:latin typeface="Verdana" panose="020B0604030504040204" pitchFamily="34" charset="0"/>
              </a:rPr>
              <a:t>, </a:t>
            </a:r>
            <a:r>
              <a:rPr lang="en-US" altLang="zh-CN" sz="1335" b="1" i="1" dirty="0">
                <a:latin typeface="Verdana" panose="020B0604030504040204" pitchFamily="34" charset="0"/>
              </a:rPr>
              <a:t>values</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p:txBody>
      </p:sp>
      <p:cxnSp>
        <p:nvCxnSpPr>
          <p:cNvPr id="18" name="Straight Connector 24"/>
          <p:cNvCxnSpPr/>
          <p:nvPr/>
        </p:nvCxnSpPr>
        <p:spPr>
          <a:xfrm rot="5400000">
            <a:off x="4691063" y="2170885"/>
            <a:ext cx="952507" cy="476253"/>
          </a:xfrm>
          <a:prstGeom prst="line">
            <a:avLst/>
          </a:prstGeom>
          <a:ln>
            <a:solidFill>
              <a:srgbClr val="DAA600"/>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25"/>
          <p:cNvCxnSpPr/>
          <p:nvPr/>
        </p:nvCxnSpPr>
        <p:spPr>
          <a:xfrm rot="16200000" flipV="1">
            <a:off x="4274342" y="4075899"/>
            <a:ext cx="1785950" cy="476253"/>
          </a:xfrm>
          <a:prstGeom prst="line">
            <a:avLst/>
          </a:prstGeom>
          <a:ln>
            <a:solidFill>
              <a:srgbClr val="DAA6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0 0 L 0 0.11537 " pathEditMode="relative" ptsTypes="AA">
                                      <p:cBhvr>
                                        <p:cTn id="6" dur="750" fill="hold"/>
                                        <p:tgtEl>
                                          <p:spTgt spid="11"/>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23075 " pathEditMode="relative" ptsTypes="AA">
                                      <p:cBhvr>
                                        <p:cTn id="8" dur="750" fill="hold"/>
                                        <p:tgtEl>
                                          <p:spTgt spid="9"/>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 0 L 0 -0.12578 " pathEditMode="relative" ptsTypes="AA">
                                      <p:cBhvr>
                                        <p:cTn id="10" dur="750" fill="hold"/>
                                        <p:tgtEl>
                                          <p:spTgt spid="13"/>
                                        </p:tgtEl>
                                        <p:attrNameLst>
                                          <p:attrName>ppt_x</p:attrName>
                                          <p:attrName>ppt_y</p:attrName>
                                        </p:attrNameLst>
                                      </p:cBhvr>
                                    </p:animMotion>
                                  </p:childTnLst>
                                </p:cTn>
                              </p:par>
                              <p:par>
                                <p:cTn id="11" presetID="10" presetClass="exit" presetSubtype="0" fill="hold" grpId="1" nodeType="with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500"/>
                                        <p:tgtEl>
                                          <p:spTgt spid="11"/>
                                        </p:tgtEl>
                                      </p:cBhvr>
                                    </p:animEffect>
                                    <p:set>
                                      <p:cBhvr>
                                        <p:cTn id="16" dur="1" fill="hold">
                                          <p:stCondLst>
                                            <p:cond delay="499"/>
                                          </p:stCondLst>
                                        </p:cTn>
                                        <p:tgtEl>
                                          <p:spTgt spid="11"/>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0" presetClass="path" presetSubtype="0" accel="50000" decel="50000" fill="hold" grpId="0" nodeType="withEffect">
                                  <p:stCondLst>
                                    <p:cond delay="0"/>
                                  </p:stCondLst>
                                  <p:childTnLst>
                                    <p:animMotion origin="layout" path="M -1.94444E-6 -0.00948 L -1.94444E-6 0.16878 " pathEditMode="relative" rAng="0" ptsTypes="AA">
                                      <p:cBhvr>
                                        <p:cTn id="27" dur="750" fill="hold"/>
                                        <p:tgtEl>
                                          <p:spTgt spid="10"/>
                                        </p:tgtEl>
                                        <p:attrNameLst>
                                          <p:attrName>ppt_x</p:attrName>
                                          <p:attrName>ppt_y</p:attrName>
                                        </p:attrNameLst>
                                      </p:cBhvr>
                                      <p:rCtr x="0" y="89"/>
                                    </p:animMotion>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250"/>
                                        <p:tgtEl>
                                          <p:spTgt spid="18"/>
                                        </p:tgtEl>
                                      </p:cBhvr>
                                    </p:animEffect>
                                  </p:childTnLst>
                                </p:cTn>
                              </p:par>
                              <p:par>
                                <p:cTn id="33" presetID="22" presetClass="entr" presetSubtype="8"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250"/>
                                        <p:tgtEl>
                                          <p:spTgt spid="19"/>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xEl>
                                              <p:pRg st="0" end="0"/>
                                            </p:txEl>
                                          </p:spTgt>
                                        </p:tgtEl>
                                        <p:attrNameLst>
                                          <p:attrName>style.visibility</p:attrName>
                                        </p:attrNameLst>
                                      </p:cBhvr>
                                      <p:to>
                                        <p:strVal val="visible"/>
                                      </p:to>
                                    </p:set>
                                    <p:animEffect transition="in" filter="fade">
                                      <p:cBhvr>
                                        <p:cTn id="45" dur="500"/>
                                        <p:tgtEl>
                                          <p:spTgt spid="16">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xEl>
                                              <p:pRg st="0" end="0"/>
                                            </p:txEl>
                                          </p:spTgt>
                                        </p:tgtEl>
                                        <p:attrNameLst>
                                          <p:attrName>style.visibility</p:attrName>
                                        </p:attrNameLst>
                                      </p:cBhvr>
                                      <p:to>
                                        <p:strVal val="visible"/>
                                      </p:to>
                                    </p:set>
                                    <p:animEffect transition="in" filter="fade">
                                      <p:cBhvr>
                                        <p:cTn id="48"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10" grpId="0" animBg="1"/>
      <p:bldP spid="11" grpId="0" animBg="1"/>
      <p:bldP spid="11" grpId="1" animBg="1"/>
      <p:bldP spid="12" grpId="0" animBg="1"/>
      <p:bldP spid="13" grpId="0" animBg="1"/>
      <p:bldP spid="13" grpId="1" animBg="1"/>
      <p:bldP spid="14" grpId="0" animBg="1"/>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a:t>
            </a:r>
            <a:r>
              <a:rPr kumimoji="1" lang="zh-CN" altLang="en-US" dirty="0"/>
              <a:t> </a:t>
            </a:r>
            <a:r>
              <a:rPr kumimoji="1" lang="en-US" altLang="zh-CN" dirty="0"/>
              <a:t>example</a:t>
            </a:r>
            <a:r>
              <a:rPr kumimoji="1" lang="zh-CN" altLang="en-US" dirty="0"/>
              <a:t>：</a:t>
            </a:r>
            <a:r>
              <a:rPr kumimoji="1" lang="en-US" altLang="zh-CN" dirty="0"/>
              <a:t>Word</a:t>
            </a:r>
            <a:r>
              <a:rPr kumimoji="1" lang="zh-CN" altLang="en-US" dirty="0"/>
              <a:t> </a:t>
            </a:r>
            <a:r>
              <a:rPr kumimoji="1" lang="en-US" altLang="zh-CN" dirty="0"/>
              <a:t>count</a:t>
            </a:r>
            <a:endParaRPr kumimoji="1" lang="zh-CN" altLang="en-US" dirty="0"/>
          </a:p>
        </p:txBody>
      </p:sp>
      <p:sp>
        <p:nvSpPr>
          <p:cNvPr id="3" name="内容占位符 2"/>
          <p:cNvSpPr>
            <a:spLocks noGrp="1"/>
          </p:cNvSpPr>
          <p:nvPr>
            <p:ph idx="1"/>
          </p:nvPr>
        </p:nvSpPr>
        <p:spPr>
          <a:xfrm>
            <a:off x="457200" y="1921396"/>
            <a:ext cx="8229600" cy="2979548"/>
          </a:xfrm>
        </p:spPr>
        <p:txBody>
          <a:bodyPr/>
          <a:lstStyle/>
          <a:p>
            <a:r>
              <a:rPr kumimoji="1" lang="en-US" altLang="zh-CN" b="0" dirty="0"/>
              <a:t>A simplified process of our previous log analysis example</a:t>
            </a:r>
            <a:endParaRPr kumimoji="1" lang="zh-CN" altLang="en-US"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Rectangle 3"/>
          <p:cNvSpPr/>
          <p:nvPr/>
        </p:nvSpPr>
        <p:spPr>
          <a:xfrm>
            <a:off x="723900" y="1129308"/>
            <a:ext cx="7736532" cy="707886"/>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pPr marL="2238375" indent="-2238375"/>
            <a:r>
              <a:rPr lang="en-US" altLang="zh-CN" sz="2000" dirty="0">
                <a:effectLst>
                  <a:outerShdw blurRad="38100" dist="38100" dir="2700000" algn="tl">
                    <a:srgbClr val="000000">
                      <a:alpha val="43137"/>
                    </a:srgbClr>
                  </a:outerShdw>
                </a:effectLst>
                <a:latin typeface="+mn-ea"/>
                <a:cs typeface="Verdana" panose="020B0604030504040204" pitchFamily="34" charset="0"/>
              </a:rPr>
              <a:t>Word Count: Count # occurrences of each word in a collection of documents </a:t>
            </a:r>
            <a:endParaRPr lang="en-US" altLang="zh-CN" sz="2000" dirty="0">
              <a:effectLst>
                <a:outerShdw blurRad="38100" dist="38100" dir="2700000" algn="tl">
                  <a:srgbClr val="000000">
                    <a:alpha val="43137"/>
                  </a:srgbClr>
                </a:outerShdw>
              </a:effectLst>
              <a:latin typeface="+mn-ea"/>
              <a:cs typeface="Verdana" panose="020B0604030504040204" pitchFamily="34" charset="0"/>
            </a:endParaRPr>
          </a:p>
        </p:txBody>
      </p:sp>
      <p:pic>
        <p:nvPicPr>
          <p:cNvPr id="7" name="图片 6"/>
          <p:cNvPicPr>
            <a:picLocks noChangeAspect="1"/>
          </p:cNvPicPr>
          <p:nvPr/>
        </p:nvPicPr>
        <p:blipFill>
          <a:blip r:embed="rId1"/>
          <a:stretch>
            <a:fillRect/>
          </a:stretch>
        </p:blipFill>
        <p:spPr>
          <a:xfrm>
            <a:off x="1943138" y="2849724"/>
            <a:ext cx="5400600" cy="1394466"/>
          </a:xfrm>
          <a:prstGeom prst="rect">
            <a:avLst/>
          </a:prstGeom>
        </p:spPr>
      </p:pic>
      <p:sp>
        <p:nvSpPr>
          <p:cNvPr id="8" name="椭圆 7"/>
          <p:cNvSpPr/>
          <p:nvPr/>
        </p:nvSpPr>
        <p:spPr>
          <a:xfrm>
            <a:off x="6912830" y="2929508"/>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9" name="椭圆 8"/>
          <p:cNvSpPr/>
          <p:nvPr/>
        </p:nvSpPr>
        <p:spPr>
          <a:xfrm>
            <a:off x="6912830" y="3346937"/>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0" name="椭圆 9"/>
          <p:cNvSpPr/>
          <p:nvPr/>
        </p:nvSpPr>
        <p:spPr>
          <a:xfrm>
            <a:off x="6912830" y="3779709"/>
            <a:ext cx="288032" cy="288032"/>
          </a:xfrm>
          <a:prstGeom prst="ellipse">
            <a:avLst/>
          </a:prstGeom>
          <a:solidFill>
            <a:schemeClr val="tx1"/>
          </a:solidFill>
          <a:ln w="12700">
            <a:solidFill>
              <a:schemeClr val="tx1"/>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a:t>
            </a:r>
            <a:r>
              <a:rPr kumimoji="1" lang="zh-CN" altLang="en-US" dirty="0"/>
              <a:t> </a:t>
            </a:r>
            <a:r>
              <a:rPr kumimoji="1" lang="en-US" altLang="zh-CN" dirty="0"/>
              <a:t>example</a:t>
            </a:r>
            <a:r>
              <a:rPr kumimoji="1" lang="zh-CN" altLang="en-US" dirty="0"/>
              <a:t>：</a:t>
            </a:r>
            <a:r>
              <a:rPr kumimoji="1" lang="en-US" altLang="zh-CN" dirty="0"/>
              <a:t>Word</a:t>
            </a:r>
            <a:r>
              <a:rPr kumimoji="1" lang="zh-CN" altLang="en-US" dirty="0"/>
              <a:t> </a:t>
            </a:r>
            <a:r>
              <a:rPr kumimoji="1" lang="en-US" altLang="zh-CN" dirty="0"/>
              <a:t>count</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11" name="内容占位符 10"/>
          <p:cNvSpPr>
            <a:spLocks noGrp="1"/>
          </p:cNvSpPr>
          <p:nvPr>
            <p:ph idx="1"/>
          </p:nvPr>
        </p:nvSpPr>
        <p:spPr>
          <a:xfrm>
            <a:off x="457200" y="1993404"/>
            <a:ext cx="8229600" cy="2907540"/>
          </a:xfrm>
        </p:spPr>
        <p:txBody>
          <a:bodyPr/>
          <a:lstStyle/>
          <a:p>
            <a:r>
              <a:rPr lang="en-US" altLang="zh-CN" dirty="0"/>
              <a:t>Map:</a:t>
            </a:r>
            <a:endParaRPr lang="en-US" altLang="zh-CN" dirty="0"/>
          </a:p>
          <a:p>
            <a:pPr lvl="1"/>
            <a:r>
              <a:rPr lang="en-US" altLang="zh-CN" dirty="0"/>
              <a:t>Parse data and emit each word with a count (1)</a:t>
            </a:r>
            <a:endParaRPr lang="en-US" altLang="zh-CN" dirty="0"/>
          </a:p>
          <a:p>
            <a:r>
              <a:rPr lang="en-US" altLang="zh-CN" dirty="0"/>
              <a:t>Reduce:</a:t>
            </a:r>
            <a:endParaRPr lang="en-US" altLang="zh-CN" dirty="0"/>
          </a:p>
          <a:p>
            <a:pPr lvl="1"/>
            <a:r>
              <a:rPr lang="en-US" altLang="zh-CN" dirty="0"/>
              <a:t>Reduce: sum together counts each key (words)</a:t>
            </a:r>
            <a:endParaRPr lang="en-US" altLang="zh-CN" dirty="0"/>
          </a:p>
        </p:txBody>
      </p:sp>
      <p:sp>
        <p:nvSpPr>
          <p:cNvPr id="12" name="TextBox 4"/>
          <p:cNvSpPr txBox="1"/>
          <p:nvPr/>
        </p:nvSpPr>
        <p:spPr>
          <a:xfrm>
            <a:off x="723900" y="4280962"/>
            <a:ext cx="3630448" cy="924740"/>
          </a:xfrm>
          <a:prstGeom prst="rect">
            <a:avLst/>
          </a:prstGeom>
          <a:noFill/>
        </p:spPr>
        <p:txBody>
          <a:bodyPr wrap="square" rtlCol="0">
            <a:spAutoFit/>
          </a:bodyPr>
          <a:lstStyle/>
          <a:p>
            <a:pPr>
              <a:lnSpc>
                <a:spcPct val="120000"/>
              </a:lnSpc>
            </a:pPr>
            <a:r>
              <a:rPr lang="en-US" altLang="zh-CN" sz="1665" b="1" dirty="0">
                <a:solidFill>
                  <a:srgbClr val="FF0066"/>
                </a:solidFill>
                <a:latin typeface="Verdana" panose="020B0604030504040204" pitchFamily="34" charset="0"/>
              </a:rPr>
              <a:t>map</a:t>
            </a:r>
            <a:r>
              <a:rPr lang="en-US" altLang="zh-CN" sz="1665" dirty="0">
                <a:solidFill>
                  <a:srgbClr val="FF0066"/>
                </a:solidFill>
                <a:latin typeface="Verdana" panose="020B0604030504040204" pitchFamily="34" charset="0"/>
              </a:rPr>
              <a:t> </a:t>
            </a:r>
            <a:r>
              <a:rPr lang="en-US" altLang="zh-CN" sz="1500" dirty="0">
                <a:solidFill>
                  <a:srgbClr val="FF0066"/>
                </a:solidFill>
                <a:latin typeface="Verdana" panose="020B0604030504040204" pitchFamily="34" charset="0"/>
              </a:rPr>
              <a:t>(input) # a shard of file</a:t>
            </a:r>
            <a:endParaRPr lang="en-US" altLang="zh-CN" sz="1500" dirty="0">
              <a:solidFill>
                <a:srgbClr val="FF0066"/>
              </a:solidFill>
              <a:latin typeface="Verdana" panose="020B0604030504040204" pitchFamily="34" charset="0"/>
            </a:endParaRPr>
          </a:p>
          <a:p>
            <a:pPr lvl="1">
              <a:lnSpc>
                <a:spcPct val="120000"/>
              </a:lnSpc>
            </a:pPr>
            <a:r>
              <a:rPr lang="en-US" altLang="zh-CN" sz="1500" dirty="0">
                <a:solidFill>
                  <a:srgbClr val="FF0066"/>
                </a:solidFill>
                <a:latin typeface="Verdana" panose="020B0604030504040204" pitchFamily="34" charset="0"/>
              </a:rPr>
              <a:t>for each word w in input</a:t>
            </a:r>
            <a:endParaRPr lang="en-US" altLang="zh-CN" sz="1500" dirty="0">
              <a:solidFill>
                <a:srgbClr val="FF0066"/>
              </a:solidFill>
              <a:latin typeface="Verdana" panose="020B0604030504040204" pitchFamily="34" charset="0"/>
            </a:endParaRPr>
          </a:p>
          <a:p>
            <a:pPr lvl="1">
              <a:lnSpc>
                <a:spcPct val="120000"/>
              </a:lnSpc>
            </a:pPr>
            <a:r>
              <a:rPr lang="en-US" altLang="zh-CN" sz="1500" dirty="0">
                <a:solidFill>
                  <a:srgbClr val="FF0066"/>
                </a:solidFill>
                <a:latin typeface="Verdana" panose="020B0604030504040204" pitchFamily="34" charset="0"/>
              </a:rPr>
              <a:t>	</a:t>
            </a:r>
            <a:r>
              <a:rPr lang="en-US" altLang="zh-CN" sz="1500" i="1" dirty="0" err="1">
                <a:solidFill>
                  <a:srgbClr val="FF0066"/>
                </a:solidFill>
                <a:latin typeface="Verdana" panose="020B0604030504040204" pitchFamily="34" charset="0"/>
              </a:rPr>
              <a:t>EmitIntermediate</a:t>
            </a:r>
            <a:r>
              <a:rPr lang="en-US" altLang="zh-CN" sz="1500" dirty="0">
                <a:solidFill>
                  <a:srgbClr val="FF0066"/>
                </a:solidFill>
                <a:latin typeface="Verdana" panose="020B0604030504040204" pitchFamily="34" charset="0"/>
              </a:rPr>
              <a:t> (w, “1”);</a:t>
            </a:r>
            <a:endParaRPr lang="en-US" altLang="zh-CN" sz="1500" dirty="0">
              <a:solidFill>
                <a:srgbClr val="FF0066"/>
              </a:solidFill>
              <a:latin typeface="Verdana" panose="020B0604030504040204" pitchFamily="34" charset="0"/>
            </a:endParaRPr>
          </a:p>
        </p:txBody>
      </p:sp>
      <p:sp>
        <p:nvSpPr>
          <p:cNvPr id="13" name="TextBox 5"/>
          <p:cNvSpPr txBox="1"/>
          <p:nvPr/>
        </p:nvSpPr>
        <p:spPr>
          <a:xfrm>
            <a:off x="4684036" y="4176995"/>
            <a:ext cx="3757448" cy="1447897"/>
          </a:xfrm>
          <a:prstGeom prst="rect">
            <a:avLst/>
          </a:prstGeom>
          <a:noFill/>
        </p:spPr>
        <p:txBody>
          <a:bodyPr wrap="square" rtlCol="0">
            <a:spAutoFit/>
          </a:bodyPr>
          <a:lstStyle/>
          <a:p>
            <a:pPr>
              <a:lnSpc>
                <a:spcPct val="120000"/>
              </a:lnSpc>
            </a:pPr>
            <a:r>
              <a:rPr lang="en-US" altLang="zh-CN" sz="1500" b="1" dirty="0">
                <a:solidFill>
                  <a:srgbClr val="FF0066"/>
                </a:solidFill>
                <a:latin typeface="Verdana" panose="020B0604030504040204" pitchFamily="34" charset="0"/>
              </a:rPr>
              <a:t>Reduce</a:t>
            </a:r>
            <a:r>
              <a:rPr lang="en-US" altLang="zh-CN" sz="1500" dirty="0">
                <a:solidFill>
                  <a:srgbClr val="FF0066"/>
                </a:solidFill>
                <a:latin typeface="Verdana" panose="020B0604030504040204" pitchFamily="34" charset="0"/>
              </a:rPr>
              <a:t> (String key, Iterator values)</a:t>
            </a:r>
            <a:endParaRPr lang="en-US" altLang="zh-CN" sz="1500" dirty="0">
              <a:solidFill>
                <a:srgbClr val="FF0066"/>
              </a:solidFill>
              <a:latin typeface="Verdana" panose="020B0604030504040204" pitchFamily="34" charset="0"/>
            </a:endParaRPr>
          </a:p>
          <a:p>
            <a:pPr lvl="1">
              <a:lnSpc>
                <a:spcPct val="120000"/>
              </a:lnSpc>
            </a:pPr>
            <a:r>
              <a:rPr lang="en-US" altLang="zh-CN" sz="1500" dirty="0" err="1">
                <a:solidFill>
                  <a:srgbClr val="FF0066"/>
                </a:solidFill>
                <a:latin typeface="Verdana" panose="020B0604030504040204" pitchFamily="34" charset="0"/>
              </a:rPr>
              <a:t>int</a:t>
            </a:r>
            <a:r>
              <a:rPr lang="en-US" altLang="zh-CN" sz="1500" dirty="0">
                <a:solidFill>
                  <a:srgbClr val="FF0066"/>
                </a:solidFill>
                <a:latin typeface="Verdana" panose="020B0604030504040204" pitchFamily="34" charset="0"/>
              </a:rPr>
              <a:t> result = 0;</a:t>
            </a:r>
            <a:endParaRPr lang="en-US" altLang="zh-CN" sz="1500" dirty="0">
              <a:solidFill>
                <a:srgbClr val="FF0066"/>
              </a:solidFill>
              <a:latin typeface="Verdana" panose="020B0604030504040204" pitchFamily="34" charset="0"/>
            </a:endParaRPr>
          </a:p>
          <a:p>
            <a:pPr lvl="1">
              <a:lnSpc>
                <a:spcPct val="120000"/>
              </a:lnSpc>
            </a:pPr>
            <a:r>
              <a:rPr lang="en-US" altLang="zh-CN" sz="1500" dirty="0">
                <a:solidFill>
                  <a:srgbClr val="FF0066"/>
                </a:solidFill>
                <a:latin typeface="Verdana" panose="020B0604030504040204" pitchFamily="34" charset="0"/>
              </a:rPr>
              <a:t>for each v in values</a:t>
            </a:r>
            <a:endParaRPr lang="en-US" altLang="zh-CN" sz="1500" dirty="0">
              <a:solidFill>
                <a:srgbClr val="FF0066"/>
              </a:solidFill>
              <a:latin typeface="Verdana" panose="020B0604030504040204" pitchFamily="34" charset="0"/>
            </a:endParaRPr>
          </a:p>
          <a:p>
            <a:pPr lvl="2">
              <a:lnSpc>
                <a:spcPct val="120000"/>
              </a:lnSpc>
            </a:pPr>
            <a:r>
              <a:rPr lang="en-US" altLang="zh-CN" sz="1500" dirty="0">
                <a:solidFill>
                  <a:srgbClr val="FF0066"/>
                </a:solidFill>
                <a:latin typeface="Verdana" panose="020B0604030504040204" pitchFamily="34" charset="0"/>
              </a:rPr>
              <a:t>result += </a:t>
            </a:r>
            <a:r>
              <a:rPr lang="en-US" altLang="zh-CN" sz="1500" dirty="0" err="1">
                <a:solidFill>
                  <a:srgbClr val="FF0066"/>
                </a:solidFill>
                <a:latin typeface="Verdana" panose="020B0604030504040204" pitchFamily="34" charset="0"/>
              </a:rPr>
              <a:t>ParseInt</a:t>
            </a:r>
            <a:r>
              <a:rPr lang="en-US" altLang="zh-CN" sz="1500" dirty="0">
                <a:solidFill>
                  <a:srgbClr val="FF0066"/>
                </a:solidFill>
                <a:latin typeface="Verdana" panose="020B0604030504040204" pitchFamily="34" charset="0"/>
              </a:rPr>
              <a:t> (v);</a:t>
            </a:r>
            <a:endParaRPr lang="en-US" altLang="zh-CN" sz="1500" dirty="0">
              <a:solidFill>
                <a:srgbClr val="FF0066"/>
              </a:solidFill>
              <a:latin typeface="Verdana" panose="020B0604030504040204" pitchFamily="34" charset="0"/>
            </a:endParaRPr>
          </a:p>
          <a:p>
            <a:pPr lvl="1">
              <a:lnSpc>
                <a:spcPct val="120000"/>
              </a:lnSpc>
            </a:pPr>
            <a:r>
              <a:rPr lang="en-US" altLang="zh-CN" sz="1500" dirty="0">
                <a:solidFill>
                  <a:srgbClr val="FF0066"/>
                </a:solidFill>
                <a:latin typeface="Verdana" panose="020B0604030504040204" pitchFamily="34" charset="0"/>
              </a:rPr>
              <a:t>emit (</a:t>
            </a:r>
            <a:r>
              <a:rPr lang="en-US" altLang="zh-CN" sz="1500" i="1" dirty="0" err="1">
                <a:solidFill>
                  <a:srgbClr val="FF0066"/>
                </a:solidFill>
                <a:latin typeface="Verdana" panose="020B0604030504040204" pitchFamily="34" charset="0"/>
              </a:rPr>
              <a:t>AsString</a:t>
            </a:r>
            <a:r>
              <a:rPr lang="en-US" altLang="zh-CN" sz="1500" i="1" dirty="0">
                <a:solidFill>
                  <a:srgbClr val="FF0066"/>
                </a:solidFill>
                <a:latin typeface="Verdana" panose="020B0604030504040204" pitchFamily="34" charset="0"/>
              </a:rPr>
              <a:t> </a:t>
            </a:r>
            <a:r>
              <a:rPr lang="en-US" altLang="zh-CN" sz="1500" dirty="0">
                <a:solidFill>
                  <a:srgbClr val="FF0066"/>
                </a:solidFill>
                <a:latin typeface="Verdana" panose="020B0604030504040204" pitchFamily="34" charset="0"/>
              </a:rPr>
              <a:t>(result));</a:t>
            </a:r>
            <a:endParaRPr lang="en-US" altLang="zh-CN" sz="1500" dirty="0">
              <a:solidFill>
                <a:srgbClr val="FF0066"/>
              </a:solidFill>
              <a:latin typeface="Verdana" panose="020B0604030504040204" pitchFamily="34" charset="0"/>
            </a:endParaRPr>
          </a:p>
        </p:txBody>
      </p:sp>
      <p:sp>
        <p:nvSpPr>
          <p:cNvPr id="8" name="Rectangle 3"/>
          <p:cNvSpPr/>
          <p:nvPr/>
        </p:nvSpPr>
        <p:spPr>
          <a:xfrm>
            <a:off x="723900" y="1129308"/>
            <a:ext cx="7736532" cy="707886"/>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pPr marL="2238375" indent="-2238375"/>
            <a:r>
              <a:rPr lang="en-US" altLang="zh-CN" sz="2000" dirty="0">
                <a:effectLst>
                  <a:outerShdw blurRad="38100" dist="38100" dir="2700000" algn="tl">
                    <a:srgbClr val="000000">
                      <a:alpha val="43137"/>
                    </a:srgbClr>
                  </a:outerShdw>
                </a:effectLst>
                <a:latin typeface="+mn-ea"/>
                <a:cs typeface="Verdana" panose="020B0604030504040204" pitchFamily="34" charset="0"/>
              </a:rPr>
              <a:t>Word Count: Count the</a:t>
            </a:r>
            <a:r>
              <a:rPr lang="zh-CN" altLang="en-US" sz="2000" dirty="0">
                <a:effectLst>
                  <a:outerShdw blurRad="38100" dist="38100" dir="2700000" algn="tl">
                    <a:srgbClr val="000000">
                      <a:alpha val="43137"/>
                    </a:srgbClr>
                  </a:outerShdw>
                </a:effectLst>
                <a:latin typeface="+mn-ea"/>
                <a:cs typeface="Verdana" panose="020B0604030504040204" pitchFamily="34" charset="0"/>
              </a:rPr>
              <a:t> </a:t>
            </a:r>
            <a:r>
              <a:rPr lang="en-US" altLang="zh-CN" sz="2000" dirty="0">
                <a:effectLst>
                  <a:outerShdw blurRad="38100" dist="38100" dir="2700000" algn="tl">
                    <a:srgbClr val="000000">
                      <a:alpha val="43137"/>
                    </a:srgbClr>
                  </a:outerShdw>
                </a:effectLst>
                <a:latin typeface="+mn-ea"/>
                <a:cs typeface="Verdana" panose="020B0604030504040204" pitchFamily="34" charset="0"/>
              </a:rPr>
              <a:t>occurrences</a:t>
            </a:r>
            <a:r>
              <a:rPr lang="zh-CN" altLang="en-US" sz="2000" dirty="0">
                <a:effectLst>
                  <a:outerShdw blurRad="38100" dist="38100" dir="2700000" algn="tl">
                    <a:srgbClr val="000000">
                      <a:alpha val="43137"/>
                    </a:srgbClr>
                  </a:outerShdw>
                </a:effectLst>
                <a:latin typeface="+mn-ea"/>
                <a:cs typeface="Verdana" panose="020B0604030504040204" pitchFamily="34" charset="0"/>
              </a:rPr>
              <a:t> </a:t>
            </a:r>
            <a:r>
              <a:rPr lang="en-US" altLang="zh-CN" sz="2000" dirty="0">
                <a:effectLst>
                  <a:outerShdw blurRad="38100" dist="38100" dir="2700000" algn="tl">
                    <a:srgbClr val="000000">
                      <a:alpha val="43137"/>
                    </a:srgbClr>
                  </a:outerShdw>
                </a:effectLst>
                <a:latin typeface="+mn-ea"/>
                <a:cs typeface="Verdana" panose="020B0604030504040204" pitchFamily="34" charset="0"/>
              </a:rPr>
              <a:t>number of each word in a collection of documents </a:t>
            </a:r>
            <a:endParaRPr lang="en-US" altLang="zh-CN" sz="2000" dirty="0">
              <a:effectLst>
                <a:outerShdw blurRad="38100" dist="38100" dir="2700000" algn="tl">
                  <a:srgbClr val="000000">
                    <a:alpha val="43137"/>
                  </a:srgbClr>
                </a:outerShdw>
              </a:effectLst>
              <a:latin typeface="+mn-ea"/>
              <a:cs typeface="Verdana" panose="020B060403050404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1"/>
          <a:srcRect/>
          <a:stretch>
            <a:fillRect/>
          </a:stretch>
        </p:blipFill>
        <p:spPr bwMode="auto">
          <a:xfrm>
            <a:off x="1416822" y="3167730"/>
            <a:ext cx="773889" cy="971661"/>
          </a:xfrm>
          <a:prstGeom prst="rect">
            <a:avLst/>
          </a:prstGeom>
          <a:noFill/>
          <a:ln w="9525">
            <a:noFill/>
            <a:miter lim="800000"/>
            <a:headEnd/>
            <a:tailEnd/>
          </a:ln>
        </p:spPr>
      </p:pic>
      <p:sp>
        <p:nvSpPr>
          <p:cNvPr id="8" name="TextBox 7"/>
          <p:cNvSpPr txBox="1"/>
          <p:nvPr/>
        </p:nvSpPr>
        <p:spPr>
          <a:xfrm>
            <a:off x="1119163" y="4133568"/>
            <a:ext cx="1357337" cy="374398"/>
          </a:xfrm>
          <a:prstGeom prst="rect">
            <a:avLst/>
          </a:prstGeom>
          <a:noFill/>
        </p:spPr>
        <p:txBody>
          <a:bodyPr wrap="square" rtlCol="0">
            <a:spAutoFit/>
          </a:bodyPr>
          <a:lstStyle/>
          <a:p>
            <a:pPr algn="ctr"/>
            <a:r>
              <a:rPr lang="en-US" sz="1835"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user</a:t>
            </a:r>
            <a:endParaRPr lang="en-US" sz="1835"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9" name="Cloud Callout 8"/>
          <p:cNvSpPr/>
          <p:nvPr/>
        </p:nvSpPr>
        <p:spPr>
          <a:xfrm>
            <a:off x="2012138" y="2647158"/>
            <a:ext cx="714380" cy="416722"/>
          </a:xfrm>
          <a:prstGeom prst="cloudCallout">
            <a:avLst>
              <a:gd name="adj1" fmla="val -52540"/>
              <a:gd name="adj2" fmla="val 88622"/>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Verdana" panose="020B0604030504040204" pitchFamily="34" charset="0"/>
              <a:ea typeface="Verdana" panose="020B0604030504040204" pitchFamily="34" charset="0"/>
              <a:cs typeface="Verdana" panose="020B0604030504040204" pitchFamily="34" charset="0"/>
            </a:endParaRPr>
          </a:p>
        </p:txBody>
      </p:sp>
      <p:sp>
        <p:nvSpPr>
          <p:cNvPr id="27" name="Folded Corner 26"/>
          <p:cNvSpPr/>
          <p:nvPr/>
        </p:nvSpPr>
        <p:spPr>
          <a:xfrm>
            <a:off x="5405444" y="1932758"/>
            <a:ext cx="2797988" cy="3274242"/>
          </a:xfrm>
          <a:prstGeom prst="foldedCorner">
            <a:avLst/>
          </a:prstGeom>
          <a:solidFill>
            <a:srgbClr val="FFFFCD"/>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28" name="Rounded Rectangle 27"/>
          <p:cNvSpPr/>
          <p:nvPr/>
        </p:nvSpPr>
        <p:spPr>
          <a:xfrm>
            <a:off x="3083708" y="2935662"/>
            <a:ext cx="1845482" cy="500063"/>
          </a:xfrm>
          <a:prstGeom prst="roundRect">
            <a:avLst>
              <a:gd name="adj" fmla="val 17717"/>
            </a:avLst>
          </a:prstGeom>
          <a:solidFill>
            <a:srgbClr val="FF4747"/>
          </a:solidFill>
          <a:ln>
            <a:noFill/>
          </a:ln>
          <a:effectLst>
            <a:glow rad="101600">
              <a:srgbClr val="C00000">
                <a:alpha val="40000"/>
              </a:srgb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Functionality</a:t>
            </a:r>
            <a:endParaRPr lang="en-US" altLang="zh-CN"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29" name="Rounded Rectangle 28"/>
          <p:cNvSpPr/>
          <p:nvPr/>
        </p:nvSpPr>
        <p:spPr>
          <a:xfrm>
            <a:off x="3083708" y="3540133"/>
            <a:ext cx="1845482" cy="1131102"/>
          </a:xfrm>
          <a:prstGeom prst="roundRect">
            <a:avLst>
              <a:gd name="adj" fmla="val 17717"/>
            </a:avLst>
          </a:prstGeom>
          <a:solidFill>
            <a:schemeClr val="tx2">
              <a:lumMod val="50000"/>
            </a:schemeClr>
          </a:solidFill>
          <a:ln>
            <a:solidFill>
              <a:schemeClr val="tx2">
                <a:lumMod val="50000"/>
              </a:schemeClr>
            </a:solidFill>
          </a:ln>
          <a:effectLst>
            <a:glow rad="139700">
              <a:schemeClr val="tx2">
                <a:lumMod val="50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60000" tIns="0" bIns="60000" rtlCol="0" anchor="ctr"/>
          <a:lstStyle/>
          <a:p>
            <a:pPr algn="ctr"/>
            <a:r>
              <a:rPr lang="en-US" altLang="zh-CN" sz="20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MapReduce</a:t>
            </a:r>
            <a:endParaRPr lang="en-US" altLang="zh-CN" sz="20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endParaRPr lang="en-US" altLang="zh-CN" sz="5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endParaRPr lang="en-US" altLang="zh-CN" sz="5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a:p>
            <a:pPr algn="ctr"/>
            <a:r>
              <a:rPr lang="en-US" altLang="zh-CN" sz="20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Runtime</a:t>
            </a:r>
            <a:endParaRPr lang="zh-CN" altLang="en-US" sz="2000"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30" name="TextBox 29"/>
          <p:cNvSpPr txBox="1"/>
          <p:nvPr/>
        </p:nvSpPr>
        <p:spPr>
          <a:xfrm>
            <a:off x="5464800" y="1932758"/>
            <a:ext cx="2738457" cy="400110"/>
          </a:xfrm>
          <a:prstGeom prst="rect">
            <a:avLst/>
          </a:prstGeom>
          <a:noFill/>
        </p:spPr>
        <p:txBody>
          <a:bodyPr wrap="square" rtlCol="0">
            <a:spAutoFit/>
          </a:bodyPr>
          <a:lstStyle/>
          <a:p>
            <a:r>
              <a:rPr lang="en-US" altLang="zh-CN" sz="2000" b="1" u="sng" dirty="0">
                <a:effectLst>
                  <a:outerShdw blurRad="38100" dist="38100" dir="2700000" algn="tl">
                    <a:srgbClr val="000000">
                      <a:alpha val="43137"/>
                    </a:srgbClr>
                  </a:outerShdw>
                </a:effectLst>
              </a:rPr>
              <a:t>Two Primitive: </a:t>
            </a:r>
            <a:endParaRPr lang="en-US" altLang="zh-CN" sz="2000" b="1" dirty="0"/>
          </a:p>
        </p:txBody>
      </p:sp>
      <p:sp>
        <p:nvSpPr>
          <p:cNvPr id="31" name="TextBox 30"/>
          <p:cNvSpPr txBox="1"/>
          <p:nvPr/>
        </p:nvSpPr>
        <p:spPr>
          <a:xfrm>
            <a:off x="5643570" y="2409012"/>
            <a:ext cx="2440798" cy="1081706"/>
          </a:xfrm>
          <a:prstGeom prst="rect">
            <a:avLst/>
          </a:prstGeom>
          <a:noFill/>
        </p:spPr>
        <p:txBody>
          <a:bodyPr wrap="square" rtlCol="0">
            <a:spAutoFit/>
          </a:bodyPr>
          <a:lstStyle/>
          <a:p>
            <a:pPr>
              <a:lnSpc>
                <a:spcPct val="120000"/>
              </a:lnSpc>
            </a:pPr>
            <a:r>
              <a:rPr lang="en-US" altLang="zh-CN" sz="1500" b="1" dirty="0">
                <a:effectLst>
                  <a:outerShdw blurRad="38100" dist="38100" dir="2700000" algn="tl">
                    <a:srgbClr val="000000">
                      <a:alpha val="43137"/>
                    </a:srgbClr>
                  </a:outerShdw>
                </a:effectLst>
                <a:latin typeface="Verdana" panose="020B0604030504040204" pitchFamily="34" charset="0"/>
              </a:rPr>
              <a:t>Map </a:t>
            </a:r>
            <a:r>
              <a:rPr lang="en-US" altLang="zh-CN" sz="1335" dirty="0">
                <a:effectLst>
                  <a:outerShdw blurRad="38100" dist="38100" dir="2700000" algn="tl">
                    <a:srgbClr val="000000">
                      <a:alpha val="43137"/>
                    </a:srgbClr>
                  </a:outerShdw>
                </a:effectLst>
                <a:latin typeface="Verdana" panose="020B0604030504040204" pitchFamily="34" charset="0"/>
              </a:rPr>
              <a:t>(</a:t>
            </a:r>
            <a:r>
              <a:rPr lang="en-US" altLang="zh-CN" sz="1335" b="1" i="1" dirty="0">
                <a:latin typeface="Verdana" panose="020B0604030504040204" pitchFamily="34" charset="0"/>
              </a:rPr>
              <a:t>input</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r>
              <a:rPr lang="en-US" altLang="zh-CN" sz="1335" dirty="0">
                <a:effectLst>
                  <a:outerShdw blurRad="38100" dist="38100" dir="2700000" algn="tl">
                    <a:srgbClr val="000000">
                      <a:alpha val="43137"/>
                    </a:srgbClr>
                  </a:outerShdw>
                </a:effectLst>
                <a:latin typeface="Verdana" panose="020B0604030504040204" pitchFamily="34" charset="0"/>
              </a:rPr>
              <a:t>    for each </a:t>
            </a:r>
            <a:r>
              <a:rPr lang="en-US" altLang="zh-CN" sz="1335" b="1" i="1" dirty="0">
                <a:latin typeface="Verdana" panose="020B0604030504040204" pitchFamily="34" charset="0"/>
              </a:rPr>
              <a:t>word</a:t>
            </a:r>
            <a:r>
              <a:rPr lang="en-US" altLang="zh-CN" sz="1335" dirty="0">
                <a:effectLst>
                  <a:outerShdw blurRad="38100" dist="38100" dir="2700000" algn="tl">
                    <a:srgbClr val="000000">
                      <a:alpha val="43137"/>
                    </a:srgbClr>
                  </a:outerShdw>
                </a:effectLst>
                <a:latin typeface="Verdana" panose="020B0604030504040204" pitchFamily="34" charset="0"/>
              </a:rPr>
              <a:t> in </a:t>
            </a:r>
            <a:r>
              <a:rPr lang="en-US" altLang="zh-CN" sz="1335" b="1" i="1" dirty="0">
                <a:latin typeface="Verdana" panose="020B0604030504040204" pitchFamily="34" charset="0"/>
              </a:rPr>
              <a:t>input</a:t>
            </a:r>
            <a:endParaRPr lang="en-US" altLang="zh-CN" sz="1335" b="1" i="1" dirty="0">
              <a:latin typeface="Verdana" panose="020B0604030504040204" pitchFamily="34" charset="0"/>
            </a:endParaRPr>
          </a:p>
          <a:p>
            <a:pPr>
              <a:lnSpc>
                <a:spcPct val="120000"/>
              </a:lnSpc>
            </a:pPr>
            <a:r>
              <a:rPr lang="en-US" altLang="zh-CN" sz="1335" dirty="0">
                <a:effectLst>
                  <a:outerShdw blurRad="38100" dist="38100" dir="2700000" algn="tl">
                    <a:srgbClr val="000000">
                      <a:alpha val="43137"/>
                    </a:srgbClr>
                  </a:outerShdw>
                </a:effectLst>
                <a:latin typeface="Verdana" panose="020B0604030504040204" pitchFamily="34" charset="0"/>
              </a:rPr>
              <a:t>         emit (</a:t>
            </a:r>
            <a:r>
              <a:rPr lang="en-US" altLang="zh-CN" sz="1335" b="1" i="1" dirty="0">
                <a:latin typeface="Verdana" panose="020B0604030504040204" pitchFamily="34" charset="0"/>
              </a:rPr>
              <a:t>word</a:t>
            </a:r>
            <a:r>
              <a:rPr lang="en-US" altLang="zh-CN" sz="1335" dirty="0">
                <a:effectLst>
                  <a:outerShdw blurRad="38100" dist="38100" dir="2700000" algn="tl">
                    <a:srgbClr val="000000">
                      <a:alpha val="43137"/>
                    </a:srgbClr>
                  </a:outerShdw>
                </a:effectLst>
                <a:latin typeface="Verdana" panose="020B0604030504040204" pitchFamily="34" charset="0"/>
              </a:rPr>
              <a:t>, </a:t>
            </a:r>
            <a:r>
              <a:rPr lang="en-US" altLang="zh-CN" sz="1335" b="1" i="1" dirty="0">
                <a:latin typeface="Verdana" panose="020B0604030504040204" pitchFamily="34" charset="0"/>
              </a:rPr>
              <a:t>1</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endParaRPr lang="en-US" altLang="zh-CN" sz="1335" dirty="0">
              <a:effectLst>
                <a:outerShdw blurRad="38100" dist="38100" dir="2700000" algn="tl">
                  <a:srgbClr val="000000">
                    <a:alpha val="43137"/>
                  </a:srgbClr>
                </a:outerShdw>
              </a:effectLst>
              <a:latin typeface="Verdana" panose="020B0604030504040204" pitchFamily="34" charset="0"/>
            </a:endParaRPr>
          </a:p>
        </p:txBody>
      </p:sp>
      <p:sp>
        <p:nvSpPr>
          <p:cNvPr id="32" name="TextBox 31"/>
          <p:cNvSpPr txBox="1"/>
          <p:nvPr/>
        </p:nvSpPr>
        <p:spPr>
          <a:xfrm>
            <a:off x="5643570" y="3540114"/>
            <a:ext cx="2738456" cy="1574085"/>
          </a:xfrm>
          <a:prstGeom prst="rect">
            <a:avLst/>
          </a:prstGeom>
          <a:noFill/>
        </p:spPr>
        <p:txBody>
          <a:bodyPr wrap="square" rtlCol="0">
            <a:spAutoFit/>
          </a:bodyPr>
          <a:lstStyle/>
          <a:p>
            <a:pPr>
              <a:lnSpc>
                <a:spcPct val="120000"/>
              </a:lnSpc>
            </a:pPr>
            <a:r>
              <a:rPr lang="en-US" altLang="zh-CN" sz="1500" b="1" dirty="0">
                <a:effectLst>
                  <a:outerShdw blurRad="38100" dist="38100" dir="2700000" algn="tl">
                    <a:srgbClr val="000000">
                      <a:alpha val="43137"/>
                    </a:srgbClr>
                  </a:outerShdw>
                </a:effectLst>
                <a:latin typeface="Verdana" panose="020B0604030504040204" pitchFamily="34" charset="0"/>
              </a:rPr>
              <a:t>Reduce </a:t>
            </a:r>
            <a:r>
              <a:rPr lang="en-US" altLang="zh-CN" sz="1335" dirty="0">
                <a:effectLst>
                  <a:outerShdw blurRad="38100" dist="38100" dir="2700000" algn="tl">
                    <a:srgbClr val="000000">
                      <a:alpha val="43137"/>
                    </a:srgbClr>
                  </a:outerShdw>
                </a:effectLst>
                <a:latin typeface="Verdana" panose="020B0604030504040204" pitchFamily="34" charset="0"/>
              </a:rPr>
              <a:t>(</a:t>
            </a:r>
            <a:r>
              <a:rPr lang="en-US" altLang="zh-CN" sz="1335" b="1" i="1" dirty="0">
                <a:latin typeface="Verdana" panose="020B0604030504040204" pitchFamily="34" charset="0"/>
              </a:rPr>
              <a:t>key</a:t>
            </a:r>
            <a:r>
              <a:rPr lang="en-US" altLang="zh-CN" sz="1335" dirty="0">
                <a:effectLst>
                  <a:outerShdw blurRad="38100" dist="38100" dir="2700000" algn="tl">
                    <a:srgbClr val="000000">
                      <a:alpha val="43137"/>
                    </a:srgbClr>
                  </a:outerShdw>
                </a:effectLst>
                <a:latin typeface="Verdana" panose="020B0604030504040204" pitchFamily="34" charset="0"/>
              </a:rPr>
              <a:t>, </a:t>
            </a:r>
            <a:r>
              <a:rPr lang="en-US" altLang="zh-CN" sz="1335" b="1" i="1" dirty="0">
                <a:latin typeface="Verdana" panose="020B0604030504040204" pitchFamily="34" charset="0"/>
              </a:rPr>
              <a:t>values</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r>
              <a:rPr lang="en-US" altLang="zh-CN" sz="1335" dirty="0">
                <a:effectLst>
                  <a:outerShdw blurRad="38100" dist="38100" dir="2700000" algn="tl">
                    <a:srgbClr val="000000">
                      <a:alpha val="43137"/>
                    </a:srgbClr>
                  </a:outerShdw>
                </a:effectLst>
                <a:latin typeface="Verdana" panose="020B0604030504040204" pitchFamily="34" charset="0"/>
              </a:rPr>
              <a:t>    int </a:t>
            </a:r>
            <a:r>
              <a:rPr lang="en-US" altLang="zh-CN" sz="1335" b="1" i="1" dirty="0">
                <a:latin typeface="Verdana" panose="020B0604030504040204" pitchFamily="34" charset="0"/>
              </a:rPr>
              <a:t>sum</a:t>
            </a:r>
            <a:r>
              <a:rPr lang="en-US" altLang="zh-CN" sz="1335" dirty="0">
                <a:latin typeface="Verdana" panose="020B0604030504040204" pitchFamily="34" charset="0"/>
              </a:rPr>
              <a:t> </a:t>
            </a:r>
            <a:r>
              <a:rPr lang="en-US" altLang="zh-CN" sz="1335" dirty="0">
                <a:effectLst>
                  <a:outerShdw blurRad="38100" dist="38100" dir="2700000" algn="tl">
                    <a:srgbClr val="000000">
                      <a:alpha val="43137"/>
                    </a:srgbClr>
                  </a:outerShdw>
                </a:effectLst>
                <a:latin typeface="Verdana" panose="020B0604030504040204" pitchFamily="34" charset="0"/>
              </a:rPr>
              <a:t>= 0;</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r>
              <a:rPr lang="en-US" altLang="zh-CN" sz="1335" dirty="0">
                <a:effectLst>
                  <a:outerShdw blurRad="38100" dist="38100" dir="2700000" algn="tl">
                    <a:srgbClr val="000000">
                      <a:alpha val="43137"/>
                    </a:srgbClr>
                  </a:outerShdw>
                </a:effectLst>
                <a:latin typeface="Verdana" panose="020B0604030504040204" pitchFamily="34" charset="0"/>
              </a:rPr>
              <a:t>    for each </a:t>
            </a:r>
            <a:r>
              <a:rPr lang="en-US" altLang="zh-CN" sz="1335" b="1" i="1" dirty="0">
                <a:latin typeface="Verdana" panose="020B0604030504040204" pitchFamily="34" charset="0"/>
              </a:rPr>
              <a:t>value</a:t>
            </a:r>
            <a:r>
              <a:rPr lang="en-US" altLang="zh-CN" sz="1335" dirty="0">
                <a:latin typeface="Verdana" panose="020B0604030504040204" pitchFamily="34" charset="0"/>
              </a:rPr>
              <a:t> </a:t>
            </a:r>
            <a:r>
              <a:rPr lang="en-US" altLang="zh-CN" sz="1335" dirty="0">
                <a:effectLst>
                  <a:outerShdw blurRad="38100" dist="38100" dir="2700000" algn="tl">
                    <a:srgbClr val="000000">
                      <a:alpha val="43137"/>
                    </a:srgbClr>
                  </a:outerShdw>
                </a:effectLst>
                <a:latin typeface="Verdana" panose="020B0604030504040204" pitchFamily="34" charset="0"/>
              </a:rPr>
              <a:t>in </a:t>
            </a:r>
            <a:r>
              <a:rPr lang="en-US" altLang="zh-CN" sz="1335" b="1" i="1" dirty="0">
                <a:latin typeface="Verdana" panose="020B0604030504040204" pitchFamily="34" charset="0"/>
              </a:rPr>
              <a:t>values</a:t>
            </a:r>
            <a:endParaRPr lang="en-US" altLang="zh-CN" sz="1335" b="1" i="1" dirty="0">
              <a:latin typeface="Verdana" panose="020B0604030504040204" pitchFamily="34" charset="0"/>
            </a:endParaRPr>
          </a:p>
          <a:p>
            <a:pPr>
              <a:lnSpc>
                <a:spcPct val="120000"/>
              </a:lnSpc>
            </a:pPr>
            <a:r>
              <a:rPr lang="en-US" altLang="zh-CN" sz="1335" dirty="0">
                <a:effectLst>
                  <a:outerShdw blurRad="38100" dist="38100" dir="2700000" algn="tl">
                    <a:srgbClr val="000000">
                      <a:alpha val="43137"/>
                    </a:srgbClr>
                  </a:outerShdw>
                </a:effectLst>
                <a:latin typeface="Verdana" panose="020B0604030504040204" pitchFamily="34" charset="0"/>
              </a:rPr>
              <a:t>         </a:t>
            </a:r>
            <a:r>
              <a:rPr lang="en-US" altLang="zh-CN" sz="1335" b="1" i="1" dirty="0">
                <a:latin typeface="Verdana" panose="020B0604030504040204" pitchFamily="34" charset="0"/>
              </a:rPr>
              <a:t>sum</a:t>
            </a:r>
            <a:r>
              <a:rPr lang="en-US" altLang="zh-CN" sz="1335" dirty="0">
                <a:latin typeface="Verdana" panose="020B0604030504040204" pitchFamily="34" charset="0"/>
              </a:rPr>
              <a:t> </a:t>
            </a:r>
            <a:r>
              <a:rPr lang="en-US" altLang="zh-CN" sz="1335" dirty="0">
                <a:effectLst>
                  <a:outerShdw blurRad="38100" dist="38100" dir="2700000" algn="tl">
                    <a:srgbClr val="000000">
                      <a:alpha val="43137"/>
                    </a:srgbClr>
                  </a:outerShdw>
                </a:effectLst>
                <a:latin typeface="Verdana" panose="020B0604030504040204" pitchFamily="34" charset="0"/>
              </a:rPr>
              <a:t>+= </a:t>
            </a:r>
            <a:r>
              <a:rPr lang="en-US" altLang="zh-CN" sz="1335" b="1" i="1" dirty="0">
                <a:latin typeface="Verdana" panose="020B0604030504040204" pitchFamily="34" charset="0"/>
              </a:rPr>
              <a:t>value</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r>
              <a:rPr lang="en-US" altLang="zh-CN" sz="1335" dirty="0">
                <a:effectLst>
                  <a:outerShdw blurRad="38100" dist="38100" dir="2700000" algn="tl">
                    <a:srgbClr val="000000">
                      <a:alpha val="43137"/>
                    </a:srgbClr>
                  </a:outerShdw>
                </a:effectLst>
                <a:latin typeface="Verdana" panose="020B0604030504040204" pitchFamily="34" charset="0"/>
              </a:rPr>
              <a:t>    emit (</a:t>
            </a:r>
            <a:r>
              <a:rPr lang="en-US" altLang="zh-CN" sz="1335" b="1" i="1" dirty="0">
                <a:latin typeface="Verdana" panose="020B0604030504040204" pitchFamily="34" charset="0"/>
              </a:rPr>
              <a:t>word</a:t>
            </a:r>
            <a:r>
              <a:rPr lang="en-US" altLang="zh-CN" sz="1335" i="1" dirty="0">
                <a:effectLst>
                  <a:outerShdw blurRad="38100" dist="38100" dir="2700000" algn="tl">
                    <a:srgbClr val="000000">
                      <a:alpha val="43137"/>
                    </a:srgbClr>
                  </a:outerShdw>
                </a:effectLst>
                <a:latin typeface="Verdana" panose="020B0604030504040204" pitchFamily="34" charset="0"/>
              </a:rPr>
              <a:t>, </a:t>
            </a:r>
            <a:r>
              <a:rPr lang="en-US" altLang="zh-CN" sz="1335" b="1" i="1" dirty="0">
                <a:latin typeface="Verdana" panose="020B0604030504040204" pitchFamily="34" charset="0"/>
              </a:rPr>
              <a:t>sum</a:t>
            </a:r>
            <a:r>
              <a:rPr lang="en-US" altLang="zh-CN" sz="1335" dirty="0">
                <a:effectLst>
                  <a:outerShdw blurRad="38100" dist="38100" dir="2700000" algn="tl">
                    <a:srgbClr val="000000">
                      <a:alpha val="43137"/>
                    </a:srgbClr>
                  </a:outerShdw>
                </a:effectLst>
                <a:latin typeface="Verdana" panose="020B0604030504040204" pitchFamily="34" charset="0"/>
              </a:rPr>
              <a:t>)</a:t>
            </a:r>
            <a:endParaRPr lang="en-US" altLang="zh-CN" sz="1335" dirty="0">
              <a:effectLst>
                <a:outerShdw blurRad="38100" dist="38100" dir="2700000" algn="tl">
                  <a:srgbClr val="000000">
                    <a:alpha val="43137"/>
                  </a:srgbClr>
                </a:outerShdw>
              </a:effectLst>
              <a:latin typeface="Verdana" panose="020B0604030504040204" pitchFamily="34" charset="0"/>
            </a:endParaRPr>
          </a:p>
          <a:p>
            <a:pPr>
              <a:lnSpc>
                <a:spcPct val="120000"/>
              </a:lnSpc>
            </a:pPr>
            <a:endParaRPr lang="en-US" altLang="zh-CN" sz="1335" dirty="0">
              <a:effectLst>
                <a:outerShdw blurRad="38100" dist="38100" dir="2700000" algn="tl">
                  <a:srgbClr val="000000">
                    <a:alpha val="43137"/>
                  </a:srgbClr>
                </a:outerShdw>
              </a:effectLst>
              <a:latin typeface="Verdana" panose="020B0604030504040204" pitchFamily="34" charset="0"/>
            </a:endParaRPr>
          </a:p>
        </p:txBody>
      </p:sp>
      <p:cxnSp>
        <p:nvCxnSpPr>
          <p:cNvPr id="33" name="Straight Connector 32"/>
          <p:cNvCxnSpPr/>
          <p:nvPr/>
        </p:nvCxnSpPr>
        <p:spPr>
          <a:xfrm rot="5400000">
            <a:off x="4691063" y="2170885"/>
            <a:ext cx="952507" cy="476253"/>
          </a:xfrm>
          <a:prstGeom prst="line">
            <a:avLst/>
          </a:prstGeom>
          <a:ln>
            <a:solidFill>
              <a:srgbClr val="DAA600"/>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flipV="1">
            <a:off x="4274342" y="4075899"/>
            <a:ext cx="1785950" cy="476253"/>
          </a:xfrm>
          <a:prstGeom prst="line">
            <a:avLst/>
          </a:prstGeom>
          <a:ln>
            <a:solidFill>
              <a:srgbClr val="DAA600"/>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416822" y="2540000"/>
            <a:ext cx="1394277" cy="297658"/>
          </a:xfrm>
          <a:prstGeom prst="rect">
            <a:avLst/>
          </a:prstGeom>
          <a:solidFill>
            <a:srgbClr val="0070C0"/>
          </a:solidFill>
          <a:ln w="38100">
            <a:solidFill>
              <a:srgbClr val="0070C0"/>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none" lIns="76200" tIns="38100" rIns="76200" bIns="38100" numCol="1" spcCol="0" rtlCol="0" fromWordArt="0" anchor="ctr" anchorCtr="0" forceAA="0" compatLnSpc="1">
            <a:noAutofit/>
          </a:bodyPr>
          <a:lstStyle>
            <a:defPPr>
              <a:defRPr lang="en-US"/>
            </a:defPPr>
            <a:lvl1pPr algn="ctr">
              <a:defRPr sz="2800" b="1" i="1">
                <a:solidFill>
                  <a:schemeClr val="lt1"/>
                </a:solidFill>
                <a:effectLst>
                  <a:outerShdw blurRad="38100" dist="38100" dir="2700000" algn="tl">
                    <a:srgbClr val="000000">
                      <a:alpha val="43137"/>
                    </a:srgbClr>
                  </a:outerShdw>
                </a:effectLst>
                <a:latin typeface="Candara" panose="020E0502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dirty="0"/>
              <a:t>Word Count</a:t>
            </a:r>
            <a:endParaRPr lang="en-US" sz="2000" dirty="0"/>
          </a:p>
        </p:txBody>
      </p:sp>
      <p:sp>
        <p:nvSpPr>
          <p:cNvPr id="17" name="标题 1"/>
          <p:cNvSpPr>
            <a:spLocks noGrp="1"/>
          </p:cNvSpPr>
          <p:nvPr>
            <p:ph type="title"/>
          </p:nvPr>
        </p:nvSpPr>
        <p:spPr>
          <a:xfrm>
            <a:off x="457200" y="228866"/>
            <a:ext cx="8229600" cy="900442"/>
          </a:xfrm>
        </p:spPr>
        <p:txBody>
          <a:bodyPr/>
          <a:lstStyle/>
          <a:p>
            <a:r>
              <a:rPr kumimoji="1" lang="en-US" altLang="zh-CN" dirty="0"/>
              <a:t>MapReduce Programming Model </a:t>
            </a:r>
            <a:endParaRPr kumimoji="1" lang="zh-CN" altLang="en-US" dirty="0"/>
          </a:p>
        </p:txBody>
      </p:sp>
      <p:sp>
        <p:nvSpPr>
          <p:cNvPr id="16" name="文本框 15"/>
          <p:cNvSpPr txBox="1"/>
          <p:nvPr/>
        </p:nvSpPr>
        <p:spPr>
          <a:xfrm>
            <a:off x="542100" y="1690321"/>
            <a:ext cx="3297222" cy="646331"/>
          </a:xfrm>
          <a:prstGeom prst="rect">
            <a:avLst/>
          </a:prstGeom>
          <a:noFill/>
        </p:spPr>
        <p:txBody>
          <a:bodyPr wrap="square">
            <a:spAutoFit/>
          </a:bodyPr>
          <a:lstStyle/>
          <a:p>
            <a:pPr algn="ctr"/>
            <a:r>
              <a:rPr kumimoji="1" lang="en-US" altLang="zh-CN" dirty="0"/>
              <a:t>E.g.,</a:t>
            </a:r>
            <a:r>
              <a:rPr kumimoji="1" lang="zh-CN" altLang="en-US" dirty="0"/>
              <a:t> </a:t>
            </a:r>
            <a:r>
              <a:rPr kumimoji="1" lang="en-US" altLang="zh-CN" dirty="0"/>
              <a:t>to</a:t>
            </a:r>
            <a:r>
              <a:rPr kumimoji="1" lang="zh-CN" altLang="en-US" dirty="0"/>
              <a:t> </a:t>
            </a:r>
            <a:r>
              <a:rPr kumimoji="1" lang="en-US" altLang="zh-CN" dirty="0"/>
              <a:t>find</a:t>
            </a:r>
            <a:r>
              <a:rPr kumimoji="1" lang="zh-CN" altLang="en-US" dirty="0"/>
              <a:t>  </a:t>
            </a:r>
            <a:r>
              <a:rPr kumimoji="1" lang="en-US" altLang="zh-CN" dirty="0"/>
              <a:t>the</a:t>
            </a:r>
            <a:r>
              <a:rPr kumimoji="1" lang="zh-CN" altLang="en-US" dirty="0"/>
              <a:t> </a:t>
            </a:r>
            <a:r>
              <a:rPr kumimoji="1" lang="en-US" altLang="zh-CN" dirty="0"/>
              <a:t>most</a:t>
            </a:r>
            <a:r>
              <a:rPr kumimoji="1" lang="zh-CN" altLang="en-US" dirty="0"/>
              <a:t> </a:t>
            </a:r>
            <a:endParaRPr kumimoji="1" lang="en-US" altLang="zh-CN" dirty="0"/>
          </a:p>
          <a:p>
            <a:pPr algn="ctr"/>
            <a:r>
              <a:rPr kumimoji="1" lang="en-US" altLang="zh-CN" dirty="0"/>
              <a:t>popular</a:t>
            </a:r>
            <a:r>
              <a:rPr kumimoji="1" lang="zh-CN" altLang="en-US" dirty="0"/>
              <a:t> </a:t>
            </a:r>
            <a:r>
              <a:rPr kumimoji="1" lang="en-US" altLang="zh-CN" dirty="0"/>
              <a:t>keywords</a:t>
            </a:r>
            <a:r>
              <a:rPr kumimoji="1" lang="zh-CN" altLang="en-US" dirty="0"/>
              <a:t> </a:t>
            </a:r>
            <a:r>
              <a:rPr kumimoji="1" lang="en-US" altLang="zh-CN" dirty="0"/>
              <a:t>(</a:t>
            </a:r>
            <a:r>
              <a:rPr kumimoji="1" lang="zh-CN" altLang="en-US" dirty="0"/>
              <a:t>热词</a:t>
            </a:r>
            <a:r>
              <a:rPr kumimoji="1"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750"/>
                                        <p:tgtEl>
                                          <p:spTgt spid="35"/>
                                        </p:tgtEl>
                                      </p:cBhvr>
                                    </p:animEffect>
                                  </p:childTnLst>
                                </p:cTn>
                              </p:par>
                            </p:childTnLst>
                          </p:cTn>
                        </p:par>
                        <p:par>
                          <p:cTn id="8" fill="hold">
                            <p:stCondLst>
                              <p:cond delay="1000"/>
                            </p:stCondLst>
                            <p:childTnLst>
                              <p:par>
                                <p:cTn id="9" presetID="0" presetClass="path" presetSubtype="0" accel="50000" decel="50000" fill="hold" grpId="2" nodeType="afterEffect">
                                  <p:stCondLst>
                                    <p:cond delay="0"/>
                                  </p:stCondLst>
                                  <p:childTnLst>
                                    <p:animMotion origin="layout" path="M 0 0 L 0.29913 0.10474 " pathEditMode="relative" ptsTypes="AA">
                                      <p:cBhvr>
                                        <p:cTn id="10" dur="750" fill="hold"/>
                                        <p:tgtEl>
                                          <p:spTgt spid="35"/>
                                        </p:tgtEl>
                                        <p:attrNameLst>
                                          <p:attrName>ppt_x</p:attrName>
                                          <p:attrName>ppt_y</p:attrName>
                                        </p:attrNameLst>
                                      </p:cBhvr>
                                    </p:animMotion>
                                  </p:childTnLst>
                                </p:cTn>
                              </p:par>
                            </p:childTnLst>
                          </p:cTn>
                        </p:par>
                        <p:par>
                          <p:cTn id="11" fill="hold">
                            <p:stCondLst>
                              <p:cond delay="2000"/>
                            </p:stCondLst>
                            <p:childTnLst>
                              <p:par>
                                <p:cTn id="12" presetID="1" presetClass="exit" presetSubtype="0" fill="hold" grpId="1" nodeType="afterEffect">
                                  <p:stCondLst>
                                    <p:cond delay="0"/>
                                  </p:stCondLst>
                                  <p:childTnLst>
                                    <p:set>
                                      <p:cBhvr>
                                        <p:cTn id="13" dur="1" fill="hold">
                                          <p:stCondLst>
                                            <p:cond delay="0"/>
                                          </p:stCondLst>
                                        </p:cTn>
                                        <p:tgtEl>
                                          <p:spTgt spid="35"/>
                                        </p:tgtEl>
                                        <p:attrNameLst>
                                          <p:attrName>style.visibility</p:attrName>
                                        </p:attrNameLst>
                                      </p:cBhvr>
                                      <p:to>
                                        <p:strVal val="hidden"/>
                                      </p:to>
                                    </p:set>
                                  </p:childTnLst>
                                </p:cTn>
                              </p:par>
                            </p:childTnLst>
                          </p:cTn>
                        </p:par>
                        <p:par>
                          <p:cTn id="14" fill="hold">
                            <p:stCondLst>
                              <p:cond delay="2000"/>
                            </p:stCondLst>
                            <p:childTnLst>
                              <p:par>
                                <p:cTn id="15" presetID="10" presetClass="entr" presetSubtype="0" fill="hold" nodeType="afterEffect">
                                  <p:stCondLst>
                                    <p:cond delay="0"/>
                                  </p:stCondLst>
                                  <p:childTnLst>
                                    <p:set>
                                      <p:cBhvr>
                                        <p:cTn id="16" dur="1" fill="hold">
                                          <p:stCondLst>
                                            <p:cond delay="0"/>
                                          </p:stCondLst>
                                        </p:cTn>
                                        <p:tgtEl>
                                          <p:spTgt spid="31">
                                            <p:txEl>
                                              <p:pRg st="1" end="1"/>
                                            </p:txEl>
                                          </p:spTgt>
                                        </p:tgtEl>
                                        <p:attrNameLst>
                                          <p:attrName>style.visibility</p:attrName>
                                        </p:attrNameLst>
                                      </p:cBhvr>
                                      <p:to>
                                        <p:strVal val="visible"/>
                                      </p:to>
                                    </p:set>
                                    <p:animEffect transition="in" filter="fade">
                                      <p:cBhvr>
                                        <p:cTn id="17" dur="500"/>
                                        <p:tgtEl>
                                          <p:spTgt spid="31">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1">
                                            <p:txEl>
                                              <p:pRg st="2" end="2"/>
                                            </p:txEl>
                                          </p:spTgt>
                                        </p:tgtEl>
                                        <p:attrNameLst>
                                          <p:attrName>style.visibility</p:attrName>
                                        </p:attrNameLst>
                                      </p:cBhvr>
                                      <p:to>
                                        <p:strVal val="visible"/>
                                      </p:to>
                                    </p:set>
                                    <p:animEffect transition="in" filter="fade">
                                      <p:cBhvr>
                                        <p:cTn id="20" dur="500"/>
                                        <p:tgtEl>
                                          <p:spTgt spid="31">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2">
                                            <p:txEl>
                                              <p:pRg st="1" end="1"/>
                                            </p:txEl>
                                          </p:spTgt>
                                        </p:tgtEl>
                                        <p:attrNameLst>
                                          <p:attrName>style.visibility</p:attrName>
                                        </p:attrNameLst>
                                      </p:cBhvr>
                                      <p:to>
                                        <p:strVal val="visible"/>
                                      </p:to>
                                    </p:set>
                                    <p:animEffect transition="in" filter="fade">
                                      <p:cBhvr>
                                        <p:cTn id="23" dur="500"/>
                                        <p:tgtEl>
                                          <p:spTgt spid="32">
                                            <p:txEl>
                                              <p:p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2">
                                            <p:txEl>
                                              <p:pRg st="2" end="2"/>
                                            </p:txEl>
                                          </p:spTgt>
                                        </p:tgtEl>
                                        <p:attrNameLst>
                                          <p:attrName>style.visibility</p:attrName>
                                        </p:attrNameLst>
                                      </p:cBhvr>
                                      <p:to>
                                        <p:strVal val="visible"/>
                                      </p:to>
                                    </p:set>
                                    <p:animEffect transition="in" filter="fade">
                                      <p:cBhvr>
                                        <p:cTn id="26" dur="500"/>
                                        <p:tgtEl>
                                          <p:spTgt spid="32">
                                            <p:txEl>
                                              <p:pRg st="2" end="2"/>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2">
                                            <p:txEl>
                                              <p:pRg st="3" end="3"/>
                                            </p:txEl>
                                          </p:spTgt>
                                        </p:tgtEl>
                                        <p:attrNameLst>
                                          <p:attrName>style.visibility</p:attrName>
                                        </p:attrNameLst>
                                      </p:cBhvr>
                                      <p:to>
                                        <p:strVal val="visible"/>
                                      </p:to>
                                    </p:set>
                                    <p:animEffect transition="in" filter="fade">
                                      <p:cBhvr>
                                        <p:cTn id="29" dur="500"/>
                                        <p:tgtEl>
                                          <p:spTgt spid="32">
                                            <p:txEl>
                                              <p:pRg st="3" end="3"/>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2">
                                            <p:txEl>
                                              <p:pRg st="4" end="4"/>
                                            </p:txEl>
                                          </p:spTgt>
                                        </p:tgtEl>
                                        <p:attrNameLst>
                                          <p:attrName>style.visibility</p:attrName>
                                        </p:attrNameLst>
                                      </p:cBhvr>
                                      <p:to>
                                        <p:strVal val="visible"/>
                                      </p:to>
                                    </p:set>
                                    <p:animEffect transition="in" filter="fade">
                                      <p:cBhvr>
                                        <p:cTn id="32" dur="500"/>
                                        <p:tgtEl>
                                          <p:spTgt spid="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5" grpId="2"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a:t>
            </a:r>
            <a:r>
              <a:rPr kumimoji="1" lang="zh-CN" altLang="en-US" dirty="0"/>
              <a:t> </a:t>
            </a:r>
            <a:r>
              <a:rPr kumimoji="1" lang="en-US" altLang="zh-CN" dirty="0"/>
              <a:t>Execution</a:t>
            </a:r>
            <a:r>
              <a:rPr kumimoji="1" lang="zh-CN" altLang="en-US" dirty="0"/>
              <a:t> </a:t>
            </a:r>
            <a:r>
              <a:rPr kumimoji="1" lang="en-US" altLang="zh-CN" dirty="0"/>
              <a:t>Flow</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grpSp>
        <p:nvGrpSpPr>
          <p:cNvPr id="5" name="Group 10"/>
          <p:cNvGrpSpPr/>
          <p:nvPr/>
        </p:nvGrpSpPr>
        <p:grpSpPr>
          <a:xfrm>
            <a:off x="1016000" y="4641503"/>
            <a:ext cx="7048501" cy="692498"/>
            <a:chOff x="304800" y="4903053"/>
            <a:chExt cx="8458201" cy="830997"/>
          </a:xfrm>
        </p:grpSpPr>
        <p:sp>
          <p:nvSpPr>
            <p:cNvPr id="6" name="Rectangle 4"/>
            <p:cNvSpPr/>
            <p:nvPr/>
          </p:nvSpPr>
          <p:spPr>
            <a:xfrm>
              <a:off x="2133599" y="4903053"/>
              <a:ext cx="6629401" cy="7017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sz="1600" dirty="0">
                  <a:latin typeface="Candara" panose="020E0502030303020204" pitchFamily="34" charset="0"/>
                  <a:ea typeface="Verdana" panose="020B0604030504040204" pitchFamily="34" charset="0"/>
                  <a:cs typeface="Verdana" panose="020B0604030504040204" pitchFamily="34" charset="0"/>
                </a:rPr>
                <a:t>Aggregate the results</a:t>
              </a:r>
              <a:endParaRPr lang="en-US" altLang="zh-CN" sz="1600" dirty="0">
                <a:latin typeface="Candara" panose="020E0502030303020204" pitchFamily="34" charset="0"/>
                <a:ea typeface="Verdana" panose="020B0604030504040204" pitchFamily="34" charset="0"/>
                <a:cs typeface="Verdana" panose="020B0604030504040204" pitchFamily="34" charset="0"/>
              </a:endParaRPr>
            </a:p>
            <a:p>
              <a:r>
                <a:rPr lang="en-US" altLang="zh-CN" sz="1600" dirty="0">
                  <a:latin typeface="Candara" panose="020E0502030303020204" pitchFamily="34" charset="0"/>
                  <a:ea typeface="Verdana" panose="020B0604030504040204" pitchFamily="34" charset="0"/>
                  <a:cs typeface="Verdana" panose="020B0604030504040204" pitchFamily="34" charset="0"/>
                </a:rPr>
                <a:t>User function gets called for each unique key</a:t>
              </a:r>
              <a:endParaRPr lang="zh-CN" altLang="en-US" sz="1600" dirty="0">
                <a:latin typeface="Candara" panose="020E0502030303020204" pitchFamily="34" charset="0"/>
              </a:endParaRPr>
            </a:p>
          </p:txBody>
        </p:sp>
        <p:sp>
          <p:nvSpPr>
            <p:cNvPr id="7" name="内容占位符 2"/>
            <p:cNvSpPr txBox="1"/>
            <p:nvPr/>
          </p:nvSpPr>
          <p:spPr>
            <a:xfrm>
              <a:off x="304800" y="4903053"/>
              <a:ext cx="8458201" cy="830997"/>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a:ea typeface="+mn-ea"/>
                  <a:cs typeface="Arial" panose="020B0604020202020204"/>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a:ea typeface="+mn-ea"/>
                  <a:cs typeface="Arial" panose="020B0604020202020204"/>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a:ea typeface="+mn-ea"/>
                  <a:cs typeface="Arial" panose="020B0604020202020204"/>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7665" indent="-320040">
                <a:buClr>
                  <a:srgbClr val="FF0066"/>
                </a:buClr>
                <a:buNone/>
              </a:pPr>
              <a:r>
                <a:rPr lang="en-US" altLang="zh-CN" sz="2335" dirty="0">
                  <a:solidFill>
                    <a:prstClr val="black"/>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 Reduce</a:t>
              </a:r>
              <a:endParaRPr lang="en-US" altLang="zh-TW" sz="1665"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8" name="Group 16"/>
          <p:cNvGrpSpPr/>
          <p:nvPr/>
        </p:nvGrpSpPr>
        <p:grpSpPr>
          <a:xfrm>
            <a:off x="1016000" y="1254125"/>
            <a:ext cx="7048501" cy="692498"/>
            <a:chOff x="304797" y="6027003"/>
            <a:chExt cx="8458201" cy="830997"/>
          </a:xfrm>
        </p:grpSpPr>
        <p:sp>
          <p:nvSpPr>
            <p:cNvPr id="9" name="内容占位符 2"/>
            <p:cNvSpPr txBox="1"/>
            <p:nvPr/>
          </p:nvSpPr>
          <p:spPr>
            <a:xfrm>
              <a:off x="304797" y="6027003"/>
              <a:ext cx="8458201" cy="830997"/>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a:ea typeface="+mn-ea"/>
                  <a:cs typeface="Arial" panose="020B0604020202020204"/>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a:ea typeface="+mn-ea"/>
                  <a:cs typeface="Arial" panose="020B0604020202020204"/>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a:ea typeface="+mn-ea"/>
                  <a:cs typeface="Arial" panose="020B0604020202020204"/>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7665" indent="-320040">
                <a:buClr>
                  <a:srgbClr val="FF0066"/>
                </a:buClr>
                <a:buNone/>
              </a:pPr>
              <a:r>
                <a:rPr lang="en-US" altLang="zh-CN" sz="2335" dirty="0">
                  <a:solidFill>
                    <a:prstClr val="black"/>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      Map</a:t>
              </a:r>
              <a:endParaRPr lang="en-US" altLang="zh-TW" sz="585"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Rectangle 14"/>
            <p:cNvSpPr/>
            <p:nvPr/>
          </p:nvSpPr>
          <p:spPr>
            <a:xfrm>
              <a:off x="2133597" y="6027003"/>
              <a:ext cx="6629401" cy="7017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sz="1600" dirty="0">
                  <a:latin typeface="Candara" panose="020E0502030303020204" pitchFamily="34" charset="0"/>
                  <a:ea typeface="Verdana" panose="020B0604030504040204" pitchFamily="34" charset="0"/>
                  <a:cs typeface="Verdana" panose="020B0604030504040204" pitchFamily="34" charset="0"/>
                </a:rPr>
                <a:t>Grab the relevant data from the source </a:t>
              </a:r>
              <a:endParaRPr lang="en-US" altLang="zh-CN" sz="1600" dirty="0">
                <a:latin typeface="Candara" panose="020E0502030303020204" pitchFamily="34" charset="0"/>
                <a:ea typeface="Verdana" panose="020B0604030504040204" pitchFamily="34" charset="0"/>
                <a:cs typeface="Verdana" panose="020B0604030504040204" pitchFamily="34" charset="0"/>
              </a:endParaRPr>
            </a:p>
            <a:p>
              <a:r>
                <a:rPr lang="en-US" altLang="zh-CN" sz="1600" dirty="0">
                  <a:latin typeface="Candara" panose="020E0502030303020204" pitchFamily="34" charset="0"/>
                  <a:ea typeface="Verdana" panose="020B0604030504040204" pitchFamily="34" charset="0"/>
                  <a:cs typeface="Verdana" panose="020B0604030504040204" pitchFamily="34" charset="0"/>
                </a:rPr>
                <a:t>User function gets called for each chunk of input</a:t>
              </a:r>
              <a:endParaRPr lang="zh-CN" altLang="en-US" sz="1600" dirty="0">
                <a:latin typeface="Candara" panose="020E0502030303020204" pitchFamily="34" charset="0"/>
              </a:endParaRPr>
            </a:p>
          </p:txBody>
        </p:sp>
      </p:grpSp>
      <p:sp>
        <p:nvSpPr>
          <p:cNvPr id="11" name="Rounded Rectangle 15"/>
          <p:cNvSpPr/>
          <p:nvPr/>
        </p:nvSpPr>
        <p:spPr>
          <a:xfrm>
            <a:off x="1016000" y="1047750"/>
            <a:ext cx="7239000" cy="2000250"/>
          </a:xfrm>
          <a:prstGeom prst="roundRect">
            <a:avLst>
              <a:gd name="adj" fmla="val 6322"/>
            </a:avLst>
          </a:prstGeom>
          <a:noFill/>
          <a:ln w="3810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2" name="Rounded Rectangle 17"/>
          <p:cNvSpPr/>
          <p:nvPr/>
        </p:nvSpPr>
        <p:spPr>
          <a:xfrm>
            <a:off x="1016000" y="3524250"/>
            <a:ext cx="7239000" cy="2000250"/>
          </a:xfrm>
          <a:prstGeom prst="roundRect">
            <a:avLst>
              <a:gd name="adj" fmla="val 6322"/>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3" name="Rectangle 18"/>
          <p:cNvSpPr/>
          <p:nvPr/>
        </p:nvSpPr>
        <p:spPr>
          <a:xfrm>
            <a:off x="1016001" y="2921000"/>
            <a:ext cx="1714499" cy="317500"/>
          </a:xfrm>
          <a:prstGeom prst="rect">
            <a:avLst/>
          </a:prstGeom>
          <a:solidFill>
            <a:srgbClr val="FF0066"/>
          </a:solidFill>
          <a:ln w="38100">
            <a:solidFill>
              <a:srgbClr val="FF0066"/>
            </a:solidFill>
          </a:ln>
        </p:spPr>
        <p:style>
          <a:lnRef idx="3">
            <a:schemeClr val="lt1"/>
          </a:lnRef>
          <a:fillRef idx="1">
            <a:schemeClr val="accent2"/>
          </a:fillRef>
          <a:effectRef idx="1">
            <a:schemeClr val="accent2"/>
          </a:effectRef>
          <a:fontRef idx="minor">
            <a:schemeClr val="lt1"/>
          </a:fontRef>
        </p:style>
        <p:txBody>
          <a:bodyPr wrap="none" rtlCol="0" anchor="ctr"/>
          <a:lstStyle/>
          <a:p>
            <a:pPr algn="ctr"/>
            <a:r>
              <a:rPr lang="en-US" altLang="zh-CN" sz="2335" b="1" i="1" dirty="0">
                <a:effectLst>
                  <a:outerShdw blurRad="38100" dist="38100" dir="2700000" algn="tl">
                    <a:srgbClr val="000000">
                      <a:alpha val="43137"/>
                    </a:srgbClr>
                  </a:outerShdw>
                </a:effectLst>
                <a:latin typeface="Candara" panose="020E0502030303020204" pitchFamily="34" charset="0"/>
              </a:rPr>
              <a:t>Map Worker</a:t>
            </a:r>
            <a:endParaRPr lang="zh-CN" altLang="en-US" sz="2335" b="1" i="1" dirty="0">
              <a:effectLst>
                <a:outerShdw blurRad="38100" dist="38100" dir="2700000" algn="tl">
                  <a:srgbClr val="000000">
                    <a:alpha val="43137"/>
                  </a:srgbClr>
                </a:outerShdw>
              </a:effectLst>
              <a:latin typeface="Candara" panose="020E0502030303020204" pitchFamily="34" charset="0"/>
            </a:endParaRPr>
          </a:p>
        </p:txBody>
      </p:sp>
      <p:sp>
        <p:nvSpPr>
          <p:cNvPr id="14" name="Rectangle 19"/>
          <p:cNvSpPr/>
          <p:nvPr/>
        </p:nvSpPr>
        <p:spPr>
          <a:xfrm>
            <a:off x="6096000" y="3302000"/>
            <a:ext cx="2159001" cy="317500"/>
          </a:xfrm>
          <a:prstGeom prst="rect">
            <a:avLst/>
          </a:prstGeom>
          <a:solidFill>
            <a:srgbClr val="00B0F0"/>
          </a:solidFill>
          <a:ln w="38100">
            <a:solidFill>
              <a:srgbClr val="00B0F0"/>
            </a:solidFill>
          </a:ln>
        </p:spPr>
        <p:style>
          <a:lnRef idx="3">
            <a:schemeClr val="lt1"/>
          </a:lnRef>
          <a:fillRef idx="1">
            <a:schemeClr val="accent2"/>
          </a:fillRef>
          <a:effectRef idx="1">
            <a:schemeClr val="accent2"/>
          </a:effectRef>
          <a:fontRef idx="minor">
            <a:schemeClr val="lt1"/>
          </a:fontRef>
        </p:style>
        <p:txBody>
          <a:bodyPr wrap="none" rtlCol="0" anchor="ctr"/>
          <a:lstStyle/>
          <a:p>
            <a:pPr algn="ctr"/>
            <a:r>
              <a:rPr lang="en-US" altLang="zh-CN" sz="2335" b="1" i="1" dirty="0">
                <a:effectLst>
                  <a:outerShdw blurRad="38100" dist="38100" dir="2700000" algn="tl">
                    <a:srgbClr val="000000">
                      <a:alpha val="43137"/>
                    </a:srgbClr>
                  </a:outerShdw>
                </a:effectLst>
                <a:latin typeface="Candara" panose="020E0502030303020204" pitchFamily="34" charset="0"/>
              </a:rPr>
              <a:t>Reduce Worker</a:t>
            </a:r>
            <a:endParaRPr lang="zh-CN" altLang="en-US" sz="2335" b="1" i="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a:t>
            </a:r>
            <a:r>
              <a:rPr kumimoji="1" lang="zh-CN" altLang="en-US" dirty="0"/>
              <a:t> </a:t>
            </a:r>
            <a:r>
              <a:rPr kumimoji="1" lang="en-US" altLang="zh-CN" dirty="0"/>
              <a:t>Execution</a:t>
            </a:r>
            <a:r>
              <a:rPr kumimoji="1" lang="zh-CN" altLang="en-US" dirty="0"/>
              <a:t> </a:t>
            </a:r>
            <a:r>
              <a:rPr kumimoji="1" lang="en-US" altLang="zh-CN" dirty="0"/>
              <a:t>Flow</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grpSp>
        <p:nvGrpSpPr>
          <p:cNvPr id="5" name="Group 10"/>
          <p:cNvGrpSpPr/>
          <p:nvPr/>
        </p:nvGrpSpPr>
        <p:grpSpPr>
          <a:xfrm>
            <a:off x="1016000" y="4641503"/>
            <a:ext cx="7048501" cy="692498"/>
            <a:chOff x="304800" y="4903053"/>
            <a:chExt cx="8458201" cy="830997"/>
          </a:xfrm>
        </p:grpSpPr>
        <p:sp>
          <p:nvSpPr>
            <p:cNvPr id="6" name="Rectangle 4"/>
            <p:cNvSpPr/>
            <p:nvPr/>
          </p:nvSpPr>
          <p:spPr>
            <a:xfrm>
              <a:off x="2133599" y="4903053"/>
              <a:ext cx="6629401" cy="7017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sz="1600" dirty="0">
                  <a:latin typeface="Candara" panose="020E0502030303020204" pitchFamily="34" charset="0"/>
                  <a:ea typeface="Verdana" panose="020B0604030504040204" pitchFamily="34" charset="0"/>
                  <a:cs typeface="Verdana" panose="020B0604030504040204" pitchFamily="34" charset="0"/>
                </a:rPr>
                <a:t>Aggregate the results</a:t>
              </a:r>
              <a:endParaRPr lang="en-US" altLang="zh-CN" sz="1600" dirty="0">
                <a:latin typeface="Candara" panose="020E0502030303020204" pitchFamily="34" charset="0"/>
                <a:ea typeface="Verdana" panose="020B0604030504040204" pitchFamily="34" charset="0"/>
                <a:cs typeface="Verdana" panose="020B0604030504040204" pitchFamily="34" charset="0"/>
              </a:endParaRPr>
            </a:p>
            <a:p>
              <a:r>
                <a:rPr lang="en-US" altLang="zh-CN" sz="1600" dirty="0">
                  <a:latin typeface="Candara" panose="020E0502030303020204" pitchFamily="34" charset="0"/>
                  <a:ea typeface="Verdana" panose="020B0604030504040204" pitchFamily="34" charset="0"/>
                  <a:cs typeface="Verdana" panose="020B0604030504040204" pitchFamily="34" charset="0"/>
                </a:rPr>
                <a:t>User function gets called for each unique key</a:t>
              </a:r>
              <a:endParaRPr lang="zh-CN" altLang="en-US" sz="1600" dirty="0">
                <a:latin typeface="Candara" panose="020E0502030303020204" pitchFamily="34" charset="0"/>
              </a:endParaRPr>
            </a:p>
          </p:txBody>
        </p:sp>
        <p:sp>
          <p:nvSpPr>
            <p:cNvPr id="7" name="内容占位符 2"/>
            <p:cNvSpPr txBox="1"/>
            <p:nvPr/>
          </p:nvSpPr>
          <p:spPr>
            <a:xfrm>
              <a:off x="304800" y="4903053"/>
              <a:ext cx="8458201" cy="830997"/>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a:ea typeface="+mn-ea"/>
                  <a:cs typeface="Arial" panose="020B0604020202020204"/>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a:ea typeface="+mn-ea"/>
                  <a:cs typeface="Arial" panose="020B0604020202020204"/>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a:ea typeface="+mn-ea"/>
                  <a:cs typeface="Arial" panose="020B0604020202020204"/>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7665" indent="-320040">
                <a:buClr>
                  <a:srgbClr val="FF0066"/>
                </a:buClr>
                <a:buNone/>
              </a:pPr>
              <a:r>
                <a:rPr lang="en-US" altLang="zh-CN" sz="2335" dirty="0">
                  <a:solidFill>
                    <a:prstClr val="black"/>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 Reduce</a:t>
              </a:r>
              <a:endParaRPr lang="en-US" altLang="zh-TW" sz="1665"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8" name="Group 16"/>
          <p:cNvGrpSpPr/>
          <p:nvPr/>
        </p:nvGrpSpPr>
        <p:grpSpPr>
          <a:xfrm>
            <a:off x="1016000" y="1254125"/>
            <a:ext cx="7048501" cy="692498"/>
            <a:chOff x="304797" y="6027003"/>
            <a:chExt cx="8458201" cy="830997"/>
          </a:xfrm>
        </p:grpSpPr>
        <p:sp>
          <p:nvSpPr>
            <p:cNvPr id="9" name="内容占位符 2"/>
            <p:cNvSpPr txBox="1"/>
            <p:nvPr/>
          </p:nvSpPr>
          <p:spPr>
            <a:xfrm>
              <a:off x="304797" y="6027003"/>
              <a:ext cx="8458201" cy="830997"/>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a:ea typeface="+mn-ea"/>
                  <a:cs typeface="Arial" panose="020B0604020202020204"/>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a:ea typeface="+mn-ea"/>
                  <a:cs typeface="Arial" panose="020B0604020202020204"/>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a:ea typeface="+mn-ea"/>
                  <a:cs typeface="Arial" panose="020B0604020202020204"/>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7665" indent="-320040">
                <a:buClr>
                  <a:srgbClr val="FF0066"/>
                </a:buClr>
                <a:buNone/>
              </a:pPr>
              <a:r>
                <a:rPr lang="en-US" altLang="zh-CN" sz="2335" dirty="0">
                  <a:solidFill>
                    <a:prstClr val="black"/>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      Map</a:t>
              </a:r>
              <a:endParaRPr lang="en-US" altLang="zh-TW" sz="585"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Rectangle 14"/>
            <p:cNvSpPr/>
            <p:nvPr/>
          </p:nvSpPr>
          <p:spPr>
            <a:xfrm>
              <a:off x="2133597" y="6027003"/>
              <a:ext cx="6629401" cy="7017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sz="1600" dirty="0">
                  <a:latin typeface="Candara" panose="020E0502030303020204" pitchFamily="34" charset="0"/>
                  <a:ea typeface="Verdana" panose="020B0604030504040204" pitchFamily="34" charset="0"/>
                  <a:cs typeface="Verdana" panose="020B0604030504040204" pitchFamily="34" charset="0"/>
                </a:rPr>
                <a:t>Grab the relevant data from the source </a:t>
              </a:r>
              <a:endParaRPr lang="en-US" altLang="zh-CN" sz="1600" dirty="0">
                <a:latin typeface="Candara" panose="020E0502030303020204" pitchFamily="34" charset="0"/>
                <a:ea typeface="Verdana" panose="020B0604030504040204" pitchFamily="34" charset="0"/>
                <a:cs typeface="Verdana" panose="020B0604030504040204" pitchFamily="34" charset="0"/>
              </a:endParaRPr>
            </a:p>
            <a:p>
              <a:r>
                <a:rPr lang="en-US" altLang="zh-CN" sz="1600" dirty="0">
                  <a:latin typeface="Candara" panose="020E0502030303020204" pitchFamily="34" charset="0"/>
                  <a:ea typeface="Verdana" panose="020B0604030504040204" pitchFamily="34" charset="0"/>
                  <a:cs typeface="Verdana" panose="020B0604030504040204" pitchFamily="34" charset="0"/>
                </a:rPr>
                <a:t>User function gets called for each chunk of input</a:t>
              </a:r>
              <a:endParaRPr lang="zh-CN" altLang="en-US" sz="1600" dirty="0">
                <a:latin typeface="Candara" panose="020E0502030303020204" pitchFamily="34" charset="0"/>
              </a:endParaRPr>
            </a:p>
          </p:txBody>
        </p:sp>
      </p:grpSp>
      <p:sp>
        <p:nvSpPr>
          <p:cNvPr id="11" name="Rounded Rectangle 15"/>
          <p:cNvSpPr/>
          <p:nvPr/>
        </p:nvSpPr>
        <p:spPr>
          <a:xfrm>
            <a:off x="1016000" y="1047750"/>
            <a:ext cx="7239000" cy="2000250"/>
          </a:xfrm>
          <a:prstGeom prst="roundRect">
            <a:avLst>
              <a:gd name="adj" fmla="val 6322"/>
            </a:avLst>
          </a:prstGeom>
          <a:noFill/>
          <a:ln w="3810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2" name="Rounded Rectangle 17"/>
          <p:cNvSpPr/>
          <p:nvPr/>
        </p:nvSpPr>
        <p:spPr>
          <a:xfrm>
            <a:off x="1016000" y="3524250"/>
            <a:ext cx="7239000" cy="2000250"/>
          </a:xfrm>
          <a:prstGeom prst="roundRect">
            <a:avLst>
              <a:gd name="adj" fmla="val 6322"/>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3" name="Rectangle 18"/>
          <p:cNvSpPr/>
          <p:nvPr/>
        </p:nvSpPr>
        <p:spPr>
          <a:xfrm>
            <a:off x="1016001" y="2921000"/>
            <a:ext cx="1714499" cy="317500"/>
          </a:xfrm>
          <a:prstGeom prst="rect">
            <a:avLst/>
          </a:prstGeom>
          <a:solidFill>
            <a:srgbClr val="FF0066"/>
          </a:solidFill>
          <a:ln w="38100">
            <a:solidFill>
              <a:srgbClr val="FF0066"/>
            </a:solidFill>
          </a:ln>
        </p:spPr>
        <p:style>
          <a:lnRef idx="3">
            <a:schemeClr val="lt1"/>
          </a:lnRef>
          <a:fillRef idx="1">
            <a:schemeClr val="accent2"/>
          </a:fillRef>
          <a:effectRef idx="1">
            <a:schemeClr val="accent2"/>
          </a:effectRef>
          <a:fontRef idx="minor">
            <a:schemeClr val="lt1"/>
          </a:fontRef>
        </p:style>
        <p:txBody>
          <a:bodyPr wrap="none" rtlCol="0" anchor="ctr"/>
          <a:lstStyle/>
          <a:p>
            <a:pPr algn="ctr"/>
            <a:r>
              <a:rPr lang="en-US" altLang="zh-CN" sz="2335" b="1" i="1" dirty="0">
                <a:effectLst>
                  <a:outerShdw blurRad="38100" dist="38100" dir="2700000" algn="tl">
                    <a:srgbClr val="000000">
                      <a:alpha val="43137"/>
                    </a:srgbClr>
                  </a:outerShdw>
                </a:effectLst>
                <a:latin typeface="Candara" panose="020E0502030303020204" pitchFamily="34" charset="0"/>
              </a:rPr>
              <a:t>Map Worker</a:t>
            </a:r>
            <a:endParaRPr lang="zh-CN" altLang="en-US" sz="2335" b="1" i="1" dirty="0">
              <a:effectLst>
                <a:outerShdw blurRad="38100" dist="38100" dir="2700000" algn="tl">
                  <a:srgbClr val="000000">
                    <a:alpha val="43137"/>
                  </a:srgbClr>
                </a:outerShdw>
              </a:effectLst>
              <a:latin typeface="Candara" panose="020E0502030303020204" pitchFamily="34" charset="0"/>
            </a:endParaRPr>
          </a:p>
        </p:txBody>
      </p:sp>
      <p:sp>
        <p:nvSpPr>
          <p:cNvPr id="14" name="Rectangle 19"/>
          <p:cNvSpPr/>
          <p:nvPr/>
        </p:nvSpPr>
        <p:spPr>
          <a:xfrm>
            <a:off x="6096000" y="3302000"/>
            <a:ext cx="2159001" cy="317500"/>
          </a:xfrm>
          <a:prstGeom prst="rect">
            <a:avLst/>
          </a:prstGeom>
          <a:solidFill>
            <a:srgbClr val="00B0F0"/>
          </a:solidFill>
          <a:ln w="38100">
            <a:solidFill>
              <a:srgbClr val="00B0F0"/>
            </a:solidFill>
          </a:ln>
        </p:spPr>
        <p:style>
          <a:lnRef idx="3">
            <a:schemeClr val="lt1"/>
          </a:lnRef>
          <a:fillRef idx="1">
            <a:schemeClr val="accent2"/>
          </a:fillRef>
          <a:effectRef idx="1">
            <a:schemeClr val="accent2"/>
          </a:effectRef>
          <a:fontRef idx="minor">
            <a:schemeClr val="lt1"/>
          </a:fontRef>
        </p:style>
        <p:txBody>
          <a:bodyPr wrap="none" rtlCol="0" anchor="ctr"/>
          <a:lstStyle/>
          <a:p>
            <a:pPr algn="ctr"/>
            <a:r>
              <a:rPr lang="en-US" altLang="zh-CN" sz="2335" b="1" i="1" dirty="0">
                <a:effectLst>
                  <a:outerShdw blurRad="38100" dist="38100" dir="2700000" algn="tl">
                    <a:srgbClr val="000000">
                      <a:alpha val="43137"/>
                    </a:srgbClr>
                  </a:outerShdw>
                </a:effectLst>
                <a:latin typeface="Candara" panose="020E0502030303020204" pitchFamily="34" charset="0"/>
              </a:rPr>
              <a:t>Reduce Worker</a:t>
            </a:r>
            <a:endParaRPr lang="zh-CN" altLang="en-US" sz="2335" b="1" i="1" dirty="0">
              <a:effectLst>
                <a:outerShdw blurRad="38100" dist="38100" dir="2700000" algn="tl">
                  <a:srgbClr val="000000">
                    <a:alpha val="43137"/>
                  </a:srgbClr>
                </a:outerShdw>
              </a:effectLst>
              <a:latin typeface="Candara" panose="020E0502030303020204" pitchFamily="34" charset="0"/>
            </a:endParaRPr>
          </a:p>
        </p:txBody>
      </p:sp>
      <p:grpSp>
        <p:nvGrpSpPr>
          <p:cNvPr id="21" name="Group 12"/>
          <p:cNvGrpSpPr/>
          <p:nvPr/>
        </p:nvGrpSpPr>
        <p:grpSpPr>
          <a:xfrm>
            <a:off x="1016000" y="2159000"/>
            <a:ext cx="7048501" cy="692498"/>
            <a:chOff x="304799" y="2331303"/>
            <a:chExt cx="8458201" cy="830997"/>
          </a:xfrm>
        </p:grpSpPr>
        <p:sp>
          <p:nvSpPr>
            <p:cNvPr id="22" name="内容占位符 2"/>
            <p:cNvSpPr txBox="1"/>
            <p:nvPr/>
          </p:nvSpPr>
          <p:spPr>
            <a:xfrm>
              <a:off x="304799" y="2331303"/>
              <a:ext cx="8458201" cy="830997"/>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a:ea typeface="+mn-ea"/>
                  <a:cs typeface="Arial" panose="020B0604020202020204"/>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a:ea typeface="+mn-ea"/>
                  <a:cs typeface="Arial" panose="020B0604020202020204"/>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a:ea typeface="+mn-ea"/>
                  <a:cs typeface="Arial" panose="020B0604020202020204"/>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7665" indent="-320040">
                <a:buClr>
                  <a:srgbClr val="FF0066"/>
                </a:buClr>
                <a:buNone/>
              </a:pPr>
              <a:r>
                <a:rPr lang="en-US" altLang="zh-CN" sz="2335" dirty="0">
                  <a:solidFill>
                    <a:prstClr val="black"/>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Partition</a:t>
              </a:r>
              <a:endParaRPr lang="en-US" altLang="zh-TW" sz="585"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23" name="Rectangle 7"/>
            <p:cNvSpPr/>
            <p:nvPr/>
          </p:nvSpPr>
          <p:spPr>
            <a:xfrm>
              <a:off x="2133599" y="2331303"/>
              <a:ext cx="6629401" cy="7017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sz="1600" dirty="0">
                  <a:latin typeface="Candara" panose="020E0502030303020204" pitchFamily="34" charset="0"/>
                  <a:ea typeface="Verdana" panose="020B0604030504040204" pitchFamily="34" charset="0"/>
                  <a:cs typeface="Verdana" panose="020B0604030504040204" pitchFamily="34" charset="0"/>
                </a:rPr>
                <a:t>Identify which Reducers will handle which keys</a:t>
              </a:r>
              <a:endParaRPr lang="en-US" altLang="zh-CN" sz="1600" dirty="0">
                <a:latin typeface="Candara" panose="020E0502030303020204" pitchFamily="34" charset="0"/>
                <a:ea typeface="Verdana" panose="020B0604030504040204" pitchFamily="34" charset="0"/>
                <a:cs typeface="Verdana" panose="020B0604030504040204" pitchFamily="34" charset="0"/>
              </a:endParaRPr>
            </a:p>
            <a:p>
              <a:r>
                <a:rPr lang="en-US" altLang="zh-CN" sz="1600" dirty="0">
                  <a:latin typeface="Candara" panose="020E0502030303020204" pitchFamily="34" charset="0"/>
                  <a:ea typeface="Verdana" panose="020B0604030504040204" pitchFamily="34" charset="0"/>
                  <a:cs typeface="Verdana" panose="020B0604030504040204" pitchFamily="34" charset="0"/>
                </a:rPr>
                <a:t>Map partitions data to target Reducers</a:t>
              </a:r>
              <a:endParaRPr lang="zh-CN" altLang="en-US" sz="1600" dirty="0">
                <a:latin typeface="Candara" panose="020E0502030303020204" pitchFamily="34" charset="0"/>
              </a:endParaRPr>
            </a:p>
          </p:txBody>
        </p:sp>
      </p:grpSp>
      <p:grpSp>
        <p:nvGrpSpPr>
          <p:cNvPr id="24" name="Group 11"/>
          <p:cNvGrpSpPr/>
          <p:nvPr/>
        </p:nvGrpSpPr>
        <p:grpSpPr>
          <a:xfrm>
            <a:off x="1016000" y="3752503"/>
            <a:ext cx="7048501" cy="692498"/>
            <a:chOff x="304800" y="3470701"/>
            <a:chExt cx="8458201" cy="830997"/>
          </a:xfrm>
        </p:grpSpPr>
        <p:sp>
          <p:nvSpPr>
            <p:cNvPr id="25" name="内容占位符 2"/>
            <p:cNvSpPr txBox="1"/>
            <p:nvPr/>
          </p:nvSpPr>
          <p:spPr>
            <a:xfrm>
              <a:off x="304800" y="3470701"/>
              <a:ext cx="8458201" cy="830997"/>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a:ea typeface="+mn-ea"/>
                  <a:cs typeface="Arial" panose="020B0604020202020204"/>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a:ea typeface="+mn-ea"/>
                  <a:cs typeface="Arial" panose="020B0604020202020204"/>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a:ea typeface="+mn-ea"/>
                  <a:cs typeface="Arial" panose="020B0604020202020204"/>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7665" indent="-320040">
                <a:buClr>
                  <a:srgbClr val="FF0066"/>
                </a:buClr>
                <a:buNone/>
              </a:pPr>
              <a:r>
                <a:rPr lang="en-US" altLang="zh-CN" sz="2335" dirty="0">
                  <a:solidFill>
                    <a:prstClr val="black"/>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     Sort</a:t>
              </a:r>
              <a:endParaRPr lang="en-US" altLang="zh-TW" sz="585"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26" name="Rectangle 9"/>
            <p:cNvSpPr/>
            <p:nvPr/>
          </p:nvSpPr>
          <p:spPr>
            <a:xfrm>
              <a:off x="2133599" y="3470701"/>
              <a:ext cx="6629402" cy="701729"/>
            </a:xfrm>
            <a:prstGeom prst="rect">
              <a:avLst/>
            </a:prstGeom>
            <a:solidFill>
              <a:srgbClr val="F5FED6"/>
            </a:solidFill>
            <a:effectLst>
              <a:outerShdw blurRad="63500" sx="102000" sy="102000" algn="ctr" rotWithShape="0">
                <a:prstClr val="black">
                  <a:alpha val="40000"/>
                </a:prstClr>
              </a:outerShdw>
            </a:effectLst>
          </p:spPr>
          <p:txBody>
            <a:bodyPr wrap="square">
              <a:spAutoFit/>
            </a:bodyPr>
            <a:lstStyle/>
            <a:p>
              <a:r>
                <a:rPr lang="en-US" altLang="zh-CN" sz="1600" dirty="0">
                  <a:latin typeface="Candara" panose="020E0502030303020204" pitchFamily="34" charset="0"/>
                  <a:ea typeface="Verdana" panose="020B0604030504040204" pitchFamily="34" charset="0"/>
                  <a:cs typeface="Verdana" panose="020B0604030504040204" pitchFamily="34" charset="0"/>
                </a:rPr>
                <a:t>(Optional) Fetch the relevant partition data from all mappers</a:t>
              </a:r>
              <a:endParaRPr lang="en-US" altLang="zh-CN" sz="1600" dirty="0">
                <a:latin typeface="Candara" panose="020E0502030303020204" pitchFamily="34" charset="0"/>
                <a:ea typeface="Verdana" panose="020B0604030504040204" pitchFamily="34" charset="0"/>
                <a:cs typeface="Verdana" panose="020B0604030504040204" pitchFamily="34" charset="0"/>
              </a:endParaRPr>
            </a:p>
            <a:p>
              <a:r>
                <a:rPr lang="en-US" altLang="zh-CN" sz="1600" dirty="0">
                  <a:latin typeface="Candara" panose="020E0502030303020204" pitchFamily="34" charset="0"/>
                  <a:ea typeface="Verdana" panose="020B0604030504040204" pitchFamily="34" charset="0"/>
                  <a:cs typeface="Verdana" panose="020B0604030504040204" pitchFamily="34" charset="0"/>
                </a:rPr>
                <a:t>Sort by keys</a:t>
              </a:r>
              <a:endParaRPr lang="zh-CN" altLang="en-US" sz="1600" dirty="0">
                <a:latin typeface="Candara" panose="020E0502030303020204" pitchFamily="34"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Curved Connector 53"/>
          <p:cNvCxnSpPr>
            <a:stCxn id="28" idx="3"/>
            <a:endCxn id="24" idx="0"/>
          </p:cNvCxnSpPr>
          <p:nvPr/>
        </p:nvCxnSpPr>
        <p:spPr>
          <a:xfrm>
            <a:off x="5397500" y="1364704"/>
            <a:ext cx="762000" cy="2544925"/>
          </a:xfrm>
          <a:prstGeom prst="curved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Freeform 91"/>
          <p:cNvSpPr/>
          <p:nvPr/>
        </p:nvSpPr>
        <p:spPr>
          <a:xfrm>
            <a:off x="4337298" y="1621443"/>
            <a:ext cx="666750" cy="2506056"/>
          </a:xfrm>
          <a:custGeom>
            <a:avLst/>
            <a:gdLst>
              <a:gd name="connsiteX0" fmla="*/ 993227 w 993227"/>
              <a:gd name="connsiteY0" fmla="*/ 0 h 709448"/>
              <a:gd name="connsiteX1" fmla="*/ 677917 w 993227"/>
              <a:gd name="connsiteY1" fmla="*/ 283779 h 709448"/>
              <a:gd name="connsiteX2" fmla="*/ 157655 w 993227"/>
              <a:gd name="connsiteY2" fmla="*/ 331076 h 709448"/>
              <a:gd name="connsiteX3" fmla="*/ 0 w 993227"/>
              <a:gd name="connsiteY3" fmla="*/ 709448 h 709448"/>
            </a:gdLst>
            <a:ahLst/>
            <a:cxnLst>
              <a:cxn ang="0">
                <a:pos x="connsiteX0" y="connsiteY0"/>
              </a:cxn>
              <a:cxn ang="0">
                <a:pos x="connsiteX1" y="connsiteY1"/>
              </a:cxn>
              <a:cxn ang="0">
                <a:pos x="connsiteX2" y="connsiteY2"/>
              </a:cxn>
              <a:cxn ang="0">
                <a:pos x="connsiteX3" y="connsiteY3"/>
              </a:cxn>
            </a:cxnLst>
            <a:rect l="l" t="t" r="r" b="b"/>
            <a:pathLst>
              <a:path w="993227" h="709448">
                <a:moveTo>
                  <a:pt x="993227" y="0"/>
                </a:moveTo>
                <a:cubicBezTo>
                  <a:pt x="905203" y="114300"/>
                  <a:pt x="817179" y="228600"/>
                  <a:pt x="677917" y="283779"/>
                </a:cubicBezTo>
                <a:cubicBezTo>
                  <a:pt x="538655" y="338958"/>
                  <a:pt x="270641" y="260131"/>
                  <a:pt x="157655" y="331076"/>
                </a:cubicBezTo>
                <a:cubicBezTo>
                  <a:pt x="44669" y="402021"/>
                  <a:pt x="22334" y="555734"/>
                  <a:pt x="0" y="709448"/>
                </a:cubicBezTo>
              </a:path>
            </a:pathLst>
          </a:cu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57" name="Freeform 91"/>
          <p:cNvSpPr/>
          <p:nvPr/>
        </p:nvSpPr>
        <p:spPr>
          <a:xfrm>
            <a:off x="4121150" y="1575457"/>
            <a:ext cx="666750" cy="1614863"/>
          </a:xfrm>
          <a:custGeom>
            <a:avLst/>
            <a:gdLst>
              <a:gd name="connsiteX0" fmla="*/ 993227 w 993227"/>
              <a:gd name="connsiteY0" fmla="*/ 0 h 709448"/>
              <a:gd name="connsiteX1" fmla="*/ 677917 w 993227"/>
              <a:gd name="connsiteY1" fmla="*/ 283779 h 709448"/>
              <a:gd name="connsiteX2" fmla="*/ 157655 w 993227"/>
              <a:gd name="connsiteY2" fmla="*/ 331076 h 709448"/>
              <a:gd name="connsiteX3" fmla="*/ 0 w 993227"/>
              <a:gd name="connsiteY3" fmla="*/ 709448 h 709448"/>
            </a:gdLst>
            <a:ahLst/>
            <a:cxnLst>
              <a:cxn ang="0">
                <a:pos x="connsiteX0" y="connsiteY0"/>
              </a:cxn>
              <a:cxn ang="0">
                <a:pos x="connsiteX1" y="connsiteY1"/>
              </a:cxn>
              <a:cxn ang="0">
                <a:pos x="connsiteX2" y="connsiteY2"/>
              </a:cxn>
              <a:cxn ang="0">
                <a:pos x="connsiteX3" y="connsiteY3"/>
              </a:cxn>
            </a:cxnLst>
            <a:rect l="l" t="t" r="r" b="b"/>
            <a:pathLst>
              <a:path w="993227" h="709448">
                <a:moveTo>
                  <a:pt x="993227" y="0"/>
                </a:moveTo>
                <a:cubicBezTo>
                  <a:pt x="905203" y="114300"/>
                  <a:pt x="817179" y="228600"/>
                  <a:pt x="677917" y="283779"/>
                </a:cubicBezTo>
                <a:cubicBezTo>
                  <a:pt x="538655" y="338958"/>
                  <a:pt x="270641" y="260131"/>
                  <a:pt x="157655" y="331076"/>
                </a:cubicBezTo>
                <a:cubicBezTo>
                  <a:pt x="44669" y="402021"/>
                  <a:pt x="22334" y="555734"/>
                  <a:pt x="0" y="709448"/>
                </a:cubicBezTo>
              </a:path>
            </a:pathLst>
          </a:cu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2"/>
          <p:cNvSpPr/>
          <p:nvPr/>
        </p:nvSpPr>
        <p:spPr>
          <a:xfrm>
            <a:off x="1265621" y="2032000"/>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400" dirty="0">
                <a:ea typeface="Verdana" panose="020B0604030504040204" pitchFamily="34" charset="0"/>
                <a:cs typeface="Verdana" panose="020B0604030504040204" pitchFamily="34" charset="0"/>
              </a:rPr>
              <a:t>Shard 0</a:t>
            </a:r>
            <a:endParaRPr lang="zh-CN" altLang="en-US" sz="1400" dirty="0">
              <a:cs typeface="Verdana" panose="020B0604030504040204" pitchFamily="34" charset="0"/>
            </a:endParaRPr>
          </a:p>
        </p:txBody>
      </p:sp>
      <p:sp>
        <p:nvSpPr>
          <p:cNvPr id="6" name="Rectangle 21"/>
          <p:cNvSpPr/>
          <p:nvPr/>
        </p:nvSpPr>
        <p:spPr>
          <a:xfrm>
            <a:off x="1265621" y="2345120"/>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400" dirty="0">
                <a:ea typeface="Verdana" panose="020B0604030504040204" pitchFamily="34" charset="0"/>
                <a:cs typeface="Verdana" panose="020B0604030504040204" pitchFamily="34" charset="0"/>
              </a:rPr>
              <a:t>Shard 1</a:t>
            </a:r>
            <a:endParaRPr lang="zh-CN" altLang="en-US" sz="1400" dirty="0">
              <a:cs typeface="Verdana" panose="020B0604030504040204" pitchFamily="34" charset="0"/>
            </a:endParaRPr>
          </a:p>
        </p:txBody>
      </p:sp>
      <p:sp>
        <p:nvSpPr>
          <p:cNvPr id="7" name="Rectangle 22"/>
          <p:cNvSpPr/>
          <p:nvPr/>
        </p:nvSpPr>
        <p:spPr>
          <a:xfrm>
            <a:off x="1265621" y="2662620"/>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400" dirty="0">
                <a:ea typeface="Verdana" panose="020B0604030504040204" pitchFamily="34" charset="0"/>
                <a:cs typeface="Verdana" panose="020B0604030504040204" pitchFamily="34" charset="0"/>
              </a:rPr>
              <a:t>Shard 2</a:t>
            </a:r>
            <a:endParaRPr lang="zh-CN" altLang="en-US" sz="1400" dirty="0">
              <a:cs typeface="Verdana" panose="020B0604030504040204" pitchFamily="34" charset="0"/>
            </a:endParaRPr>
          </a:p>
        </p:txBody>
      </p:sp>
      <p:sp>
        <p:nvSpPr>
          <p:cNvPr id="8" name="Rectangle 23"/>
          <p:cNvSpPr/>
          <p:nvPr/>
        </p:nvSpPr>
        <p:spPr>
          <a:xfrm>
            <a:off x="1265621" y="2971362"/>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400" dirty="0">
                <a:ea typeface="Verdana" panose="020B0604030504040204" pitchFamily="34" charset="0"/>
                <a:cs typeface="Verdana" panose="020B0604030504040204" pitchFamily="34" charset="0"/>
              </a:rPr>
              <a:t>Shard 3</a:t>
            </a:r>
            <a:endParaRPr lang="zh-CN" altLang="en-US" sz="1400" dirty="0">
              <a:cs typeface="Verdana" panose="020B0604030504040204" pitchFamily="34" charset="0"/>
            </a:endParaRPr>
          </a:p>
        </p:txBody>
      </p:sp>
      <p:sp>
        <p:nvSpPr>
          <p:cNvPr id="9" name="Rectangle 25"/>
          <p:cNvSpPr/>
          <p:nvPr/>
        </p:nvSpPr>
        <p:spPr>
          <a:xfrm>
            <a:off x="1265621" y="4008161"/>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400" dirty="0">
                <a:ea typeface="Verdana" panose="020B0604030504040204" pitchFamily="34" charset="0"/>
                <a:cs typeface="Verdana" panose="020B0604030504040204" pitchFamily="34" charset="0"/>
              </a:rPr>
              <a:t>Shard M-2</a:t>
            </a:r>
            <a:endParaRPr lang="zh-CN" altLang="en-US" sz="1400" dirty="0">
              <a:cs typeface="Verdana" panose="020B0604030504040204" pitchFamily="34" charset="0"/>
            </a:endParaRPr>
          </a:p>
        </p:txBody>
      </p:sp>
      <p:sp>
        <p:nvSpPr>
          <p:cNvPr id="10" name="Rectangle 26"/>
          <p:cNvSpPr/>
          <p:nvPr/>
        </p:nvSpPr>
        <p:spPr>
          <a:xfrm>
            <a:off x="1265621" y="4323471"/>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400" dirty="0">
                <a:ea typeface="Verdana" panose="020B0604030504040204" pitchFamily="34" charset="0"/>
                <a:cs typeface="Verdana" panose="020B0604030504040204" pitchFamily="34" charset="0"/>
              </a:rPr>
              <a:t>Shard M-1</a:t>
            </a:r>
            <a:endParaRPr lang="zh-CN" altLang="en-US" sz="1400" dirty="0">
              <a:cs typeface="Verdana" panose="020B0604030504040204" pitchFamily="34" charset="0"/>
            </a:endParaRPr>
          </a:p>
        </p:txBody>
      </p:sp>
      <p:sp>
        <p:nvSpPr>
          <p:cNvPr id="11" name="Rectangle 15"/>
          <p:cNvSpPr/>
          <p:nvPr/>
        </p:nvSpPr>
        <p:spPr>
          <a:xfrm>
            <a:off x="4381500" y="2178160"/>
            <a:ext cx="508000" cy="469680"/>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400" dirty="0">
                <a:ea typeface="Verdana" panose="020B0604030504040204" pitchFamily="34" charset="0"/>
                <a:cs typeface="Verdana" panose="020B0604030504040204" pitchFamily="34" charset="0"/>
              </a:rPr>
              <a:t>IF</a:t>
            </a:r>
            <a:endParaRPr lang="zh-CN" altLang="en-US" sz="1400" dirty="0">
              <a:cs typeface="Verdana" panose="020B0604030504040204" pitchFamily="34" charset="0"/>
            </a:endParaRPr>
          </a:p>
        </p:txBody>
      </p:sp>
      <p:cxnSp>
        <p:nvCxnSpPr>
          <p:cNvPr id="12" name="Straight Arrow Connector 28"/>
          <p:cNvCxnSpPr>
            <a:stCxn id="13" idx="3"/>
            <a:endCxn id="11" idx="1"/>
          </p:cNvCxnSpPr>
          <p:nvPr/>
        </p:nvCxnSpPr>
        <p:spPr>
          <a:xfrm>
            <a:off x="4127500" y="2413000"/>
            <a:ext cx="254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ounded Rectangle 29"/>
          <p:cNvSpPr/>
          <p:nvPr/>
        </p:nvSpPr>
        <p:spPr>
          <a:xfrm>
            <a:off x="3111500" y="2179254"/>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400" dirty="0">
                <a:ea typeface="Verdana" panose="020B0604030504040204" pitchFamily="34" charset="0"/>
                <a:cs typeface="Verdana" panose="020B0604030504040204" pitchFamily="34" charset="0"/>
              </a:rPr>
              <a:t>Map</a:t>
            </a:r>
            <a:br>
              <a:rPr lang="en-US" altLang="zh-CN" sz="1400" dirty="0">
                <a:ea typeface="Verdana" panose="020B0604030504040204" pitchFamily="34" charset="0"/>
                <a:cs typeface="Verdana" panose="020B0604030504040204" pitchFamily="34" charset="0"/>
              </a:rPr>
            </a:br>
            <a:r>
              <a:rPr lang="en-US" altLang="zh-CN" sz="1400" dirty="0">
                <a:ea typeface="Verdana" panose="020B0604030504040204" pitchFamily="34" charset="0"/>
                <a:cs typeface="Verdana" panose="020B0604030504040204" pitchFamily="34" charset="0"/>
              </a:rPr>
              <a:t>Worker</a:t>
            </a:r>
            <a:endParaRPr lang="zh-CN" altLang="en-US" sz="1400" dirty="0">
              <a:ea typeface="Verdana" panose="020B0604030504040204" pitchFamily="34" charset="0"/>
              <a:cs typeface="Verdana" panose="020B0604030504040204" pitchFamily="34" charset="0"/>
            </a:endParaRPr>
          </a:p>
        </p:txBody>
      </p:sp>
      <p:sp>
        <p:nvSpPr>
          <p:cNvPr id="14" name="Rounded Rectangle 30"/>
          <p:cNvSpPr/>
          <p:nvPr/>
        </p:nvSpPr>
        <p:spPr>
          <a:xfrm>
            <a:off x="2984500" y="2032000"/>
            <a:ext cx="2095500" cy="762000"/>
          </a:xfrm>
          <a:prstGeom prst="round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200"/>
          </a:p>
        </p:txBody>
      </p:sp>
      <p:sp>
        <p:nvSpPr>
          <p:cNvPr id="15" name="Rectangle 32"/>
          <p:cNvSpPr/>
          <p:nvPr/>
        </p:nvSpPr>
        <p:spPr>
          <a:xfrm>
            <a:off x="4381500" y="3301454"/>
            <a:ext cx="508000" cy="469680"/>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400" dirty="0">
                <a:ea typeface="Verdana" panose="020B0604030504040204" pitchFamily="34" charset="0"/>
                <a:cs typeface="Verdana" panose="020B0604030504040204" pitchFamily="34" charset="0"/>
              </a:rPr>
              <a:t>IF</a:t>
            </a:r>
            <a:endParaRPr lang="zh-CN" altLang="en-US" sz="1400" dirty="0">
              <a:cs typeface="Verdana" panose="020B0604030504040204" pitchFamily="34" charset="0"/>
            </a:endParaRPr>
          </a:p>
        </p:txBody>
      </p:sp>
      <p:cxnSp>
        <p:nvCxnSpPr>
          <p:cNvPr id="16" name="Straight Arrow Connector 33"/>
          <p:cNvCxnSpPr>
            <a:stCxn id="17" idx="3"/>
            <a:endCxn id="15" idx="1"/>
          </p:cNvCxnSpPr>
          <p:nvPr/>
        </p:nvCxnSpPr>
        <p:spPr>
          <a:xfrm>
            <a:off x="4127500" y="3536294"/>
            <a:ext cx="254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Rounded Rectangle 34"/>
          <p:cNvSpPr/>
          <p:nvPr/>
        </p:nvSpPr>
        <p:spPr>
          <a:xfrm>
            <a:off x="3111500" y="3302548"/>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400" dirty="0">
                <a:ea typeface="Verdana" panose="020B0604030504040204" pitchFamily="34" charset="0"/>
                <a:cs typeface="Verdana" panose="020B0604030504040204" pitchFamily="34" charset="0"/>
              </a:rPr>
              <a:t>Map</a:t>
            </a:r>
            <a:br>
              <a:rPr lang="en-US" altLang="zh-CN" sz="1400" dirty="0">
                <a:ea typeface="Verdana" panose="020B0604030504040204" pitchFamily="34" charset="0"/>
                <a:cs typeface="Verdana" panose="020B0604030504040204" pitchFamily="34" charset="0"/>
              </a:rPr>
            </a:br>
            <a:r>
              <a:rPr lang="en-US" altLang="zh-CN" sz="1400" dirty="0">
                <a:ea typeface="Verdana" panose="020B0604030504040204" pitchFamily="34" charset="0"/>
                <a:cs typeface="Verdana" panose="020B0604030504040204" pitchFamily="34" charset="0"/>
              </a:rPr>
              <a:t>Worker</a:t>
            </a:r>
            <a:endParaRPr lang="zh-CN" altLang="en-US" sz="1400" dirty="0">
              <a:ea typeface="Verdana" panose="020B0604030504040204" pitchFamily="34" charset="0"/>
              <a:cs typeface="Verdana" panose="020B0604030504040204" pitchFamily="34" charset="0"/>
            </a:endParaRPr>
          </a:p>
        </p:txBody>
      </p:sp>
      <p:sp>
        <p:nvSpPr>
          <p:cNvPr id="18" name="Rounded Rectangle 35"/>
          <p:cNvSpPr/>
          <p:nvPr/>
        </p:nvSpPr>
        <p:spPr>
          <a:xfrm>
            <a:off x="2984500" y="3155294"/>
            <a:ext cx="2095500" cy="762000"/>
          </a:xfrm>
          <a:prstGeom prst="round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200"/>
          </a:p>
        </p:txBody>
      </p:sp>
      <p:sp>
        <p:nvSpPr>
          <p:cNvPr id="19" name="Rectangle 36"/>
          <p:cNvSpPr/>
          <p:nvPr/>
        </p:nvSpPr>
        <p:spPr>
          <a:xfrm>
            <a:off x="4381500" y="4273660"/>
            <a:ext cx="508000" cy="469680"/>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400" dirty="0">
                <a:ea typeface="Verdana" panose="020B0604030504040204" pitchFamily="34" charset="0"/>
                <a:cs typeface="Verdana" panose="020B0604030504040204" pitchFamily="34" charset="0"/>
              </a:rPr>
              <a:t>IF</a:t>
            </a:r>
            <a:endParaRPr lang="zh-CN" altLang="en-US" sz="1400" dirty="0">
              <a:cs typeface="Verdana" panose="020B0604030504040204" pitchFamily="34" charset="0"/>
            </a:endParaRPr>
          </a:p>
        </p:txBody>
      </p:sp>
      <p:cxnSp>
        <p:nvCxnSpPr>
          <p:cNvPr id="20" name="Straight Arrow Connector 37"/>
          <p:cNvCxnSpPr>
            <a:stCxn id="21" idx="3"/>
            <a:endCxn id="19" idx="1"/>
          </p:cNvCxnSpPr>
          <p:nvPr/>
        </p:nvCxnSpPr>
        <p:spPr>
          <a:xfrm>
            <a:off x="4127500" y="4508500"/>
            <a:ext cx="254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Rounded Rectangle 38"/>
          <p:cNvSpPr/>
          <p:nvPr/>
        </p:nvSpPr>
        <p:spPr>
          <a:xfrm>
            <a:off x="3111500" y="4274754"/>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400" dirty="0">
                <a:ea typeface="Verdana" panose="020B0604030504040204" pitchFamily="34" charset="0"/>
                <a:cs typeface="Verdana" panose="020B0604030504040204" pitchFamily="34" charset="0"/>
              </a:rPr>
              <a:t>Map</a:t>
            </a:r>
            <a:br>
              <a:rPr lang="en-US" altLang="zh-CN" sz="1400" dirty="0">
                <a:ea typeface="Verdana" panose="020B0604030504040204" pitchFamily="34" charset="0"/>
                <a:cs typeface="Verdana" panose="020B0604030504040204" pitchFamily="34" charset="0"/>
              </a:rPr>
            </a:br>
            <a:r>
              <a:rPr lang="en-US" altLang="zh-CN" sz="1400" dirty="0">
                <a:ea typeface="Verdana" panose="020B0604030504040204" pitchFamily="34" charset="0"/>
                <a:cs typeface="Verdana" panose="020B0604030504040204" pitchFamily="34" charset="0"/>
              </a:rPr>
              <a:t>Worker</a:t>
            </a:r>
            <a:endParaRPr lang="zh-CN" altLang="en-US" sz="1400" dirty="0">
              <a:ea typeface="Verdana" panose="020B0604030504040204" pitchFamily="34" charset="0"/>
              <a:cs typeface="Verdana" panose="020B0604030504040204" pitchFamily="34" charset="0"/>
            </a:endParaRPr>
          </a:p>
        </p:txBody>
      </p:sp>
      <p:sp>
        <p:nvSpPr>
          <p:cNvPr id="22" name="Rounded Rectangle 39"/>
          <p:cNvSpPr/>
          <p:nvPr/>
        </p:nvSpPr>
        <p:spPr>
          <a:xfrm>
            <a:off x="2984500" y="4127500"/>
            <a:ext cx="2095500" cy="762000"/>
          </a:xfrm>
          <a:prstGeom prst="round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200"/>
          </a:p>
        </p:txBody>
      </p:sp>
      <p:sp>
        <p:nvSpPr>
          <p:cNvPr id="23" name="Rounded Rectangle 40"/>
          <p:cNvSpPr/>
          <p:nvPr/>
        </p:nvSpPr>
        <p:spPr>
          <a:xfrm>
            <a:off x="5524500" y="2687802"/>
            <a:ext cx="1016000" cy="467492"/>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400" dirty="0">
                <a:ea typeface="Verdana" panose="020B0604030504040204" pitchFamily="34" charset="0"/>
                <a:cs typeface="Verdana" panose="020B0604030504040204" pitchFamily="34" charset="0"/>
              </a:rPr>
              <a:t>Reduce</a:t>
            </a:r>
            <a:br>
              <a:rPr lang="en-US" altLang="zh-CN" sz="1400" dirty="0">
                <a:ea typeface="Verdana" panose="020B0604030504040204" pitchFamily="34" charset="0"/>
                <a:cs typeface="Verdana" panose="020B0604030504040204" pitchFamily="34" charset="0"/>
              </a:rPr>
            </a:br>
            <a:r>
              <a:rPr lang="en-US" altLang="zh-CN" sz="1400" dirty="0">
                <a:ea typeface="Verdana" panose="020B0604030504040204" pitchFamily="34" charset="0"/>
                <a:cs typeface="Verdana" panose="020B0604030504040204" pitchFamily="34" charset="0"/>
              </a:rPr>
              <a:t>Worker</a:t>
            </a:r>
            <a:endParaRPr lang="zh-CN" altLang="en-US" sz="1400" dirty="0">
              <a:ea typeface="Verdana" panose="020B0604030504040204" pitchFamily="34" charset="0"/>
              <a:cs typeface="Verdana" panose="020B0604030504040204" pitchFamily="34" charset="0"/>
            </a:endParaRPr>
          </a:p>
        </p:txBody>
      </p:sp>
      <p:sp>
        <p:nvSpPr>
          <p:cNvPr id="24" name="Rounded Rectangle 41"/>
          <p:cNvSpPr/>
          <p:nvPr/>
        </p:nvSpPr>
        <p:spPr>
          <a:xfrm>
            <a:off x="5651500" y="3909629"/>
            <a:ext cx="1016000" cy="467492"/>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400" dirty="0">
                <a:ea typeface="Verdana" panose="020B0604030504040204" pitchFamily="34" charset="0"/>
                <a:cs typeface="Verdana" panose="020B0604030504040204" pitchFamily="34" charset="0"/>
              </a:rPr>
              <a:t>Reduce</a:t>
            </a:r>
            <a:br>
              <a:rPr lang="en-US" altLang="zh-CN" sz="1400" dirty="0">
                <a:ea typeface="Verdana" panose="020B0604030504040204" pitchFamily="34" charset="0"/>
                <a:cs typeface="Verdana" panose="020B0604030504040204" pitchFamily="34" charset="0"/>
              </a:rPr>
            </a:br>
            <a:r>
              <a:rPr lang="en-US" altLang="zh-CN" sz="1400" dirty="0">
                <a:ea typeface="Verdana" panose="020B0604030504040204" pitchFamily="34" charset="0"/>
                <a:cs typeface="Verdana" panose="020B0604030504040204" pitchFamily="34" charset="0"/>
              </a:rPr>
              <a:t>Worker</a:t>
            </a:r>
            <a:endParaRPr lang="zh-CN" altLang="en-US" sz="1400" dirty="0">
              <a:ea typeface="Verdana" panose="020B0604030504040204" pitchFamily="34" charset="0"/>
              <a:cs typeface="Verdana" panose="020B0604030504040204" pitchFamily="34" charset="0"/>
            </a:endParaRPr>
          </a:p>
        </p:txBody>
      </p:sp>
      <p:sp>
        <p:nvSpPr>
          <p:cNvPr id="25" name="Rectangle 42"/>
          <p:cNvSpPr/>
          <p:nvPr/>
        </p:nvSpPr>
        <p:spPr>
          <a:xfrm>
            <a:off x="7112000" y="2612260"/>
            <a:ext cx="825500" cy="578069"/>
          </a:xfrm>
          <a:prstGeom prst="rect">
            <a:avLst/>
          </a:prstGeom>
          <a:ln w="38100">
            <a:solidFill>
              <a:schemeClr val="tx1"/>
            </a:solidFill>
          </a:ln>
        </p:spPr>
        <p:style>
          <a:lnRef idx="1">
            <a:schemeClr val="accent1"/>
          </a:lnRef>
          <a:fillRef idx="2">
            <a:schemeClr val="accent1"/>
          </a:fillRef>
          <a:effectRef idx="1">
            <a:schemeClr val="accent1"/>
          </a:effectRef>
          <a:fontRef idx="minor">
            <a:schemeClr val="dk1"/>
          </a:fontRef>
        </p:style>
        <p:txBody>
          <a:bodyPr wrap="none" bIns="0" rtlCol="0" anchor="ctr"/>
          <a:lstStyle/>
          <a:p>
            <a:pPr algn="ctr">
              <a:lnSpc>
                <a:spcPct val="80000"/>
              </a:lnSpc>
            </a:pPr>
            <a:r>
              <a:rPr lang="en-US" altLang="zh-CN" sz="1400" dirty="0">
                <a:solidFill>
                  <a:schemeClr val="tx1"/>
                </a:solidFill>
                <a:ea typeface="Verdana" panose="020B0604030504040204" pitchFamily="34" charset="0"/>
                <a:cs typeface="Verdana" panose="020B0604030504040204" pitchFamily="34" charset="0"/>
              </a:rPr>
              <a:t>Output</a:t>
            </a:r>
            <a:endParaRPr lang="en-US" altLang="zh-CN" sz="1400" dirty="0">
              <a:solidFill>
                <a:schemeClr val="tx1"/>
              </a:solidFill>
              <a:ea typeface="Verdana" panose="020B0604030504040204" pitchFamily="34" charset="0"/>
              <a:cs typeface="Verdana" panose="020B0604030504040204" pitchFamily="34" charset="0"/>
            </a:endParaRPr>
          </a:p>
          <a:p>
            <a:pPr algn="ctr">
              <a:lnSpc>
                <a:spcPct val="80000"/>
              </a:lnSpc>
            </a:pPr>
            <a:r>
              <a:rPr lang="en-US" altLang="zh-CN" sz="1400" dirty="0">
                <a:solidFill>
                  <a:schemeClr val="tx1"/>
                </a:solidFill>
                <a:ea typeface="Verdana" panose="020B0604030504040204" pitchFamily="34" charset="0"/>
                <a:cs typeface="Verdana" panose="020B0604030504040204" pitchFamily="34" charset="0"/>
              </a:rPr>
              <a:t>File 1</a:t>
            </a:r>
            <a:endParaRPr lang="zh-CN" altLang="en-US" sz="1400" dirty="0">
              <a:solidFill>
                <a:schemeClr val="tx1"/>
              </a:solidFill>
              <a:cs typeface="Verdana" panose="020B0604030504040204" pitchFamily="34" charset="0"/>
            </a:endParaRPr>
          </a:p>
        </p:txBody>
      </p:sp>
      <p:sp>
        <p:nvSpPr>
          <p:cNvPr id="26" name="Rectangle 43"/>
          <p:cNvSpPr/>
          <p:nvPr/>
        </p:nvSpPr>
        <p:spPr>
          <a:xfrm>
            <a:off x="7112000" y="3854341"/>
            <a:ext cx="825500" cy="578069"/>
          </a:xfrm>
          <a:prstGeom prst="rect">
            <a:avLst/>
          </a:prstGeom>
          <a:ln w="38100">
            <a:solidFill>
              <a:schemeClr val="tx1"/>
            </a:solidFill>
          </a:ln>
        </p:spPr>
        <p:style>
          <a:lnRef idx="1">
            <a:schemeClr val="accent1"/>
          </a:lnRef>
          <a:fillRef idx="2">
            <a:schemeClr val="accent1"/>
          </a:fillRef>
          <a:effectRef idx="1">
            <a:schemeClr val="accent1"/>
          </a:effectRef>
          <a:fontRef idx="minor">
            <a:schemeClr val="dk1"/>
          </a:fontRef>
        </p:style>
        <p:txBody>
          <a:bodyPr wrap="none" bIns="0" rtlCol="0" anchor="ctr"/>
          <a:lstStyle/>
          <a:p>
            <a:pPr algn="ctr">
              <a:lnSpc>
                <a:spcPct val="80000"/>
              </a:lnSpc>
            </a:pPr>
            <a:r>
              <a:rPr lang="en-US" altLang="zh-CN" sz="1400" dirty="0">
                <a:solidFill>
                  <a:schemeClr val="tx1"/>
                </a:solidFill>
                <a:ea typeface="Verdana" panose="020B0604030504040204" pitchFamily="34" charset="0"/>
                <a:cs typeface="Verdana" panose="020B0604030504040204" pitchFamily="34" charset="0"/>
              </a:rPr>
              <a:t>Output</a:t>
            </a:r>
            <a:endParaRPr lang="en-US" altLang="zh-CN" sz="1400" dirty="0">
              <a:solidFill>
                <a:schemeClr val="tx1"/>
              </a:solidFill>
              <a:ea typeface="Verdana" panose="020B0604030504040204" pitchFamily="34" charset="0"/>
              <a:cs typeface="Verdana" panose="020B0604030504040204" pitchFamily="34" charset="0"/>
            </a:endParaRPr>
          </a:p>
          <a:p>
            <a:pPr algn="ctr">
              <a:lnSpc>
                <a:spcPct val="80000"/>
              </a:lnSpc>
            </a:pPr>
            <a:r>
              <a:rPr lang="en-US" altLang="zh-CN" sz="1400" dirty="0">
                <a:solidFill>
                  <a:schemeClr val="tx1"/>
                </a:solidFill>
                <a:ea typeface="Verdana" panose="020B0604030504040204" pitchFamily="34" charset="0"/>
                <a:cs typeface="Verdana" panose="020B0604030504040204" pitchFamily="34" charset="0"/>
              </a:rPr>
              <a:t>File 2</a:t>
            </a:r>
            <a:endParaRPr lang="zh-CN" altLang="en-US" sz="1400" dirty="0">
              <a:solidFill>
                <a:schemeClr val="tx1"/>
              </a:solidFill>
              <a:cs typeface="Verdana" panose="020B0604030504040204" pitchFamily="34" charset="0"/>
            </a:endParaRPr>
          </a:p>
        </p:txBody>
      </p:sp>
      <p:sp>
        <p:nvSpPr>
          <p:cNvPr id="27" name="Oval 44"/>
          <p:cNvSpPr/>
          <p:nvPr/>
        </p:nvSpPr>
        <p:spPr>
          <a:xfrm>
            <a:off x="2730500" y="1079500"/>
            <a:ext cx="825500" cy="571500"/>
          </a:xfrm>
          <a:prstGeom prst="ellipse">
            <a:avLst/>
          </a:prstGeom>
          <a:ln w="38100">
            <a:solidFill>
              <a:schemeClr val="tx1"/>
            </a:solid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76200" tIns="30000" rIns="76200" bIns="38100" numCol="1" spcCol="0" rtlCol="0" fromWordArt="0" anchor="ctr" anchorCtr="0" forceAA="0" compatLnSpc="1">
            <a:noAutofit/>
          </a:bodyPr>
          <a:lstStyle/>
          <a:p>
            <a:pPr algn="ctr"/>
            <a:r>
              <a:rPr lang="en-US" altLang="zh-CN" sz="1400" dirty="0">
                <a:ea typeface="Verdana" panose="020B0604030504040204" pitchFamily="34" charset="0"/>
                <a:cs typeface="Verdana" panose="020B0604030504040204" pitchFamily="34" charset="0"/>
              </a:rPr>
              <a:t>Client</a:t>
            </a:r>
            <a:endParaRPr lang="zh-CN" altLang="en-US" sz="1400" dirty="0">
              <a:ea typeface="Verdana" panose="020B0604030504040204" pitchFamily="34" charset="0"/>
              <a:cs typeface="Verdana" panose="020B0604030504040204" pitchFamily="34" charset="0"/>
            </a:endParaRPr>
          </a:p>
        </p:txBody>
      </p:sp>
      <p:sp>
        <p:nvSpPr>
          <p:cNvPr id="28" name="Rounded Rectangle 45"/>
          <p:cNvSpPr/>
          <p:nvPr/>
        </p:nvSpPr>
        <p:spPr>
          <a:xfrm>
            <a:off x="4381500" y="1130958"/>
            <a:ext cx="1016000" cy="467492"/>
          </a:xfrm>
          <a:prstGeom prst="roundRect">
            <a:avLst>
              <a:gd name="adj" fmla="val 39149"/>
            </a:avLst>
          </a:prstGeom>
          <a:solidFill>
            <a:srgbClr val="FFA3C8"/>
          </a:solidFill>
          <a:ln w="38100">
            <a:solidFill>
              <a:schemeClr val="tx1"/>
            </a:solid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76200" tIns="30000" rIns="76200" bIns="38100" numCol="1" spcCol="0" rtlCol="0" fromWordArt="0" anchor="ctr" anchorCtr="0" forceAA="0" compatLnSpc="1">
            <a:noAutofit/>
          </a:bodyPr>
          <a:lstStyle/>
          <a:p>
            <a:pPr algn="ctr"/>
            <a:r>
              <a:rPr lang="en-US" altLang="zh-CN" sz="1400" dirty="0">
                <a:ea typeface="Verdana" panose="020B0604030504040204" pitchFamily="34" charset="0"/>
                <a:cs typeface="Verdana" panose="020B0604030504040204" pitchFamily="34" charset="0"/>
              </a:rPr>
              <a:t>Master</a:t>
            </a:r>
            <a:endParaRPr lang="zh-CN" altLang="en-US" sz="1400" dirty="0">
              <a:ea typeface="Verdana" panose="020B0604030504040204" pitchFamily="34" charset="0"/>
              <a:cs typeface="Verdana" panose="020B0604030504040204" pitchFamily="34" charset="0"/>
            </a:endParaRPr>
          </a:p>
        </p:txBody>
      </p:sp>
      <p:cxnSp>
        <p:nvCxnSpPr>
          <p:cNvPr id="29" name="Straight Arrow Connector 46"/>
          <p:cNvCxnSpPr>
            <a:stCxn id="5" idx="3"/>
          </p:cNvCxnSpPr>
          <p:nvPr/>
        </p:nvCxnSpPr>
        <p:spPr>
          <a:xfrm>
            <a:off x="2413000" y="2190750"/>
            <a:ext cx="698500" cy="15437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Curved Connector 53"/>
          <p:cNvCxnSpPr>
            <a:stCxn id="28" idx="3"/>
          </p:cNvCxnSpPr>
          <p:nvPr/>
        </p:nvCxnSpPr>
        <p:spPr>
          <a:xfrm>
            <a:off x="5397500" y="1364704"/>
            <a:ext cx="426139" cy="1329693"/>
          </a:xfrm>
          <a:prstGeom prst="curved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61"/>
          <p:cNvCxnSpPr>
            <a:stCxn id="6" idx="3"/>
          </p:cNvCxnSpPr>
          <p:nvPr/>
        </p:nvCxnSpPr>
        <p:spPr>
          <a:xfrm>
            <a:off x="2413000" y="2503870"/>
            <a:ext cx="698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69"/>
          <p:cNvCxnSpPr>
            <a:stCxn id="7" idx="3"/>
          </p:cNvCxnSpPr>
          <p:nvPr/>
        </p:nvCxnSpPr>
        <p:spPr>
          <a:xfrm>
            <a:off x="2413000" y="2821370"/>
            <a:ext cx="698500" cy="60763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72"/>
          <p:cNvCxnSpPr>
            <a:stCxn id="10" idx="3"/>
          </p:cNvCxnSpPr>
          <p:nvPr/>
        </p:nvCxnSpPr>
        <p:spPr>
          <a:xfrm flipV="1">
            <a:off x="2413000" y="3770040"/>
            <a:ext cx="730250" cy="71218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75"/>
          <p:cNvCxnSpPr>
            <a:stCxn id="9" idx="3"/>
            <a:endCxn id="21" idx="1"/>
          </p:cNvCxnSpPr>
          <p:nvPr/>
        </p:nvCxnSpPr>
        <p:spPr>
          <a:xfrm>
            <a:off x="2413000" y="4166911"/>
            <a:ext cx="698500" cy="3415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79"/>
          <p:cNvCxnSpPr>
            <a:stCxn id="8" idx="3"/>
          </p:cNvCxnSpPr>
          <p:nvPr/>
        </p:nvCxnSpPr>
        <p:spPr>
          <a:xfrm>
            <a:off x="2413000" y="3130112"/>
            <a:ext cx="730250" cy="120759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Freeform 91"/>
          <p:cNvSpPr/>
          <p:nvPr/>
        </p:nvSpPr>
        <p:spPr>
          <a:xfrm>
            <a:off x="3968750" y="1598450"/>
            <a:ext cx="666750" cy="592300"/>
          </a:xfrm>
          <a:custGeom>
            <a:avLst/>
            <a:gdLst>
              <a:gd name="connsiteX0" fmla="*/ 993227 w 993227"/>
              <a:gd name="connsiteY0" fmla="*/ 0 h 709448"/>
              <a:gd name="connsiteX1" fmla="*/ 677917 w 993227"/>
              <a:gd name="connsiteY1" fmla="*/ 283779 h 709448"/>
              <a:gd name="connsiteX2" fmla="*/ 157655 w 993227"/>
              <a:gd name="connsiteY2" fmla="*/ 331076 h 709448"/>
              <a:gd name="connsiteX3" fmla="*/ 0 w 993227"/>
              <a:gd name="connsiteY3" fmla="*/ 709448 h 709448"/>
            </a:gdLst>
            <a:ahLst/>
            <a:cxnLst>
              <a:cxn ang="0">
                <a:pos x="connsiteX0" y="connsiteY0"/>
              </a:cxn>
              <a:cxn ang="0">
                <a:pos x="connsiteX1" y="connsiteY1"/>
              </a:cxn>
              <a:cxn ang="0">
                <a:pos x="connsiteX2" y="connsiteY2"/>
              </a:cxn>
              <a:cxn ang="0">
                <a:pos x="connsiteX3" y="connsiteY3"/>
              </a:cxn>
            </a:cxnLst>
            <a:rect l="l" t="t" r="r" b="b"/>
            <a:pathLst>
              <a:path w="993227" h="709448">
                <a:moveTo>
                  <a:pt x="993227" y="0"/>
                </a:moveTo>
                <a:cubicBezTo>
                  <a:pt x="905203" y="114300"/>
                  <a:pt x="817179" y="228600"/>
                  <a:pt x="677917" y="283779"/>
                </a:cubicBezTo>
                <a:cubicBezTo>
                  <a:pt x="538655" y="338958"/>
                  <a:pt x="270641" y="260131"/>
                  <a:pt x="157655" y="331076"/>
                </a:cubicBezTo>
                <a:cubicBezTo>
                  <a:pt x="44669" y="402021"/>
                  <a:pt x="22334" y="555734"/>
                  <a:pt x="0" y="709448"/>
                </a:cubicBezTo>
              </a:path>
            </a:pathLst>
          </a:cu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cxnSp>
        <p:nvCxnSpPr>
          <p:cNvPr id="37" name="Straight Arrow Connector 92"/>
          <p:cNvCxnSpPr>
            <a:stCxn id="27" idx="6"/>
            <a:endCxn id="28" idx="1"/>
          </p:cNvCxnSpPr>
          <p:nvPr/>
        </p:nvCxnSpPr>
        <p:spPr>
          <a:xfrm flipV="1">
            <a:off x="3556000" y="1364705"/>
            <a:ext cx="825500" cy="54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105"/>
          <p:cNvCxnSpPr>
            <a:stCxn id="11" idx="3"/>
            <a:endCxn id="23" idx="1"/>
          </p:cNvCxnSpPr>
          <p:nvPr/>
        </p:nvCxnSpPr>
        <p:spPr>
          <a:xfrm>
            <a:off x="4889500" y="2413000"/>
            <a:ext cx="635000" cy="50854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108"/>
          <p:cNvCxnSpPr/>
          <p:nvPr/>
        </p:nvCxnSpPr>
        <p:spPr>
          <a:xfrm>
            <a:off x="4889500" y="2612259"/>
            <a:ext cx="825500" cy="130503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111"/>
          <p:cNvCxnSpPr>
            <a:stCxn id="15" idx="3"/>
          </p:cNvCxnSpPr>
          <p:nvPr/>
        </p:nvCxnSpPr>
        <p:spPr>
          <a:xfrm flipV="1">
            <a:off x="4889500" y="3048549"/>
            <a:ext cx="635000" cy="48774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114"/>
          <p:cNvCxnSpPr>
            <a:endCxn id="24" idx="1"/>
          </p:cNvCxnSpPr>
          <p:nvPr/>
        </p:nvCxnSpPr>
        <p:spPr>
          <a:xfrm>
            <a:off x="4889500" y="3619500"/>
            <a:ext cx="762000" cy="5238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119"/>
          <p:cNvCxnSpPr>
            <a:stCxn id="19" idx="3"/>
          </p:cNvCxnSpPr>
          <p:nvPr/>
        </p:nvCxnSpPr>
        <p:spPr>
          <a:xfrm flipV="1">
            <a:off x="4889500" y="4274755"/>
            <a:ext cx="762000" cy="23374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124"/>
          <p:cNvCxnSpPr>
            <a:stCxn id="23" idx="3"/>
          </p:cNvCxnSpPr>
          <p:nvPr/>
        </p:nvCxnSpPr>
        <p:spPr>
          <a:xfrm>
            <a:off x="6540500" y="2921548"/>
            <a:ext cx="571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127"/>
          <p:cNvCxnSpPr>
            <a:stCxn id="24" idx="3"/>
            <a:endCxn id="26" idx="1"/>
          </p:cNvCxnSpPr>
          <p:nvPr/>
        </p:nvCxnSpPr>
        <p:spPr>
          <a:xfrm>
            <a:off x="6667500" y="4143375"/>
            <a:ext cx="444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141"/>
          <p:cNvSpPr/>
          <p:nvPr/>
        </p:nvSpPr>
        <p:spPr>
          <a:xfrm>
            <a:off x="1483936" y="5035609"/>
            <a:ext cx="631903" cy="523220"/>
          </a:xfrm>
          <a:prstGeom prst="rect">
            <a:avLst/>
          </a:prstGeom>
        </p:spPr>
        <p:txBody>
          <a:bodyPr wrap="none">
            <a:spAutoFit/>
          </a:bodyPr>
          <a:lstStyle/>
          <a:p>
            <a:pPr algn="ct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Input </a:t>
            </a:r>
            <a:b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b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Files</a:t>
            </a:r>
            <a:endParaRPr lang="zh-CN" altLang="en-US" sz="1400" dirty="0">
              <a:effectLst>
                <a:outerShdw blurRad="38100" dist="38100" dir="2700000" algn="tl">
                  <a:srgbClr val="000000">
                    <a:alpha val="43137"/>
                  </a:srgbClr>
                </a:outerShdw>
              </a:effectLst>
            </a:endParaRPr>
          </a:p>
        </p:txBody>
      </p:sp>
      <p:sp>
        <p:nvSpPr>
          <p:cNvPr id="49" name="Rectangle 145"/>
          <p:cNvSpPr/>
          <p:nvPr/>
        </p:nvSpPr>
        <p:spPr>
          <a:xfrm>
            <a:off x="2921000" y="5035609"/>
            <a:ext cx="1130092" cy="523220"/>
          </a:xfrm>
          <a:prstGeom prst="rect">
            <a:avLst/>
          </a:prstGeom>
        </p:spPr>
        <p:txBody>
          <a:bodyPr wrap="square">
            <a:spAutoFit/>
          </a:bodyPr>
          <a:lstStyle/>
          <a:p>
            <a:pPr algn="ct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Map Workers</a:t>
            </a:r>
            <a:endParaRPr lang="zh-CN" altLang="en-US" sz="1400" dirty="0">
              <a:effectLst>
                <a:outerShdw blurRad="38100" dist="38100" dir="2700000" algn="tl">
                  <a:srgbClr val="000000">
                    <a:alpha val="43137"/>
                  </a:srgbClr>
                </a:outerShdw>
              </a:effectLst>
            </a:endParaRPr>
          </a:p>
        </p:txBody>
      </p:sp>
      <p:sp>
        <p:nvSpPr>
          <p:cNvPr id="50" name="Rectangle 146"/>
          <p:cNvSpPr/>
          <p:nvPr/>
        </p:nvSpPr>
        <p:spPr>
          <a:xfrm>
            <a:off x="4000500" y="5035609"/>
            <a:ext cx="1575687" cy="523220"/>
          </a:xfrm>
          <a:prstGeom prst="rect">
            <a:avLst/>
          </a:prstGeom>
        </p:spPr>
        <p:txBody>
          <a:bodyPr wrap="square">
            <a:spAutoFit/>
          </a:bodyPr>
          <a:lstStyle/>
          <a:p>
            <a:pPr algn="ct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Intermediate Files</a:t>
            </a:r>
            <a:endParaRPr lang="zh-CN" altLang="en-US" sz="1400" dirty="0">
              <a:effectLst>
                <a:outerShdw blurRad="38100" dist="38100" dir="2700000" algn="tl">
                  <a:srgbClr val="000000">
                    <a:alpha val="43137"/>
                  </a:srgbClr>
                </a:outerShdw>
              </a:effectLst>
            </a:endParaRPr>
          </a:p>
        </p:txBody>
      </p:sp>
      <p:sp>
        <p:nvSpPr>
          <p:cNvPr id="51" name="Rectangle 147"/>
          <p:cNvSpPr/>
          <p:nvPr/>
        </p:nvSpPr>
        <p:spPr>
          <a:xfrm>
            <a:off x="5651500" y="5035609"/>
            <a:ext cx="1130092" cy="523220"/>
          </a:xfrm>
          <a:prstGeom prst="rect">
            <a:avLst/>
          </a:prstGeom>
        </p:spPr>
        <p:txBody>
          <a:bodyPr wrap="square">
            <a:spAutoFit/>
          </a:bodyPr>
          <a:lstStyle/>
          <a:p>
            <a:pPr algn="ct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Reduce Workers</a:t>
            </a:r>
            <a:endParaRPr lang="zh-CN" altLang="en-US" sz="1400" dirty="0">
              <a:effectLst>
                <a:outerShdw blurRad="38100" dist="38100" dir="2700000" algn="tl">
                  <a:srgbClr val="000000">
                    <a:alpha val="43137"/>
                  </a:srgbClr>
                </a:outerShdw>
              </a:effectLst>
            </a:endParaRPr>
          </a:p>
        </p:txBody>
      </p:sp>
      <p:sp>
        <p:nvSpPr>
          <p:cNvPr id="52" name="Rectangle 148"/>
          <p:cNvSpPr/>
          <p:nvPr/>
        </p:nvSpPr>
        <p:spPr>
          <a:xfrm>
            <a:off x="7147191" y="5035609"/>
            <a:ext cx="771365" cy="523220"/>
          </a:xfrm>
          <a:prstGeom prst="rect">
            <a:avLst/>
          </a:prstGeom>
        </p:spPr>
        <p:txBody>
          <a:bodyPr wrap="none">
            <a:spAutoFit/>
          </a:bodyPr>
          <a:lstStyle/>
          <a:p>
            <a:pPr algn="ct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Output </a:t>
            </a:r>
            <a:b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br>
            <a:r>
              <a:rPr lang="en-US" altLang="zh-CN" sz="14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Files</a:t>
            </a:r>
            <a:endParaRPr lang="zh-CN" altLang="en-US" sz="1400" dirty="0">
              <a:effectLst>
                <a:outerShdw blurRad="38100" dist="38100" dir="2700000" algn="tl">
                  <a:srgbClr val="000000">
                    <a:alpha val="43137"/>
                  </a:srgbClr>
                </a:outerShdw>
              </a:effectLst>
            </a:endParaRPr>
          </a:p>
        </p:txBody>
      </p:sp>
      <p:sp>
        <p:nvSpPr>
          <p:cNvPr id="53" name="Rectangle 154"/>
          <p:cNvSpPr/>
          <p:nvPr/>
        </p:nvSpPr>
        <p:spPr>
          <a:xfrm>
            <a:off x="2813362" y="2770908"/>
            <a:ext cx="1130092" cy="307777"/>
          </a:xfrm>
          <a:prstGeom prst="rect">
            <a:avLst/>
          </a:prstGeom>
        </p:spPr>
        <p:txBody>
          <a:bodyPr wrap="square">
            <a:spAutoFit/>
          </a:bodyPr>
          <a:lstStyle/>
          <a:p>
            <a:r>
              <a:rPr lang="en-US" altLang="zh-CN" sz="1200" i="1" dirty="0">
                <a:solidFill>
                  <a:srgbClr val="0233BE"/>
                </a:solidFill>
                <a:ea typeface="Verdana" panose="020B0604030504040204" pitchFamily="34" charset="0"/>
                <a:cs typeface="Verdana" panose="020B0604030504040204" pitchFamily="34" charset="0"/>
              </a:rPr>
              <a:t>M</a:t>
            </a:r>
            <a:r>
              <a:rPr lang="en-US" altLang="zh-CN" sz="1400" i="1" dirty="0">
                <a:solidFill>
                  <a:srgbClr val="0233BE"/>
                </a:solidFill>
                <a:ea typeface="Verdana" panose="020B0604030504040204" pitchFamily="34" charset="0"/>
                <a:cs typeface="Verdana" panose="020B0604030504040204" pitchFamily="34" charset="0"/>
              </a:rPr>
              <a:t> items</a:t>
            </a:r>
            <a:endParaRPr lang="zh-CN" altLang="en-US" sz="1400" i="1" dirty="0">
              <a:solidFill>
                <a:srgbClr val="0233BE"/>
              </a:solidFill>
            </a:endParaRPr>
          </a:p>
        </p:txBody>
      </p:sp>
      <p:sp>
        <p:nvSpPr>
          <p:cNvPr id="54" name="Rectangle 155"/>
          <p:cNvSpPr/>
          <p:nvPr/>
        </p:nvSpPr>
        <p:spPr>
          <a:xfrm>
            <a:off x="5288861" y="3192401"/>
            <a:ext cx="1042779" cy="307777"/>
          </a:xfrm>
          <a:prstGeom prst="rect">
            <a:avLst/>
          </a:prstGeom>
        </p:spPr>
        <p:txBody>
          <a:bodyPr wrap="square">
            <a:spAutoFit/>
          </a:bodyPr>
          <a:lstStyle/>
          <a:p>
            <a:pPr algn="ctr"/>
            <a:r>
              <a:rPr lang="en-US" altLang="zh-CN" sz="1200" i="1" dirty="0">
                <a:solidFill>
                  <a:srgbClr val="0233BE"/>
                </a:solidFill>
                <a:ea typeface="Verdana" panose="020B0604030504040204" pitchFamily="34" charset="0"/>
                <a:cs typeface="Verdana" panose="020B0604030504040204" pitchFamily="34" charset="0"/>
              </a:rPr>
              <a:t>R</a:t>
            </a:r>
            <a:r>
              <a:rPr lang="en-US" altLang="zh-CN" sz="1400" i="1" dirty="0">
                <a:solidFill>
                  <a:srgbClr val="0233BE"/>
                </a:solidFill>
                <a:ea typeface="Verdana" panose="020B0604030504040204" pitchFamily="34" charset="0"/>
                <a:cs typeface="Verdana" panose="020B0604030504040204" pitchFamily="34" charset="0"/>
              </a:rPr>
              <a:t> items</a:t>
            </a:r>
            <a:endParaRPr lang="zh-CN" altLang="en-US" sz="1400" i="1" dirty="0">
              <a:solidFill>
                <a:srgbClr val="0233BE"/>
              </a:solidFill>
            </a:endParaRPr>
          </a:p>
        </p:txBody>
      </p:sp>
      <p:sp>
        <p:nvSpPr>
          <p:cNvPr id="55" name="Rectangle 156"/>
          <p:cNvSpPr/>
          <p:nvPr/>
        </p:nvSpPr>
        <p:spPr>
          <a:xfrm>
            <a:off x="5928540" y="1588099"/>
            <a:ext cx="752129" cy="523220"/>
          </a:xfrm>
          <a:prstGeom prst="rect">
            <a:avLst/>
          </a:prstGeom>
        </p:spPr>
        <p:txBody>
          <a:bodyPr wrap="none">
            <a:spAutoFit/>
          </a:bodyPr>
          <a:lstStyle/>
          <a:p>
            <a:r>
              <a:rPr lang="en-US" altLang="zh-CN" sz="1400" dirty="0">
                <a:solidFill>
                  <a:schemeClr val="dk1"/>
                </a:solidFill>
                <a:ea typeface="Verdana" panose="020B0604030504040204" pitchFamily="34" charset="0"/>
                <a:cs typeface="Verdana" panose="020B0604030504040204" pitchFamily="34" charset="0"/>
              </a:rPr>
              <a:t>assign </a:t>
            </a:r>
            <a:br>
              <a:rPr lang="en-US" altLang="zh-CN" sz="1400" dirty="0">
                <a:solidFill>
                  <a:schemeClr val="dk1"/>
                </a:solidFill>
                <a:ea typeface="Verdana" panose="020B0604030504040204" pitchFamily="34" charset="0"/>
                <a:cs typeface="Verdana" panose="020B0604030504040204" pitchFamily="34" charset="0"/>
              </a:rPr>
            </a:br>
            <a:r>
              <a:rPr lang="en-US" altLang="zh-CN" sz="1400" dirty="0">
                <a:solidFill>
                  <a:schemeClr val="dk1"/>
                </a:solidFill>
                <a:ea typeface="Verdana" panose="020B0604030504040204" pitchFamily="34" charset="0"/>
                <a:cs typeface="Verdana" panose="020B0604030504040204" pitchFamily="34" charset="0"/>
              </a:rPr>
              <a:t>tasks</a:t>
            </a:r>
            <a:endParaRPr lang="zh-CN" altLang="en-US" sz="1400" dirty="0"/>
          </a:p>
        </p:txBody>
      </p:sp>
      <p:sp>
        <p:nvSpPr>
          <p:cNvPr id="56" name="Rectangle 141"/>
          <p:cNvSpPr/>
          <p:nvPr/>
        </p:nvSpPr>
        <p:spPr>
          <a:xfrm rot="5400000">
            <a:off x="1738805" y="3463272"/>
            <a:ext cx="357790" cy="338554"/>
          </a:xfrm>
          <a:prstGeom prst="rect">
            <a:avLst/>
          </a:prstGeom>
        </p:spPr>
        <p:txBody>
          <a:bodyPr wrap="none">
            <a:spAutoFit/>
          </a:bodyPr>
          <a:lstStyle/>
          <a:p>
            <a:pPr algn="ctr"/>
            <a:r>
              <a:rPr lang="en-US" altLang="zh-CN" sz="1600" dirty="0">
                <a:solidFill>
                  <a:schemeClr val="dk1"/>
                </a:solidFill>
                <a:effectLst>
                  <a:outerShdw blurRad="38100" dist="38100" dir="2700000" algn="tl">
                    <a:srgbClr val="000000">
                      <a:alpha val="43137"/>
                    </a:srgbClr>
                  </a:outerShdw>
                </a:effectLst>
                <a:ea typeface="Verdana" panose="020B0604030504040204" pitchFamily="34" charset="0"/>
                <a:cs typeface="Verdana" panose="020B0604030504040204" pitchFamily="34" charset="0"/>
              </a:rPr>
              <a:t>...</a:t>
            </a:r>
            <a:endParaRPr lang="zh-CN" altLang="en-US" sz="1600" dirty="0">
              <a:effectLst>
                <a:outerShdw blurRad="38100" dist="38100" dir="2700000" algn="tl">
                  <a:srgbClr val="000000">
                    <a:alpha val="43137"/>
                  </a:srgbClr>
                </a:outerShdw>
              </a:effectLs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2"/>
          <p:cNvSpPr/>
          <p:nvPr/>
        </p:nvSpPr>
        <p:spPr>
          <a:xfrm>
            <a:off x="1265621" y="2757458"/>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0</a:t>
            </a:r>
            <a:endParaRPr lang="zh-CN" altLang="en-US" sz="1665" dirty="0">
              <a:latin typeface="Verdana" panose="020B0604030504040204" pitchFamily="34" charset="0"/>
              <a:cs typeface="Verdana" panose="020B0604030504040204" pitchFamily="34" charset="0"/>
            </a:endParaRPr>
          </a:p>
        </p:txBody>
      </p:sp>
      <p:sp>
        <p:nvSpPr>
          <p:cNvPr id="6" name="Rectangle 21"/>
          <p:cNvSpPr/>
          <p:nvPr/>
        </p:nvSpPr>
        <p:spPr>
          <a:xfrm>
            <a:off x="2413001" y="2757458"/>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1</a:t>
            </a:r>
            <a:endParaRPr lang="zh-CN" altLang="en-US" sz="1665" dirty="0">
              <a:latin typeface="Verdana" panose="020B0604030504040204" pitchFamily="34" charset="0"/>
              <a:cs typeface="Verdana" panose="020B0604030504040204" pitchFamily="34" charset="0"/>
            </a:endParaRPr>
          </a:p>
        </p:txBody>
      </p:sp>
      <p:sp>
        <p:nvSpPr>
          <p:cNvPr id="7" name="Rectangle 22"/>
          <p:cNvSpPr/>
          <p:nvPr/>
        </p:nvSpPr>
        <p:spPr>
          <a:xfrm>
            <a:off x="3542862" y="2757458"/>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2</a:t>
            </a:r>
            <a:endParaRPr lang="zh-CN" altLang="en-US" sz="1665" dirty="0">
              <a:latin typeface="Verdana" panose="020B0604030504040204" pitchFamily="34" charset="0"/>
              <a:cs typeface="Verdana" panose="020B0604030504040204" pitchFamily="34" charset="0"/>
            </a:endParaRPr>
          </a:p>
        </p:txBody>
      </p:sp>
      <p:sp>
        <p:nvSpPr>
          <p:cNvPr id="8" name="Rectangle 23"/>
          <p:cNvSpPr/>
          <p:nvPr/>
        </p:nvSpPr>
        <p:spPr>
          <a:xfrm>
            <a:off x="4690241" y="2757458"/>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3</a:t>
            </a:r>
            <a:endParaRPr lang="zh-CN" altLang="en-US" sz="1665" dirty="0">
              <a:latin typeface="Verdana" panose="020B0604030504040204" pitchFamily="34" charset="0"/>
              <a:cs typeface="Verdana" panose="020B0604030504040204" pitchFamily="34" charset="0"/>
            </a:endParaRPr>
          </a:p>
        </p:txBody>
      </p:sp>
      <p:sp>
        <p:nvSpPr>
          <p:cNvPr id="9" name="Rectangle 25"/>
          <p:cNvSpPr/>
          <p:nvPr/>
        </p:nvSpPr>
        <p:spPr>
          <a:xfrm>
            <a:off x="6409121" y="2757458"/>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M-1</a:t>
            </a:r>
            <a:endParaRPr lang="zh-CN" altLang="en-US" sz="1665" dirty="0">
              <a:latin typeface="Verdana" panose="020B0604030504040204" pitchFamily="34" charset="0"/>
              <a:cs typeface="Verdana" panose="020B0604030504040204" pitchFamily="34" charset="0"/>
            </a:endParaRPr>
          </a:p>
        </p:txBody>
      </p:sp>
      <p:sp>
        <p:nvSpPr>
          <p:cNvPr id="10" name="Rectangle 141"/>
          <p:cNvSpPr/>
          <p:nvPr/>
        </p:nvSpPr>
        <p:spPr>
          <a:xfrm>
            <a:off x="3542862" y="3392458"/>
            <a:ext cx="1961930" cy="323165"/>
          </a:xfrm>
          <a:prstGeom prst="rect">
            <a:avLst/>
          </a:prstGeom>
        </p:spPr>
        <p:txBody>
          <a:bodyPr wrap="square">
            <a:spAutoFit/>
          </a:bodyPr>
          <a:lstStyle/>
          <a:p>
            <a:pPr algn="ctr"/>
            <a:r>
              <a:rPr lang="en-US" altLang="zh-CN" sz="1500"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Input Files</a:t>
            </a:r>
            <a:endParaRPr lang="zh-CN" altLang="en-US" sz="1500" dirty="0">
              <a:effectLst>
                <a:outerShdw blurRad="38100" dist="38100" dir="2700000" algn="tl">
                  <a:srgbClr val="000000">
                    <a:alpha val="43137"/>
                  </a:srgbClr>
                </a:outerShdw>
              </a:effectLst>
            </a:endParaRPr>
          </a:p>
        </p:txBody>
      </p:sp>
      <p:sp>
        <p:nvSpPr>
          <p:cNvPr id="11" name="Rectangle 52"/>
          <p:cNvSpPr/>
          <p:nvPr/>
        </p:nvSpPr>
        <p:spPr>
          <a:xfrm>
            <a:off x="5778500" y="2690237"/>
            <a:ext cx="689742" cy="323165"/>
          </a:xfrm>
          <a:prstGeom prst="rect">
            <a:avLst/>
          </a:prstGeom>
        </p:spPr>
        <p:txBody>
          <a:bodyPr wrap="square">
            <a:spAutoFit/>
          </a:bodyPr>
          <a:lstStyle/>
          <a:p>
            <a:pPr algn="ctr"/>
            <a:r>
              <a:rPr lang="en-US" altLang="zh-CN" sz="1500"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t>
            </a:r>
            <a:endParaRPr lang="zh-CN" altLang="en-US" sz="1500" dirty="0">
              <a:effectLst>
                <a:outerShdw blurRad="38100" dist="38100" dir="2700000" algn="tl">
                  <a:srgbClr val="000000">
                    <a:alpha val="43137"/>
                  </a:srgbClr>
                </a:outerShdw>
              </a:effectLst>
            </a:endParaRPr>
          </a:p>
        </p:txBody>
      </p:sp>
      <p:sp>
        <p:nvSpPr>
          <p:cNvPr id="12" name="Rectangle 54"/>
          <p:cNvSpPr/>
          <p:nvPr/>
        </p:nvSpPr>
        <p:spPr>
          <a:xfrm>
            <a:off x="2986690" y="4072484"/>
            <a:ext cx="3277914" cy="400110"/>
          </a:xfrm>
          <a:prstGeom prst="rect">
            <a:avLst/>
          </a:prstGeom>
        </p:spPr>
        <p:txBody>
          <a:bodyPr wrap="square">
            <a:spAutoFit/>
          </a:bodyPr>
          <a:lstStyle/>
          <a:p>
            <a:pPr algn="ctr"/>
            <a:r>
              <a:rPr lang="en-US" altLang="zh-CN"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Divided into </a:t>
            </a:r>
            <a:r>
              <a:rPr lang="en-US" altLang="zh-CN" sz="2000" dirty="0">
                <a:solidFill>
                  <a:srgbClr val="FF0066"/>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M</a:t>
            </a:r>
            <a:r>
              <a:rPr lang="en-US" altLang="zh-CN"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 shards</a:t>
            </a:r>
            <a:endParaRPr lang="zh-CN" altLang="en-US" dirty="0">
              <a:effectLst>
                <a:outerShdw blurRad="38100" dist="38100" dir="2700000" algn="tl">
                  <a:srgbClr val="000000">
                    <a:alpha val="43137"/>
                  </a:srgbClr>
                </a:outerShdw>
              </a:effectLst>
            </a:endParaRPr>
          </a:p>
        </p:txBody>
      </p:sp>
      <p:sp>
        <p:nvSpPr>
          <p:cNvPr id="14" name="内容占位符 2"/>
          <p:cNvSpPr>
            <a:spLocks noGrp="1"/>
          </p:cNvSpPr>
          <p:nvPr>
            <p:ph idx="1"/>
          </p:nvPr>
        </p:nvSpPr>
        <p:spPr>
          <a:xfrm>
            <a:off x="457200" y="1129308"/>
            <a:ext cx="8229600" cy="2664296"/>
          </a:xfrm>
        </p:spPr>
        <p:txBody>
          <a:bodyPr/>
          <a:lstStyle/>
          <a:p>
            <a:r>
              <a:rPr kumimoji="1" lang="en-US" altLang="zh-CN" dirty="0">
                <a:solidFill>
                  <a:srgbClr val="C00000"/>
                </a:solidFill>
              </a:rPr>
              <a:t>Step1</a:t>
            </a:r>
            <a:r>
              <a:rPr kumimoji="1" lang="en-US" altLang="zh-CN" b="0" dirty="0"/>
              <a:t>: (Client/Master) split input files into chunks (shards)</a:t>
            </a:r>
            <a:endParaRPr kumimoji="1" lang="en-US" altLang="zh-CN" b="0" dirty="0"/>
          </a:p>
          <a:p>
            <a:pPr lvl="1"/>
            <a:r>
              <a:rPr kumimoji="1" lang="en-US" altLang="zh-CN" dirty="0"/>
              <a:t>Typically, 64MB</a:t>
            </a:r>
            <a:endParaRPr kumimoji="1" lang="en-US" altLang="zh-CN" dirty="0"/>
          </a:p>
          <a:p>
            <a:pPr lvl="1"/>
            <a:r>
              <a:rPr kumimoji="1" lang="en-US" altLang="zh-CN" dirty="0"/>
              <a:t>Why? Fit the </a:t>
            </a:r>
            <a:r>
              <a:rPr kumimoji="1" lang="en-US" altLang="zh-CN" b="1" dirty="0">
                <a:solidFill>
                  <a:srgbClr val="C00000"/>
                </a:solidFill>
              </a:rPr>
              <a:t>GFS</a:t>
            </a:r>
            <a:r>
              <a:rPr kumimoji="1" lang="en-US" altLang="zh-CN" dirty="0"/>
              <a:t> chunk size, so one RPC is sufficient to read the chunk</a:t>
            </a:r>
            <a:endParaRPr kumimoji="1"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3" name="内容占位符 2"/>
          <p:cNvSpPr>
            <a:spLocks noGrp="1"/>
          </p:cNvSpPr>
          <p:nvPr>
            <p:ph idx="1"/>
          </p:nvPr>
        </p:nvSpPr>
        <p:spPr>
          <a:xfrm>
            <a:off x="457200" y="1129307"/>
            <a:ext cx="8229600" cy="3051297"/>
          </a:xfrm>
        </p:spPr>
        <p:txBody>
          <a:bodyPr>
            <a:normAutofit/>
          </a:bodyPr>
          <a:lstStyle/>
          <a:p>
            <a:r>
              <a:rPr kumimoji="1" lang="en-US" altLang="zh-CN" dirty="0">
                <a:solidFill>
                  <a:srgbClr val="C00000"/>
                </a:solidFill>
              </a:rPr>
              <a:t>Step2</a:t>
            </a:r>
            <a:r>
              <a:rPr kumimoji="1" lang="en-US" altLang="zh-CN" b="0" dirty="0"/>
              <a:t>: (remote) fork processes</a:t>
            </a:r>
            <a:endParaRPr kumimoji="1" lang="en-US" altLang="zh-CN" b="0" dirty="0"/>
          </a:p>
          <a:p>
            <a:r>
              <a:rPr kumimoji="1" lang="en-US" altLang="zh-CN" b="0" dirty="0"/>
              <a:t>Start up many copies of the program on cluster</a:t>
            </a:r>
            <a:endParaRPr kumimoji="1" lang="en-US" altLang="zh-CN" b="0" dirty="0"/>
          </a:p>
          <a:p>
            <a:pPr lvl="1"/>
            <a:r>
              <a:rPr kumimoji="1" lang="en-US" altLang="zh-CN" b="1" dirty="0">
                <a:solidFill>
                  <a:srgbClr val="C00000"/>
                </a:solidFill>
              </a:rPr>
              <a:t>1 master</a:t>
            </a:r>
            <a:r>
              <a:rPr kumimoji="1" lang="en-US" altLang="zh-CN" dirty="0"/>
              <a:t>: scheduler &amp; coordinator</a:t>
            </a:r>
            <a:endParaRPr kumimoji="1" lang="en-US" altLang="zh-CN" dirty="0"/>
          </a:p>
          <a:p>
            <a:pPr lvl="1"/>
            <a:r>
              <a:rPr kumimoji="1" lang="en-US" altLang="zh-CN" dirty="0"/>
              <a:t>Lots of </a:t>
            </a:r>
            <a:r>
              <a:rPr kumimoji="1" lang="en-US" altLang="zh-CN" b="1" dirty="0">
                <a:solidFill>
                  <a:srgbClr val="C00000"/>
                </a:solidFill>
              </a:rPr>
              <a:t>workers</a:t>
            </a:r>
            <a:endParaRPr kumimoji="1" lang="en-US" altLang="zh-CN" b="1" dirty="0">
              <a:solidFill>
                <a:srgbClr val="C00000"/>
              </a:solidFill>
            </a:endParaRPr>
          </a:p>
          <a:p>
            <a:r>
              <a:rPr kumimoji="1" lang="en-US" altLang="zh-CN" dirty="0">
                <a:solidFill>
                  <a:srgbClr val="C00000"/>
                </a:solidFill>
              </a:rPr>
              <a:t>Idle workers </a:t>
            </a:r>
            <a:r>
              <a:rPr kumimoji="1" lang="en-US" altLang="zh-CN" b="0" dirty="0"/>
              <a:t>are assigned either</a:t>
            </a:r>
            <a:endParaRPr kumimoji="1" lang="en-US" altLang="zh-CN" b="0" dirty="0"/>
          </a:p>
          <a:p>
            <a:pPr lvl="1"/>
            <a:r>
              <a:rPr kumimoji="1" lang="en-US" altLang="zh-CN" b="0" dirty="0"/>
              <a:t>Map tasks (each works on a shard)</a:t>
            </a:r>
            <a:endParaRPr kumimoji="1" lang="en-US" altLang="zh-CN" b="0" dirty="0"/>
          </a:p>
          <a:p>
            <a:pPr lvl="1"/>
            <a:r>
              <a:rPr kumimoji="1" lang="en-US" altLang="zh-CN" b="0" dirty="0"/>
              <a:t>Reduce tasks (each works on intermediate files)</a:t>
            </a:r>
            <a:endParaRPr kumimoji="1" lang="en-US" altLang="zh-CN" b="0" dirty="0"/>
          </a:p>
          <a:p>
            <a:endParaRPr kumimoji="1" lang="en-US" altLang="zh-CN"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ounded Rectangle 11"/>
          <p:cNvSpPr/>
          <p:nvPr/>
        </p:nvSpPr>
        <p:spPr>
          <a:xfrm>
            <a:off x="2212776" y="4868369"/>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Map</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6" name="Rounded Rectangle 12"/>
          <p:cNvSpPr/>
          <p:nvPr/>
        </p:nvSpPr>
        <p:spPr>
          <a:xfrm>
            <a:off x="4959238" y="4856058"/>
            <a:ext cx="1016000" cy="467492"/>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Reduce</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7" name="Oval 13"/>
          <p:cNvSpPr/>
          <p:nvPr/>
        </p:nvSpPr>
        <p:spPr>
          <a:xfrm>
            <a:off x="2292238" y="4066196"/>
            <a:ext cx="825500" cy="571500"/>
          </a:xfrm>
          <a:prstGeom prst="ellipse">
            <a:avLst/>
          </a:prstGeom>
          <a:ln w="38100">
            <a:solidFill>
              <a:schemeClr val="tx1"/>
            </a:solid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76200" tIns="30000" rIns="76200" bIns="38100" numCol="1" spcCol="0" rtlCol="0" fromWordArt="0" anchor="ctr" anchorCtr="0" forceAA="0" compatLnSpc="1">
            <a:noAutofit/>
          </a:bodyP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Client</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14"/>
          <p:cNvSpPr/>
          <p:nvPr/>
        </p:nvSpPr>
        <p:spPr>
          <a:xfrm>
            <a:off x="4133738" y="4118200"/>
            <a:ext cx="1016000" cy="467492"/>
          </a:xfrm>
          <a:prstGeom prst="roundRect">
            <a:avLst>
              <a:gd name="adj" fmla="val 39149"/>
            </a:avLst>
          </a:prstGeom>
          <a:solidFill>
            <a:srgbClr val="FFA3C8"/>
          </a:solidFill>
          <a:ln w="38100">
            <a:solidFill>
              <a:schemeClr val="tx1"/>
            </a:solid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76200" tIns="30000" rIns="76200" bIns="38100" numCol="1" spcCol="0" rtlCol="0" fromWordArt="0" anchor="ctr" anchorCtr="0" forceAA="0" compatLnSpc="1">
            <a:noAutofit/>
          </a:bodyP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Master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Arrow Connector 15"/>
          <p:cNvCxnSpPr>
            <a:stCxn id="7" idx="6"/>
            <a:endCxn id="8" idx="1"/>
          </p:cNvCxnSpPr>
          <p:nvPr/>
        </p:nvCxnSpPr>
        <p:spPr>
          <a:xfrm>
            <a:off x="3117738" y="4351946"/>
            <a:ext cx="1016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16"/>
          <p:cNvCxnSpPr>
            <a:stCxn id="7" idx="4"/>
            <a:endCxn id="5" idx="0"/>
          </p:cNvCxnSpPr>
          <p:nvPr/>
        </p:nvCxnSpPr>
        <p:spPr>
          <a:xfrm>
            <a:off x="2704988" y="4637696"/>
            <a:ext cx="15788" cy="23067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7"/>
          <p:cNvCxnSpPr>
            <a:stCxn id="7" idx="5"/>
          </p:cNvCxnSpPr>
          <p:nvPr/>
        </p:nvCxnSpPr>
        <p:spPr>
          <a:xfrm>
            <a:off x="2996847" y="4554002"/>
            <a:ext cx="373293" cy="25503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8"/>
          <p:cNvSpPr/>
          <p:nvPr/>
        </p:nvSpPr>
        <p:spPr>
          <a:xfrm>
            <a:off x="3117738" y="4066196"/>
            <a:ext cx="1027845" cy="605422"/>
          </a:xfrm>
          <a:prstGeom prst="rect">
            <a:avLst/>
          </a:prstGeom>
        </p:spPr>
        <p:txBody>
          <a:bodyPr wrap="none">
            <a:spAutoFit/>
          </a:bodyPr>
          <a:lstStyle/>
          <a:p>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remote </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fork</a:t>
            </a:r>
            <a:endParaRPr lang="zh-CN" altLang="en-US" sz="1665" dirty="0"/>
          </a:p>
        </p:txBody>
      </p:sp>
      <p:sp>
        <p:nvSpPr>
          <p:cNvPr id="13" name="Rounded Rectangle 19"/>
          <p:cNvSpPr/>
          <p:nvPr/>
        </p:nvSpPr>
        <p:spPr>
          <a:xfrm>
            <a:off x="3625738" y="4856058"/>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Map</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14" name="Rounded Rectangle 20"/>
          <p:cNvSpPr/>
          <p:nvPr/>
        </p:nvSpPr>
        <p:spPr>
          <a:xfrm>
            <a:off x="6372200" y="4856058"/>
            <a:ext cx="1016000" cy="467492"/>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Reduce</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15" name="Rectangle 26"/>
          <p:cNvSpPr/>
          <p:nvPr/>
        </p:nvSpPr>
        <p:spPr>
          <a:xfrm>
            <a:off x="3244738" y="4570476"/>
            <a:ext cx="689742" cy="323165"/>
          </a:xfrm>
          <a:prstGeom prst="rect">
            <a:avLst/>
          </a:prstGeom>
        </p:spPr>
        <p:txBody>
          <a:bodyPr wrap="square">
            <a:spAutoFit/>
          </a:bodyPr>
          <a:lstStyle/>
          <a:p>
            <a:pPr algn="ctr"/>
            <a:r>
              <a:rPr lang="en-US" altLang="zh-CN" sz="1500"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t>
            </a:r>
            <a:endParaRPr lang="zh-CN" altLang="en-US" sz="1500" dirty="0">
              <a:effectLst>
                <a:outerShdw blurRad="38100" dist="38100" dir="2700000" algn="tl">
                  <a:srgbClr val="000000">
                    <a:alpha val="43137"/>
                  </a:srgbClr>
                </a:outerShdw>
              </a:effectLst>
            </a:endParaRPr>
          </a:p>
        </p:txBody>
      </p:sp>
      <p:sp>
        <p:nvSpPr>
          <p:cNvPr id="16" name="Rectangle 27"/>
          <p:cNvSpPr/>
          <p:nvPr/>
        </p:nvSpPr>
        <p:spPr>
          <a:xfrm>
            <a:off x="3126496" y="4856059"/>
            <a:ext cx="689742" cy="323165"/>
          </a:xfrm>
          <a:prstGeom prst="rect">
            <a:avLst/>
          </a:prstGeom>
        </p:spPr>
        <p:txBody>
          <a:bodyPr wrap="square">
            <a:spAutoFit/>
          </a:bodyPr>
          <a:lstStyle/>
          <a:p>
            <a:pPr algn="ctr"/>
            <a:r>
              <a:rPr lang="en-US" altLang="zh-CN" sz="1500"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t>
            </a:r>
            <a:endParaRPr lang="zh-CN" altLang="en-US" sz="1500" dirty="0">
              <a:effectLst>
                <a:outerShdw blurRad="38100" dist="38100" dir="2700000" algn="tl">
                  <a:srgbClr val="000000">
                    <a:alpha val="43137"/>
                  </a:srgbClr>
                </a:outerShdw>
              </a:effectLst>
            </a:endParaRPr>
          </a:p>
        </p:txBody>
      </p:sp>
      <p:sp>
        <p:nvSpPr>
          <p:cNvPr id="17" name="Rectangle 28"/>
          <p:cNvSpPr/>
          <p:nvPr/>
        </p:nvSpPr>
        <p:spPr>
          <a:xfrm>
            <a:off x="5975238" y="4856059"/>
            <a:ext cx="396962" cy="323165"/>
          </a:xfrm>
          <a:prstGeom prst="rect">
            <a:avLst/>
          </a:prstGeom>
        </p:spPr>
        <p:txBody>
          <a:bodyPr wrap="square">
            <a:spAutoFit/>
          </a:bodyPr>
          <a:lstStyle/>
          <a:p>
            <a:pPr algn="ctr"/>
            <a:r>
              <a:rPr lang="en-US" altLang="zh-CN" sz="1500"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t>
            </a:r>
            <a:endParaRPr lang="zh-CN" altLang="en-US" sz="1500" dirty="0">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3" name="内容占位符 2"/>
          <p:cNvSpPr>
            <a:spLocks noGrp="1"/>
          </p:cNvSpPr>
          <p:nvPr>
            <p:ph idx="1"/>
          </p:nvPr>
        </p:nvSpPr>
        <p:spPr/>
        <p:txBody>
          <a:bodyPr/>
          <a:lstStyle/>
          <a:p>
            <a:r>
              <a:rPr kumimoji="1" lang="en-US" altLang="zh-CN" dirty="0">
                <a:solidFill>
                  <a:srgbClr val="C00000"/>
                </a:solidFill>
              </a:rPr>
              <a:t>Step3</a:t>
            </a:r>
            <a:r>
              <a:rPr kumimoji="1" lang="en-US" altLang="zh-CN" b="0" dirty="0"/>
              <a:t>: map task</a:t>
            </a:r>
            <a:endParaRPr kumimoji="1" lang="en-US" altLang="zh-CN" b="0" dirty="0"/>
          </a:p>
          <a:p>
            <a:pPr lvl="1"/>
            <a:r>
              <a:rPr kumimoji="1" lang="en-US" altLang="zh-CN" dirty="0"/>
              <a:t>Reads contents of the input </a:t>
            </a:r>
            <a:r>
              <a:rPr kumimoji="1" lang="en-US" altLang="zh-CN" b="1" dirty="0">
                <a:solidFill>
                  <a:srgbClr val="C00000"/>
                </a:solidFill>
              </a:rPr>
              <a:t>shard</a:t>
            </a:r>
            <a:r>
              <a:rPr kumimoji="1" lang="en-US" altLang="zh-CN" dirty="0"/>
              <a:t> assigned to it</a:t>
            </a:r>
            <a:endParaRPr kumimoji="1" lang="en-US" altLang="zh-CN" dirty="0"/>
          </a:p>
          <a:p>
            <a:pPr lvl="1"/>
            <a:r>
              <a:rPr kumimoji="1" lang="en-US" altLang="zh-CN" dirty="0"/>
              <a:t>Parses </a:t>
            </a:r>
            <a:r>
              <a:rPr kumimoji="1" lang="en-US" altLang="zh-CN" b="1" dirty="0">
                <a:solidFill>
                  <a:srgbClr val="C00000"/>
                </a:solidFill>
              </a:rPr>
              <a:t>key/value</a:t>
            </a:r>
            <a:r>
              <a:rPr kumimoji="1" lang="en-US" altLang="zh-CN" dirty="0"/>
              <a:t> pairs out of the input data</a:t>
            </a:r>
            <a:endParaRPr kumimoji="1" lang="en-US" altLang="zh-CN" dirty="0"/>
          </a:p>
          <a:p>
            <a:pPr lvl="1"/>
            <a:r>
              <a:rPr kumimoji="1" lang="en-US" altLang="zh-CN" dirty="0"/>
              <a:t>Passes each pair to a user-defined </a:t>
            </a:r>
            <a:r>
              <a:rPr kumimoji="1" lang="en-US" altLang="zh-CN" b="1" dirty="0">
                <a:solidFill>
                  <a:srgbClr val="C00000"/>
                </a:solidFill>
                <a:latin typeface="Courier New" panose="02070309020205020404" pitchFamily="49" charset="0"/>
                <a:cs typeface="Courier New" panose="02070309020205020404" pitchFamily="49" charset="0"/>
              </a:rPr>
              <a:t>Map</a:t>
            </a:r>
            <a:r>
              <a:rPr kumimoji="1" lang="en-US" altLang="zh-CN" dirty="0"/>
              <a:t> function</a:t>
            </a:r>
            <a:endParaRPr kumimoji="1" lang="en-US" altLang="zh-CN" dirty="0"/>
          </a:p>
          <a:p>
            <a:pPr lvl="2"/>
            <a:r>
              <a:rPr kumimoji="1" lang="en-US" altLang="zh-CN" sz="1800" dirty="0"/>
              <a:t>Produces </a:t>
            </a:r>
            <a:r>
              <a:rPr kumimoji="1" lang="en-US" altLang="zh-CN" sz="1800" b="1" dirty="0">
                <a:solidFill>
                  <a:srgbClr val="C00000"/>
                </a:solidFill>
              </a:rPr>
              <a:t>intermediate</a:t>
            </a:r>
            <a:r>
              <a:rPr kumimoji="1" lang="en-US" altLang="zh-CN" sz="1800" dirty="0"/>
              <a:t> key/value pairs</a:t>
            </a:r>
            <a:endParaRPr kumimoji="1" lang="en-US" altLang="zh-CN" sz="1800" dirty="0"/>
          </a:p>
          <a:p>
            <a:pPr lvl="2"/>
            <a:r>
              <a:rPr kumimoji="1" lang="en-US" altLang="zh-CN" sz="1800" dirty="0"/>
              <a:t>These are buffered in </a:t>
            </a:r>
            <a:r>
              <a:rPr kumimoji="1" lang="en-US" altLang="zh-CN" sz="1800" b="1" dirty="0">
                <a:solidFill>
                  <a:srgbClr val="C00000"/>
                </a:solidFill>
              </a:rPr>
              <a:t>memory</a:t>
            </a:r>
            <a:endParaRPr kumimoji="1" lang="en-US" altLang="zh-CN" sz="1800" b="1" dirty="0">
              <a:solidFill>
                <a:srgbClr val="C00000"/>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ounded Rectangle 40"/>
          <p:cNvSpPr/>
          <p:nvPr/>
        </p:nvSpPr>
        <p:spPr>
          <a:xfrm>
            <a:off x="3810000" y="4422008"/>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Map</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cxnSp>
        <p:nvCxnSpPr>
          <p:cNvPr id="6" name="Straight Arrow Connector 41"/>
          <p:cNvCxnSpPr>
            <a:stCxn id="8" idx="3"/>
            <a:endCxn id="5" idx="1"/>
          </p:cNvCxnSpPr>
          <p:nvPr/>
        </p:nvCxnSpPr>
        <p:spPr>
          <a:xfrm>
            <a:off x="2861880" y="4655754"/>
            <a:ext cx="948121"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Rectangle 42"/>
          <p:cNvSpPr/>
          <p:nvPr/>
        </p:nvSpPr>
        <p:spPr>
          <a:xfrm>
            <a:off x="2921000" y="4370004"/>
            <a:ext cx="663964" cy="348878"/>
          </a:xfrm>
          <a:prstGeom prst="rect">
            <a:avLst/>
          </a:prstGeom>
        </p:spPr>
        <p:txBody>
          <a:bodyPr wrap="none">
            <a:spAutoFit/>
          </a:bodyPr>
          <a:lstStyle/>
          <a:p>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read</a:t>
            </a:r>
            <a:endParaRPr lang="zh-CN" altLang="en-US" sz="1665" dirty="0"/>
          </a:p>
        </p:txBody>
      </p:sp>
      <p:sp>
        <p:nvSpPr>
          <p:cNvPr id="8" name="Rectangle 43"/>
          <p:cNvSpPr/>
          <p:nvPr/>
        </p:nvSpPr>
        <p:spPr>
          <a:xfrm>
            <a:off x="1714501" y="4497004"/>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2</a:t>
            </a:r>
            <a:endParaRPr lang="zh-CN" altLang="en-US" sz="1665" dirty="0">
              <a:latin typeface="Verdana" panose="020B0604030504040204" pitchFamily="34" charset="0"/>
              <a:cs typeface="Verdana" panose="020B060403050404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3" name="内容占位符 2"/>
          <p:cNvSpPr>
            <a:spLocks noGrp="1"/>
          </p:cNvSpPr>
          <p:nvPr>
            <p:ph idx="1"/>
          </p:nvPr>
        </p:nvSpPr>
        <p:spPr/>
        <p:txBody>
          <a:bodyPr/>
          <a:lstStyle/>
          <a:p>
            <a:r>
              <a:rPr kumimoji="1" lang="en-US" altLang="zh-CN" dirty="0">
                <a:solidFill>
                  <a:srgbClr val="C00000"/>
                </a:solidFill>
              </a:rPr>
              <a:t>Step4</a:t>
            </a:r>
            <a:r>
              <a:rPr kumimoji="1" lang="en-US" altLang="zh-CN" b="0" dirty="0"/>
              <a:t>: create intermediate files</a:t>
            </a:r>
            <a:endParaRPr kumimoji="1" lang="en-US" altLang="zh-CN" b="0" dirty="0"/>
          </a:p>
          <a:p>
            <a:pPr lvl="1"/>
            <a:r>
              <a:rPr kumimoji="1" lang="en-US" altLang="zh-CN" dirty="0"/>
              <a:t>Intermediate k/v pairs buffered in </a:t>
            </a:r>
            <a:r>
              <a:rPr kumimoji="1" lang="en-US" altLang="zh-CN" b="1" dirty="0">
                <a:solidFill>
                  <a:srgbClr val="C00000"/>
                </a:solidFill>
              </a:rPr>
              <a:t>memory</a:t>
            </a:r>
            <a:r>
              <a:rPr kumimoji="1" lang="en-US" altLang="zh-CN" dirty="0"/>
              <a:t> and periodically written to the </a:t>
            </a:r>
            <a:r>
              <a:rPr kumimoji="1" lang="en-US" altLang="zh-CN" b="1" dirty="0">
                <a:solidFill>
                  <a:srgbClr val="C00000"/>
                </a:solidFill>
              </a:rPr>
              <a:t>local disk</a:t>
            </a:r>
            <a:endParaRPr kumimoji="1" lang="en-US" altLang="zh-CN" b="1" dirty="0">
              <a:solidFill>
                <a:srgbClr val="C00000"/>
              </a:solidFill>
            </a:endParaRPr>
          </a:p>
          <a:p>
            <a:pPr lvl="2"/>
            <a:r>
              <a:rPr kumimoji="1" lang="en-US" altLang="zh-CN" sz="1800" dirty="0"/>
              <a:t>Partitioned into </a:t>
            </a:r>
            <a:r>
              <a:rPr kumimoji="1" lang="en-US" altLang="zh-CN" sz="1800" b="1" dirty="0">
                <a:solidFill>
                  <a:srgbClr val="C00000"/>
                </a:solidFill>
              </a:rPr>
              <a:t>R</a:t>
            </a:r>
            <a:r>
              <a:rPr kumimoji="1" lang="en-US" altLang="zh-CN" sz="1800" dirty="0"/>
              <a:t> regions by a </a:t>
            </a:r>
            <a:r>
              <a:rPr kumimoji="1" lang="en-US" altLang="zh-CN" sz="1800" dirty="0">
                <a:latin typeface="Courier New" panose="02070309020205020404" pitchFamily="49" charset="0"/>
                <a:cs typeface="Courier New" panose="02070309020205020404" pitchFamily="49" charset="0"/>
              </a:rPr>
              <a:t>Partition</a:t>
            </a:r>
            <a:r>
              <a:rPr kumimoji="1" lang="en-US" altLang="zh-CN" sz="1800" dirty="0"/>
              <a:t> function</a:t>
            </a:r>
            <a:endParaRPr kumimoji="1" lang="en-US" altLang="zh-CN" sz="1800" dirty="0"/>
          </a:p>
          <a:p>
            <a:pPr lvl="2"/>
            <a:r>
              <a:rPr kumimoji="1" lang="en-US" altLang="zh-CN" sz="1800" dirty="0">
                <a:solidFill>
                  <a:schemeClr val="tx1"/>
                </a:solidFill>
              </a:rPr>
              <a:t>Default function: hash(key) mod R</a:t>
            </a:r>
            <a:endParaRPr kumimoji="1" lang="en-US" altLang="zh-CN" sz="1800" dirty="0">
              <a:solidFill>
                <a:schemeClr val="tx1"/>
              </a:solidFill>
            </a:endParaRPr>
          </a:p>
          <a:p>
            <a:pPr lvl="2"/>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ounded Rectangle 7"/>
          <p:cNvSpPr/>
          <p:nvPr/>
        </p:nvSpPr>
        <p:spPr>
          <a:xfrm>
            <a:off x="3810000" y="4422008"/>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Map</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cxnSp>
        <p:nvCxnSpPr>
          <p:cNvPr id="6" name="Straight Arrow Connector 8"/>
          <p:cNvCxnSpPr>
            <a:stCxn id="8" idx="3"/>
            <a:endCxn id="5" idx="1"/>
          </p:cNvCxnSpPr>
          <p:nvPr/>
        </p:nvCxnSpPr>
        <p:spPr>
          <a:xfrm>
            <a:off x="2861880" y="4655754"/>
            <a:ext cx="948121"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Rectangle 9"/>
          <p:cNvSpPr/>
          <p:nvPr/>
        </p:nvSpPr>
        <p:spPr>
          <a:xfrm>
            <a:off x="2921000" y="4370004"/>
            <a:ext cx="663964" cy="348878"/>
          </a:xfrm>
          <a:prstGeom prst="rect">
            <a:avLst/>
          </a:prstGeom>
        </p:spPr>
        <p:txBody>
          <a:bodyPr wrap="none">
            <a:spAutoFit/>
          </a:bodyPr>
          <a:lstStyle/>
          <a:p>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read</a:t>
            </a:r>
            <a:endParaRPr lang="zh-CN" altLang="en-US" sz="1665" dirty="0"/>
          </a:p>
        </p:txBody>
      </p:sp>
      <p:sp>
        <p:nvSpPr>
          <p:cNvPr id="8" name="Rectangle 10"/>
          <p:cNvSpPr/>
          <p:nvPr/>
        </p:nvSpPr>
        <p:spPr>
          <a:xfrm>
            <a:off x="1714501" y="4497004"/>
            <a:ext cx="1147379" cy="317500"/>
          </a:xfrm>
          <a:prstGeom prst="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665" dirty="0">
                <a:latin typeface="Verdana" panose="020B0604030504040204" pitchFamily="34" charset="0"/>
                <a:ea typeface="Verdana" panose="020B0604030504040204" pitchFamily="34" charset="0"/>
                <a:cs typeface="Verdana" panose="020B0604030504040204" pitchFamily="34" charset="0"/>
              </a:rPr>
              <a:t>Shard 2</a:t>
            </a:r>
            <a:endParaRPr lang="zh-CN" altLang="en-US" sz="1665" dirty="0">
              <a:latin typeface="Verdana" panose="020B0604030504040204" pitchFamily="34" charset="0"/>
              <a:cs typeface="Verdana" panose="020B0604030504040204" pitchFamily="34" charset="0"/>
            </a:endParaRPr>
          </a:p>
        </p:txBody>
      </p:sp>
      <p:sp>
        <p:nvSpPr>
          <p:cNvPr id="9" name="Rectangle 12"/>
          <p:cNvSpPr/>
          <p:nvPr/>
        </p:nvSpPr>
        <p:spPr>
          <a:xfrm>
            <a:off x="5651500" y="3968066"/>
            <a:ext cx="2032000" cy="1375377"/>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en-US" altLang="zh-CN" sz="1665"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Intermediate File</a:t>
            </a:r>
            <a:endParaRPr lang="zh-CN" altLang="en-US" sz="1665" dirty="0">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cxnSp>
        <p:nvCxnSpPr>
          <p:cNvPr id="10" name="Straight Arrow Connector 13"/>
          <p:cNvCxnSpPr>
            <a:stCxn id="5" idx="3"/>
            <a:endCxn id="9" idx="1"/>
          </p:cNvCxnSpPr>
          <p:nvPr/>
        </p:nvCxnSpPr>
        <p:spPr>
          <a:xfrm>
            <a:off x="4826000" y="4655754"/>
            <a:ext cx="825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4"/>
          <p:cNvSpPr/>
          <p:nvPr/>
        </p:nvSpPr>
        <p:spPr>
          <a:xfrm>
            <a:off x="5969000" y="4357824"/>
            <a:ext cx="1397000" cy="233746"/>
          </a:xfrm>
          <a:prstGeom prst="rect">
            <a:avLst/>
          </a:prstGeom>
          <a:solidFill>
            <a:srgbClr val="FFCCFF"/>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500" dirty="0">
                <a:latin typeface="Verdana" panose="020B0604030504040204" pitchFamily="34" charset="0"/>
                <a:ea typeface="Verdana" panose="020B0604030504040204" pitchFamily="34" charset="0"/>
                <a:cs typeface="Verdana" panose="020B0604030504040204" pitchFamily="34" charset="0"/>
              </a:rPr>
              <a:t>partition 1</a:t>
            </a:r>
            <a:endParaRPr lang="zh-CN" altLang="en-US" sz="1500" dirty="0">
              <a:latin typeface="Verdana" panose="020B0604030504040204" pitchFamily="34" charset="0"/>
              <a:cs typeface="Verdana" panose="020B0604030504040204" pitchFamily="34" charset="0"/>
            </a:endParaRPr>
          </a:p>
        </p:txBody>
      </p:sp>
      <p:sp>
        <p:nvSpPr>
          <p:cNvPr id="12" name="Rectangle 16"/>
          <p:cNvSpPr/>
          <p:nvPr/>
        </p:nvSpPr>
        <p:spPr>
          <a:xfrm>
            <a:off x="5969000" y="4982697"/>
            <a:ext cx="1397000" cy="233746"/>
          </a:xfrm>
          <a:prstGeom prst="rect">
            <a:avLst/>
          </a:prstGeom>
          <a:solidFill>
            <a:srgbClr val="FFCCFF"/>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500" dirty="0">
                <a:latin typeface="Verdana" panose="020B0604030504040204" pitchFamily="34" charset="0"/>
                <a:ea typeface="Verdana" panose="020B0604030504040204" pitchFamily="34" charset="0"/>
                <a:cs typeface="Verdana" panose="020B0604030504040204" pitchFamily="34" charset="0"/>
              </a:rPr>
              <a:t>partition R</a:t>
            </a:r>
            <a:endParaRPr lang="zh-CN" altLang="en-US" sz="1500" dirty="0">
              <a:latin typeface="Verdana" panose="020B0604030504040204" pitchFamily="34" charset="0"/>
              <a:cs typeface="Verdana" panose="020B0604030504040204" pitchFamily="34" charset="0"/>
            </a:endParaRPr>
          </a:p>
        </p:txBody>
      </p:sp>
      <p:sp>
        <p:nvSpPr>
          <p:cNvPr id="13" name="Rectangle 17"/>
          <p:cNvSpPr/>
          <p:nvPr/>
        </p:nvSpPr>
        <p:spPr>
          <a:xfrm>
            <a:off x="5969000" y="4591570"/>
            <a:ext cx="1397000" cy="233746"/>
          </a:xfrm>
          <a:prstGeom prst="rect">
            <a:avLst/>
          </a:prstGeom>
          <a:solidFill>
            <a:srgbClr val="FFCCFF"/>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wrap="none" tIns="30000" rtlCol="0" anchor="ctr"/>
          <a:lstStyle/>
          <a:p>
            <a:pPr algn="ctr"/>
            <a:r>
              <a:rPr lang="en-US" altLang="zh-CN" sz="1500" dirty="0">
                <a:latin typeface="Verdana" panose="020B0604030504040204" pitchFamily="34" charset="0"/>
                <a:ea typeface="Verdana" panose="020B0604030504040204" pitchFamily="34" charset="0"/>
                <a:cs typeface="Verdana" panose="020B0604030504040204" pitchFamily="34" charset="0"/>
              </a:rPr>
              <a:t>partition 2</a:t>
            </a:r>
            <a:endParaRPr lang="zh-CN" altLang="en-US" sz="1500" dirty="0">
              <a:latin typeface="Verdana" panose="020B0604030504040204" pitchFamily="34" charset="0"/>
              <a:cs typeface="Verdana" panose="020B0604030504040204" pitchFamily="34" charset="0"/>
            </a:endParaRPr>
          </a:p>
        </p:txBody>
      </p:sp>
      <p:sp>
        <p:nvSpPr>
          <p:cNvPr id="14" name="Rounded Rectangle 19"/>
          <p:cNvSpPr/>
          <p:nvPr/>
        </p:nvSpPr>
        <p:spPr>
          <a:xfrm>
            <a:off x="3554453" y="3810000"/>
            <a:ext cx="4319547" cy="1714500"/>
          </a:xfrm>
          <a:prstGeom prst="roundRect">
            <a:avLst>
              <a:gd name="adj" fmla="val 9081"/>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a:p>
        </p:txBody>
      </p:sp>
      <p:sp>
        <p:nvSpPr>
          <p:cNvPr id="15" name="Rectangle 20"/>
          <p:cNvSpPr/>
          <p:nvPr/>
        </p:nvSpPr>
        <p:spPr>
          <a:xfrm>
            <a:off x="4889500" y="4363095"/>
            <a:ext cx="721672" cy="605422"/>
          </a:xfrm>
          <a:prstGeom prst="rect">
            <a:avLst/>
          </a:prstGeom>
        </p:spPr>
        <p:txBody>
          <a:bodyPr wrap="none">
            <a:spAutoFit/>
          </a:bodyPr>
          <a:lstStyle/>
          <a:p>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local</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write</a:t>
            </a:r>
            <a:endParaRPr lang="zh-CN" altLang="en-US" sz="166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3" name="内容占位符 2"/>
          <p:cNvSpPr>
            <a:spLocks noGrp="1"/>
          </p:cNvSpPr>
          <p:nvPr>
            <p:ph idx="1"/>
          </p:nvPr>
        </p:nvSpPr>
        <p:spPr>
          <a:xfrm>
            <a:off x="457200" y="1129308"/>
            <a:ext cx="8229600" cy="2258740"/>
          </a:xfrm>
        </p:spPr>
        <p:txBody>
          <a:bodyPr>
            <a:normAutofit lnSpcReduction="10000"/>
          </a:bodyPr>
          <a:lstStyle/>
          <a:p>
            <a:r>
              <a:rPr kumimoji="1" lang="en-US" altLang="zh-CN" dirty="0">
                <a:solidFill>
                  <a:srgbClr val="C00000"/>
                </a:solidFill>
              </a:rPr>
              <a:t>Step5</a:t>
            </a:r>
            <a:r>
              <a:rPr kumimoji="1" lang="en-US" altLang="zh-CN" b="0" dirty="0"/>
              <a:t>: sorting intermediate data</a:t>
            </a:r>
            <a:endParaRPr kumimoji="1" lang="en-US" altLang="zh-CN" b="0" dirty="0"/>
          </a:p>
          <a:p>
            <a:pPr lvl="1"/>
            <a:r>
              <a:rPr kumimoji="1" lang="en-US" altLang="zh-CN" dirty="0"/>
              <a:t>Notified by master about the location of intermediate files for its partition</a:t>
            </a:r>
            <a:endParaRPr kumimoji="1" lang="en-US" altLang="zh-CN" dirty="0"/>
          </a:p>
          <a:p>
            <a:pPr lvl="1"/>
            <a:r>
              <a:rPr kumimoji="1" lang="en-US" altLang="zh-CN" dirty="0"/>
              <a:t>Uses </a:t>
            </a:r>
            <a:r>
              <a:rPr kumimoji="1" lang="en-US" altLang="zh-CN" b="1" dirty="0">
                <a:solidFill>
                  <a:srgbClr val="C00000"/>
                </a:solidFill>
              </a:rPr>
              <a:t>RPCs</a:t>
            </a:r>
            <a:r>
              <a:rPr kumimoji="1" lang="en-US" altLang="zh-CN" dirty="0"/>
              <a:t> to read the data from the local disks of map workers</a:t>
            </a:r>
            <a:endParaRPr kumimoji="1" lang="en-US" altLang="zh-CN" dirty="0"/>
          </a:p>
          <a:p>
            <a:pPr lvl="1"/>
            <a:r>
              <a:rPr kumimoji="1" lang="en-US" altLang="zh-CN" b="1" dirty="0">
                <a:solidFill>
                  <a:srgbClr val="C00000"/>
                </a:solidFill>
              </a:rPr>
              <a:t>Sort</a:t>
            </a:r>
            <a:r>
              <a:rPr kumimoji="1" lang="en-US" altLang="zh-CN" dirty="0">
                <a:solidFill>
                  <a:schemeClr val="tx1"/>
                </a:solidFill>
              </a:rPr>
              <a:t> keys from different intermediate files (like a merge sort)</a:t>
            </a:r>
            <a:endParaRPr kumimoji="1" lang="en-US" altLang="zh-CN" dirty="0">
              <a:solidFill>
                <a:schemeClr val="tx1"/>
              </a:solidFill>
            </a:endParaRPr>
          </a:p>
          <a:p>
            <a:pPr marL="74295" lvl="1" indent="0">
              <a:buNone/>
            </a:pPr>
            <a:r>
              <a:rPr kumimoji="1" lang="en-US" altLang="zh-CN" dirty="0"/>
              <a:t>    =&gt; All occurrences of the same key are </a:t>
            </a:r>
            <a:r>
              <a:rPr kumimoji="1" lang="en-US" altLang="zh-CN" b="1" dirty="0">
                <a:solidFill>
                  <a:srgbClr val="C00000"/>
                </a:solidFill>
              </a:rPr>
              <a:t>grouped</a:t>
            </a:r>
            <a:endParaRPr kumimoji="1" lang="en-US" altLang="zh-CN" b="1" dirty="0">
              <a:solidFill>
                <a:srgbClr val="C00000"/>
              </a:solidFill>
            </a:endParaRPr>
          </a:p>
          <a:p>
            <a:pPr marL="74295" lvl="1" indent="0">
              <a:buNone/>
            </a:pPr>
            <a:r>
              <a:rPr kumimoji="1" lang="en-US" altLang="zh-CN" dirty="0">
                <a:solidFill>
                  <a:schemeClr val="tx1"/>
                </a:solidFill>
              </a:rPr>
              <a:t>   Note: both mapper and reducer needs to do the sort </a:t>
            </a:r>
            <a:endParaRPr kumimoji="1" lang="en-US" altLang="zh-CN" dirty="0">
              <a:solidFill>
                <a:schemeClr val="tx1"/>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15"/>
          <p:cNvSpPr/>
          <p:nvPr/>
        </p:nvSpPr>
        <p:spPr>
          <a:xfrm>
            <a:off x="3298056" y="3816994"/>
            <a:ext cx="1985516" cy="469680"/>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Intermediate file</a:t>
            </a:r>
            <a:endParaRPr lang="zh-CN" altLang="en-US" sz="1665" dirty="0">
              <a:latin typeface="Verdana" panose="020B0604030504040204" pitchFamily="34" charset="0"/>
              <a:cs typeface="Verdana" panose="020B0604030504040204" pitchFamily="34" charset="0"/>
            </a:endParaRPr>
          </a:p>
        </p:txBody>
      </p:sp>
      <p:cxnSp>
        <p:nvCxnSpPr>
          <p:cNvPr id="6" name="Straight Arrow Connector 18"/>
          <p:cNvCxnSpPr/>
          <p:nvPr/>
        </p:nvCxnSpPr>
        <p:spPr>
          <a:xfrm>
            <a:off x="2450356" y="4051834"/>
            <a:ext cx="825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Rounded Rectangle 21"/>
          <p:cNvSpPr/>
          <p:nvPr/>
        </p:nvSpPr>
        <p:spPr>
          <a:xfrm>
            <a:off x="1475656" y="3818088"/>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Map</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22"/>
          <p:cNvSpPr/>
          <p:nvPr/>
        </p:nvSpPr>
        <p:spPr>
          <a:xfrm>
            <a:off x="1331640" y="3670834"/>
            <a:ext cx="4142432" cy="762000"/>
          </a:xfrm>
          <a:prstGeom prst="round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a:p>
        </p:txBody>
      </p:sp>
      <p:sp>
        <p:nvSpPr>
          <p:cNvPr id="9" name="Rectangle 23"/>
          <p:cNvSpPr/>
          <p:nvPr/>
        </p:nvSpPr>
        <p:spPr>
          <a:xfrm>
            <a:off x="3296311" y="4725700"/>
            <a:ext cx="1987262" cy="469680"/>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Intermediate file</a:t>
            </a:r>
            <a:endParaRPr lang="zh-CN" altLang="en-US" sz="1665" dirty="0">
              <a:latin typeface="Verdana" panose="020B0604030504040204" pitchFamily="34" charset="0"/>
              <a:cs typeface="Verdana" panose="020B0604030504040204" pitchFamily="34" charset="0"/>
            </a:endParaRPr>
          </a:p>
        </p:txBody>
      </p:sp>
      <p:cxnSp>
        <p:nvCxnSpPr>
          <p:cNvPr id="10" name="Straight Arrow Connector 24"/>
          <p:cNvCxnSpPr/>
          <p:nvPr/>
        </p:nvCxnSpPr>
        <p:spPr>
          <a:xfrm>
            <a:off x="2450356" y="4960540"/>
            <a:ext cx="825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Rounded Rectangle 25"/>
          <p:cNvSpPr/>
          <p:nvPr/>
        </p:nvSpPr>
        <p:spPr>
          <a:xfrm>
            <a:off x="1475656" y="4726794"/>
            <a:ext cx="1016000" cy="467492"/>
          </a:xfrm>
          <a:prstGeom prst="roundRect">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Map</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12" name="Rounded Rectangle 26"/>
          <p:cNvSpPr/>
          <p:nvPr/>
        </p:nvSpPr>
        <p:spPr>
          <a:xfrm>
            <a:off x="1331640" y="4579540"/>
            <a:ext cx="4142432" cy="762000"/>
          </a:xfrm>
          <a:prstGeom prst="round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a:p>
        </p:txBody>
      </p:sp>
      <p:sp>
        <p:nvSpPr>
          <p:cNvPr id="13" name="Rounded Rectangle 27"/>
          <p:cNvSpPr/>
          <p:nvPr/>
        </p:nvSpPr>
        <p:spPr>
          <a:xfrm>
            <a:off x="6680572" y="4725700"/>
            <a:ext cx="1016000" cy="467492"/>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Reduce</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cxnSp>
        <p:nvCxnSpPr>
          <p:cNvPr id="14" name="Straight Arrow Connector 29"/>
          <p:cNvCxnSpPr/>
          <p:nvPr/>
        </p:nvCxnSpPr>
        <p:spPr>
          <a:xfrm>
            <a:off x="5283572" y="3944540"/>
            <a:ext cx="1397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30"/>
          <p:cNvCxnSpPr/>
          <p:nvPr/>
        </p:nvCxnSpPr>
        <p:spPr>
          <a:xfrm>
            <a:off x="5283572" y="5087541"/>
            <a:ext cx="1397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Rounded Rectangle 32"/>
          <p:cNvSpPr/>
          <p:nvPr/>
        </p:nvSpPr>
        <p:spPr>
          <a:xfrm>
            <a:off x="6680572" y="3819182"/>
            <a:ext cx="1016000" cy="467492"/>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Reduce</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cxnSp>
        <p:nvCxnSpPr>
          <p:cNvPr id="17" name="Straight Arrow Connector 35"/>
          <p:cNvCxnSpPr>
            <a:stCxn id="9" idx="3"/>
            <a:endCxn id="16" idx="1"/>
          </p:cNvCxnSpPr>
          <p:nvPr/>
        </p:nvCxnSpPr>
        <p:spPr>
          <a:xfrm flipV="1">
            <a:off x="5283573" y="4052928"/>
            <a:ext cx="1396999" cy="90761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39"/>
          <p:cNvCxnSpPr>
            <a:stCxn id="5" idx="3"/>
            <a:endCxn id="13" idx="1"/>
          </p:cNvCxnSpPr>
          <p:nvPr/>
        </p:nvCxnSpPr>
        <p:spPr>
          <a:xfrm>
            <a:off x="5283572" y="4051834"/>
            <a:ext cx="1397000" cy="90761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43"/>
          <p:cNvSpPr/>
          <p:nvPr/>
        </p:nvSpPr>
        <p:spPr>
          <a:xfrm>
            <a:off x="2513856" y="3756882"/>
            <a:ext cx="721672" cy="605422"/>
          </a:xfrm>
          <a:prstGeom prst="rect">
            <a:avLst/>
          </a:prstGeom>
        </p:spPr>
        <p:txBody>
          <a:bodyPr wrap="none">
            <a:spAutoFit/>
          </a:bodyPr>
          <a:lstStyle/>
          <a:p>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local</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write</a:t>
            </a:r>
            <a:endParaRPr lang="zh-CN" altLang="en-US" sz="1665" dirty="0"/>
          </a:p>
        </p:txBody>
      </p:sp>
      <p:sp>
        <p:nvSpPr>
          <p:cNvPr id="20" name="Rectangle 44"/>
          <p:cNvSpPr/>
          <p:nvPr/>
        </p:nvSpPr>
        <p:spPr>
          <a:xfrm>
            <a:off x="2512110" y="4665588"/>
            <a:ext cx="721672" cy="605422"/>
          </a:xfrm>
          <a:prstGeom prst="rect">
            <a:avLst/>
          </a:prstGeom>
        </p:spPr>
        <p:txBody>
          <a:bodyPr wrap="none">
            <a:spAutoFit/>
          </a:bodyPr>
          <a:lstStyle/>
          <a:p>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local</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write</a:t>
            </a:r>
            <a:endParaRPr lang="zh-CN" altLang="en-US" sz="1665" dirty="0"/>
          </a:p>
        </p:txBody>
      </p:sp>
      <p:sp>
        <p:nvSpPr>
          <p:cNvPr id="21" name="Rectangle 46"/>
          <p:cNvSpPr/>
          <p:nvPr/>
        </p:nvSpPr>
        <p:spPr>
          <a:xfrm>
            <a:off x="5553491" y="3649588"/>
            <a:ext cx="952505" cy="605422"/>
          </a:xfrm>
          <a:prstGeom prst="rect">
            <a:avLst/>
          </a:prstGeom>
        </p:spPr>
        <p:txBody>
          <a:bodyPr wrap="none">
            <a:spAutoFit/>
          </a:bodyPr>
          <a:lstStyle/>
          <a:p>
            <a:pPr algn="ct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remote</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read</a:t>
            </a:r>
            <a:endParaRPr lang="zh-CN" altLang="en-US" sz="1665" dirty="0"/>
          </a:p>
        </p:txBody>
      </p:sp>
      <p:sp>
        <p:nvSpPr>
          <p:cNvPr id="22" name="Rectangle 49"/>
          <p:cNvSpPr/>
          <p:nvPr/>
        </p:nvSpPr>
        <p:spPr>
          <a:xfrm>
            <a:off x="5553491" y="4770040"/>
            <a:ext cx="952505" cy="605422"/>
          </a:xfrm>
          <a:prstGeom prst="rect">
            <a:avLst/>
          </a:prstGeom>
        </p:spPr>
        <p:txBody>
          <a:bodyPr wrap="none">
            <a:spAutoFit/>
          </a:bodyPr>
          <a:lstStyle/>
          <a:p>
            <a:pPr algn="ct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remote</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read</a:t>
            </a:r>
            <a:endParaRPr lang="zh-CN" altLang="en-US" sz="166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3" name="内容占位符 2"/>
          <p:cNvSpPr>
            <a:spLocks noGrp="1"/>
          </p:cNvSpPr>
          <p:nvPr>
            <p:ph idx="1"/>
          </p:nvPr>
        </p:nvSpPr>
        <p:spPr/>
        <p:txBody>
          <a:bodyPr/>
          <a:lstStyle/>
          <a:p>
            <a:r>
              <a:rPr kumimoji="1" lang="en-US" altLang="zh-CN" dirty="0">
                <a:solidFill>
                  <a:srgbClr val="C00000"/>
                </a:solidFill>
              </a:rPr>
              <a:t>Step6</a:t>
            </a:r>
            <a:r>
              <a:rPr kumimoji="1" lang="en-US" altLang="zh-CN" b="0" dirty="0"/>
              <a:t>: reduce task</a:t>
            </a:r>
            <a:endParaRPr kumimoji="1" lang="en-US" altLang="zh-CN" b="0" dirty="0"/>
          </a:p>
          <a:p>
            <a:pPr lvl="1"/>
            <a:r>
              <a:rPr kumimoji="1" lang="en-US" altLang="zh-CN" dirty="0"/>
              <a:t>Groups data with a unique intermediate key</a:t>
            </a:r>
            <a:endParaRPr kumimoji="1" lang="en-US" altLang="zh-CN" dirty="0"/>
          </a:p>
          <a:p>
            <a:pPr lvl="1"/>
            <a:r>
              <a:rPr kumimoji="1" lang="en-US" altLang="zh-CN" dirty="0"/>
              <a:t>User’s </a:t>
            </a:r>
            <a:r>
              <a:rPr kumimoji="1" lang="en-US" altLang="zh-CN" dirty="0">
                <a:latin typeface="Courier New" panose="02070309020205020404" pitchFamily="49" charset="0"/>
                <a:cs typeface="Courier New" panose="02070309020205020404" pitchFamily="49" charset="0"/>
              </a:rPr>
              <a:t>Reduce</a:t>
            </a:r>
            <a:r>
              <a:rPr kumimoji="1" lang="en-US" altLang="zh-CN" dirty="0"/>
              <a:t> function is given the key and the set of intermediate values for that key</a:t>
            </a:r>
            <a:endParaRPr kumimoji="1" lang="en-US" altLang="zh-CN" dirty="0"/>
          </a:p>
          <a:p>
            <a:pPr lvl="2"/>
            <a:r>
              <a:rPr lang="en-US" altLang="zh-TW" sz="1800" dirty="0">
                <a:solidFill>
                  <a:prstClr val="black"/>
                </a:solidFill>
                <a:latin typeface="Verdana" panose="020B0604030504040204" pitchFamily="34" charset="0"/>
                <a:ea typeface="Verdana" panose="020B0604030504040204" pitchFamily="34" charset="0"/>
                <a:cs typeface="Verdana" panose="020B0604030504040204" pitchFamily="34" charset="0"/>
              </a:rPr>
              <a:t>&lt;key, (value1, value2, ...)&gt;</a:t>
            </a:r>
            <a:endParaRPr lang="en-US" altLang="zh-TW" sz="1800"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lvl="1"/>
            <a:r>
              <a:rPr lang="en-US" altLang="zh-TW" sz="1600" dirty="0">
                <a:solidFill>
                  <a:prstClr val="black"/>
                </a:solidFill>
                <a:latin typeface="Verdana" panose="020B0604030504040204" pitchFamily="34" charset="0"/>
                <a:ea typeface="Verdana" panose="020B0604030504040204" pitchFamily="34" charset="0"/>
                <a:cs typeface="Verdana" panose="020B0604030504040204" pitchFamily="34" charset="0"/>
              </a:rPr>
              <a:t>The output is appended to an output file</a:t>
            </a:r>
            <a:endParaRPr lang="en-US" altLang="zh-TW" sz="1600"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lvl="1"/>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Rectangle 28"/>
          <p:cNvSpPr/>
          <p:nvPr/>
        </p:nvSpPr>
        <p:spPr>
          <a:xfrm>
            <a:off x="2032001" y="3619501"/>
            <a:ext cx="1587499" cy="489114"/>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Intermediate file</a:t>
            </a:r>
            <a:endParaRPr lang="zh-CN" altLang="en-US" sz="1665" dirty="0">
              <a:latin typeface="Verdana" panose="020B0604030504040204" pitchFamily="34" charset="0"/>
              <a:cs typeface="Verdana" panose="020B0604030504040204" pitchFamily="34" charset="0"/>
            </a:endParaRPr>
          </a:p>
        </p:txBody>
      </p:sp>
      <p:cxnSp>
        <p:nvCxnSpPr>
          <p:cNvPr id="6" name="Straight Arrow Connector 36"/>
          <p:cNvCxnSpPr>
            <a:stCxn id="5" idx="3"/>
          </p:cNvCxnSpPr>
          <p:nvPr/>
        </p:nvCxnSpPr>
        <p:spPr>
          <a:xfrm>
            <a:off x="3619499" y="3864058"/>
            <a:ext cx="1103587" cy="51442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37"/>
          <p:cNvCxnSpPr>
            <a:stCxn id="12" idx="3"/>
            <a:endCxn id="9" idx="1"/>
          </p:cNvCxnSpPr>
          <p:nvPr/>
        </p:nvCxnSpPr>
        <p:spPr>
          <a:xfrm>
            <a:off x="3619499" y="4506993"/>
            <a:ext cx="1103587"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8" name="Group 50"/>
          <p:cNvGrpSpPr/>
          <p:nvPr/>
        </p:nvGrpSpPr>
        <p:grpSpPr>
          <a:xfrm>
            <a:off x="4723086" y="4217958"/>
            <a:ext cx="2692181" cy="578069"/>
            <a:chOff x="3124200" y="5128395"/>
            <a:chExt cx="3230617" cy="693683"/>
          </a:xfrm>
        </p:grpSpPr>
        <p:sp>
          <p:nvSpPr>
            <p:cNvPr id="9" name="Rounded Rectangle 33"/>
            <p:cNvSpPr/>
            <p:nvPr/>
          </p:nvSpPr>
          <p:spPr>
            <a:xfrm>
              <a:off x="3124200" y="5194742"/>
              <a:ext cx="1219200" cy="560990"/>
            </a:xfrm>
            <a:prstGeom prst="round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76200" tIns="30000" rIns="76200" bIns="0" numCol="1" spcCol="0" rtlCol="0" fromWordArt="0" anchor="ctr" anchorCtr="0" forceAA="0" compatLnSpc="1">
              <a:noAutofit/>
            </a:bodyP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Reduce</a:t>
              </a:r>
              <a:br>
                <a:rPr lang="en-US" altLang="zh-CN" sz="1665" dirty="0">
                  <a:latin typeface="Verdana" panose="020B0604030504040204" pitchFamily="34" charset="0"/>
                  <a:ea typeface="Verdana" panose="020B0604030504040204" pitchFamily="34" charset="0"/>
                  <a:cs typeface="Verdana" panose="020B0604030504040204" pitchFamily="34" charset="0"/>
                </a:rPr>
              </a:br>
              <a:r>
                <a:rPr lang="en-US" altLang="zh-CN" sz="1665" dirty="0">
                  <a:latin typeface="Verdana" panose="020B0604030504040204" pitchFamily="34" charset="0"/>
                  <a:ea typeface="Verdana" panose="020B0604030504040204" pitchFamily="34" charset="0"/>
                  <a:cs typeface="Verdana" panose="020B0604030504040204" pitchFamily="34" charset="0"/>
                </a:rPr>
                <a:t>Worker</a:t>
              </a:r>
              <a:endParaRPr lang="zh-CN" altLang="en-US" sz="1665" dirty="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34"/>
            <p:cNvSpPr/>
            <p:nvPr/>
          </p:nvSpPr>
          <p:spPr>
            <a:xfrm>
              <a:off x="5364217" y="5128395"/>
              <a:ext cx="990600" cy="693683"/>
            </a:xfrm>
            <a:prstGeom prst="rect">
              <a:avLst/>
            </a:prstGeom>
            <a:ln w="38100">
              <a:solidFill>
                <a:schemeClr val="tx1"/>
              </a:solidFill>
            </a:ln>
          </p:spPr>
          <p:style>
            <a:lnRef idx="1">
              <a:schemeClr val="accent1"/>
            </a:lnRef>
            <a:fillRef idx="2">
              <a:schemeClr val="accent1"/>
            </a:fillRef>
            <a:effectRef idx="1">
              <a:schemeClr val="accent1"/>
            </a:effectRef>
            <a:fontRef idx="minor">
              <a:schemeClr val="dk1"/>
            </a:fontRef>
          </p:style>
          <p:txBody>
            <a:bodyPr wrap="none" bIns="0" rtlCol="0" anchor="ctr"/>
            <a:lstStyle/>
            <a:p>
              <a:pPr algn="ctr">
                <a:lnSpc>
                  <a:spcPct val="80000"/>
                </a:lnSpc>
              </a:pPr>
              <a:r>
                <a:rPr lang="en-US" altLang="zh-CN" sz="1665" dirty="0">
                  <a:solidFill>
                    <a:schemeClr val="tx1"/>
                  </a:solidFill>
                  <a:latin typeface="Verdana" panose="020B0604030504040204" pitchFamily="34" charset="0"/>
                  <a:ea typeface="Verdana" panose="020B0604030504040204" pitchFamily="34" charset="0"/>
                  <a:cs typeface="Verdana" panose="020B0604030504040204" pitchFamily="34" charset="0"/>
                </a:rPr>
                <a:t>Output</a:t>
              </a:r>
              <a:endParaRPr lang="en-US" altLang="zh-CN" sz="1665"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ctr">
                <a:lnSpc>
                  <a:spcPct val="80000"/>
                </a:lnSpc>
              </a:pPr>
              <a:r>
                <a:rPr lang="en-US" altLang="zh-CN" sz="1665" dirty="0">
                  <a:solidFill>
                    <a:schemeClr val="tx1"/>
                  </a:solidFill>
                  <a:latin typeface="Verdana" panose="020B0604030504040204" pitchFamily="34" charset="0"/>
                  <a:ea typeface="Verdana" panose="020B0604030504040204" pitchFamily="34" charset="0"/>
                  <a:cs typeface="Verdana" panose="020B0604030504040204" pitchFamily="34" charset="0"/>
                </a:rPr>
                <a:t>File 1</a:t>
              </a:r>
              <a:endParaRPr lang="zh-CN" altLang="en-US" sz="1665" dirty="0">
                <a:solidFill>
                  <a:schemeClr val="tx1"/>
                </a:solidFill>
                <a:latin typeface="Verdana" panose="020B0604030504040204" pitchFamily="34" charset="0"/>
                <a:cs typeface="Verdana" panose="020B0604030504040204" pitchFamily="34" charset="0"/>
              </a:endParaRPr>
            </a:p>
          </p:txBody>
        </p:sp>
        <p:cxnSp>
          <p:nvCxnSpPr>
            <p:cNvPr id="11" name="Straight Arrow Connector 38"/>
            <p:cNvCxnSpPr>
              <a:stCxn id="9" idx="3"/>
              <a:endCxn id="10" idx="1"/>
            </p:cNvCxnSpPr>
            <p:nvPr/>
          </p:nvCxnSpPr>
          <p:spPr>
            <a:xfrm>
              <a:off x="4343400" y="5475237"/>
              <a:ext cx="1020817"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2" name="Rectangle 41"/>
          <p:cNvSpPr/>
          <p:nvPr/>
        </p:nvSpPr>
        <p:spPr>
          <a:xfrm>
            <a:off x="2032001" y="4262436"/>
            <a:ext cx="1587499" cy="489114"/>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Intermediate file</a:t>
            </a:r>
            <a:endParaRPr lang="zh-CN" altLang="en-US" sz="1665" dirty="0">
              <a:latin typeface="Verdana" panose="020B0604030504040204" pitchFamily="34" charset="0"/>
              <a:cs typeface="Verdana" panose="020B0604030504040204" pitchFamily="34" charset="0"/>
            </a:endParaRPr>
          </a:p>
        </p:txBody>
      </p:sp>
      <p:sp>
        <p:nvSpPr>
          <p:cNvPr id="13" name="Rectangle 42"/>
          <p:cNvSpPr/>
          <p:nvPr/>
        </p:nvSpPr>
        <p:spPr>
          <a:xfrm>
            <a:off x="2032001" y="4905370"/>
            <a:ext cx="1587499" cy="489114"/>
          </a:xfrm>
          <a:prstGeom prst="rect">
            <a:avLst/>
          </a:prstGeom>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80000"/>
              </a:lnSpc>
            </a:pPr>
            <a:r>
              <a:rPr lang="en-US" altLang="zh-CN" sz="1665" dirty="0">
                <a:latin typeface="Verdana" panose="020B0604030504040204" pitchFamily="34" charset="0"/>
                <a:ea typeface="Verdana" panose="020B0604030504040204" pitchFamily="34" charset="0"/>
                <a:cs typeface="Verdana" panose="020B0604030504040204" pitchFamily="34" charset="0"/>
              </a:rPr>
              <a:t>Intermediate file</a:t>
            </a:r>
            <a:endParaRPr lang="zh-CN" altLang="en-US" sz="1665" dirty="0">
              <a:latin typeface="Verdana" panose="020B0604030504040204" pitchFamily="34" charset="0"/>
              <a:cs typeface="Verdana" panose="020B0604030504040204" pitchFamily="34" charset="0"/>
            </a:endParaRPr>
          </a:p>
        </p:txBody>
      </p:sp>
      <p:sp>
        <p:nvSpPr>
          <p:cNvPr id="14" name="Rectangle 52"/>
          <p:cNvSpPr/>
          <p:nvPr/>
        </p:nvSpPr>
        <p:spPr>
          <a:xfrm>
            <a:off x="3596005" y="4212694"/>
            <a:ext cx="952505" cy="605422"/>
          </a:xfrm>
          <a:prstGeom prst="rect">
            <a:avLst/>
          </a:prstGeom>
        </p:spPr>
        <p:txBody>
          <a:bodyPr wrap="none">
            <a:spAutoFit/>
          </a:bodyPr>
          <a:lstStyle/>
          <a:p>
            <a:pPr algn="ct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remote</a:t>
            </a:r>
            <a:b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b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read</a:t>
            </a:r>
            <a:endParaRPr lang="zh-CN" altLang="en-US" sz="1665" dirty="0"/>
          </a:p>
        </p:txBody>
      </p:sp>
      <p:cxnSp>
        <p:nvCxnSpPr>
          <p:cNvPr id="15" name="Straight Arrow Connector 56"/>
          <p:cNvCxnSpPr>
            <a:stCxn id="13" idx="3"/>
          </p:cNvCxnSpPr>
          <p:nvPr/>
        </p:nvCxnSpPr>
        <p:spPr>
          <a:xfrm flipV="1">
            <a:off x="3619499" y="4632484"/>
            <a:ext cx="1103587" cy="51744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61"/>
          <p:cNvSpPr/>
          <p:nvPr/>
        </p:nvSpPr>
        <p:spPr>
          <a:xfrm>
            <a:off x="5803590" y="4187983"/>
            <a:ext cx="721672" cy="348878"/>
          </a:xfrm>
          <a:prstGeom prst="rect">
            <a:avLst/>
          </a:prstGeom>
        </p:spPr>
        <p:txBody>
          <a:bodyPr wrap="none">
            <a:spAutoFit/>
          </a:bodyPr>
          <a:lstStyle/>
          <a:p>
            <a:pPr algn="ctr"/>
            <a:r>
              <a:rPr lang="en-US" altLang="zh-CN" sz="1665" dirty="0">
                <a:solidFill>
                  <a:schemeClr val="dk1"/>
                </a:solidFill>
                <a:latin typeface="Verdana" panose="020B0604030504040204" pitchFamily="34" charset="0"/>
                <a:ea typeface="Verdana" panose="020B0604030504040204" pitchFamily="34" charset="0"/>
                <a:cs typeface="Verdana" panose="020B0604030504040204" pitchFamily="34" charset="0"/>
              </a:rPr>
              <a:t>write</a:t>
            </a:r>
            <a:endParaRPr lang="zh-CN" altLang="en-US" sz="166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MapReduce: The Complete Picture</a:t>
            </a:r>
            <a:endParaRPr kumimoji="1" lang="zh-CN" altLang="en-US" dirty="0"/>
          </a:p>
        </p:txBody>
      </p:sp>
      <p:sp>
        <p:nvSpPr>
          <p:cNvPr id="3" name="内容占位符 2"/>
          <p:cNvSpPr>
            <a:spLocks noGrp="1"/>
          </p:cNvSpPr>
          <p:nvPr>
            <p:ph idx="1"/>
          </p:nvPr>
        </p:nvSpPr>
        <p:spPr/>
        <p:txBody>
          <a:bodyPr/>
          <a:lstStyle/>
          <a:p>
            <a:r>
              <a:rPr kumimoji="1" lang="en-US" altLang="zh-CN" dirty="0">
                <a:solidFill>
                  <a:schemeClr val="accent1"/>
                </a:solidFill>
              </a:rPr>
              <a:t>Step7</a:t>
            </a:r>
            <a:r>
              <a:rPr kumimoji="1" lang="en-US" altLang="zh-CN" b="0" dirty="0"/>
              <a:t>: return to user</a:t>
            </a:r>
            <a:endParaRPr kumimoji="1" lang="en-US" altLang="zh-CN" b="0" dirty="0"/>
          </a:p>
          <a:p>
            <a:pPr lvl="1"/>
            <a:r>
              <a:rPr kumimoji="1" lang="en-US" altLang="zh-CN" dirty="0"/>
              <a:t>When all map and reduce tasks have completed</a:t>
            </a:r>
            <a:endParaRPr kumimoji="1" lang="en-US" altLang="zh-CN" dirty="0"/>
          </a:p>
          <a:p>
            <a:pPr lvl="1"/>
            <a:r>
              <a:rPr lang="en-US" altLang="zh-TW" dirty="0">
                <a:solidFill>
                  <a:prstClr val="black"/>
                </a:solidFill>
                <a:latin typeface="Verdana" panose="020B0604030504040204" pitchFamily="34" charset="0"/>
                <a:ea typeface="Verdana" panose="020B0604030504040204" pitchFamily="34" charset="0"/>
                <a:cs typeface="Verdana" panose="020B0604030504040204" pitchFamily="34" charset="0"/>
              </a:rPr>
              <a:t>Master wakes up the user program</a:t>
            </a:r>
            <a:endParaRPr lang="en-US" altLang="zh-TW"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lvl="1"/>
            <a:r>
              <a:rPr kumimoji="1" lang="en-US" altLang="zh-CN" dirty="0">
                <a:solidFill>
                  <a:schemeClr val="tx1"/>
                </a:solidFill>
              </a:rPr>
              <a:t>The </a:t>
            </a:r>
            <a:r>
              <a:rPr kumimoji="1" lang="en-US" altLang="zh-CN" b="1" dirty="0">
                <a:solidFill>
                  <a:schemeClr val="tx1"/>
                </a:solidFill>
              </a:rPr>
              <a:t>MapReduce</a:t>
            </a:r>
            <a:r>
              <a:rPr kumimoji="1" lang="en-US" altLang="zh-CN" dirty="0">
                <a:solidFill>
                  <a:schemeClr val="tx1"/>
                </a:solidFill>
              </a:rPr>
              <a:t> call in the user program returns, and the program can resume execution</a:t>
            </a:r>
            <a:endParaRPr kumimoji="1" lang="en-US" altLang="zh-CN" dirty="0">
              <a:solidFill>
                <a:schemeClr val="tx1"/>
              </a:solidFill>
            </a:endParaRPr>
          </a:p>
          <a:p>
            <a:pPr lvl="2"/>
            <a:r>
              <a:rPr kumimoji="1" lang="en-US" altLang="zh-CN" dirty="0">
                <a:solidFill>
                  <a:schemeClr val="tx1"/>
                </a:solidFill>
              </a:rPr>
              <a:t>Output of MapReduce is available in R output files</a:t>
            </a:r>
            <a:endParaRPr kumimoji="1" lang="en-US" altLang="zh-CN" dirty="0">
              <a:solidFill>
                <a:schemeClr val="tx1"/>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79500" y="1753914"/>
            <a:ext cx="2921000" cy="3683000"/>
          </a:xfrm>
          <a:prstGeom prst="rect">
            <a:avLst/>
          </a:prstGeom>
          <a:solidFill>
            <a:srgbClr val="FFFF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lnSpc>
                <a:spcPct val="90000"/>
              </a:lnSpc>
            </a:pPr>
            <a:r>
              <a:rPr lang="en-US" altLang="zh-CN" sz="1335" dirty="0">
                <a:solidFill>
                  <a:schemeClr val="tx1"/>
                </a:solidFill>
                <a:latin typeface="Eras Medium ITC" panose="020B0602030504020804" pitchFamily="34" charset="0"/>
              </a:rPr>
              <a:t>      </a:t>
            </a:r>
            <a:r>
              <a:rPr lang="en-US" altLang="zh-CN" sz="1335" u="sng" dirty="0">
                <a:solidFill>
                  <a:schemeClr val="tx1"/>
                </a:solidFill>
                <a:latin typeface="Eras Medium ITC" panose="020B0602030504020804" pitchFamily="34" charset="0"/>
              </a:rPr>
              <a:t>It will be seen that this mere painstaking burrower and grub-worm of a poor devil of a Sub-Sub appears to have gone through the long </a:t>
            </a:r>
            <a:r>
              <a:rPr lang="en-US" altLang="zh-CN" sz="1335" u="sng" dirty="0" err="1">
                <a:solidFill>
                  <a:schemeClr val="tx1"/>
                </a:solidFill>
                <a:latin typeface="Eras Medium ITC" panose="020B0602030504020804" pitchFamily="34" charset="0"/>
              </a:rPr>
              <a:t>Vaticans</a:t>
            </a:r>
            <a:r>
              <a:rPr lang="en-US" altLang="zh-CN" sz="1335" u="sng" dirty="0">
                <a:solidFill>
                  <a:schemeClr val="tx1"/>
                </a:solidFill>
                <a:latin typeface="Eras Medium ITC" panose="020B0602030504020804" pitchFamily="34" charset="0"/>
              </a:rPr>
              <a:t> and </a:t>
            </a:r>
            <a:r>
              <a:rPr lang="en-US" altLang="zh-CN" sz="1335" u="sng" dirty="0" err="1">
                <a:solidFill>
                  <a:schemeClr val="tx1"/>
                </a:solidFill>
                <a:latin typeface="Eras Medium ITC" panose="020B0602030504020804" pitchFamily="34" charset="0"/>
              </a:rPr>
              <a:t>streetstalls</a:t>
            </a:r>
            <a:r>
              <a:rPr lang="en-US" altLang="zh-CN" sz="1335" u="sng" dirty="0">
                <a:solidFill>
                  <a:schemeClr val="tx1"/>
                </a:solidFill>
                <a:latin typeface="Eras Medium ITC" panose="020B0602030504020804" pitchFamily="34" charset="0"/>
              </a:rPr>
              <a:t> of the earth, picking up whatever random allusions to whales he could anyways find in any book whatsoever, sacred or profane. Therefore you must not, in every case at least, take the higgledy-piggledy whale statements, however authentic, in these extracts, for veritable gospel cetology. Far from it. As touching the ancient authors generally, as well as the poets here appearing, these extracts are solely valuable or entertaining, as affording a glancing bird's eye view of what has been promiscuously </a:t>
            </a:r>
            <a:r>
              <a:rPr lang="en-US" altLang="zh-CN" sz="1335" dirty="0">
                <a:solidFill>
                  <a:schemeClr val="tx1"/>
                </a:solidFill>
                <a:latin typeface="Eras Medium ITC" panose="020B0602030504020804" pitchFamily="34" charset="0"/>
              </a:rPr>
              <a:t>…</a:t>
            </a:r>
            <a:endParaRPr lang="zh-CN" altLang="en-US" sz="1335" dirty="0">
              <a:solidFill>
                <a:schemeClr val="tx1"/>
              </a:solidFill>
              <a:latin typeface="Eras Medium ITC" panose="020B0602030504020804" pitchFamily="34" charset="0"/>
            </a:endParaRPr>
          </a:p>
        </p:txBody>
      </p:sp>
      <p:sp>
        <p:nvSpPr>
          <p:cNvPr id="6" name="Rectangle 5"/>
          <p:cNvSpPr/>
          <p:nvPr/>
        </p:nvSpPr>
        <p:spPr>
          <a:xfrm>
            <a:off x="4138692" y="1753914"/>
            <a:ext cx="1206500" cy="3683000"/>
          </a:xfrm>
          <a:prstGeom prst="rect">
            <a:avLst/>
          </a:prstGeom>
          <a:solidFill>
            <a:srgbClr val="FFFF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38100" rIns="76200" bIns="38100" numCol="1" spcCol="0" rtlCol="0" fromWordArt="0" anchor="t" anchorCtr="0" forceAA="0" compatLnSpc="1">
            <a:noAutofit/>
          </a:bodyPr>
          <a:lstStyle/>
          <a:p>
            <a:pPr algn="just">
              <a:lnSpc>
                <a:spcPct val="90000"/>
              </a:lnSpc>
            </a:pPr>
            <a:r>
              <a:rPr lang="en-US" altLang="zh-CN" sz="1335" dirty="0">
                <a:solidFill>
                  <a:schemeClr val="tx1"/>
                </a:solidFill>
                <a:latin typeface="Eras Medium ITC" panose="020B0602030504020804" pitchFamily="34" charset="0"/>
              </a:rPr>
              <a:t>...</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it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will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be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seen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that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this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mere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painstaking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burrower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and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grub-worm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of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poor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devil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of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sub-sub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t>
            </a:r>
            <a:endParaRPr lang="zh-CN" altLang="en-US" sz="1335" dirty="0">
              <a:solidFill>
                <a:schemeClr val="tx1"/>
              </a:solidFill>
              <a:latin typeface="Eras Medium ITC" panose="020B0602030504020804" pitchFamily="34" charset="0"/>
            </a:endParaRPr>
          </a:p>
        </p:txBody>
      </p:sp>
      <p:sp>
        <p:nvSpPr>
          <p:cNvPr id="7" name="Rectangle 6"/>
          <p:cNvSpPr/>
          <p:nvPr/>
        </p:nvSpPr>
        <p:spPr>
          <a:xfrm>
            <a:off x="5483384" y="1753914"/>
            <a:ext cx="1214528" cy="3683000"/>
          </a:xfrm>
          <a:prstGeom prst="rect">
            <a:avLst/>
          </a:prstGeom>
          <a:solidFill>
            <a:srgbClr val="FFFF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just">
              <a:lnSpc>
                <a:spcPct val="90000"/>
              </a:lnSpc>
            </a:pPr>
            <a:r>
              <a:rPr lang="en-US" altLang="zh-CN" sz="1335" dirty="0">
                <a:solidFill>
                  <a:schemeClr val="tx1"/>
                </a:solidFill>
                <a:latin typeface="Eras Medium ITC" panose="020B0602030504020804" pitchFamily="34" charset="0"/>
              </a:rPr>
              <a:t>...</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aback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aback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abaft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abaft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abased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abased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t>
            </a:r>
            <a:endParaRPr lang="zh-CN" altLang="en-US" sz="1335" dirty="0">
              <a:solidFill>
                <a:schemeClr val="tx1"/>
              </a:solidFill>
              <a:latin typeface="Eras Medium ITC" panose="020B0602030504020804" pitchFamily="34" charset="0"/>
            </a:endParaRPr>
          </a:p>
        </p:txBody>
      </p:sp>
      <p:sp>
        <p:nvSpPr>
          <p:cNvPr id="8" name="Rectangle 7"/>
          <p:cNvSpPr/>
          <p:nvPr/>
        </p:nvSpPr>
        <p:spPr>
          <a:xfrm>
            <a:off x="6836103" y="1753914"/>
            <a:ext cx="1228397" cy="3683000"/>
          </a:xfrm>
          <a:prstGeom prst="rect">
            <a:avLst/>
          </a:prstGeom>
          <a:solidFill>
            <a:srgbClr val="FFFF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just">
              <a:lnSpc>
                <a:spcPct val="90000"/>
              </a:lnSpc>
            </a:pPr>
            <a:r>
              <a:rPr lang="en-US" altLang="zh-CN" sz="1335" dirty="0">
                <a:solidFill>
                  <a:schemeClr val="tx1"/>
                </a:solidFill>
                <a:latin typeface="Eras Medium ITC" panose="020B0602030504020804" pitchFamily="34" charset="0"/>
              </a:rPr>
              <a:t>a 4736</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aback 2</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abaft 2</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 3</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abandoned 7</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abased 2</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abasement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abashed 2</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abate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abated 3</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abatement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abating 2</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abbreviate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abbreviation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abeam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abed 2</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err="1">
                <a:solidFill>
                  <a:schemeClr val="tx1"/>
                </a:solidFill>
                <a:latin typeface="Eras Medium ITC" panose="020B0602030504020804" pitchFamily="34" charset="0"/>
              </a:rPr>
              <a:t>abednego</a:t>
            </a:r>
            <a:r>
              <a:rPr lang="en-US" altLang="zh-CN" sz="1335" dirty="0">
                <a:solidFill>
                  <a:schemeClr val="tx1"/>
                </a:solidFill>
                <a:latin typeface="Eras Medium ITC" panose="020B0602030504020804" pitchFamily="34" charset="0"/>
              </a:rPr>
              <a: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err="1">
                <a:solidFill>
                  <a:schemeClr val="tx1"/>
                </a:solidFill>
                <a:latin typeface="Eras Medium ITC" panose="020B0602030504020804" pitchFamily="34" charset="0"/>
              </a:rPr>
              <a:t>abel</a:t>
            </a:r>
            <a:r>
              <a:rPr lang="en-US" altLang="zh-CN" sz="1335" dirty="0">
                <a:solidFill>
                  <a:schemeClr val="tx1"/>
                </a:solidFill>
                <a:latin typeface="Eras Medium ITC" panose="020B0602030504020804" pitchFamily="34" charset="0"/>
              </a:rPr>
              <a:t> 1</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abhorred 3</a:t>
            </a:r>
            <a:endParaRPr lang="en-US" altLang="zh-CN" sz="1335" dirty="0">
              <a:solidFill>
                <a:schemeClr val="tx1"/>
              </a:solidFill>
              <a:latin typeface="Eras Medium ITC" panose="020B0602030504020804" pitchFamily="34" charset="0"/>
            </a:endParaRPr>
          </a:p>
          <a:p>
            <a:pPr algn="just">
              <a:lnSpc>
                <a:spcPct val="90000"/>
              </a:lnSpc>
            </a:pPr>
            <a:r>
              <a:rPr lang="en-US" altLang="zh-CN" sz="1335" dirty="0">
                <a:solidFill>
                  <a:schemeClr val="tx1"/>
                </a:solidFill>
                <a:latin typeface="Eras Medium ITC" panose="020B0602030504020804" pitchFamily="34" charset="0"/>
              </a:rPr>
              <a:t>...</a:t>
            </a:r>
            <a:endParaRPr lang="zh-CN" altLang="en-US" sz="1335" dirty="0">
              <a:solidFill>
                <a:schemeClr val="tx1"/>
              </a:solidFill>
              <a:latin typeface="Eras Medium ITC" panose="020B0602030504020804" pitchFamily="34" charset="0"/>
            </a:endParaRPr>
          </a:p>
        </p:txBody>
      </p:sp>
      <p:sp>
        <p:nvSpPr>
          <p:cNvPr id="9" name="Rectangle 8"/>
          <p:cNvSpPr/>
          <p:nvPr/>
        </p:nvSpPr>
        <p:spPr>
          <a:xfrm>
            <a:off x="1850441" y="1206500"/>
            <a:ext cx="1451559" cy="348878"/>
          </a:xfrm>
          <a:prstGeom prst="rect">
            <a:avLst/>
          </a:prstGeom>
        </p:spPr>
        <p:txBody>
          <a:bodyPr wrap="square">
            <a:spAutoFit/>
          </a:bodyPr>
          <a:lstStyle/>
          <a:p>
            <a:pPr algn="ctr"/>
            <a:r>
              <a:rPr lang="en-US" altLang="zh-CN" sz="1665"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Input file</a:t>
            </a:r>
            <a:endParaRPr lang="zh-CN" altLang="en-US" sz="1665" dirty="0">
              <a:effectLst>
                <a:outerShdw blurRad="38100" dist="38100" dir="2700000" algn="tl">
                  <a:srgbClr val="000000">
                    <a:alpha val="43137"/>
                  </a:srgbClr>
                </a:outerShdw>
              </a:effectLst>
            </a:endParaRPr>
          </a:p>
        </p:txBody>
      </p:sp>
      <p:sp>
        <p:nvSpPr>
          <p:cNvPr id="10" name="Rectangle 9"/>
          <p:cNvSpPr/>
          <p:nvPr/>
        </p:nvSpPr>
        <p:spPr>
          <a:xfrm>
            <a:off x="3813875" y="1063575"/>
            <a:ext cx="1531318" cy="348878"/>
          </a:xfrm>
          <a:prstGeom prst="rect">
            <a:avLst/>
          </a:prstGeom>
        </p:spPr>
        <p:txBody>
          <a:bodyPr wrap="square">
            <a:spAutoFit/>
          </a:bodyPr>
          <a:lstStyle/>
          <a:p>
            <a:pPr algn="ctr"/>
            <a:r>
              <a:rPr lang="en-US" altLang="zh-CN" sz="1665"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After Map</a:t>
            </a:r>
            <a:endParaRPr lang="zh-CN" altLang="en-US" sz="1665" dirty="0">
              <a:effectLst>
                <a:outerShdw blurRad="38100" dist="38100" dir="2700000" algn="tl">
                  <a:srgbClr val="000000">
                    <a:alpha val="43137"/>
                  </a:srgbClr>
                </a:outerShdw>
              </a:effectLst>
            </a:endParaRPr>
          </a:p>
        </p:txBody>
      </p:sp>
      <p:sp>
        <p:nvSpPr>
          <p:cNvPr id="11" name="Rectangle 10"/>
          <p:cNvSpPr/>
          <p:nvPr/>
        </p:nvSpPr>
        <p:spPr>
          <a:xfrm>
            <a:off x="5345193" y="1063575"/>
            <a:ext cx="1352720" cy="348878"/>
          </a:xfrm>
          <a:prstGeom prst="rect">
            <a:avLst/>
          </a:prstGeom>
        </p:spPr>
        <p:txBody>
          <a:bodyPr wrap="square">
            <a:spAutoFit/>
          </a:bodyPr>
          <a:lstStyle/>
          <a:p>
            <a:pPr algn="ctr"/>
            <a:r>
              <a:rPr lang="en-US" altLang="zh-CN" sz="1665"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After Sort</a:t>
            </a:r>
            <a:endParaRPr lang="zh-CN" altLang="en-US" sz="1665" dirty="0">
              <a:effectLst>
                <a:outerShdw blurRad="38100" dist="38100" dir="2700000" algn="tl">
                  <a:srgbClr val="000000">
                    <a:alpha val="43137"/>
                  </a:srgbClr>
                </a:outerShdw>
              </a:effectLst>
            </a:endParaRPr>
          </a:p>
        </p:txBody>
      </p:sp>
      <p:sp>
        <p:nvSpPr>
          <p:cNvPr id="12" name="Rectangle 11"/>
          <p:cNvSpPr/>
          <p:nvPr/>
        </p:nvSpPr>
        <p:spPr>
          <a:xfrm>
            <a:off x="6930589" y="1063575"/>
            <a:ext cx="1559658" cy="348878"/>
          </a:xfrm>
          <a:prstGeom prst="rect">
            <a:avLst/>
          </a:prstGeom>
        </p:spPr>
        <p:txBody>
          <a:bodyPr wrap="none">
            <a:spAutoFit/>
          </a:bodyPr>
          <a:lstStyle/>
          <a:p>
            <a:pPr algn="ctr"/>
            <a:r>
              <a:rPr lang="en-US" altLang="zh-CN" sz="1665" dirty="0">
                <a:solidFill>
                  <a:schemeClr val="dk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After Reduce</a:t>
            </a:r>
            <a:endParaRPr lang="zh-CN" altLang="en-US" sz="1665" dirty="0">
              <a:effectLst>
                <a:outerShdw blurRad="38100" dist="38100" dir="2700000" algn="tl">
                  <a:srgbClr val="000000">
                    <a:alpha val="43137"/>
                  </a:srgbClr>
                </a:outerShdw>
              </a:effectLst>
            </a:endParaRPr>
          </a:p>
        </p:txBody>
      </p:sp>
      <p:sp>
        <p:nvSpPr>
          <p:cNvPr id="13" name="Rectangle 12"/>
          <p:cNvSpPr/>
          <p:nvPr/>
        </p:nvSpPr>
        <p:spPr>
          <a:xfrm>
            <a:off x="3936274" y="1432372"/>
            <a:ext cx="1611339" cy="323165"/>
          </a:xfrm>
          <a:prstGeom prst="rect">
            <a:avLst/>
          </a:prstGeom>
        </p:spPr>
        <p:txBody>
          <a:bodyPr wrap="none">
            <a:spAutoFit/>
          </a:bodyPr>
          <a:lstStyle/>
          <a:p>
            <a:pPr algn="ctr"/>
            <a:r>
              <a:rPr lang="en-US" altLang="zh-CN" sz="1500" u="sng" dirty="0">
                <a:solidFill>
                  <a:schemeClr val="dk1"/>
                </a:solidFill>
                <a:latin typeface="Verdana" panose="020B0604030504040204" pitchFamily="34" charset="0"/>
                <a:ea typeface="Verdana" panose="020B0604030504040204" pitchFamily="34" charset="0"/>
                <a:cs typeface="Verdana" panose="020B0604030504040204" pitchFamily="34" charset="0"/>
              </a:rPr>
              <a:t>[Intermediate]</a:t>
            </a:r>
            <a:endParaRPr lang="zh-CN" altLang="en-US" sz="1500" u="sng" dirty="0"/>
          </a:p>
        </p:txBody>
      </p:sp>
      <p:sp>
        <p:nvSpPr>
          <p:cNvPr id="14" name="Right Arrow 13"/>
          <p:cNvSpPr/>
          <p:nvPr/>
        </p:nvSpPr>
        <p:spPr>
          <a:xfrm>
            <a:off x="3492500" y="3111500"/>
            <a:ext cx="1249442" cy="889000"/>
          </a:xfrm>
          <a:prstGeom prst="rightArrow">
            <a:avLst>
              <a:gd name="adj1" fmla="val 60345"/>
              <a:gd name="adj2" fmla="val 40948"/>
            </a:avLst>
          </a:prstGeom>
          <a:solidFill>
            <a:srgbClr val="00B0F0">
              <a:alpha val="80000"/>
            </a:srgbClr>
          </a:solidFill>
          <a:ln w="571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35" b="1" dirty="0">
                <a:solidFill>
                  <a:schemeClr val="tx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Map</a:t>
            </a:r>
            <a:endParaRPr lang="zh-CN" altLang="en-US" sz="2335" b="1" dirty="0">
              <a:solidFill>
                <a:schemeClr val="tx1"/>
              </a:solidFill>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15" name="Right Arrow 14"/>
          <p:cNvSpPr/>
          <p:nvPr/>
        </p:nvSpPr>
        <p:spPr>
          <a:xfrm>
            <a:off x="5207000" y="3111500"/>
            <a:ext cx="2286000" cy="889000"/>
          </a:xfrm>
          <a:prstGeom prst="rightArrow">
            <a:avLst>
              <a:gd name="adj1" fmla="val 65517"/>
              <a:gd name="adj2" fmla="val 50000"/>
            </a:avLst>
          </a:prstGeom>
          <a:solidFill>
            <a:srgbClr val="00B0F0">
              <a:alpha val="80000"/>
            </a:srgbClr>
          </a:solidFill>
          <a:ln w="571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35" b="1" dirty="0">
                <a:solidFill>
                  <a:schemeClr val="tx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Reduce</a:t>
            </a:r>
            <a:endParaRPr lang="zh-CN" altLang="en-US" sz="2335" b="1" dirty="0">
              <a:solidFill>
                <a:schemeClr val="tx1"/>
              </a:solidFill>
              <a:effectLst>
                <a:outerShdw blurRad="38100" dist="38100" dir="2700000" algn="tl">
                  <a:srgbClr val="000000">
                    <a:alpha val="43137"/>
                  </a:srgbClr>
                </a:outerShdw>
              </a:effectLst>
              <a:latin typeface="Verdana" panose="020B0604030504040204" pitchFamily="34" charset="0"/>
              <a:cs typeface="Verdana" panose="020B0604030504040204" pitchFamily="34" charset="0"/>
            </a:endParaRPr>
          </a:p>
        </p:txBody>
      </p:sp>
      <p:sp>
        <p:nvSpPr>
          <p:cNvPr id="4" name="标题 3"/>
          <p:cNvSpPr>
            <a:spLocks noGrp="1"/>
          </p:cNvSpPr>
          <p:nvPr>
            <p:ph type="title"/>
          </p:nvPr>
        </p:nvSpPr>
        <p:spPr/>
        <p:txBody>
          <a:bodyPr/>
          <a:lstStyle/>
          <a:p>
            <a:r>
              <a:rPr kumimoji="1" lang="en-US" altLang="zh-CN" dirty="0"/>
              <a:t>MapReduce</a:t>
            </a:r>
            <a:r>
              <a:rPr kumimoji="1" lang="zh-CN" altLang="en-US" dirty="0"/>
              <a:t> </a:t>
            </a:r>
            <a:r>
              <a:rPr kumimoji="1" lang="en-US" altLang="zh-CN" dirty="0"/>
              <a:t>example in action</a:t>
            </a:r>
            <a:r>
              <a:rPr kumimoji="1" lang="zh-CN" altLang="en-US" dirty="0"/>
              <a:t>：</a:t>
            </a:r>
            <a:r>
              <a:rPr kumimoji="1" lang="en-US" altLang="zh-CN" dirty="0"/>
              <a:t>Word</a:t>
            </a:r>
            <a:r>
              <a:rPr kumimoji="1" lang="zh-CN" altLang="en-US" dirty="0"/>
              <a:t> </a:t>
            </a:r>
            <a:r>
              <a:rPr kumimoji="1" lang="en-US" altLang="zh-CN" dirty="0"/>
              <a:t>count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par>
                                <p:cTn id="20" presetID="1"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25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ntr" presetSubtype="0" fill="hold" grpId="0" nodeType="withEffect">
                                  <p:stCondLst>
                                    <p:cond delay="500"/>
                                  </p:stCondLst>
                                  <p:childTnLst>
                                    <p:set>
                                      <p:cBhvr>
                                        <p:cTn id="25" dur="1" fill="hold">
                                          <p:stCondLst>
                                            <p:cond delay="0"/>
                                          </p:stCondLst>
                                        </p:cTn>
                                        <p:tgtEl>
                                          <p:spTgt spid="8"/>
                                        </p:tgtEl>
                                        <p:attrNameLst>
                                          <p:attrName>style.visibility</p:attrName>
                                        </p:attrNameLst>
                                      </p:cBhvr>
                                      <p:to>
                                        <p:strVal val="visible"/>
                                      </p:to>
                                    </p:set>
                                  </p:childTnLst>
                                </p:cTn>
                              </p:par>
                              <p:par>
                                <p:cTn id="26" presetID="1" presetClass="entr" presetSubtype="0"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1" grpId="0"/>
      <p:bldP spid="12" grpId="0"/>
      <p:bldP spid="13" grpId="0"/>
      <p:bldP spid="14" grpId="0" animBg="1"/>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Other examples of MapReduce</a:t>
            </a:r>
            <a:endParaRPr kumimoji="1" lang="zh-CN" altLang="en-US" dirty="0"/>
          </a:p>
        </p:txBody>
      </p:sp>
      <p:sp>
        <p:nvSpPr>
          <p:cNvPr id="3" name="内容占位符 2"/>
          <p:cNvSpPr>
            <a:spLocks noGrp="1"/>
          </p:cNvSpPr>
          <p:nvPr>
            <p:ph idx="1"/>
          </p:nvPr>
        </p:nvSpPr>
        <p:spPr>
          <a:xfrm>
            <a:off x="457200" y="1129308"/>
            <a:ext cx="8229600" cy="4032448"/>
          </a:xfrm>
        </p:spPr>
        <p:txBody>
          <a:bodyPr>
            <a:normAutofit/>
          </a:bodyPr>
          <a:lstStyle/>
          <a:p>
            <a:r>
              <a:rPr kumimoji="1" lang="en-US" altLang="zh-CN" dirty="0"/>
              <a:t>Distributed grep</a:t>
            </a:r>
            <a:endParaRPr kumimoji="1" lang="en-US" altLang="zh-CN" dirty="0"/>
          </a:p>
          <a:p>
            <a:pPr lvl="1"/>
            <a:r>
              <a:rPr kumimoji="1" lang="en-US" altLang="zh-CN" i="1" u="sng" dirty="0">
                <a:solidFill>
                  <a:srgbClr val="C00000"/>
                </a:solidFill>
              </a:rPr>
              <a:t>Search for words in lots of documents</a:t>
            </a:r>
            <a:endParaRPr kumimoji="1" lang="en-US" altLang="zh-CN" i="1" u="sng" dirty="0">
              <a:solidFill>
                <a:srgbClr val="C00000"/>
              </a:solidFill>
            </a:endParaRPr>
          </a:p>
          <a:p>
            <a:pPr lvl="1"/>
            <a:r>
              <a:rPr kumimoji="1" lang="en-US" altLang="zh-CN" b="1" dirty="0">
                <a:solidFill>
                  <a:srgbClr val="C00000"/>
                </a:solidFill>
              </a:rPr>
              <a:t>Map</a:t>
            </a:r>
            <a:r>
              <a:rPr kumimoji="1" lang="en-US" altLang="zh-CN" dirty="0"/>
              <a:t>: emit a line if it matches a given pattern</a:t>
            </a:r>
            <a:endParaRPr kumimoji="1" lang="en-US" altLang="zh-CN" dirty="0"/>
          </a:p>
          <a:p>
            <a:pPr lvl="1"/>
            <a:r>
              <a:rPr kumimoji="1" lang="en-US" altLang="zh-CN" b="1" dirty="0">
                <a:solidFill>
                  <a:srgbClr val="C00000"/>
                </a:solidFill>
              </a:rPr>
              <a:t>Reduce</a:t>
            </a:r>
            <a:r>
              <a:rPr kumimoji="1" lang="en-US" altLang="zh-CN" dirty="0"/>
              <a:t>: just output the intermediate data</a:t>
            </a:r>
            <a:endParaRPr kumimoji="1" lang="en-US" altLang="zh-CN" dirty="0"/>
          </a:p>
          <a:p>
            <a:pPr lvl="1"/>
            <a:endParaRPr kumimoji="1" lang="en-US" altLang="zh-CN" dirty="0"/>
          </a:p>
          <a:p>
            <a:r>
              <a:rPr kumimoji="1" lang="en-US" altLang="zh-CN" dirty="0"/>
              <a:t>Count URL access frequency</a:t>
            </a:r>
            <a:endParaRPr kumimoji="1" lang="en-US" altLang="zh-CN" dirty="0"/>
          </a:p>
          <a:p>
            <a:pPr lvl="1"/>
            <a:r>
              <a:rPr kumimoji="1" lang="en-US" altLang="zh-CN" i="1" u="sng" dirty="0">
                <a:solidFill>
                  <a:srgbClr val="C00000"/>
                </a:solidFill>
              </a:rPr>
              <a:t>Find the frequency of each URL in web logs</a:t>
            </a:r>
            <a:endParaRPr kumimoji="1" lang="en-US" altLang="zh-CN" i="1" u="sng" dirty="0">
              <a:solidFill>
                <a:srgbClr val="C00000"/>
              </a:solidFill>
            </a:endParaRPr>
          </a:p>
          <a:p>
            <a:pPr lvl="1"/>
            <a:r>
              <a:rPr kumimoji="1" lang="en-US" altLang="zh-CN" b="1" dirty="0">
                <a:solidFill>
                  <a:srgbClr val="C00000"/>
                </a:solidFill>
              </a:rPr>
              <a:t>Map</a:t>
            </a:r>
            <a:r>
              <a:rPr kumimoji="1" lang="en-US" altLang="zh-CN" dirty="0"/>
              <a:t>: process logs of web page access; </a:t>
            </a:r>
            <a:br>
              <a:rPr kumimoji="1" lang="en-US" altLang="zh-CN" dirty="0"/>
            </a:br>
            <a:r>
              <a:rPr kumimoji="1" lang="en-US" altLang="zh-CN" dirty="0"/>
              <a:t>        output &lt;URL, 1&gt;</a:t>
            </a:r>
            <a:endParaRPr kumimoji="1" lang="en-US" altLang="zh-CN" dirty="0"/>
          </a:p>
          <a:p>
            <a:pPr lvl="1"/>
            <a:r>
              <a:rPr kumimoji="1" lang="en-US" altLang="zh-CN" b="1" dirty="0">
                <a:solidFill>
                  <a:srgbClr val="C00000"/>
                </a:solidFill>
              </a:rPr>
              <a:t>Reduce</a:t>
            </a:r>
            <a:r>
              <a:rPr kumimoji="1" lang="en-US" altLang="zh-CN" dirty="0"/>
              <a:t>: add all values for the same URL</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Other examples of MapReduce</a:t>
            </a:r>
            <a:endParaRPr kumimoji="1" lang="zh-CN" altLang="en-US" dirty="0"/>
          </a:p>
        </p:txBody>
      </p:sp>
      <p:sp>
        <p:nvSpPr>
          <p:cNvPr id="3" name="内容占位符 2"/>
          <p:cNvSpPr>
            <a:spLocks noGrp="1"/>
          </p:cNvSpPr>
          <p:nvPr>
            <p:ph idx="1"/>
          </p:nvPr>
        </p:nvSpPr>
        <p:spPr>
          <a:xfrm>
            <a:off x="395536" y="1057300"/>
            <a:ext cx="8579296" cy="4032448"/>
          </a:xfrm>
        </p:spPr>
        <p:txBody>
          <a:bodyPr>
            <a:normAutofit fontScale="92500" lnSpcReduction="10000"/>
          </a:bodyPr>
          <a:lstStyle/>
          <a:p>
            <a:r>
              <a:rPr kumimoji="1" lang="en-GB" altLang="zh-CN" dirty="0"/>
              <a:t>Inverted index</a:t>
            </a:r>
            <a:endParaRPr kumimoji="1" lang="en-GB" altLang="zh-CN" dirty="0"/>
          </a:p>
          <a:p>
            <a:pPr lvl="1"/>
            <a:r>
              <a:rPr kumimoji="1" lang="en-US" altLang="zh-CN" i="1" u="sng" dirty="0">
                <a:solidFill>
                  <a:srgbClr val="C00000"/>
                </a:solidFill>
              </a:rPr>
              <a:t>Find what documents contain a specific word</a:t>
            </a:r>
            <a:endParaRPr kumimoji="1" lang="en-US" altLang="zh-CN" i="1" u="sng" dirty="0">
              <a:solidFill>
                <a:srgbClr val="C00000"/>
              </a:solidFill>
            </a:endParaRPr>
          </a:p>
          <a:p>
            <a:pPr lvl="1"/>
            <a:r>
              <a:rPr kumimoji="1" lang="en-US" altLang="zh-CN" b="1" dirty="0">
                <a:solidFill>
                  <a:srgbClr val="C00000"/>
                </a:solidFill>
              </a:rPr>
              <a:t>Map</a:t>
            </a:r>
            <a:r>
              <a:rPr kumimoji="1" lang="en-US" altLang="zh-CN" dirty="0"/>
              <a:t>: parse document, emit &lt;word, doc-ID&gt;</a:t>
            </a:r>
            <a:endParaRPr kumimoji="1" lang="en-US" altLang="zh-CN" dirty="0"/>
          </a:p>
          <a:p>
            <a:pPr lvl="1"/>
            <a:r>
              <a:rPr kumimoji="1" lang="en-US" altLang="zh-CN" b="1" dirty="0">
                <a:solidFill>
                  <a:srgbClr val="C00000"/>
                </a:solidFill>
              </a:rPr>
              <a:t>Reduce</a:t>
            </a:r>
            <a:r>
              <a:rPr kumimoji="1" lang="en-US" altLang="zh-CN" dirty="0"/>
              <a:t>: sort the doc-ID for each word, and output &lt;word, list(doc-ID)&gt;</a:t>
            </a:r>
            <a:endParaRPr kumimoji="1" lang="en-US" altLang="zh-CN" dirty="0"/>
          </a:p>
          <a:p>
            <a:pPr lvl="1"/>
            <a:endParaRPr kumimoji="1" lang="en-US" altLang="zh-CN" dirty="0"/>
          </a:p>
          <a:p>
            <a:r>
              <a:rPr kumimoji="1" lang="en-GB" altLang="zh-CN" dirty="0"/>
              <a:t>Reverse web-link graph</a:t>
            </a:r>
            <a:endParaRPr kumimoji="1" lang="en-GB" altLang="zh-CN" dirty="0"/>
          </a:p>
          <a:p>
            <a:pPr lvl="1"/>
            <a:r>
              <a:rPr kumimoji="1" lang="en-US" altLang="zh-CN" i="1" u="sng" dirty="0">
                <a:solidFill>
                  <a:srgbClr val="C00000"/>
                </a:solidFill>
              </a:rPr>
              <a:t>Find where page links come from </a:t>
            </a:r>
            <a:endParaRPr kumimoji="1" lang="en-US" altLang="zh-CN" i="1" u="sng" dirty="0">
              <a:solidFill>
                <a:srgbClr val="C00000"/>
              </a:solidFill>
            </a:endParaRPr>
          </a:p>
          <a:p>
            <a:pPr lvl="1"/>
            <a:r>
              <a:rPr kumimoji="1" lang="en-US" altLang="zh-CN" b="1" dirty="0">
                <a:solidFill>
                  <a:srgbClr val="C00000"/>
                </a:solidFill>
              </a:rPr>
              <a:t>Map</a:t>
            </a:r>
            <a:r>
              <a:rPr kumimoji="1" lang="en-US" altLang="zh-CN" dirty="0"/>
              <a:t>: output &lt;target, source&gt; for each link to target in a page source</a:t>
            </a:r>
            <a:endParaRPr kumimoji="1" lang="en-US" altLang="zh-CN" dirty="0"/>
          </a:p>
          <a:p>
            <a:pPr lvl="1"/>
            <a:r>
              <a:rPr kumimoji="1" lang="en-US" altLang="zh-CN" b="1" dirty="0">
                <a:solidFill>
                  <a:srgbClr val="C00000"/>
                </a:solidFill>
              </a:rPr>
              <a:t>Reduce</a:t>
            </a:r>
            <a:r>
              <a:rPr kumimoji="1" lang="en-US" altLang="zh-CN" dirty="0"/>
              <a:t>: concatenate all source for each target,</a:t>
            </a:r>
            <a:r>
              <a:rPr kumimoji="1" lang="zh-CN" altLang="en-US" dirty="0"/>
              <a:t> </a:t>
            </a:r>
            <a:r>
              <a:rPr kumimoji="1" lang="en-US" altLang="zh-CN" dirty="0"/>
              <a:t>output &lt;target, list(source)&gt;</a:t>
            </a:r>
            <a:endParaRPr kumimoji="1" lang="en-US" altLang="zh-CN" dirty="0"/>
          </a:p>
          <a:p>
            <a:endParaRPr kumimoji="1" lang="en-US" altLang="zh-CN" dirty="0"/>
          </a:p>
          <a:p>
            <a:r>
              <a:rPr kumimoji="1" lang="en-US" altLang="zh-CN" dirty="0"/>
              <a:t>And more … (Please check the paper) </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Recall, common challenges of  Distributed Computing</a:t>
            </a:r>
            <a:endParaRPr kumimoji="1" lang="zh-CN" altLang="en-US" dirty="0"/>
          </a:p>
        </p:txBody>
      </p:sp>
      <p:sp>
        <p:nvSpPr>
          <p:cNvPr id="3" name="内容占位符 2"/>
          <p:cNvSpPr>
            <a:spLocks noGrp="1"/>
          </p:cNvSpPr>
          <p:nvPr>
            <p:ph idx="1"/>
          </p:nvPr>
        </p:nvSpPr>
        <p:spPr>
          <a:xfrm>
            <a:off x="457200" y="1129308"/>
            <a:ext cx="8229600" cy="4356826"/>
          </a:xfrm>
        </p:spPr>
        <p:txBody>
          <a:bodyPr/>
          <a:lstStyle/>
          <a:p>
            <a:pPr marL="342900" indent="-342900">
              <a:buAutoNum type="arabicPeriod"/>
            </a:pPr>
            <a:r>
              <a:rPr kumimoji="1" lang="en-US" altLang="zh-CN" b="0" dirty="0"/>
              <a:t>Sending </a:t>
            </a:r>
            <a:r>
              <a:rPr kumimoji="1" lang="en-US" altLang="zh-CN" dirty="0">
                <a:solidFill>
                  <a:srgbClr val="C00000"/>
                </a:solidFill>
              </a:rPr>
              <a:t>data</a:t>
            </a:r>
            <a:r>
              <a:rPr kumimoji="1" lang="en-US" altLang="zh-CN" b="0" dirty="0"/>
              <a:t> to/from nodes</a:t>
            </a:r>
            <a:endParaRPr kumimoji="1" lang="en-US" altLang="zh-CN" b="0" dirty="0"/>
          </a:p>
          <a:p>
            <a:pPr marL="342900" indent="-342900">
              <a:buAutoNum type="arabicPeriod"/>
            </a:pPr>
            <a:r>
              <a:rPr kumimoji="1" lang="en-US" altLang="zh-CN" dirty="0">
                <a:solidFill>
                  <a:srgbClr val="C00000"/>
                </a:solidFill>
              </a:rPr>
              <a:t>Coordinating</a:t>
            </a:r>
            <a:r>
              <a:rPr kumimoji="1" lang="en-US" altLang="zh-CN" b="0" dirty="0"/>
              <a:t> among nodes</a:t>
            </a:r>
            <a:endParaRPr kumimoji="1" lang="en-US" altLang="zh-CN" b="0" dirty="0"/>
          </a:p>
          <a:p>
            <a:pPr marL="342900" indent="-342900">
              <a:buAutoNum type="arabicPeriod"/>
            </a:pPr>
            <a:r>
              <a:rPr kumimoji="1" lang="en-US" altLang="zh-CN" b="0" dirty="0"/>
              <a:t>Recovering from node </a:t>
            </a:r>
            <a:r>
              <a:rPr kumimoji="1" lang="en-US" altLang="zh-CN" dirty="0">
                <a:solidFill>
                  <a:srgbClr val="C00000"/>
                </a:solidFill>
              </a:rPr>
              <a:t>failure</a:t>
            </a:r>
            <a:endParaRPr kumimoji="1" lang="en-US" altLang="zh-CN" dirty="0">
              <a:solidFill>
                <a:srgbClr val="C00000"/>
              </a:solidFill>
            </a:endParaRPr>
          </a:p>
          <a:p>
            <a:pPr marL="342900" indent="-342900">
              <a:buAutoNum type="arabicPeriod"/>
            </a:pPr>
            <a:r>
              <a:rPr kumimoji="1" lang="en-US" altLang="zh-CN" b="0" dirty="0"/>
              <a:t>Optimizing for </a:t>
            </a:r>
            <a:r>
              <a:rPr kumimoji="1" lang="en-US" altLang="zh-CN" dirty="0">
                <a:solidFill>
                  <a:srgbClr val="C00000"/>
                </a:solidFill>
              </a:rPr>
              <a:t>locality</a:t>
            </a:r>
            <a:endParaRPr kumimoji="1" lang="en-US" altLang="zh-CN" dirty="0">
              <a:solidFill>
                <a:srgbClr val="C00000"/>
              </a:solidFill>
            </a:endParaRPr>
          </a:p>
          <a:p>
            <a:pPr marL="342900" indent="-342900">
              <a:buAutoNum type="arabicPeriod"/>
            </a:pPr>
            <a:r>
              <a:rPr kumimoji="1" lang="en-US" altLang="zh-CN" dirty="0">
                <a:solidFill>
                  <a:srgbClr val="C00000"/>
                </a:solidFill>
              </a:rPr>
              <a:t>Partition</a:t>
            </a:r>
            <a:r>
              <a:rPr kumimoji="1" lang="en-US" altLang="zh-CN" b="0" dirty="0">
                <a:solidFill>
                  <a:schemeClr val="tx1"/>
                </a:solidFill>
              </a:rPr>
              <a:t> the data to enable more parallelism </a:t>
            </a:r>
            <a:endParaRPr kumimoji="1" lang="en-US" altLang="zh-CN" b="0" dirty="0">
              <a:solidFill>
                <a:schemeClr val="tx1"/>
              </a:solidFill>
            </a:endParaRPr>
          </a:p>
          <a:p>
            <a:endParaRPr kumimoji="1" lang="en-US" altLang="zh-CN" b="0" dirty="0">
              <a:solidFill>
                <a:schemeClr val="tx1"/>
              </a:solidFill>
            </a:endParaRPr>
          </a:p>
          <a:p>
            <a:r>
              <a:rPr kumimoji="1" lang="en-US" altLang="zh-CN" b="0" dirty="0">
                <a:solidFill>
                  <a:schemeClr val="tx1"/>
                </a:solidFill>
              </a:rPr>
              <a:t>How does MapReduce handle</a:t>
            </a:r>
            <a:r>
              <a:rPr kumimoji="1" lang="zh-CN" altLang="en-US" b="0" dirty="0">
                <a:solidFill>
                  <a:schemeClr val="tx1"/>
                </a:solidFill>
              </a:rPr>
              <a:t> </a:t>
            </a:r>
            <a:r>
              <a:rPr kumimoji="1" lang="en-US" altLang="zh-CN" b="0" dirty="0">
                <a:solidFill>
                  <a:schemeClr val="tx1"/>
                </a:solidFill>
              </a:rPr>
              <a:t>these</a:t>
            </a:r>
            <a:r>
              <a:rPr kumimoji="1" lang="zh-CN" altLang="en-US" b="0" dirty="0">
                <a:solidFill>
                  <a:schemeClr val="tx1"/>
                </a:solidFill>
              </a:rPr>
              <a:t> </a:t>
            </a:r>
            <a:r>
              <a:rPr kumimoji="1" lang="en-US" altLang="zh-CN" b="0" dirty="0">
                <a:solidFill>
                  <a:schemeClr val="tx1"/>
                </a:solidFill>
              </a:rPr>
              <a:t>challenges? </a:t>
            </a:r>
            <a:endParaRPr kumimoji="1" lang="en-US" altLang="zh-CN" b="0" dirty="0">
              <a:solidFill>
                <a:schemeClr val="tx1"/>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Freeform 7"/>
          <p:cNvSpPr/>
          <p:nvPr/>
        </p:nvSpPr>
        <p:spPr bwMode="auto">
          <a:xfrm rot="246088">
            <a:off x="5515505" y="1161147"/>
            <a:ext cx="935888" cy="1843692"/>
          </a:xfrm>
          <a:custGeom>
            <a:avLst/>
            <a:gdLst>
              <a:gd name="T0" fmla="*/ 103 w 672"/>
              <a:gd name="T1" fmla="*/ 125 h 1520"/>
              <a:gd name="T2" fmla="*/ 274 w 672"/>
              <a:gd name="T3" fmla="*/ 125 h 1520"/>
              <a:gd name="T4" fmla="*/ 343 w 672"/>
              <a:gd name="T5" fmla="*/ 874 h 1520"/>
              <a:gd name="T6" fmla="*/ 480 w 672"/>
              <a:gd name="T7" fmla="*/ 989 h 1520"/>
              <a:gd name="T8" fmla="*/ 343 w 672"/>
              <a:gd name="T9" fmla="*/ 1219 h 1520"/>
              <a:gd name="T10" fmla="*/ 240 w 672"/>
              <a:gd name="T11" fmla="*/ 1738 h 1520"/>
              <a:gd name="T12" fmla="*/ 0 w 672"/>
              <a:gd name="T13" fmla="*/ 1738 h 1520"/>
              <a:gd name="T14" fmla="*/ 0 60000 65536"/>
              <a:gd name="T15" fmla="*/ 0 60000 65536"/>
              <a:gd name="T16" fmla="*/ 0 60000 65536"/>
              <a:gd name="T17" fmla="*/ 0 60000 65536"/>
              <a:gd name="T18" fmla="*/ 0 60000 65536"/>
              <a:gd name="T19" fmla="*/ 0 60000 65536"/>
              <a:gd name="T20" fmla="*/ 0 60000 65536"/>
              <a:gd name="T21" fmla="*/ 0 w 672"/>
              <a:gd name="T22" fmla="*/ 0 h 1520"/>
              <a:gd name="T23" fmla="*/ 672 w 672"/>
              <a:gd name="T24" fmla="*/ 1520 h 1520"/>
              <a:gd name="connsiteX0" fmla="*/ 2143 w 10000"/>
              <a:gd name="connsiteY0" fmla="*/ 2039 h 11154"/>
              <a:gd name="connsiteX1" fmla="*/ 5457 w 10000"/>
              <a:gd name="connsiteY1" fmla="*/ 128 h 11154"/>
              <a:gd name="connsiteX2" fmla="*/ 7143 w 10000"/>
              <a:gd name="connsiteY2" fmla="*/ 6144 h 11154"/>
              <a:gd name="connsiteX3" fmla="*/ 10000 w 10000"/>
              <a:gd name="connsiteY3" fmla="*/ 6776 h 11154"/>
              <a:gd name="connsiteX4" fmla="*/ 7143 w 10000"/>
              <a:gd name="connsiteY4" fmla="*/ 8039 h 11154"/>
              <a:gd name="connsiteX5" fmla="*/ 5000 w 10000"/>
              <a:gd name="connsiteY5" fmla="*/ 10881 h 11154"/>
              <a:gd name="connsiteX6" fmla="*/ 0 w 10000"/>
              <a:gd name="connsiteY6" fmla="*/ 10881 h 11154"/>
              <a:gd name="connsiteX0-1" fmla="*/ 0 w 13702"/>
              <a:gd name="connsiteY0-2" fmla="*/ 511 h 11571"/>
              <a:gd name="connsiteX1-3" fmla="*/ 9159 w 13702"/>
              <a:gd name="connsiteY1-4" fmla="*/ 545 h 11571"/>
              <a:gd name="connsiteX2-5" fmla="*/ 10845 w 13702"/>
              <a:gd name="connsiteY2-6" fmla="*/ 6561 h 11571"/>
              <a:gd name="connsiteX3-7" fmla="*/ 13702 w 13702"/>
              <a:gd name="connsiteY3-8" fmla="*/ 7193 h 11571"/>
              <a:gd name="connsiteX4-9" fmla="*/ 10845 w 13702"/>
              <a:gd name="connsiteY4-10" fmla="*/ 8456 h 11571"/>
              <a:gd name="connsiteX5-11" fmla="*/ 8702 w 13702"/>
              <a:gd name="connsiteY5-12" fmla="*/ 11298 h 11571"/>
              <a:gd name="connsiteX6-13" fmla="*/ 3702 w 13702"/>
              <a:gd name="connsiteY6-14" fmla="*/ 11298 h 11571"/>
              <a:gd name="connsiteX0-15" fmla="*/ 0 w 13726"/>
              <a:gd name="connsiteY0-16" fmla="*/ 343 h 11403"/>
              <a:gd name="connsiteX1-17" fmla="*/ 9159 w 13726"/>
              <a:gd name="connsiteY1-18" fmla="*/ 377 h 11403"/>
              <a:gd name="connsiteX2-19" fmla="*/ 9124 w 13726"/>
              <a:gd name="connsiteY2-20" fmla="*/ 3985 h 11403"/>
              <a:gd name="connsiteX3-21" fmla="*/ 13702 w 13726"/>
              <a:gd name="connsiteY3-22" fmla="*/ 7025 h 11403"/>
              <a:gd name="connsiteX4-23" fmla="*/ 10845 w 13726"/>
              <a:gd name="connsiteY4-24" fmla="*/ 8288 h 11403"/>
              <a:gd name="connsiteX5-25" fmla="*/ 8702 w 13726"/>
              <a:gd name="connsiteY5-26" fmla="*/ 11130 h 11403"/>
              <a:gd name="connsiteX6-27" fmla="*/ 3702 w 13726"/>
              <a:gd name="connsiteY6-28" fmla="*/ 11130 h 11403"/>
              <a:gd name="connsiteX0-29" fmla="*/ 0 w 12542"/>
              <a:gd name="connsiteY0-30" fmla="*/ 343 h 11403"/>
              <a:gd name="connsiteX1-31" fmla="*/ 9159 w 12542"/>
              <a:gd name="connsiteY1-32" fmla="*/ 377 h 11403"/>
              <a:gd name="connsiteX2-33" fmla="*/ 9124 w 12542"/>
              <a:gd name="connsiteY2-34" fmla="*/ 3985 h 11403"/>
              <a:gd name="connsiteX3-35" fmla="*/ 12502 w 12542"/>
              <a:gd name="connsiteY3-36" fmla="*/ 5362 h 11403"/>
              <a:gd name="connsiteX4-37" fmla="*/ 10845 w 12542"/>
              <a:gd name="connsiteY4-38" fmla="*/ 8288 h 11403"/>
              <a:gd name="connsiteX5-39" fmla="*/ 8702 w 12542"/>
              <a:gd name="connsiteY5-40" fmla="*/ 11130 h 11403"/>
              <a:gd name="connsiteX6-41" fmla="*/ 3702 w 12542"/>
              <a:gd name="connsiteY6-42" fmla="*/ 11130 h 11403"/>
              <a:gd name="connsiteX0-43" fmla="*/ 0 w 12502"/>
              <a:gd name="connsiteY0-44" fmla="*/ 343 h 11403"/>
              <a:gd name="connsiteX1-45" fmla="*/ 9159 w 12502"/>
              <a:gd name="connsiteY1-46" fmla="*/ 377 h 11403"/>
              <a:gd name="connsiteX2-47" fmla="*/ 9124 w 12502"/>
              <a:gd name="connsiteY2-48" fmla="*/ 3985 h 11403"/>
              <a:gd name="connsiteX3-49" fmla="*/ 12502 w 12502"/>
              <a:gd name="connsiteY3-50" fmla="*/ 5362 h 11403"/>
              <a:gd name="connsiteX4-51" fmla="*/ 8755 w 12502"/>
              <a:gd name="connsiteY4-52" fmla="*/ 6514 h 11403"/>
              <a:gd name="connsiteX5-53" fmla="*/ 8702 w 12502"/>
              <a:gd name="connsiteY5-54" fmla="*/ 11130 h 11403"/>
              <a:gd name="connsiteX6-55" fmla="*/ 3702 w 12502"/>
              <a:gd name="connsiteY6-56" fmla="*/ 11130 h 11403"/>
              <a:gd name="connsiteX0-57" fmla="*/ 0 w 12282"/>
              <a:gd name="connsiteY0-58" fmla="*/ 343 h 11403"/>
              <a:gd name="connsiteX1-59" fmla="*/ 9159 w 12282"/>
              <a:gd name="connsiteY1-60" fmla="*/ 377 h 11403"/>
              <a:gd name="connsiteX2-61" fmla="*/ 9124 w 12282"/>
              <a:gd name="connsiteY2-62" fmla="*/ 3985 h 11403"/>
              <a:gd name="connsiteX3-63" fmla="*/ 12281 w 12282"/>
              <a:gd name="connsiteY3-64" fmla="*/ 4877 h 11403"/>
              <a:gd name="connsiteX4-65" fmla="*/ 8755 w 12282"/>
              <a:gd name="connsiteY4-66" fmla="*/ 6514 h 11403"/>
              <a:gd name="connsiteX5-67" fmla="*/ 8702 w 12282"/>
              <a:gd name="connsiteY5-68" fmla="*/ 11130 h 11403"/>
              <a:gd name="connsiteX6-69" fmla="*/ 3702 w 12282"/>
              <a:gd name="connsiteY6-70" fmla="*/ 11130 h 11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282" h="11403">
                <a:moveTo>
                  <a:pt x="0" y="343"/>
                </a:moveTo>
                <a:cubicBezTo>
                  <a:pt x="1369" y="1"/>
                  <a:pt x="7638" y="-230"/>
                  <a:pt x="9159" y="377"/>
                </a:cubicBezTo>
                <a:cubicBezTo>
                  <a:pt x="10680" y="984"/>
                  <a:pt x="8604" y="3235"/>
                  <a:pt x="9124" y="3985"/>
                </a:cubicBezTo>
                <a:cubicBezTo>
                  <a:pt x="9644" y="4735"/>
                  <a:pt x="12342" y="4456"/>
                  <a:pt x="12281" y="4877"/>
                </a:cubicBezTo>
                <a:cubicBezTo>
                  <a:pt x="12220" y="5298"/>
                  <a:pt x="9352" y="5472"/>
                  <a:pt x="8755" y="6514"/>
                </a:cubicBezTo>
                <a:cubicBezTo>
                  <a:pt x="8159" y="7556"/>
                  <a:pt x="9892" y="10657"/>
                  <a:pt x="8702" y="11130"/>
                </a:cubicBezTo>
                <a:cubicBezTo>
                  <a:pt x="7512" y="11604"/>
                  <a:pt x="5607" y="11367"/>
                  <a:pt x="3702" y="11130"/>
                </a:cubicBezTo>
              </a:path>
            </a:pathLst>
          </a:custGeom>
          <a:noFill/>
          <a:ln w="28575">
            <a:solidFill>
              <a:srgbClr val="BE384B"/>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C00000"/>
              </a:solidFill>
            </a:endParaRPr>
          </a:p>
        </p:txBody>
      </p:sp>
      <p:sp>
        <p:nvSpPr>
          <p:cNvPr id="6" name="矩形 5"/>
          <p:cNvSpPr/>
          <p:nvPr/>
        </p:nvSpPr>
        <p:spPr>
          <a:xfrm>
            <a:off x="6408160" y="1849388"/>
            <a:ext cx="1836248" cy="646331"/>
          </a:xfrm>
          <a:prstGeom prst="rect">
            <a:avLst/>
          </a:prstGeom>
        </p:spPr>
        <p:txBody>
          <a:bodyPr wrap="square">
            <a:spAutoFit/>
          </a:bodyPr>
          <a:lstStyle/>
          <a:p>
            <a:pPr algn="ctr"/>
            <a:r>
              <a:rPr lang="en-US" altLang="zh-CN" b="1" dirty="0">
                <a:solidFill>
                  <a:srgbClr val="C00000"/>
                </a:solidFill>
                <a:latin typeface="+mn-ea"/>
                <a:cs typeface="Verdana" panose="020B0604030504040204" pitchFamily="34" charset="0"/>
              </a:rPr>
              <a:t>Same for </a:t>
            </a:r>
            <a:endParaRPr lang="en-US" altLang="zh-CN" b="1" dirty="0">
              <a:solidFill>
                <a:srgbClr val="C00000"/>
              </a:solidFill>
              <a:latin typeface="+mn-ea"/>
              <a:cs typeface="Verdana" panose="020B0604030504040204" pitchFamily="34" charset="0"/>
            </a:endParaRPr>
          </a:p>
          <a:p>
            <a:pPr algn="ctr"/>
            <a:r>
              <a:rPr lang="en-US" altLang="zh-CN" b="1" dirty="0">
                <a:solidFill>
                  <a:srgbClr val="C00000"/>
                </a:solidFill>
                <a:latin typeface="+mn-ea"/>
                <a:cs typeface="Verdana" panose="020B0604030504040204" pitchFamily="34" charset="0"/>
              </a:rPr>
              <a:t>all problems</a:t>
            </a:r>
            <a:endParaRPr lang="en-US" altLang="zh-CN" b="1" dirty="0">
              <a:solidFill>
                <a:srgbClr val="C00000"/>
              </a:solidFill>
              <a:latin typeface="+mn-ea"/>
              <a:cs typeface="Verdana" panose="020B0604030504040204" pitchFamily="34" charset="0"/>
            </a:endParaRPr>
          </a:p>
        </p:txBody>
      </p:sp>
      <p:sp>
        <p:nvSpPr>
          <p:cNvPr id="7" name="矩形 6"/>
          <p:cNvSpPr/>
          <p:nvPr/>
        </p:nvSpPr>
        <p:spPr>
          <a:xfrm>
            <a:off x="302840" y="1057300"/>
            <a:ext cx="4413176" cy="1080120"/>
          </a:xfrm>
          <a:prstGeom prst="rect">
            <a:avLst/>
          </a:prstGeom>
          <a:ln w="28575">
            <a:solidFill>
              <a:schemeClr val="tx1"/>
            </a:solidFill>
            <a:prstDash val="sysDot"/>
            <a:headEnd type="none" w="med" len="med"/>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8" name="矩形 7"/>
          <p:cNvSpPr/>
          <p:nvPr/>
        </p:nvSpPr>
        <p:spPr>
          <a:xfrm>
            <a:off x="4154626" y="1898327"/>
            <a:ext cx="1296144" cy="369332"/>
          </a:xfrm>
          <a:prstGeom prst="rect">
            <a:avLst/>
          </a:prstGeom>
          <a:solidFill>
            <a:schemeClr val="bg1"/>
          </a:solidFill>
        </p:spPr>
        <p:txBody>
          <a:bodyPr wrap="square">
            <a:spAutoFit/>
          </a:bodyPr>
          <a:lstStyle/>
          <a:p>
            <a:pPr algn="ctr"/>
            <a:r>
              <a:rPr lang="en-US" altLang="zh-CN" b="1" dirty="0">
                <a:solidFill>
                  <a:srgbClr val="C00000"/>
                </a:solidFill>
                <a:latin typeface="+mn-ea"/>
                <a:cs typeface="Verdana" panose="020B0604030504040204" pitchFamily="34" charset="0"/>
              </a:rPr>
              <a:t>Solved</a:t>
            </a:r>
            <a:endParaRPr lang="en-US" altLang="zh-CN" b="1" dirty="0">
              <a:solidFill>
                <a:srgbClr val="C00000"/>
              </a:solidFill>
              <a:latin typeface="+mn-ea"/>
              <a:cs typeface="Verdana" panose="020B0604030504040204" pitchFamily="34" charset="0"/>
            </a:endParaRPr>
          </a:p>
        </p:txBody>
      </p:sp>
      <p:sp>
        <p:nvSpPr>
          <p:cNvPr id="9" name="矩形 8"/>
          <p:cNvSpPr/>
          <p:nvPr/>
        </p:nvSpPr>
        <p:spPr>
          <a:xfrm>
            <a:off x="302840" y="2941043"/>
            <a:ext cx="5302290" cy="636538"/>
          </a:xfrm>
          <a:prstGeom prst="rect">
            <a:avLst/>
          </a:prstGeom>
          <a:ln w="28575">
            <a:solidFill>
              <a:schemeClr val="tx1"/>
            </a:solidFill>
            <a:prstDash val="sysDot"/>
            <a:headEnd type="none" w="med" len="med"/>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 name="矩形 9"/>
          <p:cNvSpPr/>
          <p:nvPr/>
        </p:nvSpPr>
        <p:spPr>
          <a:xfrm>
            <a:off x="4555782" y="3514910"/>
            <a:ext cx="1296144" cy="369332"/>
          </a:xfrm>
          <a:prstGeom prst="rect">
            <a:avLst/>
          </a:prstGeom>
          <a:solidFill>
            <a:schemeClr val="bg1"/>
          </a:solidFill>
        </p:spPr>
        <p:txBody>
          <a:bodyPr wrap="square">
            <a:spAutoFit/>
          </a:bodyPr>
          <a:lstStyle/>
          <a:p>
            <a:pPr algn="ctr"/>
            <a:r>
              <a:rPr lang="en-US" altLang="zh-CN" b="1" dirty="0">
                <a:solidFill>
                  <a:srgbClr val="C00000"/>
                </a:solidFill>
                <a:latin typeface="+mn-ea"/>
                <a:cs typeface="Verdana" panose="020B0604030504040204" pitchFamily="34" charset="0"/>
              </a:rPr>
              <a:t>Solved</a:t>
            </a:r>
            <a:endParaRPr lang="en-US" altLang="zh-CN" b="1" dirty="0">
              <a:solidFill>
                <a:srgbClr val="C00000"/>
              </a:solidFill>
              <a:latin typeface="+mn-ea"/>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9" grpId="1" animBg="1"/>
      <p:bldP spid="10" grpId="0" animBg="1"/>
      <p:bldP spid="10"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Fault tolerance of MapReduce</a:t>
            </a:r>
            <a:endParaRPr kumimoji="1" lang="zh-CN" altLang="en-US" dirty="0"/>
          </a:p>
        </p:txBody>
      </p:sp>
      <p:sp>
        <p:nvSpPr>
          <p:cNvPr id="3" name="内容占位符 2"/>
          <p:cNvSpPr>
            <a:spLocks noGrp="1"/>
          </p:cNvSpPr>
          <p:nvPr>
            <p:ph idx="1"/>
          </p:nvPr>
        </p:nvSpPr>
        <p:spPr>
          <a:xfrm>
            <a:off x="457200" y="1129308"/>
            <a:ext cx="8229600" cy="4356826"/>
          </a:xfrm>
        </p:spPr>
        <p:txBody>
          <a:bodyPr/>
          <a:lstStyle/>
          <a:p>
            <a:r>
              <a:rPr kumimoji="1" lang="en-US" altLang="zh-CN" dirty="0"/>
              <a:t>Recall: machine </a:t>
            </a:r>
            <a:r>
              <a:rPr kumimoji="1" lang="en-US" altLang="zh-CN" dirty="0">
                <a:solidFill>
                  <a:srgbClr val="C00000"/>
                </a:solidFill>
              </a:rPr>
              <a:t>failures are common </a:t>
            </a:r>
            <a:r>
              <a:rPr kumimoji="1" lang="en-US" altLang="zh-CN" dirty="0"/>
              <a:t>in datacenters</a:t>
            </a:r>
            <a:endParaRPr kumimoji="1" lang="en-US" altLang="zh-CN" dirty="0"/>
          </a:p>
          <a:p>
            <a:pPr lvl="1"/>
            <a:r>
              <a:rPr kumimoji="1" lang="en-US" altLang="zh-CN" dirty="0"/>
              <a:t>A MapReduce job can possibly run on thousands of machines</a:t>
            </a:r>
            <a:endParaRPr kumimoji="1" lang="en-US" altLang="zh-CN" dirty="0"/>
          </a:p>
          <a:p>
            <a:endParaRPr lang="en-US" altLang="zh-TW" b="0" dirty="0">
              <a:solidFill>
                <a:prstClr val="black"/>
              </a:solidFill>
              <a:latin typeface="Arial" panose="020B0604020202020204" pitchFamily="34" charset="0"/>
              <a:ea typeface="Verdana" panose="020B0604030504040204" pitchFamily="34" charset="0"/>
              <a:cs typeface="Arial" panose="020B0604020202020204" pitchFamily="34" charset="0"/>
            </a:endParaRPr>
          </a:p>
          <a:p>
            <a:r>
              <a:rPr lang="en-US" altLang="zh-TW" dirty="0">
                <a:solidFill>
                  <a:prstClr val="black"/>
                </a:solidFill>
                <a:latin typeface="Arial" panose="020B0604020202020204" pitchFamily="34" charset="0"/>
                <a:ea typeface="Verdana" panose="020B0604030504040204" pitchFamily="34" charset="0"/>
                <a:cs typeface="Arial" panose="020B0604020202020204" pitchFamily="34" charset="0"/>
              </a:rPr>
              <a:t>Two choices made MapReduce easy in handling failures</a:t>
            </a:r>
            <a:r>
              <a:rPr lang="en-US" altLang="zh-CN" dirty="0">
                <a:solidFill>
                  <a:prstClr val="black"/>
                </a:solidFill>
                <a:latin typeface="Arial" panose="020B0604020202020204" pitchFamily="34" charset="0"/>
                <a:ea typeface="Verdana" panose="020B0604030504040204" pitchFamily="34" charset="0"/>
                <a:cs typeface="Arial" panose="020B0604020202020204" pitchFamily="34" charset="0"/>
              </a:rPr>
              <a:t>:</a:t>
            </a:r>
            <a:endParaRPr lang="en-US" altLang="zh-TW" dirty="0">
              <a:solidFill>
                <a:prstClr val="black"/>
              </a:solidFill>
              <a:latin typeface="Arial" panose="020B0604020202020204" pitchFamily="34" charset="0"/>
              <a:ea typeface="Verdana" panose="020B0604030504040204" pitchFamily="34" charset="0"/>
              <a:cs typeface="Arial" panose="020B0604020202020204" pitchFamily="34" charset="0"/>
            </a:endParaRPr>
          </a:p>
          <a:p>
            <a:pPr marL="417195" lvl="1" indent="-342900">
              <a:buAutoNum type="arabicPeriod"/>
            </a:pPr>
            <a:r>
              <a:rPr lang="en-US" altLang="zh-TW" dirty="0">
                <a:solidFill>
                  <a:prstClr val="black"/>
                </a:solidFill>
                <a:latin typeface="Arial" panose="020B0604020202020204" pitchFamily="34" charset="0"/>
                <a:ea typeface="Verdana" panose="020B0604030504040204" pitchFamily="34" charset="0"/>
                <a:cs typeface="Arial" panose="020B0604020202020204" pitchFamily="34" charset="0"/>
              </a:rPr>
              <a:t>Programming model simplifies fault recovery</a:t>
            </a:r>
            <a:endParaRPr lang="en-US" altLang="zh-TW" dirty="0">
              <a:solidFill>
                <a:prstClr val="black"/>
              </a:solidFill>
              <a:latin typeface="Arial" panose="020B0604020202020204" pitchFamily="34" charset="0"/>
              <a:ea typeface="Verdana" panose="020B0604030504040204" pitchFamily="34" charset="0"/>
              <a:cs typeface="Arial" panose="020B0604020202020204" pitchFamily="34" charset="0"/>
            </a:endParaRPr>
          </a:p>
          <a:p>
            <a:pPr marL="857250" lvl="2" indent="0">
              <a:buNone/>
            </a:pPr>
            <a:r>
              <a:rPr lang="en-US" altLang="zh-TW" sz="1800" dirty="0">
                <a:solidFill>
                  <a:prstClr val="black"/>
                </a:solidFill>
                <a:latin typeface="Arial" panose="020B0604020202020204" pitchFamily="34" charset="0"/>
                <a:ea typeface="Verdana" panose="020B0604030504040204" pitchFamily="34" charset="0"/>
                <a:cs typeface="Arial" panose="020B0604020202020204" pitchFamily="34" charset="0"/>
              </a:rPr>
              <a:t>e.g., </a:t>
            </a:r>
            <a:r>
              <a:rPr lang="en-US" altLang="zh-TW" sz="1800" b="1" dirty="0">
                <a:solidFill>
                  <a:srgbClr val="C00000"/>
                </a:solidFill>
                <a:latin typeface="Arial" panose="020B0604020202020204" pitchFamily="34" charset="0"/>
                <a:ea typeface="Verdana" panose="020B0604030504040204" pitchFamily="34" charset="0"/>
                <a:cs typeface="Arial" panose="020B0604020202020204" pitchFamily="34" charset="0"/>
              </a:rPr>
              <a:t>no side-effect</a:t>
            </a:r>
            <a:r>
              <a:rPr lang="en-US" altLang="zh-TW" sz="1800" dirty="0">
                <a:solidFill>
                  <a:prstClr val="black"/>
                </a:solidFill>
                <a:latin typeface="Arial" panose="020B0604020202020204" pitchFamily="34" charset="0"/>
                <a:ea typeface="Verdana" panose="020B0604030504040204" pitchFamily="34" charset="0"/>
                <a:cs typeface="Arial" panose="020B0604020202020204" pitchFamily="34" charset="0"/>
              </a:rPr>
              <a:t>: a map or a reduce can simply re-execute the computation to recover from failures </a:t>
            </a:r>
            <a:endParaRPr lang="en-US" altLang="zh-TW" sz="1800" dirty="0">
              <a:solidFill>
                <a:prstClr val="black"/>
              </a:solidFill>
              <a:latin typeface="Arial" panose="020B0604020202020204" pitchFamily="34" charset="0"/>
              <a:ea typeface="Verdana" panose="020B0604030504040204" pitchFamily="34" charset="0"/>
              <a:cs typeface="Arial" panose="020B0604020202020204" pitchFamily="34" charset="0"/>
            </a:endParaRPr>
          </a:p>
          <a:p>
            <a:pPr marL="417195" lvl="1" indent="-342900">
              <a:buAutoNum type="arabicPeriod"/>
            </a:pPr>
            <a:r>
              <a:rPr lang="en-US" altLang="zh-TW" dirty="0">
                <a:solidFill>
                  <a:prstClr val="black"/>
                </a:solidFill>
                <a:latin typeface="Arial" panose="020B0604020202020204" pitchFamily="34" charset="0"/>
                <a:ea typeface="Verdana" panose="020B0604030504040204" pitchFamily="34" charset="0"/>
                <a:cs typeface="Arial" panose="020B0604020202020204" pitchFamily="34" charset="0"/>
              </a:rPr>
              <a:t>Builds on </a:t>
            </a:r>
            <a:r>
              <a:rPr lang="en-US" altLang="zh-TW" b="1" dirty="0">
                <a:solidFill>
                  <a:srgbClr val="C00000"/>
                </a:solidFill>
                <a:latin typeface="Arial" panose="020B0604020202020204" pitchFamily="34" charset="0"/>
                <a:ea typeface="Verdana" panose="020B0604030504040204" pitchFamily="34" charset="0"/>
                <a:cs typeface="Arial" panose="020B0604020202020204" pitchFamily="34" charset="0"/>
              </a:rPr>
              <a:t>a reliable service </a:t>
            </a:r>
            <a:r>
              <a:rPr lang="en-US" altLang="zh-TW" dirty="0">
                <a:solidFill>
                  <a:prstClr val="black"/>
                </a:solidFill>
                <a:latin typeface="Arial" panose="020B0604020202020204" pitchFamily="34" charset="0"/>
                <a:ea typeface="Verdana" panose="020B0604030504040204" pitchFamily="34" charset="0"/>
                <a:cs typeface="Arial" panose="020B0604020202020204" pitchFamily="34" charset="0"/>
              </a:rPr>
              <a:t>(i.e., GFS) </a:t>
            </a:r>
            <a:r>
              <a:rPr lang="en-US" altLang="zh-TW" b="0" dirty="0">
                <a:solidFill>
                  <a:prstClr val="black"/>
                </a:solidFill>
                <a:latin typeface="Arial" panose="020B0604020202020204" pitchFamily="34" charset="0"/>
                <a:ea typeface="Verdana" panose="020B0604030504040204" pitchFamily="34" charset="0"/>
                <a:cs typeface="Arial" panose="020B0604020202020204" pitchFamily="34" charset="0"/>
              </a:rPr>
              <a:t>  </a:t>
            </a:r>
            <a:endParaRPr lang="en-US" altLang="zh-TW" b="0" dirty="0">
              <a:solidFill>
                <a:prstClr val="black"/>
              </a:solidFill>
              <a:latin typeface="Arial" panose="020B0604020202020204" pitchFamily="34" charset="0"/>
              <a:ea typeface="Verdana" panose="020B0604030504040204" pitchFamily="34" charset="0"/>
              <a:cs typeface="Arial" panose="020B0604020202020204" pitchFamily="34" charset="0"/>
            </a:endParaRPr>
          </a:p>
          <a:p>
            <a:pPr lvl="1"/>
            <a:endParaRPr kumimoji="1" lang="en-US" altLang="zh-CN" dirty="0">
              <a:solidFill>
                <a:srgbClr val="C00000"/>
              </a:solidFill>
            </a:endParaRPr>
          </a:p>
          <a:p>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Fault tolerance of MapReduce</a:t>
            </a:r>
            <a:endParaRPr kumimoji="1" lang="zh-CN" altLang="en-US" dirty="0"/>
          </a:p>
        </p:txBody>
      </p:sp>
      <p:sp>
        <p:nvSpPr>
          <p:cNvPr id="3" name="内容占位符 2"/>
          <p:cNvSpPr>
            <a:spLocks noGrp="1"/>
          </p:cNvSpPr>
          <p:nvPr>
            <p:ph idx="1"/>
          </p:nvPr>
        </p:nvSpPr>
        <p:spPr>
          <a:xfrm>
            <a:off x="457200" y="1129308"/>
            <a:ext cx="8229600" cy="4356826"/>
          </a:xfrm>
        </p:spPr>
        <p:txBody>
          <a:bodyPr>
            <a:normAutofit/>
          </a:bodyPr>
          <a:lstStyle/>
          <a:p>
            <a:r>
              <a:rPr kumimoji="1" lang="en-US" altLang="zh-CN" dirty="0">
                <a:solidFill>
                  <a:srgbClr val="C00000"/>
                </a:solidFill>
              </a:rPr>
              <a:t>Worker</a:t>
            </a:r>
            <a:r>
              <a:rPr kumimoji="1" lang="zh-CN" altLang="en-US" dirty="0">
                <a:solidFill>
                  <a:srgbClr val="C00000"/>
                </a:solidFill>
              </a:rPr>
              <a:t> </a:t>
            </a:r>
            <a:r>
              <a:rPr kumimoji="1" lang="en-US" altLang="zh-CN" dirty="0">
                <a:solidFill>
                  <a:srgbClr val="C00000"/>
                </a:solidFill>
              </a:rPr>
              <a:t>failure</a:t>
            </a:r>
            <a:endParaRPr kumimoji="1" lang="en-US" altLang="zh-CN" b="0" dirty="0"/>
          </a:p>
          <a:p>
            <a:pPr lvl="1">
              <a:lnSpc>
                <a:spcPct val="130000"/>
              </a:lnSpc>
            </a:pPr>
            <a:r>
              <a:rPr kumimoji="1" lang="en-US" altLang="zh-CN" dirty="0"/>
              <a:t>Detection </a:t>
            </a:r>
            <a:endParaRPr kumimoji="1" lang="en-US" altLang="zh-CN" dirty="0"/>
          </a:p>
          <a:p>
            <a:pPr lvl="2">
              <a:lnSpc>
                <a:spcPct val="130000"/>
              </a:lnSpc>
            </a:pPr>
            <a:r>
              <a:rPr kumimoji="1" lang="en-US" altLang="zh-CN" sz="1800" dirty="0"/>
              <a:t>Master pings each worker periodically via heartbeat</a:t>
            </a:r>
            <a:endParaRPr kumimoji="1" lang="en-US" altLang="zh-CN" sz="1800" dirty="0"/>
          </a:p>
          <a:p>
            <a:pPr lvl="2"/>
            <a:r>
              <a:rPr kumimoji="1" lang="en-US" altLang="zh-CN" sz="1800" dirty="0"/>
              <a:t>If no response is received within a certain time (</a:t>
            </a:r>
            <a:r>
              <a:rPr kumimoji="1" lang="en-US" altLang="zh-CN" sz="1800" b="1" dirty="0">
                <a:solidFill>
                  <a:srgbClr val="C00000"/>
                </a:solidFill>
              </a:rPr>
              <a:t>timeout</a:t>
            </a:r>
            <a:r>
              <a:rPr kumimoji="1" lang="en-US" altLang="zh-CN" sz="1800" dirty="0"/>
              <a:t>), the worker is marked as failed</a:t>
            </a:r>
            <a:endParaRPr kumimoji="1" lang="en-US" altLang="zh-CN" sz="1800" dirty="0"/>
          </a:p>
          <a:p>
            <a:pPr lvl="1"/>
            <a:r>
              <a:rPr kumimoji="1" lang="en-US" altLang="zh-CN" sz="1600" dirty="0"/>
              <a:t>Recovery </a:t>
            </a:r>
            <a:endParaRPr kumimoji="1" lang="en-US" altLang="zh-CN" sz="1600" dirty="0"/>
          </a:p>
          <a:p>
            <a:pPr lvl="2"/>
            <a:r>
              <a:rPr kumimoji="1" lang="en-US" altLang="zh-CN" sz="1800" dirty="0"/>
              <a:t>Map or reduce tasks given to this worker are reset back to the initial state and rescheduled for other worker (</a:t>
            </a:r>
            <a:r>
              <a:rPr kumimoji="1" lang="en-US" altLang="zh-CN" sz="1800" b="1" dirty="0">
                <a:solidFill>
                  <a:srgbClr val="C00000"/>
                </a:solidFill>
              </a:rPr>
              <a:t>re-execution</a:t>
            </a:r>
            <a:r>
              <a:rPr kumimoji="1" lang="en-US" altLang="zh-CN" sz="1800" dirty="0"/>
              <a:t>)</a:t>
            </a:r>
            <a:endParaRPr kumimoji="1" lang="en-US" altLang="zh-CN" sz="1800" dirty="0"/>
          </a:p>
          <a:p>
            <a:pPr lvl="1"/>
            <a:r>
              <a:rPr kumimoji="1" lang="en-US" altLang="zh-CN" dirty="0"/>
              <a:t>Robust: lost 1,600 of 1,800 machines once, but finished fine </a:t>
            </a:r>
            <a:endParaRPr kumimoji="1" lang="en-US" altLang="zh-CN" dirty="0"/>
          </a:p>
          <a:p>
            <a:pPr lvl="1"/>
            <a:endParaRPr kumimoji="1" lang="en-US" altLang="zh-CN" dirty="0"/>
          </a:p>
          <a:p>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Fault tolerance of MapReduce</a:t>
            </a:r>
            <a:endParaRPr kumimoji="1" lang="zh-CN" altLang="en-US" dirty="0"/>
          </a:p>
        </p:txBody>
      </p:sp>
      <p:sp>
        <p:nvSpPr>
          <p:cNvPr id="3" name="内容占位符 2"/>
          <p:cNvSpPr>
            <a:spLocks noGrp="1"/>
          </p:cNvSpPr>
          <p:nvPr>
            <p:ph idx="1"/>
          </p:nvPr>
        </p:nvSpPr>
        <p:spPr>
          <a:xfrm>
            <a:off x="457200" y="1129308"/>
            <a:ext cx="8229600" cy="4356826"/>
          </a:xfrm>
        </p:spPr>
        <p:txBody>
          <a:bodyPr>
            <a:normAutofit/>
          </a:bodyPr>
          <a:lstStyle/>
          <a:p>
            <a:r>
              <a:rPr kumimoji="1" lang="en-US" altLang="zh-CN" dirty="0">
                <a:solidFill>
                  <a:srgbClr val="C00000"/>
                </a:solidFill>
              </a:rPr>
              <a:t>Master failure</a:t>
            </a:r>
            <a:endParaRPr kumimoji="1" lang="en-US" altLang="zh-CN" dirty="0">
              <a:solidFill>
                <a:srgbClr val="C00000"/>
              </a:solidFill>
            </a:endParaRPr>
          </a:p>
          <a:p>
            <a:pPr lvl="1"/>
            <a:r>
              <a:rPr lang="en-US" altLang="zh-CN" dirty="0">
                <a:solidFill>
                  <a:prstClr val="black"/>
                </a:solidFill>
                <a:ea typeface="Verdana" panose="020B0604030504040204" pitchFamily="34" charset="0"/>
                <a:cs typeface="Verdana" panose="020B0604030504040204" pitchFamily="34" charset="0"/>
              </a:rPr>
              <a:t>Master’s</a:t>
            </a:r>
            <a:r>
              <a:rPr lang="zh-CN" altLang="en-US" dirty="0">
                <a:solidFill>
                  <a:prstClr val="black"/>
                </a:solidFill>
                <a:ea typeface="Verdana" panose="020B0604030504040204" pitchFamily="34" charset="0"/>
                <a:cs typeface="Verdana" panose="020B0604030504040204" pitchFamily="34" charset="0"/>
              </a:rPr>
              <a:t> </a:t>
            </a:r>
            <a:r>
              <a:rPr lang="en-US" altLang="zh-CN" dirty="0">
                <a:solidFill>
                  <a:prstClr val="black"/>
                </a:solidFill>
                <a:ea typeface="Verdana" panose="020B0604030504040204" pitchFamily="34" charset="0"/>
                <a:cs typeface="Verdana" panose="020B0604030504040204" pitchFamily="34" charset="0"/>
              </a:rPr>
              <a:t>s</a:t>
            </a:r>
            <a:r>
              <a:rPr lang="en-US" altLang="zh-TW" dirty="0">
                <a:solidFill>
                  <a:prstClr val="black"/>
                </a:solidFill>
                <a:ea typeface="Verdana" panose="020B0604030504040204" pitchFamily="34" charset="0"/>
                <a:cs typeface="Verdana" panose="020B0604030504040204" pitchFamily="34" charset="0"/>
              </a:rPr>
              <a:t>tate is persisted to </a:t>
            </a:r>
            <a:r>
              <a:rPr lang="en-US" altLang="zh-TW" b="1" dirty="0">
                <a:solidFill>
                  <a:srgbClr val="C00000"/>
                </a:solidFill>
                <a:ea typeface="Verdana" panose="020B0604030504040204" pitchFamily="34" charset="0"/>
                <a:cs typeface="Verdana" panose="020B0604030504040204" pitchFamily="34" charset="0"/>
              </a:rPr>
              <a:t>GFS</a:t>
            </a:r>
            <a:endParaRPr lang="en-US" altLang="zh-TW" b="1" dirty="0">
              <a:solidFill>
                <a:srgbClr val="C00000"/>
              </a:solidFill>
              <a:ea typeface="Verdana" panose="020B0604030504040204" pitchFamily="34" charset="0"/>
              <a:cs typeface="Verdana" panose="020B0604030504040204" pitchFamily="34" charset="0"/>
            </a:endParaRPr>
          </a:p>
          <a:p>
            <a:pPr lvl="1"/>
            <a:r>
              <a:rPr lang="en-US" altLang="zh-TW" dirty="0">
                <a:solidFill>
                  <a:prstClr val="black"/>
                </a:solidFill>
                <a:ea typeface="Verdana" panose="020B0604030504040204" pitchFamily="34" charset="0"/>
                <a:cs typeface="Verdana" panose="020B0604030504040204" pitchFamily="34" charset="0"/>
              </a:rPr>
              <a:t>Recover master from GFS and continue</a:t>
            </a:r>
            <a:endParaRPr lang="en-US" altLang="zh-TW" dirty="0">
              <a:solidFill>
                <a:prstClr val="black"/>
              </a:solidFill>
              <a:ea typeface="Verdana" panose="020B0604030504040204" pitchFamily="34" charset="0"/>
              <a:cs typeface="Verdana" panose="020B0604030504040204" pitchFamily="34" charset="0"/>
            </a:endParaRPr>
          </a:p>
          <a:p>
            <a:r>
              <a:rPr kumimoji="1" lang="en-US" altLang="zh-CN" dirty="0"/>
              <a:t>The state includes: </a:t>
            </a:r>
            <a:endParaRPr kumimoji="1" lang="en-US" altLang="zh-CN" dirty="0"/>
          </a:p>
          <a:p>
            <a:pPr lvl="1"/>
            <a:r>
              <a:rPr kumimoji="1" lang="en-US" altLang="zh-CN" dirty="0"/>
              <a:t>For each mapper &amp; reduce: executing </a:t>
            </a:r>
            <a:r>
              <a:rPr kumimoji="1" lang="en-US" altLang="zh-CN" b="1" dirty="0">
                <a:solidFill>
                  <a:srgbClr val="C00000"/>
                </a:solidFill>
              </a:rPr>
              <a:t>state</a:t>
            </a:r>
            <a:r>
              <a:rPr kumimoji="1" lang="en-US" altLang="zh-CN" dirty="0"/>
              <a:t>: idle, in-progress or completed </a:t>
            </a:r>
            <a:endParaRPr kumimoji="1" lang="en-US" altLang="zh-CN" dirty="0"/>
          </a:p>
          <a:p>
            <a:pPr lvl="1"/>
            <a:r>
              <a:rPr kumimoji="1" lang="en-US" altLang="zh-CN" dirty="0"/>
              <a:t>Locations of intermediate files </a:t>
            </a:r>
            <a:endParaRPr kumimoji="1" lang="en-US" altLang="zh-CN" dirty="0"/>
          </a:p>
          <a:p>
            <a:r>
              <a:rPr kumimoji="1" lang="en-US" altLang="zh-CN" dirty="0"/>
              <a:t>The state is checkpointed to GFS in a periodically manner </a:t>
            </a:r>
            <a:endParaRPr kumimoji="1" lang="en-US" altLang="zh-CN" dirty="0"/>
          </a:p>
          <a:p>
            <a:pPr lvl="1"/>
            <a:r>
              <a:rPr kumimoji="1" lang="en-US" altLang="zh-CN" dirty="0"/>
              <a:t>i.e., no need to redo all the computation </a:t>
            </a:r>
            <a:endParaRPr kumimoji="1" lang="en-US" altLang="zh-CN" dirty="0"/>
          </a:p>
          <a:p>
            <a:r>
              <a:rPr kumimoji="1" lang="en-US" altLang="zh-CN" dirty="0"/>
              <a:t>Note that master is unlikely to fail, since there is only one!</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Fault</a:t>
            </a:r>
            <a:r>
              <a:rPr kumimoji="1" lang="zh-CN" altLang="en-US" dirty="0"/>
              <a:t> </a:t>
            </a:r>
            <a:r>
              <a:rPr kumimoji="1" lang="en-US" altLang="zh-CN" dirty="0"/>
              <a:t>tolerance</a:t>
            </a:r>
            <a:r>
              <a:rPr kumimoji="1" lang="zh-CN" altLang="en-US" dirty="0"/>
              <a:t> </a:t>
            </a:r>
            <a:r>
              <a:rPr kumimoji="1" lang="en-US" altLang="zh-CN" dirty="0"/>
              <a:t>of</a:t>
            </a:r>
            <a:r>
              <a:rPr kumimoji="1" lang="zh-CN" altLang="en-US" dirty="0"/>
              <a:t> </a:t>
            </a:r>
            <a:r>
              <a:rPr kumimoji="1" lang="en-US" altLang="zh-CN" dirty="0"/>
              <a:t>MapReduce</a:t>
            </a:r>
            <a:endParaRPr kumimoji="1" lang="zh-CN" altLang="en-US" dirty="0"/>
          </a:p>
        </p:txBody>
      </p:sp>
      <p:sp>
        <p:nvSpPr>
          <p:cNvPr id="3" name="内容占位符 2"/>
          <p:cNvSpPr>
            <a:spLocks noGrp="1"/>
          </p:cNvSpPr>
          <p:nvPr>
            <p:ph idx="1"/>
          </p:nvPr>
        </p:nvSpPr>
        <p:spPr/>
        <p:txBody>
          <a:bodyPr>
            <a:noAutofit/>
          </a:bodyPr>
          <a:lstStyle/>
          <a:p>
            <a:r>
              <a:rPr kumimoji="1" lang="en-US" altLang="zh-CN" sz="2000" dirty="0">
                <a:solidFill>
                  <a:srgbClr val="C00000"/>
                </a:solidFill>
              </a:rPr>
              <a:t>Problem: bad records </a:t>
            </a:r>
            <a:endParaRPr kumimoji="1" lang="en-US" altLang="zh-CN" sz="2000" dirty="0"/>
          </a:p>
          <a:p>
            <a:pPr lvl="1"/>
            <a:r>
              <a:rPr kumimoji="1" lang="en-US" altLang="zh-CN" dirty="0"/>
              <a:t>Map/Reduce functions sometimes fail for some inputs</a:t>
            </a:r>
            <a:endParaRPr kumimoji="1" lang="en-US" altLang="zh-CN" dirty="0"/>
          </a:p>
          <a:p>
            <a:pPr lvl="1"/>
            <a:r>
              <a:rPr kumimoji="1" lang="en-US" altLang="zh-CN" sz="1800" dirty="0"/>
              <a:t>Best solution is to debug &amp; fix, but not always possible</a:t>
            </a:r>
            <a:endParaRPr kumimoji="1" lang="en-US" altLang="zh-CN" sz="1800" dirty="0"/>
          </a:p>
          <a:p>
            <a:pPr lvl="2"/>
            <a:r>
              <a:rPr kumimoji="1" lang="en-US" altLang="zh-CN" sz="1800" dirty="0"/>
              <a:t>E.g., Bugs in the third-party library </a:t>
            </a:r>
            <a:endParaRPr kumimoji="1" lang="en-US" altLang="zh-CN" sz="1800" dirty="0"/>
          </a:p>
          <a:p>
            <a:r>
              <a:rPr kumimoji="1" lang="en-US" altLang="zh-CN" dirty="0"/>
              <a:t>MapReduce simply skips them </a:t>
            </a:r>
            <a:endParaRPr kumimoji="1" lang="en-US" altLang="zh-CN" dirty="0"/>
          </a:p>
          <a:p>
            <a:pPr lvl="1"/>
            <a:r>
              <a:rPr kumimoji="1" lang="en-US" altLang="zh-CN" sz="1800" dirty="0"/>
              <a:t>On segmentation fault:</a:t>
            </a:r>
            <a:endParaRPr kumimoji="1" lang="en-US" altLang="zh-CN" sz="1800" dirty="0"/>
          </a:p>
          <a:p>
            <a:pPr lvl="2"/>
            <a:r>
              <a:rPr kumimoji="1" lang="en-US" altLang="zh-CN" sz="1600" dirty="0"/>
              <a:t>Send UDP packet to master from signal handler</a:t>
            </a:r>
            <a:endParaRPr kumimoji="1" lang="en-US" altLang="zh-CN" sz="1600" dirty="0"/>
          </a:p>
          <a:p>
            <a:pPr lvl="2"/>
            <a:r>
              <a:rPr kumimoji="1" lang="en-US" altLang="zh-CN" sz="1600" dirty="0"/>
              <a:t>Include sequence number of record being processed</a:t>
            </a:r>
            <a:endParaRPr kumimoji="1" lang="en-US" altLang="zh-CN" sz="1600" dirty="0"/>
          </a:p>
          <a:p>
            <a:pPr lvl="1"/>
            <a:r>
              <a:rPr kumimoji="1" lang="en-US" altLang="zh-CN" sz="1800" dirty="0"/>
              <a:t>If master sees two failures for same record:</a:t>
            </a:r>
            <a:endParaRPr kumimoji="1" lang="en-US" altLang="zh-CN" sz="1800" dirty="0"/>
          </a:p>
          <a:p>
            <a:pPr lvl="2"/>
            <a:r>
              <a:rPr kumimoji="1" lang="en-US" altLang="zh-CN" sz="1600" dirty="0"/>
              <a:t>Next worker is told to </a:t>
            </a:r>
            <a:r>
              <a:rPr kumimoji="1" lang="en-US" altLang="zh-CN" sz="1600" i="1" dirty="0"/>
              <a:t>skip</a:t>
            </a:r>
            <a:r>
              <a:rPr kumimoji="1" lang="en-US" altLang="zh-CN" sz="1600" dirty="0"/>
              <a:t> the record</a:t>
            </a:r>
            <a:endParaRPr kumimoji="1" lang="en-US" altLang="zh-CN"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Optimization for Locality</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a:solidFill>
                  <a:srgbClr val="C00000"/>
                </a:solidFill>
              </a:rPr>
              <a:t>Problem</a:t>
            </a:r>
            <a:r>
              <a:rPr kumimoji="1" lang="en-US" altLang="zh-CN" dirty="0"/>
              <a:t>:</a:t>
            </a:r>
            <a:r>
              <a:rPr kumimoji="1" lang="zh-CN" altLang="en-US" dirty="0"/>
              <a:t> </a:t>
            </a:r>
            <a:r>
              <a:rPr kumimoji="1" lang="en-US" altLang="zh-CN" b="0" dirty="0"/>
              <a:t>the bandwidth of datacenter network (at that time) is scarce </a:t>
            </a:r>
            <a:endParaRPr kumimoji="1" lang="en-US" altLang="zh-CN" b="0" dirty="0"/>
          </a:p>
          <a:p>
            <a:pPr lvl="1"/>
            <a:r>
              <a:rPr kumimoji="1" lang="en-US" altLang="zh-CN" b="0" dirty="0"/>
              <a:t>If a</a:t>
            </a:r>
            <a:r>
              <a:rPr kumimoji="1" lang="zh-CN" altLang="en-US" b="0" dirty="0"/>
              <a:t> </a:t>
            </a:r>
            <a:r>
              <a:rPr kumimoji="1" lang="en-US" altLang="zh-CN" b="0" dirty="0"/>
              <a:t>Map worker reads all the data from the network, it would be slow</a:t>
            </a:r>
            <a:endParaRPr kumimoji="1" lang="en-US" altLang="zh-CN" b="0" dirty="0"/>
          </a:p>
          <a:p>
            <a:r>
              <a:rPr kumimoji="1" lang="en-US" altLang="zh-CN" dirty="0">
                <a:solidFill>
                  <a:srgbClr val="C00000"/>
                </a:solidFill>
              </a:rPr>
              <a:t>Google</a:t>
            </a:r>
            <a:r>
              <a:rPr kumimoji="1" lang="en-US" altLang="zh-CN" b="0" dirty="0"/>
              <a:t>:</a:t>
            </a:r>
            <a:r>
              <a:rPr kumimoji="1" lang="zh-CN" altLang="en-US" b="0" dirty="0"/>
              <a:t> </a:t>
            </a:r>
            <a:r>
              <a:rPr kumimoji="1" lang="en-US" altLang="zh-CN" b="0" dirty="0"/>
              <a:t>Input and Output files are stored</a:t>
            </a:r>
            <a:r>
              <a:rPr kumimoji="1" lang="zh-CN" altLang="en-US" b="0" dirty="0"/>
              <a:t> </a:t>
            </a:r>
            <a:r>
              <a:rPr kumimoji="1" lang="en-US" altLang="zh-CN" b="0" dirty="0"/>
              <a:t>on GFS </a:t>
            </a:r>
            <a:endParaRPr kumimoji="1" lang="en-US" altLang="zh-CN" b="0" dirty="0"/>
          </a:p>
          <a:p>
            <a:pPr lvl="1"/>
            <a:r>
              <a:rPr kumimoji="1" lang="en-US" altLang="zh-CN" dirty="0"/>
              <a:t>Google File System (SOSP’03), see previous lectures</a:t>
            </a:r>
            <a:endParaRPr kumimoji="1" lang="en-US" altLang="zh-CN" dirty="0"/>
          </a:p>
          <a:p>
            <a:pPr lvl="1"/>
            <a:r>
              <a:rPr kumimoji="1" lang="en-US" altLang="zh-CN" dirty="0"/>
              <a:t>Each chunk is replicated on multiple servers (3)</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21" name="图片 20"/>
          <p:cNvPicPr>
            <a:picLocks noChangeAspect="1"/>
          </p:cNvPicPr>
          <p:nvPr/>
        </p:nvPicPr>
        <p:blipFill>
          <a:blip r:embed="rId1"/>
          <a:stretch>
            <a:fillRect/>
          </a:stretch>
        </p:blipFill>
        <p:spPr>
          <a:xfrm>
            <a:off x="2699792" y="3400241"/>
            <a:ext cx="4470896" cy="2085893"/>
          </a:xfrm>
          <a:prstGeom prst="rect">
            <a:avLst/>
          </a:prstGeom>
        </p:spPr>
      </p:pic>
      <p:sp>
        <p:nvSpPr>
          <p:cNvPr id="22" name="矩形 21"/>
          <p:cNvSpPr/>
          <p:nvPr/>
        </p:nvSpPr>
        <p:spPr>
          <a:xfrm>
            <a:off x="2023556" y="3937000"/>
            <a:ext cx="1565388" cy="553998"/>
          </a:xfrm>
          <a:prstGeom prst="rect">
            <a:avLst/>
          </a:prstGeom>
        </p:spPr>
        <p:txBody>
          <a:bodyPr wrap="square">
            <a:spAutoFit/>
          </a:bodyPr>
          <a:lstStyle/>
          <a:p>
            <a:r>
              <a:rPr kumimoji="1" lang="en-US" altLang="zh-CN" sz="1500" dirty="0"/>
              <a:t>A</a:t>
            </a:r>
            <a:r>
              <a:rPr kumimoji="1" lang="zh-CN" altLang="en-US" sz="1500" dirty="0"/>
              <a:t> </a:t>
            </a:r>
            <a:r>
              <a:rPr kumimoji="1" lang="en-US" altLang="zh-CN" sz="1500" dirty="0"/>
              <a:t>review of GFS architecture </a:t>
            </a:r>
            <a:endParaRPr lang="zh-CN" alt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Optimization for Locality</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a:solidFill>
                  <a:srgbClr val="C00000"/>
                </a:solidFill>
              </a:rPr>
              <a:t>Problem</a:t>
            </a:r>
            <a:r>
              <a:rPr kumimoji="1" lang="en-US" altLang="zh-CN" dirty="0"/>
              <a:t>:</a:t>
            </a:r>
            <a:r>
              <a:rPr kumimoji="1" lang="zh-CN" altLang="en-US" dirty="0"/>
              <a:t> </a:t>
            </a:r>
            <a:r>
              <a:rPr kumimoji="1" lang="en-US" altLang="zh-CN" b="0" dirty="0"/>
              <a:t>the bandwidth of datacenter network (at that time) is scarce </a:t>
            </a:r>
            <a:endParaRPr kumimoji="1" lang="en-US" altLang="zh-CN" b="0" dirty="0"/>
          </a:p>
          <a:p>
            <a:pPr lvl="1"/>
            <a:r>
              <a:rPr kumimoji="1" lang="en-US" altLang="zh-CN" dirty="0"/>
              <a:t>If Map worker reads all the data from the network, it would be slow</a:t>
            </a:r>
            <a:endParaRPr kumimoji="1" lang="en-US" altLang="zh-CN" dirty="0"/>
          </a:p>
          <a:p>
            <a:r>
              <a:rPr kumimoji="1" lang="en-US" altLang="zh-CN" dirty="0">
                <a:solidFill>
                  <a:srgbClr val="C00000"/>
                </a:solidFill>
              </a:rPr>
              <a:t>Google</a:t>
            </a:r>
            <a:r>
              <a:rPr kumimoji="1" lang="en-US" altLang="zh-CN" b="0" dirty="0"/>
              <a:t>:</a:t>
            </a:r>
            <a:r>
              <a:rPr kumimoji="1" lang="zh-CN" altLang="en-US" b="0" dirty="0"/>
              <a:t> </a:t>
            </a:r>
            <a:r>
              <a:rPr kumimoji="1" lang="en-US" altLang="zh-CN" b="0" dirty="0"/>
              <a:t>Input and Output files are stored</a:t>
            </a:r>
            <a:r>
              <a:rPr kumimoji="1" lang="zh-CN" altLang="en-US" b="0" dirty="0"/>
              <a:t> </a:t>
            </a:r>
            <a:r>
              <a:rPr kumimoji="1" lang="en-US" altLang="zh-CN" b="0" dirty="0"/>
              <a:t>on GFS </a:t>
            </a:r>
            <a:endParaRPr kumimoji="1" lang="en-US" altLang="zh-CN" b="0" dirty="0"/>
          </a:p>
          <a:p>
            <a:pPr lvl="1"/>
            <a:r>
              <a:rPr kumimoji="1" lang="en-US" altLang="zh-CN" dirty="0"/>
              <a:t>Google File System (SOSP’03), see previous lectures</a:t>
            </a:r>
            <a:endParaRPr kumimoji="1" lang="en-US" altLang="zh-CN" dirty="0"/>
          </a:p>
          <a:p>
            <a:pPr lvl="1"/>
            <a:r>
              <a:rPr kumimoji="1" lang="en-US" altLang="zh-CN" dirty="0"/>
              <a:t>Each chunk is replicated on multiple servers (3)</a:t>
            </a:r>
            <a:endParaRPr kumimoji="1" lang="en-US" altLang="zh-CN" dirty="0"/>
          </a:p>
          <a:p>
            <a:r>
              <a:rPr kumimoji="1" lang="en-US" altLang="zh-CN" b="0" dirty="0"/>
              <a:t>MapReduce runs on </a:t>
            </a:r>
            <a:r>
              <a:rPr kumimoji="1" lang="en-US" altLang="zh-CN" dirty="0">
                <a:solidFill>
                  <a:srgbClr val="C00000"/>
                </a:solidFill>
              </a:rPr>
              <a:t>GFS </a:t>
            </a:r>
            <a:r>
              <a:rPr kumimoji="1" lang="en-US" altLang="zh-CN" dirty="0" err="1">
                <a:solidFill>
                  <a:srgbClr val="C00000"/>
                </a:solidFill>
              </a:rPr>
              <a:t>chunkservers</a:t>
            </a:r>
            <a:endParaRPr kumimoji="1" lang="en-US" altLang="zh-CN" dirty="0">
              <a:solidFill>
                <a:srgbClr val="C00000"/>
              </a:solidFill>
            </a:endParaRPr>
          </a:p>
          <a:p>
            <a:pPr lvl="1"/>
            <a:r>
              <a:rPr kumimoji="1" lang="en-US" altLang="zh-CN" dirty="0"/>
              <a:t>Collocate computation and storage</a:t>
            </a:r>
            <a:endParaRPr kumimoji="1" lang="en-US" altLang="zh-CN" dirty="0"/>
          </a:p>
          <a:p>
            <a:r>
              <a:rPr kumimoji="1" lang="en-US" altLang="zh-CN" dirty="0">
                <a:solidFill>
                  <a:srgbClr val="C00000"/>
                </a:solidFill>
              </a:rPr>
              <a:t>Master</a:t>
            </a:r>
            <a:r>
              <a:rPr kumimoji="1" lang="en-US" altLang="zh-CN" b="0" dirty="0"/>
              <a:t> tries to </a:t>
            </a:r>
            <a:r>
              <a:rPr kumimoji="1" lang="en-US" altLang="zh-CN" dirty="0">
                <a:solidFill>
                  <a:srgbClr val="C00000"/>
                </a:solidFill>
              </a:rPr>
              <a:t>schedule</a:t>
            </a:r>
            <a:r>
              <a:rPr kumimoji="1" lang="en-US" altLang="zh-CN" b="0" dirty="0"/>
              <a:t> map workers on one of the nodes that has a copy of the input chunk it needs</a:t>
            </a:r>
            <a:endParaRPr kumimoji="1" lang="en-US" altLang="zh-CN"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Refinement:</a:t>
            </a:r>
            <a:r>
              <a:rPr kumimoji="1" lang="zh-CN" altLang="en-US" dirty="0"/>
              <a:t> </a:t>
            </a:r>
            <a:r>
              <a:rPr kumimoji="1" lang="en-US" altLang="zh-CN" dirty="0"/>
              <a:t>redundant</a:t>
            </a:r>
            <a:r>
              <a:rPr kumimoji="1" lang="zh-CN" altLang="en-US" dirty="0"/>
              <a:t> </a:t>
            </a:r>
            <a:r>
              <a:rPr kumimoji="1" lang="en-US" altLang="zh-CN" dirty="0"/>
              <a:t>execution</a:t>
            </a:r>
            <a:endParaRPr kumimoji="1" lang="zh-CN" altLang="en-US" dirty="0"/>
          </a:p>
        </p:txBody>
      </p:sp>
      <p:sp>
        <p:nvSpPr>
          <p:cNvPr id="3" name="内容占位符 2"/>
          <p:cNvSpPr>
            <a:spLocks noGrp="1"/>
          </p:cNvSpPr>
          <p:nvPr>
            <p:ph idx="1"/>
          </p:nvPr>
        </p:nvSpPr>
        <p:spPr/>
        <p:txBody>
          <a:bodyPr>
            <a:normAutofit/>
          </a:bodyPr>
          <a:lstStyle/>
          <a:p>
            <a:r>
              <a:rPr kumimoji="1" lang="en-US" altLang="zh-CN" b="0" dirty="0"/>
              <a:t>Some workers can be slower than others,</a:t>
            </a:r>
            <a:r>
              <a:rPr kumimoji="1" lang="zh-CN" altLang="en-US" b="0" dirty="0"/>
              <a:t> </a:t>
            </a:r>
            <a:r>
              <a:rPr kumimoji="1" lang="en-US" altLang="zh-CN" b="0" dirty="0"/>
              <a:t>aka,</a:t>
            </a:r>
            <a:r>
              <a:rPr kumimoji="1" lang="zh-CN" altLang="en-US" b="0" dirty="0"/>
              <a:t> </a:t>
            </a:r>
            <a:r>
              <a:rPr kumimoji="1" lang="en-US" altLang="zh-CN" b="0" i="1" dirty="0"/>
              <a:t>stragglers</a:t>
            </a:r>
            <a:endParaRPr kumimoji="1" lang="en-US" altLang="zh-CN" b="0" i="1" dirty="0"/>
          </a:p>
          <a:p>
            <a:pPr lvl="1"/>
            <a:r>
              <a:rPr kumimoji="1" lang="en-US" altLang="zh-CN" dirty="0"/>
              <a:t>Other jobs consuming resources on machine</a:t>
            </a:r>
            <a:endParaRPr kumimoji="1" lang="en-US" altLang="zh-CN" dirty="0"/>
          </a:p>
          <a:p>
            <a:pPr lvl="1"/>
            <a:r>
              <a:rPr kumimoji="1" lang="en-US" altLang="zh-CN" dirty="0"/>
              <a:t>Bad disks with soft errors transfer data slowly</a:t>
            </a:r>
            <a:endParaRPr kumimoji="1" lang="en-US" altLang="zh-CN" dirty="0"/>
          </a:p>
          <a:p>
            <a:pPr lvl="1"/>
            <a:r>
              <a:rPr kumimoji="1" lang="en-US" altLang="zh-CN" dirty="0"/>
              <a:t>Weird things: processor caches disabled </a:t>
            </a:r>
            <a:r>
              <a:rPr lang="en-US" altLang="zh-TW" b="1" dirty="0">
                <a:solidFill>
                  <a:srgbClr val="0233BE"/>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altLang="zh-TW" b="1" dirty="0">
              <a:solidFill>
                <a:srgbClr val="0233BE"/>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endParaRPr>
          </a:p>
          <a:p>
            <a:pPr lvl="1"/>
            <a:endParaRPr kumimoji="1" lang="en-US" altLang="zh-CN" dirty="0"/>
          </a:p>
          <a:p>
            <a:r>
              <a:rPr kumimoji="1" lang="en-US" altLang="zh-CN" b="0" dirty="0"/>
              <a:t>Near end of phase, MapReduce spawn </a:t>
            </a:r>
            <a:r>
              <a:rPr kumimoji="1" lang="en-US" altLang="zh-CN" dirty="0">
                <a:solidFill>
                  <a:srgbClr val="C00000"/>
                </a:solidFill>
              </a:rPr>
              <a:t>backup copies of tasks</a:t>
            </a:r>
            <a:endParaRPr kumimoji="1" lang="en-US" altLang="zh-CN" dirty="0">
              <a:solidFill>
                <a:srgbClr val="C00000"/>
              </a:solidFill>
            </a:endParaRPr>
          </a:p>
          <a:p>
            <a:pPr lvl="1"/>
            <a:r>
              <a:rPr kumimoji="1" lang="en-US" altLang="zh-CN" dirty="0"/>
              <a:t>Whichever one finishes </a:t>
            </a:r>
            <a:r>
              <a:rPr kumimoji="1" lang="en-US" altLang="zh-CN" b="1" dirty="0">
                <a:solidFill>
                  <a:srgbClr val="C00000"/>
                </a:solidFill>
              </a:rPr>
              <a:t>first</a:t>
            </a:r>
            <a:r>
              <a:rPr kumimoji="1" lang="en-US" altLang="zh-CN" dirty="0"/>
              <a:t> “wins” </a:t>
            </a:r>
            <a:r>
              <a:rPr lang="en-US" altLang="zh-TW" b="1" dirty="0">
                <a:solidFill>
                  <a:srgbClr val="FF0066"/>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altLang="zh-TW" b="1" dirty="0">
              <a:solidFill>
                <a:srgbClr val="FF0066"/>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endParaRPr>
          </a:p>
          <a:p>
            <a:pPr lvl="1"/>
            <a:r>
              <a:rPr kumimoji="1" lang="en-US" altLang="zh-CN" dirty="0"/>
              <a:t>Dramatically shortens job completion time:</a:t>
            </a:r>
            <a:r>
              <a:rPr kumimoji="1" lang="zh-CN" altLang="en-US" b="0" dirty="0"/>
              <a:t>“</a:t>
            </a:r>
            <a:r>
              <a:rPr kumimoji="1" lang="en-GB" altLang="zh-CN" i="1" u="sng" dirty="0"/>
              <a:t>significantly reduces the time to complete large MapReduce operations </a:t>
            </a:r>
            <a:r>
              <a:rPr kumimoji="1" lang="zh-CN" altLang="en-US" b="0" dirty="0"/>
              <a:t>”</a:t>
            </a:r>
            <a:r>
              <a:rPr kumimoji="1" lang="en-US" altLang="zh-CN" b="0" dirty="0"/>
              <a:t>(check the paper)</a:t>
            </a:r>
            <a:endParaRPr kumimoji="1" lang="zh-CN" altLang="en-US"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Summary of MapReduce </a:t>
            </a:r>
            <a:endParaRPr kumimoji="1" lang="zh-CN" altLang="en-US" dirty="0"/>
          </a:p>
        </p:txBody>
      </p:sp>
      <p:sp>
        <p:nvSpPr>
          <p:cNvPr id="3" name="内容占位符 2"/>
          <p:cNvSpPr>
            <a:spLocks noGrp="1"/>
          </p:cNvSpPr>
          <p:nvPr>
            <p:ph idx="1"/>
          </p:nvPr>
        </p:nvSpPr>
        <p:spPr>
          <a:xfrm>
            <a:off x="457200" y="1129308"/>
            <a:ext cx="8229600" cy="4167654"/>
          </a:xfrm>
        </p:spPr>
        <p:txBody>
          <a:bodyPr>
            <a:normAutofit/>
          </a:bodyPr>
          <a:lstStyle/>
          <a:p>
            <a:r>
              <a:rPr kumimoji="1" lang="en-US" altLang="zh-CN" b="0" dirty="0"/>
              <a:t>Get a lot of data from </a:t>
            </a:r>
            <a:r>
              <a:rPr kumimoji="1" lang="en-US" altLang="zh-CN" dirty="0">
                <a:solidFill>
                  <a:srgbClr val="C00000"/>
                </a:solidFill>
              </a:rPr>
              <a:t>input</a:t>
            </a:r>
            <a:r>
              <a:rPr kumimoji="1" lang="en-US" altLang="zh-CN" b="0" dirty="0"/>
              <a:t> files</a:t>
            </a:r>
            <a:endParaRPr kumimoji="1" lang="en-US" altLang="zh-CN" b="0" dirty="0"/>
          </a:p>
          <a:p>
            <a:r>
              <a:rPr kumimoji="1" lang="en-US" altLang="zh-CN" dirty="0">
                <a:solidFill>
                  <a:srgbClr val="C00000"/>
                </a:solidFill>
              </a:rPr>
              <a:t>Map</a:t>
            </a:r>
            <a:endParaRPr kumimoji="1" lang="en-US" altLang="zh-CN" dirty="0">
              <a:solidFill>
                <a:srgbClr val="C00000"/>
              </a:solidFill>
            </a:endParaRPr>
          </a:p>
          <a:p>
            <a:pPr lvl="1"/>
            <a:r>
              <a:rPr kumimoji="1" lang="en-US" altLang="zh-CN" dirty="0"/>
              <a:t>Parse &amp; extract items of interest</a:t>
            </a:r>
            <a:endParaRPr kumimoji="1" lang="en-US" altLang="zh-CN" dirty="0"/>
          </a:p>
          <a:p>
            <a:r>
              <a:rPr kumimoji="1" lang="en-US" altLang="zh-CN" dirty="0">
                <a:solidFill>
                  <a:srgbClr val="C00000"/>
                </a:solidFill>
              </a:rPr>
              <a:t>Partition &amp; Sort</a:t>
            </a:r>
            <a:endParaRPr kumimoji="1" lang="en-US" altLang="zh-CN" dirty="0">
              <a:solidFill>
                <a:srgbClr val="C00000"/>
              </a:solidFill>
            </a:endParaRPr>
          </a:p>
          <a:p>
            <a:r>
              <a:rPr kumimoji="1" lang="en-US" altLang="zh-CN" dirty="0">
                <a:solidFill>
                  <a:srgbClr val="C00000"/>
                </a:solidFill>
              </a:rPr>
              <a:t>Reduce</a:t>
            </a:r>
            <a:endParaRPr kumimoji="1" lang="en-US" altLang="zh-CN" dirty="0">
              <a:solidFill>
                <a:srgbClr val="C00000"/>
              </a:solidFill>
            </a:endParaRPr>
          </a:p>
          <a:p>
            <a:pPr lvl="1"/>
            <a:r>
              <a:rPr kumimoji="1" lang="en-US" altLang="zh-CN" dirty="0"/>
              <a:t>Aggregate results</a:t>
            </a:r>
            <a:endParaRPr kumimoji="1" lang="en-US" altLang="zh-CN" dirty="0"/>
          </a:p>
          <a:p>
            <a:r>
              <a:rPr lang="en-US" altLang="zh-CN" b="0" dirty="0">
                <a:solidFill>
                  <a:prstClr val="black"/>
                </a:solidFill>
                <a:ea typeface="Verdana" panose="020B0604030504040204" pitchFamily="34" charset="0"/>
                <a:cs typeface="Verdana" panose="020B0604030504040204" pitchFamily="34" charset="0"/>
              </a:rPr>
              <a:t>Write results to </a:t>
            </a:r>
            <a:r>
              <a:rPr kumimoji="1" lang="en-US" altLang="zh-CN" dirty="0">
                <a:solidFill>
                  <a:srgbClr val="C00000"/>
                </a:solidFill>
              </a:rPr>
              <a:t>output</a:t>
            </a:r>
            <a:r>
              <a:rPr lang="en-US" altLang="zh-CN" b="0" dirty="0">
                <a:solidFill>
                  <a:prstClr val="black"/>
                </a:solidFill>
                <a:ea typeface="Verdana" panose="020B0604030504040204" pitchFamily="34" charset="0"/>
                <a:cs typeface="Verdana" panose="020B0604030504040204" pitchFamily="34" charset="0"/>
              </a:rPr>
              <a:t> files</a:t>
            </a:r>
            <a:endParaRPr lang="en-US" altLang="zh-CN" b="0" dirty="0">
              <a:solidFill>
                <a:prstClr val="black"/>
              </a:solidFill>
              <a:ea typeface="Verdana" panose="020B0604030504040204" pitchFamily="34" charset="0"/>
              <a:cs typeface="Verdana" panose="020B0604030504040204" pitchFamily="34" charset="0"/>
            </a:endParaRPr>
          </a:p>
          <a:p>
            <a:r>
              <a:rPr lang="en-US" altLang="zh-CN" b="0" u="sng" dirty="0">
                <a:solidFill>
                  <a:prstClr val="black"/>
                </a:solidFill>
                <a:ea typeface="Verdana" panose="020B0604030504040204" pitchFamily="34" charset="0"/>
                <a:cs typeface="Verdana" panose="020B0604030504040204" pitchFamily="34" charset="0"/>
              </a:rPr>
              <a:t>All the other issues, scheduling, fault-tolerance, data partitioning, are handled by the framework </a:t>
            </a:r>
            <a:endParaRPr lang="en-US" altLang="zh-CN" b="0" u="sng" dirty="0">
              <a:solidFill>
                <a:prstClr val="black"/>
              </a:solidFill>
              <a:ea typeface="Verdana" panose="020B0604030504040204" pitchFamily="34" charset="0"/>
              <a:cs typeface="Verdana" panose="020B0604030504040204" pitchFamily="34" charset="0"/>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Summary of MapReduce </a:t>
            </a:r>
            <a:endParaRPr kumimoji="1" lang="zh-CN" altLang="en-US" dirty="0"/>
          </a:p>
        </p:txBody>
      </p:sp>
      <p:sp>
        <p:nvSpPr>
          <p:cNvPr id="3" name="内容占位符 2"/>
          <p:cNvSpPr>
            <a:spLocks noGrp="1"/>
          </p:cNvSpPr>
          <p:nvPr>
            <p:ph idx="1"/>
          </p:nvPr>
        </p:nvSpPr>
        <p:spPr>
          <a:xfrm>
            <a:off x="457200" y="1129308"/>
            <a:ext cx="8229600" cy="4167654"/>
          </a:xfrm>
        </p:spPr>
        <p:txBody>
          <a:bodyPr>
            <a:normAutofit/>
          </a:bodyPr>
          <a:lstStyle/>
          <a:p>
            <a:r>
              <a:rPr kumimoji="1" lang="en-US" altLang="zh-CN" b="0" dirty="0"/>
              <a:t>The user does not need to care </a:t>
            </a:r>
            <a:r>
              <a:rPr kumimoji="1" lang="en-US" altLang="zh-CN" b="0" strike="sngStrike" dirty="0"/>
              <a:t>concurrency</a:t>
            </a:r>
            <a:r>
              <a:rPr kumimoji="1" lang="en-US" altLang="zh-CN" b="0" dirty="0"/>
              <a:t>, </a:t>
            </a:r>
            <a:r>
              <a:rPr kumimoji="1" lang="en-US" altLang="zh-CN" b="0" strike="sngStrike" dirty="0"/>
              <a:t>fault-tolerant</a:t>
            </a:r>
            <a:r>
              <a:rPr kumimoji="1" lang="en-US" altLang="zh-CN" b="0" dirty="0"/>
              <a:t>, </a:t>
            </a:r>
            <a:r>
              <a:rPr kumimoji="1" lang="en-US" altLang="zh-CN" b="0" strike="sngStrike" dirty="0"/>
              <a:t>data transfer</a:t>
            </a:r>
            <a:r>
              <a:rPr kumimoji="1" lang="en-US" altLang="zh-CN" b="0" dirty="0"/>
              <a:t>, etc. </a:t>
            </a:r>
            <a:endParaRPr kumimoji="1" lang="en-US" altLang="zh-CN" b="0" dirty="0"/>
          </a:p>
          <a:p>
            <a:r>
              <a:rPr kumimoji="1" lang="en-US" altLang="zh-CN" b="0" dirty="0"/>
              <a:t>Effects: Reduce the user code burden and quality: </a:t>
            </a:r>
            <a:endParaRPr kumimoji="1" lang="en-US" altLang="zh-CN" b="0" dirty="0"/>
          </a:p>
          <a:p>
            <a:pPr lvl="1"/>
            <a:r>
              <a:rPr kumimoji="1" lang="en-US" altLang="zh-CN" dirty="0"/>
              <a:t>Sort:</a:t>
            </a:r>
            <a:r>
              <a:rPr kumimoji="1" lang="zh-CN" altLang="en-US" dirty="0"/>
              <a:t> </a:t>
            </a:r>
            <a:r>
              <a:rPr kumimoji="1" lang="en-US" altLang="zh-CN" dirty="0"/>
              <a:t>only needs 50</a:t>
            </a:r>
            <a:r>
              <a:rPr kumimoji="1" lang="zh-CN" altLang="en-US" dirty="0"/>
              <a:t> </a:t>
            </a:r>
            <a:r>
              <a:rPr kumimoji="1" lang="en-US" altLang="zh-CN" dirty="0"/>
              <a:t>LoC</a:t>
            </a:r>
            <a:endParaRPr kumimoji="1" lang="en-US" altLang="zh-CN" dirty="0"/>
          </a:p>
          <a:p>
            <a:pPr lvl="1"/>
            <a:r>
              <a:rPr kumimoji="1" lang="en-US" altLang="zh-CN" b="0" dirty="0"/>
              <a:t>Indexing:</a:t>
            </a:r>
            <a:r>
              <a:rPr kumimoji="1" lang="zh-CN" altLang="en-US" b="0" dirty="0"/>
              <a:t> </a:t>
            </a:r>
            <a:r>
              <a:rPr kumimoji="1" lang="en-US" altLang="zh-CN" b="0" dirty="0"/>
              <a:t>reduce the code lines from 3800</a:t>
            </a:r>
            <a:r>
              <a:rPr kumimoji="1" lang="zh-CN" altLang="en-US" b="0" dirty="0"/>
              <a:t> </a:t>
            </a:r>
            <a:r>
              <a:rPr kumimoji="1" lang="en-US" altLang="zh-CN" b="0" dirty="0"/>
              <a:t>L</a:t>
            </a:r>
            <a:r>
              <a:rPr kumimoji="1" lang="en-US" altLang="zh-CN" dirty="0"/>
              <a:t>oC to 700LoC</a:t>
            </a:r>
            <a:r>
              <a:rPr kumimoji="1" lang="zh-CN" altLang="en-US" dirty="0"/>
              <a:t> </a:t>
            </a:r>
            <a:endParaRPr kumimoji="1" lang="zh-CN" altLang="en-US"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Summary of MapReduce  </a:t>
            </a:r>
            <a:endParaRPr kumimoji="1" lang="zh-CN" altLang="en-US" dirty="0"/>
          </a:p>
        </p:txBody>
      </p:sp>
      <p:sp>
        <p:nvSpPr>
          <p:cNvPr id="3" name="内容占位符 2"/>
          <p:cNvSpPr>
            <a:spLocks noGrp="1"/>
          </p:cNvSpPr>
          <p:nvPr>
            <p:ph idx="1"/>
          </p:nvPr>
        </p:nvSpPr>
        <p:spPr>
          <a:xfrm>
            <a:off x="457200" y="1129308"/>
            <a:ext cx="3690523" cy="4167654"/>
          </a:xfrm>
        </p:spPr>
        <p:txBody>
          <a:bodyPr>
            <a:normAutofit/>
          </a:bodyPr>
          <a:lstStyle/>
          <a:p>
            <a:r>
              <a:rPr kumimoji="1" lang="en-US" altLang="zh-CN" dirty="0"/>
              <a:t>Pros:</a:t>
            </a:r>
            <a:endParaRPr kumimoji="1" lang="en-US" altLang="zh-CN" dirty="0"/>
          </a:p>
          <a:p>
            <a:pPr lvl="1"/>
            <a:r>
              <a:rPr kumimoji="1" lang="en-US" altLang="zh-CN" dirty="0"/>
              <a:t>Easy to scale</a:t>
            </a:r>
            <a:endParaRPr kumimoji="1" lang="en-US" altLang="zh-CN" dirty="0"/>
          </a:p>
          <a:p>
            <a:pPr lvl="1"/>
            <a:r>
              <a:rPr kumimoji="1" lang="en-US" altLang="zh-CN" dirty="0"/>
              <a:t>Fault tolerant </a:t>
            </a:r>
            <a:endParaRPr kumimoji="1" lang="en-US" altLang="zh-CN" dirty="0"/>
          </a:p>
          <a:p>
            <a:pPr lvl="1"/>
            <a:r>
              <a:rPr kumimoji="1" lang="en-US" altLang="zh-CN" dirty="0"/>
              <a:t>Good performance (depends!)</a:t>
            </a:r>
            <a:endParaRPr kumimoji="1" lang="en-US" altLang="zh-CN" dirty="0"/>
          </a:p>
          <a:p>
            <a:pPr lvl="2"/>
            <a:r>
              <a:rPr kumimoji="1" lang="en-US" altLang="zh-CN" sz="1800" dirty="0"/>
              <a:t>Good for tasks that suits MapReduce, e.g., wordcount </a:t>
            </a:r>
            <a:endParaRPr kumimoji="1" lang="en-US" altLang="zh-CN" sz="1800" dirty="0"/>
          </a:p>
          <a:p>
            <a:r>
              <a:rPr kumimoji="1" lang="en-US" altLang="zh-CN" dirty="0"/>
              <a:t>Cons </a:t>
            </a:r>
            <a:endParaRPr kumimoji="1" lang="en-US" altLang="zh-CN" dirty="0"/>
          </a:p>
          <a:p>
            <a:pPr lvl="1"/>
            <a:r>
              <a:rPr kumimoji="1" lang="en-US" altLang="zh-CN" dirty="0"/>
              <a:t>Limited programming abstraction </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grpSp>
        <p:nvGrpSpPr>
          <p:cNvPr id="5" name="组合 4"/>
          <p:cNvGrpSpPr/>
          <p:nvPr/>
        </p:nvGrpSpPr>
        <p:grpSpPr>
          <a:xfrm>
            <a:off x="4183440" y="1485792"/>
            <a:ext cx="4905419" cy="3471841"/>
            <a:chOff x="3938787" y="1490302"/>
            <a:chExt cx="5208447" cy="3633284"/>
          </a:xfrm>
        </p:grpSpPr>
        <p:sp>
          <p:nvSpPr>
            <p:cNvPr id="6" name="矩形 5"/>
            <p:cNvSpPr/>
            <p:nvPr/>
          </p:nvSpPr>
          <p:spPr>
            <a:xfrm>
              <a:off x="5962809" y="1490302"/>
              <a:ext cx="1298987" cy="386506"/>
            </a:xfrm>
            <a:prstGeom prst="rect">
              <a:avLst/>
            </a:prstGeom>
          </p:spPr>
          <p:txBody>
            <a:bodyPr wrap="none">
              <a:spAutoFit/>
            </a:bodyPr>
            <a:lstStyle/>
            <a:p>
              <a:r>
                <a:rPr kumimoji="1" lang="en-US" altLang="zh-CN" dirty="0"/>
                <a:t>Scalability</a:t>
              </a:r>
              <a:endParaRPr lang="zh-CN" altLang="en-US" dirty="0"/>
            </a:p>
          </p:txBody>
        </p:sp>
        <p:sp>
          <p:nvSpPr>
            <p:cNvPr id="7" name="矩形 6"/>
            <p:cNvSpPr/>
            <p:nvPr/>
          </p:nvSpPr>
          <p:spPr>
            <a:xfrm>
              <a:off x="4572000" y="4737080"/>
              <a:ext cx="1530463" cy="386506"/>
            </a:xfrm>
            <a:prstGeom prst="rect">
              <a:avLst/>
            </a:prstGeom>
          </p:spPr>
          <p:txBody>
            <a:bodyPr wrap="none">
              <a:spAutoFit/>
            </a:bodyPr>
            <a:lstStyle/>
            <a:p>
              <a:r>
                <a:rPr kumimoji="1" lang="en-US" altLang="zh-CN" dirty="0"/>
                <a:t>Consistency</a:t>
              </a:r>
              <a:endParaRPr lang="zh-CN" altLang="en-US" dirty="0"/>
            </a:p>
          </p:txBody>
        </p:sp>
        <p:sp>
          <p:nvSpPr>
            <p:cNvPr id="8" name="矩形 7"/>
            <p:cNvSpPr/>
            <p:nvPr/>
          </p:nvSpPr>
          <p:spPr>
            <a:xfrm>
              <a:off x="6950899" y="4737080"/>
              <a:ext cx="1884485" cy="386506"/>
            </a:xfrm>
            <a:prstGeom prst="rect">
              <a:avLst/>
            </a:prstGeom>
          </p:spPr>
          <p:txBody>
            <a:bodyPr wrap="none">
              <a:spAutoFit/>
            </a:bodyPr>
            <a:lstStyle/>
            <a:p>
              <a:r>
                <a:rPr kumimoji="1" lang="en-US" altLang="zh-CN" dirty="0"/>
                <a:t>Fault tolerance </a:t>
              </a:r>
              <a:endParaRPr kumimoji="1" lang="en-US" altLang="zh-CN" dirty="0"/>
            </a:p>
          </p:txBody>
        </p:sp>
        <p:sp>
          <p:nvSpPr>
            <p:cNvPr id="9" name="矩形 8"/>
            <p:cNvSpPr/>
            <p:nvPr/>
          </p:nvSpPr>
          <p:spPr>
            <a:xfrm>
              <a:off x="3938787" y="2142936"/>
              <a:ext cx="1639392" cy="676386"/>
            </a:xfrm>
            <a:prstGeom prst="rect">
              <a:avLst/>
            </a:prstGeom>
          </p:spPr>
          <p:txBody>
            <a:bodyPr wrap="none">
              <a:spAutoFit/>
            </a:bodyPr>
            <a:lstStyle/>
            <a:p>
              <a:r>
                <a:rPr kumimoji="1" lang="en-US" altLang="zh-CN" dirty="0"/>
                <a:t>Ease of </a:t>
              </a:r>
              <a:endParaRPr kumimoji="1" lang="en-US" altLang="zh-CN" dirty="0"/>
            </a:p>
            <a:p>
              <a:r>
                <a:rPr kumimoji="1" lang="en-US" altLang="zh-CN" dirty="0"/>
                <a:t>programming</a:t>
              </a:r>
              <a:endParaRPr lang="zh-CN" altLang="en-US" dirty="0"/>
            </a:p>
          </p:txBody>
        </p:sp>
        <p:sp>
          <p:nvSpPr>
            <p:cNvPr id="10" name="矩形 9"/>
            <p:cNvSpPr/>
            <p:nvPr/>
          </p:nvSpPr>
          <p:spPr>
            <a:xfrm>
              <a:off x="7548691" y="2281436"/>
              <a:ext cx="1598543" cy="386506"/>
            </a:xfrm>
            <a:prstGeom prst="rect">
              <a:avLst/>
            </a:prstGeom>
          </p:spPr>
          <p:txBody>
            <a:bodyPr wrap="none">
              <a:spAutoFit/>
            </a:bodyPr>
            <a:lstStyle/>
            <a:p>
              <a:r>
                <a:rPr kumimoji="1" lang="en-US" altLang="zh-CN" dirty="0"/>
                <a:t>Performance</a:t>
              </a:r>
              <a:endParaRPr lang="zh-CN" altLang="en-US" dirty="0"/>
            </a:p>
          </p:txBody>
        </p:sp>
        <p:sp>
          <p:nvSpPr>
            <p:cNvPr id="11" name="多边形"/>
            <p:cNvSpPr>
              <a:spLocks noChangeAspect="1"/>
            </p:cNvSpPr>
            <p:nvPr/>
          </p:nvSpPr>
          <p:spPr>
            <a:xfrm>
              <a:off x="5162010" y="1972096"/>
              <a:ext cx="2825010" cy="2608246"/>
            </a:xfrm>
            <a:prstGeom prst="pentagon">
              <a:avLst/>
            </a:prstGeom>
            <a:noFill/>
            <a:ln w="6350">
              <a:solidFill>
                <a:schemeClr val="tx2"/>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p>
          </p:txBody>
        </p:sp>
        <p:sp>
          <p:nvSpPr>
            <p:cNvPr id="12" name="多边形"/>
            <p:cNvSpPr>
              <a:spLocks noChangeAspect="1"/>
            </p:cNvSpPr>
            <p:nvPr/>
          </p:nvSpPr>
          <p:spPr>
            <a:xfrm>
              <a:off x="5185833" y="2836164"/>
              <a:ext cx="1668636" cy="1772433"/>
            </a:xfrm>
            <a:custGeom>
              <a:avLst/>
              <a:gdLst>
                <a:gd name="connsiteX0" fmla="*/ 0 w 300020"/>
                <a:gd name="connsiteY0" fmla="*/ 105804 h 276999"/>
                <a:gd name="connsiteX1" fmla="*/ 150010 w 300020"/>
                <a:gd name="connsiteY1" fmla="*/ 0 h 276999"/>
                <a:gd name="connsiteX2" fmla="*/ 300020 w 300020"/>
                <a:gd name="connsiteY2" fmla="*/ 105804 h 276999"/>
                <a:gd name="connsiteX3" fmla="*/ 242721 w 300020"/>
                <a:gd name="connsiteY3" fmla="*/ 276998 h 276999"/>
                <a:gd name="connsiteX4" fmla="*/ 57299 w 300020"/>
                <a:gd name="connsiteY4" fmla="*/ 276998 h 276999"/>
                <a:gd name="connsiteX5" fmla="*/ 0 w 300020"/>
                <a:gd name="connsiteY5" fmla="*/ 105804 h 276999"/>
                <a:gd name="connsiteX0-1" fmla="*/ 0 w 300020"/>
                <a:gd name="connsiteY0-2" fmla="*/ 285418 h 456612"/>
                <a:gd name="connsiteX1-3" fmla="*/ 133681 w 300020"/>
                <a:gd name="connsiteY1-4" fmla="*/ 0 h 456612"/>
                <a:gd name="connsiteX2-5" fmla="*/ 300020 w 300020"/>
                <a:gd name="connsiteY2-6" fmla="*/ 285418 h 456612"/>
                <a:gd name="connsiteX3-7" fmla="*/ 242721 w 300020"/>
                <a:gd name="connsiteY3-8" fmla="*/ 456612 h 456612"/>
                <a:gd name="connsiteX4-9" fmla="*/ 57299 w 300020"/>
                <a:gd name="connsiteY4-10" fmla="*/ 456612 h 456612"/>
                <a:gd name="connsiteX5-11" fmla="*/ 0 w 300020"/>
                <a:gd name="connsiteY5-12" fmla="*/ 285418 h 456612"/>
                <a:gd name="connsiteX0-13" fmla="*/ 0 w 300020"/>
                <a:gd name="connsiteY0-14" fmla="*/ 269090 h 440284"/>
                <a:gd name="connsiteX1-15" fmla="*/ 133681 w 300020"/>
                <a:gd name="connsiteY1-16" fmla="*/ 0 h 440284"/>
                <a:gd name="connsiteX2-17" fmla="*/ 300020 w 300020"/>
                <a:gd name="connsiteY2-18" fmla="*/ 269090 h 440284"/>
                <a:gd name="connsiteX3-19" fmla="*/ 242721 w 300020"/>
                <a:gd name="connsiteY3-20" fmla="*/ 440284 h 440284"/>
                <a:gd name="connsiteX4-21" fmla="*/ 57299 w 300020"/>
                <a:gd name="connsiteY4-22" fmla="*/ 440284 h 440284"/>
                <a:gd name="connsiteX5-23" fmla="*/ 0 w 300020"/>
                <a:gd name="connsiteY5-24" fmla="*/ 269090 h 440284"/>
                <a:gd name="connsiteX0-25" fmla="*/ 0 w 471470"/>
                <a:gd name="connsiteY0-26" fmla="*/ 269090 h 440284"/>
                <a:gd name="connsiteX1-27" fmla="*/ 133681 w 471470"/>
                <a:gd name="connsiteY1-28" fmla="*/ 0 h 440284"/>
                <a:gd name="connsiteX2-29" fmla="*/ 471470 w 471470"/>
                <a:gd name="connsiteY2-30" fmla="*/ 228268 h 440284"/>
                <a:gd name="connsiteX3-31" fmla="*/ 242721 w 471470"/>
                <a:gd name="connsiteY3-32" fmla="*/ 440284 h 440284"/>
                <a:gd name="connsiteX4-33" fmla="*/ 57299 w 471470"/>
                <a:gd name="connsiteY4-34" fmla="*/ 440284 h 440284"/>
                <a:gd name="connsiteX5-35" fmla="*/ 0 w 471470"/>
                <a:gd name="connsiteY5-36" fmla="*/ 269090 h 440284"/>
                <a:gd name="connsiteX0-37" fmla="*/ 0 w 471470"/>
                <a:gd name="connsiteY0-38" fmla="*/ 269090 h 570912"/>
                <a:gd name="connsiteX1-39" fmla="*/ 133681 w 471470"/>
                <a:gd name="connsiteY1-40" fmla="*/ 0 h 570912"/>
                <a:gd name="connsiteX2-41" fmla="*/ 471470 w 471470"/>
                <a:gd name="connsiteY2-42" fmla="*/ 228268 h 570912"/>
                <a:gd name="connsiteX3-43" fmla="*/ 332528 w 471470"/>
                <a:gd name="connsiteY3-44" fmla="*/ 570912 h 570912"/>
                <a:gd name="connsiteX4-45" fmla="*/ 57299 w 471470"/>
                <a:gd name="connsiteY4-46" fmla="*/ 440284 h 570912"/>
                <a:gd name="connsiteX5-47" fmla="*/ 0 w 471470"/>
                <a:gd name="connsiteY5-48" fmla="*/ 269090 h 570912"/>
                <a:gd name="connsiteX0-49" fmla="*/ 0 w 471470"/>
                <a:gd name="connsiteY0-50" fmla="*/ 269090 h 562748"/>
                <a:gd name="connsiteX1-51" fmla="*/ 133681 w 471470"/>
                <a:gd name="connsiteY1-52" fmla="*/ 0 h 562748"/>
                <a:gd name="connsiteX2-53" fmla="*/ 471470 w 471470"/>
                <a:gd name="connsiteY2-54" fmla="*/ 228268 h 562748"/>
                <a:gd name="connsiteX3-55" fmla="*/ 308035 w 471470"/>
                <a:gd name="connsiteY3-56" fmla="*/ 562748 h 562748"/>
                <a:gd name="connsiteX4-57" fmla="*/ 57299 w 471470"/>
                <a:gd name="connsiteY4-58" fmla="*/ 440284 h 562748"/>
                <a:gd name="connsiteX5-59" fmla="*/ 0 w 471470"/>
                <a:gd name="connsiteY5-60" fmla="*/ 269090 h 562748"/>
                <a:gd name="connsiteX0-61" fmla="*/ 8016 w 479486"/>
                <a:gd name="connsiteY0-62" fmla="*/ 269090 h 562748"/>
                <a:gd name="connsiteX1-63" fmla="*/ 141697 w 479486"/>
                <a:gd name="connsiteY1-64" fmla="*/ 0 h 562748"/>
                <a:gd name="connsiteX2-65" fmla="*/ 479486 w 479486"/>
                <a:gd name="connsiteY2-66" fmla="*/ 228268 h 562748"/>
                <a:gd name="connsiteX3-67" fmla="*/ 316051 w 479486"/>
                <a:gd name="connsiteY3-68" fmla="*/ 562748 h 562748"/>
                <a:gd name="connsiteX4-69" fmla="*/ 0 w 479486"/>
                <a:gd name="connsiteY4-70" fmla="*/ 472942 h 562748"/>
                <a:gd name="connsiteX5-71" fmla="*/ 8016 w 479486"/>
                <a:gd name="connsiteY5-72" fmla="*/ 269090 h 562748"/>
                <a:gd name="connsiteX0-73" fmla="*/ 8016 w 479486"/>
                <a:gd name="connsiteY0-74" fmla="*/ 260926 h 554584"/>
                <a:gd name="connsiteX1-75" fmla="*/ 158026 w 479486"/>
                <a:gd name="connsiteY1-76" fmla="*/ 0 h 554584"/>
                <a:gd name="connsiteX2-77" fmla="*/ 479486 w 479486"/>
                <a:gd name="connsiteY2-78" fmla="*/ 220104 h 554584"/>
                <a:gd name="connsiteX3-79" fmla="*/ 316051 w 479486"/>
                <a:gd name="connsiteY3-80" fmla="*/ 554584 h 554584"/>
                <a:gd name="connsiteX4-81" fmla="*/ 0 w 479486"/>
                <a:gd name="connsiteY4-82" fmla="*/ 464778 h 554584"/>
                <a:gd name="connsiteX5-83" fmla="*/ 8016 w 479486"/>
                <a:gd name="connsiteY5-84" fmla="*/ 260926 h 554584"/>
                <a:gd name="connsiteX0-85" fmla="*/ 0 w 471470"/>
                <a:gd name="connsiteY0-86" fmla="*/ 260926 h 554584"/>
                <a:gd name="connsiteX1-87" fmla="*/ 150010 w 471470"/>
                <a:gd name="connsiteY1-88" fmla="*/ 0 h 554584"/>
                <a:gd name="connsiteX2-89" fmla="*/ 471470 w 471470"/>
                <a:gd name="connsiteY2-90" fmla="*/ 220104 h 554584"/>
                <a:gd name="connsiteX3-91" fmla="*/ 308035 w 471470"/>
                <a:gd name="connsiteY3-92" fmla="*/ 554584 h 554584"/>
                <a:gd name="connsiteX4-93" fmla="*/ 49134 w 471470"/>
                <a:gd name="connsiteY4-94" fmla="*/ 440285 h 554584"/>
                <a:gd name="connsiteX5-95" fmla="*/ 0 w 471470"/>
                <a:gd name="connsiteY5-96" fmla="*/ 260926 h 554584"/>
                <a:gd name="connsiteX0-97" fmla="*/ 0 w 471470"/>
                <a:gd name="connsiteY0-98" fmla="*/ 260926 h 570912"/>
                <a:gd name="connsiteX1-99" fmla="*/ 150010 w 471470"/>
                <a:gd name="connsiteY1-100" fmla="*/ 0 h 570912"/>
                <a:gd name="connsiteX2-101" fmla="*/ 471470 w 471470"/>
                <a:gd name="connsiteY2-102" fmla="*/ 220104 h 570912"/>
                <a:gd name="connsiteX3-103" fmla="*/ 348856 w 471470"/>
                <a:gd name="connsiteY3-104" fmla="*/ 570912 h 570912"/>
                <a:gd name="connsiteX4-105" fmla="*/ 49134 w 471470"/>
                <a:gd name="connsiteY4-106" fmla="*/ 440285 h 570912"/>
                <a:gd name="connsiteX5-107" fmla="*/ 0 w 471470"/>
                <a:gd name="connsiteY5-108" fmla="*/ 260926 h 570912"/>
                <a:gd name="connsiteX0-109" fmla="*/ 0 w 471470"/>
                <a:gd name="connsiteY0-110" fmla="*/ 270070 h 580056"/>
                <a:gd name="connsiteX1-111" fmla="*/ 140866 w 471470"/>
                <a:gd name="connsiteY1-112" fmla="*/ 0 h 580056"/>
                <a:gd name="connsiteX2-113" fmla="*/ 471470 w 471470"/>
                <a:gd name="connsiteY2-114" fmla="*/ 229248 h 580056"/>
                <a:gd name="connsiteX3-115" fmla="*/ 348856 w 471470"/>
                <a:gd name="connsiteY3-116" fmla="*/ 580056 h 580056"/>
                <a:gd name="connsiteX4-117" fmla="*/ 49134 w 471470"/>
                <a:gd name="connsiteY4-118" fmla="*/ 449429 h 580056"/>
                <a:gd name="connsiteX5-119" fmla="*/ 0 w 471470"/>
                <a:gd name="connsiteY5-120" fmla="*/ 270070 h 580056"/>
                <a:gd name="connsiteX0-121" fmla="*/ 0 w 471470"/>
                <a:gd name="connsiteY0-122" fmla="*/ 251782 h 561768"/>
                <a:gd name="connsiteX1-123" fmla="*/ 131722 w 471470"/>
                <a:gd name="connsiteY1-124" fmla="*/ 0 h 561768"/>
                <a:gd name="connsiteX2-125" fmla="*/ 471470 w 471470"/>
                <a:gd name="connsiteY2-126" fmla="*/ 210960 h 561768"/>
                <a:gd name="connsiteX3-127" fmla="*/ 348856 w 471470"/>
                <a:gd name="connsiteY3-128" fmla="*/ 561768 h 561768"/>
                <a:gd name="connsiteX4-129" fmla="*/ 49134 w 471470"/>
                <a:gd name="connsiteY4-130" fmla="*/ 431141 h 561768"/>
                <a:gd name="connsiteX5-131" fmla="*/ 0 w 471470"/>
                <a:gd name="connsiteY5-132" fmla="*/ 251782 h 561768"/>
                <a:gd name="connsiteX0-133" fmla="*/ 0 w 471470"/>
                <a:gd name="connsiteY0-134" fmla="*/ 260926 h 570912"/>
                <a:gd name="connsiteX1-135" fmla="*/ 168298 w 471470"/>
                <a:gd name="connsiteY1-136" fmla="*/ 0 h 570912"/>
                <a:gd name="connsiteX2-137" fmla="*/ 471470 w 471470"/>
                <a:gd name="connsiteY2-138" fmla="*/ 220104 h 570912"/>
                <a:gd name="connsiteX3-139" fmla="*/ 348856 w 471470"/>
                <a:gd name="connsiteY3-140" fmla="*/ 570912 h 570912"/>
                <a:gd name="connsiteX4-141" fmla="*/ 49134 w 471470"/>
                <a:gd name="connsiteY4-142" fmla="*/ 440285 h 570912"/>
                <a:gd name="connsiteX5-143" fmla="*/ 0 w 471470"/>
                <a:gd name="connsiteY5-144" fmla="*/ 260926 h 570912"/>
                <a:gd name="connsiteX0-145" fmla="*/ 0 w 706873"/>
                <a:gd name="connsiteY0-146" fmla="*/ 284176 h 570912"/>
                <a:gd name="connsiteX1-147" fmla="*/ 403701 w 706873"/>
                <a:gd name="connsiteY1-148" fmla="*/ 0 h 570912"/>
                <a:gd name="connsiteX2-149" fmla="*/ 706873 w 706873"/>
                <a:gd name="connsiteY2-150" fmla="*/ 220104 h 570912"/>
                <a:gd name="connsiteX3-151" fmla="*/ 584259 w 706873"/>
                <a:gd name="connsiteY3-152" fmla="*/ 570912 h 570912"/>
                <a:gd name="connsiteX4-153" fmla="*/ 284537 w 706873"/>
                <a:gd name="connsiteY4-154" fmla="*/ 440285 h 570912"/>
                <a:gd name="connsiteX5-155" fmla="*/ 0 w 706873"/>
                <a:gd name="connsiteY5-156" fmla="*/ 284176 h 570912"/>
                <a:gd name="connsiteX0-157" fmla="*/ 0 w 706873"/>
                <a:gd name="connsiteY0-158" fmla="*/ 223146 h 509882"/>
                <a:gd name="connsiteX1-159" fmla="*/ 403701 w 706873"/>
                <a:gd name="connsiteY1-160" fmla="*/ 0 h 509882"/>
                <a:gd name="connsiteX2-161" fmla="*/ 706873 w 706873"/>
                <a:gd name="connsiteY2-162" fmla="*/ 159074 h 509882"/>
                <a:gd name="connsiteX3-163" fmla="*/ 584259 w 706873"/>
                <a:gd name="connsiteY3-164" fmla="*/ 509882 h 509882"/>
                <a:gd name="connsiteX4-165" fmla="*/ 284537 w 706873"/>
                <a:gd name="connsiteY4-166" fmla="*/ 379255 h 509882"/>
                <a:gd name="connsiteX5-167" fmla="*/ 0 w 706873"/>
                <a:gd name="connsiteY5-168" fmla="*/ 223146 h 509882"/>
                <a:gd name="connsiteX0-169" fmla="*/ 0 w 640030"/>
                <a:gd name="connsiteY0-170" fmla="*/ 223146 h 509882"/>
                <a:gd name="connsiteX1-171" fmla="*/ 403701 w 640030"/>
                <a:gd name="connsiteY1-172" fmla="*/ 0 h 509882"/>
                <a:gd name="connsiteX2-173" fmla="*/ 640030 w 640030"/>
                <a:gd name="connsiteY2-174" fmla="*/ 240448 h 509882"/>
                <a:gd name="connsiteX3-175" fmla="*/ 584259 w 640030"/>
                <a:gd name="connsiteY3-176" fmla="*/ 509882 h 509882"/>
                <a:gd name="connsiteX4-177" fmla="*/ 284537 w 640030"/>
                <a:gd name="connsiteY4-178" fmla="*/ 379255 h 509882"/>
                <a:gd name="connsiteX5-179" fmla="*/ 0 w 640030"/>
                <a:gd name="connsiteY5-180" fmla="*/ 223146 h 509882"/>
                <a:gd name="connsiteX0-181" fmla="*/ 0 w 640030"/>
                <a:gd name="connsiteY0-182" fmla="*/ 223146 h 681349"/>
                <a:gd name="connsiteX1-183" fmla="*/ 403701 w 640030"/>
                <a:gd name="connsiteY1-184" fmla="*/ 0 h 681349"/>
                <a:gd name="connsiteX2-185" fmla="*/ 640030 w 640030"/>
                <a:gd name="connsiteY2-186" fmla="*/ 240448 h 681349"/>
                <a:gd name="connsiteX3-187" fmla="*/ 639477 w 640030"/>
                <a:gd name="connsiteY3-188" fmla="*/ 681349 h 681349"/>
                <a:gd name="connsiteX4-189" fmla="*/ 284537 w 640030"/>
                <a:gd name="connsiteY4-190" fmla="*/ 379255 h 681349"/>
                <a:gd name="connsiteX5-191" fmla="*/ 0 w 640030"/>
                <a:gd name="connsiteY5-192" fmla="*/ 223146 h 681349"/>
                <a:gd name="connsiteX0-193" fmla="*/ 0 w 640030"/>
                <a:gd name="connsiteY0-194" fmla="*/ 223146 h 693126"/>
                <a:gd name="connsiteX1-195" fmla="*/ 403701 w 640030"/>
                <a:gd name="connsiteY1-196" fmla="*/ 0 h 693126"/>
                <a:gd name="connsiteX2-197" fmla="*/ 640030 w 640030"/>
                <a:gd name="connsiteY2-198" fmla="*/ 240448 h 693126"/>
                <a:gd name="connsiteX3-199" fmla="*/ 639477 w 640030"/>
                <a:gd name="connsiteY3-200" fmla="*/ 681349 h 693126"/>
                <a:gd name="connsiteX4-201" fmla="*/ 153757 w 640030"/>
                <a:gd name="connsiteY4-202" fmla="*/ 693126 h 693126"/>
                <a:gd name="connsiteX5-203" fmla="*/ 0 w 640030"/>
                <a:gd name="connsiteY5-204" fmla="*/ 223146 h 693126"/>
                <a:gd name="connsiteX0-205" fmla="*/ 0 w 640030"/>
                <a:gd name="connsiteY0-206" fmla="*/ 170834 h 640814"/>
                <a:gd name="connsiteX1-207" fmla="*/ 415326 w 640030"/>
                <a:gd name="connsiteY1-208" fmla="*/ 0 h 640814"/>
                <a:gd name="connsiteX2-209" fmla="*/ 640030 w 640030"/>
                <a:gd name="connsiteY2-210" fmla="*/ 188136 h 640814"/>
                <a:gd name="connsiteX3-211" fmla="*/ 639477 w 640030"/>
                <a:gd name="connsiteY3-212" fmla="*/ 629037 h 640814"/>
                <a:gd name="connsiteX4-213" fmla="*/ 153757 w 640030"/>
                <a:gd name="connsiteY4-214" fmla="*/ 640814 h 640814"/>
                <a:gd name="connsiteX5-215" fmla="*/ 0 w 640030"/>
                <a:gd name="connsiteY5-216" fmla="*/ 170834 h 640814"/>
                <a:gd name="connsiteX0-217" fmla="*/ 0 w 639477"/>
                <a:gd name="connsiteY0-218" fmla="*/ 170834 h 640814"/>
                <a:gd name="connsiteX1-219" fmla="*/ 415326 w 639477"/>
                <a:gd name="connsiteY1-220" fmla="*/ 0 h 640814"/>
                <a:gd name="connsiteX2-221" fmla="*/ 584812 w 639477"/>
                <a:gd name="connsiteY2-222" fmla="*/ 211386 h 640814"/>
                <a:gd name="connsiteX3-223" fmla="*/ 639477 w 639477"/>
                <a:gd name="connsiteY3-224" fmla="*/ 629037 h 640814"/>
                <a:gd name="connsiteX4-225" fmla="*/ 153757 w 639477"/>
                <a:gd name="connsiteY4-226" fmla="*/ 640814 h 640814"/>
                <a:gd name="connsiteX5-227" fmla="*/ 0 w 639477"/>
                <a:gd name="connsiteY5-228" fmla="*/ 170834 h 640814"/>
                <a:gd name="connsiteX0-229" fmla="*/ 0 w 639477"/>
                <a:gd name="connsiteY0-230" fmla="*/ 170834 h 640814"/>
                <a:gd name="connsiteX1-231" fmla="*/ 415326 w 639477"/>
                <a:gd name="connsiteY1-232" fmla="*/ 0 h 640814"/>
                <a:gd name="connsiteX2-233" fmla="*/ 584812 w 639477"/>
                <a:gd name="connsiteY2-234" fmla="*/ 211386 h 640814"/>
                <a:gd name="connsiteX3-235" fmla="*/ 639477 w 639477"/>
                <a:gd name="connsiteY3-236" fmla="*/ 629037 h 640814"/>
                <a:gd name="connsiteX4-237" fmla="*/ 153757 w 639477"/>
                <a:gd name="connsiteY4-238" fmla="*/ 640814 h 640814"/>
                <a:gd name="connsiteX5-239" fmla="*/ 0 w 639477"/>
                <a:gd name="connsiteY5-240" fmla="*/ 170834 h 640814"/>
                <a:gd name="connsiteX0-241" fmla="*/ 0 w 613322"/>
                <a:gd name="connsiteY0-242" fmla="*/ 170834 h 640814"/>
                <a:gd name="connsiteX1-243" fmla="*/ 415326 w 613322"/>
                <a:gd name="connsiteY1-244" fmla="*/ 0 h 640814"/>
                <a:gd name="connsiteX2-245" fmla="*/ 584812 w 613322"/>
                <a:gd name="connsiteY2-246" fmla="*/ 211386 h 640814"/>
                <a:gd name="connsiteX3-247" fmla="*/ 613321 w 613322"/>
                <a:gd name="connsiteY3-248" fmla="*/ 565100 h 640814"/>
                <a:gd name="connsiteX4-249" fmla="*/ 153757 w 613322"/>
                <a:gd name="connsiteY4-250" fmla="*/ 640814 h 640814"/>
                <a:gd name="connsiteX5-251" fmla="*/ 0 w 613322"/>
                <a:gd name="connsiteY5-252" fmla="*/ 170834 h 640814"/>
                <a:gd name="connsiteX0-253" fmla="*/ 0 w 613321"/>
                <a:gd name="connsiteY0-254" fmla="*/ 170834 h 640814"/>
                <a:gd name="connsiteX1-255" fmla="*/ 415326 w 613321"/>
                <a:gd name="connsiteY1-256" fmla="*/ 0 h 640814"/>
                <a:gd name="connsiteX2-257" fmla="*/ 584812 w 613321"/>
                <a:gd name="connsiteY2-258" fmla="*/ 211386 h 640814"/>
                <a:gd name="connsiteX3-259" fmla="*/ 613321 w 613321"/>
                <a:gd name="connsiteY3-260" fmla="*/ 565100 h 640814"/>
                <a:gd name="connsiteX4-261" fmla="*/ 153757 w 613321"/>
                <a:gd name="connsiteY4-262" fmla="*/ 640814 h 640814"/>
                <a:gd name="connsiteX5-263" fmla="*/ 0 w 613321"/>
                <a:gd name="connsiteY5-264" fmla="*/ 170834 h 640814"/>
                <a:gd name="connsiteX0-265" fmla="*/ 0 w 613321"/>
                <a:gd name="connsiteY0-266" fmla="*/ 170834 h 640814"/>
                <a:gd name="connsiteX1-267" fmla="*/ 415326 w 613321"/>
                <a:gd name="connsiteY1-268" fmla="*/ 0 h 640814"/>
                <a:gd name="connsiteX2-269" fmla="*/ 449039 w 613321"/>
                <a:gd name="connsiteY2-270" fmla="*/ 269172 h 640814"/>
                <a:gd name="connsiteX3-271" fmla="*/ 613321 w 613321"/>
                <a:gd name="connsiteY3-272" fmla="*/ 565100 h 640814"/>
                <a:gd name="connsiteX4-273" fmla="*/ 153757 w 613321"/>
                <a:gd name="connsiteY4-274" fmla="*/ 640814 h 640814"/>
                <a:gd name="connsiteX5-275" fmla="*/ 0 w 613321"/>
                <a:gd name="connsiteY5-276" fmla="*/ 170834 h 640814"/>
                <a:gd name="connsiteX0-277" fmla="*/ 0 w 613321"/>
                <a:gd name="connsiteY0-278" fmla="*/ 170834 h 640814"/>
                <a:gd name="connsiteX1-279" fmla="*/ 415326 w 613321"/>
                <a:gd name="connsiteY1-280" fmla="*/ 0 h 640814"/>
                <a:gd name="connsiteX2-281" fmla="*/ 455211 w 613321"/>
                <a:gd name="connsiteY2-282" fmla="*/ 278296 h 640814"/>
                <a:gd name="connsiteX3-283" fmla="*/ 613321 w 613321"/>
                <a:gd name="connsiteY3-284" fmla="*/ 565100 h 640814"/>
                <a:gd name="connsiteX4-285" fmla="*/ 153757 w 613321"/>
                <a:gd name="connsiteY4-286" fmla="*/ 640814 h 640814"/>
                <a:gd name="connsiteX5-287" fmla="*/ 0 w 613321"/>
                <a:gd name="connsiteY5-288" fmla="*/ 170834 h 640814"/>
                <a:gd name="connsiteX0-289" fmla="*/ 0 w 613321"/>
                <a:gd name="connsiteY0-290" fmla="*/ 106966 h 576946"/>
                <a:gd name="connsiteX1-291" fmla="*/ 393726 w 613321"/>
                <a:gd name="connsiteY1-292" fmla="*/ 0 h 576946"/>
                <a:gd name="connsiteX2-293" fmla="*/ 455211 w 613321"/>
                <a:gd name="connsiteY2-294" fmla="*/ 214428 h 576946"/>
                <a:gd name="connsiteX3-295" fmla="*/ 613321 w 613321"/>
                <a:gd name="connsiteY3-296" fmla="*/ 501232 h 576946"/>
                <a:gd name="connsiteX4-297" fmla="*/ 153757 w 613321"/>
                <a:gd name="connsiteY4-298" fmla="*/ 576946 h 576946"/>
                <a:gd name="connsiteX5-299" fmla="*/ 0 w 613321"/>
                <a:gd name="connsiteY5-300" fmla="*/ 106966 h 576946"/>
                <a:gd name="connsiteX0-301" fmla="*/ 0 w 613321"/>
                <a:gd name="connsiteY0-302" fmla="*/ 37015 h 506995"/>
                <a:gd name="connsiteX1-303" fmla="*/ 406069 w 613321"/>
                <a:gd name="connsiteY1-304" fmla="*/ 0 h 506995"/>
                <a:gd name="connsiteX2-305" fmla="*/ 455211 w 613321"/>
                <a:gd name="connsiteY2-306" fmla="*/ 144477 h 506995"/>
                <a:gd name="connsiteX3-307" fmla="*/ 613321 w 613321"/>
                <a:gd name="connsiteY3-308" fmla="*/ 431281 h 506995"/>
                <a:gd name="connsiteX4-309" fmla="*/ 153757 w 613321"/>
                <a:gd name="connsiteY4-310" fmla="*/ 506995 h 506995"/>
                <a:gd name="connsiteX5-311" fmla="*/ 0 w 613321"/>
                <a:gd name="connsiteY5-312" fmla="*/ 37015 h 506995"/>
                <a:gd name="connsiteX0-313" fmla="*/ 0 w 613321"/>
                <a:gd name="connsiteY0-314" fmla="*/ 37015 h 506995"/>
                <a:gd name="connsiteX1-315" fmla="*/ 406069 w 613321"/>
                <a:gd name="connsiteY1-316" fmla="*/ 0 h 506995"/>
                <a:gd name="connsiteX2-317" fmla="*/ 464468 w 613321"/>
                <a:gd name="connsiteY2-318" fmla="*/ 177932 h 506995"/>
                <a:gd name="connsiteX3-319" fmla="*/ 613321 w 613321"/>
                <a:gd name="connsiteY3-320" fmla="*/ 431281 h 506995"/>
                <a:gd name="connsiteX4-321" fmla="*/ 153757 w 613321"/>
                <a:gd name="connsiteY4-322" fmla="*/ 506995 h 506995"/>
                <a:gd name="connsiteX5-323" fmla="*/ 0 w 613321"/>
                <a:gd name="connsiteY5-324" fmla="*/ 37015 h 506995"/>
                <a:gd name="connsiteX0-325" fmla="*/ 0 w 464468"/>
                <a:gd name="connsiteY0-326" fmla="*/ 37015 h 506995"/>
                <a:gd name="connsiteX1-327" fmla="*/ 406069 w 464468"/>
                <a:gd name="connsiteY1-328" fmla="*/ 0 h 506995"/>
                <a:gd name="connsiteX2-329" fmla="*/ 464468 w 464468"/>
                <a:gd name="connsiteY2-330" fmla="*/ 177932 h 506995"/>
                <a:gd name="connsiteX3-331" fmla="*/ 440520 w 464468"/>
                <a:gd name="connsiteY3-332" fmla="*/ 291379 h 506995"/>
                <a:gd name="connsiteX4-333" fmla="*/ 153757 w 464468"/>
                <a:gd name="connsiteY4-334" fmla="*/ 506995 h 506995"/>
                <a:gd name="connsiteX5-335" fmla="*/ 0 w 464468"/>
                <a:gd name="connsiteY5-336" fmla="*/ 37015 h 506995"/>
                <a:gd name="connsiteX0-337" fmla="*/ 0 w 440520"/>
                <a:gd name="connsiteY0-338" fmla="*/ 37015 h 506995"/>
                <a:gd name="connsiteX1-339" fmla="*/ 406069 w 440520"/>
                <a:gd name="connsiteY1-340" fmla="*/ 0 h 506995"/>
                <a:gd name="connsiteX2-341" fmla="*/ 436696 w 440520"/>
                <a:gd name="connsiteY2-342" fmla="*/ 184015 h 506995"/>
                <a:gd name="connsiteX3-343" fmla="*/ 440520 w 440520"/>
                <a:gd name="connsiteY3-344" fmla="*/ 291379 h 506995"/>
                <a:gd name="connsiteX4-345" fmla="*/ 153757 w 440520"/>
                <a:gd name="connsiteY4-346" fmla="*/ 506995 h 506995"/>
                <a:gd name="connsiteX5-347" fmla="*/ 0 w 440520"/>
                <a:gd name="connsiteY5-348" fmla="*/ 37015 h 506995"/>
                <a:gd name="connsiteX0-349" fmla="*/ 0 w 477304"/>
                <a:gd name="connsiteY0-350" fmla="*/ 37015 h 506995"/>
                <a:gd name="connsiteX1-351" fmla="*/ 406069 w 477304"/>
                <a:gd name="connsiteY1-352" fmla="*/ 0 h 506995"/>
                <a:gd name="connsiteX2-353" fmla="*/ 436696 w 477304"/>
                <a:gd name="connsiteY2-354" fmla="*/ 184015 h 506995"/>
                <a:gd name="connsiteX3-355" fmla="*/ 477304 w 477304"/>
                <a:gd name="connsiteY3-356" fmla="*/ 293192 h 506995"/>
                <a:gd name="connsiteX4-357" fmla="*/ 153757 w 477304"/>
                <a:gd name="connsiteY4-358" fmla="*/ 506995 h 506995"/>
                <a:gd name="connsiteX5-359" fmla="*/ 0 w 477304"/>
                <a:gd name="connsiteY5-360" fmla="*/ 37015 h 506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477304" h="506995">
                  <a:moveTo>
                    <a:pt x="0" y="37015"/>
                  </a:moveTo>
                  <a:lnTo>
                    <a:pt x="406069" y="0"/>
                  </a:lnTo>
                  <a:lnTo>
                    <a:pt x="436696" y="184015"/>
                  </a:lnTo>
                  <a:lnTo>
                    <a:pt x="477304" y="293192"/>
                  </a:lnTo>
                  <a:lnTo>
                    <a:pt x="153757" y="506995"/>
                  </a:lnTo>
                  <a:lnTo>
                    <a:pt x="0" y="37015"/>
                  </a:lnTo>
                  <a:close/>
                </a:path>
              </a:pathLst>
            </a:custGeom>
            <a:noFill/>
            <a:ln w="22225">
              <a:solidFill>
                <a:srgbClr val="C00000"/>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dirty="0"/>
            </a:p>
          </p:txBody>
        </p:sp>
      </p:grpSp>
      <p:sp>
        <p:nvSpPr>
          <p:cNvPr id="13" name="多边形"/>
          <p:cNvSpPr>
            <a:spLocks noChangeAspect="1"/>
          </p:cNvSpPr>
          <p:nvPr/>
        </p:nvSpPr>
        <p:spPr>
          <a:xfrm>
            <a:off x="5580112" y="2194796"/>
            <a:ext cx="2164062" cy="2027173"/>
          </a:xfrm>
          <a:prstGeom prst="pentagon">
            <a:avLst/>
          </a:prstGeom>
          <a:noFill/>
          <a:ln w="6350">
            <a:solidFill>
              <a:schemeClr val="bg1">
                <a:lumMod val="85000"/>
              </a:schemeClr>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p>
        </p:txBody>
      </p:sp>
      <p:sp>
        <p:nvSpPr>
          <p:cNvPr id="14" name="多边形"/>
          <p:cNvSpPr>
            <a:spLocks noChangeAspect="1"/>
          </p:cNvSpPr>
          <p:nvPr/>
        </p:nvSpPr>
        <p:spPr>
          <a:xfrm>
            <a:off x="5810956" y="2474654"/>
            <a:ext cx="1719808" cy="1611021"/>
          </a:xfrm>
          <a:prstGeom prst="pentagon">
            <a:avLst/>
          </a:prstGeom>
          <a:noFill/>
          <a:ln w="6350">
            <a:solidFill>
              <a:schemeClr val="bg1">
                <a:lumMod val="85000"/>
              </a:schemeClr>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p>
        </p:txBody>
      </p:sp>
      <p:sp>
        <p:nvSpPr>
          <p:cNvPr id="15" name="多边形"/>
          <p:cNvSpPr>
            <a:spLocks noChangeAspect="1"/>
          </p:cNvSpPr>
          <p:nvPr/>
        </p:nvSpPr>
        <p:spPr>
          <a:xfrm>
            <a:off x="6064338" y="2747685"/>
            <a:ext cx="1200932" cy="1124967"/>
          </a:xfrm>
          <a:prstGeom prst="pentagon">
            <a:avLst/>
          </a:prstGeom>
          <a:noFill/>
          <a:ln w="6350">
            <a:solidFill>
              <a:schemeClr val="bg1">
                <a:lumMod val="85000"/>
              </a:schemeClr>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p>
        </p:txBody>
      </p:sp>
      <p:sp>
        <p:nvSpPr>
          <p:cNvPr id="16" name="多边形"/>
          <p:cNvSpPr>
            <a:spLocks noChangeAspect="1"/>
          </p:cNvSpPr>
          <p:nvPr/>
        </p:nvSpPr>
        <p:spPr>
          <a:xfrm>
            <a:off x="6307836" y="3030339"/>
            <a:ext cx="726048" cy="680122"/>
          </a:xfrm>
          <a:prstGeom prst="pentagon">
            <a:avLst/>
          </a:prstGeom>
          <a:noFill/>
          <a:ln w="6350">
            <a:solidFill>
              <a:schemeClr val="bg1">
                <a:lumMod val="85000"/>
              </a:schemeClr>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p>
        </p:txBody>
      </p:sp>
      <p:sp>
        <p:nvSpPr>
          <p:cNvPr id="17" name="矩形 16"/>
          <p:cNvSpPr/>
          <p:nvPr/>
        </p:nvSpPr>
        <p:spPr>
          <a:xfrm>
            <a:off x="5062664" y="903992"/>
            <a:ext cx="3097323" cy="369332"/>
          </a:xfrm>
          <a:prstGeom prst="rect">
            <a:avLst/>
          </a:prstGeom>
        </p:spPr>
        <p:txBody>
          <a:bodyPr wrap="none">
            <a:spAutoFit/>
          </a:bodyPr>
          <a:lstStyle/>
          <a:p>
            <a:r>
              <a:rPr kumimoji="1" lang="en-US" altLang="zh-CN" dirty="0">
                <a:solidFill>
                  <a:srgbClr val="C00000"/>
                </a:solidFill>
                <a:latin typeface="Consolas" panose="020B0609020204030204" pitchFamily="49" charset="0"/>
                <a:cs typeface="Consolas" panose="020B0609020204030204" pitchFamily="49" charset="0"/>
              </a:rPr>
              <a:t>Single device computing</a:t>
            </a:r>
            <a:endParaRPr kumimoji="1" lang="en-US" altLang="zh-CN" dirty="0">
              <a:solidFill>
                <a:srgbClr val="C00000"/>
              </a:solidFill>
              <a:latin typeface="Consolas" panose="020B0609020204030204" pitchFamily="49" charset="0"/>
              <a:cs typeface="Consolas" panose="020B0609020204030204" pitchFamily="49" charset="0"/>
            </a:endParaRPr>
          </a:p>
        </p:txBody>
      </p:sp>
      <p:sp>
        <p:nvSpPr>
          <p:cNvPr id="18" name="多边形"/>
          <p:cNvSpPr>
            <a:spLocks noChangeAspect="1"/>
          </p:cNvSpPr>
          <p:nvPr/>
        </p:nvSpPr>
        <p:spPr>
          <a:xfrm>
            <a:off x="5873893" y="1945857"/>
            <a:ext cx="1833525" cy="2504737"/>
          </a:xfrm>
          <a:custGeom>
            <a:avLst/>
            <a:gdLst>
              <a:gd name="connsiteX0" fmla="*/ 0 w 300020"/>
              <a:gd name="connsiteY0" fmla="*/ 105804 h 276999"/>
              <a:gd name="connsiteX1" fmla="*/ 150010 w 300020"/>
              <a:gd name="connsiteY1" fmla="*/ 0 h 276999"/>
              <a:gd name="connsiteX2" fmla="*/ 300020 w 300020"/>
              <a:gd name="connsiteY2" fmla="*/ 105804 h 276999"/>
              <a:gd name="connsiteX3" fmla="*/ 242721 w 300020"/>
              <a:gd name="connsiteY3" fmla="*/ 276998 h 276999"/>
              <a:gd name="connsiteX4" fmla="*/ 57299 w 300020"/>
              <a:gd name="connsiteY4" fmla="*/ 276998 h 276999"/>
              <a:gd name="connsiteX5" fmla="*/ 0 w 300020"/>
              <a:gd name="connsiteY5" fmla="*/ 105804 h 276999"/>
              <a:gd name="connsiteX0-1" fmla="*/ 0 w 300020"/>
              <a:gd name="connsiteY0-2" fmla="*/ 285418 h 456612"/>
              <a:gd name="connsiteX1-3" fmla="*/ 133681 w 300020"/>
              <a:gd name="connsiteY1-4" fmla="*/ 0 h 456612"/>
              <a:gd name="connsiteX2-5" fmla="*/ 300020 w 300020"/>
              <a:gd name="connsiteY2-6" fmla="*/ 285418 h 456612"/>
              <a:gd name="connsiteX3-7" fmla="*/ 242721 w 300020"/>
              <a:gd name="connsiteY3-8" fmla="*/ 456612 h 456612"/>
              <a:gd name="connsiteX4-9" fmla="*/ 57299 w 300020"/>
              <a:gd name="connsiteY4-10" fmla="*/ 456612 h 456612"/>
              <a:gd name="connsiteX5-11" fmla="*/ 0 w 300020"/>
              <a:gd name="connsiteY5-12" fmla="*/ 285418 h 456612"/>
              <a:gd name="connsiteX0-13" fmla="*/ 0 w 300020"/>
              <a:gd name="connsiteY0-14" fmla="*/ 269090 h 440284"/>
              <a:gd name="connsiteX1-15" fmla="*/ 133681 w 300020"/>
              <a:gd name="connsiteY1-16" fmla="*/ 0 h 440284"/>
              <a:gd name="connsiteX2-17" fmla="*/ 300020 w 300020"/>
              <a:gd name="connsiteY2-18" fmla="*/ 269090 h 440284"/>
              <a:gd name="connsiteX3-19" fmla="*/ 242721 w 300020"/>
              <a:gd name="connsiteY3-20" fmla="*/ 440284 h 440284"/>
              <a:gd name="connsiteX4-21" fmla="*/ 57299 w 300020"/>
              <a:gd name="connsiteY4-22" fmla="*/ 440284 h 440284"/>
              <a:gd name="connsiteX5-23" fmla="*/ 0 w 300020"/>
              <a:gd name="connsiteY5-24" fmla="*/ 269090 h 440284"/>
              <a:gd name="connsiteX0-25" fmla="*/ 0 w 471470"/>
              <a:gd name="connsiteY0-26" fmla="*/ 269090 h 440284"/>
              <a:gd name="connsiteX1-27" fmla="*/ 133681 w 471470"/>
              <a:gd name="connsiteY1-28" fmla="*/ 0 h 440284"/>
              <a:gd name="connsiteX2-29" fmla="*/ 471470 w 471470"/>
              <a:gd name="connsiteY2-30" fmla="*/ 228268 h 440284"/>
              <a:gd name="connsiteX3-31" fmla="*/ 242721 w 471470"/>
              <a:gd name="connsiteY3-32" fmla="*/ 440284 h 440284"/>
              <a:gd name="connsiteX4-33" fmla="*/ 57299 w 471470"/>
              <a:gd name="connsiteY4-34" fmla="*/ 440284 h 440284"/>
              <a:gd name="connsiteX5-35" fmla="*/ 0 w 471470"/>
              <a:gd name="connsiteY5-36" fmla="*/ 269090 h 440284"/>
              <a:gd name="connsiteX0-37" fmla="*/ 0 w 471470"/>
              <a:gd name="connsiteY0-38" fmla="*/ 269090 h 570912"/>
              <a:gd name="connsiteX1-39" fmla="*/ 133681 w 471470"/>
              <a:gd name="connsiteY1-40" fmla="*/ 0 h 570912"/>
              <a:gd name="connsiteX2-41" fmla="*/ 471470 w 471470"/>
              <a:gd name="connsiteY2-42" fmla="*/ 228268 h 570912"/>
              <a:gd name="connsiteX3-43" fmla="*/ 332528 w 471470"/>
              <a:gd name="connsiteY3-44" fmla="*/ 570912 h 570912"/>
              <a:gd name="connsiteX4-45" fmla="*/ 57299 w 471470"/>
              <a:gd name="connsiteY4-46" fmla="*/ 440284 h 570912"/>
              <a:gd name="connsiteX5-47" fmla="*/ 0 w 471470"/>
              <a:gd name="connsiteY5-48" fmla="*/ 269090 h 570912"/>
              <a:gd name="connsiteX0-49" fmla="*/ 0 w 471470"/>
              <a:gd name="connsiteY0-50" fmla="*/ 269090 h 562748"/>
              <a:gd name="connsiteX1-51" fmla="*/ 133681 w 471470"/>
              <a:gd name="connsiteY1-52" fmla="*/ 0 h 562748"/>
              <a:gd name="connsiteX2-53" fmla="*/ 471470 w 471470"/>
              <a:gd name="connsiteY2-54" fmla="*/ 228268 h 562748"/>
              <a:gd name="connsiteX3-55" fmla="*/ 308035 w 471470"/>
              <a:gd name="connsiteY3-56" fmla="*/ 562748 h 562748"/>
              <a:gd name="connsiteX4-57" fmla="*/ 57299 w 471470"/>
              <a:gd name="connsiteY4-58" fmla="*/ 440284 h 562748"/>
              <a:gd name="connsiteX5-59" fmla="*/ 0 w 471470"/>
              <a:gd name="connsiteY5-60" fmla="*/ 269090 h 562748"/>
              <a:gd name="connsiteX0-61" fmla="*/ 8016 w 479486"/>
              <a:gd name="connsiteY0-62" fmla="*/ 269090 h 562748"/>
              <a:gd name="connsiteX1-63" fmla="*/ 141697 w 479486"/>
              <a:gd name="connsiteY1-64" fmla="*/ 0 h 562748"/>
              <a:gd name="connsiteX2-65" fmla="*/ 479486 w 479486"/>
              <a:gd name="connsiteY2-66" fmla="*/ 228268 h 562748"/>
              <a:gd name="connsiteX3-67" fmla="*/ 316051 w 479486"/>
              <a:gd name="connsiteY3-68" fmla="*/ 562748 h 562748"/>
              <a:gd name="connsiteX4-69" fmla="*/ 0 w 479486"/>
              <a:gd name="connsiteY4-70" fmla="*/ 472942 h 562748"/>
              <a:gd name="connsiteX5-71" fmla="*/ 8016 w 479486"/>
              <a:gd name="connsiteY5-72" fmla="*/ 269090 h 562748"/>
              <a:gd name="connsiteX0-73" fmla="*/ 8016 w 479486"/>
              <a:gd name="connsiteY0-74" fmla="*/ 260926 h 554584"/>
              <a:gd name="connsiteX1-75" fmla="*/ 158026 w 479486"/>
              <a:gd name="connsiteY1-76" fmla="*/ 0 h 554584"/>
              <a:gd name="connsiteX2-77" fmla="*/ 479486 w 479486"/>
              <a:gd name="connsiteY2-78" fmla="*/ 220104 h 554584"/>
              <a:gd name="connsiteX3-79" fmla="*/ 316051 w 479486"/>
              <a:gd name="connsiteY3-80" fmla="*/ 554584 h 554584"/>
              <a:gd name="connsiteX4-81" fmla="*/ 0 w 479486"/>
              <a:gd name="connsiteY4-82" fmla="*/ 464778 h 554584"/>
              <a:gd name="connsiteX5-83" fmla="*/ 8016 w 479486"/>
              <a:gd name="connsiteY5-84" fmla="*/ 260926 h 554584"/>
              <a:gd name="connsiteX0-85" fmla="*/ 0 w 471470"/>
              <a:gd name="connsiteY0-86" fmla="*/ 260926 h 554584"/>
              <a:gd name="connsiteX1-87" fmla="*/ 150010 w 471470"/>
              <a:gd name="connsiteY1-88" fmla="*/ 0 h 554584"/>
              <a:gd name="connsiteX2-89" fmla="*/ 471470 w 471470"/>
              <a:gd name="connsiteY2-90" fmla="*/ 220104 h 554584"/>
              <a:gd name="connsiteX3-91" fmla="*/ 308035 w 471470"/>
              <a:gd name="connsiteY3-92" fmla="*/ 554584 h 554584"/>
              <a:gd name="connsiteX4-93" fmla="*/ 49134 w 471470"/>
              <a:gd name="connsiteY4-94" fmla="*/ 440285 h 554584"/>
              <a:gd name="connsiteX5-95" fmla="*/ 0 w 471470"/>
              <a:gd name="connsiteY5-96" fmla="*/ 260926 h 554584"/>
              <a:gd name="connsiteX0-97" fmla="*/ 0 w 471470"/>
              <a:gd name="connsiteY0-98" fmla="*/ 260926 h 570912"/>
              <a:gd name="connsiteX1-99" fmla="*/ 150010 w 471470"/>
              <a:gd name="connsiteY1-100" fmla="*/ 0 h 570912"/>
              <a:gd name="connsiteX2-101" fmla="*/ 471470 w 471470"/>
              <a:gd name="connsiteY2-102" fmla="*/ 220104 h 570912"/>
              <a:gd name="connsiteX3-103" fmla="*/ 348856 w 471470"/>
              <a:gd name="connsiteY3-104" fmla="*/ 570912 h 570912"/>
              <a:gd name="connsiteX4-105" fmla="*/ 49134 w 471470"/>
              <a:gd name="connsiteY4-106" fmla="*/ 440285 h 570912"/>
              <a:gd name="connsiteX5-107" fmla="*/ 0 w 471470"/>
              <a:gd name="connsiteY5-108" fmla="*/ 260926 h 570912"/>
              <a:gd name="connsiteX0-109" fmla="*/ 0 w 471470"/>
              <a:gd name="connsiteY0-110" fmla="*/ 270070 h 580056"/>
              <a:gd name="connsiteX1-111" fmla="*/ 140866 w 471470"/>
              <a:gd name="connsiteY1-112" fmla="*/ 0 h 580056"/>
              <a:gd name="connsiteX2-113" fmla="*/ 471470 w 471470"/>
              <a:gd name="connsiteY2-114" fmla="*/ 229248 h 580056"/>
              <a:gd name="connsiteX3-115" fmla="*/ 348856 w 471470"/>
              <a:gd name="connsiteY3-116" fmla="*/ 580056 h 580056"/>
              <a:gd name="connsiteX4-117" fmla="*/ 49134 w 471470"/>
              <a:gd name="connsiteY4-118" fmla="*/ 449429 h 580056"/>
              <a:gd name="connsiteX5-119" fmla="*/ 0 w 471470"/>
              <a:gd name="connsiteY5-120" fmla="*/ 270070 h 580056"/>
              <a:gd name="connsiteX0-121" fmla="*/ 0 w 471470"/>
              <a:gd name="connsiteY0-122" fmla="*/ 251782 h 561768"/>
              <a:gd name="connsiteX1-123" fmla="*/ 131722 w 471470"/>
              <a:gd name="connsiteY1-124" fmla="*/ 0 h 561768"/>
              <a:gd name="connsiteX2-125" fmla="*/ 471470 w 471470"/>
              <a:gd name="connsiteY2-126" fmla="*/ 210960 h 561768"/>
              <a:gd name="connsiteX3-127" fmla="*/ 348856 w 471470"/>
              <a:gd name="connsiteY3-128" fmla="*/ 561768 h 561768"/>
              <a:gd name="connsiteX4-129" fmla="*/ 49134 w 471470"/>
              <a:gd name="connsiteY4-130" fmla="*/ 431141 h 561768"/>
              <a:gd name="connsiteX5-131" fmla="*/ 0 w 471470"/>
              <a:gd name="connsiteY5-132" fmla="*/ 251782 h 561768"/>
              <a:gd name="connsiteX0-133" fmla="*/ 0 w 471470"/>
              <a:gd name="connsiteY0-134" fmla="*/ 260926 h 570912"/>
              <a:gd name="connsiteX1-135" fmla="*/ 168298 w 471470"/>
              <a:gd name="connsiteY1-136" fmla="*/ 0 h 570912"/>
              <a:gd name="connsiteX2-137" fmla="*/ 471470 w 471470"/>
              <a:gd name="connsiteY2-138" fmla="*/ 220104 h 570912"/>
              <a:gd name="connsiteX3-139" fmla="*/ 348856 w 471470"/>
              <a:gd name="connsiteY3-140" fmla="*/ 570912 h 570912"/>
              <a:gd name="connsiteX4-141" fmla="*/ 49134 w 471470"/>
              <a:gd name="connsiteY4-142" fmla="*/ 440285 h 570912"/>
              <a:gd name="connsiteX5-143" fmla="*/ 0 w 471470"/>
              <a:gd name="connsiteY5-144" fmla="*/ 260926 h 570912"/>
              <a:gd name="connsiteX0-145" fmla="*/ 0 w 706873"/>
              <a:gd name="connsiteY0-146" fmla="*/ 284176 h 570912"/>
              <a:gd name="connsiteX1-147" fmla="*/ 403701 w 706873"/>
              <a:gd name="connsiteY1-148" fmla="*/ 0 h 570912"/>
              <a:gd name="connsiteX2-149" fmla="*/ 706873 w 706873"/>
              <a:gd name="connsiteY2-150" fmla="*/ 220104 h 570912"/>
              <a:gd name="connsiteX3-151" fmla="*/ 584259 w 706873"/>
              <a:gd name="connsiteY3-152" fmla="*/ 570912 h 570912"/>
              <a:gd name="connsiteX4-153" fmla="*/ 284537 w 706873"/>
              <a:gd name="connsiteY4-154" fmla="*/ 440285 h 570912"/>
              <a:gd name="connsiteX5-155" fmla="*/ 0 w 706873"/>
              <a:gd name="connsiteY5-156" fmla="*/ 284176 h 570912"/>
              <a:gd name="connsiteX0-157" fmla="*/ 0 w 706873"/>
              <a:gd name="connsiteY0-158" fmla="*/ 223146 h 509882"/>
              <a:gd name="connsiteX1-159" fmla="*/ 403701 w 706873"/>
              <a:gd name="connsiteY1-160" fmla="*/ 0 h 509882"/>
              <a:gd name="connsiteX2-161" fmla="*/ 706873 w 706873"/>
              <a:gd name="connsiteY2-162" fmla="*/ 159074 h 509882"/>
              <a:gd name="connsiteX3-163" fmla="*/ 584259 w 706873"/>
              <a:gd name="connsiteY3-164" fmla="*/ 509882 h 509882"/>
              <a:gd name="connsiteX4-165" fmla="*/ 284537 w 706873"/>
              <a:gd name="connsiteY4-166" fmla="*/ 379255 h 509882"/>
              <a:gd name="connsiteX5-167" fmla="*/ 0 w 706873"/>
              <a:gd name="connsiteY5-168" fmla="*/ 223146 h 509882"/>
              <a:gd name="connsiteX0-169" fmla="*/ 0 w 640030"/>
              <a:gd name="connsiteY0-170" fmla="*/ 223146 h 509882"/>
              <a:gd name="connsiteX1-171" fmla="*/ 403701 w 640030"/>
              <a:gd name="connsiteY1-172" fmla="*/ 0 h 509882"/>
              <a:gd name="connsiteX2-173" fmla="*/ 640030 w 640030"/>
              <a:gd name="connsiteY2-174" fmla="*/ 240448 h 509882"/>
              <a:gd name="connsiteX3-175" fmla="*/ 584259 w 640030"/>
              <a:gd name="connsiteY3-176" fmla="*/ 509882 h 509882"/>
              <a:gd name="connsiteX4-177" fmla="*/ 284537 w 640030"/>
              <a:gd name="connsiteY4-178" fmla="*/ 379255 h 509882"/>
              <a:gd name="connsiteX5-179" fmla="*/ 0 w 640030"/>
              <a:gd name="connsiteY5-180" fmla="*/ 223146 h 509882"/>
              <a:gd name="connsiteX0-181" fmla="*/ 0 w 640030"/>
              <a:gd name="connsiteY0-182" fmla="*/ 223146 h 681349"/>
              <a:gd name="connsiteX1-183" fmla="*/ 403701 w 640030"/>
              <a:gd name="connsiteY1-184" fmla="*/ 0 h 681349"/>
              <a:gd name="connsiteX2-185" fmla="*/ 640030 w 640030"/>
              <a:gd name="connsiteY2-186" fmla="*/ 240448 h 681349"/>
              <a:gd name="connsiteX3-187" fmla="*/ 639477 w 640030"/>
              <a:gd name="connsiteY3-188" fmla="*/ 681349 h 681349"/>
              <a:gd name="connsiteX4-189" fmla="*/ 284537 w 640030"/>
              <a:gd name="connsiteY4-190" fmla="*/ 379255 h 681349"/>
              <a:gd name="connsiteX5-191" fmla="*/ 0 w 640030"/>
              <a:gd name="connsiteY5-192" fmla="*/ 223146 h 681349"/>
              <a:gd name="connsiteX0-193" fmla="*/ 0 w 640030"/>
              <a:gd name="connsiteY0-194" fmla="*/ 223146 h 693126"/>
              <a:gd name="connsiteX1-195" fmla="*/ 403701 w 640030"/>
              <a:gd name="connsiteY1-196" fmla="*/ 0 h 693126"/>
              <a:gd name="connsiteX2-197" fmla="*/ 640030 w 640030"/>
              <a:gd name="connsiteY2-198" fmla="*/ 240448 h 693126"/>
              <a:gd name="connsiteX3-199" fmla="*/ 639477 w 640030"/>
              <a:gd name="connsiteY3-200" fmla="*/ 681349 h 693126"/>
              <a:gd name="connsiteX4-201" fmla="*/ 153757 w 640030"/>
              <a:gd name="connsiteY4-202" fmla="*/ 693126 h 693126"/>
              <a:gd name="connsiteX5-203" fmla="*/ 0 w 640030"/>
              <a:gd name="connsiteY5-204" fmla="*/ 223146 h 693126"/>
              <a:gd name="connsiteX0-205" fmla="*/ 0 w 640030"/>
              <a:gd name="connsiteY0-206" fmla="*/ 170834 h 640814"/>
              <a:gd name="connsiteX1-207" fmla="*/ 415326 w 640030"/>
              <a:gd name="connsiteY1-208" fmla="*/ 0 h 640814"/>
              <a:gd name="connsiteX2-209" fmla="*/ 640030 w 640030"/>
              <a:gd name="connsiteY2-210" fmla="*/ 188136 h 640814"/>
              <a:gd name="connsiteX3-211" fmla="*/ 639477 w 640030"/>
              <a:gd name="connsiteY3-212" fmla="*/ 629037 h 640814"/>
              <a:gd name="connsiteX4-213" fmla="*/ 153757 w 640030"/>
              <a:gd name="connsiteY4-214" fmla="*/ 640814 h 640814"/>
              <a:gd name="connsiteX5-215" fmla="*/ 0 w 640030"/>
              <a:gd name="connsiteY5-216" fmla="*/ 170834 h 640814"/>
              <a:gd name="connsiteX0-217" fmla="*/ 0 w 639477"/>
              <a:gd name="connsiteY0-218" fmla="*/ 170834 h 640814"/>
              <a:gd name="connsiteX1-219" fmla="*/ 415326 w 639477"/>
              <a:gd name="connsiteY1-220" fmla="*/ 0 h 640814"/>
              <a:gd name="connsiteX2-221" fmla="*/ 584812 w 639477"/>
              <a:gd name="connsiteY2-222" fmla="*/ 211386 h 640814"/>
              <a:gd name="connsiteX3-223" fmla="*/ 639477 w 639477"/>
              <a:gd name="connsiteY3-224" fmla="*/ 629037 h 640814"/>
              <a:gd name="connsiteX4-225" fmla="*/ 153757 w 639477"/>
              <a:gd name="connsiteY4-226" fmla="*/ 640814 h 640814"/>
              <a:gd name="connsiteX5-227" fmla="*/ 0 w 639477"/>
              <a:gd name="connsiteY5-228" fmla="*/ 170834 h 640814"/>
              <a:gd name="connsiteX0-229" fmla="*/ 0 w 639477"/>
              <a:gd name="connsiteY0-230" fmla="*/ 170834 h 640814"/>
              <a:gd name="connsiteX1-231" fmla="*/ 415326 w 639477"/>
              <a:gd name="connsiteY1-232" fmla="*/ 0 h 640814"/>
              <a:gd name="connsiteX2-233" fmla="*/ 584812 w 639477"/>
              <a:gd name="connsiteY2-234" fmla="*/ 211386 h 640814"/>
              <a:gd name="connsiteX3-235" fmla="*/ 639477 w 639477"/>
              <a:gd name="connsiteY3-236" fmla="*/ 629037 h 640814"/>
              <a:gd name="connsiteX4-237" fmla="*/ 153757 w 639477"/>
              <a:gd name="connsiteY4-238" fmla="*/ 640814 h 640814"/>
              <a:gd name="connsiteX5-239" fmla="*/ 0 w 639477"/>
              <a:gd name="connsiteY5-240" fmla="*/ 170834 h 640814"/>
              <a:gd name="connsiteX0-241" fmla="*/ 0 w 613322"/>
              <a:gd name="connsiteY0-242" fmla="*/ 170834 h 640814"/>
              <a:gd name="connsiteX1-243" fmla="*/ 415326 w 613322"/>
              <a:gd name="connsiteY1-244" fmla="*/ 0 h 640814"/>
              <a:gd name="connsiteX2-245" fmla="*/ 584812 w 613322"/>
              <a:gd name="connsiteY2-246" fmla="*/ 211386 h 640814"/>
              <a:gd name="connsiteX3-247" fmla="*/ 613321 w 613322"/>
              <a:gd name="connsiteY3-248" fmla="*/ 565100 h 640814"/>
              <a:gd name="connsiteX4-249" fmla="*/ 153757 w 613322"/>
              <a:gd name="connsiteY4-250" fmla="*/ 640814 h 640814"/>
              <a:gd name="connsiteX5-251" fmla="*/ 0 w 613322"/>
              <a:gd name="connsiteY5-252" fmla="*/ 170834 h 640814"/>
              <a:gd name="connsiteX0-253" fmla="*/ 0 w 613321"/>
              <a:gd name="connsiteY0-254" fmla="*/ 170834 h 640814"/>
              <a:gd name="connsiteX1-255" fmla="*/ 415326 w 613321"/>
              <a:gd name="connsiteY1-256" fmla="*/ 0 h 640814"/>
              <a:gd name="connsiteX2-257" fmla="*/ 584812 w 613321"/>
              <a:gd name="connsiteY2-258" fmla="*/ 211386 h 640814"/>
              <a:gd name="connsiteX3-259" fmla="*/ 613321 w 613321"/>
              <a:gd name="connsiteY3-260" fmla="*/ 565100 h 640814"/>
              <a:gd name="connsiteX4-261" fmla="*/ 153757 w 613321"/>
              <a:gd name="connsiteY4-262" fmla="*/ 640814 h 640814"/>
              <a:gd name="connsiteX5-263" fmla="*/ 0 w 613321"/>
              <a:gd name="connsiteY5-264" fmla="*/ 170834 h 640814"/>
              <a:gd name="connsiteX0-265" fmla="*/ 0 w 613321"/>
              <a:gd name="connsiteY0-266" fmla="*/ 170834 h 640814"/>
              <a:gd name="connsiteX1-267" fmla="*/ 415326 w 613321"/>
              <a:gd name="connsiteY1-268" fmla="*/ 0 h 640814"/>
              <a:gd name="connsiteX2-269" fmla="*/ 449039 w 613321"/>
              <a:gd name="connsiteY2-270" fmla="*/ 269172 h 640814"/>
              <a:gd name="connsiteX3-271" fmla="*/ 613321 w 613321"/>
              <a:gd name="connsiteY3-272" fmla="*/ 565100 h 640814"/>
              <a:gd name="connsiteX4-273" fmla="*/ 153757 w 613321"/>
              <a:gd name="connsiteY4-274" fmla="*/ 640814 h 640814"/>
              <a:gd name="connsiteX5-275" fmla="*/ 0 w 613321"/>
              <a:gd name="connsiteY5-276" fmla="*/ 170834 h 640814"/>
              <a:gd name="connsiteX0-277" fmla="*/ 0 w 613321"/>
              <a:gd name="connsiteY0-278" fmla="*/ 170834 h 640814"/>
              <a:gd name="connsiteX1-279" fmla="*/ 415326 w 613321"/>
              <a:gd name="connsiteY1-280" fmla="*/ 0 h 640814"/>
              <a:gd name="connsiteX2-281" fmla="*/ 455211 w 613321"/>
              <a:gd name="connsiteY2-282" fmla="*/ 278296 h 640814"/>
              <a:gd name="connsiteX3-283" fmla="*/ 613321 w 613321"/>
              <a:gd name="connsiteY3-284" fmla="*/ 565100 h 640814"/>
              <a:gd name="connsiteX4-285" fmla="*/ 153757 w 613321"/>
              <a:gd name="connsiteY4-286" fmla="*/ 640814 h 640814"/>
              <a:gd name="connsiteX5-287" fmla="*/ 0 w 613321"/>
              <a:gd name="connsiteY5-288" fmla="*/ 170834 h 640814"/>
              <a:gd name="connsiteX0-289" fmla="*/ 0 w 613321"/>
              <a:gd name="connsiteY0-290" fmla="*/ 106966 h 576946"/>
              <a:gd name="connsiteX1-291" fmla="*/ 393726 w 613321"/>
              <a:gd name="connsiteY1-292" fmla="*/ 0 h 576946"/>
              <a:gd name="connsiteX2-293" fmla="*/ 455211 w 613321"/>
              <a:gd name="connsiteY2-294" fmla="*/ 214428 h 576946"/>
              <a:gd name="connsiteX3-295" fmla="*/ 613321 w 613321"/>
              <a:gd name="connsiteY3-296" fmla="*/ 501232 h 576946"/>
              <a:gd name="connsiteX4-297" fmla="*/ 153757 w 613321"/>
              <a:gd name="connsiteY4-298" fmla="*/ 576946 h 576946"/>
              <a:gd name="connsiteX5-299" fmla="*/ 0 w 613321"/>
              <a:gd name="connsiteY5-300" fmla="*/ 106966 h 576946"/>
              <a:gd name="connsiteX0-301" fmla="*/ 0 w 613321"/>
              <a:gd name="connsiteY0-302" fmla="*/ 37015 h 506995"/>
              <a:gd name="connsiteX1-303" fmla="*/ 406069 w 613321"/>
              <a:gd name="connsiteY1-304" fmla="*/ 0 h 506995"/>
              <a:gd name="connsiteX2-305" fmla="*/ 455211 w 613321"/>
              <a:gd name="connsiteY2-306" fmla="*/ 144477 h 506995"/>
              <a:gd name="connsiteX3-307" fmla="*/ 613321 w 613321"/>
              <a:gd name="connsiteY3-308" fmla="*/ 431281 h 506995"/>
              <a:gd name="connsiteX4-309" fmla="*/ 153757 w 613321"/>
              <a:gd name="connsiteY4-310" fmla="*/ 506995 h 506995"/>
              <a:gd name="connsiteX5-311" fmla="*/ 0 w 613321"/>
              <a:gd name="connsiteY5-312" fmla="*/ 37015 h 506995"/>
              <a:gd name="connsiteX0-313" fmla="*/ 0 w 613321"/>
              <a:gd name="connsiteY0-314" fmla="*/ 37015 h 506995"/>
              <a:gd name="connsiteX1-315" fmla="*/ 406069 w 613321"/>
              <a:gd name="connsiteY1-316" fmla="*/ 0 h 506995"/>
              <a:gd name="connsiteX2-317" fmla="*/ 464468 w 613321"/>
              <a:gd name="connsiteY2-318" fmla="*/ 177932 h 506995"/>
              <a:gd name="connsiteX3-319" fmla="*/ 613321 w 613321"/>
              <a:gd name="connsiteY3-320" fmla="*/ 431281 h 506995"/>
              <a:gd name="connsiteX4-321" fmla="*/ 153757 w 613321"/>
              <a:gd name="connsiteY4-322" fmla="*/ 506995 h 506995"/>
              <a:gd name="connsiteX5-323" fmla="*/ 0 w 613321"/>
              <a:gd name="connsiteY5-324" fmla="*/ 37015 h 506995"/>
              <a:gd name="connsiteX0-325" fmla="*/ 0 w 464468"/>
              <a:gd name="connsiteY0-326" fmla="*/ 37015 h 506995"/>
              <a:gd name="connsiteX1-327" fmla="*/ 406069 w 464468"/>
              <a:gd name="connsiteY1-328" fmla="*/ 0 h 506995"/>
              <a:gd name="connsiteX2-329" fmla="*/ 464468 w 464468"/>
              <a:gd name="connsiteY2-330" fmla="*/ 177932 h 506995"/>
              <a:gd name="connsiteX3-331" fmla="*/ 440520 w 464468"/>
              <a:gd name="connsiteY3-332" fmla="*/ 291379 h 506995"/>
              <a:gd name="connsiteX4-333" fmla="*/ 153757 w 464468"/>
              <a:gd name="connsiteY4-334" fmla="*/ 506995 h 506995"/>
              <a:gd name="connsiteX5-335" fmla="*/ 0 w 464468"/>
              <a:gd name="connsiteY5-336" fmla="*/ 37015 h 506995"/>
              <a:gd name="connsiteX0-337" fmla="*/ 0 w 440520"/>
              <a:gd name="connsiteY0-338" fmla="*/ 37015 h 506995"/>
              <a:gd name="connsiteX1-339" fmla="*/ 406069 w 440520"/>
              <a:gd name="connsiteY1-340" fmla="*/ 0 h 506995"/>
              <a:gd name="connsiteX2-341" fmla="*/ 436696 w 440520"/>
              <a:gd name="connsiteY2-342" fmla="*/ 184015 h 506995"/>
              <a:gd name="connsiteX3-343" fmla="*/ 440520 w 440520"/>
              <a:gd name="connsiteY3-344" fmla="*/ 291379 h 506995"/>
              <a:gd name="connsiteX4-345" fmla="*/ 153757 w 440520"/>
              <a:gd name="connsiteY4-346" fmla="*/ 506995 h 506995"/>
              <a:gd name="connsiteX5-347" fmla="*/ 0 w 440520"/>
              <a:gd name="connsiteY5-348" fmla="*/ 37015 h 506995"/>
              <a:gd name="connsiteX0-349" fmla="*/ 0 w 440520"/>
              <a:gd name="connsiteY0-350" fmla="*/ 37015 h 445844"/>
              <a:gd name="connsiteX1-351" fmla="*/ 406069 w 440520"/>
              <a:gd name="connsiteY1-352" fmla="*/ 0 h 445844"/>
              <a:gd name="connsiteX2-353" fmla="*/ 436696 w 440520"/>
              <a:gd name="connsiteY2-354" fmla="*/ 184015 h 445844"/>
              <a:gd name="connsiteX3-355" fmla="*/ 440520 w 440520"/>
              <a:gd name="connsiteY3-356" fmla="*/ 291379 h 445844"/>
              <a:gd name="connsiteX4-357" fmla="*/ 180347 w 440520"/>
              <a:gd name="connsiteY4-358" fmla="*/ 445844 h 445844"/>
              <a:gd name="connsiteX5-359" fmla="*/ 0 w 440520"/>
              <a:gd name="connsiteY5-360" fmla="*/ 37015 h 445844"/>
              <a:gd name="connsiteX0-361" fmla="*/ 0 w 331206"/>
              <a:gd name="connsiteY0-362" fmla="*/ 92342 h 445844"/>
              <a:gd name="connsiteX1-363" fmla="*/ 296755 w 331206"/>
              <a:gd name="connsiteY1-364" fmla="*/ 0 h 445844"/>
              <a:gd name="connsiteX2-365" fmla="*/ 327382 w 331206"/>
              <a:gd name="connsiteY2-366" fmla="*/ 184015 h 445844"/>
              <a:gd name="connsiteX3-367" fmla="*/ 331206 w 331206"/>
              <a:gd name="connsiteY3-368" fmla="*/ 291379 h 445844"/>
              <a:gd name="connsiteX4-369" fmla="*/ 71033 w 331206"/>
              <a:gd name="connsiteY4-370" fmla="*/ 445844 h 445844"/>
              <a:gd name="connsiteX5-371" fmla="*/ 0 w 331206"/>
              <a:gd name="connsiteY5-372" fmla="*/ 92342 h 445844"/>
              <a:gd name="connsiteX0-373" fmla="*/ 0 w 409023"/>
              <a:gd name="connsiteY0-374" fmla="*/ 182612 h 536114"/>
              <a:gd name="connsiteX1-375" fmla="*/ 409023 w 409023"/>
              <a:gd name="connsiteY1-376" fmla="*/ 0 h 536114"/>
              <a:gd name="connsiteX2-377" fmla="*/ 327382 w 409023"/>
              <a:gd name="connsiteY2-378" fmla="*/ 274285 h 536114"/>
              <a:gd name="connsiteX3-379" fmla="*/ 331206 w 409023"/>
              <a:gd name="connsiteY3-380" fmla="*/ 381649 h 536114"/>
              <a:gd name="connsiteX4-381" fmla="*/ 71033 w 409023"/>
              <a:gd name="connsiteY4-382" fmla="*/ 536114 h 536114"/>
              <a:gd name="connsiteX5-383" fmla="*/ 0 w 409023"/>
              <a:gd name="connsiteY5-384" fmla="*/ 182612 h 536114"/>
              <a:gd name="connsiteX0-385" fmla="*/ 0 w 379479"/>
              <a:gd name="connsiteY0-386" fmla="*/ 217555 h 571057"/>
              <a:gd name="connsiteX1-387" fmla="*/ 379479 w 379479"/>
              <a:gd name="connsiteY1-388" fmla="*/ 0 h 571057"/>
              <a:gd name="connsiteX2-389" fmla="*/ 327382 w 379479"/>
              <a:gd name="connsiteY2-390" fmla="*/ 309228 h 571057"/>
              <a:gd name="connsiteX3-391" fmla="*/ 331206 w 379479"/>
              <a:gd name="connsiteY3-392" fmla="*/ 416592 h 571057"/>
              <a:gd name="connsiteX4-393" fmla="*/ 71033 w 379479"/>
              <a:gd name="connsiteY4-394" fmla="*/ 571057 h 571057"/>
              <a:gd name="connsiteX5-395" fmla="*/ 0 w 379479"/>
              <a:gd name="connsiteY5-396" fmla="*/ 217555 h 571057"/>
              <a:gd name="connsiteX0-397" fmla="*/ 0 w 381732"/>
              <a:gd name="connsiteY0-398" fmla="*/ 217555 h 571057"/>
              <a:gd name="connsiteX1-399" fmla="*/ 379479 w 381732"/>
              <a:gd name="connsiteY1-400" fmla="*/ 0 h 571057"/>
              <a:gd name="connsiteX2-401" fmla="*/ 381732 w 381732"/>
              <a:gd name="connsiteY2-402" fmla="*/ 9724 h 571057"/>
              <a:gd name="connsiteX3-403" fmla="*/ 327382 w 381732"/>
              <a:gd name="connsiteY3-404" fmla="*/ 309228 h 571057"/>
              <a:gd name="connsiteX4-405" fmla="*/ 331206 w 381732"/>
              <a:gd name="connsiteY4-406" fmla="*/ 416592 h 571057"/>
              <a:gd name="connsiteX5-407" fmla="*/ 71033 w 381732"/>
              <a:gd name="connsiteY5-408" fmla="*/ 571057 h 571057"/>
              <a:gd name="connsiteX6" fmla="*/ 0 w 381732"/>
              <a:gd name="connsiteY6" fmla="*/ 217555 h 571057"/>
              <a:gd name="connsiteX0-409" fmla="*/ 0 w 408322"/>
              <a:gd name="connsiteY0-410" fmla="*/ 217555 h 571057"/>
              <a:gd name="connsiteX1-411" fmla="*/ 379479 w 408322"/>
              <a:gd name="connsiteY1-412" fmla="*/ 0 h 571057"/>
              <a:gd name="connsiteX2-413" fmla="*/ 408322 w 408322"/>
              <a:gd name="connsiteY2-414" fmla="*/ 47579 h 571057"/>
              <a:gd name="connsiteX3-415" fmla="*/ 327382 w 408322"/>
              <a:gd name="connsiteY3-416" fmla="*/ 309228 h 571057"/>
              <a:gd name="connsiteX4-417" fmla="*/ 331206 w 408322"/>
              <a:gd name="connsiteY4-418" fmla="*/ 416592 h 571057"/>
              <a:gd name="connsiteX5-419" fmla="*/ 71033 w 408322"/>
              <a:gd name="connsiteY5-420" fmla="*/ 571057 h 571057"/>
              <a:gd name="connsiteX6-421" fmla="*/ 0 w 408322"/>
              <a:gd name="connsiteY6-422" fmla="*/ 217555 h 571057"/>
              <a:gd name="connsiteX0-423" fmla="*/ 0 w 408322"/>
              <a:gd name="connsiteY0-424" fmla="*/ 223379 h 576881"/>
              <a:gd name="connsiteX1-425" fmla="*/ 311527 w 408322"/>
              <a:gd name="connsiteY1-426" fmla="*/ 0 h 576881"/>
              <a:gd name="connsiteX2-427" fmla="*/ 408322 w 408322"/>
              <a:gd name="connsiteY2-428" fmla="*/ 53403 h 576881"/>
              <a:gd name="connsiteX3-429" fmla="*/ 327382 w 408322"/>
              <a:gd name="connsiteY3-430" fmla="*/ 315052 h 576881"/>
              <a:gd name="connsiteX4-431" fmla="*/ 331206 w 408322"/>
              <a:gd name="connsiteY4-432" fmla="*/ 422416 h 576881"/>
              <a:gd name="connsiteX5-433" fmla="*/ 71033 w 408322"/>
              <a:gd name="connsiteY5-434" fmla="*/ 576881 h 576881"/>
              <a:gd name="connsiteX6-435" fmla="*/ 0 w 408322"/>
              <a:gd name="connsiteY6-436" fmla="*/ 223379 h 576881"/>
              <a:gd name="connsiteX0-437" fmla="*/ 0 w 491046"/>
              <a:gd name="connsiteY0-438" fmla="*/ 223379 h 576881"/>
              <a:gd name="connsiteX1-439" fmla="*/ 311527 w 491046"/>
              <a:gd name="connsiteY1-440" fmla="*/ 0 h 576881"/>
              <a:gd name="connsiteX2-441" fmla="*/ 491046 w 491046"/>
              <a:gd name="connsiteY2-442" fmla="*/ 152409 h 576881"/>
              <a:gd name="connsiteX3-443" fmla="*/ 327382 w 491046"/>
              <a:gd name="connsiteY3-444" fmla="*/ 315052 h 576881"/>
              <a:gd name="connsiteX4-445" fmla="*/ 331206 w 491046"/>
              <a:gd name="connsiteY4-446" fmla="*/ 422416 h 576881"/>
              <a:gd name="connsiteX5-447" fmla="*/ 71033 w 491046"/>
              <a:gd name="connsiteY5-448" fmla="*/ 576881 h 576881"/>
              <a:gd name="connsiteX6-449" fmla="*/ 0 w 491046"/>
              <a:gd name="connsiteY6-450" fmla="*/ 223379 h 576881"/>
              <a:gd name="connsiteX0-451" fmla="*/ 0 w 478422"/>
              <a:gd name="connsiteY0-452" fmla="*/ 202643 h 576881"/>
              <a:gd name="connsiteX1-453" fmla="*/ 298903 w 478422"/>
              <a:gd name="connsiteY1-454" fmla="*/ 0 h 576881"/>
              <a:gd name="connsiteX2-455" fmla="*/ 478422 w 478422"/>
              <a:gd name="connsiteY2-456" fmla="*/ 152409 h 576881"/>
              <a:gd name="connsiteX3-457" fmla="*/ 314758 w 478422"/>
              <a:gd name="connsiteY3-458" fmla="*/ 315052 h 576881"/>
              <a:gd name="connsiteX4-459" fmla="*/ 318582 w 478422"/>
              <a:gd name="connsiteY4-460" fmla="*/ 422416 h 576881"/>
              <a:gd name="connsiteX5-461" fmla="*/ 58409 w 478422"/>
              <a:gd name="connsiteY5-462" fmla="*/ 576881 h 576881"/>
              <a:gd name="connsiteX6-463" fmla="*/ 0 w 478422"/>
              <a:gd name="connsiteY6-464" fmla="*/ 202643 h 576881"/>
              <a:gd name="connsiteX0-465" fmla="*/ 0 w 478422"/>
              <a:gd name="connsiteY0-466" fmla="*/ 320947 h 695185"/>
              <a:gd name="connsiteX1-467" fmla="*/ 273014 w 478422"/>
              <a:gd name="connsiteY1-468" fmla="*/ 0 h 695185"/>
              <a:gd name="connsiteX2-469" fmla="*/ 478422 w 478422"/>
              <a:gd name="connsiteY2-470" fmla="*/ 270713 h 695185"/>
              <a:gd name="connsiteX3-471" fmla="*/ 314758 w 478422"/>
              <a:gd name="connsiteY3-472" fmla="*/ 433356 h 695185"/>
              <a:gd name="connsiteX4-473" fmla="*/ 318582 w 478422"/>
              <a:gd name="connsiteY4-474" fmla="*/ 540720 h 695185"/>
              <a:gd name="connsiteX5-475" fmla="*/ 58409 w 478422"/>
              <a:gd name="connsiteY5-476" fmla="*/ 695185 h 695185"/>
              <a:gd name="connsiteX6-477" fmla="*/ 0 w 478422"/>
              <a:gd name="connsiteY6-478" fmla="*/ 320947 h 695185"/>
              <a:gd name="connsiteX0-479" fmla="*/ 0 w 683179"/>
              <a:gd name="connsiteY0-480" fmla="*/ 320947 h 695185"/>
              <a:gd name="connsiteX1-481" fmla="*/ 273014 w 683179"/>
              <a:gd name="connsiteY1-482" fmla="*/ 0 h 695185"/>
              <a:gd name="connsiteX2-483" fmla="*/ 683179 w 683179"/>
              <a:gd name="connsiteY2-484" fmla="*/ 291590 h 695185"/>
              <a:gd name="connsiteX3-485" fmla="*/ 314758 w 683179"/>
              <a:gd name="connsiteY3-486" fmla="*/ 433356 h 695185"/>
              <a:gd name="connsiteX4-487" fmla="*/ 318582 w 683179"/>
              <a:gd name="connsiteY4-488" fmla="*/ 540720 h 695185"/>
              <a:gd name="connsiteX5-489" fmla="*/ 58409 w 683179"/>
              <a:gd name="connsiteY5-490" fmla="*/ 695185 h 695185"/>
              <a:gd name="connsiteX6-491" fmla="*/ 0 w 683179"/>
              <a:gd name="connsiteY6-492" fmla="*/ 320947 h 695185"/>
              <a:gd name="connsiteX0-493" fmla="*/ 0 w 683179"/>
              <a:gd name="connsiteY0-494" fmla="*/ 320947 h 695185"/>
              <a:gd name="connsiteX1-495" fmla="*/ 273014 w 683179"/>
              <a:gd name="connsiteY1-496" fmla="*/ 0 h 695185"/>
              <a:gd name="connsiteX2-497" fmla="*/ 683179 w 683179"/>
              <a:gd name="connsiteY2-498" fmla="*/ 291590 h 695185"/>
              <a:gd name="connsiteX3-499" fmla="*/ 430081 w 683179"/>
              <a:gd name="connsiteY3-500" fmla="*/ 577176 h 695185"/>
              <a:gd name="connsiteX4-501" fmla="*/ 318582 w 683179"/>
              <a:gd name="connsiteY4-502" fmla="*/ 540720 h 695185"/>
              <a:gd name="connsiteX5-503" fmla="*/ 58409 w 683179"/>
              <a:gd name="connsiteY5-504" fmla="*/ 695185 h 695185"/>
              <a:gd name="connsiteX6-505" fmla="*/ 0 w 683179"/>
              <a:gd name="connsiteY6-506" fmla="*/ 320947 h 695185"/>
              <a:gd name="connsiteX0-507" fmla="*/ 0 w 683179"/>
              <a:gd name="connsiteY0-508" fmla="*/ 320947 h 762456"/>
              <a:gd name="connsiteX1-509" fmla="*/ 273014 w 683179"/>
              <a:gd name="connsiteY1-510" fmla="*/ 0 h 762456"/>
              <a:gd name="connsiteX2-511" fmla="*/ 683179 w 683179"/>
              <a:gd name="connsiteY2-512" fmla="*/ 291590 h 762456"/>
              <a:gd name="connsiteX3-513" fmla="*/ 430081 w 683179"/>
              <a:gd name="connsiteY3-514" fmla="*/ 577176 h 762456"/>
              <a:gd name="connsiteX4-515" fmla="*/ 318582 w 683179"/>
              <a:gd name="connsiteY4-516" fmla="*/ 540720 h 762456"/>
              <a:gd name="connsiteX5-517" fmla="*/ 34873 w 683179"/>
              <a:gd name="connsiteY5-518" fmla="*/ 762456 h 762456"/>
              <a:gd name="connsiteX6-519" fmla="*/ 0 w 683179"/>
              <a:gd name="connsiteY6-520" fmla="*/ 320947 h 762456"/>
              <a:gd name="connsiteX0-521" fmla="*/ 0 w 652583"/>
              <a:gd name="connsiteY0-522" fmla="*/ 276873 h 762456"/>
              <a:gd name="connsiteX1-523" fmla="*/ 242418 w 652583"/>
              <a:gd name="connsiteY1-524" fmla="*/ 0 h 762456"/>
              <a:gd name="connsiteX2-525" fmla="*/ 652583 w 652583"/>
              <a:gd name="connsiteY2-526" fmla="*/ 291590 h 762456"/>
              <a:gd name="connsiteX3-527" fmla="*/ 399485 w 652583"/>
              <a:gd name="connsiteY3-528" fmla="*/ 577176 h 762456"/>
              <a:gd name="connsiteX4-529" fmla="*/ 287986 w 652583"/>
              <a:gd name="connsiteY4-530" fmla="*/ 540720 h 762456"/>
              <a:gd name="connsiteX5-531" fmla="*/ 4277 w 652583"/>
              <a:gd name="connsiteY5-532" fmla="*/ 762456 h 762456"/>
              <a:gd name="connsiteX6-533" fmla="*/ 0 w 652583"/>
              <a:gd name="connsiteY6-534" fmla="*/ 276873 h 762456"/>
              <a:gd name="connsiteX0-535" fmla="*/ 153420 w 648316"/>
              <a:gd name="connsiteY0-536" fmla="*/ 249037 h 762456"/>
              <a:gd name="connsiteX1-537" fmla="*/ 238151 w 648316"/>
              <a:gd name="connsiteY1-538" fmla="*/ 0 h 762456"/>
              <a:gd name="connsiteX2-539" fmla="*/ 648316 w 648316"/>
              <a:gd name="connsiteY2-540" fmla="*/ 291590 h 762456"/>
              <a:gd name="connsiteX3-541" fmla="*/ 395218 w 648316"/>
              <a:gd name="connsiteY3-542" fmla="*/ 577176 h 762456"/>
              <a:gd name="connsiteX4-543" fmla="*/ 283719 w 648316"/>
              <a:gd name="connsiteY4-544" fmla="*/ 540720 h 762456"/>
              <a:gd name="connsiteX5-545" fmla="*/ 10 w 648316"/>
              <a:gd name="connsiteY5-546" fmla="*/ 762456 h 762456"/>
              <a:gd name="connsiteX6-547" fmla="*/ 153420 w 648316"/>
              <a:gd name="connsiteY6-548" fmla="*/ 249037 h 762456"/>
              <a:gd name="connsiteX0-549" fmla="*/ 153420 w 648316"/>
              <a:gd name="connsiteY0-550" fmla="*/ 249037 h 762456"/>
              <a:gd name="connsiteX1-551" fmla="*/ 238151 w 648316"/>
              <a:gd name="connsiteY1-552" fmla="*/ 0 h 762456"/>
              <a:gd name="connsiteX2-553" fmla="*/ 648316 w 648316"/>
              <a:gd name="connsiteY2-554" fmla="*/ 291590 h 762456"/>
              <a:gd name="connsiteX3-555" fmla="*/ 487790 w 648316"/>
              <a:gd name="connsiteY3-556" fmla="*/ 741916 h 762456"/>
              <a:gd name="connsiteX4-557" fmla="*/ 283719 w 648316"/>
              <a:gd name="connsiteY4-558" fmla="*/ 540720 h 762456"/>
              <a:gd name="connsiteX5-559" fmla="*/ 10 w 648316"/>
              <a:gd name="connsiteY5-560" fmla="*/ 762456 h 762456"/>
              <a:gd name="connsiteX6-561" fmla="*/ 153420 w 648316"/>
              <a:gd name="connsiteY6-562" fmla="*/ 249037 h 762456"/>
              <a:gd name="connsiteX0-563" fmla="*/ 153420 w 648316"/>
              <a:gd name="connsiteY0-564" fmla="*/ 249037 h 749783"/>
              <a:gd name="connsiteX1-565" fmla="*/ 238151 w 648316"/>
              <a:gd name="connsiteY1-566" fmla="*/ 0 h 749783"/>
              <a:gd name="connsiteX2-567" fmla="*/ 648316 w 648316"/>
              <a:gd name="connsiteY2-568" fmla="*/ 291590 h 749783"/>
              <a:gd name="connsiteX3-569" fmla="*/ 487790 w 648316"/>
              <a:gd name="connsiteY3-570" fmla="*/ 741916 h 749783"/>
              <a:gd name="connsiteX4-571" fmla="*/ 283719 w 648316"/>
              <a:gd name="connsiteY4-572" fmla="*/ 540720 h 749783"/>
              <a:gd name="connsiteX5-573" fmla="*/ 10 w 648316"/>
              <a:gd name="connsiteY5-574" fmla="*/ 749783 h 749783"/>
              <a:gd name="connsiteX6-575" fmla="*/ 153420 w 648316"/>
              <a:gd name="connsiteY6-576" fmla="*/ 249037 h 749783"/>
              <a:gd name="connsiteX0-577" fmla="*/ 153420 w 550601"/>
              <a:gd name="connsiteY0-578" fmla="*/ 249037 h 749783"/>
              <a:gd name="connsiteX1-579" fmla="*/ 238151 w 550601"/>
              <a:gd name="connsiteY1-580" fmla="*/ 0 h 749783"/>
              <a:gd name="connsiteX2-581" fmla="*/ 550601 w 550601"/>
              <a:gd name="connsiteY2-582" fmla="*/ 283987 h 749783"/>
              <a:gd name="connsiteX3-583" fmla="*/ 487790 w 550601"/>
              <a:gd name="connsiteY3-584" fmla="*/ 741916 h 749783"/>
              <a:gd name="connsiteX4-585" fmla="*/ 283719 w 550601"/>
              <a:gd name="connsiteY4-586" fmla="*/ 540720 h 749783"/>
              <a:gd name="connsiteX5-587" fmla="*/ 10 w 550601"/>
              <a:gd name="connsiteY5-588" fmla="*/ 749783 h 749783"/>
              <a:gd name="connsiteX6-589" fmla="*/ 153420 w 550601"/>
              <a:gd name="connsiteY6-590" fmla="*/ 249037 h 749783"/>
              <a:gd name="connsiteX0-591" fmla="*/ 153420 w 550601"/>
              <a:gd name="connsiteY0-592" fmla="*/ 249037 h 756407"/>
              <a:gd name="connsiteX1-593" fmla="*/ 238151 w 550601"/>
              <a:gd name="connsiteY1-594" fmla="*/ 0 h 756407"/>
              <a:gd name="connsiteX2-595" fmla="*/ 550601 w 550601"/>
              <a:gd name="connsiteY2-596" fmla="*/ 283987 h 756407"/>
              <a:gd name="connsiteX3-597" fmla="*/ 487790 w 550601"/>
              <a:gd name="connsiteY3-598" fmla="*/ 741916 h 756407"/>
              <a:gd name="connsiteX4-599" fmla="*/ 283719 w 550601"/>
              <a:gd name="connsiteY4-600" fmla="*/ 734328 h 756407"/>
              <a:gd name="connsiteX5-601" fmla="*/ 10 w 550601"/>
              <a:gd name="connsiteY5-602" fmla="*/ 749783 h 756407"/>
              <a:gd name="connsiteX6-603" fmla="*/ 153420 w 550601"/>
              <a:gd name="connsiteY6-604" fmla="*/ 249037 h 756407"/>
              <a:gd name="connsiteX0-605" fmla="*/ 153420 w 550601"/>
              <a:gd name="connsiteY0-606" fmla="*/ 249037 h 749783"/>
              <a:gd name="connsiteX1-607" fmla="*/ 238151 w 550601"/>
              <a:gd name="connsiteY1-608" fmla="*/ 0 h 749783"/>
              <a:gd name="connsiteX2-609" fmla="*/ 550601 w 550601"/>
              <a:gd name="connsiteY2-610" fmla="*/ 283987 h 749783"/>
              <a:gd name="connsiteX3-611" fmla="*/ 487790 w 550601"/>
              <a:gd name="connsiteY3-612" fmla="*/ 741916 h 749783"/>
              <a:gd name="connsiteX4-613" fmla="*/ 10 w 550601"/>
              <a:gd name="connsiteY4-614" fmla="*/ 749783 h 749783"/>
              <a:gd name="connsiteX5-615" fmla="*/ 153420 w 550601"/>
              <a:gd name="connsiteY5-616" fmla="*/ 249037 h 749783"/>
              <a:gd name="connsiteX0-617" fmla="*/ 65268 w 550613"/>
              <a:gd name="connsiteY0-618" fmla="*/ 236003 h 749783"/>
              <a:gd name="connsiteX1-619" fmla="*/ 238163 w 550613"/>
              <a:gd name="connsiteY1-620" fmla="*/ 0 h 749783"/>
              <a:gd name="connsiteX2-621" fmla="*/ 550613 w 550613"/>
              <a:gd name="connsiteY2-622" fmla="*/ 283987 h 749783"/>
              <a:gd name="connsiteX3-623" fmla="*/ 487802 w 550613"/>
              <a:gd name="connsiteY3-624" fmla="*/ 741916 h 749783"/>
              <a:gd name="connsiteX4-625" fmla="*/ 22 w 550613"/>
              <a:gd name="connsiteY4-626" fmla="*/ 749783 h 749783"/>
              <a:gd name="connsiteX5-627" fmla="*/ 65268 w 550613"/>
              <a:gd name="connsiteY5-628" fmla="*/ 236003 h 749783"/>
              <a:gd name="connsiteX0-629" fmla="*/ 12441 w 550685"/>
              <a:gd name="connsiteY0-630" fmla="*/ 283796 h 749783"/>
              <a:gd name="connsiteX1-631" fmla="*/ 238235 w 550685"/>
              <a:gd name="connsiteY1-632" fmla="*/ 0 h 749783"/>
              <a:gd name="connsiteX2-633" fmla="*/ 550685 w 550685"/>
              <a:gd name="connsiteY2-634" fmla="*/ 283987 h 749783"/>
              <a:gd name="connsiteX3-635" fmla="*/ 487874 w 550685"/>
              <a:gd name="connsiteY3-636" fmla="*/ 741916 h 749783"/>
              <a:gd name="connsiteX4-637" fmla="*/ 94 w 550685"/>
              <a:gd name="connsiteY4-638" fmla="*/ 749783 h 749783"/>
              <a:gd name="connsiteX5-639" fmla="*/ 12441 w 550685"/>
              <a:gd name="connsiteY5-640" fmla="*/ 283796 h 749783"/>
              <a:gd name="connsiteX0-641" fmla="*/ 10614 w 550697"/>
              <a:gd name="connsiteY0-642" fmla="*/ 352680 h 749783"/>
              <a:gd name="connsiteX1-643" fmla="*/ 238247 w 550697"/>
              <a:gd name="connsiteY1-644" fmla="*/ 0 h 749783"/>
              <a:gd name="connsiteX2-645" fmla="*/ 550697 w 550697"/>
              <a:gd name="connsiteY2-646" fmla="*/ 283987 h 749783"/>
              <a:gd name="connsiteX3-647" fmla="*/ 487886 w 550697"/>
              <a:gd name="connsiteY3-648" fmla="*/ 741916 h 749783"/>
              <a:gd name="connsiteX4-649" fmla="*/ 106 w 550697"/>
              <a:gd name="connsiteY4-650" fmla="*/ 749783 h 749783"/>
              <a:gd name="connsiteX5-651" fmla="*/ 10614 w 550697"/>
              <a:gd name="connsiteY5-652" fmla="*/ 352680 h 749783"/>
              <a:gd name="connsiteX0-653" fmla="*/ 10614 w 556868"/>
              <a:gd name="connsiteY0-654" fmla="*/ 352680 h 749783"/>
              <a:gd name="connsiteX1-655" fmla="*/ 238247 w 556868"/>
              <a:gd name="connsiteY1-656" fmla="*/ 0 h 749783"/>
              <a:gd name="connsiteX2-657" fmla="*/ 556868 w 556868"/>
              <a:gd name="connsiteY2-658" fmla="*/ 306291 h 749783"/>
              <a:gd name="connsiteX3-659" fmla="*/ 487886 w 556868"/>
              <a:gd name="connsiteY3-660" fmla="*/ 741916 h 749783"/>
              <a:gd name="connsiteX4-661" fmla="*/ 106 w 556868"/>
              <a:gd name="connsiteY4-662" fmla="*/ 749783 h 749783"/>
              <a:gd name="connsiteX5-663" fmla="*/ 10614 w 556868"/>
              <a:gd name="connsiteY5-664" fmla="*/ 352680 h 74978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56868" h="749783">
                <a:moveTo>
                  <a:pt x="10614" y="352680"/>
                </a:moveTo>
                <a:lnTo>
                  <a:pt x="238247" y="0"/>
                </a:lnTo>
                <a:lnTo>
                  <a:pt x="556868" y="306291"/>
                </a:lnTo>
                <a:lnTo>
                  <a:pt x="487886" y="741916"/>
                </a:lnTo>
                <a:lnTo>
                  <a:pt x="106" y="749783"/>
                </a:lnTo>
                <a:cubicBezTo>
                  <a:pt x="-1320" y="587922"/>
                  <a:pt x="12040" y="514541"/>
                  <a:pt x="10614" y="352680"/>
                </a:cubicBezTo>
                <a:close/>
              </a:path>
            </a:pathLst>
          </a:custGeom>
          <a:noFill/>
          <a:ln w="28575">
            <a:solidFill>
              <a:schemeClr val="tx1">
                <a:lumMod val="85000"/>
                <a:lumOff val="15000"/>
              </a:schemeClr>
            </a:solidFill>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dirty="0"/>
          </a:p>
        </p:txBody>
      </p:sp>
      <p:sp>
        <p:nvSpPr>
          <p:cNvPr id="19" name="矩形 18"/>
          <p:cNvSpPr/>
          <p:nvPr/>
        </p:nvSpPr>
        <p:spPr>
          <a:xfrm>
            <a:off x="6089704" y="515077"/>
            <a:ext cx="1544012" cy="369332"/>
          </a:xfrm>
          <a:prstGeom prst="rect">
            <a:avLst/>
          </a:prstGeom>
        </p:spPr>
        <p:txBody>
          <a:bodyPr wrap="none">
            <a:spAutoFit/>
          </a:bodyPr>
          <a:lstStyle/>
          <a:p>
            <a:r>
              <a:rPr kumimoji="1" lang="en-US" altLang="zh-CN" b="1" dirty="0"/>
              <a:t>MapReduce</a:t>
            </a:r>
            <a:r>
              <a:rPr kumimoji="1" lang="zh-CN" altLang="en-US" dirty="0"/>
              <a:t> </a:t>
            </a:r>
            <a:endParaRPr lang="zh-CN" altLang="en-US" dirty="0"/>
          </a:p>
        </p:txBody>
      </p:sp>
    </p:spTree>
  </p:cSld>
  <p:clrMapOvr>
    <a:masterClrMapping/>
  </p:clrMapOvr>
</p:sld>
</file>

<file path=ppt/theme/theme1.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28575">
          <a:solidFill>
            <a:schemeClr val="tx1"/>
          </a:solidFill>
          <a:prstDash val="sysDot"/>
          <a:headEnd type="none" w="med" len="med"/>
          <a:tailEnd type="arrow" w="lg" len="lg"/>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16586</Words>
  <Application>WPS 演示</Application>
  <PresentationFormat>全屏显示(16:10)</PresentationFormat>
  <Paragraphs>970</Paragraphs>
  <Slides>50</Slides>
  <Notes>32</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50</vt:i4>
      </vt:variant>
    </vt:vector>
  </HeadingPairs>
  <TitlesOfParts>
    <vt:vector size="76" baseType="lpstr">
      <vt:lpstr>Arial</vt:lpstr>
      <vt:lpstr>宋体</vt:lpstr>
      <vt:lpstr>Wingdings</vt:lpstr>
      <vt:lpstr>等线</vt:lpstr>
      <vt:lpstr>微软雅黑 Light</vt:lpstr>
      <vt:lpstr>微软雅黑</vt:lpstr>
      <vt:lpstr>Consolas</vt:lpstr>
      <vt:lpstr>Calibri</vt:lpstr>
      <vt:lpstr>Google Sans</vt:lpstr>
      <vt:lpstr>Segoe Print</vt:lpstr>
      <vt:lpstr>MS PGothic</vt:lpstr>
      <vt:lpstr>Cambria Math</vt:lpstr>
      <vt:lpstr>Arial Unicode MS</vt:lpstr>
      <vt:lpstr>PingFang SC Bold</vt:lpstr>
      <vt:lpstr>PingFang SC</vt:lpstr>
      <vt:lpstr>UbuntuMono</vt:lpstr>
      <vt:lpstr>Eras Medium ITC</vt:lpstr>
      <vt:lpstr>Candara</vt:lpstr>
      <vt:lpstr>Verdana</vt:lpstr>
      <vt:lpstr>Courier New</vt:lpstr>
      <vt:lpstr>Times</vt:lpstr>
      <vt:lpstr>Times New Roman</vt:lpstr>
      <vt:lpstr>Arial</vt:lpstr>
      <vt:lpstr>Helvetica Neue Medium</vt:lpstr>
      <vt:lpstr>PMingLiU</vt:lpstr>
      <vt:lpstr>1_Office 主题​​</vt:lpstr>
      <vt:lpstr>The distributed (and parallel) programming on a single device &amp; MapReduce</vt:lpstr>
      <vt:lpstr>Use distributed computing frameworks for complex queries</vt:lpstr>
      <vt:lpstr>Example: batching processing</vt:lpstr>
      <vt:lpstr>Old days: using command line to process the log </vt:lpstr>
      <vt:lpstr>Use command line tools for batch processing</vt:lpstr>
      <vt:lpstr>Does batch processing with command line tools scale? </vt:lpstr>
      <vt:lpstr>Scaling log processing using RPC: step #1 </vt:lpstr>
      <vt:lpstr>From theory to reality </vt:lpstr>
      <vt:lpstr>Scaling log processing using RPC: step #2</vt:lpstr>
      <vt:lpstr>Building application with distributed computing: old days</vt:lpstr>
      <vt:lpstr>Challenges programmers facing </vt:lpstr>
      <vt:lpstr>Challenges programmers facing </vt:lpstr>
      <vt:lpstr>Challenges programmers facing </vt:lpstr>
      <vt:lpstr>Challenges programmers facing </vt:lpstr>
      <vt:lpstr>Challenges programmers facing </vt:lpstr>
      <vt:lpstr>Idea: we build a framework to hide the above tasks </vt:lpstr>
      <vt:lpstr>MapReduce: Simplified Data Processing on Large Clusters</vt:lpstr>
      <vt:lpstr>MapReduce: a distributed batch processing system</vt:lpstr>
      <vt:lpstr>MapReduce abstraction matches our requirements well</vt:lpstr>
      <vt:lpstr>MapReduce Programming Interface</vt:lpstr>
      <vt:lpstr>MapReduce Programming Model </vt:lpstr>
      <vt:lpstr>MapReduce Programming Model </vt:lpstr>
      <vt:lpstr>MapReduce Programming Model </vt:lpstr>
      <vt:lpstr>MapReduce example：Word count</vt:lpstr>
      <vt:lpstr>MapReduce example：Word count</vt:lpstr>
      <vt:lpstr>MapReduce Programming Model </vt:lpstr>
      <vt:lpstr>MapReduce Execution Flow</vt:lpstr>
      <vt:lpstr>MapReduce Execution Flow</vt:lpstr>
      <vt:lpstr>MapReduce: The Complete Picture</vt:lpstr>
      <vt:lpstr>MapReduce: The Complete Picture</vt:lpstr>
      <vt:lpstr>MapReduce: The Complete Picture</vt:lpstr>
      <vt:lpstr>MapReduce: The Complete Picture</vt:lpstr>
      <vt:lpstr>MapReduce: The Complete Picture</vt:lpstr>
      <vt:lpstr>MapReduce: The Complete Picture</vt:lpstr>
      <vt:lpstr>MapReduce: The Complete Picture</vt:lpstr>
      <vt:lpstr>MapReduce: The Complete Picture</vt:lpstr>
      <vt:lpstr>MapReduce example in action：Word count</vt:lpstr>
      <vt:lpstr>Other examples of MapReduce</vt:lpstr>
      <vt:lpstr>Other examples of MapReduce</vt:lpstr>
      <vt:lpstr>Recall, common challenges of  Distributed Computing</vt:lpstr>
      <vt:lpstr>Fault tolerance of MapReduce</vt:lpstr>
      <vt:lpstr>Fault tolerance of MapReduce</vt:lpstr>
      <vt:lpstr>Fault tolerance of MapReduce</vt:lpstr>
      <vt:lpstr>Fault tolerance of MapReduce</vt:lpstr>
      <vt:lpstr>Optimization for Locality</vt:lpstr>
      <vt:lpstr>Optimization for Locality</vt:lpstr>
      <vt:lpstr>Refinement: redundant execution</vt:lpstr>
      <vt:lpstr>Summary of MapReduce </vt:lpstr>
      <vt:lpstr>Summary of MapReduce </vt:lpstr>
      <vt:lpstr>Summary of MapReduce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cp:lastModifiedBy>
  <cp:revision>2888</cp:revision>
  <cp:lastPrinted>2020-03-02T13:38:00Z</cp:lastPrinted>
  <dcterms:created xsi:type="dcterms:W3CDTF">2017-11-24T09:35:00Z</dcterms:created>
  <dcterms:modified xsi:type="dcterms:W3CDTF">2025-01-15T06:08:33Z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494C4426BBAB4DB89C43B4E2CAAB1198_12</vt:lpwstr>
  </property>
  <property fmtid="{D5CDD505-2E9C-101B-9397-08002B2CF9AE}" pid="3" name="KSOProductBuildVer">
    <vt:lpwstr>2052-12.1.0.19770</vt:lpwstr>
  </property>
</Properties>
</file>