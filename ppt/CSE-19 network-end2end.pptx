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4"/>
  </p:handoutMasterIdLst>
  <p:sldIdLst>
    <p:sldId id="2241" r:id="rId3"/>
    <p:sldId id="2733" r:id="rId5"/>
    <p:sldId id="2734" r:id="rId6"/>
    <p:sldId id="2735" r:id="rId7"/>
    <p:sldId id="2736" r:id="rId8"/>
    <p:sldId id="2737" r:id="rId9"/>
    <p:sldId id="2738" r:id="rId10"/>
    <p:sldId id="2739" r:id="rId11"/>
    <p:sldId id="2740" r:id="rId12"/>
    <p:sldId id="2741" r:id="rId13"/>
    <p:sldId id="2742" r:id="rId14"/>
    <p:sldId id="2743" r:id="rId15"/>
    <p:sldId id="2744" r:id="rId16"/>
    <p:sldId id="284" r:id="rId17"/>
    <p:sldId id="2745" r:id="rId18"/>
    <p:sldId id="2746" r:id="rId19"/>
    <p:sldId id="2747" r:id="rId20"/>
    <p:sldId id="2748" r:id="rId21"/>
    <p:sldId id="2749" r:id="rId22"/>
    <p:sldId id="2750" r:id="rId23"/>
    <p:sldId id="2751" r:id="rId24"/>
    <p:sldId id="290" r:id="rId25"/>
    <p:sldId id="2752" r:id="rId26"/>
    <p:sldId id="2753" r:id="rId27"/>
    <p:sldId id="2754" r:id="rId28"/>
    <p:sldId id="2755" r:id="rId29"/>
    <p:sldId id="2756" r:id="rId30"/>
    <p:sldId id="2757" r:id="rId31"/>
    <p:sldId id="2758" r:id="rId32"/>
    <p:sldId id="2759" r:id="rId33"/>
    <p:sldId id="2760" r:id="rId34"/>
    <p:sldId id="2761" r:id="rId35"/>
    <p:sldId id="2762" r:id="rId36"/>
    <p:sldId id="305" r:id="rId37"/>
    <p:sldId id="2763" r:id="rId38"/>
    <p:sldId id="2764" r:id="rId39"/>
    <p:sldId id="2765" r:id="rId40"/>
    <p:sldId id="2766" r:id="rId41"/>
    <p:sldId id="2767" r:id="rId42"/>
    <p:sldId id="2768" r:id="rId43"/>
    <p:sldId id="2769" r:id="rId44"/>
    <p:sldId id="2770" r:id="rId45"/>
    <p:sldId id="2771" r:id="rId46"/>
    <p:sldId id="2772" r:id="rId47"/>
    <p:sldId id="2773" r:id="rId48"/>
    <p:sldId id="2774" r:id="rId49"/>
    <p:sldId id="2775" r:id="rId50"/>
    <p:sldId id="2776" r:id="rId51"/>
    <p:sldId id="2777" r:id="rId52"/>
    <p:sldId id="2778" r:id="rId53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4" userDrawn="1">
          <p15:clr>
            <a:srgbClr val="A4A3A4"/>
          </p15:clr>
        </p15:guide>
        <p15:guide id="3" pos="52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0432FF"/>
    <a:srgbClr val="0066B8"/>
    <a:srgbClr val="BD374B"/>
    <a:srgbClr val="BE374B"/>
    <a:srgbClr val="EACBA3"/>
    <a:srgbClr val="E2EAF7"/>
    <a:srgbClr val="FF5F00"/>
    <a:srgbClr val="FF7E79"/>
    <a:srgbClr val="F6F9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67" autoAdjust="0"/>
    <p:restoredTop sz="88708" autoAdjust="0"/>
  </p:normalViewPr>
  <p:slideViewPr>
    <p:cSldViewPr showGuides="1">
      <p:cViewPr varScale="1">
        <p:scale>
          <a:sx n="161" d="100"/>
          <a:sy n="161" d="100"/>
        </p:scale>
        <p:origin x="2392" y="184"/>
      </p:cViewPr>
      <p:guideLst>
        <p:guide orient="horz" pos="2934"/>
        <p:guide pos="5284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如果发送方没有收到 </a:t>
            </a:r>
            <a:r>
              <a:rPr lang="en-GB" altLang="zh-CN" dirty="0">
                <a:solidFill>
                  <a:srgbClr val="0E0E0E"/>
                </a:solidFill>
                <a:effectLst/>
                <a:latin typeface=".AppleSystemUIFont"/>
              </a:rPr>
              <a:t>NAK</a:t>
            </a:r>
            <a:r>
              <a:rPr lang="zh-CN" altLang="en-GB" dirty="0">
                <a:solidFill>
                  <a:srgbClr val="0E0E0E"/>
                </a:solidFill>
                <a:effectLst/>
                <a:latin typeface=".AppleSystemUIFont"/>
              </a:rPr>
              <a:t>，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可以默认数据传输是成功的。</a:t>
            </a:r>
            <a:endParaRPr lang="zh-CN" alt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r>
              <a:rPr lang="en-US" altLang="zh-CN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因为接收方检测到问题时会立即发 </a:t>
            </a:r>
            <a:r>
              <a:rPr lang="en-GB" altLang="zh-CN" dirty="0">
                <a:solidFill>
                  <a:srgbClr val="0E0E0E"/>
                </a:solidFill>
                <a:effectLst/>
                <a:latin typeface=".AppleSystemUIFont"/>
              </a:rPr>
              <a:t>NAK</a:t>
            </a:r>
            <a:r>
              <a:rPr lang="zh-CN" altLang="en-GB" dirty="0">
                <a:solidFill>
                  <a:srgbClr val="0E0E0E"/>
                </a:solidFill>
                <a:effectLst/>
                <a:latin typeface=".AppleSystemUIFont"/>
              </a:rPr>
              <a:t>，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不会因为数据错误而长时间沉默。</a:t>
            </a:r>
            <a:endParaRPr lang="en-US" altLang="zh-CN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b="1" dirty="0">
                <a:solidFill>
                  <a:srgbClr val="0E0E0E"/>
                </a:solidFill>
                <a:effectLst/>
                <a:latin typeface=".AppleSystemUIFont"/>
              </a:rPr>
              <a:t>“only once per stream”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：即使发送方不为每个数据包设置定时器，它仍然需要为整个数据流（</a:t>
            </a:r>
            <a:r>
              <a:rPr lang="en-GB" altLang="zh-CN" dirty="0">
                <a:solidFill>
                  <a:srgbClr val="0E0E0E"/>
                </a:solidFill>
                <a:effectLst/>
                <a:latin typeface=".AppleSystemUIFont"/>
              </a:rPr>
              <a:t>stream</a:t>
            </a:r>
            <a:r>
              <a:rPr lang="zh-CN" altLang="en-GB" dirty="0">
                <a:solidFill>
                  <a:srgbClr val="0E0E0E"/>
                </a:solidFill>
                <a:effectLst/>
                <a:latin typeface=".AppleSystemUIFont"/>
              </a:rPr>
              <a:t>）</a:t>
            </a:r>
            <a:r>
              <a:rPr lang="zh-CN" altLang="en-US" dirty="0">
                <a:solidFill>
                  <a:srgbClr val="0E0E0E"/>
                </a:solidFill>
                <a:effectLst/>
                <a:latin typeface=".AppleSystemUIFont"/>
              </a:rPr>
              <a:t>设置一个单一的定时器，用来确保数据传输不会无限期地等待。</a:t>
            </a:r>
            <a:endParaRPr lang="zh-CN" alt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81025" indent="-225425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A40B-EA42-4A59-BDB5-85EFA65BC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tif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tif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tif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31048" y="1492992"/>
            <a:ext cx="9358808" cy="158053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200" b="0" dirty="0">
                <a:latin typeface="+mn-lt"/>
              </a:rPr>
              <a:t>End-to-end Layer</a:t>
            </a:r>
            <a:br>
              <a:rPr kumimoji="1" lang="en-US" altLang="zh-CN" sz="3200" b="0" dirty="0">
                <a:latin typeface="+mn-lt"/>
              </a:rPr>
            </a:br>
            <a:r>
              <a:rPr kumimoji="1" lang="en-US" altLang="zh-CN" sz="3200" b="0" dirty="0">
                <a:latin typeface="+mn-lt"/>
              </a:rPr>
              <a:t>Best-effort is not enough</a:t>
            </a:r>
            <a:endParaRPr kumimoji="1" lang="zh-CN" altLang="en-US" sz="3200" b="0" dirty="0">
              <a:latin typeface="+mn-lt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 (2024 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 txBox="1"/>
          <p:nvPr/>
        </p:nvSpPr>
        <p:spPr>
          <a:xfrm>
            <a:off x="-6647" y="5210411"/>
            <a:ext cx="82245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xx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End-to-end Layer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Network layer has no guarantees on: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Delay			- Order of arrival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Certainty of arrival		- Accuracy of content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Right place to deliver</a:t>
            </a:r>
            <a:endParaRPr lang="en-US" altLang="zh-CN" dirty="0">
              <a:ea typeface="MS PGothic" panose="020B0600070205080204" charset="-128"/>
            </a:endParaRPr>
          </a:p>
          <a:p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End-to-end layer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No single design is likely to suffice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Transport protocol for each class of application</a:t>
            </a:r>
            <a:endParaRPr lang="en-US" altLang="zh-CN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Famous Transport Protocols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UDP (User Datagram Protocol)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Be used directly for some simple applications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Also be used as a component for other protocols</a:t>
            </a: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TCP (Transmission Control Protocol)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Keep order, no missing, no duplication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Provision for flow control</a:t>
            </a: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RTP (Real-time Transport Protocol)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Built on UDP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Be used for streaming video or voice, etc.</a:t>
            </a: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No "one size fits all"</a:t>
            </a:r>
            <a:endParaRPr lang="en-US" altLang="zh-CN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Assurance of End-to-end Protocol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pPr marL="401320" indent="-401320">
              <a:buFont typeface="Calibri Light" panose="020F0302020204030204" charset="0"/>
              <a:buAutoNum type="arabicPeriod"/>
            </a:pPr>
            <a:r>
              <a:rPr lang="en-US" altLang="zh-CN" dirty="0">
                <a:ea typeface="MS PGothic" panose="020B0600070205080204" charset="-128"/>
              </a:rPr>
              <a:t>Assurance of at-least-once delivery</a:t>
            </a:r>
            <a:endParaRPr lang="en-US" altLang="zh-CN" dirty="0">
              <a:ea typeface="MS PGothic" panose="020B0600070205080204" charset="-128"/>
            </a:endParaRPr>
          </a:p>
          <a:p>
            <a:pPr marL="401320" indent="-401320">
              <a:buFont typeface="Calibri Light" panose="020F0302020204030204" charset="0"/>
              <a:buAutoNum type="arabicPeriod"/>
            </a:pPr>
            <a:r>
              <a:rPr lang="en-US" altLang="zh-CN" dirty="0">
                <a:ea typeface="MS PGothic" panose="020B0600070205080204" charset="-128"/>
              </a:rPr>
              <a:t>Assurance of at-most-once delivery</a:t>
            </a:r>
            <a:endParaRPr lang="en-US" altLang="zh-CN" dirty="0">
              <a:ea typeface="MS PGothic" panose="020B0600070205080204" charset="-128"/>
            </a:endParaRPr>
          </a:p>
          <a:p>
            <a:pPr marL="401320" indent="-401320">
              <a:buFont typeface="Calibri Light" panose="020F0302020204030204" charset="0"/>
              <a:buAutoNum type="arabicPeriod"/>
            </a:pPr>
            <a:r>
              <a:rPr lang="en-US" altLang="zh-CN" dirty="0">
                <a:ea typeface="MS PGothic" panose="020B0600070205080204" charset="-128"/>
              </a:rPr>
              <a:t>Assurance of data integrity</a:t>
            </a:r>
            <a:endParaRPr lang="en-US" altLang="zh-CN" dirty="0">
              <a:ea typeface="MS PGothic" panose="020B0600070205080204" charset="-128"/>
            </a:endParaRPr>
          </a:p>
          <a:p>
            <a:pPr marL="401320" indent="-401320">
              <a:buFont typeface="Calibri Light" panose="020F0302020204030204" charset="0"/>
              <a:buAutoNum type="arabicPeriod"/>
            </a:pPr>
            <a:r>
              <a:rPr lang="en-US" altLang="zh-CN" dirty="0">
                <a:ea typeface="MS PGothic" panose="020B0600070205080204" charset="-128"/>
              </a:rPr>
              <a:t>Assurance of stream order &amp; closing of connections</a:t>
            </a:r>
            <a:endParaRPr lang="en-US" altLang="zh-CN" dirty="0">
              <a:ea typeface="MS PGothic" panose="020B0600070205080204" charset="-128"/>
            </a:endParaRPr>
          </a:p>
          <a:p>
            <a:pPr marL="401320" indent="-401320">
              <a:buFont typeface="Calibri Light" panose="020F0302020204030204" charset="0"/>
              <a:buAutoNum type="arabicPeriod"/>
            </a:pPr>
            <a:r>
              <a:rPr lang="en-US" altLang="zh-CN" dirty="0">
                <a:ea typeface="MS PGothic" panose="020B0600070205080204" charset="-128"/>
              </a:rPr>
              <a:t>Assurance of jitter control</a:t>
            </a:r>
            <a:endParaRPr lang="en-US" altLang="zh-CN" dirty="0">
              <a:ea typeface="MS PGothic" panose="020B0600070205080204" charset="-128"/>
            </a:endParaRPr>
          </a:p>
          <a:p>
            <a:pPr marL="401320" indent="-401320">
              <a:buFont typeface="Calibri Light" panose="020F0302020204030204" charset="0"/>
              <a:buAutoNum type="arabicPeriod"/>
            </a:pPr>
            <a:r>
              <a:rPr lang="en-US" altLang="zh-CN" dirty="0">
                <a:ea typeface="MS PGothic" panose="020B0600070205080204" charset="-128"/>
              </a:rPr>
              <a:t>Assurance of authenticity and privacy</a:t>
            </a:r>
            <a:endParaRPr lang="en-US" altLang="zh-CN" dirty="0">
              <a:ea typeface="MS PGothic" panose="020B0600070205080204" charset="-128"/>
            </a:endParaRPr>
          </a:p>
          <a:p>
            <a:pPr marL="401320" indent="-401320">
              <a:buFont typeface="Calibri Light" panose="020F0302020204030204" charset="0"/>
              <a:buAutoNum type="arabicPeriod"/>
            </a:pPr>
            <a:r>
              <a:rPr lang="en-US" altLang="zh-CN" dirty="0">
                <a:ea typeface="MS PGothic" panose="020B0600070205080204" charset="-128"/>
              </a:rPr>
              <a:t>Assurance of end-to-end performance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Assurance of At-least-once Delivery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RTT (Round-trip time)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b="1" dirty="0" err="1">
                <a:solidFill>
                  <a:srgbClr val="0096FF"/>
                </a:solidFill>
                <a:ea typeface="MS PGothic" panose="020B0600070205080204" charset="-128"/>
              </a:rPr>
              <a:t>to_time</a:t>
            </a:r>
            <a:r>
              <a:rPr lang="en-US" altLang="zh-CN" b="1" dirty="0">
                <a:solidFill>
                  <a:srgbClr val="0096FF"/>
                </a:solidFill>
                <a:ea typeface="MS PGothic" panose="020B0600070205080204" charset="-128"/>
              </a:rPr>
              <a:t> + </a:t>
            </a:r>
            <a:r>
              <a:rPr lang="en-US" altLang="zh-CN" b="1" dirty="0" err="1">
                <a:solidFill>
                  <a:srgbClr val="0096FF"/>
                </a:solidFill>
                <a:ea typeface="MS PGothic" panose="020B0600070205080204" charset="-128"/>
              </a:rPr>
              <a:t>process_time</a:t>
            </a:r>
            <a:r>
              <a:rPr lang="en-US" altLang="zh-CN" b="1" dirty="0">
                <a:solidFill>
                  <a:srgbClr val="0096FF"/>
                </a:solidFill>
                <a:ea typeface="MS PGothic" panose="020B0600070205080204" charset="-128"/>
              </a:rPr>
              <a:t> + </a:t>
            </a:r>
            <a:r>
              <a:rPr lang="en-US" altLang="zh-CN" b="1" dirty="0" err="1">
                <a:solidFill>
                  <a:srgbClr val="0096FF"/>
                </a:solidFill>
                <a:ea typeface="MS PGothic" panose="020B0600070205080204" charset="-128"/>
              </a:rPr>
              <a:t>back_time</a:t>
            </a:r>
            <a:r>
              <a:rPr lang="en-US" altLang="zh-CN" b="1" dirty="0">
                <a:solidFill>
                  <a:srgbClr val="0096FF"/>
                </a:solidFill>
                <a:ea typeface="MS PGothic" panose="020B0600070205080204" charset="-128"/>
              </a:rPr>
              <a:t> (ack)</a:t>
            </a:r>
            <a:endParaRPr lang="en-US" altLang="zh-CN" b="1" dirty="0">
              <a:solidFill>
                <a:srgbClr val="0096FF"/>
              </a:solidFill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At least once on best effort network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Send packet with </a:t>
            </a:r>
            <a:r>
              <a:rPr lang="en-US" altLang="zh-CN" b="1" dirty="0">
                <a:solidFill>
                  <a:srgbClr val="FF0000"/>
                </a:solidFill>
                <a:ea typeface="MS PGothic" panose="020B0600070205080204" charset="-128"/>
              </a:rPr>
              <a:t>nonce</a:t>
            </a:r>
            <a:endParaRPr lang="en-US" altLang="zh-CN" b="1" dirty="0">
              <a:solidFill>
                <a:srgbClr val="FF0000"/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Sender keeps a copy of the packet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Resend if timeout before receiving acknowledge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Receiver acknowledges a packet with its </a:t>
            </a:r>
            <a:r>
              <a:rPr lang="en-US" altLang="zh-CN" b="1" dirty="0">
                <a:solidFill>
                  <a:srgbClr val="FF0000"/>
                </a:solidFill>
                <a:ea typeface="MS PGothic" panose="020B0600070205080204" charset="-128"/>
              </a:rPr>
              <a:t>nonce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Try </a:t>
            </a:r>
            <a:r>
              <a:rPr lang="en-US" altLang="zh-CN" i="1" dirty="0">
                <a:ea typeface="MS PGothic" panose="020B0600070205080204" charset="-128"/>
              </a:rPr>
              <a:t>limit</a:t>
            </a:r>
            <a:r>
              <a:rPr lang="en-US" altLang="zh-CN" dirty="0">
                <a:ea typeface="MS PGothic" panose="020B0600070205080204" charset="-128"/>
              </a:rPr>
              <a:t> times before returning error to app</a:t>
            </a:r>
            <a:endParaRPr lang="en-US" altLang="zh-CN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Assurance of At-least-once Delivery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Dilemma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1. The data was not delivered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2. The data was delivered, but no ACK received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No way to know which situation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At-least-once delivery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No absolute assurance for at-least-once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Ensure if it is possible to get through, the message </a:t>
            </a:r>
            <a:br>
              <a:rPr lang="en-US" altLang="zh-CN" dirty="0">
                <a:ea typeface="MS PGothic" panose="020B0600070205080204" charset="-128"/>
              </a:rPr>
            </a:br>
            <a:r>
              <a:rPr lang="en-US" altLang="zh-CN" dirty="0">
                <a:ea typeface="MS PGothic" panose="020B0600070205080204" charset="-128"/>
              </a:rPr>
              <a:t>will get through eventually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Ensure if impossible to confirm delivery, app will know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No assurance for no-duplication</a:t>
            </a:r>
            <a:endParaRPr lang="en-US" altLang="zh-CN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176" y="1345332"/>
            <a:ext cx="2614375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Decide Timeout?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Fixed timer: dilemma of fixed timer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Too short? unnecessary resend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Too long? take long time to discover lost packets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Adaptive timer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E.g., adjust by currently observed RTT, set timer to 150%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Exponential back-off: doubling from a small timer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NAK (Negative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AcKnowledgment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)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Receiver sends a message that lists missing items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Receiver can count arriving segments rather than timer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Sender can have no timer (only once per stream)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Fixed Timer is Evil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Fixed timers lead to congestion collapse in NFS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Emergent phase synchronization of periodic protocols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Wisconsin time server meltdown</a:t>
            </a:r>
            <a:endParaRPr lang="zh-CN" altLang="en-US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00" y="126402"/>
            <a:ext cx="740792" cy="740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>
                <a:ea typeface="MS PGothic" panose="020B0600070205080204" charset="-128"/>
              </a:rPr>
              <a:t>Emergent Phase Synchronization of Periodic Protocols</a:t>
            </a:r>
            <a:endParaRPr kumimoji="1" lang="zh-CN" altLang="en-US" sz="2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Periodic polling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E.g. picking up mail, sending "are-you-there?"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A workstation sends a broadcast packet every 5 minutes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All workstations try to broadcast at the same time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Each workstation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Send a broadcast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Set a fixed timer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i="1" dirty="0">
                <a:solidFill>
                  <a:srgbClr val="0096FF"/>
                </a:solidFill>
                <a:ea typeface="MS PGothic" panose="020B0600070205080204" charset="-128"/>
              </a:rPr>
              <a:t>Lesson: Fixed timers have many evils. Do</a:t>
            </a:r>
            <a:r>
              <a:rPr lang="zh-CN" altLang="en-US" i="1" dirty="0">
                <a:solidFill>
                  <a:srgbClr val="0096FF"/>
                </a:solidFill>
                <a:ea typeface="MS PGothic" panose="020B0600070205080204" charset="-128"/>
              </a:rPr>
              <a:t> </a:t>
            </a:r>
            <a:r>
              <a:rPr lang="en-US" altLang="zh-CN" i="1" dirty="0">
                <a:solidFill>
                  <a:srgbClr val="0096FF"/>
                </a:solidFill>
                <a:ea typeface="MS PGothic" panose="020B0600070205080204" charset="-128"/>
              </a:rPr>
              <a:t>not assume that unsynchronized periodic activities will stay that way</a:t>
            </a:r>
            <a:endParaRPr lang="zh-CN" altLang="en-US" i="1" dirty="0">
              <a:solidFill>
                <a:srgbClr val="0096FF"/>
              </a:solidFill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00" y="126402"/>
            <a:ext cx="740792" cy="7407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Wisconsin Time Server Meltdown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NETGEAR added a feature to wireless router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Logging packets -&gt; timestamp -&gt; time server (SNTP) -&gt; name discovery -&gt; 128.105.39.11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ea typeface="MS PGothic" panose="020B0600070205080204" charset="-128"/>
              </a:rPr>
              <a:t>Once per second </a:t>
            </a:r>
            <a:r>
              <a:rPr lang="en-US" altLang="zh-CN" dirty="0">
                <a:ea typeface="MS PGothic" panose="020B0600070205080204" charset="-128"/>
              </a:rPr>
              <a:t>(!)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until receive a response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Once per minute or per day after that</a:t>
            </a:r>
            <a:endParaRPr lang="en-US" altLang="zh-CN" dirty="0">
              <a:ea typeface="MS PGothic" panose="020B0600070205080204" charset="-128"/>
            </a:endParaRPr>
          </a:p>
          <a:p>
            <a:pPr>
              <a:spcBef>
                <a:spcPts val="1650"/>
              </a:spcBef>
            </a:pPr>
            <a:r>
              <a:rPr lang="en-US" altLang="zh-CN" dirty="0">
                <a:ea typeface="MS PGothic" panose="020B0600070205080204" charset="-128"/>
              </a:rPr>
              <a:t>Wisconsin Univ.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On May 14, 2003, at about 8:00 am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From 20,000 to 60,000 requests per second, filtering 23457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After one week, 270,000 requests per second, 150Mbps</a:t>
            </a:r>
            <a:endParaRPr lang="en-US" altLang="zh-CN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00" y="126402"/>
            <a:ext cx="740792" cy="7407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Wisconsin Time Server Meltdown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96FF"/>
                </a:solidFill>
                <a:ea typeface="MS PGothic" panose="020B0600070205080204" charset="-128"/>
              </a:rPr>
              <a:t>Lesson(s)</a:t>
            </a:r>
            <a:endParaRPr lang="en-US" altLang="zh-CN" dirty="0">
              <a:solidFill>
                <a:srgbClr val="0096FF"/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Fixed timers, again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Fixed Internet address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The client implements only part of a protocol</a:t>
            </a:r>
            <a:endParaRPr lang="en-US" altLang="zh-CN" dirty="0">
              <a:ea typeface="MS PGothic" panose="020B0600070205080204" charset="-128"/>
            </a:endParaRPr>
          </a:p>
          <a:p>
            <a:pPr lvl="2"/>
            <a:r>
              <a:rPr lang="en-US" altLang="zh-CN" sz="1600" dirty="0">
                <a:ea typeface="MS PGothic" panose="020B0600070205080204" charset="-128"/>
              </a:rPr>
              <a:t>There is a reason for features likes the "</a:t>
            </a:r>
            <a:r>
              <a:rPr lang="en-US" altLang="zh-CN" sz="1600" i="1" dirty="0">
                <a:ea typeface="MS PGothic" panose="020B0600070205080204" charset="-128"/>
              </a:rPr>
              <a:t>go away</a:t>
            </a:r>
            <a:r>
              <a:rPr lang="en-US" altLang="zh-CN" sz="1600" dirty="0">
                <a:ea typeface="MS PGothic" panose="020B0600070205080204" charset="-128"/>
              </a:rPr>
              <a:t>" response in SNTP</a:t>
            </a:r>
            <a:endParaRPr lang="zh-CN" altLang="en-US" sz="1600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00" y="126402"/>
            <a:ext cx="740792" cy="7407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Decide Timeout?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Fixed timer: dilemma of fixed timer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Too short: unnecessary resend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Too long: take long time to discover lost packets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Adaptive timer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E.g., adjust by currently observed RTT, set timer to 150%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Exponential back-off: doubling from a small timer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NAK (Negative 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AcKnowledgment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)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Receiver sends a message that lists missing items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Receiver can count arriving segments rather than timer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Sender can have no timer (only once per stream)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RTT Could be Highly Variable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0" y="1420813"/>
            <a:ext cx="5118100" cy="31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Calculating RTT and Timeout (in TCP)</a:t>
            </a:r>
            <a:endParaRPr lang="en-US" altLang="zh-CN" dirty="0"/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>
          <a:xfrm>
            <a:off x="467544" y="1129308"/>
            <a:ext cx="7805738" cy="3263504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dirty="0"/>
              <a:t>Exponentially Weighted Moving Average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/>
              <a:t>Estimate both the average </a:t>
            </a:r>
            <a:r>
              <a:rPr lang="en-US" altLang="zh-CN" i="1" dirty="0" err="1"/>
              <a:t>rtt_avg</a:t>
            </a:r>
            <a:r>
              <a:rPr lang="en-US" altLang="zh-CN" dirty="0"/>
              <a:t> and the deviation </a:t>
            </a:r>
            <a:r>
              <a:rPr lang="en-US" altLang="zh-CN" i="1" dirty="0" err="1"/>
              <a:t>rtt_dev</a:t>
            </a:r>
            <a:r>
              <a:rPr lang="en-US" altLang="zh-CN" i="1" dirty="0"/>
              <a:t>  </a:t>
            </a:r>
            <a:endParaRPr lang="en-US" altLang="zh-CN" i="1" dirty="0"/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/>
              <a:t>Procedure </a:t>
            </a:r>
            <a:r>
              <a:rPr lang="en-US" altLang="zh-CN" i="1" dirty="0" err="1"/>
              <a:t>calc_rtt</a:t>
            </a:r>
            <a:r>
              <a:rPr lang="en-US" altLang="zh-CN" dirty="0"/>
              <a:t>(</a:t>
            </a:r>
            <a:r>
              <a:rPr lang="en-US" altLang="zh-CN" dirty="0" err="1"/>
              <a:t>rtt_sample</a:t>
            </a:r>
            <a:r>
              <a:rPr lang="en-US" altLang="zh-CN" dirty="0"/>
              <a:t>)</a:t>
            </a:r>
            <a:endParaRPr lang="en-US" altLang="zh-CN" dirty="0"/>
          </a:p>
          <a:p>
            <a:pPr lvl="2" eaLnBrk="1" hangingPunct="1">
              <a:lnSpc>
                <a:spcPct val="110000"/>
              </a:lnSpc>
            </a:pP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rtt_avg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 = a*</a:t>
            </a: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rtt_sample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 + (1-a)*</a:t>
            </a: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rtt_avg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; /* a = 1/8 */  </a:t>
            </a:r>
            <a:endParaRPr lang="en-US" altLang="zh-CN" sz="1600" b="1" dirty="0">
              <a:solidFill>
                <a:srgbClr val="0096FF"/>
              </a:solidFill>
              <a:latin typeface="Courier New" panose="02070309020205020404"/>
              <a:ea typeface="MS PGothic" panose="020B0600070205080204" charset="-128"/>
              <a:cs typeface="Courier New" panose="02070309020205020404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dev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 = absolute(</a:t>
            </a: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rtt_sample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 – </a:t>
            </a: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rtt_avg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); </a:t>
            </a:r>
            <a:endParaRPr lang="en-US" altLang="zh-CN" sz="1600" b="1" dirty="0">
              <a:solidFill>
                <a:srgbClr val="0096FF"/>
              </a:solidFill>
              <a:latin typeface="Courier New" panose="02070309020205020404"/>
              <a:ea typeface="MS PGothic" panose="020B0600070205080204" charset="-128"/>
              <a:cs typeface="Courier New" panose="02070309020205020404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rtt_dev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 = b*</a:t>
            </a: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dev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 + (1-b)*</a:t>
            </a: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rtt_dev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ea typeface="MS PGothic" panose="020B0600070205080204" charset="-128"/>
                <a:cs typeface="Courier New" panose="02070309020205020404"/>
              </a:rPr>
              <a:t>;  /* b = 1/4 */  </a:t>
            </a:r>
            <a:endParaRPr lang="en-US" altLang="zh-CN" sz="1600" b="1" dirty="0">
              <a:solidFill>
                <a:srgbClr val="0096FF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/>
              <a:t>Procedure </a:t>
            </a:r>
            <a:r>
              <a:rPr lang="en-US" altLang="zh-CN" i="1" dirty="0" err="1"/>
              <a:t>calc_timeout</a:t>
            </a:r>
            <a:r>
              <a:rPr lang="en-US" altLang="zh-CN" i="1" dirty="0"/>
              <a:t>(</a:t>
            </a:r>
            <a:r>
              <a:rPr lang="en-US" altLang="zh-CN" i="1" dirty="0" err="1"/>
              <a:t>rtt_avg</a:t>
            </a:r>
            <a:r>
              <a:rPr lang="en-US" altLang="zh-CN" i="1" dirty="0"/>
              <a:t>, </a:t>
            </a:r>
            <a:r>
              <a:rPr lang="en-US" altLang="zh-CN" i="1" dirty="0" err="1"/>
              <a:t>rtt_dev</a:t>
            </a:r>
            <a:r>
              <a:rPr lang="en-US" altLang="zh-CN" i="1" dirty="0"/>
              <a:t>)</a:t>
            </a:r>
            <a:endParaRPr lang="en-US" altLang="zh-CN" i="1" dirty="0"/>
          </a:p>
          <a:p>
            <a:pPr lvl="2" eaLnBrk="1" hangingPunct="1">
              <a:lnSpc>
                <a:spcPct val="110000"/>
              </a:lnSpc>
            </a:pP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cs typeface="Courier New" panose="02070309020205020404"/>
              </a:rPr>
              <a:t>Timeout = </a:t>
            </a: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cs typeface="Courier New" panose="02070309020205020404"/>
              </a:rPr>
              <a:t>rtt_avg</a:t>
            </a:r>
            <a:r>
              <a:rPr lang="en-US" altLang="zh-CN" sz="1600" b="1" dirty="0">
                <a:solidFill>
                  <a:srgbClr val="0096FF"/>
                </a:solidFill>
                <a:latin typeface="Courier New" panose="02070309020205020404"/>
                <a:cs typeface="Courier New" panose="02070309020205020404"/>
              </a:rPr>
              <a:t> + 4*</a:t>
            </a:r>
            <a:r>
              <a:rPr lang="en-US" altLang="zh-CN" sz="1600" b="1" dirty="0" err="1">
                <a:solidFill>
                  <a:srgbClr val="0096FF"/>
                </a:solidFill>
                <a:latin typeface="Courier New" panose="02070309020205020404"/>
                <a:cs typeface="Courier New" panose="02070309020205020404"/>
              </a:rPr>
              <a:t>rtt_dev</a:t>
            </a:r>
            <a:endParaRPr lang="en-US" altLang="zh-CN" sz="1600" b="1" dirty="0">
              <a:solidFill>
                <a:srgbClr val="0096FF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Decide Timeout?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Fixed timer: dilemma of fixed timer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Too short: unnecessary resend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Too long: take long time to discover lost packets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Adaptive timer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E.g., adjust by currently observed RTT, set timer to 150%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S PGothic" panose="020B0600070205080204" charset="-128"/>
              </a:rPr>
              <a:t>Exponential back-off: doubling from a small timer</a:t>
            </a:r>
            <a:endParaRPr lang="en-US" altLang="zh-CN" dirty="0">
              <a:solidFill>
                <a:schemeClr val="bg1">
                  <a:lumMod val="65000"/>
                </a:schemeClr>
              </a:solidFill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NAK (Negative </a:t>
            </a:r>
            <a:r>
              <a:rPr lang="en-US" altLang="zh-CN" dirty="0" err="1">
                <a:ea typeface="MS PGothic" panose="020B0600070205080204" charset="-128"/>
              </a:rPr>
              <a:t>AcKnowledgment</a:t>
            </a:r>
            <a:r>
              <a:rPr lang="en-US" altLang="zh-CN" dirty="0">
                <a:ea typeface="MS PGothic" panose="020B0600070205080204" charset="-128"/>
              </a:rPr>
              <a:t>)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Receiver sends a message that lists missing items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Receiver can count arriving segments rather than timer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Sender can have no timer (only once per stream)</a:t>
            </a:r>
            <a:endParaRPr lang="en-US" altLang="zh-CN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Assurance of At-most-once Delivery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At-least-once delivery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Remember state at the sending side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Tends to generate duplicated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requests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At-most-once delivery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Maintains a table of nonce at the receiving side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The table may grow indefinitely</a:t>
            </a:r>
            <a:endParaRPr lang="en-US" altLang="zh-CN" dirty="0">
              <a:ea typeface="MS PGothic" panose="020B0600070205080204" charset="-128"/>
            </a:endParaRPr>
          </a:p>
          <a:p>
            <a:pPr lvl="2"/>
            <a:r>
              <a:rPr lang="en-US" altLang="zh-CN" sz="1600" dirty="0">
                <a:ea typeface="MS PGothic" panose="020B0600070205080204" charset="-128"/>
              </a:rPr>
              <a:t>Space and search time</a:t>
            </a:r>
            <a:endParaRPr lang="en-US" altLang="zh-CN" sz="1600" dirty="0">
              <a:ea typeface="MS PGothic" panose="020B0600070205080204" charset="-128"/>
            </a:endParaRPr>
          </a:p>
          <a:p>
            <a:pPr lvl="2"/>
            <a:r>
              <a:rPr lang="en-US" altLang="zh-CN" sz="1600" dirty="0">
                <a:solidFill>
                  <a:srgbClr val="FF0000"/>
                </a:solidFill>
                <a:ea typeface="MS PGothic" panose="020B0600070205080204" charset="-128"/>
              </a:rPr>
              <a:t>Tombstones</a:t>
            </a:r>
            <a:r>
              <a:rPr lang="en-US" altLang="zh-CN" sz="1600" dirty="0">
                <a:ea typeface="MS PGothic" panose="020B0600070205080204" charset="-128"/>
              </a:rPr>
              <a:t> (something that cannot be deleted </a:t>
            </a:r>
            <a:r>
              <a:rPr lang="en-US" altLang="zh-CN" sz="1600" i="1" dirty="0">
                <a:ea typeface="MS PGothic" panose="020B0600070205080204" charset="-128"/>
              </a:rPr>
              <a:t>forever</a:t>
            </a:r>
            <a:r>
              <a:rPr lang="en-US" altLang="zh-CN" sz="1600" dirty="0">
                <a:ea typeface="MS PGothic" panose="020B0600070205080204" charset="-128"/>
              </a:rPr>
              <a:t>)</a:t>
            </a:r>
            <a:endParaRPr lang="en-US" altLang="zh-CN" sz="1600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Another way: Make the application tolerate duplicated requests</a:t>
            </a:r>
            <a:endParaRPr lang="en-US" altLang="zh-CN" dirty="0">
              <a:ea typeface="MS PGothic" panose="020B0600070205080204" charset="-128"/>
            </a:endParaRPr>
          </a:p>
          <a:p>
            <a:pPr lvl="2"/>
            <a:r>
              <a:rPr lang="en-US" altLang="zh-CN" sz="1600" dirty="0">
                <a:ea typeface="MS PGothic" panose="020B0600070205080204" charset="-128"/>
              </a:rPr>
              <a:t>Recall the NFS collapse case:</a:t>
            </a:r>
            <a:r>
              <a:rPr lang="zh-CN" altLang="en-US" sz="1600" dirty="0">
                <a:ea typeface="MS PGothic" panose="020B0600070205080204" charset="-128"/>
              </a:rPr>
              <a:t> </a:t>
            </a:r>
            <a:r>
              <a:rPr lang="en-US" altLang="zh-CN" sz="1600" dirty="0">
                <a:ea typeface="MS PGothic" panose="020B0600070205080204" charset="-128"/>
              </a:rPr>
              <a:t>server</a:t>
            </a:r>
            <a:r>
              <a:rPr lang="zh-CN" altLang="en-US" sz="1600" dirty="0">
                <a:ea typeface="MS PGothic" panose="020B0600070205080204" charset="-128"/>
              </a:rPr>
              <a:t> </a:t>
            </a:r>
            <a:r>
              <a:rPr lang="en-US" altLang="zh-CN" sz="1600" dirty="0">
                <a:ea typeface="MS PGothic" panose="020B0600070205080204" charset="-128"/>
              </a:rPr>
              <a:t>wastes</a:t>
            </a:r>
            <a:r>
              <a:rPr lang="zh-CN" altLang="en-US" sz="1600" dirty="0">
                <a:ea typeface="MS PGothic" panose="020B0600070205080204" charset="-128"/>
              </a:rPr>
              <a:t> </a:t>
            </a:r>
            <a:r>
              <a:rPr lang="en-US" altLang="zh-CN" sz="1600" dirty="0">
                <a:ea typeface="MS PGothic" panose="020B0600070205080204" charset="-128"/>
              </a:rPr>
              <a:t>time</a:t>
            </a:r>
            <a:r>
              <a:rPr lang="zh-CN" altLang="en-US" sz="1600" dirty="0">
                <a:ea typeface="MS PGothic" panose="020B0600070205080204" charset="-128"/>
              </a:rPr>
              <a:t> </a:t>
            </a:r>
            <a:r>
              <a:rPr lang="en-US" altLang="zh-CN" sz="1600" dirty="0">
                <a:ea typeface="MS PGothic" panose="020B0600070205080204" charset="-128"/>
              </a:rPr>
              <a:t>to</a:t>
            </a:r>
            <a:r>
              <a:rPr lang="zh-CN" altLang="en-US" sz="1600" dirty="0">
                <a:ea typeface="MS PGothic" panose="020B0600070205080204" charset="-128"/>
              </a:rPr>
              <a:t> </a:t>
            </a:r>
            <a:r>
              <a:rPr lang="en-US" altLang="zh-CN" sz="1600" dirty="0">
                <a:ea typeface="MS PGothic" panose="020B0600070205080204" charset="-128"/>
              </a:rPr>
              <a:t>execute</a:t>
            </a:r>
            <a:r>
              <a:rPr lang="zh-CN" altLang="en-US" sz="1600" dirty="0">
                <a:ea typeface="MS PGothic" panose="020B0600070205080204" charset="-128"/>
              </a:rPr>
              <a:t> </a:t>
            </a:r>
            <a:r>
              <a:rPr lang="en-US" altLang="zh-CN" sz="1600" dirty="0">
                <a:ea typeface="MS PGothic" panose="020B0600070205080204" charset="-128"/>
              </a:rPr>
              <a:t>duplicated</a:t>
            </a:r>
            <a:r>
              <a:rPr lang="zh-CN" altLang="en-US" sz="1600" dirty="0">
                <a:ea typeface="MS PGothic" panose="020B0600070205080204" charset="-128"/>
              </a:rPr>
              <a:t> </a:t>
            </a:r>
            <a:r>
              <a:rPr lang="en-US" altLang="zh-CN" sz="1600" dirty="0">
                <a:ea typeface="MS PGothic" panose="020B0600070205080204" charset="-128"/>
              </a:rPr>
              <a:t>requests</a:t>
            </a:r>
            <a:endParaRPr lang="en-US" altLang="zh-CN" sz="1600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Duplicate Suppression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Monotonically increasing sequence number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Receiver discards smaller nonce,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only holds the last nonce, one per sender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Now,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the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old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nonce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is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a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i="1" dirty="0">
                <a:ea typeface="MS PGothic" panose="020B0600070205080204" charset="-128"/>
              </a:rPr>
              <a:t>tombstone</a:t>
            </a:r>
            <a:r>
              <a:rPr lang="en-US" altLang="zh-CN" dirty="0">
                <a:ea typeface="MS PGothic" panose="020B0600070205080204" charset="-128"/>
              </a:rPr>
              <a:t>!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Use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a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different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port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for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each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new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request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Should never reuse the old port number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But,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the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old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port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is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now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i="1" dirty="0">
                <a:ea typeface="MS PGothic" panose="020B0600070205080204" charset="-128"/>
              </a:rPr>
              <a:t>tombstone</a:t>
            </a:r>
            <a:r>
              <a:rPr lang="en-US" altLang="zh-CN" dirty="0">
                <a:ea typeface="MS PGothic" panose="020B0600070205080204" charset="-128"/>
              </a:rPr>
              <a:t>!</a:t>
            </a:r>
            <a:endParaRPr lang="en-US" altLang="zh-CN" dirty="0"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Duplicate Suppression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Accept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the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possibility of making a mistake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E.g., if sender always gives up after five RTT (cannot ensure at-least-once), then receiver can safely discard </a:t>
            </a:r>
            <a:r>
              <a:rPr lang="en-US" altLang="zh-CN" i="1" dirty="0">
                <a:ea typeface="MS PGothic" panose="020B0600070205080204" charset="-128"/>
              </a:rPr>
              <a:t>nonces</a:t>
            </a:r>
            <a:r>
              <a:rPr lang="en-US" altLang="zh-CN" dirty="0">
                <a:ea typeface="MS PGothic" panose="020B0600070205080204" charset="-128"/>
              </a:rPr>
              <a:t> that are older than five RTT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It is possible that a packet finally shows up after long delay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(solution: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wait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longer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time)</a:t>
            </a: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Receiver crashes and restarts: lose the table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One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solution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is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to use a new port number each time the system restarts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Another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is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to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ignore all packets until the number of RTT has passed since restarting, if sender tries limit times</a:t>
            </a: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GB" altLang="zh-CN" dirty="0">
                <a:ea typeface="MS PGothic" panose="020B0600070205080204" charset="-128"/>
              </a:rPr>
              <a:t>Idempotent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could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be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another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choice</a:t>
            </a:r>
            <a:endParaRPr lang="en-GB" altLang="zh-CN" dirty="0">
              <a:ea typeface="MS PGothic" panose="020B0600070205080204" charset="-128"/>
            </a:endParaRPr>
          </a:p>
          <a:p>
            <a:pPr marL="360045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Ensure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that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the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effects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of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multiple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execution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equals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execution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once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0096FF"/>
                </a:solidFill>
                <a:ea typeface="MS PGothic" panose="020B0600070205080204" charset="-128"/>
              </a:rPr>
              <a:t>Anyway, duplicate suppression makes the system complex</a:t>
            </a:r>
            <a:endParaRPr lang="en-US" altLang="zh-CN" dirty="0">
              <a:solidFill>
                <a:srgbClr val="0096FF"/>
              </a:solidFill>
              <a:ea typeface="MS PGothic" panose="020B0600070205080204" charset="-128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Assurance of Data Integrity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Data integrity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Receiver gets the same contents as sender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Reliable delivery protocol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Sender: adds checksum to the end-to-end layer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Receiver: recalculates the checksum, discards if not match 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solidFill>
                  <a:schemeClr val="accent1"/>
                </a:solidFill>
                <a:ea typeface="MS PGothic" panose="020B0600070205080204" charset="-128"/>
              </a:rPr>
              <a:t>Q:</a:t>
            </a:r>
            <a:r>
              <a:rPr lang="zh-CN" altLang="en-US" dirty="0">
                <a:solidFill>
                  <a:schemeClr val="accent1"/>
                </a:solidFill>
                <a:ea typeface="MS PGothic" panose="020B0600070205080204" charset="-128"/>
              </a:rPr>
              <a:t> </a:t>
            </a:r>
            <a:r>
              <a:rPr lang="en-US" altLang="zh-CN" dirty="0">
                <a:solidFill>
                  <a:schemeClr val="accent1"/>
                </a:solidFill>
                <a:ea typeface="MS PGothic" panose="020B0600070205080204" charset="-128"/>
              </a:rPr>
              <a:t>Is it redundant since link layer provides checksum?</a:t>
            </a:r>
            <a:endParaRPr lang="en-US" altLang="zh-CN" dirty="0">
              <a:solidFill>
                <a:schemeClr val="accent1"/>
              </a:solidFill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No.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Besides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network,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there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could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be</a:t>
            </a:r>
            <a:r>
              <a:rPr lang="zh-CN" altLang="en-US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other errors, e.g., in memory copying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The assurance is not absolute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What if a packet is mis-delivered and the receiver ACK?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Segments and Reassembly of Long Messages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rmAutofit/>
          </a:bodyPr>
          <a:lstStyle/>
          <a:p>
            <a:r>
              <a:rPr lang="en-US" altLang="zh-CN" dirty="0"/>
              <a:t>Bridge the difference between message and MTU</a:t>
            </a:r>
            <a:endParaRPr lang="en-US" altLang="zh-CN" dirty="0"/>
          </a:p>
          <a:p>
            <a:pPr lvl="1"/>
            <a:r>
              <a:rPr lang="en-US" altLang="zh-CN" dirty="0"/>
              <a:t>Message length: determined by application</a:t>
            </a:r>
            <a:endParaRPr lang="en-US" altLang="zh-CN" dirty="0"/>
          </a:p>
          <a:p>
            <a:pPr lvl="1"/>
            <a:r>
              <a:rPr lang="en-US" altLang="zh-CN" dirty="0"/>
              <a:t>MTU: determined by network</a:t>
            </a:r>
            <a:endParaRPr lang="en-US" altLang="zh-CN" dirty="0"/>
          </a:p>
          <a:p>
            <a:r>
              <a:rPr lang="en-US" altLang="zh-CN" dirty="0"/>
              <a:t>Segment contains ID for where it fits</a:t>
            </a:r>
            <a:endParaRPr lang="en-US" altLang="zh-CN" dirty="0"/>
          </a:p>
          <a:p>
            <a:pPr lvl="1"/>
            <a:r>
              <a:rPr lang="en-US" altLang="zh-CN" dirty="0"/>
              <a:t>E.g., </a:t>
            </a:r>
            <a:r>
              <a:rPr lang="en-US" altLang="en-US" dirty="0">
                <a:ea typeface="宋体" panose="02010600030101010101" pitchFamily="2" charset="-122"/>
              </a:rPr>
              <a:t>"</a:t>
            </a:r>
            <a:r>
              <a:rPr lang="en-US" altLang="zh-CN" dirty="0"/>
              <a:t>message 914, segment 3 of 7</a:t>
            </a:r>
            <a:r>
              <a:rPr lang="en-US" altLang="en-US" dirty="0">
                <a:ea typeface="宋体" panose="02010600030101010101" pitchFamily="2" charset="-122"/>
              </a:rPr>
              <a:t>"</a:t>
            </a:r>
            <a:endParaRPr lang="en-US" altLang="zh-CN" dirty="0"/>
          </a:p>
          <a:p>
            <a:pPr lvl="1"/>
            <a:r>
              <a:rPr lang="en-US" altLang="zh-CN" dirty="0"/>
              <a:t>Can be used for </a:t>
            </a:r>
            <a:r>
              <a:rPr lang="en-US" altLang="zh-CN" i="1" dirty="0"/>
              <a:t>at-least-once </a:t>
            </a:r>
            <a:r>
              <a:rPr lang="en-US" altLang="zh-CN" dirty="0"/>
              <a:t>and </a:t>
            </a:r>
            <a:r>
              <a:rPr lang="en-US" altLang="zh-CN" i="1" dirty="0"/>
              <a:t>at-most-once </a:t>
            </a:r>
            <a:r>
              <a:rPr lang="en-US" altLang="zh-CN" dirty="0"/>
              <a:t>delivery</a:t>
            </a:r>
            <a:endParaRPr lang="en-US" altLang="zh-CN" dirty="0"/>
          </a:p>
          <a:p>
            <a:r>
              <a:rPr lang="en-US" altLang="zh-CN" dirty="0"/>
              <a:t>Reassembly</a:t>
            </a:r>
            <a:endParaRPr lang="en-US" altLang="zh-CN" dirty="0"/>
          </a:p>
          <a:p>
            <a:pPr lvl="1"/>
            <a:r>
              <a:rPr lang="en-US" altLang="zh-CN" dirty="0"/>
              <a:t>Out-of-order, mingled with other message</a:t>
            </a:r>
            <a:r>
              <a:rPr lang="en-US" altLang="en-US" dirty="0">
                <a:ea typeface="宋体" panose="02010600030101010101" pitchFamily="2" charset="-122"/>
              </a:rPr>
              <a:t>'</a:t>
            </a:r>
            <a:r>
              <a:rPr lang="en-US" altLang="zh-CN" dirty="0"/>
              <a:t>s segments</a:t>
            </a:r>
            <a:endParaRPr lang="en-US" altLang="zh-CN" dirty="0"/>
          </a:p>
          <a:p>
            <a:pPr lvl="1"/>
            <a:r>
              <a:rPr lang="en-US" altLang="zh-CN" dirty="0"/>
              <a:t>Allocating a buffer large enough to hold the message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When Out of Order…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Solution-1: Receiver only ACK in order packets, discards others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Waste of bandwidth</a:t>
            </a: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Solution-2: ACK every packet and hold early packets in buffer, release the buffer when all in order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Need using </a:t>
            </a:r>
            <a:r>
              <a:rPr lang="en-US" altLang="zh-CN" dirty="0">
                <a:solidFill>
                  <a:srgbClr val="0096FF"/>
                </a:solidFill>
                <a:ea typeface="MS PGothic" panose="020B0600070205080204" charset="-128"/>
              </a:rPr>
              <a:t>large buffer</a:t>
            </a:r>
            <a:r>
              <a:rPr lang="en-US" altLang="zh-CN" dirty="0">
                <a:ea typeface="MS PGothic" panose="020B0600070205080204" charset="-128"/>
              </a:rPr>
              <a:t> when waiting for a bad packet</a:t>
            </a: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Solution-3: Combine the two above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Discard if buffer is full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New problem: </a:t>
            </a:r>
            <a:r>
              <a:rPr lang="en-US" altLang="zh-CN" dirty="0">
                <a:solidFill>
                  <a:srgbClr val="0096FF"/>
                </a:solidFill>
                <a:ea typeface="MS PGothic" panose="020B0600070205080204" charset="-128"/>
              </a:rPr>
              <a:t>how much buffer</a:t>
            </a:r>
            <a:r>
              <a:rPr lang="en-US" altLang="zh-CN" dirty="0">
                <a:ea typeface="MS PGothic" panose="020B0600070205080204" charset="-128"/>
              </a:rPr>
              <a:t>?</a:t>
            </a: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Speedup for common case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NAK to avoid timeout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MS PGothic" panose="020B0600070205080204" charset="-128"/>
              </a:rPr>
              <a:t>If NAKs are causing duplicates, stop NAKs</a:t>
            </a:r>
            <a:endParaRPr lang="en-US" altLang="zh-CN" dirty="0"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altLang="zh-CN" i="1" dirty="0">
                <a:ea typeface="MS PGothic" panose="020B0600070205080204" charset="-128"/>
              </a:rPr>
              <a:t>TCP</a:t>
            </a:r>
            <a:r>
              <a:rPr lang="zh-CN" altLang="en-US" i="1" dirty="0">
                <a:ea typeface="MS PGothic" panose="020B0600070205080204" charset="-128"/>
              </a:rPr>
              <a:t> </a:t>
            </a:r>
            <a:r>
              <a:rPr lang="en-US" altLang="zh-CN" i="1" dirty="0">
                <a:ea typeface="MS PGothic" panose="020B0600070205080204" charset="-128"/>
              </a:rPr>
              <a:t>is</a:t>
            </a:r>
            <a:r>
              <a:rPr lang="zh-CN" altLang="en-US" i="1" dirty="0">
                <a:ea typeface="MS PGothic" panose="020B0600070205080204" charset="-128"/>
              </a:rPr>
              <a:t> </a:t>
            </a:r>
            <a:r>
              <a:rPr lang="en-US" altLang="zh-CN" i="1" dirty="0">
                <a:ea typeface="MS PGothic" panose="020B0600070205080204" charset="-128"/>
              </a:rPr>
              <a:t>based</a:t>
            </a:r>
            <a:r>
              <a:rPr lang="zh-CN" altLang="en-US" i="1" dirty="0">
                <a:ea typeface="MS PGothic" panose="020B0600070205080204" charset="-128"/>
              </a:rPr>
              <a:t> </a:t>
            </a:r>
            <a:r>
              <a:rPr lang="en-US" altLang="zh-CN" i="1" dirty="0">
                <a:ea typeface="MS PGothic" panose="020B0600070205080204" charset="-128"/>
              </a:rPr>
              <a:t>on</a:t>
            </a:r>
            <a:r>
              <a:rPr lang="zh-CN" altLang="en-US" i="1" dirty="0">
                <a:ea typeface="MS PGothic" panose="020B0600070205080204" charset="-128"/>
              </a:rPr>
              <a:t> </a:t>
            </a:r>
            <a:r>
              <a:rPr lang="en-US" altLang="zh-CN" i="1" dirty="0">
                <a:ea typeface="MS PGothic" panose="020B0600070205080204" charset="-128"/>
              </a:rPr>
              <a:t>ACK,</a:t>
            </a:r>
            <a:r>
              <a:rPr lang="zh-CN" altLang="en-US" i="1" dirty="0">
                <a:ea typeface="MS PGothic" panose="020B0600070205080204" charset="-128"/>
              </a:rPr>
              <a:t> </a:t>
            </a:r>
            <a:r>
              <a:rPr lang="en-US" altLang="zh-CN" i="1" dirty="0">
                <a:ea typeface="MS PGothic" panose="020B0600070205080204" charset="-128"/>
              </a:rPr>
              <a:t>not</a:t>
            </a:r>
            <a:r>
              <a:rPr lang="zh-CN" altLang="en-US" i="1" dirty="0">
                <a:ea typeface="MS PGothic" panose="020B0600070205080204" charset="-128"/>
              </a:rPr>
              <a:t> </a:t>
            </a:r>
            <a:r>
              <a:rPr lang="en-US" altLang="zh-CN" i="1" dirty="0">
                <a:ea typeface="MS PGothic" panose="020B0600070205080204" charset="-128"/>
              </a:rPr>
              <a:t>NAK</a:t>
            </a:r>
            <a:endParaRPr lang="en-US" altLang="zh-CN" i="1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MS PGothic" panose="020B0600070205080204" charset="-128"/>
              </a:rPr>
              <a:t>Closing of Connections</a:t>
            </a:r>
            <a:endParaRPr lang="zh-CN" altLang="en-US">
              <a:ea typeface="MS PGothic" panose="020B0600070205080204" charset="-128"/>
            </a:endParaRPr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507288" cy="3771636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2000" dirty="0">
                <a:ea typeface="MS PGothic" panose="020B0600070205080204" charset="-128"/>
              </a:rPr>
              <a:t>Open a stream</a:t>
            </a:r>
            <a:endParaRPr lang="en-US" altLang="zh-CN" sz="2000" dirty="0">
              <a:ea typeface="MS PGothic" panose="020B0600070205080204" charset="-128"/>
            </a:endParaRPr>
          </a:p>
          <a:p>
            <a:pPr lvl="1" eaLnBrk="1" hangingPunct="1"/>
            <a:r>
              <a:rPr lang="en-US" altLang="zh-CN" sz="1600" dirty="0">
                <a:ea typeface="MS PGothic" panose="020B0600070205080204" charset="-128"/>
              </a:rPr>
              <a:t>Create a record to keep track of which elements have been sent, received, acknowledged</a:t>
            </a:r>
            <a:endParaRPr lang="en-US" altLang="zh-CN" sz="1600" dirty="0">
              <a:ea typeface="MS PGothic" panose="020B0600070205080204" charset="-128"/>
            </a:endParaRPr>
          </a:p>
          <a:p>
            <a:pPr eaLnBrk="1" hangingPunct="1"/>
            <a:r>
              <a:rPr lang="en-US" altLang="zh-CN" sz="2000" dirty="0">
                <a:ea typeface="MS PGothic" panose="020B0600070205080204" charset="-128"/>
              </a:rPr>
              <a:t>Close a stream</a:t>
            </a:r>
            <a:endParaRPr lang="en-US" altLang="zh-CN" sz="2000" dirty="0">
              <a:ea typeface="MS PGothic" panose="020B0600070205080204" charset="-128"/>
            </a:endParaRPr>
          </a:p>
          <a:p>
            <a:pPr lvl="1" eaLnBrk="1" hangingPunct="1"/>
            <a:r>
              <a:rPr lang="en-US" altLang="zh-CN" sz="1600" dirty="0">
                <a:ea typeface="MS PGothic" panose="020B0600070205080204" charset="-128"/>
              </a:rPr>
              <a:t>When finish, it needs to report an end-of-stream</a:t>
            </a:r>
            <a:endParaRPr lang="en-US" altLang="zh-CN" sz="1600" dirty="0">
              <a:ea typeface="MS PGothic" panose="020B0600070205080204" charset="-128"/>
            </a:endParaRPr>
          </a:p>
          <a:p>
            <a:pPr lvl="1" eaLnBrk="1" hangingPunct="1"/>
            <a:r>
              <a:rPr lang="en-US" altLang="zh-CN" sz="1600" dirty="0">
                <a:ea typeface="MS PGothic" panose="020B0600070205080204" charset="-128"/>
              </a:rPr>
              <a:t>Both ends need to agree last element is OK and then close</a:t>
            </a:r>
            <a:endParaRPr lang="en-US" altLang="zh-CN" sz="1600" dirty="0">
              <a:ea typeface="MS PGothic" panose="020B0600070205080204" charset="-128"/>
            </a:endParaRPr>
          </a:p>
          <a:p>
            <a:pPr lvl="1" eaLnBrk="1" hangingPunct="1"/>
            <a:r>
              <a:rPr lang="en-US" altLang="zh-CN" sz="1600" dirty="0">
                <a:ea typeface="MS PGothic" panose="020B0600070205080204" charset="-128"/>
              </a:rPr>
              <a:t>1. Alice sends close request to Bob with stream record ID</a:t>
            </a:r>
            <a:endParaRPr lang="en-US" altLang="zh-CN" sz="1600" dirty="0">
              <a:ea typeface="MS PGothic" panose="020B0600070205080204" charset="-128"/>
            </a:endParaRPr>
          </a:p>
          <a:p>
            <a:pPr lvl="1" eaLnBrk="1" hangingPunct="1"/>
            <a:r>
              <a:rPr lang="en-US" altLang="zh-CN" sz="1600" dirty="0">
                <a:ea typeface="MS PGothic" panose="020B0600070205080204" charset="-128"/>
              </a:rPr>
              <a:t>2. Bob checks and agrees, sends a close ACK</a:t>
            </a:r>
            <a:endParaRPr lang="en-US" altLang="zh-CN" sz="1600" dirty="0">
              <a:ea typeface="MS PGothic" panose="020B0600070205080204" charset="-128"/>
            </a:endParaRPr>
          </a:p>
          <a:p>
            <a:pPr lvl="1" eaLnBrk="1" hangingPunct="1"/>
            <a:r>
              <a:rPr lang="en-US" altLang="zh-CN" sz="1600" dirty="0">
                <a:ea typeface="MS PGothic" panose="020B0600070205080204" charset="-128"/>
              </a:rPr>
              <a:t>3. Alice receives ACK, turn off sender, discard record</a:t>
            </a:r>
            <a:endParaRPr lang="en-US" altLang="zh-CN" sz="1600" dirty="0">
              <a:ea typeface="MS PGothic" panose="020B0600070205080204" charset="-128"/>
            </a:endParaRPr>
          </a:p>
          <a:p>
            <a:pPr lvl="1" eaLnBrk="1" hangingPunct="1"/>
            <a:r>
              <a:rPr lang="en-US" altLang="zh-CN" sz="1600" dirty="0">
                <a:ea typeface="MS PGothic" panose="020B0600070205080204" charset="-128"/>
              </a:rPr>
              <a:t>4. Alice sends "all done" to Bob</a:t>
            </a:r>
            <a:endParaRPr lang="en-US" altLang="zh-CN" sz="1600" dirty="0">
              <a:ea typeface="MS PGothic" panose="020B0600070205080204" charset="-128"/>
            </a:endParaRPr>
          </a:p>
          <a:p>
            <a:pPr lvl="1" eaLnBrk="1" hangingPunct="1"/>
            <a:r>
              <a:rPr lang="en-US" altLang="zh-CN" sz="1600" dirty="0">
                <a:ea typeface="MS PGothic" panose="020B0600070205080204" charset="-128"/>
              </a:rPr>
              <a:t>5. Bob receives "all done" and discard stream record</a:t>
            </a:r>
            <a:endParaRPr lang="zh-CN" altLang="en-US" sz="1600" dirty="0">
              <a:ea typeface="MS PGothic" panose="020B0600070205080204" charset="-128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868144" y="4081636"/>
            <a:ext cx="3024336" cy="3231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1" dirty="0">
                <a:solidFill>
                  <a:srgbClr val="C00000"/>
                </a:solidFill>
                <a:latin typeface="Courier New" panose="02070309020205020404"/>
                <a:cs typeface="Courier New" panose="02070309020205020404"/>
              </a:rPr>
              <a:t>&lt;- What if duplicate?</a:t>
            </a:r>
            <a:endParaRPr lang="zh-CN" altLang="en-US" sz="1500" b="1" dirty="0">
              <a:solidFill>
                <a:srgbClr val="C00000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灯片编号占位符 3"/>
          <p:cNvSpPr txBox="1"/>
          <p:nvPr/>
        </p:nvSpPr>
        <p:spPr>
          <a:xfrm>
            <a:off x="6705600" y="54493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5. Assurance of Jitter Control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Real-time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When reliability is less important than timely delivery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A few error in a movie may not be noticed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MS PGothic" panose="020B0600070205080204" charset="-128"/>
              </a:rPr>
              <a:t>Jitter</a:t>
            </a:r>
            <a:r>
              <a:rPr lang="en-US" altLang="zh-CN" dirty="0">
                <a:ea typeface="MS PGothic" panose="020B0600070205080204" charset="-128"/>
              </a:rPr>
              <a:t>: variability in delivery time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Strategy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Basic: delay all arriving segments</a:t>
            </a:r>
            <a:endParaRPr lang="zh-CN" altLang="en-US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5. Assurance of Jitter Control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Measure the distribution of delays in a chart showing delay time vs. frequency of that delay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Choose an acceptable frequency of delivery failure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Determine </a:t>
            </a:r>
            <a:r>
              <a:rPr lang="en-US" altLang="zh-CN" dirty="0" err="1">
                <a:ea typeface="MS PGothic" panose="020B0600070205080204" charset="-128"/>
              </a:rPr>
              <a:t>D</a:t>
            </a:r>
            <a:r>
              <a:rPr lang="en-US" altLang="zh-CN" baseline="-25000" dirty="0" err="1">
                <a:ea typeface="MS PGothic" panose="020B0600070205080204" charset="-128"/>
              </a:rPr>
              <a:t>long</a:t>
            </a:r>
            <a:r>
              <a:rPr lang="en-US" altLang="zh-CN" baseline="-25000" dirty="0">
                <a:ea typeface="MS PGothic" panose="020B0600070205080204" charset="-128"/>
              </a:rPr>
              <a:t> </a:t>
            </a:r>
            <a:r>
              <a:rPr lang="en-US" altLang="zh-CN" dirty="0">
                <a:ea typeface="MS PGothic" panose="020B0600070205080204" charset="-128"/>
              </a:rPr>
              <a:t>that longer than 99% delay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Determine the shortest delay, </a:t>
            </a:r>
            <a:r>
              <a:rPr lang="en-US" altLang="zh-CN" dirty="0" err="1">
                <a:ea typeface="MS PGothic" panose="020B0600070205080204" charset="-128"/>
              </a:rPr>
              <a:t>D</a:t>
            </a:r>
            <a:r>
              <a:rPr lang="en-US" altLang="zh-CN" baseline="-25000" dirty="0" err="1">
                <a:ea typeface="MS PGothic" panose="020B0600070205080204" charset="-128"/>
              </a:rPr>
              <a:t>short</a:t>
            </a:r>
            <a:endParaRPr lang="en-US" altLang="zh-CN" baseline="-25000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Calculate number of segment buffer:</a:t>
            </a:r>
            <a:endParaRPr lang="en-US" altLang="zh-CN" dirty="0">
              <a:ea typeface="MS PGothic" panose="020B0600070205080204" charset="-128"/>
            </a:endParaRPr>
          </a:p>
          <a:p>
            <a:endParaRPr lang="en-US" altLang="zh-CN" dirty="0">
              <a:ea typeface="MS PGothic" panose="020B0600070205080204" charset="-128"/>
            </a:endParaRPr>
          </a:p>
          <a:p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 err="1">
                <a:ea typeface="MS PGothic" panose="020B0600070205080204" charset="-128"/>
              </a:rPr>
              <a:t>D</a:t>
            </a:r>
            <a:r>
              <a:rPr lang="en-US" altLang="zh-CN" baseline="-25000" dirty="0" err="1">
                <a:ea typeface="MS PGothic" panose="020B0600070205080204" charset="-128"/>
              </a:rPr>
              <a:t>headway</a:t>
            </a:r>
            <a:r>
              <a:rPr lang="en-US" altLang="zh-CN" dirty="0">
                <a:ea typeface="MS PGothic" panose="020B0600070205080204" charset="-128"/>
              </a:rPr>
              <a:t> is average delay between arriving segments</a:t>
            </a:r>
            <a:endParaRPr lang="en-US" altLang="zh-CN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937620"/>
            <a:ext cx="4555976" cy="789384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6. Assurance of Authenticity and Privacy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Internet is dangerous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Hostile intercepts and maliciously modifies packets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Violate a protocol with malicious intent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Key-based mathematical transformations to data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Sign and verify: establish the authenticity of the source and integrity of contents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Encrypt and decrypt: maintain privacy of contents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Consideration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False sense of security, worse than no assurance</a:t>
            </a:r>
            <a:endParaRPr lang="zh-CN" altLang="en-US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Security: Asymmetric Encryption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/>
              <a:t>Public Key VS. Private Key</a:t>
            </a:r>
            <a:endParaRPr lang="en-US" altLang="zh-CN" dirty="0"/>
          </a:p>
          <a:p>
            <a:pPr lvl="1"/>
            <a:r>
              <a:rPr lang="en-US" altLang="zh-CN" dirty="0"/>
              <a:t>Public key: encrypt to identify </a:t>
            </a:r>
            <a:r>
              <a:rPr lang="en-US" altLang="zh-CN" i="1" dirty="0"/>
              <a:t>reader</a:t>
            </a:r>
            <a:r>
              <a:rPr lang="en-US" altLang="zh-CN" dirty="0"/>
              <a:t> (only me can read this)</a:t>
            </a:r>
            <a:endParaRPr lang="en-US" altLang="zh-CN" dirty="0"/>
          </a:p>
          <a:p>
            <a:pPr lvl="1"/>
            <a:r>
              <a:rPr lang="en-US" altLang="zh-CN" dirty="0"/>
              <a:t>Private key: encrypt to identify </a:t>
            </a:r>
            <a:r>
              <a:rPr lang="en-US" altLang="zh-CN" i="1" dirty="0"/>
              <a:t>writer</a:t>
            </a:r>
            <a:r>
              <a:rPr lang="en-US" altLang="zh-CN" dirty="0"/>
              <a:t> (yes, it's me who wrote this)</a:t>
            </a:r>
            <a:endParaRPr lang="en-US" altLang="zh-CN" dirty="0"/>
          </a:p>
          <a:p>
            <a:pPr lvl="1"/>
            <a:r>
              <a:rPr lang="en-US" altLang="zh-CN" dirty="0"/>
              <a:t>Poor performance, so just used to exchange symmetric key</a:t>
            </a:r>
            <a:endParaRPr lang="en-US" altLang="zh-CN" dirty="0"/>
          </a:p>
          <a:p>
            <a:r>
              <a:rPr lang="en-US" altLang="zh-CN" dirty="0"/>
              <a:t>Questions</a:t>
            </a:r>
            <a:endParaRPr lang="en-US" altLang="zh-CN" dirty="0"/>
          </a:p>
          <a:p>
            <a:pPr lvl="1"/>
            <a:r>
              <a:rPr lang="en-US" altLang="zh-CN" dirty="0"/>
              <a:t>What is a certificate? Why using a CA (Certificate Authority)?</a:t>
            </a:r>
            <a:endParaRPr lang="en-US" altLang="zh-CN" dirty="0"/>
          </a:p>
          <a:p>
            <a:pPr lvl="1"/>
            <a:r>
              <a:rPr lang="en-US" altLang="zh-CN" dirty="0"/>
              <a:t>How to exchange a symmetric key in HTTPS or SSH?</a:t>
            </a:r>
            <a:endParaRPr lang="en-US" altLang="zh-CN" dirty="0"/>
          </a:p>
          <a:p>
            <a:pPr lvl="1"/>
            <a:r>
              <a:rPr lang="en-US" altLang="zh-CN" dirty="0"/>
              <a:t>What is the root of trust?</a:t>
            </a:r>
            <a:endParaRPr lang="en-US" altLang="zh-CN" dirty="0"/>
          </a:p>
          <a:p>
            <a:pPr lvl="1"/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addressed</a:t>
            </a:r>
            <a:r>
              <a:rPr lang="zh-CN" altLang="en-US" dirty="0"/>
              <a:t> </a:t>
            </a:r>
            <a:r>
              <a:rPr lang="en-US" altLang="zh-CN" dirty="0"/>
              <a:t>later,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Security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endParaRPr lang="zh-CN" altLang="en-US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7. End-to-end Performance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Multi-segment message questions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Trade-off between complexity and performance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Lock-step protocol</a:t>
            </a:r>
            <a:endParaRPr lang="en-US" altLang="zh-CN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592" y="2641476"/>
            <a:ext cx="5520704" cy="2808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Overlapping Transmissions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Pipelining technique</a:t>
            </a:r>
            <a:endParaRPr lang="en-US" altLang="zh-CN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33364"/>
            <a:ext cx="8077200" cy="361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Overlapping Transmissions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Packets or ACK may be lost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Sender holds a list of segments sent, check it off when receives ACK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Set a timer (according to RTT) for last segment</a:t>
            </a:r>
            <a:endParaRPr lang="en-US" altLang="zh-CN" dirty="0">
              <a:ea typeface="MS PGothic" panose="020B0600070205080204" charset="-128"/>
            </a:endParaRPr>
          </a:p>
          <a:p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If list of missing ACK is empty, OK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If timer expires, resend packets and another timer</a:t>
            </a:r>
            <a:endParaRPr lang="en-US" altLang="zh-CN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Fixed Window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85592" y="1069434"/>
            <a:ext cx="4762872" cy="4248472"/>
          </a:xfrm>
        </p:spPr>
        <p:txBody>
          <a:bodyPr>
            <a:noAutofit/>
          </a:bodyPr>
          <a:lstStyle/>
          <a:p>
            <a:r>
              <a:rPr lang="en-US" altLang="zh-CN" dirty="0"/>
              <a:t>Receiver tells the sender a window size</a:t>
            </a:r>
            <a:endParaRPr lang="en-US" altLang="zh-CN" dirty="0"/>
          </a:p>
          <a:p>
            <a:r>
              <a:rPr lang="en-US" altLang="zh-CN" dirty="0"/>
              <a:t>Sender sends window</a:t>
            </a:r>
            <a:endParaRPr lang="en-US" altLang="zh-CN" dirty="0"/>
          </a:p>
          <a:p>
            <a:r>
              <a:rPr lang="en-US" altLang="zh-CN" dirty="0"/>
              <a:t>Receiver acks each packet as before</a:t>
            </a:r>
            <a:endParaRPr lang="en-US" altLang="zh-CN" dirty="0"/>
          </a:p>
          <a:p>
            <a:r>
              <a:rPr lang="en-US" altLang="zh-CN" dirty="0"/>
              <a:t>Window advances when all packets in previous window are </a:t>
            </a:r>
            <a:r>
              <a:rPr lang="en-US" altLang="zh-CN" dirty="0" err="1"/>
              <a:t>acked</a:t>
            </a:r>
            <a:endParaRPr lang="en-US" altLang="zh-CN" dirty="0"/>
          </a:p>
          <a:p>
            <a:pPr lvl="1"/>
            <a:r>
              <a:rPr lang="en-US" altLang="zh-CN" dirty="0"/>
              <a:t>E.g., packets 4-6 sent, after 1-3 </a:t>
            </a:r>
            <a:r>
              <a:rPr lang="en-US" altLang="zh-CN" dirty="0" err="1"/>
              <a:t>ack</a:t>
            </a:r>
            <a:r>
              <a:rPr lang="en-US" altLang="en-US" dirty="0" err="1">
                <a:ea typeface="宋体" panose="02010600030101010101" pitchFamily="2" charset="-122"/>
              </a:rPr>
              <a:t>'</a:t>
            </a:r>
            <a:r>
              <a:rPr lang="en-US" altLang="zh-CN" dirty="0" err="1"/>
              <a:t>d</a:t>
            </a:r>
            <a:endParaRPr lang="en-US" altLang="zh-CN" dirty="0"/>
          </a:p>
          <a:p>
            <a:r>
              <a:rPr lang="en-US" altLang="zh-CN" dirty="0"/>
              <a:t>If a packet times out -&gt; resend packets</a:t>
            </a:r>
            <a:endParaRPr lang="en-US" altLang="zh-CN" dirty="0"/>
          </a:p>
          <a:p>
            <a:r>
              <a:rPr lang="en-US" altLang="zh-CN" dirty="0"/>
              <a:t>Still much idle time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47" y="1417340"/>
            <a:ext cx="2961084" cy="3509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Sliding Window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85592" y="1069434"/>
            <a:ext cx="4762872" cy="4248472"/>
          </a:xfrm>
        </p:spPr>
        <p:txBody>
          <a:bodyPr>
            <a:noAutofit/>
          </a:bodyPr>
          <a:lstStyle/>
          <a:p>
            <a:r>
              <a:rPr lang="en-US" altLang="zh-CN" dirty="0"/>
              <a:t>Sender advances the window by 1 for each in-sequence ACK it receives</a:t>
            </a:r>
            <a:endParaRPr lang="en-US" altLang="zh-CN" dirty="0"/>
          </a:p>
          <a:p>
            <a:pPr lvl="1"/>
            <a:r>
              <a:rPr lang="en-US" altLang="zh-CN" dirty="0"/>
              <a:t>Reduces idle periods</a:t>
            </a:r>
            <a:endParaRPr lang="en-US" altLang="zh-CN" dirty="0"/>
          </a:p>
          <a:p>
            <a:pPr lvl="1"/>
            <a:r>
              <a:rPr lang="en-US" altLang="zh-CN" dirty="0"/>
              <a:t>Pipelining idea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But what</a:t>
            </a:r>
            <a:r>
              <a:rPr lang="en-US" altLang="en-US" dirty="0">
                <a:ea typeface="宋体" panose="02010600030101010101" pitchFamily="2" charset="-122"/>
              </a:rPr>
              <a:t>'</a:t>
            </a:r>
            <a:r>
              <a:rPr lang="en-US" altLang="zh-CN" dirty="0"/>
              <a:t>s the correct value for the window?</a:t>
            </a:r>
            <a:endParaRPr lang="en-US" altLang="zh-CN" dirty="0"/>
          </a:p>
          <a:p>
            <a:pPr lvl="1"/>
            <a:r>
              <a:rPr lang="en-US" altLang="zh-CN" dirty="0"/>
              <a:t>We</a:t>
            </a:r>
            <a:r>
              <a:rPr lang="en-US" altLang="en-US" dirty="0">
                <a:ea typeface="宋体" panose="02010600030101010101" pitchFamily="2" charset="-122"/>
              </a:rPr>
              <a:t>'</a:t>
            </a:r>
            <a:r>
              <a:rPr lang="en-US" altLang="zh-CN" dirty="0"/>
              <a:t>ll revisit this question</a:t>
            </a:r>
            <a:endParaRPr lang="en-US" altLang="zh-CN" dirty="0"/>
          </a:p>
          <a:p>
            <a:pPr lvl="1"/>
            <a:r>
              <a:rPr lang="en-US" altLang="zh-CN" dirty="0"/>
              <a:t>First, we need to understand windows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6" y="1417340"/>
            <a:ext cx="3183731" cy="3545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Handling Packet Loss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1489348"/>
            <a:ext cx="7286625" cy="3469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Chose the Right Window Size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/>
              <a:t>If window is too small</a:t>
            </a:r>
            <a:endParaRPr lang="en-US" altLang="zh-CN" dirty="0"/>
          </a:p>
          <a:p>
            <a:pPr lvl="1"/>
            <a:r>
              <a:rPr lang="en-US" altLang="zh-CN" dirty="0"/>
              <a:t>Long idle time</a:t>
            </a:r>
            <a:endParaRPr lang="en-US" altLang="zh-CN" dirty="0"/>
          </a:p>
          <a:p>
            <a:pPr lvl="1"/>
            <a:r>
              <a:rPr lang="en-US" altLang="zh-CN" dirty="0"/>
              <a:t>Underutilized network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window too large</a:t>
            </a:r>
            <a:endParaRPr lang="en-US" altLang="zh-CN" dirty="0"/>
          </a:p>
          <a:p>
            <a:pPr lvl="1"/>
            <a:r>
              <a:rPr lang="en-US" altLang="zh-CN" dirty="0"/>
              <a:t>Congestion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535" y="1345332"/>
            <a:ext cx="3406378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Sliding Window Size</a:t>
            </a:r>
            <a:endParaRPr lang="en-US" altLang="zh-CN" dirty="0">
              <a:ea typeface="MS PGothic" panose="020B0600070205080204" charset="-128"/>
            </a:endParaRP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rgbClr val="0096FF"/>
                </a:solidFill>
                <a:ea typeface="MS PGothic" panose="020B0600070205080204" charset="-128"/>
              </a:rPr>
              <a:t>window size ≥ round-trip time × bottleneck data rate</a:t>
            </a:r>
            <a:endParaRPr lang="en-US" altLang="zh-CN" sz="2400" b="1" dirty="0">
              <a:solidFill>
                <a:srgbClr val="0096FF"/>
              </a:solidFill>
              <a:ea typeface="MS PGothic" panose="020B0600070205080204" charset="-128"/>
            </a:endParaRPr>
          </a:p>
          <a:p>
            <a:pPr marL="0" indent="0">
              <a:lnSpc>
                <a:spcPct val="110000"/>
              </a:lnSpc>
            </a:pPr>
            <a:endParaRPr lang="en-US" altLang="zh-CN" dirty="0">
              <a:ea typeface="MS PGothic" panose="020B0600070205080204" charset="-128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dirty="0">
                <a:ea typeface="MS PGothic" panose="020B0600070205080204" charset="-128"/>
              </a:rPr>
              <a:t> Sliding window with one segment in size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MS PGothic" panose="020B0600070205080204" charset="-128"/>
              </a:rPr>
              <a:t>Data rate is window size / RTT</a:t>
            </a:r>
            <a:endParaRPr lang="en-US" altLang="zh-CN" dirty="0">
              <a:ea typeface="MS PGothic" panose="020B0600070205080204" charset="-128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dirty="0">
                <a:ea typeface="MS PGothic" panose="020B0600070205080204" charset="-128"/>
              </a:rPr>
              <a:t> Enlarge window size to bottleneck data rate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MS PGothic" panose="020B0600070205080204" charset="-128"/>
              </a:rPr>
              <a:t>Data rate is window size / RTT</a:t>
            </a:r>
            <a:endParaRPr lang="en-US" altLang="zh-CN" dirty="0">
              <a:ea typeface="MS PGothic" panose="020B0600070205080204" charset="-128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dirty="0">
                <a:ea typeface="MS PGothic" panose="020B0600070205080204" charset="-128"/>
              </a:rPr>
              <a:t> Enlarge window size further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MS PGothic" panose="020B0600070205080204" charset="-128"/>
              </a:rPr>
              <a:t>Data rate is still bottleneck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MS PGothic" panose="020B0600070205080204" charset="-128"/>
              </a:rPr>
              <a:t>Larger window makes no sense</a:t>
            </a:r>
            <a:endParaRPr lang="en-US" altLang="zh-CN" dirty="0">
              <a:ea typeface="MS PGothic" panose="020B0600070205080204" charset="-128"/>
            </a:endParaRPr>
          </a:p>
          <a:p>
            <a:pPr lvl="1">
              <a:lnSpc>
                <a:spcPct val="110000"/>
              </a:lnSpc>
              <a:buFontTx/>
              <a:buNone/>
            </a:pPr>
            <a:endParaRPr lang="en-US" altLang="zh-CN" sz="1800" dirty="0">
              <a:ea typeface="MS PGothic" panose="020B0600070205080204" charset="-128"/>
            </a:endParaRPr>
          </a:p>
        </p:txBody>
      </p:sp>
      <p:sp>
        <p:nvSpPr>
          <p:cNvPr id="38916" name="矩形 1"/>
          <p:cNvSpPr>
            <a:spLocks noChangeArrowheads="1"/>
          </p:cNvSpPr>
          <p:nvPr/>
        </p:nvSpPr>
        <p:spPr bwMode="auto">
          <a:xfrm>
            <a:off x="5796136" y="2497460"/>
            <a:ext cx="3072084" cy="188538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en-US" altLang="zh-CN" sz="1400" dirty="0">
                <a:latin typeface="等线" panose="02010600030101010101" charset="-122"/>
                <a:ea typeface="等线" panose="02010600030101010101" charset="-122"/>
              </a:rPr>
              <a:t>-</a:t>
            </a:r>
            <a:r>
              <a:rPr kumimoji="0" lang="zh-CN" altLang="en-US" sz="14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400" dirty="0"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Receive 500 </a:t>
            </a:r>
            <a:r>
              <a:rPr lang="en-US" altLang="zh-CN" sz="1400" dirty="0" err="1"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KBps</a:t>
            </a:r>
            <a:endParaRPr lang="en-US" altLang="zh-CN" sz="1400" dirty="0"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- Sender 1 </a:t>
            </a:r>
            <a:r>
              <a:rPr lang="en-US" altLang="zh-CN" sz="1400" dirty="0" err="1"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MBps</a:t>
            </a:r>
            <a:endParaRPr lang="en-US" altLang="zh-CN" sz="1400" dirty="0"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- RTT 70ms</a:t>
            </a:r>
            <a:endParaRPr lang="en-US" altLang="zh-CN" sz="1400" dirty="0"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- A segment carries 0.5 KB</a:t>
            </a:r>
            <a:endParaRPr lang="en-US" altLang="zh-CN" sz="1400" dirty="0"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等线" panose="02010600030101010101" charset="-122"/>
                <a:ea typeface="等线" panose="02010600030101010101" charset="-122"/>
                <a:cs typeface="Myriad Pro Light SemiCond"/>
              </a:rPr>
              <a:t>- Sliding window size = 35KB (70 segment)</a:t>
            </a:r>
            <a:endParaRPr lang="en-US" altLang="zh-CN" sz="1400" dirty="0">
              <a:latin typeface="等线" panose="02010600030101010101" charset="-122"/>
              <a:ea typeface="等线" panose="02010600030101010101" charset="-122"/>
              <a:cs typeface="Myriad Pro Light SemiCond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Self-pacing: Sliding Window Size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pPr>
              <a:spcBef>
                <a:spcPts val="2100"/>
              </a:spcBef>
            </a:pPr>
            <a:r>
              <a:rPr lang="en-US" altLang="zh-CN" dirty="0">
                <a:ea typeface="MS PGothic" panose="020B0600070205080204" charset="-128"/>
              </a:rPr>
              <a:t>Although the sender doesn</a:t>
            </a:r>
            <a:r>
              <a:rPr lang="en-US" altLang="en-US" dirty="0">
                <a:ea typeface="MS PGothic" panose="020B0600070205080204" charset="-128"/>
              </a:rPr>
              <a:t>'</a:t>
            </a:r>
            <a:r>
              <a:rPr lang="en-US" altLang="zh-CN" dirty="0">
                <a:ea typeface="MS PGothic" panose="020B0600070205080204" charset="-128"/>
              </a:rPr>
              <a:t>t know the bottleneck, it is sending </a:t>
            </a:r>
            <a:r>
              <a:rPr lang="en-US" altLang="zh-CN" dirty="0">
                <a:solidFill>
                  <a:srgbClr val="0096FF"/>
                </a:solidFill>
                <a:ea typeface="MS PGothic" panose="020B0600070205080204" charset="-128"/>
              </a:rPr>
              <a:t>at exactly that rate</a:t>
            </a:r>
            <a:endParaRPr lang="en-US" altLang="zh-CN" dirty="0">
              <a:solidFill>
                <a:srgbClr val="0096FF"/>
              </a:solidFill>
              <a:ea typeface="MS PGothic" panose="020B0600070205080204" charset="-128"/>
            </a:endParaRPr>
          </a:p>
          <a:p>
            <a:pPr>
              <a:spcBef>
                <a:spcPts val="2100"/>
              </a:spcBef>
            </a:pPr>
            <a:r>
              <a:rPr lang="en-US" altLang="zh-CN" dirty="0">
                <a:ea typeface="MS PGothic" panose="020B0600070205080204" charset="-128"/>
              </a:rPr>
              <a:t>Once sender fills a sliding window, cannot send next data until receive ACK of the oldest data in the window</a:t>
            </a:r>
            <a:endParaRPr lang="en-US" altLang="zh-CN" dirty="0">
              <a:ea typeface="MS PGothic" panose="020B0600070205080204" charset="-128"/>
            </a:endParaRPr>
          </a:p>
          <a:p>
            <a:pPr>
              <a:spcBef>
                <a:spcPts val="2100"/>
              </a:spcBef>
            </a:pPr>
            <a:r>
              <a:rPr lang="en-US" altLang="zh-CN" dirty="0">
                <a:ea typeface="MS PGothic" panose="020B0600070205080204" charset="-128"/>
              </a:rPr>
              <a:t>The receiver cannot generate ACK faster than the network can deliver data elements</a:t>
            </a:r>
            <a:endParaRPr lang="en-US" altLang="zh-CN" dirty="0">
              <a:ea typeface="MS PGothic" panose="020B0600070205080204" charset="-128"/>
            </a:endParaRPr>
          </a:p>
          <a:p>
            <a:pPr>
              <a:spcBef>
                <a:spcPts val="2100"/>
              </a:spcBef>
            </a:pPr>
            <a:r>
              <a:rPr lang="en-US" altLang="zh-CN" dirty="0">
                <a:ea typeface="MS PGothic" panose="020B0600070205080204" charset="-128"/>
              </a:rPr>
              <a:t>RTT estimation still needed</a:t>
            </a:r>
            <a:endParaRPr lang="en-US" altLang="zh-CN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457450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TCP Congestion Control</a:t>
            </a:r>
            <a:endParaRPr lang="en-US" altLang="zh-CN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Congestion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/>
              <a:t>Definition: Too many packets present in (a part of) the network causes packet delay and loss that degrades performance.</a:t>
            </a:r>
            <a:endParaRPr lang="en-US" altLang="zh-CN" dirty="0"/>
          </a:p>
          <a:p>
            <a:pPr>
              <a:spcBef>
                <a:spcPts val="2100"/>
              </a:spcBef>
            </a:pPr>
            <a:r>
              <a:rPr lang="en-US" altLang="zh-CN" dirty="0"/>
              <a:t>Network &amp; End-to-end layers </a:t>
            </a:r>
            <a:r>
              <a:rPr lang="en-US" altLang="zh-CN" i="1" dirty="0">
                <a:solidFill>
                  <a:srgbClr val="0096FF"/>
                </a:solidFill>
              </a:rPr>
              <a:t>share the responsibility </a:t>
            </a:r>
            <a:r>
              <a:rPr lang="en-US" altLang="zh-CN" dirty="0"/>
              <a:t>for handling congestion</a:t>
            </a:r>
            <a:endParaRPr lang="en-US" altLang="zh-CN" dirty="0"/>
          </a:p>
          <a:p>
            <a:pPr>
              <a:spcBef>
                <a:spcPts val="2100"/>
              </a:spcBef>
            </a:pPr>
            <a:r>
              <a:rPr lang="en-US" altLang="zh-CN" dirty="0"/>
              <a:t>1. Network layer</a:t>
            </a:r>
            <a:endParaRPr lang="en-US" altLang="zh-CN" dirty="0"/>
          </a:p>
          <a:p>
            <a:pPr lvl="1"/>
            <a:r>
              <a:rPr lang="en-US" altLang="zh-CN" dirty="0"/>
              <a:t>Directly experiences the congestion</a:t>
            </a:r>
            <a:endParaRPr lang="en-US" altLang="zh-CN" dirty="0"/>
          </a:p>
          <a:p>
            <a:pPr lvl="1"/>
            <a:r>
              <a:rPr lang="en-US" altLang="zh-CN" dirty="0"/>
              <a:t>Ultimately determine what to do with the excess packets</a:t>
            </a:r>
            <a:endParaRPr lang="en-US" altLang="zh-CN" dirty="0"/>
          </a:p>
          <a:p>
            <a:r>
              <a:rPr lang="en-US" altLang="zh-CN" dirty="0"/>
              <a:t>2. End-to-end layer</a:t>
            </a:r>
            <a:endParaRPr lang="en-US" altLang="zh-CN" dirty="0"/>
          </a:p>
          <a:p>
            <a:pPr lvl="1"/>
            <a:r>
              <a:rPr lang="en-US" altLang="zh-CN" dirty="0"/>
              <a:t>Control to reduce the sending rate, is the most effective way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Congestion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654" y="1345332"/>
            <a:ext cx="5600700" cy="366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Congest?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pPr>
              <a:spcBef>
                <a:spcPts val="2250"/>
              </a:spcBef>
            </a:pPr>
            <a:r>
              <a:rPr lang="en-US" altLang="zh-CN" dirty="0"/>
              <a:t>If all of a sudden, streams of packets begin arriving on three or four input lines and all need the same output line, a queue will build up</a:t>
            </a:r>
            <a:endParaRPr lang="en-US" altLang="zh-CN" dirty="0"/>
          </a:p>
          <a:p>
            <a:pPr>
              <a:spcBef>
                <a:spcPts val="2250"/>
              </a:spcBef>
            </a:pPr>
            <a:r>
              <a:rPr lang="en-US" altLang="zh-CN" dirty="0"/>
              <a:t>If there is insufficient memory to hold all of them, packets will be lost</a:t>
            </a:r>
            <a:endParaRPr lang="en-US" altLang="zh-CN" dirty="0"/>
          </a:p>
          <a:p>
            <a:pPr>
              <a:spcBef>
                <a:spcPts val="2250"/>
              </a:spcBef>
            </a:pPr>
            <a:r>
              <a:rPr lang="en-US" altLang="zh-CN" dirty="0"/>
              <a:t>Adding more memory may help up to a point, but</a:t>
            </a:r>
            <a:endParaRPr lang="en-US" altLang="zh-CN" dirty="0"/>
          </a:p>
          <a:p>
            <a:pPr lvl="1"/>
            <a:r>
              <a:rPr lang="en-US" altLang="zh-CN" dirty="0"/>
              <a:t>Nagle (1987) realized that if routers have an infinite amount of memory, congestion gets worse, not better</a:t>
            </a:r>
            <a:endParaRPr lang="en-US" altLang="zh-CN" dirty="0"/>
          </a:p>
          <a:p>
            <a:pPr lvl="1"/>
            <a:r>
              <a:rPr lang="en-US" altLang="zh-CN" dirty="0"/>
              <a:t>This is because by the time packets get to the front of the queue, they have </a:t>
            </a:r>
            <a:r>
              <a:rPr lang="en-US" altLang="zh-CN" b="1" dirty="0">
                <a:solidFill>
                  <a:schemeClr val="accent1"/>
                </a:solidFill>
              </a:rPr>
              <a:t>already timed out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/>
              <a:t>(repeatedly) and duplicates have been sent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 Shedding: Setting Window Size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/>
              <a:t>For performance: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96FF"/>
                </a:solidFill>
              </a:rPr>
              <a:t>window size ≥ round-trip time × bottleneck data rate</a:t>
            </a:r>
            <a:endParaRPr lang="en-US" altLang="zh-CN" dirty="0">
              <a:solidFill>
                <a:srgbClr val="0096FF"/>
              </a:solidFill>
            </a:endParaRPr>
          </a:p>
          <a:p>
            <a:pPr>
              <a:spcBef>
                <a:spcPts val="1870"/>
              </a:spcBef>
            </a:pPr>
            <a:r>
              <a:rPr lang="en-US" altLang="zh-CN" dirty="0"/>
              <a:t>For congestion control: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96FF"/>
                </a:solidFill>
              </a:rPr>
              <a:t>window size ≤ min(RTT x bottleneck data rate, Receiver buffer)</a:t>
            </a:r>
            <a:endParaRPr lang="en-US" altLang="zh-CN" dirty="0">
              <a:solidFill>
                <a:srgbClr val="0096FF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Congestion window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spcBef>
                <a:spcPts val="1870"/>
              </a:spcBef>
            </a:pPr>
            <a:r>
              <a:rPr lang="en-US" altLang="zh-CN" dirty="0">
                <a:solidFill>
                  <a:srgbClr val="000000"/>
                </a:solidFill>
              </a:rPr>
              <a:t>2 windows become 1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to achieve best performance and avoid congestion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Congestion Control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/>
              <a:t>Basic idea:</a:t>
            </a:r>
            <a:endParaRPr lang="en-US" altLang="zh-CN" dirty="0"/>
          </a:p>
          <a:p>
            <a:pPr lvl="1">
              <a:lnSpc>
                <a:spcPct val="110000"/>
              </a:lnSpc>
              <a:buFont typeface="Symbol" panose="05050102010706020507" charset="0"/>
              <a:buChar char="-"/>
              <a:defRPr/>
            </a:pPr>
            <a:r>
              <a:rPr lang="en-US" altLang="zh-CN" dirty="0"/>
              <a:t>Increase congestion</a:t>
            </a:r>
            <a:r>
              <a:rPr lang="zh-CN" altLang="en-US" dirty="0"/>
              <a:t> </a:t>
            </a:r>
            <a:r>
              <a:rPr lang="en-US" altLang="zh-CN" dirty="0"/>
              <a:t>window</a:t>
            </a:r>
            <a:r>
              <a:rPr lang="zh-CN" altLang="en-US" dirty="0"/>
              <a:t> </a:t>
            </a:r>
            <a:r>
              <a:rPr lang="en-US" altLang="zh-CN" dirty="0"/>
              <a:t>slowly</a:t>
            </a:r>
            <a:endParaRPr lang="en-US" altLang="zh-CN" dirty="0"/>
          </a:p>
          <a:p>
            <a:pPr lvl="1">
              <a:lnSpc>
                <a:spcPct val="110000"/>
              </a:lnSpc>
              <a:buFont typeface="Symbol" panose="05050102010706020507" charset="0"/>
              <a:buChar char="-"/>
              <a:defRPr/>
            </a:pPr>
            <a:r>
              <a:rPr lang="en-US" altLang="zh-CN" dirty="0"/>
              <a:t>If no drops -&gt; no congestion yet</a:t>
            </a:r>
            <a:endParaRPr lang="en-US" altLang="zh-CN" dirty="0"/>
          </a:p>
          <a:p>
            <a:pPr lvl="1">
              <a:lnSpc>
                <a:spcPct val="110000"/>
              </a:lnSpc>
              <a:buFont typeface="Symbol" panose="05050102010706020507" charset="0"/>
              <a:buChar char="-"/>
              <a:defRPr/>
            </a:pPr>
            <a:r>
              <a:rPr lang="en-US" altLang="zh-CN" dirty="0"/>
              <a:t>If a drop occurs -&gt; decrease congestion</a:t>
            </a:r>
            <a:r>
              <a:rPr lang="zh-CN" altLang="en-US" dirty="0"/>
              <a:t> </a:t>
            </a:r>
            <a:r>
              <a:rPr lang="en-US" altLang="zh-CN" dirty="0"/>
              <a:t>window</a:t>
            </a:r>
            <a:r>
              <a:rPr lang="zh-CN" altLang="en-US" dirty="0"/>
              <a:t> </a:t>
            </a:r>
            <a:r>
              <a:rPr lang="en-US" altLang="zh-CN" dirty="0"/>
              <a:t>quickly</a:t>
            </a:r>
            <a:endParaRPr lang="en-US" altLang="zh-CN" dirty="0"/>
          </a:p>
          <a:p>
            <a:pPr lvl="1">
              <a:lnSpc>
                <a:spcPct val="110000"/>
              </a:lnSpc>
              <a:buFont typeface="Symbol" panose="05050102010706020507" charset="0"/>
              <a:buChar char="-"/>
              <a:defRPr/>
            </a:pPr>
            <a:endParaRPr lang="en-US" altLang="zh-CN" dirty="0"/>
          </a:p>
          <a:p>
            <a:pPr>
              <a:lnSpc>
                <a:spcPct val="110000"/>
              </a:lnSpc>
              <a:defRPr/>
            </a:pPr>
            <a:r>
              <a:rPr lang="en-US" altLang="zh-CN" dirty="0"/>
              <a:t>Use the idea in a distributed protocol that achieves:</a:t>
            </a:r>
            <a:endParaRPr lang="en-US" altLang="zh-CN" dirty="0"/>
          </a:p>
          <a:p>
            <a:pPr lvl="1">
              <a:lnSpc>
                <a:spcPct val="110000"/>
              </a:lnSpc>
              <a:buFont typeface="Symbol" panose="05050102010706020507" charset="0"/>
              <a:buChar char="-"/>
              <a:defRPr/>
            </a:pPr>
            <a:r>
              <a:rPr lang="en-US" altLang="zh-CN" dirty="0"/>
              <a:t>Efficiency: i.e., uses the bottleneck capacity efficiently</a:t>
            </a:r>
            <a:endParaRPr lang="en-US" altLang="zh-CN" dirty="0"/>
          </a:p>
          <a:p>
            <a:pPr lvl="1">
              <a:lnSpc>
                <a:spcPct val="110000"/>
              </a:lnSpc>
              <a:buFont typeface="Symbol" panose="05050102010706020507" charset="0"/>
              <a:buChar char="-"/>
              <a:defRPr/>
            </a:pPr>
            <a:r>
              <a:rPr lang="en-US" altLang="zh-CN" dirty="0"/>
              <a:t>Fairness, i.e., senders sharing a bottleneck get equal throughput (if they have demands)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AIMD (Additive Increase, Multiplicative Decrease)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Every RTT: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 drop: </a:t>
            </a:r>
            <a:r>
              <a:rPr kumimoji="1" lang="en-US" altLang="zh-CN" dirty="0" err="1"/>
              <a:t>cwnd</a:t>
            </a:r>
            <a:r>
              <a:rPr kumimoji="1" lang="en-US" altLang="zh-CN" dirty="0"/>
              <a:t> = </a:t>
            </a:r>
            <a:r>
              <a:rPr kumimoji="1" lang="en-US" altLang="zh-CN" dirty="0" err="1"/>
              <a:t>cwnd</a:t>
            </a:r>
            <a:r>
              <a:rPr kumimoji="1" lang="en-US" altLang="zh-CN" dirty="0"/>
              <a:t> + 1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 drop: </a:t>
            </a:r>
            <a:r>
              <a:rPr kumimoji="1" lang="en-US" altLang="zh-CN" dirty="0" err="1"/>
              <a:t>cwnd</a:t>
            </a:r>
            <a:r>
              <a:rPr kumimoji="1" lang="en-US" altLang="zh-CN" dirty="0"/>
              <a:t> = </a:t>
            </a:r>
            <a:r>
              <a:rPr kumimoji="1" lang="en-US" altLang="zh-CN" dirty="0" err="1"/>
              <a:t>cwnd</a:t>
            </a:r>
            <a:r>
              <a:rPr kumimoji="1" lang="en-US" altLang="zh-CN" dirty="0"/>
              <a:t> / 2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73324"/>
            <a:ext cx="7020074" cy="220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 with AIMD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/>
              <a:t>Increases very slowly at the beginning </a:t>
            </a:r>
            <a:endParaRPr lang="en-US" altLang="zh-CN" dirty="0"/>
          </a:p>
          <a:p>
            <a:r>
              <a:rPr lang="en-US" altLang="zh-CN" dirty="0"/>
              <a:t>Initial window size is 1</a:t>
            </a:r>
            <a:endParaRPr lang="en-US" altLang="zh-CN" dirty="0"/>
          </a:p>
          <a:p>
            <a:pPr lvl="1"/>
            <a:r>
              <a:rPr lang="en-US" altLang="zh-CN" dirty="0"/>
              <a:t>Probably too small in practice</a:t>
            </a:r>
            <a:endParaRPr lang="en-US" altLang="zh-CN" dirty="0"/>
          </a:p>
          <a:p>
            <a:r>
              <a:rPr lang="en-US" altLang="zh-CN" dirty="0"/>
              <a:t>Solution: do multiplicative increase at the beginning</a:t>
            </a:r>
            <a:endParaRPr lang="en-US" altLang="zh-CN" dirty="0"/>
          </a:p>
          <a:p>
            <a:pPr lvl="1"/>
            <a:r>
              <a:rPr lang="en-US" altLang="zh-CN" i="1" dirty="0" err="1"/>
              <a:t>Congestion_window</a:t>
            </a:r>
            <a:r>
              <a:rPr lang="en-US" altLang="zh-CN" i="1" dirty="0"/>
              <a:t> </a:t>
            </a:r>
            <a:r>
              <a:rPr lang="en-US" altLang="zh-CN" i="1" baseline="-25000" dirty="0" err="1"/>
              <a:t>init</a:t>
            </a:r>
            <a:r>
              <a:rPr lang="en-US" altLang="zh-CN" i="1" dirty="0"/>
              <a:t> </a:t>
            </a:r>
            <a:r>
              <a:rPr lang="en-US" altLang="zh-CN" dirty="0"/>
              <a:t>= 1</a:t>
            </a:r>
            <a:endParaRPr lang="en-US" altLang="zh-CN" dirty="0"/>
          </a:p>
          <a:p>
            <a:pPr lvl="1"/>
            <a:r>
              <a:rPr lang="en-US" altLang="zh-CN" dirty="0"/>
              <a:t>Initially, do </a:t>
            </a:r>
            <a:r>
              <a:rPr lang="en-US" altLang="zh-CN" i="1" dirty="0" err="1">
                <a:solidFill>
                  <a:srgbClr val="0096FF"/>
                </a:solidFill>
              </a:rPr>
              <a:t>Congestion_window</a:t>
            </a:r>
            <a:r>
              <a:rPr lang="en-US" altLang="zh-CN" i="1" dirty="0">
                <a:solidFill>
                  <a:srgbClr val="0096FF"/>
                </a:solidFill>
              </a:rPr>
              <a:t> </a:t>
            </a:r>
            <a:r>
              <a:rPr lang="en-US" altLang="zh-CN" dirty="0">
                <a:solidFill>
                  <a:srgbClr val="0096FF"/>
                </a:solidFill>
              </a:rPr>
              <a:t>← 2 * </a:t>
            </a:r>
            <a:r>
              <a:rPr lang="en-US" altLang="zh-CN" i="1" dirty="0" err="1">
                <a:solidFill>
                  <a:srgbClr val="0096FF"/>
                </a:solidFill>
              </a:rPr>
              <a:t>Congestion_window</a:t>
            </a:r>
            <a:r>
              <a:rPr lang="en-US" altLang="zh-CN" i="1" dirty="0">
                <a:solidFill>
                  <a:srgbClr val="0096FF"/>
                </a:solidFill>
              </a:rPr>
              <a:t> </a:t>
            </a:r>
            <a:r>
              <a:rPr lang="en-US" altLang="zh-CN" dirty="0"/>
              <a:t>each RTT until we hit congestion</a:t>
            </a:r>
            <a:endParaRPr lang="en-US" altLang="zh-CN" dirty="0"/>
          </a:p>
          <a:p>
            <a:pPr lvl="1"/>
            <a:r>
              <a:rPr lang="en-US" altLang="zh-CN" dirty="0"/>
              <a:t>Named "slow start"</a:t>
            </a:r>
            <a:r>
              <a:rPr lang="zh-CN" altLang="en-US" dirty="0"/>
              <a:t> </a:t>
            </a:r>
            <a:r>
              <a:rPr lang="en-US" altLang="zh-CN" dirty="0"/>
              <a:t>(even though it's exponentially fast!)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Retrofitting TCP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32323"/>
            <a:ext cx="8028385" cy="3539728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MS PGothic" panose="020B0600070205080204" charset="-128"/>
              </a:rPr>
              <a:t>Retrofitting TCP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MS PGothic" panose="020B0600070205080204" charset="-128"/>
              </a:rPr>
              <a:t>1. Slow start: one packet at first, then double until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Sender reaches the window size suggested by the receiver 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All the available data has been dispatched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Sender detects that a packet it sent has been discarded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2. Duplicate ACK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ea typeface="MS PGothic" panose="020B0600070205080204" charset="-128"/>
              </a:rPr>
              <a:t>When receiver gets an out-of-order packet, it sends back a duplicate of latest ACK</a:t>
            </a:r>
            <a:endParaRPr lang="en-US" altLang="zh-CN" dirty="0"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3. Equilibrium</a:t>
            </a:r>
            <a:endParaRPr lang="en-US" altLang="zh-CN" dirty="0">
              <a:ea typeface="MS PGothic" panose="020B0600070205080204" charset="-128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MS PGothic" panose="020B0600070205080204" charset="-128"/>
              </a:rPr>
              <a:t>Additive increase &amp; multiplicative decrease</a:t>
            </a:r>
            <a:endParaRPr lang="en-US" altLang="zh-CN" dirty="0">
              <a:solidFill>
                <a:srgbClr val="FF0000"/>
              </a:solidFill>
              <a:ea typeface="MS PGothic" panose="020B0600070205080204" charset="-128"/>
            </a:endParaRPr>
          </a:p>
          <a:p>
            <a:r>
              <a:rPr lang="en-US" altLang="zh-CN" dirty="0">
                <a:ea typeface="MS PGothic" panose="020B0600070205080204" charset="-128"/>
              </a:rPr>
              <a:t>4. Restart, after waiting a short time</a:t>
            </a:r>
            <a:endParaRPr lang="zh-CN" altLang="en-US" dirty="0"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Fairness between Links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888"/>
          <a:stretch>
            <a:fillRect/>
          </a:stretch>
        </p:blipFill>
        <p:spPr bwMode="auto">
          <a:xfrm>
            <a:off x="611560" y="1705372"/>
            <a:ext cx="7884319" cy="276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AIMD Leads to Efficiency and Fairness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99" y="1530622"/>
            <a:ext cx="6589961" cy="399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Q:</a:t>
            </a:r>
            <a:r>
              <a:rPr kumimoji="1" lang="zh-CN" altLang="en-US" dirty="0"/>
              <a:t> </a:t>
            </a:r>
            <a:r>
              <a:rPr kumimoji="1" lang="en-US" altLang="zh-CN" dirty="0"/>
              <a:t>Why not Additive Decrease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kumimoji="1" lang="en-US" altLang="zh-CN" dirty="0"/>
              <a:t>It does not converge to </a:t>
            </a:r>
            <a:r>
              <a:rPr kumimoji="1" lang="en-US" altLang="zh-CN" dirty="0">
                <a:solidFill>
                  <a:srgbClr val="0096FF"/>
                </a:solidFill>
              </a:rPr>
              <a:t>fairness</a:t>
            </a:r>
            <a:endParaRPr kumimoji="1" lang="en-US" altLang="zh-CN" dirty="0">
              <a:solidFill>
                <a:srgbClr val="0096FF"/>
              </a:solidFill>
            </a:endParaRPr>
          </a:p>
          <a:p>
            <a:pPr lvl="1"/>
            <a:r>
              <a:rPr kumimoji="1" lang="en-US" altLang="zh-CN" dirty="0"/>
              <a:t>from a congested point, (</a:t>
            </a:r>
            <a:r>
              <a:rPr kumimoji="1" lang="en-US" altLang="zh-CN" dirty="0" err="1"/>
              <a:t>x',y</a:t>
            </a:r>
            <a:r>
              <a:rPr kumimoji="1" lang="en-US" altLang="zh-CN" dirty="0"/>
              <a:t>'), reducing each by 1 worsens fairness and takes us away from the "ideal" outcome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Weakness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TCP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r>
              <a:rPr kumimoji="1" lang="en-US" altLang="zh-CN" dirty="0"/>
              <a:t>If routers have too much buffering, causes long delays</a:t>
            </a:r>
            <a:endParaRPr kumimoji="1" lang="en-US" altLang="zh-CN" dirty="0"/>
          </a:p>
          <a:p>
            <a:r>
              <a:rPr kumimoji="1" lang="en-US" altLang="zh-CN" dirty="0"/>
              <a:t>Packet loss is not always caused by congestion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Consider wireless network: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losing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packet, sender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may</a:t>
            </a:r>
            <a:r>
              <a:rPr kumimoji="1" lang="zh-CN" altLang="en-US" dirty="0"/>
              <a:t> </a:t>
            </a:r>
            <a:r>
              <a:rPr kumimoji="1" lang="en-US" altLang="zh-CN" dirty="0"/>
              <a:t>send</a:t>
            </a:r>
            <a:r>
              <a:rPr kumimoji="1" lang="zh-CN" altLang="en-US" dirty="0"/>
              <a:t> </a:t>
            </a:r>
            <a:r>
              <a:rPr kumimoji="1" lang="en-US" altLang="zh-CN" dirty="0"/>
              <a:t>faster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instead</a:t>
            </a:r>
            <a:endParaRPr kumimoji="1" lang="en-US" altLang="zh-CN" dirty="0"/>
          </a:p>
          <a:p>
            <a:r>
              <a:rPr kumimoji="1" lang="en-US" altLang="zh-CN" dirty="0"/>
              <a:t>TCP does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 perform well in datacenters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High bandwidth, low delay situations</a:t>
            </a:r>
            <a:endParaRPr kumimoji="1" lang="en-US" altLang="zh-CN" dirty="0"/>
          </a:p>
          <a:p>
            <a:r>
              <a:rPr kumimoji="1" lang="en-US" altLang="zh-CN" dirty="0"/>
              <a:t>TCP has a bias against long RTTs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Throughput inversely proportionally to RTT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Consider when sending packets really far away vs really close</a:t>
            </a:r>
            <a:endParaRPr kumimoji="1" lang="en-US" altLang="zh-CN" dirty="0"/>
          </a:p>
          <a:p>
            <a:r>
              <a:rPr lang="en-US" altLang="zh-CN" dirty="0"/>
              <a:t>Assumes cooperating sources, which is</a:t>
            </a:r>
            <a:r>
              <a:rPr lang="zh-CN" altLang="en-US" dirty="0"/>
              <a:t> </a:t>
            </a:r>
            <a:r>
              <a:rPr lang="en-US" altLang="zh-CN" dirty="0"/>
              <a:t>not always a good assumption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of Congestion Window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24847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Reliability Using Sliding Window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Tx Rate = W / RTT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Congestion Control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W = min(</a:t>
            </a:r>
            <a:r>
              <a:rPr lang="en-US" altLang="zh-CN" dirty="0" err="1"/>
              <a:t>Receiver_buffer</a:t>
            </a:r>
            <a:r>
              <a:rPr lang="en-US" altLang="zh-CN" dirty="0"/>
              <a:t>, </a:t>
            </a:r>
            <a:r>
              <a:rPr lang="en-US" altLang="zh-CN" dirty="0" err="1"/>
              <a:t>cwnd</a:t>
            </a:r>
            <a:r>
              <a:rPr lang="en-US" altLang="zh-CN" dirty="0"/>
              <a:t>)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Congestion</a:t>
            </a:r>
            <a:r>
              <a:rPr lang="zh-CN" altLang="en-US" dirty="0"/>
              <a:t> </a:t>
            </a:r>
            <a:r>
              <a:rPr lang="en-US" altLang="zh-CN" dirty="0"/>
              <a:t>window</a:t>
            </a:r>
            <a:r>
              <a:rPr lang="zh-CN" altLang="en-US" dirty="0"/>
              <a:t> </a:t>
            </a:r>
            <a:r>
              <a:rPr lang="en-US" altLang="zh-CN" dirty="0"/>
              <a:t>is adapted by the congestion control protocol to ensure efficiency and fairness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TCP congestion control uses AIMD which provides fairness and efficiency in a distributed way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BE374B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14352</Words>
  <Application>WPS 演示</Application>
  <PresentationFormat>全屏显示(16:10)</PresentationFormat>
  <Paragraphs>581</Paragraphs>
  <Slides>50</Slides>
  <Notes>10</Notes>
  <HiddenSlides>1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72" baseType="lpstr">
      <vt:lpstr>Arial</vt:lpstr>
      <vt:lpstr>宋体</vt:lpstr>
      <vt:lpstr>Wingdings</vt:lpstr>
      <vt:lpstr>等线</vt:lpstr>
      <vt:lpstr>微软雅黑 Light</vt:lpstr>
      <vt:lpstr>PingFang SC</vt:lpstr>
      <vt:lpstr>微软雅黑</vt:lpstr>
      <vt:lpstr>Calibri</vt:lpstr>
      <vt:lpstr>Comic Sans MS</vt:lpstr>
      <vt:lpstr>MS PGothic</vt:lpstr>
      <vt:lpstr>Consolas</vt:lpstr>
      <vt:lpstr>Calibri</vt:lpstr>
      <vt:lpstr>Arial Unicode MS</vt:lpstr>
      <vt:lpstr>Myriad Pro Light SemiCond</vt:lpstr>
      <vt:lpstr>Segoe Print</vt:lpstr>
      <vt:lpstr>PMingLiU</vt:lpstr>
      <vt:lpstr>Calibri Light</vt:lpstr>
      <vt:lpstr>Courier New</vt:lpstr>
      <vt:lpstr>Times New Roman</vt:lpstr>
      <vt:lpstr>.AppleSystemUIFont</vt:lpstr>
      <vt:lpstr>Symbol</vt:lpstr>
      <vt:lpstr>1_Office 主题​​</vt:lpstr>
      <vt:lpstr>End-to-end Layer Best-effort is not enough</vt:lpstr>
      <vt:lpstr>The End-to-end Layer</vt:lpstr>
      <vt:lpstr>Famous Transport Protocols</vt:lpstr>
      <vt:lpstr>Assurance of End-to-end Protocol</vt:lpstr>
      <vt:lpstr>1. Assurance of At-least-once Delivery</vt:lpstr>
      <vt:lpstr>1. Assurance of At-least-once Delivery</vt:lpstr>
      <vt:lpstr>How to Decide Timeout?</vt:lpstr>
      <vt:lpstr>Fixed Timer is Evil</vt:lpstr>
      <vt:lpstr>Emergent Phase Synchronization of Periodic Protocols</vt:lpstr>
      <vt:lpstr>Wisconsin Time Server Meltdown</vt:lpstr>
      <vt:lpstr>Wisconsin Time Server Meltdown</vt:lpstr>
      <vt:lpstr>How to Decide Timeout?</vt:lpstr>
      <vt:lpstr>RTT Could be Highly Variable</vt:lpstr>
      <vt:lpstr>Calculating RTT and Timeout (in TCP)</vt:lpstr>
      <vt:lpstr>How to Decide Timeout?</vt:lpstr>
      <vt:lpstr>2. Assurance of At-most-once Delivery</vt:lpstr>
      <vt:lpstr>Duplicate Suppression</vt:lpstr>
      <vt:lpstr>Duplicate Suppression</vt:lpstr>
      <vt:lpstr>3. Assurance of Data Integrity</vt:lpstr>
      <vt:lpstr>4. Segments and Reassembly of Long Messages</vt:lpstr>
      <vt:lpstr>When Out of Order…</vt:lpstr>
      <vt:lpstr>Closing of Connections</vt:lpstr>
      <vt:lpstr>5. Assurance of Jitter Control</vt:lpstr>
      <vt:lpstr>5. Assurance of Jitter Control</vt:lpstr>
      <vt:lpstr>6. Assurance of Authenticity and Privacy</vt:lpstr>
      <vt:lpstr>6. Security: Asymmetric Encryption</vt:lpstr>
      <vt:lpstr>7. End-to-end Performance</vt:lpstr>
      <vt:lpstr>Overlapping Transmissions</vt:lpstr>
      <vt:lpstr>Overlapping Transmissions</vt:lpstr>
      <vt:lpstr>Fixed Window</vt:lpstr>
      <vt:lpstr>Sliding Window</vt:lpstr>
      <vt:lpstr>Handling Packet Loss</vt:lpstr>
      <vt:lpstr>Chose the Right Window Size</vt:lpstr>
      <vt:lpstr>Sliding Window Size</vt:lpstr>
      <vt:lpstr>Self-pacing: Sliding Window Size</vt:lpstr>
      <vt:lpstr>PowerPoint 演示文稿</vt:lpstr>
      <vt:lpstr>Congestion</vt:lpstr>
      <vt:lpstr>Network Congestion</vt:lpstr>
      <vt:lpstr>Why Congest?</vt:lpstr>
      <vt:lpstr>Load Shedding: Setting Window Size</vt:lpstr>
      <vt:lpstr>Congestion Control</vt:lpstr>
      <vt:lpstr>AIMD (Additive Increase, Multiplicative Decrease)</vt:lpstr>
      <vt:lpstr>Problems with AIMD</vt:lpstr>
      <vt:lpstr>Retrofitting TCP</vt:lpstr>
      <vt:lpstr>Retrofitting TCP</vt:lpstr>
      <vt:lpstr>Fairness between Links</vt:lpstr>
      <vt:lpstr>AIMD Leads to Efficiency and Fairness</vt:lpstr>
      <vt:lpstr>Q: Why not Additive Decrease</vt:lpstr>
      <vt:lpstr>Weakness of TCP</vt:lpstr>
      <vt:lpstr>Summary of Congestion Window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1600</cp:revision>
  <cp:lastPrinted>2020-03-02T13:38:00Z</cp:lastPrinted>
  <dcterms:created xsi:type="dcterms:W3CDTF">2017-11-24T09:35:00Z</dcterms:created>
  <dcterms:modified xsi:type="dcterms:W3CDTF">2025-01-15T03:29:38Z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BAE7E297AA954FD8ACF434B268706475_12</vt:lpwstr>
  </property>
  <property fmtid="{D5CDD505-2E9C-101B-9397-08002B2CF9AE}" pid="3" name="KSOProductBuildVer">
    <vt:lpwstr>2052-12.1.0.19770</vt:lpwstr>
  </property>
</Properties>
</file>