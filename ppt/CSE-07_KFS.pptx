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9"/>
  </p:handoutMasterIdLst>
  <p:sldIdLst>
    <p:sldId id="2241" r:id="rId3"/>
    <p:sldId id="2475" r:id="rId5"/>
    <p:sldId id="2476" r:id="rId6"/>
    <p:sldId id="2599" r:id="rId7"/>
    <p:sldId id="2477" r:id="rId8"/>
    <p:sldId id="2589" r:id="rId9"/>
    <p:sldId id="2480" r:id="rId10"/>
    <p:sldId id="2481" r:id="rId11"/>
    <p:sldId id="2482" r:id="rId12"/>
    <p:sldId id="2632" r:id="rId13"/>
    <p:sldId id="2486" r:id="rId14"/>
    <p:sldId id="2487" r:id="rId15"/>
    <p:sldId id="2633" r:id="rId16"/>
    <p:sldId id="2488" r:id="rId17"/>
    <p:sldId id="2490" r:id="rId18"/>
    <p:sldId id="2489" r:id="rId19"/>
    <p:sldId id="2492" r:id="rId20"/>
    <p:sldId id="2484" r:id="rId21"/>
    <p:sldId id="2494" r:id="rId22"/>
    <p:sldId id="2588" r:id="rId23"/>
    <p:sldId id="2506" r:id="rId24"/>
    <p:sldId id="2507" r:id="rId25"/>
    <p:sldId id="2543" r:id="rId26"/>
    <p:sldId id="2544" r:id="rId27"/>
    <p:sldId id="2546" r:id="rId28"/>
    <p:sldId id="2547" r:id="rId29"/>
    <p:sldId id="2548" r:id="rId30"/>
    <p:sldId id="2549" r:id="rId31"/>
    <p:sldId id="2550" r:id="rId32"/>
    <p:sldId id="2551" r:id="rId33"/>
    <p:sldId id="2552" r:id="rId34"/>
    <p:sldId id="2554" r:id="rId35"/>
    <p:sldId id="2557" r:id="rId36"/>
    <p:sldId id="2583" r:id="rId37"/>
    <p:sldId id="2558" r:id="rId38"/>
    <p:sldId id="2559" r:id="rId39"/>
    <p:sldId id="2560" r:id="rId40"/>
    <p:sldId id="2561" r:id="rId41"/>
    <p:sldId id="2562" r:id="rId42"/>
    <p:sldId id="2508" r:id="rId43"/>
    <p:sldId id="2493" r:id="rId44"/>
    <p:sldId id="2501" r:id="rId45"/>
    <p:sldId id="2590" r:id="rId46"/>
    <p:sldId id="2497" r:id="rId47"/>
    <p:sldId id="2584" r:id="rId48"/>
    <p:sldId id="2498" r:id="rId49"/>
    <p:sldId id="2495" r:id="rId50"/>
    <p:sldId id="2540" r:id="rId51"/>
    <p:sldId id="2591" r:id="rId52"/>
    <p:sldId id="2500" r:id="rId53"/>
    <p:sldId id="2503" r:id="rId54"/>
    <p:sldId id="2563" r:id="rId55"/>
    <p:sldId id="2564" r:id="rId56"/>
    <p:sldId id="2565" r:id="rId57"/>
    <p:sldId id="2566" r:id="rId58"/>
    <p:sldId id="2567" r:id="rId59"/>
    <p:sldId id="2568" r:id="rId60"/>
    <p:sldId id="2569" r:id="rId61"/>
    <p:sldId id="2570" r:id="rId62"/>
    <p:sldId id="2593" r:id="rId63"/>
    <p:sldId id="2592" r:id="rId64"/>
    <p:sldId id="2504" r:id="rId65"/>
    <p:sldId id="2509" r:id="rId66"/>
    <p:sldId id="2585" r:id="rId67"/>
    <p:sldId id="2575" r:id="rId68"/>
    <p:sldId id="2511" r:id="rId69"/>
    <p:sldId id="2512" r:id="rId70"/>
    <p:sldId id="2586" r:id="rId71"/>
    <p:sldId id="2513" r:id="rId72"/>
    <p:sldId id="2514" r:id="rId73"/>
    <p:sldId id="2515" r:id="rId74"/>
    <p:sldId id="2516" r:id="rId75"/>
    <p:sldId id="2517" r:id="rId76"/>
    <p:sldId id="2594" r:id="rId77"/>
    <p:sldId id="2595" r:id="rId78"/>
    <p:sldId id="2519" r:id="rId79"/>
    <p:sldId id="2600" r:id="rId80"/>
    <p:sldId id="2601" r:id="rId81"/>
    <p:sldId id="2521" r:id="rId82"/>
    <p:sldId id="2536" r:id="rId83"/>
    <p:sldId id="2596" r:id="rId84"/>
    <p:sldId id="2598" r:id="rId85"/>
    <p:sldId id="2537" r:id="rId86"/>
    <p:sldId id="2538" r:id="rId87"/>
    <p:sldId id="2539" r:id="rId88"/>
    <p:sldId id="2518" r:id="rId89"/>
    <p:sldId id="2522" r:id="rId90"/>
    <p:sldId id="2520" r:id="rId91"/>
    <p:sldId id="2579" r:id="rId92"/>
    <p:sldId id="2524" r:id="rId93"/>
    <p:sldId id="2525" r:id="rId94"/>
    <p:sldId id="2526" r:id="rId95"/>
    <p:sldId id="2527" r:id="rId96"/>
    <p:sldId id="2528" r:id="rId97"/>
    <p:sldId id="2529" r:id="rId98"/>
    <p:sldId id="2530" r:id="rId99"/>
    <p:sldId id="2531" r:id="rId100"/>
    <p:sldId id="2576" r:id="rId101"/>
    <p:sldId id="2577" r:id="rId102"/>
    <p:sldId id="2578" r:id="rId103"/>
    <p:sldId id="2580" r:id="rId104"/>
    <p:sldId id="2581" r:id="rId105"/>
    <p:sldId id="2523" r:id="rId106"/>
    <p:sldId id="2574" r:id="rId107"/>
    <p:sldId id="2532" r:id="rId108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13" userDrawn="1">
          <p15:clr>
            <a:srgbClr val="A4A3A4"/>
          </p15:clr>
        </p15:guide>
        <p15:guide id="3" pos="29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74B"/>
    <a:srgbClr val="0432FF"/>
    <a:srgbClr val="BE374B"/>
    <a:srgbClr val="EACBA3"/>
    <a:srgbClr val="E2EAF7"/>
    <a:srgbClr val="FF5F00"/>
    <a:srgbClr val="FF7E79"/>
    <a:srgbClr val="F6F9D6"/>
    <a:srgbClr val="B0FFD3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80" autoAdjust="0"/>
    <p:restoredTop sz="76187" autoAdjust="0"/>
  </p:normalViewPr>
  <p:slideViewPr>
    <p:cSldViewPr showGuides="1">
      <p:cViewPr varScale="1">
        <p:scale>
          <a:sx n="108" d="100"/>
          <a:sy n="108" d="100"/>
        </p:scale>
        <p:origin x="888" y="192"/>
      </p:cViewPr>
      <p:guideLst>
        <p:guide orient="horz" pos="2913"/>
        <p:guide pos="2924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2" Type="http://schemas.openxmlformats.org/officeDocument/2006/relationships/tableStyles" Target="tableStyles.xml"/><Relationship Id="rId111" Type="http://schemas.openxmlformats.org/officeDocument/2006/relationships/viewProps" Target="viewProps.xml"/><Relationship Id="rId110" Type="http://schemas.openxmlformats.org/officeDocument/2006/relationships/presProps" Target="presProps.xml"/><Relationship Id="rId11" Type="http://schemas.openxmlformats.org/officeDocument/2006/relationships/slide" Target="slides/slide8.xml"/><Relationship Id="rId109" Type="http://schemas.openxmlformats.org/officeDocument/2006/relationships/handoutMaster" Target="handoutMasters/handoutMaster1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publication/hints-and-principles-for-computer-system-design-3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实现这个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子集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// TODO: directory has maximum file entry supported? 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&lt;</a:t>
            </a:r>
            <a:r>
              <a:rPr lang="en-GB" altLang="zh-CN" b="1" i="0" u="none" strike="noStrike" dirty="0">
                <a:solidFill>
                  <a:srgbClr val="0067B8"/>
                </a:solidFill>
                <a:effectLst/>
                <a:latin typeface="Segoe UI" panose="020B0502040204020203" pitchFamily="34" charset="0"/>
                <a:hlinkClick r:id="rId3"/>
              </a:rPr>
              <a:t>Hints and Principles for Computer System Design</a:t>
            </a:r>
            <a:r>
              <a:rPr kumimoji="1" lang="en-US" altLang="zh-CN" b="1" i="0" u="none" strike="noStrike" dirty="0">
                <a:solidFill>
                  <a:srgbClr val="0067B8"/>
                </a:solidFill>
                <a:effectLst/>
                <a:latin typeface="Segoe UI" panose="020B0502040204020203" pitchFamily="34" charset="0"/>
              </a:rPr>
              <a:t>&gt; </a:t>
            </a:r>
            <a:endParaRPr kumimoji="1" lang="en-US" altLang="zh-CN" b="1" i="0" u="none" strike="noStrike" dirty="0">
              <a:solidFill>
                <a:srgbClr val="0067B8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b="1" i="0" u="none" strike="noStrike" dirty="0">
              <a:solidFill>
                <a:srgbClr val="0067B8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altLang="zh-CN" b="1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David Wheeler</a:t>
            </a:r>
            <a:r>
              <a:rPr lang="zh-CN" altLang="en-US" dirty="0"/>
              <a:t>： 剑桥大学</a:t>
            </a:r>
            <a:endParaRPr lang="en-GB" altLang="zh-CN" b="1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Can use tools like </a:t>
            </a:r>
            <a:r>
              <a:rPr kumimoji="1" lang="en-US" altLang="zh-CN" dirty="0" err="1"/>
              <a:t>fio</a:t>
            </a:r>
            <a:r>
              <a:rPr kumimoji="1" lang="en-US" altLang="zh-CN" dirty="0"/>
              <a:t> to measure.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Append a null record at the end of the file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Why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 table is insufficient? Integer -&gt; position; what we want: string to string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 讲下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We will not cover many details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Read update memory overhead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 The RUM Conjecture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遍历文件后面的</a:t>
            </a:r>
            <a:r>
              <a:rPr kumimoji="1" lang="en-US" altLang="zh-CN" dirty="0"/>
              <a:t>block</a:t>
            </a:r>
            <a:r>
              <a:rPr kumimoji="1" lang="zh-CN" altLang="en-US" dirty="0"/>
              <a:t>并不高效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支持</a:t>
            </a:r>
            <a:r>
              <a:rPr kumimoji="1" lang="en-US" altLang="zh-CN" dirty="0"/>
              <a:t>range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support</a:t>
            </a:r>
            <a:r>
              <a:rPr kumimoji="1" lang="zh-CN" altLang="en-US" dirty="0"/>
              <a:t>的两个问题：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）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不支持</a:t>
            </a:r>
            <a:r>
              <a:rPr kumimoji="1" lang="en-US" altLang="zh-CN" dirty="0"/>
              <a:t>range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）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里面是无序的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Fingertips: </a:t>
            </a:r>
            <a:r>
              <a:rPr kumimoji="1" lang="zh-CN" altLang="en-GB" dirty="0"/>
              <a:t>唾手可得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lang="en-GB" altLang="zh-CN" sz="1200" dirty="0"/>
              <a:t>Goetz </a:t>
            </a:r>
            <a:r>
              <a:rPr lang="en-GB" altLang="zh-CN" sz="1200" dirty="0" err="1"/>
              <a:t>Graefe</a:t>
            </a:r>
            <a:r>
              <a:rPr lang="en-GB" altLang="zh-CN" sz="1200" dirty="0"/>
              <a:t> </a:t>
            </a:r>
            <a:r>
              <a:rPr kumimoji="1" lang="zh-CN" altLang="en-US" sz="1200" dirty="0"/>
              <a:t>： </a:t>
            </a:r>
            <a:r>
              <a:rPr kumimoji="1" lang="en-US" altLang="zh-CN" sz="1200" dirty="0"/>
              <a:t>SQL server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Fanout</a:t>
            </a:r>
            <a:r>
              <a:rPr kumimoji="1" lang="zh-CN" altLang="en-US" dirty="0"/>
              <a:t>：指的是</a:t>
            </a:r>
            <a:r>
              <a:rPr kumimoji="1" lang="en-US" altLang="zh-CN" dirty="0"/>
              <a:t>child</a:t>
            </a:r>
            <a:r>
              <a:rPr kumimoji="1" lang="zh-CN" altLang="en-US" dirty="0"/>
              <a:t>节点的个数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// </a:t>
            </a:r>
            <a:r>
              <a:rPr kumimoji="1" lang="zh-CN" altLang="en-US" dirty="0"/>
              <a:t>分析</a:t>
            </a:r>
            <a:r>
              <a:rPr kumimoji="1" lang="en-US" altLang="zh-CN" dirty="0" err="1"/>
              <a:t>B+Tree</a:t>
            </a:r>
            <a:r>
              <a:rPr kumimoji="1" lang="zh-CN" altLang="en-US" dirty="0"/>
              <a:t> 索引的好坏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当然，如果</a:t>
            </a:r>
            <a:r>
              <a:rPr kumimoji="1" lang="en-US" altLang="zh-CN" dirty="0"/>
              <a:t>insertion</a:t>
            </a:r>
            <a:r>
              <a:rPr kumimoji="1" lang="zh-CN" altLang="en-US" dirty="0"/>
              <a:t>都是在最后，那么</a:t>
            </a:r>
            <a:r>
              <a:rPr kumimoji="1" lang="en-US" altLang="zh-CN" dirty="0"/>
              <a:t>b</a:t>
            </a:r>
            <a:r>
              <a:rPr kumimoji="1" lang="zh-CN" altLang="en-US" dirty="0"/>
              <a:t>树的性能也是很好的。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// </a:t>
            </a:r>
            <a:r>
              <a:rPr kumimoji="1" lang="zh-CN" altLang="en-US" dirty="0"/>
              <a:t>分析</a:t>
            </a:r>
            <a:r>
              <a:rPr kumimoji="1" lang="en-US" altLang="zh-CN" dirty="0" err="1"/>
              <a:t>B+Tree</a:t>
            </a:r>
            <a:r>
              <a:rPr kumimoji="1" lang="zh-CN" altLang="en-US" dirty="0"/>
              <a:t> 索引的好坏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 keys in a layer is sorted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Each layer has only one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Each layer has only one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为啥</a:t>
            </a:r>
            <a:r>
              <a:rPr kumimoji="1" lang="en-US" altLang="zh-CN" dirty="0"/>
              <a:t>L0</a:t>
            </a:r>
            <a:r>
              <a:rPr kumimoji="1" lang="zh-CN" altLang="en-US" dirty="0"/>
              <a:t>没有</a:t>
            </a:r>
            <a:r>
              <a:rPr kumimoji="1" lang="en-US" altLang="zh-CN" dirty="0"/>
              <a:t>sorted</a:t>
            </a:r>
            <a:r>
              <a:rPr kumimoji="1" lang="zh-CN" altLang="en-US" dirty="0"/>
              <a:t>？主要是为了快速将 </a:t>
            </a:r>
            <a:r>
              <a:rPr kumimoji="1" lang="en-GB" altLang="zh-CN" dirty="0" err="1"/>
              <a:t>memtable</a:t>
            </a:r>
            <a:r>
              <a:rPr kumimoji="1" lang="en-GB" altLang="zh-CN" dirty="0"/>
              <a:t> </a:t>
            </a:r>
            <a:r>
              <a:rPr kumimoji="1" lang="zh-CN" altLang="en-US" dirty="0"/>
              <a:t>刷到 </a:t>
            </a:r>
            <a:r>
              <a:rPr kumimoji="1" lang="en-GB" altLang="zh-CN" dirty="0"/>
              <a:t>l0</a:t>
            </a:r>
            <a:r>
              <a:rPr kumimoji="1" lang="zh-CN" altLang="en-US" dirty="0"/>
              <a:t>里去，不能成为性能瓶颈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Solution: bloom filter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04875" indent="-222250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tif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hyperlink" Target="https://docs.riak.com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tiff"/><Relationship Id="rId1" Type="http://schemas.openxmlformats.org/officeDocument/2006/relationships/image" Target="../media/image9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tiff"/><Relationship Id="rId1" Type="http://schemas.openxmlformats.org/officeDocument/2006/relationships/image" Target="../media/image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tif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tif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tif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tif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tif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tif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GIF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GIF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GIF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GIF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GIF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2.GIF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GIF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GIF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tif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7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-107404" y="1632479"/>
            <a:ext cx="9358808" cy="122502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200" b="0" dirty="0">
                <a:latin typeface="+mn-lt"/>
              </a:rPr>
              <a:t>Google file system &amp; </a:t>
            </a:r>
            <a:br>
              <a:rPr kumimoji="1" lang="en-US" altLang="zh-CN" sz="3200" b="0" dirty="0">
                <a:latin typeface="+mn-lt"/>
              </a:rPr>
            </a:br>
            <a:r>
              <a:rPr kumimoji="1" lang="en-US" altLang="zh-CN" sz="3200" b="0" dirty="0">
                <a:latin typeface="+mn-lt"/>
              </a:rPr>
              <a:t>from file system to key-value store </a:t>
            </a:r>
            <a:endParaRPr kumimoji="1" lang="zh-CN" altLang="en-US" sz="3200" b="0" dirty="0">
              <a:latin typeface="+mn-lt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/>
          <p:cNvSpPr txBox="1"/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SE3331-1 (2024 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 panose="020B0503020204020204" charset="-122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</p:spPr>
      </p:pic>
      <p:sp>
        <p:nvSpPr>
          <p:cNvPr id="10" name="副标题 5"/>
          <p:cNvSpPr txBox="1"/>
          <p:nvPr/>
        </p:nvSpPr>
        <p:spPr>
          <a:xfrm>
            <a:off x="-6647" y="5210411"/>
            <a:ext cx="82245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Credits: 	Niv Dayan</a:t>
            </a: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， </a:t>
            </a:r>
            <a:r>
              <a:rPr kumimoji="1"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JiFei@IPADS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endParaRPr kumimoji="1" lang="en-GB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RocksDB with Dhruba Borthakur and Igor Canadi - Software Engineering Dail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054" y="4516867"/>
            <a:ext cx="2382173" cy="119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Key-value storage (KVS): system w/ a simpler API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Storage abstraction: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Each data (</a:t>
            </a:r>
            <a:r>
              <a:rPr kumimoji="1" lang="en-US" altLang="zh-CN" b="1" dirty="0"/>
              <a:t>V</a:t>
            </a:r>
            <a:r>
              <a:rPr kumimoji="1" lang="en-US" altLang="zh-CN" dirty="0"/>
              <a:t>alue)  is opaque to the underlying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storage/database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The K and V can be arbitrary byte-sequence (e.g., JSON, int, string)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Indexed by a key (</a:t>
            </a:r>
            <a:r>
              <a:rPr kumimoji="1" lang="en-US" altLang="zh-CN" b="1" dirty="0"/>
              <a:t>K</a:t>
            </a:r>
            <a:r>
              <a:rPr kumimoji="1" lang="en-US" altLang="zh-CN" dirty="0"/>
              <a:t>), which itself is also a data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Stored on disk (tolerate failure &amp; support a large capacity), but can also be in-memory </a:t>
            </a:r>
            <a:endParaRPr kumimoji="1" lang="en-US" altLang="zh-CN" dirty="0"/>
          </a:p>
          <a:p>
            <a:r>
              <a:rPr kumimoji="1" lang="en-US" altLang="zh-CN" dirty="0"/>
              <a:t>Application-level Interface (API)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Get(K) -&gt; V, Scan(K,N)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Update(K,V), Insert(K,V), Delete(K,V)</a:t>
            </a:r>
            <a:endParaRPr kumimoji="1" lang="en-US" altLang="zh-CN" dirty="0"/>
          </a:p>
          <a:p>
            <a:endParaRPr kumimoji="1" lang="en-US" altLang="zh-CN" b="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2" descr="What is LevelDB and how does it work? - DEV Commun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82" y="4801072"/>
            <a:ext cx="1882292" cy="78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dis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507" y="4846233"/>
            <a:ext cx="2382173" cy="79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Naïve solution to implement a KVS atop of filesystem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Storage abstraction remapping: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dirty="0">
                <a:solidFill>
                  <a:srgbClr val="C00000"/>
                </a:solidFill>
              </a:rPr>
              <a:t>Key</a:t>
            </a:r>
            <a:r>
              <a:rPr kumimoji="1" lang="en-US" altLang="zh-CN" b="0" dirty="0"/>
              <a:t> </a:t>
            </a:r>
            <a:r>
              <a:rPr kumimoji="1" lang="en-US" altLang="zh-CN" b="0" dirty="0">
                <a:sym typeface="Wingdings" panose="05000000000000000000" pitchFamily="2" charset="2"/>
              </a:rPr>
              <a:t> </a:t>
            </a:r>
            <a:r>
              <a:rPr kumimoji="1" lang="en-US" altLang="zh-CN" b="0" dirty="0">
                <a:solidFill>
                  <a:srgbClr val="C00000"/>
                </a:solidFill>
                <a:sym typeface="Wingdings" panose="05000000000000000000" pitchFamily="2" charset="2"/>
              </a:rPr>
              <a:t>The</a:t>
            </a:r>
            <a:r>
              <a:rPr kumimoji="1" lang="en-US" altLang="zh-CN" b="0" dirty="0">
                <a:sym typeface="Wingdings" panose="05000000000000000000" pitchFamily="2" charset="2"/>
              </a:rPr>
              <a:t> </a:t>
            </a:r>
            <a:r>
              <a:rPr kumimoji="1" lang="en-US" altLang="zh-CN" b="0" dirty="0">
                <a:solidFill>
                  <a:srgbClr val="C00000"/>
                </a:solidFill>
                <a:sym typeface="Wingdings" panose="05000000000000000000" pitchFamily="2" charset="2"/>
              </a:rPr>
              <a:t>f</a:t>
            </a:r>
            <a:r>
              <a:rPr kumimoji="1" lang="en-US" altLang="zh-CN" dirty="0">
                <a:solidFill>
                  <a:srgbClr val="C00000"/>
                </a:solidFill>
                <a:sym typeface="Wingdings" panose="05000000000000000000" pitchFamily="2" charset="2"/>
              </a:rPr>
              <a:t>ile name (may include the path) </a:t>
            </a:r>
            <a:endParaRPr kumimoji="1" lang="en-US" altLang="zh-CN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lvl="2"/>
            <a:r>
              <a:rPr kumimoji="1" lang="en-US" altLang="zh-CN" dirty="0">
                <a:solidFill>
                  <a:schemeClr val="tx1"/>
                </a:solidFill>
                <a:sym typeface="Wingdings" panose="05000000000000000000" pitchFamily="2" charset="2"/>
              </a:rPr>
              <a:t>Assume the key is not so long</a:t>
            </a:r>
            <a:endParaRPr kumimoji="1" lang="en-US" altLang="zh-CN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/>
            <a:r>
              <a:rPr kumimoji="1" lang="en-US" altLang="zh-CN" dirty="0">
                <a:solidFill>
                  <a:srgbClr val="C00000"/>
                </a:solidFill>
                <a:sym typeface="Wingdings" panose="05000000000000000000" pitchFamily="2" charset="2"/>
              </a:rPr>
              <a:t>Value </a:t>
            </a:r>
            <a:r>
              <a:rPr kumimoji="1" lang="en-US" altLang="zh-CN" dirty="0">
                <a:sym typeface="Wingdings" panose="05000000000000000000" pitchFamily="2" charset="2"/>
              </a:rPr>
              <a:t> </a:t>
            </a:r>
            <a:r>
              <a:rPr kumimoji="1" lang="en-US" altLang="zh-CN" dirty="0">
                <a:solidFill>
                  <a:srgbClr val="C00000"/>
                </a:solidFill>
                <a:sym typeface="Wingdings" panose="05000000000000000000" pitchFamily="2" charset="2"/>
              </a:rPr>
              <a:t>The file content </a:t>
            </a:r>
            <a:endParaRPr kumimoji="1" lang="en-US" altLang="zh-CN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sym typeface="Wingdings" panose="05000000000000000000" pitchFamily="2" charset="2"/>
              </a:rPr>
              <a:t>So we can store each K,V as a file </a:t>
            </a:r>
            <a:endParaRPr kumimoji="1" lang="en-US" altLang="zh-CN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kumimoji="1" lang="en-US" altLang="zh-CN" dirty="0"/>
              <a:t>Application-level Interface (API) 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Get(K) -&gt; V is similar to OPEN(…) + READ(…)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Insert(K,V) -&gt; is similar to CREATE(…) + WRITE(…)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Etc. 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KVS’s workloads are different than the filesystem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5122912" cy="4356826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Filesystem</a:t>
            </a:r>
            <a:r>
              <a:rPr kumimoji="1" lang="en-US" altLang="zh-CN" dirty="0"/>
              <a:t> is designed for </a:t>
            </a:r>
            <a:r>
              <a:rPr kumimoji="1" lang="en-US" altLang="zh-CN" dirty="0">
                <a:solidFill>
                  <a:srgbClr val="FF0000"/>
                </a:solidFill>
              </a:rPr>
              <a:t>bulk</a:t>
            </a:r>
            <a:r>
              <a:rPr kumimoji="1" lang="en-US" altLang="zh-CN" dirty="0"/>
              <a:t> storage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images, videos KV</a:t>
            </a:r>
            <a:endParaRPr kumimoji="1" lang="en-US" altLang="zh-CN" dirty="0"/>
          </a:p>
          <a:p>
            <a:r>
              <a:rPr kumimoji="1" lang="en-US" altLang="zh-CN" dirty="0"/>
              <a:t>For </a:t>
            </a:r>
            <a:r>
              <a:rPr kumimoji="1" lang="en-US" altLang="zh-CN" dirty="0">
                <a:solidFill>
                  <a:srgbClr val="FF0000"/>
                </a:solidFill>
              </a:rPr>
              <a:t>small</a:t>
            </a:r>
            <a:r>
              <a:rPr kumimoji="1" lang="en-US" altLang="zh-CN" dirty="0"/>
              <a:t> data, we need a way to store them in one file to improve storage efficiency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But question remains: how can we find the data in a file efficiently?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580112" y="1057712"/>
            <a:ext cx="2821379" cy="184524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/>
          <p:cNvSpPr/>
          <p:nvPr/>
        </p:nvSpPr>
        <p:spPr>
          <a:xfrm>
            <a:off x="5203132" y="3057982"/>
            <a:ext cx="178766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微软雅黑" panose="020B0503020204020204" charset="-122"/>
                <a:cs typeface="Arial" panose="020B0604020202020204" pitchFamily="34" charset="0"/>
              </a:rPr>
              <a:t>Key-value store</a:t>
            </a:r>
            <a:endParaRPr lang="zh-CN" altLang="en-US" dirty="0">
              <a:solidFill>
                <a:srgbClr val="C00000"/>
              </a:solidFill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7" name="直线连接符 6"/>
          <p:cNvCxnSpPr/>
          <p:nvPr/>
        </p:nvCxnSpPr>
        <p:spPr>
          <a:xfrm flipV="1">
            <a:off x="5752238" y="2729369"/>
            <a:ext cx="259922" cy="328613"/>
          </a:xfrm>
          <a:prstGeom prst="line">
            <a:avLst/>
          </a:prstGeom>
          <a:ln>
            <a:solidFill>
              <a:srgbClr val="F4003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Naïve implement a KVS on the filesystem is inefficient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4471925"/>
          </a:xfrm>
        </p:spPr>
        <p:txBody>
          <a:bodyPr/>
          <a:lstStyle/>
          <a:p>
            <a:r>
              <a:rPr kumimoji="1" lang="en-US" altLang="zh-CN" dirty="0"/>
              <a:t>Redundant system call caused by mismatched interface </a:t>
            </a:r>
            <a:endParaRPr kumimoji="1" lang="en-US" altLang="zh-CN" dirty="0"/>
          </a:p>
          <a:p>
            <a:pPr lvl="1"/>
            <a:r>
              <a:rPr kumimoji="1" lang="en-US" altLang="zh-CN" b="0" dirty="0"/>
              <a:t>Example</a:t>
            </a:r>
            <a:endParaRPr kumimoji="1" lang="en-US" altLang="zh-CN" b="0" dirty="0"/>
          </a:p>
          <a:p>
            <a:pPr lvl="2"/>
            <a:r>
              <a:rPr kumimoji="1" lang="en-US" altLang="zh-CN" dirty="0"/>
              <a:t>E.g., Get(K,V) needs OPEN(…) + READ(…)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Ideally, we want to query the data in one system call, better </a:t>
            </a:r>
            <a:r>
              <a:rPr kumimoji="1" lang="en-US" altLang="zh-CN" b="1" dirty="0">
                <a:solidFill>
                  <a:srgbClr val="C00000"/>
                </a:solidFill>
              </a:rPr>
              <a:t>0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en-US" altLang="zh-CN" dirty="0"/>
              <a:t>Space amplification(</a:t>
            </a:r>
            <a:r>
              <a:rPr kumimoji="1" lang="zh-CN" altLang="en-US" dirty="0"/>
              <a:t>放大</a:t>
            </a:r>
            <a:r>
              <a:rPr kumimoji="1" lang="en-US" altLang="zh-CN" dirty="0"/>
              <a:t>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File data are stored in fixed-sized blocks (e.g., 512B – 4096B)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Why? To match the underlying device block size &amp; better meta data management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On the other hand, the value in key-value store can be small (e.g., 64B)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Naïve implement a KVS on the filesystem is inefficient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4471925"/>
          </a:xfrm>
        </p:spPr>
        <p:txBody>
          <a:bodyPr/>
          <a:lstStyle/>
          <a:p>
            <a:r>
              <a:rPr kumimoji="1" lang="en-US" altLang="zh-CN" dirty="0"/>
              <a:t>Redundant system call caused by mismatched interface </a:t>
            </a:r>
            <a:endParaRPr kumimoji="1" lang="en-US" altLang="zh-CN" dirty="0"/>
          </a:p>
          <a:p>
            <a:pPr lvl="1"/>
            <a:r>
              <a:rPr kumimoji="1" lang="en-US" altLang="zh-CN" b="0" dirty="0"/>
              <a:t>Example</a:t>
            </a:r>
            <a:endParaRPr kumimoji="1" lang="en-US" altLang="zh-CN" b="0" dirty="0"/>
          </a:p>
          <a:p>
            <a:pPr lvl="2"/>
            <a:r>
              <a:rPr kumimoji="1" lang="en-US" altLang="zh-CN" dirty="0"/>
              <a:t>E.g., Get(K,V) needs OPEN(…) + READ(…)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Ideally, we want to query the data in one system call, better </a:t>
            </a:r>
            <a:r>
              <a:rPr kumimoji="1" lang="en-US" altLang="zh-CN" b="1" dirty="0">
                <a:solidFill>
                  <a:srgbClr val="C00000"/>
                </a:solidFill>
              </a:rPr>
              <a:t>0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en-US" altLang="zh-CN" dirty="0"/>
              <a:t>Space amplification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File data are stored in fixed-sized blocks (e.g., 512B – 4096B)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value in key-value store can be small (e.g., 8B) 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C00000"/>
                </a:solidFill>
              </a:rPr>
              <a:t>Idea</a:t>
            </a:r>
            <a:r>
              <a:rPr kumimoji="1" lang="en-US" altLang="zh-CN" b="0" dirty="0"/>
              <a:t>: using one or few file to store key-value store data 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Different key-values can pack into the same disk block </a:t>
            </a:r>
            <a:endParaRPr kumimoji="1" lang="zh-CN" altLang="en-US" b="0" dirty="0"/>
          </a:p>
          <a:p>
            <a:pPr lvl="1"/>
            <a:r>
              <a:rPr kumimoji="1" lang="en-US" altLang="zh-CN" b="0" dirty="0"/>
              <a:t>Reduce system call overhead: open file once, serve </a:t>
            </a:r>
            <a:r>
              <a:rPr kumimoji="1" lang="en-US" altLang="zh-CN" dirty="0"/>
              <a:t>all the requests then</a:t>
            </a:r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Building Key-value Storage on File System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656184"/>
          </a:xfrm>
        </p:spPr>
        <p:txBody>
          <a:bodyPr/>
          <a:lstStyle/>
          <a:p>
            <a:r>
              <a:rPr kumimoji="1" lang="en-US" altLang="zh-CN" dirty="0"/>
              <a:t>Why builds upon the file system?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We still need a system to interact with the disk hardware!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Though modern KVS may also bypass the file system, but is uncommon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683809" y="4828679"/>
            <a:ext cx="1872208" cy="603284"/>
          </a:xfrm>
          <a:prstGeom prst="roundRect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912027" y="4945655"/>
            <a:ext cx="1415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File system 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3455591" y="3550360"/>
            <a:ext cx="2232818" cy="603284"/>
          </a:xfrm>
          <a:prstGeom prst="roundRect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83809" y="3667336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Key-value Store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809" y="4224119"/>
            <a:ext cx="381809" cy="38180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3791" y="4224119"/>
            <a:ext cx="381809" cy="38180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949645" y="4230357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Key-value files</a:t>
            </a:r>
            <a:endParaRPr lang="zh-CN" altLang="en-US" dirty="0"/>
          </a:p>
        </p:txBody>
      </p:sp>
      <p:cxnSp>
        <p:nvCxnSpPr>
          <p:cNvPr id="13" name="直线箭头连接符 12"/>
          <p:cNvCxnSpPr/>
          <p:nvPr/>
        </p:nvCxnSpPr>
        <p:spPr>
          <a:xfrm>
            <a:off x="5076056" y="4148355"/>
            <a:ext cx="0" cy="53333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15616" y="2428934"/>
            <a:ext cx="678666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dirty="0"/>
              <a:t>“All problems in computer science can be solved by another level of indirection”  </a:t>
            </a:r>
            <a:r>
              <a:rPr lang="en-US" altLang="zh-CN" sz="2000" i="1" dirty="0"/>
              <a:t>-- </a:t>
            </a:r>
            <a:r>
              <a:rPr lang="en-US" altLang="zh-CN" dirty="0"/>
              <a:t>often attributed to Butler Lampson, who attributes it to David Wheeler </a:t>
            </a:r>
            <a:endParaRPr lang="en-US" altLang="zh-CN" sz="2000" dirty="0"/>
          </a:p>
          <a:p>
            <a:endParaRPr lang="en-US" altLang="zh-CN" sz="20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naïve Key-Value Storage (KVS)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900442"/>
          </a:xfrm>
        </p:spPr>
        <p:txBody>
          <a:bodyPr/>
          <a:lstStyle/>
          <a:p>
            <a:r>
              <a:rPr kumimoji="1" lang="en-US" altLang="zh-CN" b="0" dirty="0"/>
              <a:t>Suppose we store all the KV </a:t>
            </a:r>
            <a:r>
              <a:rPr kumimoji="1" lang="en-US" altLang="zh-CN" dirty="0">
                <a:solidFill>
                  <a:srgbClr val="C00000"/>
                </a:solidFill>
              </a:rPr>
              <a:t>in a single file </a:t>
            </a:r>
            <a:r>
              <a:rPr kumimoji="1" lang="en-US" altLang="zh-CN" b="0" dirty="0"/>
              <a:t>in the following format: 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69206" y="2118836"/>
            <a:ext cx="874846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123456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'{"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name":"London","attractions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":["Big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Ben","London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Eye"]}’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'{"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name":"San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Francisco","attractions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":["Golden Gate Bridge"]}’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...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12" name="任意形状 11"/>
          <p:cNvSpPr/>
          <p:nvPr/>
        </p:nvSpPr>
        <p:spPr>
          <a:xfrm>
            <a:off x="742950" y="1874520"/>
            <a:ext cx="125298" cy="411480"/>
          </a:xfrm>
          <a:custGeom>
            <a:avLst/>
            <a:gdLst>
              <a:gd name="connsiteX0" fmla="*/ 0 w 125298"/>
              <a:gd name="connsiteY0" fmla="*/ 0 h 411480"/>
              <a:gd name="connsiteX1" fmla="*/ 114300 w 125298"/>
              <a:gd name="connsiteY1" fmla="*/ 228600 h 411480"/>
              <a:gd name="connsiteX2" fmla="*/ 114300 w 125298"/>
              <a:gd name="connsiteY2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298" h="411480">
                <a:moveTo>
                  <a:pt x="0" y="0"/>
                </a:moveTo>
                <a:cubicBezTo>
                  <a:pt x="47625" y="80010"/>
                  <a:pt x="95250" y="160020"/>
                  <a:pt x="114300" y="228600"/>
                </a:cubicBezTo>
                <a:cubicBezTo>
                  <a:pt x="133350" y="297180"/>
                  <a:pt x="123825" y="354330"/>
                  <a:pt x="114300" y="41148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11480" y="1610375"/>
            <a:ext cx="58221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Key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267744" y="1610375"/>
            <a:ext cx="7574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Value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任意形状 14"/>
          <p:cNvSpPr/>
          <p:nvPr/>
        </p:nvSpPr>
        <p:spPr>
          <a:xfrm>
            <a:off x="2696990" y="1885950"/>
            <a:ext cx="57640" cy="331470"/>
          </a:xfrm>
          <a:custGeom>
            <a:avLst/>
            <a:gdLst>
              <a:gd name="connsiteX0" fmla="*/ 57640 w 57640"/>
              <a:gd name="connsiteY0" fmla="*/ 0 h 331470"/>
              <a:gd name="connsiteX1" fmla="*/ 490 w 57640"/>
              <a:gd name="connsiteY1" fmla="*/ 171450 h 331470"/>
              <a:gd name="connsiteX2" fmla="*/ 34780 w 57640"/>
              <a:gd name="connsiteY2" fmla="*/ 331470 h 33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640" h="331470">
                <a:moveTo>
                  <a:pt x="57640" y="0"/>
                </a:moveTo>
                <a:cubicBezTo>
                  <a:pt x="30970" y="58102"/>
                  <a:pt x="4300" y="116205"/>
                  <a:pt x="490" y="171450"/>
                </a:cubicBezTo>
                <a:cubicBezTo>
                  <a:pt x="-3320" y="226695"/>
                  <a:pt x="15730" y="279082"/>
                  <a:pt x="34780" y="33147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Update(K,V) in the naïve KVS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57200" y="3646800"/>
            <a:ext cx="8560470" cy="1954647"/>
          </a:xfrm>
        </p:spPr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How to implement the update? Two strategies: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1. directly modify the file content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2. append the new updates to the last of the file 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9206" y="2118836"/>
            <a:ext cx="874846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123456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'{"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name":"London","attractions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":["Big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Ben","London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Eye"]}’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'{"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name":"San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Francisco","attractions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":["Golden Gate Bridge"]}’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...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11480" y="1610375"/>
            <a:ext cx="58221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Key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67744" y="1610375"/>
            <a:ext cx="7574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Value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8" name="内容占位符 2"/>
          <p:cNvSpPr txBox="1"/>
          <p:nvPr/>
        </p:nvSpPr>
        <p:spPr>
          <a:xfrm>
            <a:off x="457200" y="1129308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 dirty="0"/>
              <a:t>Suppose we store all the KV </a:t>
            </a:r>
            <a:r>
              <a:rPr kumimoji="1" lang="en-US" altLang="zh-CN" dirty="0">
                <a:solidFill>
                  <a:srgbClr val="C00000"/>
                </a:solidFill>
              </a:rPr>
              <a:t>in a single file </a:t>
            </a:r>
            <a:r>
              <a:rPr kumimoji="1" lang="en-US" altLang="zh-CN" b="0" dirty="0"/>
              <a:t>in the following format: 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5" name="直线连接符 4"/>
          <p:cNvCxnSpPr/>
          <p:nvPr/>
        </p:nvCxnSpPr>
        <p:spPr>
          <a:xfrm>
            <a:off x="323528" y="2425452"/>
            <a:ext cx="77614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/>
          <p:cNvCxnSpPr/>
          <p:nvPr/>
        </p:nvCxnSpPr>
        <p:spPr>
          <a:xfrm>
            <a:off x="1491600" y="2425452"/>
            <a:ext cx="7195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任意形状 19"/>
          <p:cNvSpPr/>
          <p:nvPr/>
        </p:nvSpPr>
        <p:spPr>
          <a:xfrm>
            <a:off x="742950" y="1874520"/>
            <a:ext cx="125298" cy="411480"/>
          </a:xfrm>
          <a:custGeom>
            <a:avLst/>
            <a:gdLst>
              <a:gd name="connsiteX0" fmla="*/ 0 w 125298"/>
              <a:gd name="connsiteY0" fmla="*/ 0 h 411480"/>
              <a:gd name="connsiteX1" fmla="*/ 114300 w 125298"/>
              <a:gd name="connsiteY1" fmla="*/ 228600 h 411480"/>
              <a:gd name="connsiteX2" fmla="*/ 114300 w 125298"/>
              <a:gd name="connsiteY2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298" h="411480">
                <a:moveTo>
                  <a:pt x="0" y="0"/>
                </a:moveTo>
                <a:cubicBezTo>
                  <a:pt x="47625" y="80010"/>
                  <a:pt x="95250" y="160020"/>
                  <a:pt x="114300" y="228600"/>
                </a:cubicBezTo>
                <a:cubicBezTo>
                  <a:pt x="133350" y="297180"/>
                  <a:pt x="123825" y="354330"/>
                  <a:pt x="114300" y="41148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任意形状 20"/>
          <p:cNvSpPr/>
          <p:nvPr/>
        </p:nvSpPr>
        <p:spPr>
          <a:xfrm>
            <a:off x="2696990" y="1885950"/>
            <a:ext cx="57640" cy="331470"/>
          </a:xfrm>
          <a:custGeom>
            <a:avLst/>
            <a:gdLst>
              <a:gd name="connsiteX0" fmla="*/ 57640 w 57640"/>
              <a:gd name="connsiteY0" fmla="*/ 0 h 331470"/>
              <a:gd name="connsiteX1" fmla="*/ 490 w 57640"/>
              <a:gd name="connsiteY1" fmla="*/ 171450 h 331470"/>
              <a:gd name="connsiteX2" fmla="*/ 34780 w 57640"/>
              <a:gd name="connsiteY2" fmla="*/ 331470 h 33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640" h="331470">
                <a:moveTo>
                  <a:pt x="57640" y="0"/>
                </a:moveTo>
                <a:cubicBezTo>
                  <a:pt x="30970" y="58102"/>
                  <a:pt x="4300" y="116205"/>
                  <a:pt x="490" y="171450"/>
                </a:cubicBezTo>
                <a:cubicBezTo>
                  <a:pt x="-3320" y="226695"/>
                  <a:pt x="15730" y="279082"/>
                  <a:pt x="34780" y="33147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89584" y="1955677"/>
            <a:ext cx="7307708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9pPr>
          </a:lstStyle>
          <a:p>
            <a:pPr algn="ctr"/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How to do the choice? Choose the best performance. </a:t>
            </a:r>
            <a:endParaRPr lang="en-US" altLang="zh-CN" b="0" kern="0" dirty="0">
              <a:solidFill>
                <a:srgbClr val="C00000"/>
              </a:solidFill>
              <a:ea typeface="+mn-ea"/>
            </a:endParaRPr>
          </a:p>
          <a:p>
            <a:pPr algn="ctr"/>
            <a:endParaRPr lang="en-US" altLang="zh-CN" b="0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Which one is faster? </a:t>
            </a:r>
            <a:endParaRPr lang="en-US" altLang="zh-CN" b="0" kern="0" dirty="0">
              <a:solidFill>
                <a:srgbClr val="C00000"/>
              </a:solidFill>
              <a:ea typeface="+mn-ea"/>
            </a:endParaRPr>
          </a:p>
          <a:p>
            <a:pPr algn="ctr"/>
            <a:endParaRPr lang="en-US" altLang="zh-CN" b="0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Hardware speed matters! </a:t>
            </a:r>
            <a:endParaRPr lang="en-US" altLang="zh-CN" b="0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kumimoji="0" lang="en-US" altLang="zh-CN" b="0" kern="0" dirty="0">
                <a:solidFill>
                  <a:srgbClr val="C00000"/>
                </a:solidFill>
                <a:ea typeface="+mn-ea"/>
              </a:rPr>
              <a:t>In our case: disk. </a:t>
            </a:r>
            <a:endParaRPr kumimoji="0"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Storage Hierarchy </a:t>
            </a:r>
            <a:endParaRPr kumimoji="1"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453" y="1293464"/>
            <a:ext cx="6237547" cy="3771900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812360" y="2698352"/>
            <a:ext cx="2280592" cy="1728192"/>
          </a:xfrm>
          <a:prstGeom prst="rect">
            <a:avLst/>
          </a:prstGeom>
          <a:solidFill>
            <a:schemeClr val="bg1"/>
          </a:solidFill>
          <a:ln w="254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457200" y="1129308"/>
            <a:ext cx="8229600" cy="3292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Fast device (e.g., Main Memory) 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Fast, but capacity is limited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Expensive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Volatile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Disk has huge capacity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b="0" dirty="0">
                <a:solidFill>
                  <a:schemeClr val="tx1"/>
                </a:solidFill>
              </a:rPr>
              <a:t>Cheap &amp; </a:t>
            </a:r>
            <a:r>
              <a:rPr kumimoji="1" lang="en-US" altLang="zh-CN" dirty="0">
                <a:solidFill>
                  <a:schemeClr val="tx1"/>
                </a:solidFill>
              </a:rPr>
              <a:t>slow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b="0" dirty="0">
                <a:solidFill>
                  <a:schemeClr val="tx1"/>
                </a:solidFill>
              </a:rPr>
              <a:t>Non-volatile</a:t>
            </a:r>
            <a:endParaRPr kumimoji="1" lang="zh-CN" altLang="en-U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58" y="4117258"/>
            <a:ext cx="2133600" cy="14056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Storage Hierarchy: asymmetric performance of disk</a:t>
            </a:r>
            <a:endParaRPr kumimoji="1"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417340"/>
            <a:ext cx="2459934" cy="3771900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457200" y="1129308"/>
            <a:ext cx="8229600" cy="3292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CPU &lt;-&gt; Memory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~= 100ns</a:t>
            </a:r>
            <a:endParaRPr kumimoji="1" lang="en-US" altLang="zh-CN" b="0" dirty="0"/>
          </a:p>
          <a:p>
            <a:r>
              <a:rPr kumimoji="1" lang="en-US" altLang="zh-CN" dirty="0">
                <a:solidFill>
                  <a:schemeClr val="tx1"/>
                </a:solidFill>
              </a:rPr>
              <a:t>Memory &lt;-&gt; Disk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~= 10ms </a:t>
            </a:r>
            <a:r>
              <a:rPr kumimoji="1" lang="en-US" altLang="zh-CN" b="0" dirty="0">
                <a:solidFill>
                  <a:schemeClr val="tx1"/>
                </a:solidFill>
              </a:rPr>
              <a:t> </a:t>
            </a:r>
            <a:endParaRPr kumimoji="1" lang="en-US" altLang="zh-CN" b="0" dirty="0">
              <a:solidFill>
                <a:schemeClr val="tx1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Why disk is slow at random access?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Random</a:t>
            </a:r>
            <a:r>
              <a:rPr kumimoji="1" lang="en-US" altLang="zh-CN" dirty="0">
                <a:solidFill>
                  <a:schemeClr val="tx1"/>
                </a:solidFill>
              </a:rPr>
              <a:t>: move disk header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Sequential</a:t>
            </a:r>
            <a:r>
              <a:rPr kumimoji="1" lang="en-US" altLang="zh-CN" b="0" dirty="0">
                <a:solidFill>
                  <a:schemeClr val="tx1"/>
                </a:solidFill>
              </a:rPr>
              <a:t>: disk just spins</a:t>
            </a:r>
            <a:endParaRPr kumimoji="1" lang="zh-CN" altLang="en-US" b="0" dirty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417340"/>
            <a:ext cx="2636665" cy="383195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637758" y="4680816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Disk Header</a:t>
            </a:r>
            <a:endParaRPr lang="zh-CN" altLang="en-US" dirty="0"/>
          </a:p>
        </p:txBody>
      </p:sp>
      <p:sp>
        <p:nvSpPr>
          <p:cNvPr id="12" name="任意形状 11"/>
          <p:cNvSpPr/>
          <p:nvPr/>
        </p:nvSpPr>
        <p:spPr>
          <a:xfrm>
            <a:off x="1655180" y="4896091"/>
            <a:ext cx="1252010" cy="538475"/>
          </a:xfrm>
          <a:custGeom>
            <a:avLst/>
            <a:gdLst>
              <a:gd name="connsiteX0" fmla="*/ 1250066 w 1252010"/>
              <a:gd name="connsiteY0" fmla="*/ 138896 h 538475"/>
              <a:gd name="connsiteX1" fmla="*/ 1145893 w 1252010"/>
              <a:gd name="connsiteY1" fmla="*/ 497712 h 538475"/>
              <a:gd name="connsiteX2" fmla="*/ 567159 w 1252010"/>
              <a:gd name="connsiteY2" fmla="*/ 474562 h 538475"/>
              <a:gd name="connsiteX3" fmla="*/ 0 w 1252010"/>
              <a:gd name="connsiteY3" fmla="*/ 0 h 53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010" h="538475">
                <a:moveTo>
                  <a:pt x="1250066" y="138896"/>
                </a:moveTo>
                <a:cubicBezTo>
                  <a:pt x="1254888" y="290332"/>
                  <a:pt x="1259711" y="441768"/>
                  <a:pt x="1145893" y="497712"/>
                </a:cubicBezTo>
                <a:cubicBezTo>
                  <a:pt x="1032075" y="553656"/>
                  <a:pt x="758141" y="557514"/>
                  <a:pt x="567159" y="474562"/>
                </a:cubicBezTo>
                <a:cubicBezTo>
                  <a:pt x="376177" y="391610"/>
                  <a:pt x="188088" y="195805"/>
                  <a:pt x="0" y="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Random access vs. Sequential access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HDD performance (for reference)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Sequential: 100 – 200 MB/s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Random: 0.5 – 2 MB </a:t>
            </a:r>
            <a:endParaRPr kumimoji="1" lang="en-US" altLang="zh-CN" dirty="0"/>
          </a:p>
          <a:p>
            <a:r>
              <a:rPr kumimoji="1" lang="en-US" altLang="zh-CN" dirty="0"/>
              <a:t>SSD performance (fore reference)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Sequential: 2,000 – 3,500 MB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Random: 200 – 300 MB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Update(K,V) in the naïve KVS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460638" y="3646800"/>
            <a:ext cx="8560470" cy="1954647"/>
          </a:xfrm>
        </p:spPr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How to implement the update? Append is more efficient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D</a:t>
            </a:r>
            <a:r>
              <a:rPr kumimoji="1" lang="en-US" altLang="zh-CN" b="0" dirty="0">
                <a:solidFill>
                  <a:schemeClr val="tx1"/>
                </a:solidFill>
              </a:rPr>
              <a:t>irectly </a:t>
            </a:r>
            <a:r>
              <a:rPr kumimoji="1" lang="en-US" altLang="zh-CN" b="1" dirty="0">
                <a:solidFill>
                  <a:srgbClr val="C00000"/>
                </a:solidFill>
              </a:rPr>
              <a:t>append</a:t>
            </a:r>
            <a:r>
              <a:rPr kumimoji="1" lang="en-US" altLang="zh-CN" b="0" dirty="0">
                <a:solidFill>
                  <a:schemeClr val="tx1"/>
                </a:solidFill>
              </a:rPr>
              <a:t> update to the </a:t>
            </a:r>
            <a:r>
              <a:rPr kumimoji="1" lang="en-US" altLang="zh-CN" b="1" dirty="0">
                <a:solidFill>
                  <a:srgbClr val="C00000"/>
                </a:solidFill>
              </a:rPr>
              <a:t>end of the file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Benefits: </a:t>
            </a:r>
            <a:r>
              <a:rPr kumimoji="1" lang="en-US" altLang="zh-CN" dirty="0">
                <a:solidFill>
                  <a:schemeClr val="tx1"/>
                </a:solidFill>
              </a:rPr>
              <a:t>update the file is efficient, especially if there are </a:t>
            </a:r>
            <a:r>
              <a:rPr kumimoji="1" lang="en-US" altLang="zh-CN" b="1" dirty="0">
                <a:solidFill>
                  <a:srgbClr val="C00000"/>
                </a:solidFill>
              </a:rPr>
              <a:t>many updates, </a:t>
            </a:r>
            <a:r>
              <a:rPr kumimoji="1" lang="en-US" altLang="zh-CN" dirty="0">
                <a:solidFill>
                  <a:schemeClr val="tx1"/>
                </a:solidFill>
              </a:rPr>
              <a:t>because disks are good at </a:t>
            </a:r>
            <a:r>
              <a:rPr kumimoji="1" lang="en-US" altLang="zh-CN" b="1" dirty="0">
                <a:solidFill>
                  <a:srgbClr val="C00000"/>
                </a:solidFill>
              </a:rPr>
              <a:t>sequential writes  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Overwrite the original content </a:t>
            </a:r>
            <a:r>
              <a:rPr kumimoji="1" lang="en-US" altLang="zh-CN" dirty="0">
                <a:solidFill>
                  <a:schemeClr val="tx1"/>
                </a:solidFill>
              </a:rPr>
              <a:t>introduce</a:t>
            </a:r>
            <a:r>
              <a:rPr kumimoji="1" lang="en-US" altLang="zh-CN" b="1" dirty="0">
                <a:solidFill>
                  <a:srgbClr val="C00000"/>
                </a:solidFill>
              </a:rPr>
              <a:t> slow random accesses </a:t>
            </a:r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9206" y="2118836"/>
            <a:ext cx="874846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123456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'{"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name":"London","attractions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":["Big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Ben","London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Eye"]}’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'{"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name":"San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Francisco","attractions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":["Golden Gate Bridge"]}’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...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13" name="任意形状 12"/>
          <p:cNvSpPr/>
          <p:nvPr/>
        </p:nvSpPr>
        <p:spPr>
          <a:xfrm>
            <a:off x="742950" y="1874520"/>
            <a:ext cx="125298" cy="411480"/>
          </a:xfrm>
          <a:custGeom>
            <a:avLst/>
            <a:gdLst>
              <a:gd name="connsiteX0" fmla="*/ 0 w 125298"/>
              <a:gd name="connsiteY0" fmla="*/ 0 h 411480"/>
              <a:gd name="connsiteX1" fmla="*/ 114300 w 125298"/>
              <a:gd name="connsiteY1" fmla="*/ 228600 h 411480"/>
              <a:gd name="connsiteX2" fmla="*/ 114300 w 125298"/>
              <a:gd name="connsiteY2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298" h="411480">
                <a:moveTo>
                  <a:pt x="0" y="0"/>
                </a:moveTo>
                <a:cubicBezTo>
                  <a:pt x="47625" y="80010"/>
                  <a:pt x="95250" y="160020"/>
                  <a:pt x="114300" y="228600"/>
                </a:cubicBezTo>
                <a:cubicBezTo>
                  <a:pt x="133350" y="297180"/>
                  <a:pt x="123825" y="354330"/>
                  <a:pt x="114300" y="41148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11480" y="1610375"/>
            <a:ext cx="58221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Key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67744" y="1610375"/>
            <a:ext cx="7574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Value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任意形状 15"/>
          <p:cNvSpPr/>
          <p:nvPr/>
        </p:nvSpPr>
        <p:spPr>
          <a:xfrm>
            <a:off x="2696990" y="1885950"/>
            <a:ext cx="57640" cy="331470"/>
          </a:xfrm>
          <a:custGeom>
            <a:avLst/>
            <a:gdLst>
              <a:gd name="connsiteX0" fmla="*/ 57640 w 57640"/>
              <a:gd name="connsiteY0" fmla="*/ 0 h 331470"/>
              <a:gd name="connsiteX1" fmla="*/ 490 w 57640"/>
              <a:gd name="connsiteY1" fmla="*/ 171450 h 331470"/>
              <a:gd name="connsiteX2" fmla="*/ 34780 w 57640"/>
              <a:gd name="connsiteY2" fmla="*/ 331470 h 33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640" h="331470">
                <a:moveTo>
                  <a:pt x="57640" y="0"/>
                </a:moveTo>
                <a:cubicBezTo>
                  <a:pt x="30970" y="58102"/>
                  <a:pt x="4300" y="116205"/>
                  <a:pt x="490" y="171450"/>
                </a:cubicBezTo>
                <a:cubicBezTo>
                  <a:pt x="-3320" y="226695"/>
                  <a:pt x="15730" y="279082"/>
                  <a:pt x="34780" y="33147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内容占位符 2"/>
          <p:cNvSpPr txBox="1"/>
          <p:nvPr/>
        </p:nvSpPr>
        <p:spPr>
          <a:xfrm>
            <a:off x="457200" y="1129308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/>
              <a:t>Suppose we store all the KV </a:t>
            </a:r>
            <a:r>
              <a:rPr kumimoji="1" lang="en-US" altLang="zh-CN">
                <a:solidFill>
                  <a:srgbClr val="C00000"/>
                </a:solidFill>
              </a:rPr>
              <a:t>in a single file </a:t>
            </a:r>
            <a:r>
              <a:rPr kumimoji="1" lang="en-US" altLang="zh-CN" b="0"/>
              <a:t>in the following format: 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Insert(K,V) in the naïve KVS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9206" y="2118836"/>
            <a:ext cx="874846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123456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'{"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name":"London","attractions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":["Big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Ben","London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Eye"]}’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'{"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name":"San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Francisco","attractions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":["Golden Gate Bridge"]}’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...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7" name="任意形状 6"/>
          <p:cNvSpPr/>
          <p:nvPr/>
        </p:nvSpPr>
        <p:spPr>
          <a:xfrm>
            <a:off x="742950" y="1874520"/>
            <a:ext cx="125298" cy="411480"/>
          </a:xfrm>
          <a:custGeom>
            <a:avLst/>
            <a:gdLst>
              <a:gd name="connsiteX0" fmla="*/ 0 w 125298"/>
              <a:gd name="connsiteY0" fmla="*/ 0 h 411480"/>
              <a:gd name="connsiteX1" fmla="*/ 114300 w 125298"/>
              <a:gd name="connsiteY1" fmla="*/ 228600 h 411480"/>
              <a:gd name="connsiteX2" fmla="*/ 114300 w 125298"/>
              <a:gd name="connsiteY2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298" h="411480">
                <a:moveTo>
                  <a:pt x="0" y="0"/>
                </a:moveTo>
                <a:cubicBezTo>
                  <a:pt x="47625" y="80010"/>
                  <a:pt x="95250" y="160020"/>
                  <a:pt x="114300" y="228600"/>
                </a:cubicBezTo>
                <a:cubicBezTo>
                  <a:pt x="133350" y="297180"/>
                  <a:pt x="123825" y="354330"/>
                  <a:pt x="114300" y="41148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11480" y="1610375"/>
            <a:ext cx="58221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Key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67744" y="1610375"/>
            <a:ext cx="7574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Value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任意形状 9"/>
          <p:cNvSpPr/>
          <p:nvPr/>
        </p:nvSpPr>
        <p:spPr>
          <a:xfrm>
            <a:off x="2696990" y="1885950"/>
            <a:ext cx="57640" cy="331470"/>
          </a:xfrm>
          <a:custGeom>
            <a:avLst/>
            <a:gdLst>
              <a:gd name="connsiteX0" fmla="*/ 57640 w 57640"/>
              <a:gd name="connsiteY0" fmla="*/ 0 h 331470"/>
              <a:gd name="connsiteX1" fmla="*/ 490 w 57640"/>
              <a:gd name="connsiteY1" fmla="*/ 171450 h 331470"/>
              <a:gd name="connsiteX2" fmla="*/ 34780 w 57640"/>
              <a:gd name="connsiteY2" fmla="*/ 331470 h 33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640" h="331470">
                <a:moveTo>
                  <a:pt x="57640" y="0"/>
                </a:moveTo>
                <a:cubicBezTo>
                  <a:pt x="30970" y="58102"/>
                  <a:pt x="4300" y="116205"/>
                  <a:pt x="490" y="171450"/>
                </a:cubicBezTo>
                <a:cubicBezTo>
                  <a:pt x="-3320" y="226695"/>
                  <a:pt x="15730" y="279082"/>
                  <a:pt x="34780" y="33147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457200" y="3646800"/>
            <a:ext cx="8560470" cy="1954647"/>
          </a:xfrm>
        </p:spPr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How about the insertion? The same </a:t>
            </a:r>
            <a:r>
              <a:rPr kumimoji="1" lang="en-US" altLang="zh-CN" dirty="0">
                <a:solidFill>
                  <a:schemeClr val="tx1"/>
                </a:solidFill>
              </a:rPr>
              <a:t>as the update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Question: what about deletion?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2"/>
            <a:r>
              <a:rPr kumimoji="1" lang="en-US" altLang="zh-CN" dirty="0"/>
              <a:t>Append a NULL entry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and later garbage collected (will talk later)</a:t>
            </a:r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457200" y="1129308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/>
              <a:t>Suppose we store all the KV </a:t>
            </a:r>
            <a:r>
              <a:rPr kumimoji="1" lang="en-US" altLang="zh-CN">
                <a:solidFill>
                  <a:srgbClr val="C00000"/>
                </a:solidFill>
              </a:rPr>
              <a:t>in a single file </a:t>
            </a:r>
            <a:r>
              <a:rPr kumimoji="1" lang="en-US" altLang="zh-CN" b="0"/>
              <a:t>in the following format: 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File format of naïve KVS &amp; </a:t>
            </a:r>
            <a:r>
              <a:rPr kumimoji="1" lang="en-US" altLang="zh-CN" b="1" dirty="0"/>
              <a:t>log</a:t>
            </a:r>
            <a:r>
              <a:rPr kumimoji="1" lang="en-US" altLang="zh-CN" dirty="0"/>
              <a:t> file 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file format is some kind of log file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We called </a:t>
            </a:r>
            <a:r>
              <a:rPr kumimoji="1" lang="en-US" altLang="zh-CN" b="1" dirty="0">
                <a:solidFill>
                  <a:srgbClr val="C00000"/>
                </a:solidFill>
              </a:rPr>
              <a:t>Log-structured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file</a:t>
            </a:r>
            <a:r>
              <a:rPr kumimoji="1" lang="en-US" altLang="zh-CN" dirty="0"/>
              <a:t>: </a:t>
            </a:r>
            <a:r>
              <a:rPr lang="en-GB" altLang="zh-CN" dirty="0"/>
              <a:t>an </a:t>
            </a:r>
            <a:r>
              <a:rPr lang="en-GB" altLang="zh-CN" b="1" dirty="0">
                <a:solidFill>
                  <a:srgbClr val="C00000"/>
                </a:solidFill>
              </a:rPr>
              <a:t>append-only</a:t>
            </a:r>
            <a:r>
              <a:rPr lang="en-GB" altLang="zh-CN" dirty="0"/>
              <a:t> sequence of records </a:t>
            </a:r>
            <a:endParaRPr lang="en-GB" altLang="zh-CN" dirty="0"/>
          </a:p>
          <a:p>
            <a:r>
              <a:rPr lang="en-GB" altLang="zh-CN" dirty="0"/>
              <a:t>Widely used in computer systems in various scenarios </a:t>
            </a:r>
            <a:endParaRPr lang="en-GB" altLang="zh-CN" dirty="0"/>
          </a:p>
          <a:p>
            <a:pPr lvl="1"/>
            <a:r>
              <a:rPr lang="en-GB" altLang="zh-CN" dirty="0"/>
              <a:t>Suits the performance of underlying hardware (e.g., disk)</a:t>
            </a:r>
            <a:r>
              <a:rPr lang="en-GB" altLang="zh-CN" b="0" dirty="0"/>
              <a:t> </a:t>
            </a:r>
            <a:endParaRPr lang="en-GB" altLang="zh-CN" b="0" dirty="0"/>
          </a:p>
          <a:p>
            <a:pPr lvl="1"/>
            <a:r>
              <a:rPr lang="en-GB" altLang="zh-CN" b="0" dirty="0"/>
              <a:t>E.g., ensure consistency under failure, etc. </a:t>
            </a:r>
            <a:endParaRPr lang="en-GB" altLang="zh-CN" b="0" dirty="0"/>
          </a:p>
          <a:p>
            <a:pPr lvl="1"/>
            <a:r>
              <a:rPr lang="en-GB" altLang="zh-CN" dirty="0"/>
              <a:t>We will see more examples in later lectures </a:t>
            </a:r>
            <a:endParaRPr lang="en-GB" altLang="zh-CN" b="0" dirty="0"/>
          </a:p>
          <a:p>
            <a:pPr lvl="1"/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Updates work Well, What about Get(K,V)?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646800"/>
            <a:ext cx="8229600" cy="175558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Get </a:t>
            </a:r>
            <a:r>
              <a:rPr kumimoji="1" lang="en-US" altLang="zh-CN" b="0" dirty="0"/>
              <a:t>is much tricky to implement 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We need to iterate the file line by line </a:t>
            </a:r>
            <a:r>
              <a:rPr kumimoji="1" lang="en-US" altLang="zh-CN" b="1" dirty="0">
                <a:solidFill>
                  <a:srgbClr val="C00000"/>
                </a:solidFill>
              </a:rPr>
              <a:t>starting at the end of file</a:t>
            </a:r>
            <a:r>
              <a:rPr kumimoji="1" lang="en-US" altLang="zh-CN" dirty="0"/>
              <a:t>, and then finds the first line whose key matches K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Terrible performance</a:t>
            </a:r>
            <a:r>
              <a:rPr kumimoji="1" lang="en-US" altLang="zh-CN" dirty="0"/>
              <a:t>! Complexity: O(n)</a:t>
            </a:r>
            <a:endParaRPr lang="en-GB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9206" y="2118836"/>
            <a:ext cx="874846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123456  '{"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name":"London","attractions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":["Big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Ben","London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Eye"]}’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42 '{"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name":"San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Francisco","attractions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":["Golden Gate Bridge"]}’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...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7" name="任意形状 6"/>
          <p:cNvSpPr/>
          <p:nvPr/>
        </p:nvSpPr>
        <p:spPr>
          <a:xfrm>
            <a:off x="742950" y="1874520"/>
            <a:ext cx="125298" cy="411480"/>
          </a:xfrm>
          <a:custGeom>
            <a:avLst/>
            <a:gdLst>
              <a:gd name="connsiteX0" fmla="*/ 0 w 125298"/>
              <a:gd name="connsiteY0" fmla="*/ 0 h 411480"/>
              <a:gd name="connsiteX1" fmla="*/ 114300 w 125298"/>
              <a:gd name="connsiteY1" fmla="*/ 228600 h 411480"/>
              <a:gd name="connsiteX2" fmla="*/ 114300 w 125298"/>
              <a:gd name="connsiteY2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298" h="411480">
                <a:moveTo>
                  <a:pt x="0" y="0"/>
                </a:moveTo>
                <a:cubicBezTo>
                  <a:pt x="47625" y="80010"/>
                  <a:pt x="95250" y="160020"/>
                  <a:pt x="114300" y="228600"/>
                </a:cubicBezTo>
                <a:cubicBezTo>
                  <a:pt x="133350" y="297180"/>
                  <a:pt x="123825" y="354330"/>
                  <a:pt x="114300" y="41148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11480" y="1610375"/>
            <a:ext cx="58221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Key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67744" y="1610375"/>
            <a:ext cx="7574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Value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任意形状 9"/>
          <p:cNvSpPr/>
          <p:nvPr/>
        </p:nvSpPr>
        <p:spPr>
          <a:xfrm>
            <a:off x="2696990" y="1885950"/>
            <a:ext cx="57640" cy="331470"/>
          </a:xfrm>
          <a:custGeom>
            <a:avLst/>
            <a:gdLst>
              <a:gd name="connsiteX0" fmla="*/ 57640 w 57640"/>
              <a:gd name="connsiteY0" fmla="*/ 0 h 331470"/>
              <a:gd name="connsiteX1" fmla="*/ 490 w 57640"/>
              <a:gd name="connsiteY1" fmla="*/ 171450 h 331470"/>
              <a:gd name="connsiteX2" fmla="*/ 34780 w 57640"/>
              <a:gd name="connsiteY2" fmla="*/ 331470 h 33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640" h="331470">
                <a:moveTo>
                  <a:pt x="57640" y="0"/>
                </a:moveTo>
                <a:cubicBezTo>
                  <a:pt x="30970" y="58102"/>
                  <a:pt x="4300" y="116205"/>
                  <a:pt x="490" y="171450"/>
                </a:cubicBezTo>
                <a:cubicBezTo>
                  <a:pt x="-3320" y="226695"/>
                  <a:pt x="15730" y="279082"/>
                  <a:pt x="34780" y="331470"/>
                </a:cubicBezTo>
              </a:path>
            </a:pathLst>
          </a:custGeom>
          <a:noFill/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内容占位符 2"/>
          <p:cNvSpPr txBox="1"/>
          <p:nvPr/>
        </p:nvSpPr>
        <p:spPr>
          <a:xfrm>
            <a:off x="457200" y="1129308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0" dirty="0"/>
              <a:t>Suppose we store all the KV </a:t>
            </a:r>
            <a:r>
              <a:rPr kumimoji="1" lang="en-US" altLang="zh-CN" dirty="0">
                <a:solidFill>
                  <a:srgbClr val="C00000"/>
                </a:solidFill>
              </a:rPr>
              <a:t>in a single file </a:t>
            </a:r>
            <a:r>
              <a:rPr kumimoji="1" lang="en-US" altLang="zh-CN" b="0" dirty="0"/>
              <a:t>in the following format: 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Method: Accelerate Get with index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67654"/>
          </a:xfrm>
        </p:spPr>
        <p:txBody>
          <a:bodyPr/>
          <a:lstStyle/>
          <a:p>
            <a:r>
              <a:rPr kumimoji="1" lang="en-US" altLang="zh-CN" dirty="0"/>
              <a:t>Index </a:t>
            </a:r>
            <a:endParaRPr kumimoji="1" lang="en-US" altLang="zh-CN" dirty="0"/>
          </a:p>
          <a:p>
            <a:pPr lvl="1"/>
            <a:r>
              <a:rPr lang="en-GB" altLang="zh-CN" dirty="0">
                <a:latin typeface="+mn-lt"/>
              </a:rPr>
              <a:t>An </a:t>
            </a:r>
            <a:r>
              <a:rPr lang="en-GB" altLang="zh-CN" b="1" dirty="0">
                <a:solidFill>
                  <a:srgbClr val="C00000"/>
                </a:solidFill>
                <a:latin typeface="+mn-lt"/>
              </a:rPr>
              <a:t>additional</a:t>
            </a:r>
            <a:r>
              <a:rPr lang="en-GB" altLang="zh-CN" b="1" i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GB" altLang="zh-CN" b="1" dirty="0">
                <a:solidFill>
                  <a:srgbClr val="C00000"/>
                </a:solidFill>
                <a:latin typeface="+mn-lt"/>
              </a:rPr>
              <a:t>structure</a:t>
            </a:r>
            <a:r>
              <a:rPr lang="en-GB" altLang="zh-CN" dirty="0">
                <a:latin typeface="+mn-lt"/>
              </a:rPr>
              <a:t> that is derived from the primary data (e.g., log file)</a:t>
            </a:r>
            <a:endParaRPr lang="en-GB" altLang="zh-CN" dirty="0">
              <a:latin typeface="+mn-lt"/>
            </a:endParaRPr>
          </a:p>
          <a:p>
            <a:pPr lvl="1"/>
            <a:r>
              <a:rPr kumimoji="1" lang="en-US" altLang="zh-CN" dirty="0"/>
              <a:t>Can be added/removed without affecting the primary data 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Only affects the </a:t>
            </a:r>
            <a:r>
              <a:rPr kumimoji="1" lang="en-US" altLang="zh-CN" b="1" dirty="0">
                <a:solidFill>
                  <a:srgbClr val="C00000"/>
                </a:solidFill>
              </a:rPr>
              <a:t>performance</a:t>
            </a:r>
            <a:r>
              <a:rPr kumimoji="1" lang="en-US" altLang="zh-CN" dirty="0"/>
              <a:t> instead of correctness</a:t>
            </a:r>
            <a:endParaRPr kumimoji="1" lang="en-US" altLang="zh-CN" dirty="0"/>
          </a:p>
          <a:p>
            <a:r>
              <a:rPr kumimoji="1" lang="en-US" altLang="zh-CN" dirty="0"/>
              <a:t>Example of index data structure: 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B+Tree</a:t>
            </a:r>
            <a:r>
              <a:rPr kumimoji="1" lang="en-US" altLang="zh-CN" dirty="0"/>
              <a:t>, </a:t>
            </a:r>
            <a:r>
              <a:rPr kumimoji="1" lang="en-US" altLang="zh-CN" dirty="0" err="1"/>
              <a:t>HashTable</a:t>
            </a:r>
            <a:r>
              <a:rPr kumimoji="1" lang="en-US" altLang="zh-CN" dirty="0"/>
              <a:t>, </a:t>
            </a:r>
            <a:r>
              <a:rPr kumimoji="1" lang="en-US" altLang="zh-CN" dirty="0" err="1"/>
              <a:t>etc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</a:t>
            </a:r>
            <a:r>
              <a:rPr kumimoji="1" lang="en-US" altLang="zh-CN" dirty="0" err="1"/>
              <a:t>inode</a:t>
            </a:r>
            <a:r>
              <a:rPr kumimoji="1" lang="en-US" altLang="zh-CN" dirty="0"/>
              <a:t> table in Lab1 is essentially an index; but is extremely simple. </a:t>
            </a:r>
            <a:r>
              <a:rPr kumimoji="1" lang="en-US" altLang="zh-CN" b="1" dirty="0">
                <a:solidFill>
                  <a:srgbClr val="C00000"/>
                </a:solidFill>
              </a:rPr>
              <a:t>What are the trade-offs of an </a:t>
            </a:r>
            <a:r>
              <a:rPr kumimoji="1" lang="en-US" altLang="zh-CN" b="1" dirty="0" err="1">
                <a:solidFill>
                  <a:srgbClr val="C00000"/>
                </a:solidFill>
              </a:rPr>
              <a:t>inode</a:t>
            </a:r>
            <a:r>
              <a:rPr kumimoji="1" lang="en-US" altLang="zh-CN" b="1" dirty="0">
                <a:solidFill>
                  <a:srgbClr val="C00000"/>
                </a:solidFill>
              </a:rPr>
              <a:t> table? 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First try of index: an In-memory Hash Index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simplest possible indexing strategy </a:t>
            </a:r>
            <a:endParaRPr kumimoji="1" lang="en-US" altLang="zh-CN" dirty="0"/>
          </a:p>
          <a:p>
            <a:pPr lvl="1"/>
            <a:r>
              <a:rPr lang="en-US" altLang="zh-CN" dirty="0"/>
              <a:t>Keep an in-memory hash map that map key -&gt; byte offset in the log file</a:t>
            </a: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083120"/>
            <a:ext cx="6912768" cy="35329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Hash index &amp; log-structured data file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67654"/>
          </a:xfrm>
        </p:spPr>
        <p:txBody>
          <a:bodyPr/>
          <a:lstStyle/>
          <a:p>
            <a:r>
              <a:rPr kumimoji="1" lang="en-US" altLang="zh-CN" dirty="0"/>
              <a:t>The simplest possible indexing strategy </a:t>
            </a:r>
            <a:endParaRPr kumimoji="1" lang="en-US" altLang="zh-CN" dirty="0"/>
          </a:p>
          <a:p>
            <a:pPr lvl="1"/>
            <a:r>
              <a:rPr lang="en-US" altLang="zh-CN" dirty="0"/>
              <a:t>Keep an in-memory hash map that map key -&gt; byte offset in the log file</a:t>
            </a:r>
            <a:endParaRPr lang="en-US" altLang="zh-CN" dirty="0"/>
          </a:p>
          <a:p>
            <a:r>
              <a:rPr lang="en-US" altLang="zh-CN" dirty="0"/>
              <a:t>A viable solution </a:t>
            </a:r>
            <a:endParaRPr lang="en-US" altLang="zh-CN" dirty="0"/>
          </a:p>
          <a:p>
            <a:pPr lvl="1"/>
            <a:r>
              <a:rPr lang="en-US" altLang="zh-CN" dirty="0"/>
              <a:t>Adopted by commercial systems</a:t>
            </a:r>
            <a:r>
              <a:rPr lang="zh-CN" altLang="en-US" dirty="0"/>
              <a:t>， </a:t>
            </a:r>
            <a:r>
              <a:rPr lang="en-US" altLang="zh-CN" dirty="0"/>
              <a:t>e.g., </a:t>
            </a:r>
            <a:r>
              <a:rPr lang="en-US" altLang="zh-CN" dirty="0" err="1"/>
              <a:t>Bitcask</a:t>
            </a:r>
            <a:r>
              <a:rPr lang="en-US" altLang="zh-CN" dirty="0"/>
              <a:t> in  </a:t>
            </a:r>
            <a:r>
              <a:rPr lang="en-US" altLang="zh-CN" b="1" dirty="0">
                <a:solidFill>
                  <a:srgbClr val="505254"/>
                </a:solidFill>
                <a:latin typeface="Helvetica-Bold" pitchFamily="2" charset="0"/>
                <a:hlinkClick r:id="rId1"/>
              </a:rPr>
              <a:t>riak</a:t>
            </a:r>
            <a:r>
              <a:rPr lang="en-US" altLang="zh-CN" sz="1600" dirty="0">
                <a:solidFill>
                  <a:srgbClr val="F58B42"/>
                </a:solidFill>
                <a:latin typeface="Helvetica" pitchFamily="2" charset="0"/>
                <a:hlinkClick r:id="rId1"/>
              </a:rPr>
              <a:t>KV</a:t>
            </a:r>
            <a:endParaRPr lang="en-US" altLang="zh-CN" b="0" dirty="0"/>
          </a:p>
          <a:p>
            <a:r>
              <a:rPr kumimoji="1" lang="en-US" altLang="zh-CN" dirty="0"/>
              <a:t>Benefits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High-performance of reads/writes </a:t>
            </a:r>
            <a:endParaRPr kumimoji="1" lang="en-US" altLang="zh-CN" dirty="0"/>
          </a:p>
          <a:p>
            <a:r>
              <a:rPr kumimoji="1" lang="en-US" altLang="zh-CN" dirty="0"/>
              <a:t>Restrictions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Index must </a:t>
            </a:r>
            <a:r>
              <a:rPr kumimoji="1" lang="en-US" altLang="zh-CN" b="1" dirty="0">
                <a:solidFill>
                  <a:srgbClr val="BE374B"/>
                </a:solidFill>
              </a:rPr>
              <a:t>fit into the RAM </a:t>
            </a:r>
            <a:endParaRPr kumimoji="1" lang="en-US" altLang="zh-CN" b="1" dirty="0">
              <a:solidFill>
                <a:srgbClr val="BE374B"/>
              </a:solidFill>
            </a:endParaRPr>
          </a:p>
          <a:p>
            <a:pPr lvl="1"/>
            <a:r>
              <a:rPr kumimoji="1" lang="en-US" altLang="zh-CN" dirty="0"/>
              <a:t>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good at: when workloads have many updates but not insertions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E.g., too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insertions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exhaust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RAM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2297440"/>
            <a:ext cx="576064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BE374B"/>
                </a:solidFill>
              </a:rPr>
              <a:t>Hash Index++: Put it (or partially) on the disk </a:t>
            </a:r>
            <a:endParaRPr kumimoji="1" lang="zh-CN" altLang="en-US" dirty="0">
              <a:solidFill>
                <a:srgbClr val="BE374B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Question: how to choose the appropriate hash index data structure? </a:t>
            </a:r>
            <a:endParaRPr kumimoji="1" lang="en-US" altLang="zh-CN" dirty="0"/>
          </a:p>
          <a:p>
            <a:r>
              <a:rPr kumimoji="1" lang="en-US" altLang="zh-CN" dirty="0"/>
              <a:t>Many hash data structures exist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Their performance differences may not be so different in an in-memory setting for KVS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But on disk, the things are different, because accessing the disk is orders of magnitude slower than the memory</a:t>
            </a:r>
            <a:endParaRPr kumimoji="1" lang="en-US" altLang="zh-CN" b="0" dirty="0"/>
          </a:p>
          <a:p>
            <a:r>
              <a:rPr kumimoji="1" lang="en-US" altLang="zh-CN" dirty="0"/>
              <a:t>Different hash indexes have different </a:t>
            </a:r>
            <a:r>
              <a:rPr kumimoji="1" lang="en-US" altLang="zh-CN" dirty="0">
                <a:solidFill>
                  <a:srgbClr val="BE374B"/>
                </a:solidFill>
              </a:rPr>
              <a:t>trade-offs </a:t>
            </a:r>
            <a:r>
              <a:rPr kumimoji="1" lang="en-US" altLang="zh-CN" dirty="0"/>
              <a:t>when stored on disk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For a specific index, we need make some optimization to make it suit for the disk </a:t>
            </a:r>
            <a:endParaRPr kumimoji="1" lang="en-US" altLang="zh-CN" dirty="0"/>
          </a:p>
          <a:p>
            <a:pPr marL="74295" lvl="1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Linked-list based hash index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7"/>
            <a:ext cx="8229600" cy="4471925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solidFill>
                  <a:schemeClr val="tx1"/>
                </a:solidFill>
              </a:rPr>
              <a:t>The simplest data structures </a:t>
            </a:r>
            <a:endParaRPr kumimoji="1" lang="en-US" altLang="zh-CN" b="1" dirty="0">
              <a:solidFill>
                <a:schemeClr val="tx1"/>
              </a:solidFill>
            </a:endParaRPr>
          </a:p>
          <a:p>
            <a:r>
              <a:rPr kumimoji="1" lang="en-US" altLang="zh-CN" b="1" dirty="0">
                <a:solidFill>
                  <a:srgbClr val="C00000"/>
                </a:solidFill>
              </a:rPr>
              <a:t>Pros</a:t>
            </a:r>
            <a:r>
              <a:rPr kumimoji="1" lang="en-US" altLang="zh-CN" dirty="0"/>
              <a:t>: </a:t>
            </a:r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Easy for implementation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/>
              <a:t>Cons (of the easiest implementation):</a:t>
            </a:r>
            <a:endParaRPr kumimoji="1" lang="en-US" altLang="zh-CN" dirty="0"/>
          </a:p>
          <a:p>
            <a:pPr lvl="1">
              <a:lnSpc>
                <a:spcPct val="130000"/>
              </a:lnSpc>
            </a:pPr>
            <a:r>
              <a:rPr kumimoji="1" lang="en-US" altLang="zh-CN" dirty="0">
                <a:solidFill>
                  <a:schemeClr val="tx1"/>
                </a:solidFill>
              </a:rPr>
              <a:t>Bad </a:t>
            </a:r>
            <a:r>
              <a:rPr kumimoji="1" lang="en-US" altLang="zh-CN" dirty="0">
                <a:solidFill>
                  <a:schemeClr val="accent1"/>
                </a:solidFill>
              </a:rPr>
              <a:t>read</a:t>
            </a:r>
            <a:r>
              <a:rPr kumimoji="1" lang="en-US" altLang="zh-CN" dirty="0">
                <a:solidFill>
                  <a:schemeClr val="tx1"/>
                </a:solidFill>
              </a:rPr>
              <a:t> performance under hash collision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2"/>
            <a:r>
              <a:rPr kumimoji="1" lang="en-US" altLang="zh-CN" dirty="0">
                <a:solidFill>
                  <a:schemeClr val="tx1"/>
                </a:solidFill>
              </a:rPr>
              <a:t>Requires traverse the linked buckets in random I/O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>
              <a:lnSpc>
                <a:spcPct val="140000"/>
              </a:lnSpc>
            </a:pPr>
            <a:r>
              <a:rPr kumimoji="1" lang="en-US" altLang="zh-CN" dirty="0">
                <a:solidFill>
                  <a:schemeClr val="tx1"/>
                </a:solidFill>
              </a:rPr>
              <a:t>Bad </a:t>
            </a:r>
            <a:r>
              <a:rPr kumimoji="1" lang="en-US" altLang="zh-CN" dirty="0">
                <a:solidFill>
                  <a:schemeClr val="accent1"/>
                </a:solidFill>
              </a:rPr>
              <a:t>insert</a:t>
            </a:r>
            <a:r>
              <a:rPr kumimoji="1" lang="en-US" altLang="zh-CN" dirty="0">
                <a:solidFill>
                  <a:schemeClr val="tx1"/>
                </a:solidFill>
              </a:rPr>
              <a:t> performance under hash collision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2"/>
            <a:r>
              <a:rPr kumimoji="1" lang="en-US" altLang="zh-CN" dirty="0">
                <a:solidFill>
                  <a:schemeClr val="tx1"/>
                </a:solidFill>
              </a:rPr>
              <a:t>Similar problem as the read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Question: can you make it better?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Simple idea: put the entries in the same file block to reduce the chain length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29554"/>
            <a:ext cx="3951041" cy="219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Get()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Using two hash functions H0 &amp; H1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key</a:t>
            </a:r>
            <a:r>
              <a:rPr kumimoji="1" lang="en-US" altLang="zh-CN" dirty="0"/>
              <a:t> must be in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Get(73)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Buckets0[H0(73)] = 2</a:t>
            </a:r>
            <a:endParaRPr kumimoji="1" lang="zh-CN" alt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444208" y="1273324"/>
            <a:ext cx="719633" cy="369332"/>
            <a:chOff x="6193383" y="1503946"/>
            <a:chExt cx="719633" cy="369332"/>
          </a:xfrm>
        </p:grpSpPr>
        <p:sp>
          <p:nvSpPr>
            <p:cNvPr id="5" name="矩形 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sp>
        <p:nvSpPr>
          <p:cNvPr id="13" name="矩形 12"/>
          <p:cNvSpPr/>
          <p:nvPr/>
        </p:nvSpPr>
        <p:spPr>
          <a:xfrm>
            <a:off x="6444206" y="2002334"/>
            <a:ext cx="719633" cy="360040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583449" y="1997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427018" y="1129308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5977054" y="1449659"/>
            <a:ext cx="635619" cy="145121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619" h="145121">
                <a:moveTo>
                  <a:pt x="635619" y="22302"/>
                </a:moveTo>
                <a:cubicBezTo>
                  <a:pt x="471138" y="85492"/>
                  <a:pt x="306658" y="148682"/>
                  <a:pt x="200722" y="144965"/>
                </a:cubicBezTo>
                <a:cubicBezTo>
                  <a:pt x="94786" y="141248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675814" y="2014554"/>
            <a:ext cx="466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</a:rPr>
              <a:t>?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Get()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Using two hash functions H0 &amp; H1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key</a:t>
            </a:r>
            <a:r>
              <a:rPr kumimoji="1" lang="en-US" altLang="zh-CN" dirty="0"/>
              <a:t> must be in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cs typeface="Consolas" panose="020B0609020204030204" pitchFamily="49" charset="0"/>
              </a:rPr>
              <a:t>Example: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Get(73)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Buckets0[H0(73)] = 2 &amp;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Buckets1[H1(k73)] = 1</a:t>
            </a:r>
            <a:endParaRPr kumimoji="1" lang="en-US" altLang="zh-CN" dirty="0">
              <a:solidFill>
                <a:srgbClr val="C00000"/>
              </a:solidFill>
              <a:latin typeface="+mn-lt"/>
              <a:cs typeface="Consolas" panose="020B0609020204030204" pitchFamily="49" charset="0"/>
            </a:endParaRPr>
          </a:p>
          <a:p>
            <a:pPr marL="74295" lvl="1" indent="0">
              <a:buNone/>
            </a:pP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444208" y="1273324"/>
            <a:ext cx="719633" cy="369332"/>
            <a:chOff x="6193383" y="1503946"/>
            <a:chExt cx="719633" cy="369332"/>
          </a:xfrm>
        </p:grpSpPr>
        <p:sp>
          <p:nvSpPr>
            <p:cNvPr id="5" name="矩形 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sp>
        <p:nvSpPr>
          <p:cNvPr id="13" name="矩形 12"/>
          <p:cNvSpPr/>
          <p:nvPr/>
        </p:nvSpPr>
        <p:spPr>
          <a:xfrm>
            <a:off x="6444206" y="2002334"/>
            <a:ext cx="719633" cy="3600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583449" y="1997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sp>
        <p:nvSpPr>
          <p:cNvPr id="25" name="矩形 24"/>
          <p:cNvSpPr/>
          <p:nvPr/>
        </p:nvSpPr>
        <p:spPr>
          <a:xfrm>
            <a:off x="7676972" y="1642656"/>
            <a:ext cx="719633" cy="360040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816215" y="16380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427018" y="1129308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5977054" y="1449659"/>
            <a:ext cx="635619" cy="145121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619" h="145121">
                <a:moveTo>
                  <a:pt x="635619" y="22302"/>
                </a:moveTo>
                <a:cubicBezTo>
                  <a:pt x="471138" y="85492"/>
                  <a:pt x="306658" y="148682"/>
                  <a:pt x="200722" y="144965"/>
                </a:cubicBezTo>
                <a:cubicBezTo>
                  <a:pt x="94786" y="141248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</a:rPr>
              <a:t>73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Update()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Similar as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Get()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1. find the bucket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2. update the value </a:t>
            </a:r>
            <a:endParaRPr kumimoji="1" lang="zh-CN" altLang="en-US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444208" y="1273324"/>
            <a:ext cx="719633" cy="369332"/>
            <a:chOff x="6193383" y="1503946"/>
            <a:chExt cx="719633" cy="369332"/>
          </a:xfrm>
        </p:grpSpPr>
        <p:sp>
          <p:nvSpPr>
            <p:cNvPr id="5" name="矩形 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427018" y="1129308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5977054" y="1449659"/>
            <a:ext cx="635619" cy="145121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619" h="145121">
                <a:moveTo>
                  <a:pt x="635619" y="22302"/>
                </a:moveTo>
                <a:cubicBezTo>
                  <a:pt x="471138" y="85492"/>
                  <a:pt x="306658" y="148682"/>
                  <a:pt x="200722" y="144965"/>
                </a:cubicBezTo>
                <a:cubicBezTo>
                  <a:pt x="94786" y="141248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sp>
        <p:nvSpPr>
          <p:cNvPr id="41" name="Rectangle 6"/>
          <p:cNvSpPr/>
          <p:nvPr/>
        </p:nvSpPr>
        <p:spPr>
          <a:xfrm>
            <a:off x="1949984" y="4288063"/>
            <a:ext cx="5386908" cy="46166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about insert? 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5626968" cy="3771636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Question: what if no available space?</a:t>
            </a:r>
            <a:endParaRPr kumimoji="1" lang="en-US" altLang="zh-CN" dirty="0"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444208" y="1273324"/>
            <a:ext cx="719633" cy="369332"/>
            <a:chOff x="6193383" y="1503946"/>
            <a:chExt cx="719633" cy="369332"/>
          </a:xfrm>
        </p:grpSpPr>
        <p:sp>
          <p:nvSpPr>
            <p:cNvPr id="5" name="矩形 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427018" y="1129308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5977054" y="1449659"/>
            <a:ext cx="635619" cy="145121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619" h="145121">
                <a:moveTo>
                  <a:pt x="635619" y="22302"/>
                </a:moveTo>
                <a:cubicBezTo>
                  <a:pt x="471138" y="85492"/>
                  <a:pt x="306658" y="148682"/>
                  <a:pt x="200722" y="144965"/>
                </a:cubicBezTo>
                <a:cubicBezTo>
                  <a:pt x="94786" y="141248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3771636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Insert(2)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H0(2) = 0 &amp; H1(2) = 0</a:t>
            </a:r>
            <a:endParaRPr kumimoji="1" lang="en-US" altLang="zh-CN" dirty="0">
              <a:solidFill>
                <a:srgbClr val="C00000"/>
              </a:solidFill>
              <a:cs typeface="Consolas" panose="020B0609020204030204" pitchFamily="49" charset="0"/>
            </a:endParaRPr>
          </a:p>
          <a:p>
            <a:pPr lvl="1"/>
            <a:endParaRPr kumimoji="1" lang="en-US" altLang="zh-CN" b="1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444208" y="1273324"/>
            <a:ext cx="719633" cy="369332"/>
            <a:chOff x="6193383" y="1503946"/>
            <a:chExt cx="719633" cy="369332"/>
          </a:xfrm>
        </p:grpSpPr>
        <p:sp>
          <p:nvSpPr>
            <p:cNvPr id="5" name="矩形 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427018" y="1129308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5977054" y="1449659"/>
            <a:ext cx="635619" cy="145121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619" h="145121">
                <a:moveTo>
                  <a:pt x="635619" y="22302"/>
                </a:moveTo>
                <a:cubicBezTo>
                  <a:pt x="471138" y="85492"/>
                  <a:pt x="306658" y="148682"/>
                  <a:pt x="200722" y="144965"/>
                </a:cubicBezTo>
                <a:cubicBezTo>
                  <a:pt x="94786" y="141248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3771636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Insert(2)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H0(2) = 0 </a:t>
            </a:r>
            <a:r>
              <a:rPr kumimoji="1" lang="en-US" altLang="zh-CN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 H1(2) = 0</a:t>
            </a:r>
            <a:endParaRPr kumimoji="1" lang="en-US" altLang="zh-CN" dirty="0">
              <a:solidFill>
                <a:schemeClr val="accent6"/>
              </a:solidFill>
              <a:cs typeface="Consolas" panose="020B0609020204030204" pitchFamily="49" charset="0"/>
            </a:endParaRPr>
          </a:p>
          <a:p>
            <a:pPr lvl="1"/>
            <a:endParaRPr kumimoji="1" lang="en-US" altLang="zh-CN" b="1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444208" y="1273324"/>
            <a:ext cx="719633" cy="369332"/>
            <a:chOff x="6193383" y="1503946"/>
            <a:chExt cx="719633" cy="369332"/>
          </a:xfrm>
        </p:grpSpPr>
        <p:sp>
          <p:nvSpPr>
            <p:cNvPr id="5" name="矩形 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427018" y="1129308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5977054" y="1449659"/>
            <a:ext cx="635619" cy="145121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619" h="145121">
                <a:moveTo>
                  <a:pt x="635619" y="22302"/>
                </a:moveTo>
                <a:cubicBezTo>
                  <a:pt x="471138" y="85492"/>
                  <a:pt x="306658" y="148682"/>
                  <a:pt x="200722" y="144965"/>
                </a:cubicBezTo>
                <a:cubicBezTo>
                  <a:pt x="94786" y="141248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sp>
        <p:nvSpPr>
          <p:cNvPr id="41" name="Rectangle 6"/>
          <p:cNvSpPr/>
          <p:nvPr/>
        </p:nvSpPr>
        <p:spPr>
          <a:xfrm>
            <a:off x="5374645" y="384472"/>
            <a:ext cx="3017428" cy="46166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 we insert here?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3771636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Insert(2)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b="1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H0(2) = 0 &amp;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H1(2) = 0</a:t>
            </a:r>
            <a:endParaRPr kumimoji="1" lang="en-US" altLang="zh-CN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+mn-lt"/>
                <a:cs typeface="Consolas" panose="020B0609020204030204" pitchFamily="49" charset="0"/>
              </a:rPr>
              <a:t>Insert here!</a:t>
            </a:r>
            <a:endParaRPr kumimoji="1" lang="en-US" altLang="zh-CN" dirty="0">
              <a:solidFill>
                <a:schemeClr val="tx1"/>
              </a:solidFill>
              <a:latin typeface="+mn-lt"/>
              <a:cs typeface="Consolas" panose="020B0609020204030204" pitchFamily="49" charset="0"/>
            </a:endParaRPr>
          </a:p>
          <a:p>
            <a:pPr lvl="1"/>
            <a:endParaRPr kumimoji="1" lang="en-US" altLang="zh-CN" b="1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427018" y="1129308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5977054" y="1449659"/>
            <a:ext cx="635619" cy="145121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619" h="145121">
                <a:moveTo>
                  <a:pt x="635619" y="22302"/>
                </a:moveTo>
                <a:cubicBezTo>
                  <a:pt x="471138" y="85492"/>
                  <a:pt x="306658" y="148682"/>
                  <a:pt x="200722" y="144965"/>
                </a:cubicBezTo>
                <a:cubicBezTo>
                  <a:pt x="94786" y="141248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6444208" y="1273324"/>
            <a:ext cx="719633" cy="369332"/>
            <a:chOff x="6193383" y="1503946"/>
            <a:chExt cx="719633" cy="369332"/>
          </a:xfrm>
        </p:grpSpPr>
        <p:sp>
          <p:nvSpPr>
            <p:cNvPr id="43" name="矩形 4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7884368" y="1292631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3771636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</a:t>
            </a:r>
            <a:r>
              <a:rPr kumimoji="1" lang="en-US" altLang="zh-CN" dirty="0">
                <a:solidFill>
                  <a:schemeClr val="accent1"/>
                </a:solidFill>
                <a:latin typeface="+mn-lt"/>
                <a:cs typeface="Consolas" panose="020B0609020204030204" pitchFamily="49" charset="0"/>
              </a:rPr>
              <a:t>Insert(9)</a:t>
            </a:r>
            <a:endParaRPr kumimoji="1" lang="en-US" altLang="zh-CN" dirty="0">
              <a:solidFill>
                <a:schemeClr val="accent1"/>
              </a:solidFill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H0(9) = 0 &amp; H1(9) = 0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b="1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427018" y="1129308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5977054" y="1449659"/>
            <a:ext cx="635619" cy="145121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619" h="145121">
                <a:moveTo>
                  <a:pt x="635619" y="22302"/>
                </a:moveTo>
                <a:cubicBezTo>
                  <a:pt x="471138" y="85492"/>
                  <a:pt x="306658" y="148682"/>
                  <a:pt x="200722" y="144965"/>
                </a:cubicBezTo>
                <a:cubicBezTo>
                  <a:pt x="94786" y="141248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6444208" y="1273324"/>
            <a:ext cx="719633" cy="369332"/>
            <a:chOff x="6193383" y="1503946"/>
            <a:chExt cx="719633" cy="369332"/>
          </a:xfrm>
        </p:grpSpPr>
        <p:sp>
          <p:nvSpPr>
            <p:cNvPr id="43" name="矩形 4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7884368" y="1292631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3771636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Insert(9)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H0(9) = 0 &amp; H1(9) = 0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b="1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427018" y="1129308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5977054" y="1449659"/>
            <a:ext cx="635619" cy="145121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619" h="145121">
                <a:moveTo>
                  <a:pt x="635619" y="22302"/>
                </a:moveTo>
                <a:cubicBezTo>
                  <a:pt x="471138" y="85492"/>
                  <a:pt x="306658" y="148682"/>
                  <a:pt x="200722" y="144965"/>
                </a:cubicBezTo>
                <a:cubicBezTo>
                  <a:pt x="94786" y="141248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6444208" y="1273324"/>
            <a:ext cx="719633" cy="369332"/>
            <a:chOff x="6193383" y="1503946"/>
            <a:chExt cx="719633" cy="369332"/>
          </a:xfrm>
        </p:grpSpPr>
        <p:sp>
          <p:nvSpPr>
            <p:cNvPr id="43" name="矩形 4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7884368" y="1292631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  <p:sp>
        <p:nvSpPr>
          <p:cNvPr id="46" name="Rectangle 6"/>
          <p:cNvSpPr/>
          <p:nvPr/>
        </p:nvSpPr>
        <p:spPr>
          <a:xfrm>
            <a:off x="5374644" y="384472"/>
            <a:ext cx="3445827" cy="46166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Both slots are not empty!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3771636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Insert(9)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H0(9) = 0 &amp; H1(9) = 0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+mn-lt"/>
                <a:cs typeface="Consolas" panose="020B0609020204030204" pitchFamily="49" charset="0"/>
              </a:rPr>
              <a:t>Cuckoo hashing will kick others to different place to create space for the new insertions  </a:t>
            </a:r>
            <a:endParaRPr kumimoji="1" lang="en-US" altLang="zh-CN" dirty="0">
              <a:solidFill>
                <a:schemeClr val="tx1"/>
              </a:solidFill>
              <a:latin typeface="+mn-lt"/>
              <a:cs typeface="Consolas" panose="020B0609020204030204" pitchFamily="49" charset="0"/>
            </a:endParaRPr>
          </a:p>
          <a:p>
            <a:pPr lvl="1"/>
            <a:endParaRPr kumimoji="1" lang="en-US" altLang="zh-CN" b="1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5427018" y="1129308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5977054" y="1449659"/>
            <a:ext cx="635619" cy="145121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619" h="145121">
                <a:moveTo>
                  <a:pt x="635619" y="22302"/>
                </a:moveTo>
                <a:cubicBezTo>
                  <a:pt x="471138" y="85492"/>
                  <a:pt x="306658" y="148682"/>
                  <a:pt x="200722" y="144965"/>
                </a:cubicBezTo>
                <a:cubicBezTo>
                  <a:pt x="94786" y="141248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6444208" y="1273324"/>
            <a:ext cx="719633" cy="369332"/>
            <a:chOff x="6193383" y="1503946"/>
            <a:chExt cx="719633" cy="369332"/>
          </a:xfrm>
        </p:grpSpPr>
        <p:sp>
          <p:nvSpPr>
            <p:cNvPr id="43" name="矩形 4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7884368" y="1292631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4680520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Insert(9)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H0(9) = 0 &amp; H1(9) = 0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+mn-lt"/>
                <a:cs typeface="Consolas" panose="020B0609020204030204" pitchFamily="49" charset="0"/>
              </a:rPr>
              <a:t>Cuckoo hashing will kick others to different place to create space for the new insertions  </a:t>
            </a:r>
            <a:endParaRPr kumimoji="1" lang="en-US" altLang="zh-CN" dirty="0">
              <a:solidFill>
                <a:schemeClr val="tx1"/>
              </a:solidFill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Kick 32 (Buckets0[0]) to another place 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Assume: </a:t>
            </a:r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H1(32) = 2 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8402704" y="2737420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8368989" y="2217337"/>
            <a:ext cx="588265" cy="577195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  <a:gd name="connsiteX0-1" fmla="*/ 471496 w 471496"/>
              <a:gd name="connsiteY0-2" fmla="*/ 514672 h 521021"/>
              <a:gd name="connsiteX1-3" fmla="*/ 200722 w 471496"/>
              <a:gd name="connsiteY1-4" fmla="*/ 144965 h 521021"/>
              <a:gd name="connsiteX2-5" fmla="*/ 0 w 471496"/>
              <a:gd name="connsiteY2-6" fmla="*/ 0 h 521021"/>
              <a:gd name="connsiteX0-7" fmla="*/ 471496 w 471496"/>
              <a:gd name="connsiteY0-8" fmla="*/ 514672 h 519826"/>
              <a:gd name="connsiteX1-9" fmla="*/ 357029 w 471496"/>
              <a:gd name="connsiteY1-10" fmla="*/ 35550 h 519826"/>
              <a:gd name="connsiteX2-11" fmla="*/ 0 w 471496"/>
              <a:gd name="connsiteY2-12" fmla="*/ 0 h 519826"/>
              <a:gd name="connsiteX0-13" fmla="*/ 471496 w 594266"/>
              <a:gd name="connsiteY0-14" fmla="*/ 514672 h 514672"/>
              <a:gd name="connsiteX1-15" fmla="*/ 357029 w 594266"/>
              <a:gd name="connsiteY1-16" fmla="*/ 35550 h 514672"/>
              <a:gd name="connsiteX2-17" fmla="*/ 0 w 594266"/>
              <a:gd name="connsiteY2-18" fmla="*/ 0 h 514672"/>
              <a:gd name="connsiteX0-19" fmla="*/ 463681 w 588265"/>
              <a:gd name="connsiteY0-20" fmla="*/ 577195 h 577195"/>
              <a:gd name="connsiteX1-21" fmla="*/ 357029 w 588265"/>
              <a:gd name="connsiteY1-22" fmla="*/ 35550 h 577195"/>
              <a:gd name="connsiteX2-23" fmla="*/ 0 w 588265"/>
              <a:gd name="connsiteY2-24" fmla="*/ 0 h 577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88265" h="577195">
                <a:moveTo>
                  <a:pt x="463681" y="577195"/>
                </a:moveTo>
                <a:cubicBezTo>
                  <a:pt x="752492" y="210539"/>
                  <a:pt x="462965" y="39267"/>
                  <a:pt x="357029" y="35550"/>
                </a:cubicBezTo>
                <a:cubicBezTo>
                  <a:pt x="251093" y="31833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grpSp>
        <p:nvGrpSpPr>
          <p:cNvPr id="42" name="组合 41"/>
          <p:cNvGrpSpPr/>
          <p:nvPr/>
        </p:nvGrpSpPr>
        <p:grpSpPr>
          <a:xfrm>
            <a:off x="6444208" y="1277970"/>
            <a:ext cx="1814206" cy="1120382"/>
            <a:chOff x="6193383" y="1508592"/>
            <a:chExt cx="1814206" cy="1120382"/>
          </a:xfrm>
        </p:grpSpPr>
        <p:sp>
          <p:nvSpPr>
            <p:cNvPr id="43" name="矩形 4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566443" y="225964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</a:rPr>
                <a:t>32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7884368" y="1292631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  <p:sp>
        <p:nvSpPr>
          <p:cNvPr id="5" name="任意形状 4"/>
          <p:cNvSpPr/>
          <p:nvPr/>
        </p:nvSpPr>
        <p:spPr>
          <a:xfrm>
            <a:off x="7195930" y="1511566"/>
            <a:ext cx="477079" cy="697665"/>
          </a:xfrm>
          <a:custGeom>
            <a:avLst/>
            <a:gdLst>
              <a:gd name="connsiteX0" fmla="*/ 0 w 477079"/>
              <a:gd name="connsiteY0" fmla="*/ 48877 h 697665"/>
              <a:gd name="connsiteX1" fmla="*/ 188844 w 477079"/>
              <a:gd name="connsiteY1" fmla="*/ 58817 h 697665"/>
              <a:gd name="connsiteX2" fmla="*/ 228600 w 477079"/>
              <a:gd name="connsiteY2" fmla="*/ 635286 h 697665"/>
              <a:gd name="connsiteX3" fmla="*/ 477079 w 477079"/>
              <a:gd name="connsiteY3" fmla="*/ 655164 h 69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079" h="697665">
                <a:moveTo>
                  <a:pt x="0" y="48877"/>
                </a:moveTo>
                <a:cubicBezTo>
                  <a:pt x="75372" y="4979"/>
                  <a:pt x="150744" y="-38918"/>
                  <a:pt x="188844" y="58817"/>
                </a:cubicBezTo>
                <a:cubicBezTo>
                  <a:pt x="226944" y="156552"/>
                  <a:pt x="180561" y="535895"/>
                  <a:pt x="228600" y="635286"/>
                </a:cubicBezTo>
                <a:cubicBezTo>
                  <a:pt x="276639" y="734677"/>
                  <a:pt x="376859" y="694920"/>
                  <a:pt x="477079" y="655164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标注 5"/>
          <p:cNvSpPr/>
          <p:nvPr/>
        </p:nvSpPr>
        <p:spPr>
          <a:xfrm>
            <a:off x="6467403" y="438649"/>
            <a:ext cx="2088564" cy="490698"/>
          </a:xfrm>
          <a:prstGeom prst="wedgeRoundRectCallout">
            <a:avLst>
              <a:gd name="adj1" fmla="val -32294"/>
              <a:gd name="adj2" fmla="val 113666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6457579" y="510513"/>
            <a:ext cx="2229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Can insert 9 here!</a:t>
            </a:r>
            <a:endParaRPr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6645726" y="127809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9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83950" y="2182690"/>
            <a:ext cx="719633" cy="369332"/>
            <a:chOff x="6193383" y="1503946"/>
            <a:chExt cx="719633" cy="369332"/>
          </a:xfrm>
        </p:grpSpPr>
        <p:sp>
          <p:nvSpPr>
            <p:cNvPr id="6" name="矩形 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83949" y="2542368"/>
            <a:ext cx="719633" cy="369332"/>
            <a:chOff x="6193383" y="1503946"/>
            <a:chExt cx="719633" cy="369332"/>
          </a:xfrm>
        </p:grpSpPr>
        <p:sp>
          <p:nvSpPr>
            <p:cNvPr id="9" name="矩形 8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83949" y="2902577"/>
            <a:ext cx="719633" cy="369332"/>
            <a:chOff x="6193383" y="1503946"/>
            <a:chExt cx="719633" cy="369332"/>
          </a:xfrm>
        </p:grpSpPr>
        <p:sp>
          <p:nvSpPr>
            <p:cNvPr id="12" name="矩形 1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816716" y="1818004"/>
            <a:ext cx="719633" cy="369332"/>
            <a:chOff x="6193383" y="1503946"/>
            <a:chExt cx="719633" cy="369332"/>
          </a:xfrm>
        </p:grpSpPr>
        <p:sp>
          <p:nvSpPr>
            <p:cNvPr id="15" name="矩形 1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816715" y="2182690"/>
            <a:ext cx="719633" cy="369332"/>
            <a:chOff x="6193383" y="1503946"/>
            <a:chExt cx="719633" cy="369332"/>
          </a:xfrm>
        </p:grpSpPr>
        <p:sp>
          <p:nvSpPr>
            <p:cNvPr id="18" name="矩形 1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816714" y="2542368"/>
            <a:ext cx="719633" cy="369332"/>
            <a:chOff x="6193383" y="1503946"/>
            <a:chExt cx="719633" cy="369332"/>
          </a:xfrm>
        </p:grpSpPr>
        <p:sp>
          <p:nvSpPr>
            <p:cNvPr id="21" name="矩形 2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816714" y="2902577"/>
            <a:ext cx="719633" cy="369332"/>
            <a:chOff x="6193383" y="1503946"/>
            <a:chExt cx="719633" cy="369332"/>
          </a:xfrm>
        </p:grpSpPr>
        <p:sp>
          <p:nvSpPr>
            <p:cNvPr id="24" name="矩形 23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421902" y="142198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1624221" y="141734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1943823" y="218525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grpSp>
        <p:nvGrpSpPr>
          <p:cNvPr id="33" name="组合 32"/>
          <p:cNvGrpSpPr/>
          <p:nvPr/>
        </p:nvGrpSpPr>
        <p:grpSpPr>
          <a:xfrm>
            <a:off x="583951" y="1818004"/>
            <a:ext cx="719633" cy="369332"/>
            <a:chOff x="6193383" y="1503946"/>
            <a:chExt cx="719633" cy="369332"/>
          </a:xfrm>
        </p:grpSpPr>
        <p:sp>
          <p:nvSpPr>
            <p:cNvPr id="34" name="矩形 33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32</a:t>
              </a:r>
              <a:endParaRPr kumimoji="1" lang="zh-CN" altLang="en-US" dirty="0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024111" y="1837311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725561" y="22162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3611262" y="2182690"/>
            <a:ext cx="719633" cy="369332"/>
            <a:chOff x="6193383" y="1503946"/>
            <a:chExt cx="719633" cy="369332"/>
          </a:xfrm>
        </p:grpSpPr>
        <p:sp>
          <p:nvSpPr>
            <p:cNvPr id="39" name="矩形 38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611261" y="2542368"/>
            <a:ext cx="719633" cy="369332"/>
            <a:chOff x="6193383" y="1503946"/>
            <a:chExt cx="719633" cy="369332"/>
          </a:xfrm>
        </p:grpSpPr>
        <p:sp>
          <p:nvSpPr>
            <p:cNvPr id="42" name="矩形 4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611261" y="2902577"/>
            <a:ext cx="719633" cy="369332"/>
            <a:chOff x="6193383" y="1503946"/>
            <a:chExt cx="719633" cy="369332"/>
          </a:xfrm>
        </p:grpSpPr>
        <p:sp>
          <p:nvSpPr>
            <p:cNvPr id="45" name="矩形 4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844028" y="1818004"/>
            <a:ext cx="719633" cy="369332"/>
            <a:chOff x="6193383" y="1503946"/>
            <a:chExt cx="719633" cy="369332"/>
          </a:xfrm>
        </p:grpSpPr>
        <p:sp>
          <p:nvSpPr>
            <p:cNvPr id="48" name="矩形 4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844027" y="2182690"/>
            <a:ext cx="719633" cy="369332"/>
            <a:chOff x="6193383" y="1503946"/>
            <a:chExt cx="719633" cy="369332"/>
          </a:xfrm>
        </p:grpSpPr>
        <p:sp>
          <p:nvSpPr>
            <p:cNvPr id="51" name="矩形 5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844026" y="2542368"/>
            <a:ext cx="719633" cy="369332"/>
            <a:chOff x="6193383" y="1503946"/>
            <a:chExt cx="719633" cy="369332"/>
          </a:xfrm>
        </p:grpSpPr>
        <p:sp>
          <p:nvSpPr>
            <p:cNvPr id="54" name="矩形 53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844026" y="2902577"/>
            <a:ext cx="719633" cy="369332"/>
            <a:chOff x="6193383" y="1503946"/>
            <a:chExt cx="719633" cy="369332"/>
          </a:xfrm>
        </p:grpSpPr>
        <p:sp>
          <p:nvSpPr>
            <p:cNvPr id="57" name="矩形 56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3449214" y="142198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60" name="文本框 59"/>
          <p:cNvSpPr txBox="1"/>
          <p:nvPr/>
        </p:nvSpPr>
        <p:spPr>
          <a:xfrm>
            <a:off x="4651533" y="141734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sp>
        <p:nvSpPr>
          <p:cNvPr id="65" name="文本框 64"/>
          <p:cNvSpPr txBox="1"/>
          <p:nvPr/>
        </p:nvSpPr>
        <p:spPr>
          <a:xfrm>
            <a:off x="4971135" y="218525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grpSp>
        <p:nvGrpSpPr>
          <p:cNvPr id="66" name="组合 65"/>
          <p:cNvGrpSpPr/>
          <p:nvPr/>
        </p:nvGrpSpPr>
        <p:grpSpPr>
          <a:xfrm>
            <a:off x="3611263" y="1822650"/>
            <a:ext cx="1814206" cy="1120382"/>
            <a:chOff x="6193383" y="1508592"/>
            <a:chExt cx="1814206" cy="1120382"/>
          </a:xfrm>
        </p:grpSpPr>
        <p:sp>
          <p:nvSpPr>
            <p:cNvPr id="67" name="矩形 66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7566443" y="225964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</a:rPr>
                <a:t>32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5051423" y="1837311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70" name="文本框 69"/>
          <p:cNvSpPr txBox="1"/>
          <p:nvPr/>
        </p:nvSpPr>
        <p:spPr>
          <a:xfrm>
            <a:off x="3752873" y="22162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  <p:sp>
        <p:nvSpPr>
          <p:cNvPr id="71" name="任意形状 70"/>
          <p:cNvSpPr/>
          <p:nvPr/>
        </p:nvSpPr>
        <p:spPr>
          <a:xfrm>
            <a:off x="4362985" y="2056246"/>
            <a:ext cx="477079" cy="697665"/>
          </a:xfrm>
          <a:custGeom>
            <a:avLst/>
            <a:gdLst>
              <a:gd name="connsiteX0" fmla="*/ 0 w 477079"/>
              <a:gd name="connsiteY0" fmla="*/ 48877 h 697665"/>
              <a:gd name="connsiteX1" fmla="*/ 188844 w 477079"/>
              <a:gd name="connsiteY1" fmla="*/ 58817 h 697665"/>
              <a:gd name="connsiteX2" fmla="*/ 228600 w 477079"/>
              <a:gd name="connsiteY2" fmla="*/ 635286 h 697665"/>
              <a:gd name="connsiteX3" fmla="*/ 477079 w 477079"/>
              <a:gd name="connsiteY3" fmla="*/ 655164 h 69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079" h="697665">
                <a:moveTo>
                  <a:pt x="0" y="48877"/>
                </a:moveTo>
                <a:cubicBezTo>
                  <a:pt x="75372" y="4979"/>
                  <a:pt x="150744" y="-38918"/>
                  <a:pt x="188844" y="58817"/>
                </a:cubicBezTo>
                <a:cubicBezTo>
                  <a:pt x="226944" y="156552"/>
                  <a:pt x="180561" y="535895"/>
                  <a:pt x="228600" y="635286"/>
                </a:cubicBezTo>
                <a:cubicBezTo>
                  <a:pt x="276639" y="734677"/>
                  <a:pt x="376859" y="694920"/>
                  <a:pt x="477079" y="655164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75" name="组合 74"/>
          <p:cNvGrpSpPr/>
          <p:nvPr/>
        </p:nvGrpSpPr>
        <p:grpSpPr>
          <a:xfrm>
            <a:off x="6607652" y="2178044"/>
            <a:ext cx="719633" cy="369332"/>
            <a:chOff x="6193383" y="1503946"/>
            <a:chExt cx="719633" cy="369332"/>
          </a:xfrm>
        </p:grpSpPr>
        <p:sp>
          <p:nvSpPr>
            <p:cNvPr id="76" name="矩形 7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6607651" y="2537722"/>
            <a:ext cx="719633" cy="369332"/>
            <a:chOff x="6193383" y="1503946"/>
            <a:chExt cx="719633" cy="369332"/>
          </a:xfrm>
        </p:grpSpPr>
        <p:sp>
          <p:nvSpPr>
            <p:cNvPr id="79" name="矩形 78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6607651" y="2897931"/>
            <a:ext cx="719633" cy="369332"/>
            <a:chOff x="6193383" y="1503946"/>
            <a:chExt cx="719633" cy="369332"/>
          </a:xfrm>
        </p:grpSpPr>
        <p:sp>
          <p:nvSpPr>
            <p:cNvPr id="82" name="矩形 8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7840418" y="1813358"/>
            <a:ext cx="719633" cy="369332"/>
            <a:chOff x="6193383" y="1503946"/>
            <a:chExt cx="719633" cy="369332"/>
          </a:xfrm>
        </p:grpSpPr>
        <p:sp>
          <p:nvSpPr>
            <p:cNvPr id="85" name="矩形 8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7840417" y="2178044"/>
            <a:ext cx="719633" cy="369332"/>
            <a:chOff x="6193383" y="1503946"/>
            <a:chExt cx="719633" cy="369332"/>
          </a:xfrm>
        </p:grpSpPr>
        <p:sp>
          <p:nvSpPr>
            <p:cNvPr id="88" name="矩形 8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7840416" y="2537722"/>
            <a:ext cx="719633" cy="369332"/>
            <a:chOff x="6193383" y="1503946"/>
            <a:chExt cx="719633" cy="369332"/>
          </a:xfrm>
        </p:grpSpPr>
        <p:sp>
          <p:nvSpPr>
            <p:cNvPr id="91" name="矩形 9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7840416" y="2897931"/>
            <a:ext cx="719633" cy="369332"/>
            <a:chOff x="6193383" y="1503946"/>
            <a:chExt cx="719633" cy="369332"/>
          </a:xfrm>
        </p:grpSpPr>
        <p:sp>
          <p:nvSpPr>
            <p:cNvPr id="94" name="矩形 93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96" name="文本框 95"/>
          <p:cNvSpPr txBox="1"/>
          <p:nvPr/>
        </p:nvSpPr>
        <p:spPr>
          <a:xfrm>
            <a:off x="6445604" y="141734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97" name="文本框 96"/>
          <p:cNvSpPr txBox="1"/>
          <p:nvPr/>
        </p:nvSpPr>
        <p:spPr>
          <a:xfrm>
            <a:off x="7647923" y="1412694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sp>
        <p:nvSpPr>
          <p:cNvPr id="98" name="文本框 97"/>
          <p:cNvSpPr txBox="1"/>
          <p:nvPr/>
        </p:nvSpPr>
        <p:spPr>
          <a:xfrm>
            <a:off x="7967525" y="218061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grpSp>
        <p:nvGrpSpPr>
          <p:cNvPr id="99" name="组合 98"/>
          <p:cNvGrpSpPr/>
          <p:nvPr/>
        </p:nvGrpSpPr>
        <p:grpSpPr>
          <a:xfrm>
            <a:off x="6607653" y="1818004"/>
            <a:ext cx="1814206" cy="1120382"/>
            <a:chOff x="6193383" y="1508592"/>
            <a:chExt cx="1814206" cy="1120382"/>
          </a:xfrm>
        </p:grpSpPr>
        <p:sp>
          <p:nvSpPr>
            <p:cNvPr id="100" name="矩形 9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7566443" y="225964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>
                  <a:solidFill>
                    <a:srgbClr val="C00000"/>
                  </a:solidFill>
                </a:rPr>
                <a:t>32</a:t>
              </a:r>
              <a:endParaRPr kumimoji="1" lang="zh-CN" altLang="en-US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102" name="文本框 101"/>
          <p:cNvSpPr txBox="1"/>
          <p:nvPr/>
        </p:nvSpPr>
        <p:spPr>
          <a:xfrm>
            <a:off x="8047813" y="1832665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103" name="文本框 102"/>
          <p:cNvSpPr txBox="1"/>
          <p:nvPr/>
        </p:nvSpPr>
        <p:spPr>
          <a:xfrm>
            <a:off x="6749263" y="221160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  <p:sp>
        <p:nvSpPr>
          <p:cNvPr id="104" name="任意形状 103"/>
          <p:cNvSpPr/>
          <p:nvPr/>
        </p:nvSpPr>
        <p:spPr>
          <a:xfrm>
            <a:off x="7359375" y="2051600"/>
            <a:ext cx="477079" cy="697665"/>
          </a:xfrm>
          <a:custGeom>
            <a:avLst/>
            <a:gdLst>
              <a:gd name="connsiteX0" fmla="*/ 0 w 477079"/>
              <a:gd name="connsiteY0" fmla="*/ 48877 h 697665"/>
              <a:gd name="connsiteX1" fmla="*/ 188844 w 477079"/>
              <a:gd name="connsiteY1" fmla="*/ 58817 h 697665"/>
              <a:gd name="connsiteX2" fmla="*/ 228600 w 477079"/>
              <a:gd name="connsiteY2" fmla="*/ 635286 h 697665"/>
              <a:gd name="connsiteX3" fmla="*/ 477079 w 477079"/>
              <a:gd name="connsiteY3" fmla="*/ 655164 h 69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079" h="697665">
                <a:moveTo>
                  <a:pt x="0" y="48877"/>
                </a:moveTo>
                <a:cubicBezTo>
                  <a:pt x="75372" y="4979"/>
                  <a:pt x="150744" y="-38918"/>
                  <a:pt x="188844" y="58817"/>
                </a:cubicBezTo>
                <a:cubicBezTo>
                  <a:pt x="226944" y="156552"/>
                  <a:pt x="180561" y="535895"/>
                  <a:pt x="228600" y="635286"/>
                </a:cubicBezTo>
                <a:cubicBezTo>
                  <a:pt x="276639" y="734677"/>
                  <a:pt x="376859" y="694920"/>
                  <a:pt x="477079" y="655164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6809171" y="181812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9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6" name="右箭头 105"/>
          <p:cNvSpPr/>
          <p:nvPr/>
        </p:nvSpPr>
        <p:spPr>
          <a:xfrm>
            <a:off x="2649518" y="2281022"/>
            <a:ext cx="890887" cy="576064"/>
          </a:xfrm>
          <a:prstGeom prst="rightArrow">
            <a:avLst/>
          </a:prstGeom>
          <a:noFill/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2548104" y="3437798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Insert(9)</a:t>
            </a:r>
            <a:endParaRPr lang="zh-CN" altLang="en-US" dirty="0"/>
          </a:p>
        </p:txBody>
      </p:sp>
      <p:sp>
        <p:nvSpPr>
          <p:cNvPr id="108" name="文本框 107"/>
          <p:cNvSpPr txBox="1"/>
          <p:nvPr/>
        </p:nvSpPr>
        <p:spPr>
          <a:xfrm>
            <a:off x="5636859" y="3448165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Kick(32)</a:t>
            </a:r>
            <a:endParaRPr lang="zh-CN" altLang="en-US" dirty="0"/>
          </a:p>
        </p:txBody>
      </p:sp>
      <p:sp>
        <p:nvSpPr>
          <p:cNvPr id="109" name="右箭头 108"/>
          <p:cNvSpPr/>
          <p:nvPr/>
        </p:nvSpPr>
        <p:spPr>
          <a:xfrm>
            <a:off x="5669255" y="2266247"/>
            <a:ext cx="890887" cy="576064"/>
          </a:xfrm>
          <a:prstGeom prst="rightArrow">
            <a:avLst/>
          </a:prstGeom>
          <a:noFill/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矩形 109"/>
          <p:cNvSpPr/>
          <p:nvPr/>
        </p:nvSpPr>
        <p:spPr>
          <a:xfrm>
            <a:off x="1480067" y="4077225"/>
            <a:ext cx="35955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H0(9) = 0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&amp; H1(9) = 0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5521366" y="4221802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H1(32) = 2 </a:t>
            </a:r>
            <a:endParaRPr lang="zh-CN" altLang="en-US" dirty="0"/>
          </a:p>
        </p:txBody>
      </p:sp>
      <p:sp>
        <p:nvSpPr>
          <p:cNvPr id="112" name="Rectangle 6"/>
          <p:cNvSpPr/>
          <p:nvPr/>
        </p:nvSpPr>
        <p:spPr>
          <a:xfrm>
            <a:off x="901975" y="4907012"/>
            <a:ext cx="7399808" cy="46166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Question: what if H1(32) = 3? (which is taken by 84)</a:t>
            </a:r>
            <a:endParaRPr lang="en-US" altLang="zh-CN" sz="2400" dirty="0">
              <a:latin typeface="Candara" panose="020E0502030303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4680520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Insert(9)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H0(9) = 0 &amp; H1(9) = 0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+mn-lt"/>
                <a:cs typeface="Consolas" panose="020B0609020204030204" pitchFamily="49" charset="0"/>
              </a:rPr>
              <a:t>Cuckoo hashing will kick others to different place to empty </a:t>
            </a:r>
            <a:endParaRPr kumimoji="1" lang="en-US" altLang="zh-CN" dirty="0">
              <a:solidFill>
                <a:schemeClr val="tx1"/>
              </a:solidFill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Kick 32 (Buckets0[0]) to another place 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b="1" dirty="0">
                <a:solidFill>
                  <a:srgbClr val="C00000"/>
                </a:solidFill>
                <a:latin typeface="+mn-lt"/>
                <a:cs typeface="Consolas" panose="020B0609020204030204" pitchFamily="49" charset="0"/>
              </a:rPr>
              <a:t>Question: what if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H1(32) </a:t>
            </a:r>
            <a:r>
              <a:rPr kumimoji="1" lang="en-US" altLang="zh-CN" b="1" strike="sngStrike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2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3? </a:t>
            </a:r>
            <a:endParaRPr kumimoji="1" lang="en-US" altLang="zh-CN" b="1" dirty="0">
              <a:solidFill>
                <a:srgbClr val="C00000"/>
              </a:solidFill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8402704" y="2737420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8368989" y="2217337"/>
            <a:ext cx="588265" cy="577195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  <a:gd name="connsiteX0-1" fmla="*/ 471496 w 471496"/>
              <a:gd name="connsiteY0-2" fmla="*/ 514672 h 521021"/>
              <a:gd name="connsiteX1-3" fmla="*/ 200722 w 471496"/>
              <a:gd name="connsiteY1-4" fmla="*/ 144965 h 521021"/>
              <a:gd name="connsiteX2-5" fmla="*/ 0 w 471496"/>
              <a:gd name="connsiteY2-6" fmla="*/ 0 h 521021"/>
              <a:gd name="connsiteX0-7" fmla="*/ 471496 w 471496"/>
              <a:gd name="connsiteY0-8" fmla="*/ 514672 h 519826"/>
              <a:gd name="connsiteX1-9" fmla="*/ 357029 w 471496"/>
              <a:gd name="connsiteY1-10" fmla="*/ 35550 h 519826"/>
              <a:gd name="connsiteX2-11" fmla="*/ 0 w 471496"/>
              <a:gd name="connsiteY2-12" fmla="*/ 0 h 519826"/>
              <a:gd name="connsiteX0-13" fmla="*/ 471496 w 594266"/>
              <a:gd name="connsiteY0-14" fmla="*/ 514672 h 514672"/>
              <a:gd name="connsiteX1-15" fmla="*/ 357029 w 594266"/>
              <a:gd name="connsiteY1-16" fmla="*/ 35550 h 514672"/>
              <a:gd name="connsiteX2-17" fmla="*/ 0 w 594266"/>
              <a:gd name="connsiteY2-18" fmla="*/ 0 h 514672"/>
              <a:gd name="connsiteX0-19" fmla="*/ 463681 w 588265"/>
              <a:gd name="connsiteY0-20" fmla="*/ 577195 h 577195"/>
              <a:gd name="connsiteX1-21" fmla="*/ 357029 w 588265"/>
              <a:gd name="connsiteY1-22" fmla="*/ 35550 h 577195"/>
              <a:gd name="connsiteX2-23" fmla="*/ 0 w 588265"/>
              <a:gd name="connsiteY2-24" fmla="*/ 0 h 577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88265" h="577195">
                <a:moveTo>
                  <a:pt x="463681" y="577195"/>
                </a:moveTo>
                <a:cubicBezTo>
                  <a:pt x="752492" y="210539"/>
                  <a:pt x="462965" y="39267"/>
                  <a:pt x="357029" y="35550"/>
                </a:cubicBezTo>
                <a:cubicBezTo>
                  <a:pt x="251093" y="31833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6444208" y="1277970"/>
            <a:ext cx="719633" cy="360040"/>
          </a:xfrm>
          <a:prstGeom prst="rect">
            <a:avLst/>
          </a:prstGeom>
          <a:noFill/>
          <a:ln w="508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884368" y="1292631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  <p:sp>
        <p:nvSpPr>
          <p:cNvPr id="5" name="任意形状 4"/>
          <p:cNvSpPr/>
          <p:nvPr/>
        </p:nvSpPr>
        <p:spPr>
          <a:xfrm>
            <a:off x="7195930" y="1479056"/>
            <a:ext cx="453633" cy="1125335"/>
          </a:xfrm>
          <a:custGeom>
            <a:avLst/>
            <a:gdLst>
              <a:gd name="connsiteX0" fmla="*/ 0 w 477079"/>
              <a:gd name="connsiteY0" fmla="*/ 48877 h 697665"/>
              <a:gd name="connsiteX1" fmla="*/ 188844 w 477079"/>
              <a:gd name="connsiteY1" fmla="*/ 58817 h 697665"/>
              <a:gd name="connsiteX2" fmla="*/ 228600 w 477079"/>
              <a:gd name="connsiteY2" fmla="*/ 635286 h 697665"/>
              <a:gd name="connsiteX3" fmla="*/ 477079 w 477079"/>
              <a:gd name="connsiteY3" fmla="*/ 655164 h 697665"/>
              <a:gd name="connsiteX0-1" fmla="*/ 0 w 453633"/>
              <a:gd name="connsiteY0-2" fmla="*/ 48877 h 1095606"/>
              <a:gd name="connsiteX1-3" fmla="*/ 188844 w 453633"/>
              <a:gd name="connsiteY1-4" fmla="*/ 58817 h 1095606"/>
              <a:gd name="connsiteX2-5" fmla="*/ 228600 w 453633"/>
              <a:gd name="connsiteY2-6" fmla="*/ 635286 h 1095606"/>
              <a:gd name="connsiteX3-7" fmla="*/ 453633 w 453633"/>
              <a:gd name="connsiteY3-8" fmla="*/ 1092825 h 1095606"/>
              <a:gd name="connsiteX0-9" fmla="*/ 0 w 453633"/>
              <a:gd name="connsiteY0-10" fmla="*/ 48877 h 1100714"/>
              <a:gd name="connsiteX1-11" fmla="*/ 188844 w 453633"/>
              <a:gd name="connsiteY1-12" fmla="*/ 58817 h 1100714"/>
              <a:gd name="connsiteX2-13" fmla="*/ 228600 w 453633"/>
              <a:gd name="connsiteY2-14" fmla="*/ 635286 h 1100714"/>
              <a:gd name="connsiteX3-15" fmla="*/ 453633 w 453633"/>
              <a:gd name="connsiteY3-16" fmla="*/ 1092825 h 1100714"/>
              <a:gd name="connsiteX0-17" fmla="*/ 0 w 453633"/>
              <a:gd name="connsiteY0-18" fmla="*/ 81387 h 1125335"/>
              <a:gd name="connsiteX1-19" fmla="*/ 188844 w 453633"/>
              <a:gd name="connsiteY1-20" fmla="*/ 91327 h 1125335"/>
              <a:gd name="connsiteX2-21" fmla="*/ 453633 w 453633"/>
              <a:gd name="connsiteY2-22" fmla="*/ 1125335 h 1125335"/>
              <a:gd name="connsiteX0-23" fmla="*/ 0 w 453633"/>
              <a:gd name="connsiteY0-24" fmla="*/ 81387 h 1128689"/>
              <a:gd name="connsiteX1-25" fmla="*/ 188844 w 453633"/>
              <a:gd name="connsiteY1-26" fmla="*/ 91327 h 1128689"/>
              <a:gd name="connsiteX2-27" fmla="*/ 453633 w 453633"/>
              <a:gd name="connsiteY2-28" fmla="*/ 1125335 h 1128689"/>
              <a:gd name="connsiteX0-29" fmla="*/ 0 w 453633"/>
              <a:gd name="connsiteY0-30" fmla="*/ 81387 h 1125335"/>
              <a:gd name="connsiteX1-31" fmla="*/ 188844 w 453633"/>
              <a:gd name="connsiteY1-32" fmla="*/ 91327 h 1125335"/>
              <a:gd name="connsiteX2-33" fmla="*/ 453633 w 453633"/>
              <a:gd name="connsiteY2-34" fmla="*/ 1125335 h 1125335"/>
              <a:gd name="connsiteX0-35" fmla="*/ 0 w 453633"/>
              <a:gd name="connsiteY0-36" fmla="*/ 81387 h 1125335"/>
              <a:gd name="connsiteX1-37" fmla="*/ 188844 w 453633"/>
              <a:gd name="connsiteY1-38" fmla="*/ 91327 h 1125335"/>
              <a:gd name="connsiteX2-39" fmla="*/ 453633 w 453633"/>
              <a:gd name="connsiteY2-40" fmla="*/ 1125335 h 11253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53633" h="1125335">
                <a:moveTo>
                  <a:pt x="0" y="81387"/>
                </a:moveTo>
                <a:cubicBezTo>
                  <a:pt x="75372" y="37489"/>
                  <a:pt x="113239" y="-82664"/>
                  <a:pt x="188844" y="91327"/>
                </a:cubicBezTo>
                <a:cubicBezTo>
                  <a:pt x="264449" y="265318"/>
                  <a:pt x="249978" y="995886"/>
                  <a:pt x="453633" y="1125335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6579126" y="127809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32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4680520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Insert(9)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H0(9) = 0 &amp; H1(9) = 0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+mn-lt"/>
                <a:cs typeface="Consolas" panose="020B0609020204030204" pitchFamily="49" charset="0"/>
              </a:rPr>
              <a:t>Cuckoo hashing will kick others to different place to empty </a:t>
            </a:r>
            <a:endParaRPr kumimoji="1" lang="en-US" altLang="zh-CN" dirty="0">
              <a:solidFill>
                <a:schemeClr val="tx1"/>
              </a:solidFill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strike="sngStrike" dirty="0">
                <a:latin typeface="+mn-lt"/>
                <a:cs typeface="Consolas" panose="020B0609020204030204" pitchFamily="49" charset="0"/>
              </a:rPr>
              <a:t>Kick 32 (Buckets0[0]) to another place </a:t>
            </a:r>
            <a:endParaRPr kumimoji="1" lang="en-US" altLang="zh-CN" strike="sngStrike" dirty="0"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Kick 2 (Buckets1[0]) to another place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8402704" y="2737420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8368989" y="2217337"/>
            <a:ext cx="588265" cy="577195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  <a:gd name="connsiteX0-1" fmla="*/ 471496 w 471496"/>
              <a:gd name="connsiteY0-2" fmla="*/ 514672 h 521021"/>
              <a:gd name="connsiteX1-3" fmla="*/ 200722 w 471496"/>
              <a:gd name="connsiteY1-4" fmla="*/ 144965 h 521021"/>
              <a:gd name="connsiteX2-5" fmla="*/ 0 w 471496"/>
              <a:gd name="connsiteY2-6" fmla="*/ 0 h 521021"/>
              <a:gd name="connsiteX0-7" fmla="*/ 471496 w 471496"/>
              <a:gd name="connsiteY0-8" fmla="*/ 514672 h 519826"/>
              <a:gd name="connsiteX1-9" fmla="*/ 357029 w 471496"/>
              <a:gd name="connsiteY1-10" fmla="*/ 35550 h 519826"/>
              <a:gd name="connsiteX2-11" fmla="*/ 0 w 471496"/>
              <a:gd name="connsiteY2-12" fmla="*/ 0 h 519826"/>
              <a:gd name="connsiteX0-13" fmla="*/ 471496 w 594266"/>
              <a:gd name="connsiteY0-14" fmla="*/ 514672 h 514672"/>
              <a:gd name="connsiteX1-15" fmla="*/ 357029 w 594266"/>
              <a:gd name="connsiteY1-16" fmla="*/ 35550 h 514672"/>
              <a:gd name="connsiteX2-17" fmla="*/ 0 w 594266"/>
              <a:gd name="connsiteY2-18" fmla="*/ 0 h 514672"/>
              <a:gd name="connsiteX0-19" fmla="*/ 463681 w 588265"/>
              <a:gd name="connsiteY0-20" fmla="*/ 577195 h 577195"/>
              <a:gd name="connsiteX1-21" fmla="*/ 357029 w 588265"/>
              <a:gd name="connsiteY1-22" fmla="*/ 35550 h 577195"/>
              <a:gd name="connsiteX2-23" fmla="*/ 0 w 588265"/>
              <a:gd name="connsiteY2-24" fmla="*/ 0 h 577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88265" h="577195">
                <a:moveTo>
                  <a:pt x="463681" y="577195"/>
                </a:moveTo>
                <a:cubicBezTo>
                  <a:pt x="752492" y="210539"/>
                  <a:pt x="462965" y="39267"/>
                  <a:pt x="357029" y="35550"/>
                </a:cubicBezTo>
                <a:cubicBezTo>
                  <a:pt x="251093" y="31833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6444208" y="1277970"/>
            <a:ext cx="719633" cy="360040"/>
          </a:xfrm>
          <a:prstGeom prst="rect">
            <a:avLst/>
          </a:prstGeom>
          <a:noFill/>
          <a:ln w="508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884368" y="1292631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  <p:sp>
        <p:nvSpPr>
          <p:cNvPr id="5" name="任意形状 4"/>
          <p:cNvSpPr/>
          <p:nvPr/>
        </p:nvSpPr>
        <p:spPr>
          <a:xfrm>
            <a:off x="7195930" y="1479056"/>
            <a:ext cx="453633" cy="1125335"/>
          </a:xfrm>
          <a:custGeom>
            <a:avLst/>
            <a:gdLst>
              <a:gd name="connsiteX0" fmla="*/ 0 w 477079"/>
              <a:gd name="connsiteY0" fmla="*/ 48877 h 697665"/>
              <a:gd name="connsiteX1" fmla="*/ 188844 w 477079"/>
              <a:gd name="connsiteY1" fmla="*/ 58817 h 697665"/>
              <a:gd name="connsiteX2" fmla="*/ 228600 w 477079"/>
              <a:gd name="connsiteY2" fmla="*/ 635286 h 697665"/>
              <a:gd name="connsiteX3" fmla="*/ 477079 w 477079"/>
              <a:gd name="connsiteY3" fmla="*/ 655164 h 697665"/>
              <a:gd name="connsiteX0-1" fmla="*/ 0 w 453633"/>
              <a:gd name="connsiteY0-2" fmla="*/ 48877 h 1095606"/>
              <a:gd name="connsiteX1-3" fmla="*/ 188844 w 453633"/>
              <a:gd name="connsiteY1-4" fmla="*/ 58817 h 1095606"/>
              <a:gd name="connsiteX2-5" fmla="*/ 228600 w 453633"/>
              <a:gd name="connsiteY2-6" fmla="*/ 635286 h 1095606"/>
              <a:gd name="connsiteX3-7" fmla="*/ 453633 w 453633"/>
              <a:gd name="connsiteY3-8" fmla="*/ 1092825 h 1095606"/>
              <a:gd name="connsiteX0-9" fmla="*/ 0 w 453633"/>
              <a:gd name="connsiteY0-10" fmla="*/ 48877 h 1100714"/>
              <a:gd name="connsiteX1-11" fmla="*/ 188844 w 453633"/>
              <a:gd name="connsiteY1-12" fmla="*/ 58817 h 1100714"/>
              <a:gd name="connsiteX2-13" fmla="*/ 228600 w 453633"/>
              <a:gd name="connsiteY2-14" fmla="*/ 635286 h 1100714"/>
              <a:gd name="connsiteX3-15" fmla="*/ 453633 w 453633"/>
              <a:gd name="connsiteY3-16" fmla="*/ 1092825 h 1100714"/>
              <a:gd name="connsiteX0-17" fmla="*/ 0 w 453633"/>
              <a:gd name="connsiteY0-18" fmla="*/ 81387 h 1125335"/>
              <a:gd name="connsiteX1-19" fmla="*/ 188844 w 453633"/>
              <a:gd name="connsiteY1-20" fmla="*/ 91327 h 1125335"/>
              <a:gd name="connsiteX2-21" fmla="*/ 453633 w 453633"/>
              <a:gd name="connsiteY2-22" fmla="*/ 1125335 h 1125335"/>
              <a:gd name="connsiteX0-23" fmla="*/ 0 w 453633"/>
              <a:gd name="connsiteY0-24" fmla="*/ 81387 h 1128689"/>
              <a:gd name="connsiteX1-25" fmla="*/ 188844 w 453633"/>
              <a:gd name="connsiteY1-26" fmla="*/ 91327 h 1128689"/>
              <a:gd name="connsiteX2-27" fmla="*/ 453633 w 453633"/>
              <a:gd name="connsiteY2-28" fmla="*/ 1125335 h 1128689"/>
              <a:gd name="connsiteX0-29" fmla="*/ 0 w 453633"/>
              <a:gd name="connsiteY0-30" fmla="*/ 81387 h 1125335"/>
              <a:gd name="connsiteX1-31" fmla="*/ 188844 w 453633"/>
              <a:gd name="connsiteY1-32" fmla="*/ 91327 h 1125335"/>
              <a:gd name="connsiteX2-33" fmla="*/ 453633 w 453633"/>
              <a:gd name="connsiteY2-34" fmla="*/ 1125335 h 1125335"/>
              <a:gd name="connsiteX0-35" fmla="*/ 0 w 453633"/>
              <a:gd name="connsiteY0-36" fmla="*/ 81387 h 1125335"/>
              <a:gd name="connsiteX1-37" fmla="*/ 188844 w 453633"/>
              <a:gd name="connsiteY1-38" fmla="*/ 91327 h 1125335"/>
              <a:gd name="connsiteX2-39" fmla="*/ 453633 w 453633"/>
              <a:gd name="connsiteY2-40" fmla="*/ 1125335 h 11253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53633" h="1125335">
                <a:moveTo>
                  <a:pt x="0" y="81387"/>
                </a:moveTo>
                <a:cubicBezTo>
                  <a:pt x="75372" y="37489"/>
                  <a:pt x="113239" y="-82664"/>
                  <a:pt x="188844" y="91327"/>
                </a:cubicBezTo>
                <a:cubicBezTo>
                  <a:pt x="264449" y="265318"/>
                  <a:pt x="249978" y="995886"/>
                  <a:pt x="453633" y="1125335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6645726" y="127809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9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4680520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Insert(9)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H0(9) = 0 &amp; H1(9) = 0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+mn-lt"/>
                <a:cs typeface="Consolas" panose="020B0609020204030204" pitchFamily="49" charset="0"/>
              </a:rPr>
              <a:t>Cuckoo hashing will kick others to different place to empty </a:t>
            </a:r>
            <a:endParaRPr kumimoji="1" lang="en-US" altLang="zh-CN" dirty="0">
              <a:solidFill>
                <a:schemeClr val="tx1"/>
              </a:solidFill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Kick 2 (Buckets1[0]) to another place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cs typeface="Consolas" panose="020B0609020204030204" pitchFamily="49" charset="0"/>
              </a:rPr>
              <a:t>Assume: </a:t>
            </a:r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H0(2) = 2 </a:t>
            </a:r>
            <a:endParaRPr kumimoji="1" lang="en-US" altLang="zh-CN" dirty="0">
              <a:cs typeface="Consolas" panose="020B0609020204030204" pitchFamily="49" charset="0"/>
            </a:endParaRPr>
          </a:p>
          <a:p>
            <a:pPr lvl="2"/>
            <a:endParaRPr kumimoji="1" lang="en-US" altLang="zh-CN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8402704" y="2737420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8368989" y="2217337"/>
            <a:ext cx="588265" cy="577195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  <a:gd name="connsiteX0-1" fmla="*/ 471496 w 471496"/>
              <a:gd name="connsiteY0-2" fmla="*/ 514672 h 521021"/>
              <a:gd name="connsiteX1-3" fmla="*/ 200722 w 471496"/>
              <a:gd name="connsiteY1-4" fmla="*/ 144965 h 521021"/>
              <a:gd name="connsiteX2-5" fmla="*/ 0 w 471496"/>
              <a:gd name="connsiteY2-6" fmla="*/ 0 h 521021"/>
              <a:gd name="connsiteX0-7" fmla="*/ 471496 w 471496"/>
              <a:gd name="connsiteY0-8" fmla="*/ 514672 h 519826"/>
              <a:gd name="connsiteX1-9" fmla="*/ 357029 w 471496"/>
              <a:gd name="connsiteY1-10" fmla="*/ 35550 h 519826"/>
              <a:gd name="connsiteX2-11" fmla="*/ 0 w 471496"/>
              <a:gd name="connsiteY2-12" fmla="*/ 0 h 519826"/>
              <a:gd name="connsiteX0-13" fmla="*/ 471496 w 594266"/>
              <a:gd name="connsiteY0-14" fmla="*/ 514672 h 514672"/>
              <a:gd name="connsiteX1-15" fmla="*/ 357029 w 594266"/>
              <a:gd name="connsiteY1-16" fmla="*/ 35550 h 514672"/>
              <a:gd name="connsiteX2-17" fmla="*/ 0 w 594266"/>
              <a:gd name="connsiteY2-18" fmla="*/ 0 h 514672"/>
              <a:gd name="connsiteX0-19" fmla="*/ 463681 w 588265"/>
              <a:gd name="connsiteY0-20" fmla="*/ 577195 h 577195"/>
              <a:gd name="connsiteX1-21" fmla="*/ 357029 w 588265"/>
              <a:gd name="connsiteY1-22" fmla="*/ 35550 h 577195"/>
              <a:gd name="connsiteX2-23" fmla="*/ 0 w 588265"/>
              <a:gd name="connsiteY2-24" fmla="*/ 0 h 577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88265" h="577195">
                <a:moveTo>
                  <a:pt x="463681" y="577195"/>
                </a:moveTo>
                <a:cubicBezTo>
                  <a:pt x="752492" y="210539"/>
                  <a:pt x="462965" y="39267"/>
                  <a:pt x="357029" y="35550"/>
                </a:cubicBezTo>
                <a:cubicBezTo>
                  <a:pt x="251093" y="31833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6444208" y="1277970"/>
            <a:ext cx="719633" cy="360040"/>
          </a:xfrm>
          <a:prstGeom prst="rect">
            <a:avLst/>
          </a:prstGeom>
          <a:noFill/>
          <a:ln w="508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6657760" y="2009578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6595497" y="12854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32</a:t>
            </a:r>
            <a:endParaRPr kumimoji="1" lang="zh-CN" altLang="en-US" dirty="0"/>
          </a:p>
        </p:txBody>
      </p:sp>
      <p:sp>
        <p:nvSpPr>
          <p:cNvPr id="6" name="任意形状 5"/>
          <p:cNvSpPr/>
          <p:nvPr/>
        </p:nvSpPr>
        <p:spPr>
          <a:xfrm>
            <a:off x="7166708" y="1404161"/>
            <a:ext cx="500184" cy="927866"/>
          </a:xfrm>
          <a:custGeom>
            <a:avLst/>
            <a:gdLst>
              <a:gd name="connsiteX0" fmla="*/ 500184 w 500184"/>
              <a:gd name="connsiteY0" fmla="*/ 72947 h 927866"/>
              <a:gd name="connsiteX1" fmla="*/ 265723 w 500184"/>
              <a:gd name="connsiteY1" fmla="*/ 72947 h 927866"/>
              <a:gd name="connsiteX2" fmla="*/ 211015 w 500184"/>
              <a:gd name="connsiteY2" fmla="*/ 831039 h 927866"/>
              <a:gd name="connsiteX3" fmla="*/ 0 w 500184"/>
              <a:gd name="connsiteY3" fmla="*/ 893562 h 92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184" h="927866">
                <a:moveTo>
                  <a:pt x="500184" y="72947"/>
                </a:moveTo>
                <a:cubicBezTo>
                  <a:pt x="407051" y="9772"/>
                  <a:pt x="313918" y="-53402"/>
                  <a:pt x="265723" y="72947"/>
                </a:cubicBezTo>
                <a:cubicBezTo>
                  <a:pt x="217528" y="199296"/>
                  <a:pt x="255302" y="694270"/>
                  <a:pt x="211015" y="831039"/>
                </a:cubicBezTo>
                <a:cubicBezTo>
                  <a:pt x="166728" y="967808"/>
                  <a:pt x="83364" y="930685"/>
                  <a:pt x="0" y="893562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7898007" y="12719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9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4680520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Example: Insert(9)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H0(9) = 0 &amp; H1(9) = 0</a:t>
            </a:r>
            <a:endParaRPr kumimoji="1" lang="en-US" altLang="zh-CN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  <a:latin typeface="+mn-lt"/>
                <a:cs typeface="Consolas" panose="020B0609020204030204" pitchFamily="49" charset="0"/>
              </a:rPr>
              <a:t>Cuckoo hashing will kick others to different place to empty </a:t>
            </a:r>
            <a:endParaRPr kumimoji="1" lang="en-US" altLang="zh-CN" dirty="0">
              <a:solidFill>
                <a:schemeClr val="tx1"/>
              </a:solidFill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Kick 2 (Buckets1[0]) to another place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2"/>
            <a:r>
              <a:rPr kumimoji="1" lang="en-US" altLang="zh-CN" dirty="0">
                <a:cs typeface="Consolas" panose="020B0609020204030204" pitchFamily="49" charset="0"/>
              </a:rPr>
              <a:t>Assume: </a:t>
            </a:r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H0(2) = </a:t>
            </a:r>
            <a:r>
              <a:rPr kumimoji="1" lang="en-US" altLang="zh-CN" strike="sngStrike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+mn-lt"/>
                <a:cs typeface="Consolas" panose="020B0609020204030204" pitchFamily="49" charset="0"/>
              </a:rPr>
              <a:t>What if that happens? </a:t>
            </a:r>
            <a:endParaRPr kumimoji="1" lang="en-US" altLang="zh-CN" dirty="0">
              <a:solidFill>
                <a:srgbClr val="C00000"/>
              </a:solidFill>
              <a:latin typeface="+mn-lt"/>
              <a:cs typeface="Consolas" panose="020B0609020204030204" pitchFamily="49" charset="0"/>
            </a:endParaRPr>
          </a:p>
          <a:p>
            <a:pPr lvl="2"/>
            <a:endParaRPr kumimoji="1" lang="en-US" altLang="zh-CN" dirty="0"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10" name="矩形 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13" name="矩形 1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16" name="矩形 1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22" name="矩形 21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508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25" name="矩形 24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28" name="矩形 27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38100">
              <a:solidFill>
                <a:srgbClr val="BE374B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676971" y="2357897"/>
            <a:ext cx="719633" cy="369332"/>
            <a:chOff x="6193383" y="1503946"/>
            <a:chExt cx="719633" cy="369332"/>
          </a:xfrm>
        </p:grpSpPr>
        <p:sp>
          <p:nvSpPr>
            <p:cNvPr id="31" name="矩形 3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32626" y="150394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84</a:t>
              </a:r>
              <a:endParaRPr kumimoji="1"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grpSp>
        <p:nvGrpSpPr>
          <p:cNvPr id="38" name="组合 37"/>
          <p:cNvGrpSpPr/>
          <p:nvPr/>
        </p:nvGrpSpPr>
        <p:grpSpPr>
          <a:xfrm>
            <a:off x="8402704" y="2737420"/>
            <a:ext cx="697627" cy="355074"/>
            <a:chOff x="5427018" y="1129308"/>
            <a:chExt cx="697627" cy="355074"/>
          </a:xfrm>
        </p:grpSpPr>
        <p:sp>
          <p:nvSpPr>
            <p:cNvPr id="36" name="矩形 35"/>
            <p:cNvSpPr/>
            <p:nvPr/>
          </p:nvSpPr>
          <p:spPr>
            <a:xfrm>
              <a:off x="5427018" y="1186266"/>
              <a:ext cx="697627" cy="298116"/>
            </a:xfrm>
            <a:prstGeom prst="rect">
              <a:avLst/>
            </a:prstGeom>
            <a:solidFill>
              <a:srgbClr val="EACBA3"/>
            </a:solidFill>
            <a:ln w="25400">
              <a:solidFill>
                <a:schemeClr val="bg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42646" y="1129308"/>
              <a:ext cx="673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value</a:t>
              </a:r>
              <a:endParaRPr kumimoji="1" lang="zh-CN" altLang="en-US" sz="1600" dirty="0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8368989" y="2217337"/>
            <a:ext cx="588265" cy="577195"/>
          </a:xfrm>
          <a:custGeom>
            <a:avLst/>
            <a:gdLst>
              <a:gd name="connsiteX0" fmla="*/ 635619 w 635619"/>
              <a:gd name="connsiteY0" fmla="*/ 22302 h 145121"/>
              <a:gd name="connsiteX1" fmla="*/ 200722 w 635619"/>
              <a:gd name="connsiteY1" fmla="*/ 144965 h 145121"/>
              <a:gd name="connsiteX2" fmla="*/ 0 w 635619"/>
              <a:gd name="connsiteY2" fmla="*/ 0 h 145121"/>
              <a:gd name="connsiteX0-1" fmla="*/ 471496 w 471496"/>
              <a:gd name="connsiteY0-2" fmla="*/ 514672 h 521021"/>
              <a:gd name="connsiteX1-3" fmla="*/ 200722 w 471496"/>
              <a:gd name="connsiteY1-4" fmla="*/ 144965 h 521021"/>
              <a:gd name="connsiteX2-5" fmla="*/ 0 w 471496"/>
              <a:gd name="connsiteY2-6" fmla="*/ 0 h 521021"/>
              <a:gd name="connsiteX0-7" fmla="*/ 471496 w 471496"/>
              <a:gd name="connsiteY0-8" fmla="*/ 514672 h 519826"/>
              <a:gd name="connsiteX1-9" fmla="*/ 357029 w 471496"/>
              <a:gd name="connsiteY1-10" fmla="*/ 35550 h 519826"/>
              <a:gd name="connsiteX2-11" fmla="*/ 0 w 471496"/>
              <a:gd name="connsiteY2-12" fmla="*/ 0 h 519826"/>
              <a:gd name="connsiteX0-13" fmla="*/ 471496 w 594266"/>
              <a:gd name="connsiteY0-14" fmla="*/ 514672 h 514672"/>
              <a:gd name="connsiteX1-15" fmla="*/ 357029 w 594266"/>
              <a:gd name="connsiteY1-16" fmla="*/ 35550 h 514672"/>
              <a:gd name="connsiteX2-17" fmla="*/ 0 w 594266"/>
              <a:gd name="connsiteY2-18" fmla="*/ 0 h 514672"/>
              <a:gd name="connsiteX0-19" fmla="*/ 463681 w 588265"/>
              <a:gd name="connsiteY0-20" fmla="*/ 577195 h 577195"/>
              <a:gd name="connsiteX1-21" fmla="*/ 357029 w 588265"/>
              <a:gd name="connsiteY1-22" fmla="*/ 35550 h 577195"/>
              <a:gd name="connsiteX2-23" fmla="*/ 0 w 588265"/>
              <a:gd name="connsiteY2-24" fmla="*/ 0 h 577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88265" h="577195">
                <a:moveTo>
                  <a:pt x="463681" y="577195"/>
                </a:moveTo>
                <a:cubicBezTo>
                  <a:pt x="752492" y="210539"/>
                  <a:pt x="462965" y="39267"/>
                  <a:pt x="357029" y="35550"/>
                </a:cubicBezTo>
                <a:cubicBezTo>
                  <a:pt x="251093" y="31833"/>
                  <a:pt x="47393" y="70624"/>
                  <a:pt x="0" y="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04080" y="16405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73</a:t>
            </a:r>
            <a:endParaRPr kumimoji="1"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6444208" y="1277970"/>
            <a:ext cx="719633" cy="360040"/>
          </a:xfrm>
          <a:prstGeom prst="rect">
            <a:avLst/>
          </a:prstGeom>
          <a:noFill/>
          <a:ln w="508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585818" y="167157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</a:t>
            </a:r>
            <a:endParaRPr kumimoji="1"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6595497" y="128545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32</a:t>
            </a:r>
            <a:endParaRPr kumimoji="1"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7884368" y="1292631"/>
            <a:ext cx="547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2</a:t>
            </a:r>
            <a:endParaRPr lang="zh-CN" altLang="en-US" dirty="0"/>
          </a:p>
        </p:txBody>
      </p:sp>
      <p:sp>
        <p:nvSpPr>
          <p:cNvPr id="7" name="任意形状 6"/>
          <p:cNvSpPr/>
          <p:nvPr/>
        </p:nvSpPr>
        <p:spPr>
          <a:xfrm>
            <a:off x="7143262" y="1436203"/>
            <a:ext cx="547076" cy="440491"/>
          </a:xfrm>
          <a:custGeom>
            <a:avLst/>
            <a:gdLst>
              <a:gd name="connsiteX0" fmla="*/ 547076 w 547076"/>
              <a:gd name="connsiteY0" fmla="*/ 33089 h 440491"/>
              <a:gd name="connsiteX1" fmla="*/ 265723 w 547076"/>
              <a:gd name="connsiteY1" fmla="*/ 33089 h 440491"/>
              <a:gd name="connsiteX2" fmla="*/ 203200 w 547076"/>
              <a:gd name="connsiteY2" fmla="*/ 376966 h 440491"/>
              <a:gd name="connsiteX3" fmla="*/ 0 w 547076"/>
              <a:gd name="connsiteY3" fmla="*/ 439489 h 44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76" h="440491">
                <a:moveTo>
                  <a:pt x="547076" y="33089"/>
                </a:moveTo>
                <a:cubicBezTo>
                  <a:pt x="435056" y="4432"/>
                  <a:pt x="323036" y="-24224"/>
                  <a:pt x="265723" y="33089"/>
                </a:cubicBezTo>
                <a:cubicBezTo>
                  <a:pt x="208410" y="90402"/>
                  <a:pt x="247487" y="309233"/>
                  <a:pt x="203200" y="376966"/>
                </a:cubicBezTo>
                <a:cubicBezTo>
                  <a:pt x="158913" y="444699"/>
                  <a:pt x="79456" y="442094"/>
                  <a:pt x="0" y="439489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Explosion 2 106"/>
          <p:cNvSpPr/>
          <p:nvPr/>
        </p:nvSpPr>
        <p:spPr bwMode="auto">
          <a:xfrm>
            <a:off x="6950206" y="1562817"/>
            <a:ext cx="381000" cy="304800"/>
          </a:xfrm>
          <a:prstGeom prst="irregularSeal2">
            <a:avLst/>
          </a:prstGeom>
          <a:gradFill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6000000" scaled="0"/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8" name="Rectangle 6"/>
          <p:cNvSpPr/>
          <p:nvPr/>
        </p:nvSpPr>
        <p:spPr>
          <a:xfrm>
            <a:off x="5374644" y="384472"/>
            <a:ext cx="3445827" cy="46166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available slots!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6096000" cy="4680520"/>
          </a:xfrm>
        </p:spPr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 Maintain two hash buckets</a:t>
            </a:r>
            <a:endParaRPr kumimoji="1" lang="en-US" altLang="zh-CN" dirty="0"/>
          </a:p>
          <a:p>
            <a:r>
              <a:rPr kumimoji="1" lang="en-US" altLang="zh-CN" dirty="0"/>
              <a:t>Insert()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Much complicated: should insert to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Buckets0[H0(key)] </a:t>
            </a:r>
            <a:r>
              <a:rPr kumimoji="1" lang="en-US" altLang="zh-CN" dirty="0"/>
              <a:t>or 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Buckets1[H1(key)]</a:t>
            </a:r>
            <a:endParaRPr kumimoji="1" lang="en-US" altLang="zh-CN" b="1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If no available slots, </a:t>
            </a:r>
            <a:r>
              <a:rPr kumimoji="1" lang="en-US" altLang="zh-CN" dirty="0">
                <a:solidFill>
                  <a:srgbClr val="C00000"/>
                </a:solidFill>
                <a:latin typeface="+mn-lt"/>
                <a:cs typeface="Consolas" panose="020B0609020204030204" pitchFamily="49" charset="0"/>
              </a:rPr>
              <a:t>rehashing</a:t>
            </a:r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 &amp; repeat the above insert process </a:t>
            </a:r>
            <a:endParaRPr kumimoji="1" lang="en-US" altLang="zh-CN" dirty="0">
              <a:latin typeface="+mn-lt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Rehashing: enlarge the buckets (typically </a:t>
            </a:r>
            <a:r>
              <a:rPr kumimoji="1" lang="en-US" altLang="zh-CN" b="1" dirty="0">
                <a:solidFill>
                  <a:srgbClr val="C00000"/>
                </a:solidFill>
                <a:latin typeface="+mn-lt"/>
                <a:cs typeface="Consolas" panose="020B0609020204030204" pitchFamily="49" charset="0"/>
              </a:rPr>
              <a:t>X2</a:t>
            </a:r>
            <a:r>
              <a:rPr kumimoji="1" lang="en-US" altLang="zh-CN" dirty="0">
                <a:latin typeface="+mn-lt"/>
                <a:cs typeface="Consolas" panose="020B0609020204030204" pitchFamily="49" charset="0"/>
              </a:rPr>
              <a:t>)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6444208" y="1277970"/>
            <a:ext cx="719633" cy="360040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6444207" y="1638010"/>
            <a:ext cx="719633" cy="369332"/>
            <a:chOff x="6193383" y="1503946"/>
            <a:chExt cx="719633" cy="369332"/>
          </a:xfrm>
        </p:grpSpPr>
        <p:sp>
          <p:nvSpPr>
            <p:cNvPr id="51" name="矩形 50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444206" y="1997688"/>
            <a:ext cx="719633" cy="369332"/>
            <a:chOff x="6193383" y="1503946"/>
            <a:chExt cx="719633" cy="369332"/>
          </a:xfrm>
        </p:grpSpPr>
        <p:sp>
          <p:nvSpPr>
            <p:cNvPr id="54" name="矩形 53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444206" y="2357897"/>
            <a:ext cx="719633" cy="369332"/>
            <a:chOff x="6193383" y="1503946"/>
            <a:chExt cx="719633" cy="369332"/>
          </a:xfrm>
        </p:grpSpPr>
        <p:sp>
          <p:nvSpPr>
            <p:cNvPr id="57" name="矩形 56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676973" y="1273324"/>
            <a:ext cx="719633" cy="369332"/>
            <a:chOff x="6193383" y="1503946"/>
            <a:chExt cx="719633" cy="369332"/>
          </a:xfrm>
        </p:grpSpPr>
        <p:sp>
          <p:nvSpPr>
            <p:cNvPr id="60" name="矩形 59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676972" y="1638010"/>
            <a:ext cx="719633" cy="369332"/>
            <a:chOff x="6193383" y="1503946"/>
            <a:chExt cx="719633" cy="369332"/>
          </a:xfrm>
        </p:grpSpPr>
        <p:sp>
          <p:nvSpPr>
            <p:cNvPr id="63" name="矩形 62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7676971" y="1997688"/>
            <a:ext cx="719633" cy="369332"/>
            <a:chOff x="6193383" y="1503946"/>
            <a:chExt cx="719633" cy="369332"/>
          </a:xfrm>
        </p:grpSpPr>
        <p:sp>
          <p:nvSpPr>
            <p:cNvPr id="66" name="矩形 65"/>
            <p:cNvSpPr/>
            <p:nvPr/>
          </p:nvSpPr>
          <p:spPr>
            <a:xfrm>
              <a:off x="6193383" y="1508592"/>
              <a:ext cx="719633" cy="36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6332626" y="15039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zh-CN" altLang="en-US" dirty="0"/>
            </a:p>
          </p:txBody>
        </p:sp>
      </p:grpSp>
      <p:sp>
        <p:nvSpPr>
          <p:cNvPr id="69" name="矩形 68"/>
          <p:cNvSpPr/>
          <p:nvPr/>
        </p:nvSpPr>
        <p:spPr>
          <a:xfrm>
            <a:off x="7676971" y="2362543"/>
            <a:ext cx="719633" cy="360040"/>
          </a:xfrm>
          <a:prstGeom prst="rect">
            <a:avLst/>
          </a:prstGeom>
          <a:noFill/>
          <a:ln w="127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6282159" y="877306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Buckets0</a:t>
            </a:r>
            <a:endParaRPr lang="zh-CN" altLang="en-US" dirty="0"/>
          </a:p>
        </p:txBody>
      </p:sp>
      <p:sp>
        <p:nvSpPr>
          <p:cNvPr id="72" name="文本框 71"/>
          <p:cNvSpPr txBox="1"/>
          <p:nvPr/>
        </p:nvSpPr>
        <p:spPr>
          <a:xfrm>
            <a:off x="7484478" y="872660"/>
            <a:ext cx="12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Buckets1</a:t>
            </a:r>
            <a:endParaRPr lang="zh-CN" altLang="en-US" dirty="0"/>
          </a:p>
        </p:txBody>
      </p:sp>
      <p:sp>
        <p:nvSpPr>
          <p:cNvPr id="79" name="矩形 78"/>
          <p:cNvSpPr/>
          <p:nvPr/>
        </p:nvSpPr>
        <p:spPr>
          <a:xfrm>
            <a:off x="6444206" y="2726698"/>
            <a:ext cx="719633" cy="360040"/>
          </a:xfrm>
          <a:prstGeom prst="rect">
            <a:avLst/>
          </a:prstGeom>
          <a:noFill/>
          <a:ln w="381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6444205" y="3091384"/>
            <a:ext cx="719633" cy="360040"/>
          </a:xfrm>
          <a:prstGeom prst="rect">
            <a:avLst/>
          </a:prstGeom>
          <a:noFill/>
          <a:ln w="381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6583448" y="30867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4" name="矩形 83"/>
          <p:cNvSpPr/>
          <p:nvPr/>
        </p:nvSpPr>
        <p:spPr>
          <a:xfrm>
            <a:off x="6444204" y="3451062"/>
            <a:ext cx="719633" cy="360040"/>
          </a:xfrm>
          <a:prstGeom prst="rect">
            <a:avLst/>
          </a:prstGeom>
          <a:noFill/>
          <a:ln w="381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6583447" y="34464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6444204" y="3811271"/>
            <a:ext cx="719633" cy="360040"/>
          </a:xfrm>
          <a:prstGeom prst="rect">
            <a:avLst/>
          </a:prstGeom>
          <a:noFill/>
          <a:ln w="381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6583447" y="38066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7676971" y="2726698"/>
            <a:ext cx="719633" cy="360040"/>
          </a:xfrm>
          <a:prstGeom prst="rect">
            <a:avLst/>
          </a:prstGeom>
          <a:noFill/>
          <a:ln w="381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7816214" y="27220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93" name="矩形 92"/>
          <p:cNvSpPr/>
          <p:nvPr/>
        </p:nvSpPr>
        <p:spPr>
          <a:xfrm>
            <a:off x="7676970" y="3091384"/>
            <a:ext cx="719633" cy="360040"/>
          </a:xfrm>
          <a:prstGeom prst="rect">
            <a:avLst/>
          </a:prstGeom>
          <a:noFill/>
          <a:ln w="381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文本框 93"/>
          <p:cNvSpPr txBox="1"/>
          <p:nvPr/>
        </p:nvSpPr>
        <p:spPr>
          <a:xfrm>
            <a:off x="7816213" y="30867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96" name="矩形 95"/>
          <p:cNvSpPr/>
          <p:nvPr/>
        </p:nvSpPr>
        <p:spPr>
          <a:xfrm>
            <a:off x="7676969" y="3451062"/>
            <a:ext cx="719633" cy="360040"/>
          </a:xfrm>
          <a:prstGeom prst="rect">
            <a:avLst/>
          </a:prstGeom>
          <a:noFill/>
          <a:ln w="381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7816212" y="34464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98" name="矩形 97"/>
          <p:cNvSpPr/>
          <p:nvPr/>
        </p:nvSpPr>
        <p:spPr>
          <a:xfrm>
            <a:off x="7676969" y="3811271"/>
            <a:ext cx="719633" cy="360040"/>
          </a:xfrm>
          <a:prstGeom prst="rect">
            <a:avLst/>
          </a:prstGeom>
          <a:noFill/>
          <a:ln w="38100">
            <a:solidFill>
              <a:srgbClr val="C00000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Cuckoo hashing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Two tables &amp; Two hash functions (H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H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 key can only at T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[H</a:t>
            </a:r>
            <a:r>
              <a:rPr kumimoji="1" lang="en-US" altLang="zh-CN" baseline="-25000" dirty="0">
                <a:sym typeface="+mn-ea"/>
              </a:rPr>
              <a:t>1</a:t>
            </a:r>
            <a:r>
              <a:rPr kumimoji="1" lang="en-US" altLang="zh-CN" dirty="0"/>
              <a:t>(key)] or T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[H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(key)] </a:t>
            </a:r>
            <a:endParaRPr kumimoji="1" lang="en-US" altLang="zh-CN" dirty="0"/>
          </a:p>
          <a:p>
            <a:r>
              <a:rPr kumimoji="1" lang="en-US" altLang="zh-CN" b="1" dirty="0">
                <a:solidFill>
                  <a:srgbClr val="BE374B"/>
                </a:solidFill>
              </a:rPr>
              <a:t>Pros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Good for read: at most two 2 random I/O for get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BE374B"/>
                </a:solidFill>
              </a:rPr>
              <a:t>Cons</a:t>
            </a:r>
            <a:endParaRPr kumimoji="1" lang="en-US" altLang="zh-CN" dirty="0">
              <a:solidFill>
                <a:srgbClr val="BE374B"/>
              </a:solidFill>
            </a:endParaRPr>
          </a:p>
          <a:p>
            <a:pPr lvl="1"/>
            <a:r>
              <a:rPr kumimoji="1" lang="en-US" altLang="zh-CN" dirty="0"/>
              <a:t>Insertion is complex and can issue many random disk I/O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BE374B"/>
                </a:solidFill>
              </a:rPr>
              <a:t>Rehashing</a:t>
            </a:r>
            <a:r>
              <a:rPr kumimoji="1" lang="en-US" altLang="zh-CN" dirty="0"/>
              <a:t> is required if there are many insertions, which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extremely </a:t>
            </a:r>
            <a:r>
              <a:rPr kumimoji="1" lang="en-US" altLang="zh-CN" b="1" dirty="0">
                <a:solidFill>
                  <a:srgbClr val="BE374B"/>
                </a:solidFill>
              </a:rPr>
              <a:t>slow</a:t>
            </a:r>
            <a:endParaRPr kumimoji="1" lang="en-US" altLang="zh-CN" b="1" dirty="0">
              <a:solidFill>
                <a:srgbClr val="BE374B"/>
              </a:solidFill>
            </a:endParaRPr>
          </a:p>
          <a:p>
            <a:pPr lvl="2"/>
            <a:r>
              <a:rPr kumimoji="1" lang="en-US" altLang="zh-CN" dirty="0"/>
              <a:t>Expanding the table, and re-insert all the keys in the new 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(!)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384" y="384608"/>
            <a:ext cx="1765232" cy="228143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Selecting a proper index for KV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store is non-trivial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Not just choosing a data structure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Trade-offs</a:t>
            </a:r>
            <a:r>
              <a:rPr kumimoji="1" lang="en-US" altLang="zh-CN" b="0" dirty="0"/>
              <a:t> of selecting indexes </a:t>
            </a:r>
            <a:r>
              <a:rPr kumimoji="1" lang="zh-CN" altLang="en-US" b="0" dirty="0"/>
              <a:t>（</a:t>
            </a:r>
            <a:r>
              <a:rPr kumimoji="1" lang="en-GB" altLang="zh-CN" b="0" dirty="0"/>
              <a:t> The RUM Conjecture[1]</a:t>
            </a:r>
            <a:r>
              <a:rPr kumimoji="1" lang="zh-CN" altLang="en-US" b="0" dirty="0"/>
              <a:t>）</a:t>
            </a:r>
            <a:endParaRPr kumimoji="1" lang="en-US" altLang="zh-CN" b="0" dirty="0"/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Read</a:t>
            </a:r>
            <a:r>
              <a:rPr kumimoji="1" lang="en-US" altLang="zh-CN" b="0" dirty="0"/>
              <a:t> </a:t>
            </a:r>
            <a:r>
              <a:rPr kumimoji="1" lang="en-US" altLang="zh-CN" dirty="0"/>
              <a:t>performance</a:t>
            </a:r>
            <a:r>
              <a:rPr kumimoji="1" lang="en-US" altLang="zh-CN" b="0" dirty="0"/>
              <a:t> vs. </a:t>
            </a:r>
            <a:r>
              <a:rPr kumimoji="1" lang="en-US" altLang="zh-CN" b="1" dirty="0">
                <a:solidFill>
                  <a:srgbClr val="C00000"/>
                </a:solidFill>
              </a:rPr>
              <a:t>update</a:t>
            </a:r>
            <a:r>
              <a:rPr kumimoji="1" lang="en-US" altLang="zh-CN" dirty="0"/>
              <a:t> performance </a:t>
            </a:r>
            <a:endParaRPr kumimoji="1" lang="en-US" altLang="zh-CN" dirty="0"/>
          </a:p>
          <a:p>
            <a:pPr lvl="2"/>
            <a:r>
              <a:rPr kumimoji="1" lang="en-US" altLang="zh-CN" b="0" dirty="0"/>
              <a:t>An index needs</a:t>
            </a:r>
            <a:r>
              <a:rPr kumimoji="1" lang="en-US" altLang="zh-CN" dirty="0"/>
              <a:t> to be updated upon inserts/deletions </a:t>
            </a:r>
            <a:endParaRPr kumimoji="1" lang="en-US" altLang="zh-CN" dirty="0"/>
          </a:p>
          <a:p>
            <a:pPr lvl="1"/>
            <a:r>
              <a:rPr kumimoji="1" lang="en-US" altLang="zh-CN" b="0" dirty="0"/>
              <a:t>Whether index </a:t>
            </a:r>
            <a:r>
              <a:rPr kumimoji="1" lang="en-US" altLang="zh-CN" b="1" dirty="0">
                <a:solidFill>
                  <a:srgbClr val="C00000"/>
                </a:solidFill>
              </a:rPr>
              <a:t>is friendly to </a:t>
            </a:r>
            <a:r>
              <a:rPr kumimoji="1" lang="en-US" altLang="zh-CN" b="0" dirty="0"/>
              <a:t>the storage? </a:t>
            </a:r>
            <a:endParaRPr kumimoji="1" lang="en-US" altLang="zh-CN" b="0" dirty="0"/>
          </a:p>
          <a:p>
            <a:pPr lvl="2"/>
            <a:r>
              <a:rPr kumimoji="1" lang="en-US" altLang="zh-CN" dirty="0"/>
              <a:t>E.g., random vs. sequential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Others (e.g., storage overhead)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-9386" y="5335557"/>
            <a:ext cx="70567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600" dirty="0"/>
              <a:t>Designing Access Methods: The RUM Conjecture, EDBT’16</a:t>
            </a:r>
            <a:endParaRPr lang="en-GB" altLang="zh-CN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Issues of using hash index &amp; log file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Naïve in-memory hash index has a limited capacity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Can put it on the disk, but needs to carefully redesign the hash scheme or carefully select an appropriate hash scheme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>
                <a:solidFill>
                  <a:schemeClr val="accent6"/>
                </a:solidFill>
              </a:rPr>
              <a:t>Log file is growing forever -&gt; running out of disk space</a:t>
            </a:r>
            <a:endParaRPr kumimoji="1" lang="en-US" altLang="zh-CN" dirty="0">
              <a:solidFill>
                <a:schemeClr val="accent6"/>
              </a:solidFill>
            </a:endParaRPr>
          </a:p>
          <a:p>
            <a:r>
              <a:rPr kumimoji="1" lang="en-US" altLang="zh-CN" dirty="0">
                <a:solidFill>
                  <a:schemeClr val="accent6"/>
                </a:solidFill>
              </a:rPr>
              <a:t>Lack range query support </a:t>
            </a:r>
            <a:endParaRPr kumimoji="1" lang="en-US" altLang="zh-CN" dirty="0">
              <a:solidFill>
                <a:schemeClr val="accent6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accent6"/>
                </a:solidFill>
              </a:rPr>
              <a:t>E.g., </a:t>
            </a:r>
            <a:r>
              <a:rPr lang="en-US" altLang="zh-CN" dirty="0">
                <a:solidFill>
                  <a:schemeClr val="accent6"/>
                </a:solidFill>
              </a:rPr>
              <a:t>scan over all keys between kitty00000 &amp; kitty99999 </a:t>
            </a:r>
            <a:endParaRPr lang="en-US" altLang="zh-CN" dirty="0">
              <a:solidFill>
                <a:schemeClr val="accent6"/>
              </a:solidFill>
            </a:endParaRPr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Issues of using hash index &amp; log file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accent6"/>
                </a:solidFill>
              </a:rPr>
              <a:t>Naïve in-memory hash index has a limited capacity </a:t>
            </a:r>
            <a:endParaRPr kumimoji="1" lang="en-US" altLang="zh-CN" dirty="0">
              <a:solidFill>
                <a:schemeClr val="accent6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accent6"/>
                </a:solidFill>
              </a:rPr>
              <a:t>Can put it on the disk, but needs to carefully redesign the hash scheme or carefully select an appropriate hash scheme </a:t>
            </a:r>
            <a:endParaRPr kumimoji="1" lang="en-US" altLang="zh-CN" dirty="0">
              <a:solidFill>
                <a:schemeClr val="accent6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Log file is growing forever -&gt; running out of disk space</a:t>
            </a:r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en-US" altLang="zh-CN" dirty="0">
                <a:solidFill>
                  <a:schemeClr val="accent6"/>
                </a:solidFill>
              </a:rPr>
              <a:t>Lack range query support </a:t>
            </a:r>
            <a:endParaRPr kumimoji="1" lang="en-US" altLang="zh-CN" dirty="0">
              <a:solidFill>
                <a:schemeClr val="accent6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accent6"/>
                </a:solidFill>
              </a:rPr>
              <a:t>E.g., </a:t>
            </a:r>
            <a:r>
              <a:rPr lang="en-US" altLang="zh-CN" dirty="0">
                <a:solidFill>
                  <a:schemeClr val="accent6"/>
                </a:solidFill>
              </a:rPr>
              <a:t>scan over all keys between kitty00000 &amp; kitty99999 </a:t>
            </a:r>
            <a:endParaRPr lang="en-US" altLang="zh-CN" dirty="0">
              <a:solidFill>
                <a:schemeClr val="accent6"/>
              </a:solidFill>
            </a:endParaRPr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prevent a file from growing forever?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Log-structured design makes updates fast </a:t>
            </a:r>
            <a:endParaRPr kumimoji="1" lang="en-US" altLang="zh-CN" dirty="0"/>
          </a:p>
          <a:p>
            <a:pPr lvl="1"/>
            <a:r>
              <a:rPr kumimoji="1" lang="en-US" altLang="zh-CN" b="0" dirty="0"/>
              <a:t> Only append to the file </a:t>
            </a:r>
            <a:endParaRPr kumimoji="1" lang="en-US" altLang="zh-CN" b="0" dirty="0"/>
          </a:p>
          <a:p>
            <a:r>
              <a:rPr kumimoji="1" lang="en-US" altLang="zh-CN" dirty="0"/>
              <a:t>However, we will eventually </a:t>
            </a:r>
            <a:r>
              <a:rPr kumimoji="1" lang="en-US" altLang="zh-CN" dirty="0">
                <a:solidFill>
                  <a:srgbClr val="BE374B"/>
                </a:solidFill>
              </a:rPr>
              <a:t>run out of disk space </a:t>
            </a:r>
            <a:endParaRPr kumimoji="1" lang="en-US" altLang="zh-CN" dirty="0">
              <a:solidFill>
                <a:srgbClr val="BE374B"/>
              </a:solidFill>
            </a:endParaRPr>
          </a:p>
          <a:p>
            <a:pPr lvl="1"/>
            <a:r>
              <a:rPr kumimoji="1" lang="en-US" altLang="zh-CN" dirty="0"/>
              <a:t>Since many </a:t>
            </a:r>
            <a:r>
              <a:rPr kumimoji="1" lang="en-US" altLang="zh-CN" b="1" dirty="0">
                <a:solidFill>
                  <a:srgbClr val="BE374B"/>
                </a:solidFill>
              </a:rPr>
              <a:t>duplicate records </a:t>
            </a:r>
            <a:r>
              <a:rPr kumimoji="1" lang="en-US" altLang="zh-CN" dirty="0"/>
              <a:t>in the log file, we should have space to store more records </a:t>
            </a:r>
            <a:endParaRPr kumimoji="1" lang="en-US" altLang="zh-CN" dirty="0"/>
          </a:p>
          <a:p>
            <a:pPr lvl="1"/>
            <a:r>
              <a:rPr kumimoji="1" lang="en-US" altLang="zh-CN" b="0" dirty="0"/>
              <a:t>A </a:t>
            </a:r>
            <a:r>
              <a:rPr kumimoji="1" lang="en-US" altLang="zh-CN" dirty="0"/>
              <a:t>deleted value is also left on the file </a:t>
            </a:r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prevent a file from growing forever?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Solution</a:t>
            </a:r>
            <a:r>
              <a:rPr kumimoji="1" lang="en-US" altLang="zh-CN" b="0" dirty="0"/>
              <a:t>: compaction 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Scan the whole file, delete duplicate records and write to a new file 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rgbClr val="C00000"/>
                </a:solidFill>
              </a:rPr>
              <a:t>Question</a:t>
            </a:r>
            <a:r>
              <a:rPr kumimoji="1" lang="en-US" altLang="zh-CN" b="0" dirty="0"/>
              <a:t>: what if the file is too large? </a:t>
            </a:r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表格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809925"/>
            <a:ext cx="6948264" cy="263917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123728" y="2857500"/>
            <a:ext cx="792088" cy="28803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411760" y="4513684"/>
            <a:ext cx="792088" cy="23986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prevent a file from growing forever?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Solution</a:t>
            </a:r>
            <a:r>
              <a:rPr kumimoji="1" lang="en-US" altLang="zh-CN" b="0" dirty="0"/>
              <a:t>: compaction with </a:t>
            </a:r>
            <a:r>
              <a:rPr kumimoji="1" lang="en-US" altLang="zh-CN" dirty="0">
                <a:solidFill>
                  <a:srgbClr val="C00000"/>
                </a:solidFill>
              </a:rPr>
              <a:t>segmentation</a:t>
            </a:r>
            <a:endParaRPr kumimoji="1" lang="en-US" altLang="zh-CN" b="0" dirty="0"/>
          </a:p>
          <a:p>
            <a:pPr lvl="1"/>
            <a:r>
              <a:rPr kumimoji="1" lang="en-US" altLang="zh-CN" b="0" dirty="0"/>
              <a:t>Break a file into </a:t>
            </a:r>
            <a:r>
              <a:rPr kumimoji="1" lang="en-US" altLang="zh-CN" b="1" dirty="0">
                <a:solidFill>
                  <a:srgbClr val="C00000"/>
                </a:solidFill>
              </a:rPr>
              <a:t>fixed-sized</a:t>
            </a:r>
            <a:r>
              <a:rPr kumimoji="1" lang="en-US" altLang="zh-CN" b="0" dirty="0"/>
              <a:t> segments 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If a segment is full, then create a new file for insertions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Can control the compaction </a:t>
            </a:r>
            <a:r>
              <a:rPr lang="en-GB" altLang="zh-CN" b="1" dirty="0">
                <a:solidFill>
                  <a:srgbClr val="C00000"/>
                </a:solidFill>
              </a:rPr>
              <a:t>granularity</a:t>
            </a:r>
            <a:r>
              <a:rPr lang="en-GB" altLang="zh-CN" dirty="0"/>
              <a:t> with the segment size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表格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809925"/>
            <a:ext cx="6948264" cy="263917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prevent a file from growing forever?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Solution</a:t>
            </a:r>
            <a:r>
              <a:rPr kumimoji="1" lang="en-US" altLang="zh-CN" b="0" dirty="0"/>
              <a:t>: compaction with </a:t>
            </a:r>
            <a:r>
              <a:rPr kumimoji="1" lang="en-US" altLang="zh-CN" dirty="0">
                <a:solidFill>
                  <a:srgbClr val="C00000"/>
                </a:solidFill>
              </a:rPr>
              <a:t>segmentation + Merge</a:t>
            </a:r>
            <a:endParaRPr kumimoji="1" lang="en-US" altLang="zh-CN" b="0" dirty="0"/>
          </a:p>
          <a:p>
            <a:pPr lvl="1"/>
            <a:r>
              <a:rPr kumimoji="1" lang="en-US" altLang="zh-CN" b="1" dirty="0">
                <a:solidFill>
                  <a:srgbClr val="BE374B"/>
                </a:solidFill>
              </a:rPr>
              <a:t>Compact</a:t>
            </a:r>
            <a:r>
              <a:rPr kumimoji="1" lang="en-US" altLang="zh-CN" dirty="0"/>
              <a:t>: remove duplicated records in a segmented file  </a:t>
            </a:r>
            <a:endParaRPr kumimoji="1" lang="zh-CN" altLang="en-US" dirty="0"/>
          </a:p>
          <a:p>
            <a:pPr lvl="1"/>
            <a:r>
              <a:rPr kumimoji="1" lang="en-US" altLang="zh-CN" b="1" dirty="0">
                <a:solidFill>
                  <a:srgbClr val="BE374B"/>
                </a:solidFill>
              </a:rPr>
              <a:t>Merge</a:t>
            </a:r>
            <a:r>
              <a:rPr kumimoji="1" lang="en-US" altLang="zh-CN" dirty="0"/>
              <a:t>: merge two compacted segments into a new one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Why? Because compaction makes the segment smaller 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表格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670691"/>
            <a:ext cx="5904656" cy="305531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Recall: how to handle delete() for log-structed file?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dirty="0"/>
              <a:t>Append a NULL entry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en-US" altLang="zh-CN" dirty="0"/>
              <a:t>Garbage-collected during compaction!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表格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459781"/>
            <a:ext cx="6948264" cy="263917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563888" y="2889650"/>
            <a:ext cx="1008112" cy="25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510948" y="2889650"/>
            <a:ext cx="46614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200" b="1" dirty="0" err="1">
                <a:solidFill>
                  <a:srgbClr val="C00000"/>
                </a:solidFill>
              </a:rPr>
              <a:t>xxxx</a:t>
            </a:r>
            <a:r>
              <a:rPr kumimoji="1" lang="en-US" altLang="zh-CN" sz="1200" b="1" dirty="0">
                <a:solidFill>
                  <a:srgbClr val="C00000"/>
                </a:solidFill>
              </a:rPr>
              <a:t>: null</a:t>
            </a:r>
            <a:endParaRPr lang="zh-CN" altLang="en-US" sz="1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Issues of using hash index &amp; segmented log file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accent6"/>
                </a:solidFill>
              </a:rPr>
              <a:t>Naïve in-memory hash index has a limited capacity </a:t>
            </a:r>
            <a:endParaRPr kumimoji="1" lang="en-US" altLang="zh-CN" dirty="0">
              <a:solidFill>
                <a:schemeClr val="accent6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accent6"/>
                </a:solidFill>
              </a:rPr>
              <a:t>Can put it on the disk, but needs to carefully redesign the hash scheme or carefully select an appropriate hash scheme </a:t>
            </a:r>
            <a:endParaRPr kumimoji="1" lang="en-US" altLang="zh-CN" dirty="0">
              <a:solidFill>
                <a:schemeClr val="accent6"/>
              </a:solidFill>
            </a:endParaRPr>
          </a:p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Log file is growing forever -&gt; running out of disk space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Lack range query support 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E.g., </a:t>
            </a:r>
            <a:r>
              <a:rPr lang="en-US" altLang="zh-CN" dirty="0">
                <a:solidFill>
                  <a:schemeClr val="tx1"/>
                </a:solidFill>
              </a:rPr>
              <a:t>scan over all keys between kitty00000 &amp; kitty99999 </a:t>
            </a:r>
            <a:endParaRPr lang="en-US" altLang="zh-CN" dirty="0">
              <a:solidFill>
                <a:schemeClr val="tx1"/>
              </a:solidFill>
            </a:endParaRPr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B-Tree (</a:t>
            </a:r>
            <a:r>
              <a:rPr kumimoji="1" lang="en-US" altLang="zh-CN" dirty="0" err="1"/>
              <a:t>B+Tree</a:t>
            </a:r>
            <a:r>
              <a:rPr kumimoji="1" lang="en-US" altLang="zh-CN" dirty="0"/>
              <a:t>) indexes: a form of ordered index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Introduced in 1970, the </a:t>
            </a:r>
            <a:r>
              <a:rPr lang="en-GB" altLang="zh-CN" dirty="0"/>
              <a:t>“ubiquitous” </a:t>
            </a:r>
            <a:r>
              <a:rPr kumimoji="1" lang="en-US" altLang="zh-CN" dirty="0"/>
              <a:t> index 10 years later for disk data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Standard data structures of many databases and key-value stores</a:t>
            </a:r>
            <a:endParaRPr lang="en-GB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060278" y="2200306"/>
            <a:ext cx="5166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i="1" dirty="0"/>
              <a:t>“It could be said that the world’s information is at our fingertips because of B-trees” </a:t>
            </a:r>
            <a:endParaRPr lang="en-GB" altLang="zh-CN" i="1" dirty="0">
              <a:effectLst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370" y="3280832"/>
            <a:ext cx="1998830" cy="204651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267200" y="4011149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altLang="zh-CN" sz="1400" dirty="0"/>
              <a:t>Goetz </a:t>
            </a:r>
            <a:r>
              <a:rPr lang="en-GB" altLang="zh-CN" sz="1400" dirty="0" err="1"/>
              <a:t>Graefe</a:t>
            </a:r>
            <a:r>
              <a:rPr lang="en-GB" altLang="zh-CN" sz="1400" dirty="0"/>
              <a:t> Microsoft, HP Fellow, now Google </a:t>
            </a:r>
            <a:endParaRPr lang="en-GB" altLang="zh-CN" sz="1400" dirty="0"/>
          </a:p>
          <a:p>
            <a:r>
              <a:rPr lang="en-GB" altLang="zh-CN" sz="1400" dirty="0"/>
              <a:t>ACM Software System Award </a:t>
            </a:r>
            <a:endParaRPr lang="en-GB" altLang="zh-CN" sz="1400" dirty="0">
              <a:effectLst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indexes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A B-tree is a tree-like data structure </a:t>
            </a:r>
            <a:r>
              <a:rPr lang="en-US" altLang="zh-CN" dirty="0"/>
              <a:t>(one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few</a:t>
            </a:r>
            <a:r>
              <a:rPr lang="zh-CN" altLang="en-US" dirty="0"/>
              <a:t> </a:t>
            </a:r>
            <a:r>
              <a:rPr lang="en-US" altLang="zh-CN" dirty="0"/>
              <a:t>files)</a:t>
            </a:r>
            <a:endParaRPr lang="en-GB" altLang="zh-CN" dirty="0"/>
          </a:p>
          <a:p>
            <a:pPr lvl="1"/>
            <a:r>
              <a:rPr kumimoji="1" lang="en-GB" altLang="zh-CN" dirty="0"/>
              <a:t>Each node is </a:t>
            </a:r>
            <a:r>
              <a:rPr kumimoji="1" lang="en-GB" altLang="zh-CN" b="1" dirty="0">
                <a:solidFill>
                  <a:srgbClr val="BE374B"/>
                </a:solidFill>
              </a:rPr>
              <a:t>fixed-sized</a:t>
            </a:r>
            <a:r>
              <a:rPr kumimoji="1" lang="en-GB" altLang="zh-CN" dirty="0"/>
              <a:t>, can store multiple keys, and keys are </a:t>
            </a:r>
            <a:r>
              <a:rPr kumimoji="1" lang="en-GB" altLang="zh-CN" b="1" dirty="0">
                <a:solidFill>
                  <a:srgbClr val="C00000"/>
                </a:solidFill>
              </a:rPr>
              <a:t>sorted</a:t>
            </a:r>
            <a:endParaRPr lang="en-GB" altLang="zh-CN" b="1" dirty="0"/>
          </a:p>
          <a:p>
            <a:pPr lvl="1"/>
            <a:r>
              <a:rPr lang="en-GB" altLang="zh-CN" dirty="0"/>
              <a:t>Support </a:t>
            </a:r>
            <a:r>
              <a:rPr lang="en-GB" altLang="zh-CN" b="1" dirty="0">
                <a:solidFill>
                  <a:srgbClr val="BE374B"/>
                </a:solidFill>
              </a:rPr>
              <a:t>efficient</a:t>
            </a:r>
            <a:r>
              <a:rPr lang="en-GB" altLang="zh-CN" dirty="0"/>
              <a:t> </a:t>
            </a:r>
            <a:r>
              <a:rPr lang="en-GB" altLang="zh-CN" b="1" dirty="0">
                <a:solidFill>
                  <a:srgbClr val="C00000"/>
                </a:solidFill>
              </a:rPr>
              <a:t>range</a:t>
            </a:r>
            <a:r>
              <a:rPr lang="en-GB" altLang="zh-CN" dirty="0"/>
              <a:t> operations (e.g., Scan)</a:t>
            </a:r>
            <a:endParaRPr lang="en-GB" altLang="zh-CN" b="0" dirty="0"/>
          </a:p>
          <a:p>
            <a:pPr lvl="1"/>
            <a:r>
              <a:rPr kumimoji="1" lang="en-GB" altLang="zh-CN" dirty="0"/>
              <a:t>Optimized for </a:t>
            </a:r>
            <a:r>
              <a:rPr kumimoji="1" lang="en-GB" altLang="zh-CN" b="1" dirty="0">
                <a:solidFill>
                  <a:srgbClr val="C00000"/>
                </a:solidFill>
              </a:rPr>
              <a:t>large</a:t>
            </a:r>
            <a:r>
              <a:rPr kumimoji="1" lang="en-GB" altLang="zh-CN" dirty="0"/>
              <a:t> read/write blocks of data </a:t>
            </a:r>
            <a:endParaRPr kumimoji="1" lang="en-GB" altLang="zh-CN" dirty="0"/>
          </a:p>
          <a:p>
            <a:r>
              <a:rPr kumimoji="1" lang="en-GB" altLang="zh-CN" dirty="0"/>
              <a:t>Many variants exist, e.g., </a:t>
            </a:r>
            <a:r>
              <a:rPr kumimoji="1" lang="en-GB" altLang="zh-CN" dirty="0" err="1"/>
              <a:t>B+Tree</a:t>
            </a:r>
            <a:r>
              <a:rPr kumimoji="1" lang="en-GB" altLang="zh-CN" dirty="0"/>
              <a:t> </a:t>
            </a:r>
            <a:endParaRPr kumimoji="1" lang="en-GB" altLang="zh-CN" dirty="0"/>
          </a:p>
          <a:p>
            <a:pPr lvl="1"/>
            <a:r>
              <a:rPr kumimoji="1" lang="en-GB" altLang="zh-CN" dirty="0"/>
              <a:t>All the leaf nodes of the B-tree must be at the same level</a:t>
            </a:r>
            <a:endParaRPr kumimoji="1" lang="en-GB" altLang="zh-CN" dirty="0"/>
          </a:p>
          <a:p>
            <a:pPr lvl="2"/>
            <a:r>
              <a:rPr kumimoji="1" lang="en-GB" altLang="zh-CN" dirty="0"/>
              <a:t>Simper to link lea</a:t>
            </a:r>
            <a:r>
              <a:rPr kumimoji="1" lang="en-US" altLang="zh-CN" dirty="0"/>
              <a:t>f</a:t>
            </a:r>
            <a:r>
              <a:rPr kumimoji="1" lang="en-GB" altLang="zh-CN" dirty="0"/>
              <a:t> nodes to support range queries </a:t>
            </a:r>
            <a:endParaRPr kumimoji="1" lang="en-GB" altLang="zh-CN" dirty="0"/>
          </a:p>
          <a:p>
            <a:pPr lvl="1"/>
            <a:endParaRPr kumimoji="1" lang="en-GB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indexes example (fanout = 5)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45"/>
          <p:cNvSpPr>
            <a:spLocks noChangeArrowheads="1"/>
          </p:cNvSpPr>
          <p:nvPr/>
        </p:nvSpPr>
        <p:spPr bwMode="auto">
          <a:xfrm>
            <a:off x="9906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47"/>
          <p:cNvSpPr>
            <a:spLocks noChangeArrowheads="1"/>
          </p:cNvSpPr>
          <p:nvPr/>
        </p:nvSpPr>
        <p:spPr bwMode="auto">
          <a:xfrm>
            <a:off x="12192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48"/>
          <p:cNvSpPr>
            <a:spLocks noChangeArrowheads="1"/>
          </p:cNvSpPr>
          <p:nvPr/>
        </p:nvSpPr>
        <p:spPr bwMode="auto">
          <a:xfrm>
            <a:off x="19050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Rectangle 50"/>
          <p:cNvSpPr>
            <a:spLocks noChangeArrowheads="1"/>
          </p:cNvSpPr>
          <p:nvPr/>
        </p:nvSpPr>
        <p:spPr bwMode="auto">
          <a:xfrm>
            <a:off x="24384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Line 53"/>
          <p:cNvSpPr>
            <a:spLocks noChangeShapeType="1"/>
          </p:cNvSpPr>
          <p:nvPr/>
        </p:nvSpPr>
        <p:spPr bwMode="auto">
          <a:xfrm>
            <a:off x="1219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55"/>
          <p:cNvSpPr>
            <a:spLocks noChangeShapeType="1"/>
          </p:cNvSpPr>
          <p:nvPr/>
        </p:nvSpPr>
        <p:spPr bwMode="auto">
          <a:xfrm>
            <a:off x="1600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56"/>
          <p:cNvSpPr>
            <a:spLocks noChangeShapeType="1"/>
          </p:cNvSpPr>
          <p:nvPr/>
        </p:nvSpPr>
        <p:spPr bwMode="auto">
          <a:xfrm>
            <a:off x="182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57"/>
          <p:cNvSpPr>
            <a:spLocks noChangeShapeType="1"/>
          </p:cNvSpPr>
          <p:nvPr/>
        </p:nvSpPr>
        <p:spPr bwMode="auto">
          <a:xfrm>
            <a:off x="2209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59"/>
          <p:cNvSpPr>
            <a:spLocks noChangeShapeType="1"/>
          </p:cNvSpPr>
          <p:nvPr/>
        </p:nvSpPr>
        <p:spPr bwMode="auto">
          <a:xfrm>
            <a:off x="2819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60"/>
          <p:cNvSpPr>
            <a:spLocks noChangeShapeType="1"/>
          </p:cNvSpPr>
          <p:nvPr/>
        </p:nvSpPr>
        <p:spPr bwMode="auto">
          <a:xfrm>
            <a:off x="304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61"/>
          <p:cNvSpPr>
            <a:spLocks noChangeShapeType="1"/>
          </p:cNvSpPr>
          <p:nvPr/>
        </p:nvSpPr>
        <p:spPr bwMode="auto">
          <a:xfrm>
            <a:off x="3429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65"/>
          <p:cNvSpPr>
            <a:spLocks noChangeShapeType="1"/>
          </p:cNvSpPr>
          <p:nvPr/>
        </p:nvSpPr>
        <p:spPr bwMode="auto">
          <a:xfrm>
            <a:off x="243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66"/>
          <p:cNvSpPr>
            <a:spLocks noChangeArrowheads="1"/>
          </p:cNvSpPr>
          <p:nvPr/>
        </p:nvSpPr>
        <p:spPr bwMode="auto">
          <a:xfrm>
            <a:off x="2895600" y="16002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67"/>
          <p:cNvSpPr>
            <a:spLocks noChangeArrowheads="1"/>
          </p:cNvSpPr>
          <p:nvPr/>
        </p:nvSpPr>
        <p:spPr bwMode="auto">
          <a:xfrm>
            <a:off x="3124200" y="17526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Line 71"/>
          <p:cNvSpPr>
            <a:spLocks noChangeShapeType="1"/>
          </p:cNvSpPr>
          <p:nvPr/>
        </p:nvSpPr>
        <p:spPr bwMode="auto">
          <a:xfrm>
            <a:off x="3124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72"/>
          <p:cNvSpPr>
            <a:spLocks noChangeShapeType="1"/>
          </p:cNvSpPr>
          <p:nvPr/>
        </p:nvSpPr>
        <p:spPr bwMode="auto">
          <a:xfrm>
            <a:off x="3505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73"/>
          <p:cNvSpPr>
            <a:spLocks noChangeShapeType="1"/>
          </p:cNvSpPr>
          <p:nvPr/>
        </p:nvSpPr>
        <p:spPr bwMode="auto">
          <a:xfrm>
            <a:off x="3733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74"/>
          <p:cNvSpPr>
            <a:spLocks noChangeShapeType="1"/>
          </p:cNvSpPr>
          <p:nvPr/>
        </p:nvSpPr>
        <p:spPr bwMode="auto">
          <a:xfrm>
            <a:off x="4114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5"/>
          <p:cNvSpPr>
            <a:spLocks noChangeShapeType="1"/>
          </p:cNvSpPr>
          <p:nvPr/>
        </p:nvSpPr>
        <p:spPr bwMode="auto">
          <a:xfrm>
            <a:off x="4724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76"/>
          <p:cNvSpPr>
            <a:spLocks noChangeShapeType="1"/>
          </p:cNvSpPr>
          <p:nvPr/>
        </p:nvSpPr>
        <p:spPr bwMode="auto">
          <a:xfrm>
            <a:off x="4953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77"/>
          <p:cNvSpPr>
            <a:spLocks noChangeShapeType="1"/>
          </p:cNvSpPr>
          <p:nvPr/>
        </p:nvSpPr>
        <p:spPr bwMode="auto">
          <a:xfrm>
            <a:off x="5334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78"/>
          <p:cNvSpPr>
            <a:spLocks noChangeShapeType="1"/>
          </p:cNvSpPr>
          <p:nvPr/>
        </p:nvSpPr>
        <p:spPr bwMode="auto">
          <a:xfrm>
            <a:off x="4343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utoShape 79"/>
          <p:cNvSpPr>
            <a:spLocks noChangeArrowheads="1"/>
          </p:cNvSpPr>
          <p:nvPr/>
        </p:nvSpPr>
        <p:spPr bwMode="auto">
          <a:xfrm>
            <a:off x="50292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Rectangle 80"/>
          <p:cNvSpPr>
            <a:spLocks noChangeArrowheads="1"/>
          </p:cNvSpPr>
          <p:nvPr/>
        </p:nvSpPr>
        <p:spPr bwMode="auto">
          <a:xfrm>
            <a:off x="52578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Rectangle 81"/>
          <p:cNvSpPr>
            <a:spLocks noChangeArrowheads="1"/>
          </p:cNvSpPr>
          <p:nvPr/>
        </p:nvSpPr>
        <p:spPr bwMode="auto">
          <a:xfrm>
            <a:off x="57912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Line 84"/>
          <p:cNvSpPr>
            <a:spLocks noChangeShapeType="1"/>
          </p:cNvSpPr>
          <p:nvPr/>
        </p:nvSpPr>
        <p:spPr bwMode="auto">
          <a:xfrm>
            <a:off x="5257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85"/>
          <p:cNvSpPr>
            <a:spLocks noChangeShapeType="1"/>
          </p:cNvSpPr>
          <p:nvPr/>
        </p:nvSpPr>
        <p:spPr bwMode="auto">
          <a:xfrm>
            <a:off x="563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6"/>
          <p:cNvSpPr>
            <a:spLocks noChangeShapeType="1"/>
          </p:cNvSpPr>
          <p:nvPr/>
        </p:nvSpPr>
        <p:spPr bwMode="auto">
          <a:xfrm>
            <a:off x="5867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87"/>
          <p:cNvSpPr>
            <a:spLocks noChangeShapeType="1"/>
          </p:cNvSpPr>
          <p:nvPr/>
        </p:nvSpPr>
        <p:spPr bwMode="auto">
          <a:xfrm>
            <a:off x="624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88"/>
          <p:cNvSpPr>
            <a:spLocks noChangeShapeType="1"/>
          </p:cNvSpPr>
          <p:nvPr/>
        </p:nvSpPr>
        <p:spPr bwMode="auto">
          <a:xfrm>
            <a:off x="685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89"/>
          <p:cNvSpPr>
            <a:spLocks noChangeShapeType="1"/>
          </p:cNvSpPr>
          <p:nvPr/>
        </p:nvSpPr>
        <p:spPr bwMode="auto">
          <a:xfrm>
            <a:off x="7086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90"/>
          <p:cNvSpPr>
            <a:spLocks noChangeShapeType="1"/>
          </p:cNvSpPr>
          <p:nvPr/>
        </p:nvSpPr>
        <p:spPr bwMode="auto">
          <a:xfrm>
            <a:off x="7467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91"/>
          <p:cNvSpPr>
            <a:spLocks noChangeShapeType="1"/>
          </p:cNvSpPr>
          <p:nvPr/>
        </p:nvSpPr>
        <p:spPr bwMode="auto">
          <a:xfrm>
            <a:off x="6477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Oval 99"/>
          <p:cNvSpPr>
            <a:spLocks noChangeArrowheads="1"/>
          </p:cNvSpPr>
          <p:nvPr/>
        </p:nvSpPr>
        <p:spPr bwMode="auto">
          <a:xfrm>
            <a:off x="1600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00"/>
          <p:cNvSpPr>
            <a:spLocks noChangeShapeType="1"/>
          </p:cNvSpPr>
          <p:nvPr/>
        </p:nvSpPr>
        <p:spPr bwMode="auto">
          <a:xfrm>
            <a:off x="1676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Rectangle 101"/>
          <p:cNvSpPr>
            <a:spLocks noChangeArrowheads="1"/>
          </p:cNvSpPr>
          <p:nvPr/>
        </p:nvSpPr>
        <p:spPr bwMode="auto">
          <a:xfrm>
            <a:off x="16002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Oval 102"/>
          <p:cNvSpPr>
            <a:spLocks noChangeArrowheads="1"/>
          </p:cNvSpPr>
          <p:nvPr/>
        </p:nvSpPr>
        <p:spPr bwMode="auto">
          <a:xfrm>
            <a:off x="2286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103"/>
          <p:cNvSpPr>
            <a:spLocks noChangeShapeType="1"/>
          </p:cNvSpPr>
          <p:nvPr/>
        </p:nvSpPr>
        <p:spPr bwMode="auto">
          <a:xfrm>
            <a:off x="2362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104"/>
          <p:cNvSpPr>
            <a:spLocks noChangeArrowheads="1"/>
          </p:cNvSpPr>
          <p:nvPr/>
        </p:nvSpPr>
        <p:spPr bwMode="auto">
          <a:xfrm>
            <a:off x="2286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Oval 105"/>
          <p:cNvSpPr>
            <a:spLocks noChangeArrowheads="1"/>
          </p:cNvSpPr>
          <p:nvPr/>
        </p:nvSpPr>
        <p:spPr bwMode="auto">
          <a:xfrm>
            <a:off x="2895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106"/>
          <p:cNvSpPr>
            <a:spLocks noChangeShapeType="1"/>
          </p:cNvSpPr>
          <p:nvPr/>
        </p:nvSpPr>
        <p:spPr bwMode="auto">
          <a:xfrm>
            <a:off x="2971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Rectangle 107"/>
          <p:cNvSpPr>
            <a:spLocks noChangeArrowheads="1"/>
          </p:cNvSpPr>
          <p:nvPr/>
        </p:nvSpPr>
        <p:spPr bwMode="auto">
          <a:xfrm>
            <a:off x="2895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Oval 111"/>
          <p:cNvSpPr>
            <a:spLocks noChangeArrowheads="1"/>
          </p:cNvSpPr>
          <p:nvPr/>
        </p:nvSpPr>
        <p:spPr bwMode="auto">
          <a:xfrm>
            <a:off x="5715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12"/>
          <p:cNvSpPr>
            <a:spLocks noChangeShapeType="1"/>
          </p:cNvSpPr>
          <p:nvPr/>
        </p:nvSpPr>
        <p:spPr bwMode="auto">
          <a:xfrm>
            <a:off x="5791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Rectangle 113"/>
          <p:cNvSpPr>
            <a:spLocks noChangeArrowheads="1"/>
          </p:cNvSpPr>
          <p:nvPr/>
        </p:nvSpPr>
        <p:spPr bwMode="auto">
          <a:xfrm>
            <a:off x="5715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Oval 114"/>
          <p:cNvSpPr>
            <a:spLocks noChangeArrowheads="1"/>
          </p:cNvSpPr>
          <p:nvPr/>
        </p:nvSpPr>
        <p:spPr bwMode="auto">
          <a:xfrm>
            <a:off x="6324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115"/>
          <p:cNvSpPr>
            <a:spLocks noChangeShapeType="1"/>
          </p:cNvSpPr>
          <p:nvPr/>
        </p:nvSpPr>
        <p:spPr bwMode="auto">
          <a:xfrm>
            <a:off x="6400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Rectangle 116"/>
          <p:cNvSpPr>
            <a:spLocks noChangeArrowheads="1"/>
          </p:cNvSpPr>
          <p:nvPr/>
        </p:nvSpPr>
        <p:spPr bwMode="auto">
          <a:xfrm>
            <a:off x="6324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Oval 117"/>
          <p:cNvSpPr>
            <a:spLocks noChangeArrowheads="1"/>
          </p:cNvSpPr>
          <p:nvPr/>
        </p:nvSpPr>
        <p:spPr bwMode="auto">
          <a:xfrm>
            <a:off x="35814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118"/>
          <p:cNvSpPr>
            <a:spLocks noChangeShapeType="1"/>
          </p:cNvSpPr>
          <p:nvPr/>
        </p:nvSpPr>
        <p:spPr bwMode="auto">
          <a:xfrm>
            <a:off x="3657600" y="1981200"/>
            <a:ext cx="2438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Oval 120"/>
          <p:cNvSpPr>
            <a:spLocks noChangeArrowheads="1"/>
          </p:cNvSpPr>
          <p:nvPr/>
        </p:nvSpPr>
        <p:spPr bwMode="auto">
          <a:xfrm>
            <a:off x="29718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121"/>
          <p:cNvSpPr>
            <a:spLocks noChangeShapeType="1"/>
          </p:cNvSpPr>
          <p:nvPr/>
        </p:nvSpPr>
        <p:spPr bwMode="auto">
          <a:xfrm flipH="1">
            <a:off x="2286000" y="1981200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indexes example: Get(2)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45"/>
          <p:cNvSpPr>
            <a:spLocks noChangeArrowheads="1"/>
          </p:cNvSpPr>
          <p:nvPr/>
        </p:nvSpPr>
        <p:spPr bwMode="auto">
          <a:xfrm>
            <a:off x="9906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47"/>
          <p:cNvSpPr>
            <a:spLocks noChangeArrowheads="1"/>
          </p:cNvSpPr>
          <p:nvPr/>
        </p:nvSpPr>
        <p:spPr bwMode="auto">
          <a:xfrm>
            <a:off x="12192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48"/>
          <p:cNvSpPr>
            <a:spLocks noChangeArrowheads="1"/>
          </p:cNvSpPr>
          <p:nvPr/>
        </p:nvSpPr>
        <p:spPr bwMode="auto">
          <a:xfrm>
            <a:off x="19050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Rectangle 50"/>
          <p:cNvSpPr>
            <a:spLocks noChangeArrowheads="1"/>
          </p:cNvSpPr>
          <p:nvPr/>
        </p:nvSpPr>
        <p:spPr bwMode="auto">
          <a:xfrm>
            <a:off x="24384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Line 53"/>
          <p:cNvSpPr>
            <a:spLocks noChangeShapeType="1"/>
          </p:cNvSpPr>
          <p:nvPr/>
        </p:nvSpPr>
        <p:spPr bwMode="auto">
          <a:xfrm>
            <a:off x="1219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55"/>
          <p:cNvSpPr>
            <a:spLocks noChangeShapeType="1"/>
          </p:cNvSpPr>
          <p:nvPr/>
        </p:nvSpPr>
        <p:spPr bwMode="auto">
          <a:xfrm>
            <a:off x="1600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56"/>
          <p:cNvSpPr>
            <a:spLocks noChangeShapeType="1"/>
          </p:cNvSpPr>
          <p:nvPr/>
        </p:nvSpPr>
        <p:spPr bwMode="auto">
          <a:xfrm>
            <a:off x="182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57"/>
          <p:cNvSpPr>
            <a:spLocks noChangeShapeType="1"/>
          </p:cNvSpPr>
          <p:nvPr/>
        </p:nvSpPr>
        <p:spPr bwMode="auto">
          <a:xfrm>
            <a:off x="2209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59"/>
          <p:cNvSpPr>
            <a:spLocks noChangeShapeType="1"/>
          </p:cNvSpPr>
          <p:nvPr/>
        </p:nvSpPr>
        <p:spPr bwMode="auto">
          <a:xfrm>
            <a:off x="2819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60"/>
          <p:cNvSpPr>
            <a:spLocks noChangeShapeType="1"/>
          </p:cNvSpPr>
          <p:nvPr/>
        </p:nvSpPr>
        <p:spPr bwMode="auto">
          <a:xfrm>
            <a:off x="304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61"/>
          <p:cNvSpPr>
            <a:spLocks noChangeShapeType="1"/>
          </p:cNvSpPr>
          <p:nvPr/>
        </p:nvSpPr>
        <p:spPr bwMode="auto">
          <a:xfrm>
            <a:off x="3429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65"/>
          <p:cNvSpPr>
            <a:spLocks noChangeShapeType="1"/>
          </p:cNvSpPr>
          <p:nvPr/>
        </p:nvSpPr>
        <p:spPr bwMode="auto">
          <a:xfrm>
            <a:off x="243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66"/>
          <p:cNvSpPr>
            <a:spLocks noChangeArrowheads="1"/>
          </p:cNvSpPr>
          <p:nvPr/>
        </p:nvSpPr>
        <p:spPr bwMode="auto">
          <a:xfrm>
            <a:off x="2895600" y="16002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67"/>
          <p:cNvSpPr>
            <a:spLocks noChangeArrowheads="1"/>
          </p:cNvSpPr>
          <p:nvPr/>
        </p:nvSpPr>
        <p:spPr bwMode="auto">
          <a:xfrm>
            <a:off x="3124200" y="17526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Line 71"/>
          <p:cNvSpPr>
            <a:spLocks noChangeShapeType="1"/>
          </p:cNvSpPr>
          <p:nvPr/>
        </p:nvSpPr>
        <p:spPr bwMode="auto">
          <a:xfrm>
            <a:off x="3124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72"/>
          <p:cNvSpPr>
            <a:spLocks noChangeShapeType="1"/>
          </p:cNvSpPr>
          <p:nvPr/>
        </p:nvSpPr>
        <p:spPr bwMode="auto">
          <a:xfrm>
            <a:off x="3505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73"/>
          <p:cNvSpPr>
            <a:spLocks noChangeShapeType="1"/>
          </p:cNvSpPr>
          <p:nvPr/>
        </p:nvSpPr>
        <p:spPr bwMode="auto">
          <a:xfrm>
            <a:off x="3733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74"/>
          <p:cNvSpPr>
            <a:spLocks noChangeShapeType="1"/>
          </p:cNvSpPr>
          <p:nvPr/>
        </p:nvSpPr>
        <p:spPr bwMode="auto">
          <a:xfrm>
            <a:off x="4114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5"/>
          <p:cNvSpPr>
            <a:spLocks noChangeShapeType="1"/>
          </p:cNvSpPr>
          <p:nvPr/>
        </p:nvSpPr>
        <p:spPr bwMode="auto">
          <a:xfrm>
            <a:off x="4724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76"/>
          <p:cNvSpPr>
            <a:spLocks noChangeShapeType="1"/>
          </p:cNvSpPr>
          <p:nvPr/>
        </p:nvSpPr>
        <p:spPr bwMode="auto">
          <a:xfrm>
            <a:off x="4953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77"/>
          <p:cNvSpPr>
            <a:spLocks noChangeShapeType="1"/>
          </p:cNvSpPr>
          <p:nvPr/>
        </p:nvSpPr>
        <p:spPr bwMode="auto">
          <a:xfrm>
            <a:off x="5334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78"/>
          <p:cNvSpPr>
            <a:spLocks noChangeShapeType="1"/>
          </p:cNvSpPr>
          <p:nvPr/>
        </p:nvSpPr>
        <p:spPr bwMode="auto">
          <a:xfrm>
            <a:off x="4343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utoShape 79"/>
          <p:cNvSpPr>
            <a:spLocks noChangeArrowheads="1"/>
          </p:cNvSpPr>
          <p:nvPr/>
        </p:nvSpPr>
        <p:spPr bwMode="auto">
          <a:xfrm>
            <a:off x="50292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Rectangle 80"/>
          <p:cNvSpPr>
            <a:spLocks noChangeArrowheads="1"/>
          </p:cNvSpPr>
          <p:nvPr/>
        </p:nvSpPr>
        <p:spPr bwMode="auto">
          <a:xfrm>
            <a:off x="52578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Rectangle 81"/>
          <p:cNvSpPr>
            <a:spLocks noChangeArrowheads="1"/>
          </p:cNvSpPr>
          <p:nvPr/>
        </p:nvSpPr>
        <p:spPr bwMode="auto">
          <a:xfrm>
            <a:off x="57912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Line 84"/>
          <p:cNvSpPr>
            <a:spLocks noChangeShapeType="1"/>
          </p:cNvSpPr>
          <p:nvPr/>
        </p:nvSpPr>
        <p:spPr bwMode="auto">
          <a:xfrm>
            <a:off x="5257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85"/>
          <p:cNvSpPr>
            <a:spLocks noChangeShapeType="1"/>
          </p:cNvSpPr>
          <p:nvPr/>
        </p:nvSpPr>
        <p:spPr bwMode="auto">
          <a:xfrm>
            <a:off x="563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6"/>
          <p:cNvSpPr>
            <a:spLocks noChangeShapeType="1"/>
          </p:cNvSpPr>
          <p:nvPr/>
        </p:nvSpPr>
        <p:spPr bwMode="auto">
          <a:xfrm>
            <a:off x="5867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87"/>
          <p:cNvSpPr>
            <a:spLocks noChangeShapeType="1"/>
          </p:cNvSpPr>
          <p:nvPr/>
        </p:nvSpPr>
        <p:spPr bwMode="auto">
          <a:xfrm>
            <a:off x="624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88"/>
          <p:cNvSpPr>
            <a:spLocks noChangeShapeType="1"/>
          </p:cNvSpPr>
          <p:nvPr/>
        </p:nvSpPr>
        <p:spPr bwMode="auto">
          <a:xfrm>
            <a:off x="685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89"/>
          <p:cNvSpPr>
            <a:spLocks noChangeShapeType="1"/>
          </p:cNvSpPr>
          <p:nvPr/>
        </p:nvSpPr>
        <p:spPr bwMode="auto">
          <a:xfrm>
            <a:off x="7086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90"/>
          <p:cNvSpPr>
            <a:spLocks noChangeShapeType="1"/>
          </p:cNvSpPr>
          <p:nvPr/>
        </p:nvSpPr>
        <p:spPr bwMode="auto">
          <a:xfrm>
            <a:off x="7467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91"/>
          <p:cNvSpPr>
            <a:spLocks noChangeShapeType="1"/>
          </p:cNvSpPr>
          <p:nvPr/>
        </p:nvSpPr>
        <p:spPr bwMode="auto">
          <a:xfrm>
            <a:off x="6477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Oval 99"/>
          <p:cNvSpPr>
            <a:spLocks noChangeArrowheads="1"/>
          </p:cNvSpPr>
          <p:nvPr/>
        </p:nvSpPr>
        <p:spPr bwMode="auto">
          <a:xfrm>
            <a:off x="1600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00"/>
          <p:cNvSpPr>
            <a:spLocks noChangeShapeType="1"/>
          </p:cNvSpPr>
          <p:nvPr/>
        </p:nvSpPr>
        <p:spPr bwMode="auto">
          <a:xfrm>
            <a:off x="1676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Rectangle 101"/>
          <p:cNvSpPr>
            <a:spLocks noChangeArrowheads="1"/>
          </p:cNvSpPr>
          <p:nvPr/>
        </p:nvSpPr>
        <p:spPr bwMode="auto">
          <a:xfrm>
            <a:off x="16002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Oval 102"/>
          <p:cNvSpPr>
            <a:spLocks noChangeArrowheads="1"/>
          </p:cNvSpPr>
          <p:nvPr/>
        </p:nvSpPr>
        <p:spPr bwMode="auto">
          <a:xfrm>
            <a:off x="2286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103"/>
          <p:cNvSpPr>
            <a:spLocks noChangeShapeType="1"/>
          </p:cNvSpPr>
          <p:nvPr/>
        </p:nvSpPr>
        <p:spPr bwMode="auto">
          <a:xfrm>
            <a:off x="2362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104"/>
          <p:cNvSpPr>
            <a:spLocks noChangeArrowheads="1"/>
          </p:cNvSpPr>
          <p:nvPr/>
        </p:nvSpPr>
        <p:spPr bwMode="auto">
          <a:xfrm>
            <a:off x="2286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Oval 105"/>
          <p:cNvSpPr>
            <a:spLocks noChangeArrowheads="1"/>
          </p:cNvSpPr>
          <p:nvPr/>
        </p:nvSpPr>
        <p:spPr bwMode="auto">
          <a:xfrm>
            <a:off x="2895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106"/>
          <p:cNvSpPr>
            <a:spLocks noChangeShapeType="1"/>
          </p:cNvSpPr>
          <p:nvPr/>
        </p:nvSpPr>
        <p:spPr bwMode="auto">
          <a:xfrm>
            <a:off x="2971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Rectangle 107"/>
          <p:cNvSpPr>
            <a:spLocks noChangeArrowheads="1"/>
          </p:cNvSpPr>
          <p:nvPr/>
        </p:nvSpPr>
        <p:spPr bwMode="auto">
          <a:xfrm>
            <a:off x="2895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Oval 111"/>
          <p:cNvSpPr>
            <a:spLocks noChangeArrowheads="1"/>
          </p:cNvSpPr>
          <p:nvPr/>
        </p:nvSpPr>
        <p:spPr bwMode="auto">
          <a:xfrm>
            <a:off x="5715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12"/>
          <p:cNvSpPr>
            <a:spLocks noChangeShapeType="1"/>
          </p:cNvSpPr>
          <p:nvPr/>
        </p:nvSpPr>
        <p:spPr bwMode="auto">
          <a:xfrm>
            <a:off x="5791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Rectangle 113"/>
          <p:cNvSpPr>
            <a:spLocks noChangeArrowheads="1"/>
          </p:cNvSpPr>
          <p:nvPr/>
        </p:nvSpPr>
        <p:spPr bwMode="auto">
          <a:xfrm>
            <a:off x="5715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Oval 114"/>
          <p:cNvSpPr>
            <a:spLocks noChangeArrowheads="1"/>
          </p:cNvSpPr>
          <p:nvPr/>
        </p:nvSpPr>
        <p:spPr bwMode="auto">
          <a:xfrm>
            <a:off x="6324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115"/>
          <p:cNvSpPr>
            <a:spLocks noChangeShapeType="1"/>
          </p:cNvSpPr>
          <p:nvPr/>
        </p:nvSpPr>
        <p:spPr bwMode="auto">
          <a:xfrm>
            <a:off x="6400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Rectangle 116"/>
          <p:cNvSpPr>
            <a:spLocks noChangeArrowheads="1"/>
          </p:cNvSpPr>
          <p:nvPr/>
        </p:nvSpPr>
        <p:spPr bwMode="auto">
          <a:xfrm>
            <a:off x="6324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Oval 117"/>
          <p:cNvSpPr>
            <a:spLocks noChangeArrowheads="1"/>
          </p:cNvSpPr>
          <p:nvPr/>
        </p:nvSpPr>
        <p:spPr bwMode="auto">
          <a:xfrm>
            <a:off x="35814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118"/>
          <p:cNvSpPr>
            <a:spLocks noChangeShapeType="1"/>
          </p:cNvSpPr>
          <p:nvPr/>
        </p:nvSpPr>
        <p:spPr bwMode="auto">
          <a:xfrm>
            <a:off x="3657600" y="1981200"/>
            <a:ext cx="2438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Oval 120"/>
          <p:cNvSpPr>
            <a:spLocks noChangeArrowheads="1"/>
          </p:cNvSpPr>
          <p:nvPr/>
        </p:nvSpPr>
        <p:spPr bwMode="auto">
          <a:xfrm>
            <a:off x="2971800" y="1905000"/>
            <a:ext cx="152400" cy="152400"/>
          </a:xfrm>
          <a:prstGeom prst="ellipse">
            <a:avLst/>
          </a:prstGeom>
          <a:solidFill>
            <a:srgbClr val="0432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121"/>
          <p:cNvSpPr>
            <a:spLocks noChangeShapeType="1"/>
          </p:cNvSpPr>
          <p:nvPr/>
        </p:nvSpPr>
        <p:spPr bwMode="auto">
          <a:xfrm flipH="1">
            <a:off x="2286000" y="1981200"/>
            <a:ext cx="762000" cy="990600"/>
          </a:xfrm>
          <a:prstGeom prst="line">
            <a:avLst/>
          </a:prstGeom>
          <a:noFill/>
          <a:ln w="63500">
            <a:solidFill>
              <a:srgbClr val="0432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indexes example: Get(2)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45"/>
          <p:cNvSpPr>
            <a:spLocks noChangeArrowheads="1"/>
          </p:cNvSpPr>
          <p:nvPr/>
        </p:nvSpPr>
        <p:spPr bwMode="auto">
          <a:xfrm>
            <a:off x="9906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47"/>
          <p:cNvSpPr>
            <a:spLocks noChangeArrowheads="1"/>
          </p:cNvSpPr>
          <p:nvPr/>
        </p:nvSpPr>
        <p:spPr bwMode="auto">
          <a:xfrm>
            <a:off x="12192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48"/>
          <p:cNvSpPr>
            <a:spLocks noChangeArrowheads="1"/>
          </p:cNvSpPr>
          <p:nvPr/>
        </p:nvSpPr>
        <p:spPr bwMode="auto">
          <a:xfrm>
            <a:off x="19050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Rectangle 50"/>
          <p:cNvSpPr>
            <a:spLocks noChangeArrowheads="1"/>
          </p:cNvSpPr>
          <p:nvPr/>
        </p:nvSpPr>
        <p:spPr bwMode="auto">
          <a:xfrm>
            <a:off x="24384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Line 53"/>
          <p:cNvSpPr>
            <a:spLocks noChangeShapeType="1"/>
          </p:cNvSpPr>
          <p:nvPr/>
        </p:nvSpPr>
        <p:spPr bwMode="auto">
          <a:xfrm>
            <a:off x="1219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55"/>
          <p:cNvSpPr>
            <a:spLocks noChangeShapeType="1"/>
          </p:cNvSpPr>
          <p:nvPr/>
        </p:nvSpPr>
        <p:spPr bwMode="auto">
          <a:xfrm>
            <a:off x="1600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56"/>
          <p:cNvSpPr>
            <a:spLocks noChangeShapeType="1"/>
          </p:cNvSpPr>
          <p:nvPr/>
        </p:nvSpPr>
        <p:spPr bwMode="auto">
          <a:xfrm>
            <a:off x="182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57"/>
          <p:cNvSpPr>
            <a:spLocks noChangeShapeType="1"/>
          </p:cNvSpPr>
          <p:nvPr/>
        </p:nvSpPr>
        <p:spPr bwMode="auto">
          <a:xfrm>
            <a:off x="2209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59"/>
          <p:cNvSpPr>
            <a:spLocks noChangeShapeType="1"/>
          </p:cNvSpPr>
          <p:nvPr/>
        </p:nvSpPr>
        <p:spPr bwMode="auto">
          <a:xfrm>
            <a:off x="2819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60"/>
          <p:cNvSpPr>
            <a:spLocks noChangeShapeType="1"/>
          </p:cNvSpPr>
          <p:nvPr/>
        </p:nvSpPr>
        <p:spPr bwMode="auto">
          <a:xfrm>
            <a:off x="304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61"/>
          <p:cNvSpPr>
            <a:spLocks noChangeShapeType="1"/>
          </p:cNvSpPr>
          <p:nvPr/>
        </p:nvSpPr>
        <p:spPr bwMode="auto">
          <a:xfrm>
            <a:off x="3429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65"/>
          <p:cNvSpPr>
            <a:spLocks noChangeShapeType="1"/>
          </p:cNvSpPr>
          <p:nvPr/>
        </p:nvSpPr>
        <p:spPr bwMode="auto">
          <a:xfrm>
            <a:off x="243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66"/>
          <p:cNvSpPr>
            <a:spLocks noChangeArrowheads="1"/>
          </p:cNvSpPr>
          <p:nvPr/>
        </p:nvSpPr>
        <p:spPr bwMode="auto">
          <a:xfrm>
            <a:off x="2895600" y="16002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67"/>
          <p:cNvSpPr>
            <a:spLocks noChangeArrowheads="1"/>
          </p:cNvSpPr>
          <p:nvPr/>
        </p:nvSpPr>
        <p:spPr bwMode="auto">
          <a:xfrm>
            <a:off x="3124200" y="17526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Line 71"/>
          <p:cNvSpPr>
            <a:spLocks noChangeShapeType="1"/>
          </p:cNvSpPr>
          <p:nvPr/>
        </p:nvSpPr>
        <p:spPr bwMode="auto">
          <a:xfrm>
            <a:off x="3124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72"/>
          <p:cNvSpPr>
            <a:spLocks noChangeShapeType="1"/>
          </p:cNvSpPr>
          <p:nvPr/>
        </p:nvSpPr>
        <p:spPr bwMode="auto">
          <a:xfrm>
            <a:off x="3505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73"/>
          <p:cNvSpPr>
            <a:spLocks noChangeShapeType="1"/>
          </p:cNvSpPr>
          <p:nvPr/>
        </p:nvSpPr>
        <p:spPr bwMode="auto">
          <a:xfrm>
            <a:off x="3733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74"/>
          <p:cNvSpPr>
            <a:spLocks noChangeShapeType="1"/>
          </p:cNvSpPr>
          <p:nvPr/>
        </p:nvSpPr>
        <p:spPr bwMode="auto">
          <a:xfrm>
            <a:off x="4114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5"/>
          <p:cNvSpPr>
            <a:spLocks noChangeShapeType="1"/>
          </p:cNvSpPr>
          <p:nvPr/>
        </p:nvSpPr>
        <p:spPr bwMode="auto">
          <a:xfrm>
            <a:off x="4724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76"/>
          <p:cNvSpPr>
            <a:spLocks noChangeShapeType="1"/>
          </p:cNvSpPr>
          <p:nvPr/>
        </p:nvSpPr>
        <p:spPr bwMode="auto">
          <a:xfrm>
            <a:off x="4953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77"/>
          <p:cNvSpPr>
            <a:spLocks noChangeShapeType="1"/>
          </p:cNvSpPr>
          <p:nvPr/>
        </p:nvSpPr>
        <p:spPr bwMode="auto">
          <a:xfrm>
            <a:off x="5334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78"/>
          <p:cNvSpPr>
            <a:spLocks noChangeShapeType="1"/>
          </p:cNvSpPr>
          <p:nvPr/>
        </p:nvSpPr>
        <p:spPr bwMode="auto">
          <a:xfrm>
            <a:off x="4343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utoShape 79"/>
          <p:cNvSpPr>
            <a:spLocks noChangeArrowheads="1"/>
          </p:cNvSpPr>
          <p:nvPr/>
        </p:nvSpPr>
        <p:spPr bwMode="auto">
          <a:xfrm>
            <a:off x="50292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Rectangle 80"/>
          <p:cNvSpPr>
            <a:spLocks noChangeArrowheads="1"/>
          </p:cNvSpPr>
          <p:nvPr/>
        </p:nvSpPr>
        <p:spPr bwMode="auto">
          <a:xfrm>
            <a:off x="52578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Rectangle 81"/>
          <p:cNvSpPr>
            <a:spLocks noChangeArrowheads="1"/>
          </p:cNvSpPr>
          <p:nvPr/>
        </p:nvSpPr>
        <p:spPr bwMode="auto">
          <a:xfrm>
            <a:off x="57912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Line 84"/>
          <p:cNvSpPr>
            <a:spLocks noChangeShapeType="1"/>
          </p:cNvSpPr>
          <p:nvPr/>
        </p:nvSpPr>
        <p:spPr bwMode="auto">
          <a:xfrm>
            <a:off x="5257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85"/>
          <p:cNvSpPr>
            <a:spLocks noChangeShapeType="1"/>
          </p:cNvSpPr>
          <p:nvPr/>
        </p:nvSpPr>
        <p:spPr bwMode="auto">
          <a:xfrm>
            <a:off x="563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6"/>
          <p:cNvSpPr>
            <a:spLocks noChangeShapeType="1"/>
          </p:cNvSpPr>
          <p:nvPr/>
        </p:nvSpPr>
        <p:spPr bwMode="auto">
          <a:xfrm>
            <a:off x="5867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87"/>
          <p:cNvSpPr>
            <a:spLocks noChangeShapeType="1"/>
          </p:cNvSpPr>
          <p:nvPr/>
        </p:nvSpPr>
        <p:spPr bwMode="auto">
          <a:xfrm>
            <a:off x="624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88"/>
          <p:cNvSpPr>
            <a:spLocks noChangeShapeType="1"/>
          </p:cNvSpPr>
          <p:nvPr/>
        </p:nvSpPr>
        <p:spPr bwMode="auto">
          <a:xfrm>
            <a:off x="685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89"/>
          <p:cNvSpPr>
            <a:spLocks noChangeShapeType="1"/>
          </p:cNvSpPr>
          <p:nvPr/>
        </p:nvSpPr>
        <p:spPr bwMode="auto">
          <a:xfrm>
            <a:off x="7086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90"/>
          <p:cNvSpPr>
            <a:spLocks noChangeShapeType="1"/>
          </p:cNvSpPr>
          <p:nvPr/>
        </p:nvSpPr>
        <p:spPr bwMode="auto">
          <a:xfrm>
            <a:off x="7467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91"/>
          <p:cNvSpPr>
            <a:spLocks noChangeShapeType="1"/>
          </p:cNvSpPr>
          <p:nvPr/>
        </p:nvSpPr>
        <p:spPr bwMode="auto">
          <a:xfrm>
            <a:off x="6477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Oval 99"/>
          <p:cNvSpPr>
            <a:spLocks noChangeArrowheads="1"/>
          </p:cNvSpPr>
          <p:nvPr/>
        </p:nvSpPr>
        <p:spPr bwMode="auto">
          <a:xfrm>
            <a:off x="1600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00"/>
          <p:cNvSpPr>
            <a:spLocks noChangeShapeType="1"/>
          </p:cNvSpPr>
          <p:nvPr/>
        </p:nvSpPr>
        <p:spPr bwMode="auto">
          <a:xfrm>
            <a:off x="1676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Rectangle 101"/>
          <p:cNvSpPr>
            <a:spLocks noChangeArrowheads="1"/>
          </p:cNvSpPr>
          <p:nvPr/>
        </p:nvSpPr>
        <p:spPr bwMode="auto">
          <a:xfrm>
            <a:off x="16002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Oval 102"/>
          <p:cNvSpPr>
            <a:spLocks noChangeArrowheads="1"/>
          </p:cNvSpPr>
          <p:nvPr/>
        </p:nvSpPr>
        <p:spPr bwMode="auto">
          <a:xfrm>
            <a:off x="2286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103"/>
          <p:cNvSpPr>
            <a:spLocks noChangeShapeType="1"/>
          </p:cNvSpPr>
          <p:nvPr/>
        </p:nvSpPr>
        <p:spPr bwMode="auto">
          <a:xfrm>
            <a:off x="2362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104"/>
          <p:cNvSpPr>
            <a:spLocks noChangeArrowheads="1"/>
          </p:cNvSpPr>
          <p:nvPr/>
        </p:nvSpPr>
        <p:spPr bwMode="auto">
          <a:xfrm>
            <a:off x="2286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Oval 105"/>
          <p:cNvSpPr>
            <a:spLocks noChangeArrowheads="1"/>
          </p:cNvSpPr>
          <p:nvPr/>
        </p:nvSpPr>
        <p:spPr bwMode="auto">
          <a:xfrm>
            <a:off x="2895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106"/>
          <p:cNvSpPr>
            <a:spLocks noChangeShapeType="1"/>
          </p:cNvSpPr>
          <p:nvPr/>
        </p:nvSpPr>
        <p:spPr bwMode="auto">
          <a:xfrm>
            <a:off x="2971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Rectangle 107"/>
          <p:cNvSpPr>
            <a:spLocks noChangeArrowheads="1"/>
          </p:cNvSpPr>
          <p:nvPr/>
        </p:nvSpPr>
        <p:spPr bwMode="auto">
          <a:xfrm>
            <a:off x="2895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Oval 111"/>
          <p:cNvSpPr>
            <a:spLocks noChangeArrowheads="1"/>
          </p:cNvSpPr>
          <p:nvPr/>
        </p:nvSpPr>
        <p:spPr bwMode="auto">
          <a:xfrm>
            <a:off x="5715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12"/>
          <p:cNvSpPr>
            <a:spLocks noChangeShapeType="1"/>
          </p:cNvSpPr>
          <p:nvPr/>
        </p:nvSpPr>
        <p:spPr bwMode="auto">
          <a:xfrm>
            <a:off x="5791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Rectangle 113"/>
          <p:cNvSpPr>
            <a:spLocks noChangeArrowheads="1"/>
          </p:cNvSpPr>
          <p:nvPr/>
        </p:nvSpPr>
        <p:spPr bwMode="auto">
          <a:xfrm>
            <a:off x="5715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Oval 114"/>
          <p:cNvSpPr>
            <a:spLocks noChangeArrowheads="1"/>
          </p:cNvSpPr>
          <p:nvPr/>
        </p:nvSpPr>
        <p:spPr bwMode="auto">
          <a:xfrm>
            <a:off x="6324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115"/>
          <p:cNvSpPr>
            <a:spLocks noChangeShapeType="1"/>
          </p:cNvSpPr>
          <p:nvPr/>
        </p:nvSpPr>
        <p:spPr bwMode="auto">
          <a:xfrm>
            <a:off x="6400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Rectangle 116"/>
          <p:cNvSpPr>
            <a:spLocks noChangeArrowheads="1"/>
          </p:cNvSpPr>
          <p:nvPr/>
        </p:nvSpPr>
        <p:spPr bwMode="auto">
          <a:xfrm>
            <a:off x="6324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Oval 117"/>
          <p:cNvSpPr>
            <a:spLocks noChangeArrowheads="1"/>
          </p:cNvSpPr>
          <p:nvPr/>
        </p:nvSpPr>
        <p:spPr bwMode="auto">
          <a:xfrm>
            <a:off x="35814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118"/>
          <p:cNvSpPr>
            <a:spLocks noChangeShapeType="1"/>
          </p:cNvSpPr>
          <p:nvPr/>
        </p:nvSpPr>
        <p:spPr bwMode="auto">
          <a:xfrm>
            <a:off x="3657600" y="1981200"/>
            <a:ext cx="2438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Oval 120"/>
          <p:cNvSpPr>
            <a:spLocks noChangeArrowheads="1"/>
          </p:cNvSpPr>
          <p:nvPr/>
        </p:nvSpPr>
        <p:spPr bwMode="auto">
          <a:xfrm>
            <a:off x="2971800" y="1905000"/>
            <a:ext cx="152400" cy="152400"/>
          </a:xfrm>
          <a:prstGeom prst="ellipse">
            <a:avLst/>
          </a:prstGeom>
          <a:solidFill>
            <a:srgbClr val="0432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121"/>
          <p:cNvSpPr>
            <a:spLocks noChangeShapeType="1"/>
          </p:cNvSpPr>
          <p:nvPr/>
        </p:nvSpPr>
        <p:spPr bwMode="auto">
          <a:xfrm flipH="1">
            <a:off x="2286000" y="1981200"/>
            <a:ext cx="762000" cy="990600"/>
          </a:xfrm>
          <a:prstGeom prst="line">
            <a:avLst/>
          </a:prstGeom>
          <a:noFill/>
          <a:ln w="63500">
            <a:solidFill>
              <a:srgbClr val="0432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223131" y="2938614"/>
            <a:ext cx="617623" cy="1109836"/>
          </a:xfrm>
          <a:prstGeom prst="rect">
            <a:avLst/>
          </a:prstGeom>
          <a:noFill/>
          <a:ln w="38100">
            <a:solidFill>
              <a:srgbClr val="0432FF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/>
          <a:lstStyle/>
          <a:p>
            <a:r>
              <a:rPr lang="en-GB" altLang="zh-CN" dirty="0"/>
              <a:t>Similar to Get()</a:t>
            </a:r>
            <a:endParaRPr lang="en-GB" altLang="zh-CN" dirty="0"/>
          </a:p>
          <a:p>
            <a:pPr lvl="1"/>
            <a:r>
              <a:rPr lang="en-GB" altLang="zh-CN" b="0" dirty="0"/>
              <a:t>1. find the position</a:t>
            </a:r>
            <a:endParaRPr lang="en-GB" altLang="zh-CN" b="0" dirty="0"/>
          </a:p>
          <a:p>
            <a:pPr lvl="1"/>
            <a:r>
              <a:rPr lang="en-GB" altLang="zh-CN" dirty="0"/>
              <a:t>2. update the value</a:t>
            </a:r>
            <a:endParaRPr lang="en-GB" altLang="zh-CN" b="0" dirty="0"/>
          </a:p>
          <a:p>
            <a:endParaRPr kumimoji="1" lang="en-GB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indexes example: Update(2)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45"/>
          <p:cNvSpPr>
            <a:spLocks noChangeArrowheads="1"/>
          </p:cNvSpPr>
          <p:nvPr/>
        </p:nvSpPr>
        <p:spPr bwMode="auto">
          <a:xfrm>
            <a:off x="9906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47"/>
          <p:cNvSpPr>
            <a:spLocks noChangeArrowheads="1"/>
          </p:cNvSpPr>
          <p:nvPr/>
        </p:nvSpPr>
        <p:spPr bwMode="auto">
          <a:xfrm>
            <a:off x="12192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48"/>
          <p:cNvSpPr>
            <a:spLocks noChangeArrowheads="1"/>
          </p:cNvSpPr>
          <p:nvPr/>
        </p:nvSpPr>
        <p:spPr bwMode="auto">
          <a:xfrm>
            <a:off x="19050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Rectangle 50"/>
          <p:cNvSpPr>
            <a:spLocks noChangeArrowheads="1"/>
          </p:cNvSpPr>
          <p:nvPr/>
        </p:nvSpPr>
        <p:spPr bwMode="auto">
          <a:xfrm>
            <a:off x="24384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Line 53"/>
          <p:cNvSpPr>
            <a:spLocks noChangeShapeType="1"/>
          </p:cNvSpPr>
          <p:nvPr/>
        </p:nvSpPr>
        <p:spPr bwMode="auto">
          <a:xfrm>
            <a:off x="1219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55"/>
          <p:cNvSpPr>
            <a:spLocks noChangeShapeType="1"/>
          </p:cNvSpPr>
          <p:nvPr/>
        </p:nvSpPr>
        <p:spPr bwMode="auto">
          <a:xfrm>
            <a:off x="1600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56"/>
          <p:cNvSpPr>
            <a:spLocks noChangeShapeType="1"/>
          </p:cNvSpPr>
          <p:nvPr/>
        </p:nvSpPr>
        <p:spPr bwMode="auto">
          <a:xfrm>
            <a:off x="182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57"/>
          <p:cNvSpPr>
            <a:spLocks noChangeShapeType="1"/>
          </p:cNvSpPr>
          <p:nvPr/>
        </p:nvSpPr>
        <p:spPr bwMode="auto">
          <a:xfrm>
            <a:off x="2209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59"/>
          <p:cNvSpPr>
            <a:spLocks noChangeShapeType="1"/>
          </p:cNvSpPr>
          <p:nvPr/>
        </p:nvSpPr>
        <p:spPr bwMode="auto">
          <a:xfrm>
            <a:off x="2819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60"/>
          <p:cNvSpPr>
            <a:spLocks noChangeShapeType="1"/>
          </p:cNvSpPr>
          <p:nvPr/>
        </p:nvSpPr>
        <p:spPr bwMode="auto">
          <a:xfrm>
            <a:off x="304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61"/>
          <p:cNvSpPr>
            <a:spLocks noChangeShapeType="1"/>
          </p:cNvSpPr>
          <p:nvPr/>
        </p:nvSpPr>
        <p:spPr bwMode="auto">
          <a:xfrm>
            <a:off x="3429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65"/>
          <p:cNvSpPr>
            <a:spLocks noChangeShapeType="1"/>
          </p:cNvSpPr>
          <p:nvPr/>
        </p:nvSpPr>
        <p:spPr bwMode="auto">
          <a:xfrm>
            <a:off x="243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66"/>
          <p:cNvSpPr>
            <a:spLocks noChangeArrowheads="1"/>
          </p:cNvSpPr>
          <p:nvPr/>
        </p:nvSpPr>
        <p:spPr bwMode="auto">
          <a:xfrm>
            <a:off x="2895600" y="16002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67"/>
          <p:cNvSpPr>
            <a:spLocks noChangeArrowheads="1"/>
          </p:cNvSpPr>
          <p:nvPr/>
        </p:nvSpPr>
        <p:spPr bwMode="auto">
          <a:xfrm>
            <a:off x="3124200" y="17526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Line 71"/>
          <p:cNvSpPr>
            <a:spLocks noChangeShapeType="1"/>
          </p:cNvSpPr>
          <p:nvPr/>
        </p:nvSpPr>
        <p:spPr bwMode="auto">
          <a:xfrm>
            <a:off x="3124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72"/>
          <p:cNvSpPr>
            <a:spLocks noChangeShapeType="1"/>
          </p:cNvSpPr>
          <p:nvPr/>
        </p:nvSpPr>
        <p:spPr bwMode="auto">
          <a:xfrm>
            <a:off x="3505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73"/>
          <p:cNvSpPr>
            <a:spLocks noChangeShapeType="1"/>
          </p:cNvSpPr>
          <p:nvPr/>
        </p:nvSpPr>
        <p:spPr bwMode="auto">
          <a:xfrm>
            <a:off x="3733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74"/>
          <p:cNvSpPr>
            <a:spLocks noChangeShapeType="1"/>
          </p:cNvSpPr>
          <p:nvPr/>
        </p:nvSpPr>
        <p:spPr bwMode="auto">
          <a:xfrm>
            <a:off x="4114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5"/>
          <p:cNvSpPr>
            <a:spLocks noChangeShapeType="1"/>
          </p:cNvSpPr>
          <p:nvPr/>
        </p:nvSpPr>
        <p:spPr bwMode="auto">
          <a:xfrm>
            <a:off x="4724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76"/>
          <p:cNvSpPr>
            <a:spLocks noChangeShapeType="1"/>
          </p:cNvSpPr>
          <p:nvPr/>
        </p:nvSpPr>
        <p:spPr bwMode="auto">
          <a:xfrm>
            <a:off x="4953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77"/>
          <p:cNvSpPr>
            <a:spLocks noChangeShapeType="1"/>
          </p:cNvSpPr>
          <p:nvPr/>
        </p:nvSpPr>
        <p:spPr bwMode="auto">
          <a:xfrm>
            <a:off x="5334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78"/>
          <p:cNvSpPr>
            <a:spLocks noChangeShapeType="1"/>
          </p:cNvSpPr>
          <p:nvPr/>
        </p:nvSpPr>
        <p:spPr bwMode="auto">
          <a:xfrm>
            <a:off x="4343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utoShape 79"/>
          <p:cNvSpPr>
            <a:spLocks noChangeArrowheads="1"/>
          </p:cNvSpPr>
          <p:nvPr/>
        </p:nvSpPr>
        <p:spPr bwMode="auto">
          <a:xfrm>
            <a:off x="50292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Rectangle 80"/>
          <p:cNvSpPr>
            <a:spLocks noChangeArrowheads="1"/>
          </p:cNvSpPr>
          <p:nvPr/>
        </p:nvSpPr>
        <p:spPr bwMode="auto">
          <a:xfrm>
            <a:off x="52578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Rectangle 81"/>
          <p:cNvSpPr>
            <a:spLocks noChangeArrowheads="1"/>
          </p:cNvSpPr>
          <p:nvPr/>
        </p:nvSpPr>
        <p:spPr bwMode="auto">
          <a:xfrm>
            <a:off x="57912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Line 84"/>
          <p:cNvSpPr>
            <a:spLocks noChangeShapeType="1"/>
          </p:cNvSpPr>
          <p:nvPr/>
        </p:nvSpPr>
        <p:spPr bwMode="auto">
          <a:xfrm>
            <a:off x="5257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85"/>
          <p:cNvSpPr>
            <a:spLocks noChangeShapeType="1"/>
          </p:cNvSpPr>
          <p:nvPr/>
        </p:nvSpPr>
        <p:spPr bwMode="auto">
          <a:xfrm>
            <a:off x="563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6"/>
          <p:cNvSpPr>
            <a:spLocks noChangeShapeType="1"/>
          </p:cNvSpPr>
          <p:nvPr/>
        </p:nvSpPr>
        <p:spPr bwMode="auto">
          <a:xfrm>
            <a:off x="5867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87"/>
          <p:cNvSpPr>
            <a:spLocks noChangeShapeType="1"/>
          </p:cNvSpPr>
          <p:nvPr/>
        </p:nvSpPr>
        <p:spPr bwMode="auto">
          <a:xfrm>
            <a:off x="624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88"/>
          <p:cNvSpPr>
            <a:spLocks noChangeShapeType="1"/>
          </p:cNvSpPr>
          <p:nvPr/>
        </p:nvSpPr>
        <p:spPr bwMode="auto">
          <a:xfrm>
            <a:off x="685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89"/>
          <p:cNvSpPr>
            <a:spLocks noChangeShapeType="1"/>
          </p:cNvSpPr>
          <p:nvPr/>
        </p:nvSpPr>
        <p:spPr bwMode="auto">
          <a:xfrm>
            <a:off x="7086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90"/>
          <p:cNvSpPr>
            <a:spLocks noChangeShapeType="1"/>
          </p:cNvSpPr>
          <p:nvPr/>
        </p:nvSpPr>
        <p:spPr bwMode="auto">
          <a:xfrm>
            <a:off x="7467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91"/>
          <p:cNvSpPr>
            <a:spLocks noChangeShapeType="1"/>
          </p:cNvSpPr>
          <p:nvPr/>
        </p:nvSpPr>
        <p:spPr bwMode="auto">
          <a:xfrm>
            <a:off x="6477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Oval 99"/>
          <p:cNvSpPr>
            <a:spLocks noChangeArrowheads="1"/>
          </p:cNvSpPr>
          <p:nvPr/>
        </p:nvSpPr>
        <p:spPr bwMode="auto">
          <a:xfrm>
            <a:off x="1600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00"/>
          <p:cNvSpPr>
            <a:spLocks noChangeShapeType="1"/>
          </p:cNvSpPr>
          <p:nvPr/>
        </p:nvSpPr>
        <p:spPr bwMode="auto">
          <a:xfrm>
            <a:off x="1676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Rectangle 101"/>
          <p:cNvSpPr>
            <a:spLocks noChangeArrowheads="1"/>
          </p:cNvSpPr>
          <p:nvPr/>
        </p:nvSpPr>
        <p:spPr bwMode="auto">
          <a:xfrm>
            <a:off x="16002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Oval 102"/>
          <p:cNvSpPr>
            <a:spLocks noChangeArrowheads="1"/>
          </p:cNvSpPr>
          <p:nvPr/>
        </p:nvSpPr>
        <p:spPr bwMode="auto">
          <a:xfrm>
            <a:off x="2286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103"/>
          <p:cNvSpPr>
            <a:spLocks noChangeShapeType="1"/>
          </p:cNvSpPr>
          <p:nvPr/>
        </p:nvSpPr>
        <p:spPr bwMode="auto">
          <a:xfrm>
            <a:off x="2362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104"/>
          <p:cNvSpPr>
            <a:spLocks noChangeArrowheads="1"/>
          </p:cNvSpPr>
          <p:nvPr/>
        </p:nvSpPr>
        <p:spPr bwMode="auto">
          <a:xfrm>
            <a:off x="2286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Oval 105"/>
          <p:cNvSpPr>
            <a:spLocks noChangeArrowheads="1"/>
          </p:cNvSpPr>
          <p:nvPr/>
        </p:nvSpPr>
        <p:spPr bwMode="auto">
          <a:xfrm>
            <a:off x="2895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106"/>
          <p:cNvSpPr>
            <a:spLocks noChangeShapeType="1"/>
          </p:cNvSpPr>
          <p:nvPr/>
        </p:nvSpPr>
        <p:spPr bwMode="auto">
          <a:xfrm>
            <a:off x="2971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Rectangle 107"/>
          <p:cNvSpPr>
            <a:spLocks noChangeArrowheads="1"/>
          </p:cNvSpPr>
          <p:nvPr/>
        </p:nvSpPr>
        <p:spPr bwMode="auto">
          <a:xfrm>
            <a:off x="2895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Oval 111"/>
          <p:cNvSpPr>
            <a:spLocks noChangeArrowheads="1"/>
          </p:cNvSpPr>
          <p:nvPr/>
        </p:nvSpPr>
        <p:spPr bwMode="auto">
          <a:xfrm>
            <a:off x="5715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12"/>
          <p:cNvSpPr>
            <a:spLocks noChangeShapeType="1"/>
          </p:cNvSpPr>
          <p:nvPr/>
        </p:nvSpPr>
        <p:spPr bwMode="auto">
          <a:xfrm>
            <a:off x="5791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Rectangle 113"/>
          <p:cNvSpPr>
            <a:spLocks noChangeArrowheads="1"/>
          </p:cNvSpPr>
          <p:nvPr/>
        </p:nvSpPr>
        <p:spPr bwMode="auto">
          <a:xfrm>
            <a:off x="5715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Oval 114"/>
          <p:cNvSpPr>
            <a:spLocks noChangeArrowheads="1"/>
          </p:cNvSpPr>
          <p:nvPr/>
        </p:nvSpPr>
        <p:spPr bwMode="auto">
          <a:xfrm>
            <a:off x="6324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115"/>
          <p:cNvSpPr>
            <a:spLocks noChangeShapeType="1"/>
          </p:cNvSpPr>
          <p:nvPr/>
        </p:nvSpPr>
        <p:spPr bwMode="auto">
          <a:xfrm>
            <a:off x="6400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Rectangle 116"/>
          <p:cNvSpPr>
            <a:spLocks noChangeArrowheads="1"/>
          </p:cNvSpPr>
          <p:nvPr/>
        </p:nvSpPr>
        <p:spPr bwMode="auto">
          <a:xfrm>
            <a:off x="6324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Oval 117"/>
          <p:cNvSpPr>
            <a:spLocks noChangeArrowheads="1"/>
          </p:cNvSpPr>
          <p:nvPr/>
        </p:nvSpPr>
        <p:spPr bwMode="auto">
          <a:xfrm>
            <a:off x="35814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118"/>
          <p:cNvSpPr>
            <a:spLocks noChangeShapeType="1"/>
          </p:cNvSpPr>
          <p:nvPr/>
        </p:nvSpPr>
        <p:spPr bwMode="auto">
          <a:xfrm>
            <a:off x="3657600" y="1981200"/>
            <a:ext cx="2438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Oval 120"/>
          <p:cNvSpPr>
            <a:spLocks noChangeArrowheads="1"/>
          </p:cNvSpPr>
          <p:nvPr/>
        </p:nvSpPr>
        <p:spPr bwMode="auto">
          <a:xfrm>
            <a:off x="2971800" y="1905000"/>
            <a:ext cx="152400" cy="152400"/>
          </a:xfrm>
          <a:prstGeom prst="ellipse">
            <a:avLst/>
          </a:prstGeom>
          <a:solidFill>
            <a:srgbClr val="0432FF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121"/>
          <p:cNvSpPr>
            <a:spLocks noChangeShapeType="1"/>
          </p:cNvSpPr>
          <p:nvPr/>
        </p:nvSpPr>
        <p:spPr bwMode="auto">
          <a:xfrm flipH="1">
            <a:off x="2286000" y="1981200"/>
            <a:ext cx="762000" cy="990600"/>
          </a:xfrm>
          <a:prstGeom prst="line">
            <a:avLst/>
          </a:prstGeom>
          <a:noFill/>
          <a:ln w="63500">
            <a:solidFill>
              <a:srgbClr val="0432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1223131" y="2938614"/>
            <a:ext cx="617623" cy="1109836"/>
          </a:xfrm>
          <a:prstGeom prst="rect">
            <a:avLst/>
          </a:prstGeom>
          <a:noFill/>
          <a:ln w="38100">
            <a:solidFill>
              <a:srgbClr val="0432FF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indexes example: insert(10)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45"/>
          <p:cNvSpPr>
            <a:spLocks noChangeArrowheads="1"/>
          </p:cNvSpPr>
          <p:nvPr/>
        </p:nvSpPr>
        <p:spPr bwMode="auto">
          <a:xfrm>
            <a:off x="9906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47"/>
          <p:cNvSpPr>
            <a:spLocks noChangeArrowheads="1"/>
          </p:cNvSpPr>
          <p:nvPr/>
        </p:nvSpPr>
        <p:spPr bwMode="auto">
          <a:xfrm>
            <a:off x="12192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48"/>
          <p:cNvSpPr>
            <a:spLocks noChangeArrowheads="1"/>
          </p:cNvSpPr>
          <p:nvPr/>
        </p:nvSpPr>
        <p:spPr bwMode="auto">
          <a:xfrm>
            <a:off x="19050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Rectangle 50"/>
          <p:cNvSpPr>
            <a:spLocks noChangeArrowheads="1"/>
          </p:cNvSpPr>
          <p:nvPr/>
        </p:nvSpPr>
        <p:spPr bwMode="auto">
          <a:xfrm>
            <a:off x="24384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Line 53"/>
          <p:cNvSpPr>
            <a:spLocks noChangeShapeType="1"/>
          </p:cNvSpPr>
          <p:nvPr/>
        </p:nvSpPr>
        <p:spPr bwMode="auto">
          <a:xfrm>
            <a:off x="1219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55"/>
          <p:cNvSpPr>
            <a:spLocks noChangeShapeType="1"/>
          </p:cNvSpPr>
          <p:nvPr/>
        </p:nvSpPr>
        <p:spPr bwMode="auto">
          <a:xfrm>
            <a:off x="1600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56"/>
          <p:cNvSpPr>
            <a:spLocks noChangeShapeType="1"/>
          </p:cNvSpPr>
          <p:nvPr/>
        </p:nvSpPr>
        <p:spPr bwMode="auto">
          <a:xfrm>
            <a:off x="182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57"/>
          <p:cNvSpPr>
            <a:spLocks noChangeShapeType="1"/>
          </p:cNvSpPr>
          <p:nvPr/>
        </p:nvSpPr>
        <p:spPr bwMode="auto">
          <a:xfrm>
            <a:off x="2209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59"/>
          <p:cNvSpPr>
            <a:spLocks noChangeShapeType="1"/>
          </p:cNvSpPr>
          <p:nvPr/>
        </p:nvSpPr>
        <p:spPr bwMode="auto">
          <a:xfrm>
            <a:off x="2819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60"/>
          <p:cNvSpPr>
            <a:spLocks noChangeShapeType="1"/>
          </p:cNvSpPr>
          <p:nvPr/>
        </p:nvSpPr>
        <p:spPr bwMode="auto">
          <a:xfrm>
            <a:off x="304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61"/>
          <p:cNvSpPr>
            <a:spLocks noChangeShapeType="1"/>
          </p:cNvSpPr>
          <p:nvPr/>
        </p:nvSpPr>
        <p:spPr bwMode="auto">
          <a:xfrm>
            <a:off x="3429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65"/>
          <p:cNvSpPr>
            <a:spLocks noChangeShapeType="1"/>
          </p:cNvSpPr>
          <p:nvPr/>
        </p:nvSpPr>
        <p:spPr bwMode="auto">
          <a:xfrm>
            <a:off x="243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66"/>
          <p:cNvSpPr>
            <a:spLocks noChangeArrowheads="1"/>
          </p:cNvSpPr>
          <p:nvPr/>
        </p:nvSpPr>
        <p:spPr bwMode="auto">
          <a:xfrm>
            <a:off x="2895600" y="16002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67"/>
          <p:cNvSpPr>
            <a:spLocks noChangeArrowheads="1"/>
          </p:cNvSpPr>
          <p:nvPr/>
        </p:nvSpPr>
        <p:spPr bwMode="auto">
          <a:xfrm>
            <a:off x="3124200" y="17526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Line 71"/>
          <p:cNvSpPr>
            <a:spLocks noChangeShapeType="1"/>
          </p:cNvSpPr>
          <p:nvPr/>
        </p:nvSpPr>
        <p:spPr bwMode="auto">
          <a:xfrm>
            <a:off x="3124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72"/>
          <p:cNvSpPr>
            <a:spLocks noChangeShapeType="1"/>
          </p:cNvSpPr>
          <p:nvPr/>
        </p:nvSpPr>
        <p:spPr bwMode="auto">
          <a:xfrm>
            <a:off x="3505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73"/>
          <p:cNvSpPr>
            <a:spLocks noChangeShapeType="1"/>
          </p:cNvSpPr>
          <p:nvPr/>
        </p:nvSpPr>
        <p:spPr bwMode="auto">
          <a:xfrm>
            <a:off x="3733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74"/>
          <p:cNvSpPr>
            <a:spLocks noChangeShapeType="1"/>
          </p:cNvSpPr>
          <p:nvPr/>
        </p:nvSpPr>
        <p:spPr bwMode="auto">
          <a:xfrm>
            <a:off x="4114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5"/>
          <p:cNvSpPr>
            <a:spLocks noChangeShapeType="1"/>
          </p:cNvSpPr>
          <p:nvPr/>
        </p:nvSpPr>
        <p:spPr bwMode="auto">
          <a:xfrm>
            <a:off x="4724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76"/>
          <p:cNvSpPr>
            <a:spLocks noChangeShapeType="1"/>
          </p:cNvSpPr>
          <p:nvPr/>
        </p:nvSpPr>
        <p:spPr bwMode="auto">
          <a:xfrm>
            <a:off x="4953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77"/>
          <p:cNvSpPr>
            <a:spLocks noChangeShapeType="1"/>
          </p:cNvSpPr>
          <p:nvPr/>
        </p:nvSpPr>
        <p:spPr bwMode="auto">
          <a:xfrm>
            <a:off x="5334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78"/>
          <p:cNvSpPr>
            <a:spLocks noChangeShapeType="1"/>
          </p:cNvSpPr>
          <p:nvPr/>
        </p:nvSpPr>
        <p:spPr bwMode="auto">
          <a:xfrm>
            <a:off x="4343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utoShape 79"/>
          <p:cNvSpPr>
            <a:spLocks noChangeArrowheads="1"/>
          </p:cNvSpPr>
          <p:nvPr/>
        </p:nvSpPr>
        <p:spPr bwMode="auto">
          <a:xfrm>
            <a:off x="50292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Rectangle 80"/>
          <p:cNvSpPr>
            <a:spLocks noChangeArrowheads="1"/>
          </p:cNvSpPr>
          <p:nvPr/>
        </p:nvSpPr>
        <p:spPr bwMode="auto">
          <a:xfrm>
            <a:off x="52578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Rectangle 81"/>
          <p:cNvSpPr>
            <a:spLocks noChangeArrowheads="1"/>
          </p:cNvSpPr>
          <p:nvPr/>
        </p:nvSpPr>
        <p:spPr bwMode="auto">
          <a:xfrm>
            <a:off x="57912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Line 84"/>
          <p:cNvSpPr>
            <a:spLocks noChangeShapeType="1"/>
          </p:cNvSpPr>
          <p:nvPr/>
        </p:nvSpPr>
        <p:spPr bwMode="auto">
          <a:xfrm>
            <a:off x="5257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85"/>
          <p:cNvSpPr>
            <a:spLocks noChangeShapeType="1"/>
          </p:cNvSpPr>
          <p:nvPr/>
        </p:nvSpPr>
        <p:spPr bwMode="auto">
          <a:xfrm>
            <a:off x="563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6"/>
          <p:cNvSpPr>
            <a:spLocks noChangeShapeType="1"/>
          </p:cNvSpPr>
          <p:nvPr/>
        </p:nvSpPr>
        <p:spPr bwMode="auto">
          <a:xfrm>
            <a:off x="5867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87"/>
          <p:cNvSpPr>
            <a:spLocks noChangeShapeType="1"/>
          </p:cNvSpPr>
          <p:nvPr/>
        </p:nvSpPr>
        <p:spPr bwMode="auto">
          <a:xfrm>
            <a:off x="624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88"/>
          <p:cNvSpPr>
            <a:spLocks noChangeShapeType="1"/>
          </p:cNvSpPr>
          <p:nvPr/>
        </p:nvSpPr>
        <p:spPr bwMode="auto">
          <a:xfrm>
            <a:off x="685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89"/>
          <p:cNvSpPr>
            <a:spLocks noChangeShapeType="1"/>
          </p:cNvSpPr>
          <p:nvPr/>
        </p:nvSpPr>
        <p:spPr bwMode="auto">
          <a:xfrm>
            <a:off x="7086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90"/>
          <p:cNvSpPr>
            <a:spLocks noChangeShapeType="1"/>
          </p:cNvSpPr>
          <p:nvPr/>
        </p:nvSpPr>
        <p:spPr bwMode="auto">
          <a:xfrm>
            <a:off x="7467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91"/>
          <p:cNvSpPr>
            <a:spLocks noChangeShapeType="1"/>
          </p:cNvSpPr>
          <p:nvPr/>
        </p:nvSpPr>
        <p:spPr bwMode="auto">
          <a:xfrm>
            <a:off x="6477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Oval 99"/>
          <p:cNvSpPr>
            <a:spLocks noChangeArrowheads="1"/>
          </p:cNvSpPr>
          <p:nvPr/>
        </p:nvSpPr>
        <p:spPr bwMode="auto">
          <a:xfrm>
            <a:off x="1600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00"/>
          <p:cNvSpPr>
            <a:spLocks noChangeShapeType="1"/>
          </p:cNvSpPr>
          <p:nvPr/>
        </p:nvSpPr>
        <p:spPr bwMode="auto">
          <a:xfrm>
            <a:off x="1676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Rectangle 101"/>
          <p:cNvSpPr>
            <a:spLocks noChangeArrowheads="1"/>
          </p:cNvSpPr>
          <p:nvPr/>
        </p:nvSpPr>
        <p:spPr bwMode="auto">
          <a:xfrm>
            <a:off x="16002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Oval 102"/>
          <p:cNvSpPr>
            <a:spLocks noChangeArrowheads="1"/>
          </p:cNvSpPr>
          <p:nvPr/>
        </p:nvSpPr>
        <p:spPr bwMode="auto">
          <a:xfrm>
            <a:off x="2286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103"/>
          <p:cNvSpPr>
            <a:spLocks noChangeShapeType="1"/>
          </p:cNvSpPr>
          <p:nvPr/>
        </p:nvSpPr>
        <p:spPr bwMode="auto">
          <a:xfrm>
            <a:off x="2362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104"/>
          <p:cNvSpPr>
            <a:spLocks noChangeArrowheads="1"/>
          </p:cNvSpPr>
          <p:nvPr/>
        </p:nvSpPr>
        <p:spPr bwMode="auto">
          <a:xfrm>
            <a:off x="2286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Oval 105"/>
          <p:cNvSpPr>
            <a:spLocks noChangeArrowheads="1"/>
          </p:cNvSpPr>
          <p:nvPr/>
        </p:nvSpPr>
        <p:spPr bwMode="auto">
          <a:xfrm>
            <a:off x="2895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106"/>
          <p:cNvSpPr>
            <a:spLocks noChangeShapeType="1"/>
          </p:cNvSpPr>
          <p:nvPr/>
        </p:nvSpPr>
        <p:spPr bwMode="auto">
          <a:xfrm>
            <a:off x="2971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Rectangle 107"/>
          <p:cNvSpPr>
            <a:spLocks noChangeArrowheads="1"/>
          </p:cNvSpPr>
          <p:nvPr/>
        </p:nvSpPr>
        <p:spPr bwMode="auto">
          <a:xfrm>
            <a:off x="2895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Oval 111"/>
          <p:cNvSpPr>
            <a:spLocks noChangeArrowheads="1"/>
          </p:cNvSpPr>
          <p:nvPr/>
        </p:nvSpPr>
        <p:spPr bwMode="auto">
          <a:xfrm>
            <a:off x="5715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12"/>
          <p:cNvSpPr>
            <a:spLocks noChangeShapeType="1"/>
          </p:cNvSpPr>
          <p:nvPr/>
        </p:nvSpPr>
        <p:spPr bwMode="auto">
          <a:xfrm>
            <a:off x="5791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Rectangle 113"/>
          <p:cNvSpPr>
            <a:spLocks noChangeArrowheads="1"/>
          </p:cNvSpPr>
          <p:nvPr/>
        </p:nvSpPr>
        <p:spPr bwMode="auto">
          <a:xfrm>
            <a:off x="5715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Oval 114"/>
          <p:cNvSpPr>
            <a:spLocks noChangeArrowheads="1"/>
          </p:cNvSpPr>
          <p:nvPr/>
        </p:nvSpPr>
        <p:spPr bwMode="auto">
          <a:xfrm>
            <a:off x="6324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115"/>
          <p:cNvSpPr>
            <a:spLocks noChangeShapeType="1"/>
          </p:cNvSpPr>
          <p:nvPr/>
        </p:nvSpPr>
        <p:spPr bwMode="auto">
          <a:xfrm>
            <a:off x="6400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Rectangle 116"/>
          <p:cNvSpPr>
            <a:spLocks noChangeArrowheads="1"/>
          </p:cNvSpPr>
          <p:nvPr/>
        </p:nvSpPr>
        <p:spPr bwMode="auto">
          <a:xfrm>
            <a:off x="6324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Oval 117"/>
          <p:cNvSpPr>
            <a:spLocks noChangeArrowheads="1"/>
          </p:cNvSpPr>
          <p:nvPr/>
        </p:nvSpPr>
        <p:spPr bwMode="auto">
          <a:xfrm>
            <a:off x="35814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118"/>
          <p:cNvSpPr>
            <a:spLocks noChangeShapeType="1"/>
          </p:cNvSpPr>
          <p:nvPr/>
        </p:nvSpPr>
        <p:spPr bwMode="auto">
          <a:xfrm>
            <a:off x="3657600" y="1981200"/>
            <a:ext cx="2438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Oval 120"/>
          <p:cNvSpPr>
            <a:spLocks noChangeArrowheads="1"/>
          </p:cNvSpPr>
          <p:nvPr/>
        </p:nvSpPr>
        <p:spPr bwMode="auto">
          <a:xfrm>
            <a:off x="29718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121"/>
          <p:cNvSpPr>
            <a:spLocks noChangeShapeType="1"/>
          </p:cNvSpPr>
          <p:nvPr/>
        </p:nvSpPr>
        <p:spPr bwMode="auto">
          <a:xfrm flipH="1">
            <a:off x="2286000" y="1981200"/>
            <a:ext cx="762000" cy="990600"/>
          </a:xfrm>
          <a:prstGeom prst="line">
            <a:avLst/>
          </a:prstGeom>
          <a:noFill/>
          <a:ln w="50800">
            <a:solidFill>
              <a:srgbClr val="0432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indexes example: insert(10)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3" name="AutoShape 3"/>
          <p:cNvSpPr>
            <a:spLocks noChangeArrowheads="1"/>
          </p:cNvSpPr>
          <p:nvPr/>
        </p:nvSpPr>
        <p:spPr bwMode="auto">
          <a:xfrm>
            <a:off x="9906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Rectangle 4"/>
          <p:cNvSpPr>
            <a:spLocks noChangeArrowheads="1"/>
          </p:cNvSpPr>
          <p:nvPr/>
        </p:nvSpPr>
        <p:spPr bwMode="auto">
          <a:xfrm>
            <a:off x="12192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Rectangle 5"/>
          <p:cNvSpPr>
            <a:spLocks noChangeArrowheads="1"/>
          </p:cNvSpPr>
          <p:nvPr/>
        </p:nvSpPr>
        <p:spPr bwMode="auto">
          <a:xfrm>
            <a:off x="19050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Rectangle 6"/>
          <p:cNvSpPr>
            <a:spLocks noChangeArrowheads="1"/>
          </p:cNvSpPr>
          <p:nvPr/>
        </p:nvSpPr>
        <p:spPr bwMode="auto">
          <a:xfrm>
            <a:off x="24384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Line 7"/>
          <p:cNvSpPr>
            <a:spLocks noChangeShapeType="1"/>
          </p:cNvSpPr>
          <p:nvPr/>
        </p:nvSpPr>
        <p:spPr bwMode="auto">
          <a:xfrm>
            <a:off x="1219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Line 8"/>
          <p:cNvSpPr>
            <a:spLocks noChangeShapeType="1"/>
          </p:cNvSpPr>
          <p:nvPr/>
        </p:nvSpPr>
        <p:spPr bwMode="auto">
          <a:xfrm>
            <a:off x="1600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9"/>
          <p:cNvSpPr>
            <a:spLocks noChangeShapeType="1"/>
          </p:cNvSpPr>
          <p:nvPr/>
        </p:nvSpPr>
        <p:spPr bwMode="auto">
          <a:xfrm>
            <a:off x="182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10"/>
          <p:cNvSpPr>
            <a:spLocks noChangeShapeType="1"/>
          </p:cNvSpPr>
          <p:nvPr/>
        </p:nvSpPr>
        <p:spPr bwMode="auto">
          <a:xfrm>
            <a:off x="2209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Line 11"/>
          <p:cNvSpPr>
            <a:spLocks noChangeShapeType="1"/>
          </p:cNvSpPr>
          <p:nvPr/>
        </p:nvSpPr>
        <p:spPr bwMode="auto">
          <a:xfrm>
            <a:off x="2819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12"/>
          <p:cNvSpPr>
            <a:spLocks noChangeShapeType="1"/>
          </p:cNvSpPr>
          <p:nvPr/>
        </p:nvSpPr>
        <p:spPr bwMode="auto">
          <a:xfrm>
            <a:off x="304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13"/>
          <p:cNvSpPr>
            <a:spLocks noChangeShapeType="1"/>
          </p:cNvSpPr>
          <p:nvPr/>
        </p:nvSpPr>
        <p:spPr bwMode="auto">
          <a:xfrm>
            <a:off x="3429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14"/>
          <p:cNvSpPr>
            <a:spLocks noChangeShapeType="1"/>
          </p:cNvSpPr>
          <p:nvPr/>
        </p:nvSpPr>
        <p:spPr bwMode="auto">
          <a:xfrm>
            <a:off x="243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AutoShape 15"/>
          <p:cNvSpPr>
            <a:spLocks noChangeArrowheads="1"/>
          </p:cNvSpPr>
          <p:nvPr/>
        </p:nvSpPr>
        <p:spPr bwMode="auto">
          <a:xfrm>
            <a:off x="2895600" y="16002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Rectangle 16"/>
          <p:cNvSpPr>
            <a:spLocks noChangeArrowheads="1"/>
          </p:cNvSpPr>
          <p:nvPr/>
        </p:nvSpPr>
        <p:spPr bwMode="auto">
          <a:xfrm>
            <a:off x="3124200" y="17526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" name="Line 17"/>
          <p:cNvSpPr>
            <a:spLocks noChangeShapeType="1"/>
          </p:cNvSpPr>
          <p:nvPr/>
        </p:nvSpPr>
        <p:spPr bwMode="auto">
          <a:xfrm>
            <a:off x="3124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Line 18"/>
          <p:cNvSpPr>
            <a:spLocks noChangeShapeType="1"/>
          </p:cNvSpPr>
          <p:nvPr/>
        </p:nvSpPr>
        <p:spPr bwMode="auto">
          <a:xfrm>
            <a:off x="3505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Line 19"/>
          <p:cNvSpPr>
            <a:spLocks noChangeShapeType="1"/>
          </p:cNvSpPr>
          <p:nvPr/>
        </p:nvSpPr>
        <p:spPr bwMode="auto">
          <a:xfrm>
            <a:off x="3733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Line 20"/>
          <p:cNvSpPr>
            <a:spLocks noChangeShapeType="1"/>
          </p:cNvSpPr>
          <p:nvPr/>
        </p:nvSpPr>
        <p:spPr bwMode="auto">
          <a:xfrm>
            <a:off x="4114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Line 21"/>
          <p:cNvSpPr>
            <a:spLocks noChangeShapeType="1"/>
          </p:cNvSpPr>
          <p:nvPr/>
        </p:nvSpPr>
        <p:spPr bwMode="auto">
          <a:xfrm>
            <a:off x="4724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Line 22"/>
          <p:cNvSpPr>
            <a:spLocks noChangeShapeType="1"/>
          </p:cNvSpPr>
          <p:nvPr/>
        </p:nvSpPr>
        <p:spPr bwMode="auto">
          <a:xfrm>
            <a:off x="4953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5334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Line 24"/>
          <p:cNvSpPr>
            <a:spLocks noChangeShapeType="1"/>
          </p:cNvSpPr>
          <p:nvPr/>
        </p:nvSpPr>
        <p:spPr bwMode="auto">
          <a:xfrm>
            <a:off x="4343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AutoShape 25"/>
          <p:cNvSpPr>
            <a:spLocks noChangeArrowheads="1"/>
          </p:cNvSpPr>
          <p:nvPr/>
        </p:nvSpPr>
        <p:spPr bwMode="auto">
          <a:xfrm>
            <a:off x="50292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Rectangle 26"/>
          <p:cNvSpPr>
            <a:spLocks noChangeArrowheads="1"/>
          </p:cNvSpPr>
          <p:nvPr/>
        </p:nvSpPr>
        <p:spPr bwMode="auto">
          <a:xfrm>
            <a:off x="52578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" name="Rectangle 27"/>
          <p:cNvSpPr>
            <a:spLocks noChangeArrowheads="1"/>
          </p:cNvSpPr>
          <p:nvPr/>
        </p:nvSpPr>
        <p:spPr bwMode="auto">
          <a:xfrm>
            <a:off x="57912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" name="Line 28"/>
          <p:cNvSpPr>
            <a:spLocks noChangeShapeType="1"/>
          </p:cNvSpPr>
          <p:nvPr/>
        </p:nvSpPr>
        <p:spPr bwMode="auto">
          <a:xfrm>
            <a:off x="5257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Line 29"/>
          <p:cNvSpPr>
            <a:spLocks noChangeShapeType="1"/>
          </p:cNvSpPr>
          <p:nvPr/>
        </p:nvSpPr>
        <p:spPr bwMode="auto">
          <a:xfrm>
            <a:off x="563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Line 30"/>
          <p:cNvSpPr>
            <a:spLocks noChangeShapeType="1"/>
          </p:cNvSpPr>
          <p:nvPr/>
        </p:nvSpPr>
        <p:spPr bwMode="auto">
          <a:xfrm>
            <a:off x="5867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Line 31"/>
          <p:cNvSpPr>
            <a:spLocks noChangeShapeType="1"/>
          </p:cNvSpPr>
          <p:nvPr/>
        </p:nvSpPr>
        <p:spPr bwMode="auto">
          <a:xfrm>
            <a:off x="624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Line 32"/>
          <p:cNvSpPr>
            <a:spLocks noChangeShapeType="1"/>
          </p:cNvSpPr>
          <p:nvPr/>
        </p:nvSpPr>
        <p:spPr bwMode="auto">
          <a:xfrm>
            <a:off x="685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Line 33"/>
          <p:cNvSpPr>
            <a:spLocks noChangeShapeType="1"/>
          </p:cNvSpPr>
          <p:nvPr/>
        </p:nvSpPr>
        <p:spPr bwMode="auto">
          <a:xfrm>
            <a:off x="7086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Line 34"/>
          <p:cNvSpPr>
            <a:spLocks noChangeShapeType="1"/>
          </p:cNvSpPr>
          <p:nvPr/>
        </p:nvSpPr>
        <p:spPr bwMode="auto">
          <a:xfrm>
            <a:off x="7467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Line 35"/>
          <p:cNvSpPr>
            <a:spLocks noChangeShapeType="1"/>
          </p:cNvSpPr>
          <p:nvPr/>
        </p:nvSpPr>
        <p:spPr bwMode="auto">
          <a:xfrm>
            <a:off x="6477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Oval 39"/>
          <p:cNvSpPr>
            <a:spLocks noChangeArrowheads="1"/>
          </p:cNvSpPr>
          <p:nvPr/>
        </p:nvSpPr>
        <p:spPr bwMode="auto">
          <a:xfrm>
            <a:off x="1600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Line 40"/>
          <p:cNvSpPr>
            <a:spLocks noChangeShapeType="1"/>
          </p:cNvSpPr>
          <p:nvPr/>
        </p:nvSpPr>
        <p:spPr bwMode="auto">
          <a:xfrm>
            <a:off x="1676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Rectangle 41"/>
          <p:cNvSpPr>
            <a:spLocks noChangeArrowheads="1"/>
          </p:cNvSpPr>
          <p:nvPr/>
        </p:nvSpPr>
        <p:spPr bwMode="auto">
          <a:xfrm>
            <a:off x="16002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Oval 42"/>
          <p:cNvSpPr>
            <a:spLocks noChangeArrowheads="1"/>
          </p:cNvSpPr>
          <p:nvPr/>
        </p:nvSpPr>
        <p:spPr bwMode="auto">
          <a:xfrm>
            <a:off x="2286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Line 43"/>
          <p:cNvSpPr>
            <a:spLocks noChangeShapeType="1"/>
          </p:cNvSpPr>
          <p:nvPr/>
        </p:nvSpPr>
        <p:spPr bwMode="auto">
          <a:xfrm>
            <a:off x="2362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Rectangle 44"/>
          <p:cNvSpPr>
            <a:spLocks noChangeArrowheads="1"/>
          </p:cNvSpPr>
          <p:nvPr/>
        </p:nvSpPr>
        <p:spPr bwMode="auto">
          <a:xfrm>
            <a:off x="2286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" name="Oval 45"/>
          <p:cNvSpPr>
            <a:spLocks noChangeArrowheads="1"/>
          </p:cNvSpPr>
          <p:nvPr/>
        </p:nvSpPr>
        <p:spPr bwMode="auto">
          <a:xfrm>
            <a:off x="2895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Line 46"/>
          <p:cNvSpPr>
            <a:spLocks noChangeShapeType="1"/>
          </p:cNvSpPr>
          <p:nvPr/>
        </p:nvSpPr>
        <p:spPr bwMode="auto">
          <a:xfrm>
            <a:off x="2971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Rectangle 47"/>
          <p:cNvSpPr>
            <a:spLocks noChangeArrowheads="1"/>
          </p:cNvSpPr>
          <p:nvPr/>
        </p:nvSpPr>
        <p:spPr bwMode="auto">
          <a:xfrm>
            <a:off x="2895600" y="3810000"/>
            <a:ext cx="228600" cy="2286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Oval 51"/>
          <p:cNvSpPr>
            <a:spLocks noChangeArrowheads="1"/>
          </p:cNvSpPr>
          <p:nvPr/>
        </p:nvSpPr>
        <p:spPr bwMode="auto">
          <a:xfrm>
            <a:off x="5715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Line 52"/>
          <p:cNvSpPr>
            <a:spLocks noChangeShapeType="1"/>
          </p:cNvSpPr>
          <p:nvPr/>
        </p:nvSpPr>
        <p:spPr bwMode="auto">
          <a:xfrm>
            <a:off x="5791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" name="Rectangle 53"/>
          <p:cNvSpPr>
            <a:spLocks noChangeArrowheads="1"/>
          </p:cNvSpPr>
          <p:nvPr/>
        </p:nvSpPr>
        <p:spPr bwMode="auto">
          <a:xfrm>
            <a:off x="5715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" name="Oval 54"/>
          <p:cNvSpPr>
            <a:spLocks noChangeArrowheads="1"/>
          </p:cNvSpPr>
          <p:nvPr/>
        </p:nvSpPr>
        <p:spPr bwMode="auto">
          <a:xfrm>
            <a:off x="6324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" name="Line 55"/>
          <p:cNvSpPr>
            <a:spLocks noChangeShapeType="1"/>
          </p:cNvSpPr>
          <p:nvPr/>
        </p:nvSpPr>
        <p:spPr bwMode="auto">
          <a:xfrm>
            <a:off x="6400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" name="Rectangle 56"/>
          <p:cNvSpPr>
            <a:spLocks noChangeArrowheads="1"/>
          </p:cNvSpPr>
          <p:nvPr/>
        </p:nvSpPr>
        <p:spPr bwMode="auto">
          <a:xfrm>
            <a:off x="6324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Oval 57"/>
          <p:cNvSpPr>
            <a:spLocks noChangeArrowheads="1"/>
          </p:cNvSpPr>
          <p:nvPr/>
        </p:nvSpPr>
        <p:spPr bwMode="auto">
          <a:xfrm>
            <a:off x="35814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" name="Line 58"/>
          <p:cNvSpPr>
            <a:spLocks noChangeShapeType="1"/>
          </p:cNvSpPr>
          <p:nvPr/>
        </p:nvSpPr>
        <p:spPr bwMode="auto">
          <a:xfrm>
            <a:off x="3657600" y="1981200"/>
            <a:ext cx="2438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Oval 59"/>
          <p:cNvSpPr>
            <a:spLocks noChangeArrowheads="1"/>
          </p:cNvSpPr>
          <p:nvPr/>
        </p:nvSpPr>
        <p:spPr bwMode="auto">
          <a:xfrm>
            <a:off x="29718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" name="Line 60"/>
          <p:cNvSpPr>
            <a:spLocks noChangeShapeType="1"/>
          </p:cNvSpPr>
          <p:nvPr/>
        </p:nvSpPr>
        <p:spPr bwMode="auto">
          <a:xfrm flipH="1">
            <a:off x="2286000" y="1981200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Rectangle 62"/>
          <p:cNvSpPr>
            <a:spLocks noChangeArrowheads="1"/>
          </p:cNvSpPr>
          <p:nvPr/>
        </p:nvSpPr>
        <p:spPr bwMode="auto">
          <a:xfrm>
            <a:off x="29718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" name="Oval 63"/>
          <p:cNvSpPr>
            <a:spLocks noChangeArrowheads="1"/>
          </p:cNvSpPr>
          <p:nvPr/>
        </p:nvSpPr>
        <p:spPr bwMode="auto">
          <a:xfrm>
            <a:off x="3505200" y="3276600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" name="Line 64"/>
          <p:cNvSpPr>
            <a:spLocks noChangeShapeType="1"/>
          </p:cNvSpPr>
          <p:nvPr/>
        </p:nvSpPr>
        <p:spPr bwMode="auto">
          <a:xfrm>
            <a:off x="3581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Rectangle 65"/>
          <p:cNvSpPr>
            <a:spLocks noChangeArrowheads="1"/>
          </p:cNvSpPr>
          <p:nvPr/>
        </p:nvSpPr>
        <p:spPr bwMode="auto">
          <a:xfrm>
            <a:off x="3505200" y="3810000"/>
            <a:ext cx="228600" cy="228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矩形 124"/>
          <p:cNvSpPr/>
          <p:nvPr/>
        </p:nvSpPr>
        <p:spPr>
          <a:xfrm>
            <a:off x="3039972" y="2962046"/>
            <a:ext cx="753969" cy="1119590"/>
          </a:xfrm>
          <a:prstGeom prst="rect">
            <a:avLst/>
          </a:prstGeom>
          <a:noFill/>
          <a:ln w="38100">
            <a:solidFill>
              <a:srgbClr val="0432FF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indexes example: insert(11)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4" name="AutoShape 3"/>
          <p:cNvSpPr>
            <a:spLocks noChangeArrowheads="1"/>
          </p:cNvSpPr>
          <p:nvPr/>
        </p:nvSpPr>
        <p:spPr bwMode="auto">
          <a:xfrm>
            <a:off x="9906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Rectangle 4"/>
          <p:cNvSpPr>
            <a:spLocks noChangeArrowheads="1"/>
          </p:cNvSpPr>
          <p:nvPr/>
        </p:nvSpPr>
        <p:spPr bwMode="auto">
          <a:xfrm>
            <a:off x="12192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Rectangle 5"/>
          <p:cNvSpPr>
            <a:spLocks noChangeArrowheads="1"/>
          </p:cNvSpPr>
          <p:nvPr/>
        </p:nvSpPr>
        <p:spPr bwMode="auto">
          <a:xfrm>
            <a:off x="19050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Rectangle 6"/>
          <p:cNvSpPr>
            <a:spLocks noChangeArrowheads="1"/>
          </p:cNvSpPr>
          <p:nvPr/>
        </p:nvSpPr>
        <p:spPr bwMode="auto">
          <a:xfrm>
            <a:off x="24384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" name="Line 7"/>
          <p:cNvSpPr>
            <a:spLocks noChangeShapeType="1"/>
          </p:cNvSpPr>
          <p:nvPr/>
        </p:nvSpPr>
        <p:spPr bwMode="auto">
          <a:xfrm>
            <a:off x="1219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8"/>
          <p:cNvSpPr>
            <a:spLocks noChangeShapeType="1"/>
          </p:cNvSpPr>
          <p:nvPr/>
        </p:nvSpPr>
        <p:spPr bwMode="auto">
          <a:xfrm>
            <a:off x="1600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9"/>
          <p:cNvSpPr>
            <a:spLocks noChangeShapeType="1"/>
          </p:cNvSpPr>
          <p:nvPr/>
        </p:nvSpPr>
        <p:spPr bwMode="auto">
          <a:xfrm>
            <a:off x="182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Line 10"/>
          <p:cNvSpPr>
            <a:spLocks noChangeShapeType="1"/>
          </p:cNvSpPr>
          <p:nvPr/>
        </p:nvSpPr>
        <p:spPr bwMode="auto">
          <a:xfrm>
            <a:off x="2209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11"/>
          <p:cNvSpPr>
            <a:spLocks noChangeShapeType="1"/>
          </p:cNvSpPr>
          <p:nvPr/>
        </p:nvSpPr>
        <p:spPr bwMode="auto">
          <a:xfrm>
            <a:off x="2819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12"/>
          <p:cNvSpPr>
            <a:spLocks noChangeShapeType="1"/>
          </p:cNvSpPr>
          <p:nvPr/>
        </p:nvSpPr>
        <p:spPr bwMode="auto">
          <a:xfrm>
            <a:off x="304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13"/>
          <p:cNvSpPr>
            <a:spLocks noChangeShapeType="1"/>
          </p:cNvSpPr>
          <p:nvPr/>
        </p:nvSpPr>
        <p:spPr bwMode="auto">
          <a:xfrm>
            <a:off x="3429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Line 14"/>
          <p:cNvSpPr>
            <a:spLocks noChangeShapeType="1"/>
          </p:cNvSpPr>
          <p:nvPr/>
        </p:nvSpPr>
        <p:spPr bwMode="auto">
          <a:xfrm>
            <a:off x="243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AutoShape 15"/>
          <p:cNvSpPr>
            <a:spLocks noChangeArrowheads="1"/>
          </p:cNvSpPr>
          <p:nvPr/>
        </p:nvSpPr>
        <p:spPr bwMode="auto">
          <a:xfrm>
            <a:off x="2895600" y="16002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Rectangle 16"/>
          <p:cNvSpPr>
            <a:spLocks noChangeArrowheads="1"/>
          </p:cNvSpPr>
          <p:nvPr/>
        </p:nvSpPr>
        <p:spPr bwMode="auto">
          <a:xfrm>
            <a:off x="3124200" y="17526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" name="Line 17"/>
          <p:cNvSpPr>
            <a:spLocks noChangeShapeType="1"/>
          </p:cNvSpPr>
          <p:nvPr/>
        </p:nvSpPr>
        <p:spPr bwMode="auto">
          <a:xfrm>
            <a:off x="3124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Line 18"/>
          <p:cNvSpPr>
            <a:spLocks noChangeShapeType="1"/>
          </p:cNvSpPr>
          <p:nvPr/>
        </p:nvSpPr>
        <p:spPr bwMode="auto">
          <a:xfrm>
            <a:off x="3505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Line 19"/>
          <p:cNvSpPr>
            <a:spLocks noChangeShapeType="1"/>
          </p:cNvSpPr>
          <p:nvPr/>
        </p:nvSpPr>
        <p:spPr bwMode="auto">
          <a:xfrm>
            <a:off x="3733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Line 20"/>
          <p:cNvSpPr>
            <a:spLocks noChangeShapeType="1"/>
          </p:cNvSpPr>
          <p:nvPr/>
        </p:nvSpPr>
        <p:spPr bwMode="auto">
          <a:xfrm>
            <a:off x="4114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Line 21"/>
          <p:cNvSpPr>
            <a:spLocks noChangeShapeType="1"/>
          </p:cNvSpPr>
          <p:nvPr/>
        </p:nvSpPr>
        <p:spPr bwMode="auto">
          <a:xfrm>
            <a:off x="4724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Line 22"/>
          <p:cNvSpPr>
            <a:spLocks noChangeShapeType="1"/>
          </p:cNvSpPr>
          <p:nvPr/>
        </p:nvSpPr>
        <p:spPr bwMode="auto">
          <a:xfrm>
            <a:off x="4953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Line 23"/>
          <p:cNvSpPr>
            <a:spLocks noChangeShapeType="1"/>
          </p:cNvSpPr>
          <p:nvPr/>
        </p:nvSpPr>
        <p:spPr bwMode="auto">
          <a:xfrm>
            <a:off x="5334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Line 24"/>
          <p:cNvSpPr>
            <a:spLocks noChangeShapeType="1"/>
          </p:cNvSpPr>
          <p:nvPr/>
        </p:nvSpPr>
        <p:spPr bwMode="auto">
          <a:xfrm>
            <a:off x="4343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AutoShape 25"/>
          <p:cNvSpPr>
            <a:spLocks noChangeArrowheads="1"/>
          </p:cNvSpPr>
          <p:nvPr/>
        </p:nvSpPr>
        <p:spPr bwMode="auto">
          <a:xfrm>
            <a:off x="50292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Rectangle 26"/>
          <p:cNvSpPr>
            <a:spLocks noChangeArrowheads="1"/>
          </p:cNvSpPr>
          <p:nvPr/>
        </p:nvSpPr>
        <p:spPr bwMode="auto">
          <a:xfrm>
            <a:off x="52578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" name="Rectangle 27"/>
          <p:cNvSpPr>
            <a:spLocks noChangeArrowheads="1"/>
          </p:cNvSpPr>
          <p:nvPr/>
        </p:nvSpPr>
        <p:spPr bwMode="auto">
          <a:xfrm>
            <a:off x="57912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9" name="Line 28"/>
          <p:cNvSpPr>
            <a:spLocks noChangeShapeType="1"/>
          </p:cNvSpPr>
          <p:nvPr/>
        </p:nvSpPr>
        <p:spPr bwMode="auto">
          <a:xfrm>
            <a:off x="5257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Line 29"/>
          <p:cNvSpPr>
            <a:spLocks noChangeShapeType="1"/>
          </p:cNvSpPr>
          <p:nvPr/>
        </p:nvSpPr>
        <p:spPr bwMode="auto">
          <a:xfrm>
            <a:off x="5638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Line 30"/>
          <p:cNvSpPr>
            <a:spLocks noChangeShapeType="1"/>
          </p:cNvSpPr>
          <p:nvPr/>
        </p:nvSpPr>
        <p:spPr bwMode="auto">
          <a:xfrm>
            <a:off x="5867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Line 31"/>
          <p:cNvSpPr>
            <a:spLocks noChangeShapeType="1"/>
          </p:cNvSpPr>
          <p:nvPr/>
        </p:nvSpPr>
        <p:spPr bwMode="auto">
          <a:xfrm>
            <a:off x="6248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Line 32"/>
          <p:cNvSpPr>
            <a:spLocks noChangeShapeType="1"/>
          </p:cNvSpPr>
          <p:nvPr/>
        </p:nvSpPr>
        <p:spPr bwMode="auto">
          <a:xfrm>
            <a:off x="685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Line 33"/>
          <p:cNvSpPr>
            <a:spLocks noChangeShapeType="1"/>
          </p:cNvSpPr>
          <p:nvPr/>
        </p:nvSpPr>
        <p:spPr bwMode="auto">
          <a:xfrm>
            <a:off x="7086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Line 34"/>
          <p:cNvSpPr>
            <a:spLocks noChangeShapeType="1"/>
          </p:cNvSpPr>
          <p:nvPr/>
        </p:nvSpPr>
        <p:spPr bwMode="auto">
          <a:xfrm>
            <a:off x="7467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Line 35"/>
          <p:cNvSpPr>
            <a:spLocks noChangeShapeType="1"/>
          </p:cNvSpPr>
          <p:nvPr/>
        </p:nvSpPr>
        <p:spPr bwMode="auto">
          <a:xfrm>
            <a:off x="6477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Oval 39"/>
          <p:cNvSpPr>
            <a:spLocks noChangeArrowheads="1"/>
          </p:cNvSpPr>
          <p:nvPr/>
        </p:nvSpPr>
        <p:spPr bwMode="auto">
          <a:xfrm>
            <a:off x="1600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Line 40"/>
          <p:cNvSpPr>
            <a:spLocks noChangeShapeType="1"/>
          </p:cNvSpPr>
          <p:nvPr/>
        </p:nvSpPr>
        <p:spPr bwMode="auto">
          <a:xfrm>
            <a:off x="1676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Rectangle 41"/>
          <p:cNvSpPr>
            <a:spLocks noChangeArrowheads="1"/>
          </p:cNvSpPr>
          <p:nvPr/>
        </p:nvSpPr>
        <p:spPr bwMode="auto">
          <a:xfrm>
            <a:off x="16002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Oval 42"/>
          <p:cNvSpPr>
            <a:spLocks noChangeArrowheads="1"/>
          </p:cNvSpPr>
          <p:nvPr/>
        </p:nvSpPr>
        <p:spPr bwMode="auto">
          <a:xfrm>
            <a:off x="2286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Line 43"/>
          <p:cNvSpPr>
            <a:spLocks noChangeShapeType="1"/>
          </p:cNvSpPr>
          <p:nvPr/>
        </p:nvSpPr>
        <p:spPr bwMode="auto">
          <a:xfrm>
            <a:off x="2362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" name="Rectangle 44"/>
          <p:cNvSpPr>
            <a:spLocks noChangeArrowheads="1"/>
          </p:cNvSpPr>
          <p:nvPr/>
        </p:nvSpPr>
        <p:spPr bwMode="auto">
          <a:xfrm>
            <a:off x="2286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Oval 45"/>
          <p:cNvSpPr>
            <a:spLocks noChangeArrowheads="1"/>
          </p:cNvSpPr>
          <p:nvPr/>
        </p:nvSpPr>
        <p:spPr bwMode="auto">
          <a:xfrm>
            <a:off x="2895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Line 46"/>
          <p:cNvSpPr>
            <a:spLocks noChangeShapeType="1"/>
          </p:cNvSpPr>
          <p:nvPr/>
        </p:nvSpPr>
        <p:spPr bwMode="auto">
          <a:xfrm>
            <a:off x="2971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Rectangle 47"/>
          <p:cNvSpPr>
            <a:spLocks noChangeArrowheads="1"/>
          </p:cNvSpPr>
          <p:nvPr/>
        </p:nvSpPr>
        <p:spPr bwMode="auto">
          <a:xfrm>
            <a:off x="2895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5715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" name="Line 52"/>
          <p:cNvSpPr>
            <a:spLocks noChangeShapeType="1"/>
          </p:cNvSpPr>
          <p:nvPr/>
        </p:nvSpPr>
        <p:spPr bwMode="auto">
          <a:xfrm>
            <a:off x="5791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" name="Rectangle 53"/>
          <p:cNvSpPr>
            <a:spLocks noChangeArrowheads="1"/>
          </p:cNvSpPr>
          <p:nvPr/>
        </p:nvSpPr>
        <p:spPr bwMode="auto">
          <a:xfrm>
            <a:off x="5715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" name="Oval 54"/>
          <p:cNvSpPr>
            <a:spLocks noChangeArrowheads="1"/>
          </p:cNvSpPr>
          <p:nvPr/>
        </p:nvSpPr>
        <p:spPr bwMode="auto">
          <a:xfrm>
            <a:off x="63246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" name="Line 55"/>
          <p:cNvSpPr>
            <a:spLocks noChangeShapeType="1"/>
          </p:cNvSpPr>
          <p:nvPr/>
        </p:nvSpPr>
        <p:spPr bwMode="auto">
          <a:xfrm>
            <a:off x="64008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Rectangle 56"/>
          <p:cNvSpPr>
            <a:spLocks noChangeArrowheads="1"/>
          </p:cNvSpPr>
          <p:nvPr/>
        </p:nvSpPr>
        <p:spPr bwMode="auto">
          <a:xfrm>
            <a:off x="63246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" name="Oval 57"/>
          <p:cNvSpPr>
            <a:spLocks noChangeArrowheads="1"/>
          </p:cNvSpPr>
          <p:nvPr/>
        </p:nvSpPr>
        <p:spPr bwMode="auto">
          <a:xfrm>
            <a:off x="35814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Line 58"/>
          <p:cNvSpPr>
            <a:spLocks noChangeShapeType="1"/>
          </p:cNvSpPr>
          <p:nvPr/>
        </p:nvSpPr>
        <p:spPr bwMode="auto">
          <a:xfrm>
            <a:off x="3657600" y="1981200"/>
            <a:ext cx="2438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" name="Oval 59"/>
          <p:cNvSpPr>
            <a:spLocks noChangeArrowheads="1"/>
          </p:cNvSpPr>
          <p:nvPr/>
        </p:nvSpPr>
        <p:spPr bwMode="auto">
          <a:xfrm>
            <a:off x="29718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Line 60"/>
          <p:cNvSpPr>
            <a:spLocks noChangeShapeType="1"/>
          </p:cNvSpPr>
          <p:nvPr/>
        </p:nvSpPr>
        <p:spPr bwMode="auto">
          <a:xfrm flipH="1">
            <a:off x="2286000" y="1981200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Rectangle 62"/>
          <p:cNvSpPr>
            <a:spLocks noChangeArrowheads="1"/>
          </p:cNvSpPr>
          <p:nvPr/>
        </p:nvSpPr>
        <p:spPr bwMode="auto">
          <a:xfrm>
            <a:off x="29718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" name="Oval 63"/>
          <p:cNvSpPr>
            <a:spLocks noChangeArrowheads="1"/>
          </p:cNvSpPr>
          <p:nvPr/>
        </p:nvSpPr>
        <p:spPr bwMode="auto">
          <a:xfrm>
            <a:off x="3505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Line 64"/>
          <p:cNvSpPr>
            <a:spLocks noChangeShapeType="1"/>
          </p:cNvSpPr>
          <p:nvPr/>
        </p:nvSpPr>
        <p:spPr bwMode="auto">
          <a:xfrm>
            <a:off x="3581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Rectangle 65"/>
          <p:cNvSpPr>
            <a:spLocks noChangeArrowheads="1"/>
          </p:cNvSpPr>
          <p:nvPr/>
        </p:nvSpPr>
        <p:spPr bwMode="auto">
          <a:xfrm>
            <a:off x="3505200" y="3810000"/>
            <a:ext cx="228600" cy="2286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" name="Rectangle 66"/>
          <p:cNvSpPr>
            <a:spLocks noChangeArrowheads="1"/>
          </p:cNvSpPr>
          <p:nvPr/>
        </p:nvSpPr>
        <p:spPr bwMode="auto">
          <a:xfrm>
            <a:off x="3810000" y="3124200"/>
            <a:ext cx="4283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lang="en-US" altLang="zh-CN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" name="Oval 67"/>
          <p:cNvSpPr>
            <a:spLocks noChangeArrowheads="1"/>
          </p:cNvSpPr>
          <p:nvPr/>
        </p:nvSpPr>
        <p:spPr bwMode="auto">
          <a:xfrm>
            <a:off x="3810000" y="2971800"/>
            <a:ext cx="685800" cy="685800"/>
          </a:xfrm>
          <a:prstGeom prst="ellipse">
            <a:avLst/>
          </a:prstGeom>
          <a:noFill/>
          <a:ln w="9525">
            <a:solidFill>
              <a:srgbClr val="0432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indexes example: insert(11)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3048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334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219200" y="3124200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533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914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1143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1524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2133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2362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2743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1752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15"/>
          <p:cNvSpPr>
            <a:spLocks noChangeArrowheads="1"/>
          </p:cNvSpPr>
          <p:nvPr/>
        </p:nvSpPr>
        <p:spPr bwMode="auto">
          <a:xfrm>
            <a:off x="2895600" y="16002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3657600" y="17526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3124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35052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3733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41148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>
            <a:off x="4724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4953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53340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4343400" y="1600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AutoShape 25"/>
          <p:cNvSpPr>
            <a:spLocks noChangeArrowheads="1"/>
          </p:cNvSpPr>
          <p:nvPr/>
        </p:nvSpPr>
        <p:spPr bwMode="auto">
          <a:xfrm>
            <a:off x="62484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4770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7010400" y="31242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6477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>
            <a:off x="6858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>
            <a:off x="7086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1"/>
          <p:cNvSpPr>
            <a:spLocks noChangeShapeType="1"/>
          </p:cNvSpPr>
          <p:nvPr/>
        </p:nvSpPr>
        <p:spPr bwMode="auto">
          <a:xfrm>
            <a:off x="74676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2"/>
          <p:cNvSpPr>
            <a:spLocks noChangeShapeType="1"/>
          </p:cNvSpPr>
          <p:nvPr/>
        </p:nvSpPr>
        <p:spPr bwMode="auto">
          <a:xfrm>
            <a:off x="8077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3"/>
          <p:cNvSpPr>
            <a:spLocks noChangeShapeType="1"/>
          </p:cNvSpPr>
          <p:nvPr/>
        </p:nvSpPr>
        <p:spPr bwMode="auto">
          <a:xfrm>
            <a:off x="8305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34"/>
          <p:cNvSpPr>
            <a:spLocks noChangeShapeType="1"/>
          </p:cNvSpPr>
          <p:nvPr/>
        </p:nvSpPr>
        <p:spPr bwMode="auto">
          <a:xfrm>
            <a:off x="8686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35"/>
          <p:cNvSpPr>
            <a:spLocks noChangeShapeType="1"/>
          </p:cNvSpPr>
          <p:nvPr/>
        </p:nvSpPr>
        <p:spPr bwMode="auto">
          <a:xfrm>
            <a:off x="7696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39"/>
          <p:cNvSpPr>
            <a:spLocks noChangeArrowheads="1"/>
          </p:cNvSpPr>
          <p:nvPr/>
        </p:nvSpPr>
        <p:spPr bwMode="auto">
          <a:xfrm>
            <a:off x="9144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9906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9144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1600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>
            <a:off x="1676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16002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Oval 51"/>
          <p:cNvSpPr>
            <a:spLocks noChangeArrowheads="1"/>
          </p:cNvSpPr>
          <p:nvPr/>
        </p:nvSpPr>
        <p:spPr bwMode="auto">
          <a:xfrm>
            <a:off x="6934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Line 52"/>
          <p:cNvSpPr>
            <a:spLocks noChangeShapeType="1"/>
          </p:cNvSpPr>
          <p:nvPr/>
        </p:nvSpPr>
        <p:spPr bwMode="auto">
          <a:xfrm>
            <a:off x="7010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Rectangle 53"/>
          <p:cNvSpPr>
            <a:spLocks noChangeArrowheads="1"/>
          </p:cNvSpPr>
          <p:nvPr/>
        </p:nvSpPr>
        <p:spPr bwMode="auto">
          <a:xfrm>
            <a:off x="69342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Oval 54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55"/>
          <p:cNvSpPr>
            <a:spLocks noChangeShapeType="1"/>
          </p:cNvSpPr>
          <p:nvPr/>
        </p:nvSpPr>
        <p:spPr bwMode="auto">
          <a:xfrm>
            <a:off x="76200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Rectangle 56"/>
          <p:cNvSpPr>
            <a:spLocks noChangeArrowheads="1"/>
          </p:cNvSpPr>
          <p:nvPr/>
        </p:nvSpPr>
        <p:spPr bwMode="auto">
          <a:xfrm>
            <a:off x="75438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Oval 57"/>
          <p:cNvSpPr>
            <a:spLocks noChangeArrowheads="1"/>
          </p:cNvSpPr>
          <p:nvPr/>
        </p:nvSpPr>
        <p:spPr bwMode="auto">
          <a:xfrm>
            <a:off x="35814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58"/>
          <p:cNvSpPr>
            <a:spLocks noChangeShapeType="1"/>
          </p:cNvSpPr>
          <p:nvPr/>
        </p:nvSpPr>
        <p:spPr bwMode="auto">
          <a:xfrm>
            <a:off x="4267200" y="1981200"/>
            <a:ext cx="2971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Oval 59"/>
          <p:cNvSpPr>
            <a:spLocks noChangeArrowheads="1"/>
          </p:cNvSpPr>
          <p:nvPr/>
        </p:nvSpPr>
        <p:spPr bwMode="auto">
          <a:xfrm>
            <a:off x="29718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Line 60"/>
          <p:cNvSpPr>
            <a:spLocks noChangeShapeType="1"/>
          </p:cNvSpPr>
          <p:nvPr/>
        </p:nvSpPr>
        <p:spPr bwMode="auto">
          <a:xfrm flipH="1">
            <a:off x="2286000" y="1981200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AutoShape 68"/>
          <p:cNvSpPr>
            <a:spLocks noChangeArrowheads="1"/>
          </p:cNvSpPr>
          <p:nvPr/>
        </p:nvSpPr>
        <p:spPr bwMode="auto">
          <a:xfrm>
            <a:off x="3276600" y="2971800"/>
            <a:ext cx="2667000" cy="685800"/>
          </a:xfrm>
          <a:prstGeom prst="roundRect">
            <a:avLst>
              <a:gd name="adj" fmla="val 16667"/>
            </a:avLst>
          </a:prstGeom>
          <a:solidFill>
            <a:srgbClr val="3399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Rectangle 69"/>
          <p:cNvSpPr>
            <a:spLocks noChangeArrowheads="1"/>
          </p:cNvSpPr>
          <p:nvPr/>
        </p:nvSpPr>
        <p:spPr bwMode="auto">
          <a:xfrm>
            <a:off x="3505200" y="3124200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Rectangle 70"/>
          <p:cNvSpPr>
            <a:spLocks noChangeArrowheads="1"/>
          </p:cNvSpPr>
          <p:nvPr/>
        </p:nvSpPr>
        <p:spPr bwMode="auto">
          <a:xfrm>
            <a:off x="4114800" y="3124200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Line 72"/>
          <p:cNvSpPr>
            <a:spLocks noChangeShapeType="1"/>
          </p:cNvSpPr>
          <p:nvPr/>
        </p:nvSpPr>
        <p:spPr bwMode="auto">
          <a:xfrm>
            <a:off x="3505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73"/>
          <p:cNvSpPr>
            <a:spLocks noChangeShapeType="1"/>
          </p:cNvSpPr>
          <p:nvPr/>
        </p:nvSpPr>
        <p:spPr bwMode="auto">
          <a:xfrm>
            <a:off x="38862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74"/>
          <p:cNvSpPr>
            <a:spLocks noChangeShapeType="1"/>
          </p:cNvSpPr>
          <p:nvPr/>
        </p:nvSpPr>
        <p:spPr bwMode="auto">
          <a:xfrm>
            <a:off x="4114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Line 75"/>
          <p:cNvSpPr>
            <a:spLocks noChangeShapeType="1"/>
          </p:cNvSpPr>
          <p:nvPr/>
        </p:nvSpPr>
        <p:spPr bwMode="auto">
          <a:xfrm>
            <a:off x="44958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Line 76"/>
          <p:cNvSpPr>
            <a:spLocks noChangeShapeType="1"/>
          </p:cNvSpPr>
          <p:nvPr/>
        </p:nvSpPr>
        <p:spPr bwMode="auto">
          <a:xfrm>
            <a:off x="5105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Line 77"/>
          <p:cNvSpPr>
            <a:spLocks noChangeShapeType="1"/>
          </p:cNvSpPr>
          <p:nvPr/>
        </p:nvSpPr>
        <p:spPr bwMode="auto">
          <a:xfrm>
            <a:off x="5334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Line 78"/>
          <p:cNvSpPr>
            <a:spLocks noChangeShapeType="1"/>
          </p:cNvSpPr>
          <p:nvPr/>
        </p:nvSpPr>
        <p:spPr bwMode="auto">
          <a:xfrm>
            <a:off x="57150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79"/>
          <p:cNvSpPr>
            <a:spLocks noChangeShapeType="1"/>
          </p:cNvSpPr>
          <p:nvPr/>
        </p:nvSpPr>
        <p:spPr bwMode="auto">
          <a:xfrm>
            <a:off x="4724400" y="2971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Oval 83"/>
          <p:cNvSpPr>
            <a:spLocks noChangeArrowheads="1"/>
          </p:cNvSpPr>
          <p:nvPr/>
        </p:nvSpPr>
        <p:spPr bwMode="auto">
          <a:xfrm>
            <a:off x="38862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84"/>
          <p:cNvSpPr>
            <a:spLocks noChangeShapeType="1"/>
          </p:cNvSpPr>
          <p:nvPr/>
        </p:nvSpPr>
        <p:spPr bwMode="auto">
          <a:xfrm>
            <a:off x="39624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Rectangle 85"/>
          <p:cNvSpPr>
            <a:spLocks noChangeArrowheads="1"/>
          </p:cNvSpPr>
          <p:nvPr/>
        </p:nvSpPr>
        <p:spPr bwMode="auto">
          <a:xfrm>
            <a:off x="38862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Oval 86"/>
          <p:cNvSpPr>
            <a:spLocks noChangeArrowheads="1"/>
          </p:cNvSpPr>
          <p:nvPr/>
        </p:nvSpPr>
        <p:spPr bwMode="auto">
          <a:xfrm>
            <a:off x="4572000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Line 87"/>
          <p:cNvSpPr>
            <a:spLocks noChangeShapeType="1"/>
          </p:cNvSpPr>
          <p:nvPr/>
        </p:nvSpPr>
        <p:spPr bwMode="auto">
          <a:xfrm>
            <a:off x="46482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Rectangle 88"/>
          <p:cNvSpPr>
            <a:spLocks noChangeArrowheads="1"/>
          </p:cNvSpPr>
          <p:nvPr/>
        </p:nvSpPr>
        <p:spPr bwMode="auto">
          <a:xfrm>
            <a:off x="4572000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Line 96"/>
          <p:cNvSpPr>
            <a:spLocks noChangeShapeType="1"/>
          </p:cNvSpPr>
          <p:nvPr/>
        </p:nvSpPr>
        <p:spPr bwMode="auto">
          <a:xfrm>
            <a:off x="3657600" y="19812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Oval 97"/>
          <p:cNvSpPr>
            <a:spLocks noChangeArrowheads="1"/>
          </p:cNvSpPr>
          <p:nvPr/>
        </p:nvSpPr>
        <p:spPr bwMode="auto">
          <a:xfrm>
            <a:off x="4191000" y="19050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Rectangle 98"/>
          <p:cNvSpPr>
            <a:spLocks noChangeArrowheads="1"/>
          </p:cNvSpPr>
          <p:nvPr/>
        </p:nvSpPr>
        <p:spPr bwMode="auto">
          <a:xfrm>
            <a:off x="3124200" y="1752600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" name="Rectangle 6"/>
          <p:cNvSpPr/>
          <p:nvPr/>
        </p:nvSpPr>
        <p:spPr>
          <a:xfrm>
            <a:off x="2849086" y="4583459"/>
            <a:ext cx="3445827" cy="46166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Split</a:t>
            </a:r>
            <a:r>
              <a:rPr lang="zh-CN" altLang="en-US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nodes!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804640" y="3139241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Oval 42"/>
          <p:cNvSpPr>
            <a:spLocks noChangeArrowheads="1"/>
          </p:cNvSpPr>
          <p:nvPr/>
        </p:nvSpPr>
        <p:spPr bwMode="auto">
          <a:xfrm>
            <a:off x="2193746" y="32766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2269946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Rectangle 44"/>
          <p:cNvSpPr>
            <a:spLocks noChangeArrowheads="1"/>
          </p:cNvSpPr>
          <p:nvPr/>
        </p:nvSpPr>
        <p:spPr bwMode="auto">
          <a:xfrm>
            <a:off x="2193746" y="3810000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can support efficient range operations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Add a sibling link between the leaves</a:t>
            </a:r>
            <a:endParaRPr kumimoji="1" lang="en-US" altLang="zh-CN" dirty="0"/>
          </a:p>
          <a:p>
            <a:r>
              <a:rPr kumimoji="1" lang="en-US" altLang="zh-CN" dirty="0"/>
              <a:t>e.g., SCAN(3,5) 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284584" y="4081636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3184" y="423403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198984" y="423403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5131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8941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1122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1503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21133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2341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2722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17323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15"/>
          <p:cNvSpPr>
            <a:spLocks noChangeArrowheads="1"/>
          </p:cNvSpPr>
          <p:nvPr/>
        </p:nvSpPr>
        <p:spPr bwMode="auto">
          <a:xfrm>
            <a:off x="2875384" y="2710036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3637384" y="2862436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31039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34849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37135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40945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>
            <a:off x="47041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49327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53137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43231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AutoShape 25"/>
          <p:cNvSpPr>
            <a:spLocks noChangeArrowheads="1"/>
          </p:cNvSpPr>
          <p:nvPr/>
        </p:nvSpPr>
        <p:spPr bwMode="auto">
          <a:xfrm>
            <a:off x="6228184" y="4081636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456784" y="4234036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6990184" y="4234036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6456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>
            <a:off x="6837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>
            <a:off x="70663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1"/>
          <p:cNvSpPr>
            <a:spLocks noChangeShapeType="1"/>
          </p:cNvSpPr>
          <p:nvPr/>
        </p:nvSpPr>
        <p:spPr bwMode="auto">
          <a:xfrm>
            <a:off x="74473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2"/>
          <p:cNvSpPr>
            <a:spLocks noChangeShapeType="1"/>
          </p:cNvSpPr>
          <p:nvPr/>
        </p:nvSpPr>
        <p:spPr bwMode="auto">
          <a:xfrm>
            <a:off x="8056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3"/>
          <p:cNvSpPr>
            <a:spLocks noChangeShapeType="1"/>
          </p:cNvSpPr>
          <p:nvPr/>
        </p:nvSpPr>
        <p:spPr bwMode="auto">
          <a:xfrm>
            <a:off x="82855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34"/>
          <p:cNvSpPr>
            <a:spLocks noChangeShapeType="1"/>
          </p:cNvSpPr>
          <p:nvPr/>
        </p:nvSpPr>
        <p:spPr bwMode="auto">
          <a:xfrm>
            <a:off x="86665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35"/>
          <p:cNvSpPr>
            <a:spLocks noChangeShapeType="1"/>
          </p:cNvSpPr>
          <p:nvPr/>
        </p:nvSpPr>
        <p:spPr bwMode="auto">
          <a:xfrm>
            <a:off x="7675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Oval 39"/>
          <p:cNvSpPr>
            <a:spLocks noChangeArrowheads="1"/>
          </p:cNvSpPr>
          <p:nvPr/>
        </p:nvSpPr>
        <p:spPr bwMode="auto">
          <a:xfrm>
            <a:off x="8941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40"/>
          <p:cNvSpPr>
            <a:spLocks noChangeShapeType="1"/>
          </p:cNvSpPr>
          <p:nvPr/>
        </p:nvSpPr>
        <p:spPr bwMode="auto">
          <a:xfrm>
            <a:off x="9703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Rectangle 41"/>
          <p:cNvSpPr>
            <a:spLocks noChangeArrowheads="1"/>
          </p:cNvSpPr>
          <p:nvPr/>
        </p:nvSpPr>
        <p:spPr bwMode="auto">
          <a:xfrm>
            <a:off x="8941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42"/>
          <p:cNvSpPr>
            <a:spLocks noChangeArrowheads="1"/>
          </p:cNvSpPr>
          <p:nvPr/>
        </p:nvSpPr>
        <p:spPr bwMode="auto">
          <a:xfrm>
            <a:off x="15799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>
            <a:off x="16561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Rectangle 44"/>
          <p:cNvSpPr>
            <a:spLocks noChangeArrowheads="1"/>
          </p:cNvSpPr>
          <p:nvPr/>
        </p:nvSpPr>
        <p:spPr bwMode="auto">
          <a:xfrm>
            <a:off x="15799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Oval 51"/>
          <p:cNvSpPr>
            <a:spLocks noChangeArrowheads="1"/>
          </p:cNvSpPr>
          <p:nvPr/>
        </p:nvSpPr>
        <p:spPr bwMode="auto">
          <a:xfrm>
            <a:off x="69139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52"/>
          <p:cNvSpPr>
            <a:spLocks noChangeShapeType="1"/>
          </p:cNvSpPr>
          <p:nvPr/>
        </p:nvSpPr>
        <p:spPr bwMode="auto">
          <a:xfrm>
            <a:off x="69901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69139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Oval 54"/>
          <p:cNvSpPr>
            <a:spLocks noChangeArrowheads="1"/>
          </p:cNvSpPr>
          <p:nvPr/>
        </p:nvSpPr>
        <p:spPr bwMode="auto">
          <a:xfrm>
            <a:off x="75235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Line 55"/>
          <p:cNvSpPr>
            <a:spLocks noChangeShapeType="1"/>
          </p:cNvSpPr>
          <p:nvPr/>
        </p:nvSpPr>
        <p:spPr bwMode="auto">
          <a:xfrm>
            <a:off x="75997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Rectangle 56"/>
          <p:cNvSpPr>
            <a:spLocks noChangeArrowheads="1"/>
          </p:cNvSpPr>
          <p:nvPr/>
        </p:nvSpPr>
        <p:spPr bwMode="auto">
          <a:xfrm>
            <a:off x="75235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Oval 57"/>
          <p:cNvSpPr>
            <a:spLocks noChangeArrowheads="1"/>
          </p:cNvSpPr>
          <p:nvPr/>
        </p:nvSpPr>
        <p:spPr bwMode="auto">
          <a:xfrm>
            <a:off x="3561184" y="30148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Line 58"/>
          <p:cNvSpPr>
            <a:spLocks noChangeShapeType="1"/>
          </p:cNvSpPr>
          <p:nvPr/>
        </p:nvSpPr>
        <p:spPr bwMode="auto">
          <a:xfrm>
            <a:off x="4246984" y="3091036"/>
            <a:ext cx="2971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Oval 59"/>
          <p:cNvSpPr>
            <a:spLocks noChangeArrowheads="1"/>
          </p:cNvSpPr>
          <p:nvPr/>
        </p:nvSpPr>
        <p:spPr bwMode="auto">
          <a:xfrm>
            <a:off x="2951584" y="30148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Line 60"/>
          <p:cNvSpPr>
            <a:spLocks noChangeShapeType="1"/>
          </p:cNvSpPr>
          <p:nvPr/>
        </p:nvSpPr>
        <p:spPr bwMode="auto">
          <a:xfrm flipH="1">
            <a:off x="2265784" y="3091036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AutoShape 68"/>
          <p:cNvSpPr>
            <a:spLocks noChangeArrowheads="1"/>
          </p:cNvSpPr>
          <p:nvPr/>
        </p:nvSpPr>
        <p:spPr bwMode="auto">
          <a:xfrm>
            <a:off x="3256384" y="4081636"/>
            <a:ext cx="2667000" cy="685800"/>
          </a:xfrm>
          <a:prstGeom prst="roundRect">
            <a:avLst>
              <a:gd name="adj" fmla="val 16667"/>
            </a:avLst>
          </a:prstGeom>
          <a:solidFill>
            <a:srgbClr val="3399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Rectangle 69"/>
          <p:cNvSpPr>
            <a:spLocks noChangeArrowheads="1"/>
          </p:cNvSpPr>
          <p:nvPr/>
        </p:nvSpPr>
        <p:spPr bwMode="auto">
          <a:xfrm>
            <a:off x="3484984" y="4234036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Rectangle 70"/>
          <p:cNvSpPr>
            <a:spLocks noChangeArrowheads="1"/>
          </p:cNvSpPr>
          <p:nvPr/>
        </p:nvSpPr>
        <p:spPr bwMode="auto">
          <a:xfrm>
            <a:off x="4094584" y="4234036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Line 72"/>
          <p:cNvSpPr>
            <a:spLocks noChangeShapeType="1"/>
          </p:cNvSpPr>
          <p:nvPr/>
        </p:nvSpPr>
        <p:spPr bwMode="auto">
          <a:xfrm>
            <a:off x="3484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73"/>
          <p:cNvSpPr>
            <a:spLocks noChangeShapeType="1"/>
          </p:cNvSpPr>
          <p:nvPr/>
        </p:nvSpPr>
        <p:spPr bwMode="auto">
          <a:xfrm>
            <a:off x="3865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Line 74"/>
          <p:cNvSpPr>
            <a:spLocks noChangeShapeType="1"/>
          </p:cNvSpPr>
          <p:nvPr/>
        </p:nvSpPr>
        <p:spPr bwMode="auto">
          <a:xfrm>
            <a:off x="40945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Line 75"/>
          <p:cNvSpPr>
            <a:spLocks noChangeShapeType="1"/>
          </p:cNvSpPr>
          <p:nvPr/>
        </p:nvSpPr>
        <p:spPr bwMode="auto">
          <a:xfrm>
            <a:off x="44755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76"/>
          <p:cNvSpPr>
            <a:spLocks noChangeShapeType="1"/>
          </p:cNvSpPr>
          <p:nvPr/>
        </p:nvSpPr>
        <p:spPr bwMode="auto">
          <a:xfrm>
            <a:off x="50851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Line 77"/>
          <p:cNvSpPr>
            <a:spLocks noChangeShapeType="1"/>
          </p:cNvSpPr>
          <p:nvPr/>
        </p:nvSpPr>
        <p:spPr bwMode="auto">
          <a:xfrm>
            <a:off x="5313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78"/>
          <p:cNvSpPr>
            <a:spLocks noChangeShapeType="1"/>
          </p:cNvSpPr>
          <p:nvPr/>
        </p:nvSpPr>
        <p:spPr bwMode="auto">
          <a:xfrm>
            <a:off x="5694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79"/>
          <p:cNvSpPr>
            <a:spLocks noChangeShapeType="1"/>
          </p:cNvSpPr>
          <p:nvPr/>
        </p:nvSpPr>
        <p:spPr bwMode="auto">
          <a:xfrm>
            <a:off x="47041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Oval 83"/>
          <p:cNvSpPr>
            <a:spLocks noChangeArrowheads="1"/>
          </p:cNvSpPr>
          <p:nvPr/>
        </p:nvSpPr>
        <p:spPr bwMode="auto">
          <a:xfrm>
            <a:off x="38659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Line 84"/>
          <p:cNvSpPr>
            <a:spLocks noChangeShapeType="1"/>
          </p:cNvSpPr>
          <p:nvPr/>
        </p:nvSpPr>
        <p:spPr bwMode="auto">
          <a:xfrm>
            <a:off x="39421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Rectangle 85"/>
          <p:cNvSpPr>
            <a:spLocks noChangeArrowheads="1"/>
          </p:cNvSpPr>
          <p:nvPr/>
        </p:nvSpPr>
        <p:spPr bwMode="auto">
          <a:xfrm>
            <a:off x="38659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Oval 86"/>
          <p:cNvSpPr>
            <a:spLocks noChangeArrowheads="1"/>
          </p:cNvSpPr>
          <p:nvPr/>
        </p:nvSpPr>
        <p:spPr bwMode="auto">
          <a:xfrm>
            <a:off x="45517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Line 87"/>
          <p:cNvSpPr>
            <a:spLocks noChangeShapeType="1"/>
          </p:cNvSpPr>
          <p:nvPr/>
        </p:nvSpPr>
        <p:spPr bwMode="auto">
          <a:xfrm>
            <a:off x="46279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Rectangle 88"/>
          <p:cNvSpPr>
            <a:spLocks noChangeArrowheads="1"/>
          </p:cNvSpPr>
          <p:nvPr/>
        </p:nvSpPr>
        <p:spPr bwMode="auto">
          <a:xfrm>
            <a:off x="45517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96"/>
          <p:cNvSpPr>
            <a:spLocks noChangeShapeType="1"/>
          </p:cNvSpPr>
          <p:nvPr/>
        </p:nvSpPr>
        <p:spPr bwMode="auto">
          <a:xfrm>
            <a:off x="3637384" y="3091036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Oval 97"/>
          <p:cNvSpPr>
            <a:spLocks noChangeArrowheads="1"/>
          </p:cNvSpPr>
          <p:nvPr/>
        </p:nvSpPr>
        <p:spPr bwMode="auto">
          <a:xfrm>
            <a:off x="4170784" y="30148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Rectangle 98"/>
          <p:cNvSpPr>
            <a:spLocks noChangeArrowheads="1"/>
          </p:cNvSpPr>
          <p:nvPr/>
        </p:nvSpPr>
        <p:spPr bwMode="auto">
          <a:xfrm>
            <a:off x="3103984" y="2862436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任意形状 72"/>
          <p:cNvSpPr/>
          <p:nvPr/>
        </p:nvSpPr>
        <p:spPr>
          <a:xfrm>
            <a:off x="2903456" y="4675695"/>
            <a:ext cx="499620" cy="452802"/>
          </a:xfrm>
          <a:custGeom>
            <a:avLst/>
            <a:gdLst>
              <a:gd name="connsiteX0" fmla="*/ 0 w 499620"/>
              <a:gd name="connsiteY0" fmla="*/ 0 h 452802"/>
              <a:gd name="connsiteX1" fmla="*/ 150829 w 499620"/>
              <a:gd name="connsiteY1" fmla="*/ 452486 h 452802"/>
              <a:gd name="connsiteX2" fmla="*/ 499620 w 499620"/>
              <a:gd name="connsiteY2" fmla="*/ 56561 h 452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9620" h="452802">
                <a:moveTo>
                  <a:pt x="0" y="0"/>
                </a:moveTo>
                <a:cubicBezTo>
                  <a:pt x="33779" y="221529"/>
                  <a:pt x="67559" y="443059"/>
                  <a:pt x="150829" y="452486"/>
                </a:cubicBezTo>
                <a:cubicBezTo>
                  <a:pt x="234099" y="461913"/>
                  <a:pt x="366859" y="259237"/>
                  <a:pt x="499620" y="56561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任意形状 73"/>
          <p:cNvSpPr/>
          <p:nvPr/>
        </p:nvSpPr>
        <p:spPr>
          <a:xfrm>
            <a:off x="5901179" y="4779390"/>
            <a:ext cx="367646" cy="452922"/>
          </a:xfrm>
          <a:custGeom>
            <a:avLst/>
            <a:gdLst>
              <a:gd name="connsiteX0" fmla="*/ 0 w 367646"/>
              <a:gd name="connsiteY0" fmla="*/ 0 h 452922"/>
              <a:gd name="connsiteX1" fmla="*/ 188536 w 367646"/>
              <a:gd name="connsiteY1" fmla="*/ 452486 h 452922"/>
              <a:gd name="connsiteX2" fmla="*/ 367646 w 367646"/>
              <a:gd name="connsiteY2" fmla="*/ 65987 h 452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7646" h="452922">
                <a:moveTo>
                  <a:pt x="0" y="0"/>
                </a:moveTo>
                <a:cubicBezTo>
                  <a:pt x="63631" y="220744"/>
                  <a:pt x="127262" y="441488"/>
                  <a:pt x="188536" y="452486"/>
                </a:cubicBezTo>
                <a:cubicBezTo>
                  <a:pt x="249810" y="463484"/>
                  <a:pt x="308728" y="264735"/>
                  <a:pt x="367646" y="65987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Oval 42"/>
          <p:cNvSpPr>
            <a:spLocks noChangeArrowheads="1"/>
          </p:cNvSpPr>
          <p:nvPr/>
        </p:nvSpPr>
        <p:spPr bwMode="auto">
          <a:xfrm>
            <a:off x="219406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Line 43"/>
          <p:cNvSpPr>
            <a:spLocks noChangeShapeType="1"/>
          </p:cNvSpPr>
          <p:nvPr/>
        </p:nvSpPr>
        <p:spPr bwMode="auto">
          <a:xfrm>
            <a:off x="227026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Rectangle 44"/>
          <p:cNvSpPr>
            <a:spLocks noChangeArrowheads="1"/>
          </p:cNvSpPr>
          <p:nvPr/>
        </p:nvSpPr>
        <p:spPr bwMode="auto">
          <a:xfrm>
            <a:off x="219406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Rectangle 98"/>
          <p:cNvSpPr>
            <a:spLocks noChangeArrowheads="1"/>
          </p:cNvSpPr>
          <p:nvPr/>
        </p:nvSpPr>
        <p:spPr bwMode="auto">
          <a:xfrm>
            <a:off x="1824638" y="4230569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Question: need a </a:t>
            </a:r>
            <a:r>
              <a:rPr kumimoji="1" lang="en-US" altLang="zh-CN" dirty="0" err="1"/>
              <a:t>B+Tree</a:t>
            </a:r>
            <a:r>
              <a:rPr kumimoji="1" lang="en-US" altLang="zh-CN" dirty="0"/>
              <a:t> to index the values in the log?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No. It can store the values in its leave node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Which does not need compaction &amp; </a:t>
            </a:r>
            <a:r>
              <a:rPr kumimoji="1" lang="en-US" altLang="zh-CN"/>
              <a:t>merge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3" name="AutoShape 3"/>
          <p:cNvSpPr>
            <a:spLocks noChangeArrowheads="1"/>
          </p:cNvSpPr>
          <p:nvPr/>
        </p:nvSpPr>
        <p:spPr bwMode="auto">
          <a:xfrm>
            <a:off x="284584" y="4081636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Rectangle 4"/>
          <p:cNvSpPr>
            <a:spLocks noChangeArrowheads="1"/>
          </p:cNvSpPr>
          <p:nvPr/>
        </p:nvSpPr>
        <p:spPr bwMode="auto">
          <a:xfrm>
            <a:off x="513184" y="423403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" name="Rectangle 5"/>
          <p:cNvSpPr>
            <a:spLocks noChangeArrowheads="1"/>
          </p:cNvSpPr>
          <p:nvPr/>
        </p:nvSpPr>
        <p:spPr bwMode="auto">
          <a:xfrm>
            <a:off x="1198984" y="423403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6" name="Line 7"/>
          <p:cNvSpPr>
            <a:spLocks noChangeShapeType="1"/>
          </p:cNvSpPr>
          <p:nvPr/>
        </p:nvSpPr>
        <p:spPr bwMode="auto">
          <a:xfrm>
            <a:off x="5131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Line 8"/>
          <p:cNvSpPr>
            <a:spLocks noChangeShapeType="1"/>
          </p:cNvSpPr>
          <p:nvPr/>
        </p:nvSpPr>
        <p:spPr bwMode="auto">
          <a:xfrm>
            <a:off x="8941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Line 9"/>
          <p:cNvSpPr>
            <a:spLocks noChangeShapeType="1"/>
          </p:cNvSpPr>
          <p:nvPr/>
        </p:nvSpPr>
        <p:spPr bwMode="auto">
          <a:xfrm>
            <a:off x="1122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Line 10"/>
          <p:cNvSpPr>
            <a:spLocks noChangeShapeType="1"/>
          </p:cNvSpPr>
          <p:nvPr/>
        </p:nvSpPr>
        <p:spPr bwMode="auto">
          <a:xfrm>
            <a:off x="1503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Line 11"/>
          <p:cNvSpPr>
            <a:spLocks noChangeShapeType="1"/>
          </p:cNvSpPr>
          <p:nvPr/>
        </p:nvSpPr>
        <p:spPr bwMode="auto">
          <a:xfrm>
            <a:off x="21133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Line 12"/>
          <p:cNvSpPr>
            <a:spLocks noChangeShapeType="1"/>
          </p:cNvSpPr>
          <p:nvPr/>
        </p:nvSpPr>
        <p:spPr bwMode="auto">
          <a:xfrm>
            <a:off x="2341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Line 13"/>
          <p:cNvSpPr>
            <a:spLocks noChangeShapeType="1"/>
          </p:cNvSpPr>
          <p:nvPr/>
        </p:nvSpPr>
        <p:spPr bwMode="auto">
          <a:xfrm>
            <a:off x="2722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Line 14"/>
          <p:cNvSpPr>
            <a:spLocks noChangeShapeType="1"/>
          </p:cNvSpPr>
          <p:nvPr/>
        </p:nvSpPr>
        <p:spPr bwMode="auto">
          <a:xfrm>
            <a:off x="17323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AutoShape 15"/>
          <p:cNvSpPr>
            <a:spLocks noChangeArrowheads="1"/>
          </p:cNvSpPr>
          <p:nvPr/>
        </p:nvSpPr>
        <p:spPr bwMode="auto">
          <a:xfrm>
            <a:off x="2875384" y="2710036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Rectangle 16"/>
          <p:cNvSpPr>
            <a:spLocks noChangeArrowheads="1"/>
          </p:cNvSpPr>
          <p:nvPr/>
        </p:nvSpPr>
        <p:spPr bwMode="auto">
          <a:xfrm>
            <a:off x="3637384" y="2862436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Line 17"/>
          <p:cNvSpPr>
            <a:spLocks noChangeShapeType="1"/>
          </p:cNvSpPr>
          <p:nvPr/>
        </p:nvSpPr>
        <p:spPr bwMode="auto">
          <a:xfrm>
            <a:off x="31039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Line 18"/>
          <p:cNvSpPr>
            <a:spLocks noChangeShapeType="1"/>
          </p:cNvSpPr>
          <p:nvPr/>
        </p:nvSpPr>
        <p:spPr bwMode="auto">
          <a:xfrm>
            <a:off x="34849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Line 19"/>
          <p:cNvSpPr>
            <a:spLocks noChangeShapeType="1"/>
          </p:cNvSpPr>
          <p:nvPr/>
        </p:nvSpPr>
        <p:spPr bwMode="auto">
          <a:xfrm>
            <a:off x="37135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Line 20"/>
          <p:cNvSpPr>
            <a:spLocks noChangeShapeType="1"/>
          </p:cNvSpPr>
          <p:nvPr/>
        </p:nvSpPr>
        <p:spPr bwMode="auto">
          <a:xfrm>
            <a:off x="40945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Line 21"/>
          <p:cNvSpPr>
            <a:spLocks noChangeShapeType="1"/>
          </p:cNvSpPr>
          <p:nvPr/>
        </p:nvSpPr>
        <p:spPr bwMode="auto">
          <a:xfrm>
            <a:off x="47041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Line 22"/>
          <p:cNvSpPr>
            <a:spLocks noChangeShapeType="1"/>
          </p:cNvSpPr>
          <p:nvPr/>
        </p:nvSpPr>
        <p:spPr bwMode="auto">
          <a:xfrm>
            <a:off x="49327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Line 23"/>
          <p:cNvSpPr>
            <a:spLocks noChangeShapeType="1"/>
          </p:cNvSpPr>
          <p:nvPr/>
        </p:nvSpPr>
        <p:spPr bwMode="auto">
          <a:xfrm>
            <a:off x="53137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Line 24"/>
          <p:cNvSpPr>
            <a:spLocks noChangeShapeType="1"/>
          </p:cNvSpPr>
          <p:nvPr/>
        </p:nvSpPr>
        <p:spPr bwMode="auto">
          <a:xfrm>
            <a:off x="4323184" y="27100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AutoShape 25"/>
          <p:cNvSpPr>
            <a:spLocks noChangeArrowheads="1"/>
          </p:cNvSpPr>
          <p:nvPr/>
        </p:nvSpPr>
        <p:spPr bwMode="auto">
          <a:xfrm>
            <a:off x="6228184" y="4081636"/>
            <a:ext cx="2667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Rectangle 26"/>
          <p:cNvSpPr>
            <a:spLocks noChangeArrowheads="1"/>
          </p:cNvSpPr>
          <p:nvPr/>
        </p:nvSpPr>
        <p:spPr bwMode="auto">
          <a:xfrm>
            <a:off x="6456784" y="4234036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" name="Rectangle 27"/>
          <p:cNvSpPr>
            <a:spLocks noChangeArrowheads="1"/>
          </p:cNvSpPr>
          <p:nvPr/>
        </p:nvSpPr>
        <p:spPr bwMode="auto">
          <a:xfrm>
            <a:off x="6990184" y="4234036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27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" name="Line 28"/>
          <p:cNvSpPr>
            <a:spLocks noChangeShapeType="1"/>
          </p:cNvSpPr>
          <p:nvPr/>
        </p:nvSpPr>
        <p:spPr bwMode="auto">
          <a:xfrm>
            <a:off x="6456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Line 29"/>
          <p:cNvSpPr>
            <a:spLocks noChangeShapeType="1"/>
          </p:cNvSpPr>
          <p:nvPr/>
        </p:nvSpPr>
        <p:spPr bwMode="auto">
          <a:xfrm>
            <a:off x="6837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Line 30"/>
          <p:cNvSpPr>
            <a:spLocks noChangeShapeType="1"/>
          </p:cNvSpPr>
          <p:nvPr/>
        </p:nvSpPr>
        <p:spPr bwMode="auto">
          <a:xfrm>
            <a:off x="70663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Line 31"/>
          <p:cNvSpPr>
            <a:spLocks noChangeShapeType="1"/>
          </p:cNvSpPr>
          <p:nvPr/>
        </p:nvSpPr>
        <p:spPr bwMode="auto">
          <a:xfrm>
            <a:off x="74473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Line 32"/>
          <p:cNvSpPr>
            <a:spLocks noChangeShapeType="1"/>
          </p:cNvSpPr>
          <p:nvPr/>
        </p:nvSpPr>
        <p:spPr bwMode="auto">
          <a:xfrm>
            <a:off x="8056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Line 33"/>
          <p:cNvSpPr>
            <a:spLocks noChangeShapeType="1"/>
          </p:cNvSpPr>
          <p:nvPr/>
        </p:nvSpPr>
        <p:spPr bwMode="auto">
          <a:xfrm>
            <a:off x="82855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Line 34"/>
          <p:cNvSpPr>
            <a:spLocks noChangeShapeType="1"/>
          </p:cNvSpPr>
          <p:nvPr/>
        </p:nvSpPr>
        <p:spPr bwMode="auto">
          <a:xfrm>
            <a:off x="86665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Line 35"/>
          <p:cNvSpPr>
            <a:spLocks noChangeShapeType="1"/>
          </p:cNvSpPr>
          <p:nvPr/>
        </p:nvSpPr>
        <p:spPr bwMode="auto">
          <a:xfrm>
            <a:off x="7675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" name="Oval 39"/>
          <p:cNvSpPr>
            <a:spLocks noChangeArrowheads="1"/>
          </p:cNvSpPr>
          <p:nvPr/>
        </p:nvSpPr>
        <p:spPr bwMode="auto">
          <a:xfrm>
            <a:off x="8941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Line 40"/>
          <p:cNvSpPr>
            <a:spLocks noChangeShapeType="1"/>
          </p:cNvSpPr>
          <p:nvPr/>
        </p:nvSpPr>
        <p:spPr bwMode="auto">
          <a:xfrm>
            <a:off x="9703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Rectangle 41"/>
          <p:cNvSpPr>
            <a:spLocks noChangeArrowheads="1"/>
          </p:cNvSpPr>
          <p:nvPr/>
        </p:nvSpPr>
        <p:spPr bwMode="auto">
          <a:xfrm>
            <a:off x="8941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Oval 42"/>
          <p:cNvSpPr>
            <a:spLocks noChangeArrowheads="1"/>
          </p:cNvSpPr>
          <p:nvPr/>
        </p:nvSpPr>
        <p:spPr bwMode="auto">
          <a:xfrm>
            <a:off x="15799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Line 43"/>
          <p:cNvSpPr>
            <a:spLocks noChangeShapeType="1"/>
          </p:cNvSpPr>
          <p:nvPr/>
        </p:nvSpPr>
        <p:spPr bwMode="auto">
          <a:xfrm>
            <a:off x="16561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" name="Rectangle 44"/>
          <p:cNvSpPr>
            <a:spLocks noChangeArrowheads="1"/>
          </p:cNvSpPr>
          <p:nvPr/>
        </p:nvSpPr>
        <p:spPr bwMode="auto">
          <a:xfrm>
            <a:off x="15799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Oval 51"/>
          <p:cNvSpPr>
            <a:spLocks noChangeArrowheads="1"/>
          </p:cNvSpPr>
          <p:nvPr/>
        </p:nvSpPr>
        <p:spPr bwMode="auto">
          <a:xfrm>
            <a:off x="69139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Line 52"/>
          <p:cNvSpPr>
            <a:spLocks noChangeShapeType="1"/>
          </p:cNvSpPr>
          <p:nvPr/>
        </p:nvSpPr>
        <p:spPr bwMode="auto">
          <a:xfrm>
            <a:off x="69901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" name="Rectangle 53"/>
          <p:cNvSpPr>
            <a:spLocks noChangeArrowheads="1"/>
          </p:cNvSpPr>
          <p:nvPr/>
        </p:nvSpPr>
        <p:spPr bwMode="auto">
          <a:xfrm>
            <a:off x="69139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" name="Oval 54"/>
          <p:cNvSpPr>
            <a:spLocks noChangeArrowheads="1"/>
          </p:cNvSpPr>
          <p:nvPr/>
        </p:nvSpPr>
        <p:spPr bwMode="auto">
          <a:xfrm>
            <a:off x="75235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" name="Line 55"/>
          <p:cNvSpPr>
            <a:spLocks noChangeShapeType="1"/>
          </p:cNvSpPr>
          <p:nvPr/>
        </p:nvSpPr>
        <p:spPr bwMode="auto">
          <a:xfrm>
            <a:off x="75997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" name="Rectangle 56"/>
          <p:cNvSpPr>
            <a:spLocks noChangeArrowheads="1"/>
          </p:cNvSpPr>
          <p:nvPr/>
        </p:nvSpPr>
        <p:spPr bwMode="auto">
          <a:xfrm>
            <a:off x="75235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Oval 57"/>
          <p:cNvSpPr>
            <a:spLocks noChangeArrowheads="1"/>
          </p:cNvSpPr>
          <p:nvPr/>
        </p:nvSpPr>
        <p:spPr bwMode="auto">
          <a:xfrm>
            <a:off x="3561184" y="30148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" name="Line 58"/>
          <p:cNvSpPr>
            <a:spLocks noChangeShapeType="1"/>
          </p:cNvSpPr>
          <p:nvPr/>
        </p:nvSpPr>
        <p:spPr bwMode="auto">
          <a:xfrm>
            <a:off x="4246984" y="3091036"/>
            <a:ext cx="2971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Oval 59"/>
          <p:cNvSpPr>
            <a:spLocks noChangeArrowheads="1"/>
          </p:cNvSpPr>
          <p:nvPr/>
        </p:nvSpPr>
        <p:spPr bwMode="auto">
          <a:xfrm>
            <a:off x="2951584" y="30148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" name="Line 60"/>
          <p:cNvSpPr>
            <a:spLocks noChangeShapeType="1"/>
          </p:cNvSpPr>
          <p:nvPr/>
        </p:nvSpPr>
        <p:spPr bwMode="auto">
          <a:xfrm flipH="1">
            <a:off x="2265784" y="3091036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AutoShape 68"/>
          <p:cNvSpPr>
            <a:spLocks noChangeArrowheads="1"/>
          </p:cNvSpPr>
          <p:nvPr/>
        </p:nvSpPr>
        <p:spPr bwMode="auto">
          <a:xfrm>
            <a:off x="3256384" y="4081636"/>
            <a:ext cx="2667000" cy="685800"/>
          </a:xfrm>
          <a:prstGeom prst="roundRect">
            <a:avLst>
              <a:gd name="adj" fmla="val 16667"/>
            </a:avLst>
          </a:prstGeom>
          <a:solidFill>
            <a:srgbClr val="3399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Rectangle 69"/>
          <p:cNvSpPr>
            <a:spLocks noChangeArrowheads="1"/>
          </p:cNvSpPr>
          <p:nvPr/>
        </p:nvSpPr>
        <p:spPr bwMode="auto">
          <a:xfrm>
            <a:off x="3484984" y="4234036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" name="Rectangle 70"/>
          <p:cNvSpPr>
            <a:spLocks noChangeArrowheads="1"/>
          </p:cNvSpPr>
          <p:nvPr/>
        </p:nvSpPr>
        <p:spPr bwMode="auto">
          <a:xfrm>
            <a:off x="4094584" y="4234036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" name="Line 72"/>
          <p:cNvSpPr>
            <a:spLocks noChangeShapeType="1"/>
          </p:cNvSpPr>
          <p:nvPr/>
        </p:nvSpPr>
        <p:spPr bwMode="auto">
          <a:xfrm>
            <a:off x="3484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Line 73"/>
          <p:cNvSpPr>
            <a:spLocks noChangeShapeType="1"/>
          </p:cNvSpPr>
          <p:nvPr/>
        </p:nvSpPr>
        <p:spPr bwMode="auto">
          <a:xfrm>
            <a:off x="38659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" name="Line 74"/>
          <p:cNvSpPr>
            <a:spLocks noChangeShapeType="1"/>
          </p:cNvSpPr>
          <p:nvPr/>
        </p:nvSpPr>
        <p:spPr bwMode="auto">
          <a:xfrm>
            <a:off x="40945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" name="Line 75"/>
          <p:cNvSpPr>
            <a:spLocks noChangeShapeType="1"/>
          </p:cNvSpPr>
          <p:nvPr/>
        </p:nvSpPr>
        <p:spPr bwMode="auto">
          <a:xfrm>
            <a:off x="44755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" name="Line 76"/>
          <p:cNvSpPr>
            <a:spLocks noChangeShapeType="1"/>
          </p:cNvSpPr>
          <p:nvPr/>
        </p:nvSpPr>
        <p:spPr bwMode="auto">
          <a:xfrm>
            <a:off x="50851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" name="Line 77"/>
          <p:cNvSpPr>
            <a:spLocks noChangeShapeType="1"/>
          </p:cNvSpPr>
          <p:nvPr/>
        </p:nvSpPr>
        <p:spPr bwMode="auto">
          <a:xfrm>
            <a:off x="5313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Line 78"/>
          <p:cNvSpPr>
            <a:spLocks noChangeShapeType="1"/>
          </p:cNvSpPr>
          <p:nvPr/>
        </p:nvSpPr>
        <p:spPr bwMode="auto">
          <a:xfrm>
            <a:off x="56947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" name="Line 79"/>
          <p:cNvSpPr>
            <a:spLocks noChangeShapeType="1"/>
          </p:cNvSpPr>
          <p:nvPr/>
        </p:nvSpPr>
        <p:spPr bwMode="auto">
          <a:xfrm>
            <a:off x="4704184" y="4081636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2" name="Oval 83"/>
          <p:cNvSpPr>
            <a:spLocks noChangeArrowheads="1"/>
          </p:cNvSpPr>
          <p:nvPr/>
        </p:nvSpPr>
        <p:spPr bwMode="auto">
          <a:xfrm>
            <a:off x="38659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" name="Line 84"/>
          <p:cNvSpPr>
            <a:spLocks noChangeShapeType="1"/>
          </p:cNvSpPr>
          <p:nvPr/>
        </p:nvSpPr>
        <p:spPr bwMode="auto">
          <a:xfrm>
            <a:off x="39421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" name="Rectangle 85"/>
          <p:cNvSpPr>
            <a:spLocks noChangeArrowheads="1"/>
          </p:cNvSpPr>
          <p:nvPr/>
        </p:nvSpPr>
        <p:spPr bwMode="auto">
          <a:xfrm>
            <a:off x="38659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Oval 86"/>
          <p:cNvSpPr>
            <a:spLocks noChangeArrowheads="1"/>
          </p:cNvSpPr>
          <p:nvPr/>
        </p:nvSpPr>
        <p:spPr bwMode="auto">
          <a:xfrm>
            <a:off x="455178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" name="Line 87"/>
          <p:cNvSpPr>
            <a:spLocks noChangeShapeType="1"/>
          </p:cNvSpPr>
          <p:nvPr/>
        </p:nvSpPr>
        <p:spPr bwMode="auto">
          <a:xfrm>
            <a:off x="462798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" name="Rectangle 88"/>
          <p:cNvSpPr>
            <a:spLocks noChangeArrowheads="1"/>
          </p:cNvSpPr>
          <p:nvPr/>
        </p:nvSpPr>
        <p:spPr bwMode="auto">
          <a:xfrm>
            <a:off x="455178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" name="Line 96"/>
          <p:cNvSpPr>
            <a:spLocks noChangeShapeType="1"/>
          </p:cNvSpPr>
          <p:nvPr/>
        </p:nvSpPr>
        <p:spPr bwMode="auto">
          <a:xfrm>
            <a:off x="3637384" y="3091036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" name="Oval 97"/>
          <p:cNvSpPr>
            <a:spLocks noChangeArrowheads="1"/>
          </p:cNvSpPr>
          <p:nvPr/>
        </p:nvSpPr>
        <p:spPr bwMode="auto">
          <a:xfrm>
            <a:off x="4170784" y="30148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" name="Rectangle 98"/>
          <p:cNvSpPr>
            <a:spLocks noChangeArrowheads="1"/>
          </p:cNvSpPr>
          <p:nvPr/>
        </p:nvSpPr>
        <p:spPr bwMode="auto">
          <a:xfrm>
            <a:off x="3103984" y="2862436"/>
            <a:ext cx="441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" name="任意形状 140"/>
          <p:cNvSpPr/>
          <p:nvPr/>
        </p:nvSpPr>
        <p:spPr>
          <a:xfrm>
            <a:off x="2903456" y="4675695"/>
            <a:ext cx="499620" cy="452802"/>
          </a:xfrm>
          <a:custGeom>
            <a:avLst/>
            <a:gdLst>
              <a:gd name="connsiteX0" fmla="*/ 0 w 499620"/>
              <a:gd name="connsiteY0" fmla="*/ 0 h 452802"/>
              <a:gd name="connsiteX1" fmla="*/ 150829 w 499620"/>
              <a:gd name="connsiteY1" fmla="*/ 452486 h 452802"/>
              <a:gd name="connsiteX2" fmla="*/ 499620 w 499620"/>
              <a:gd name="connsiteY2" fmla="*/ 56561 h 452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9620" h="452802">
                <a:moveTo>
                  <a:pt x="0" y="0"/>
                </a:moveTo>
                <a:cubicBezTo>
                  <a:pt x="33779" y="221529"/>
                  <a:pt x="67559" y="443059"/>
                  <a:pt x="150829" y="452486"/>
                </a:cubicBezTo>
                <a:cubicBezTo>
                  <a:pt x="234099" y="461913"/>
                  <a:pt x="366859" y="259237"/>
                  <a:pt x="499620" y="56561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任意形状 141"/>
          <p:cNvSpPr/>
          <p:nvPr/>
        </p:nvSpPr>
        <p:spPr>
          <a:xfrm>
            <a:off x="5901179" y="4779390"/>
            <a:ext cx="367646" cy="452922"/>
          </a:xfrm>
          <a:custGeom>
            <a:avLst/>
            <a:gdLst>
              <a:gd name="connsiteX0" fmla="*/ 0 w 367646"/>
              <a:gd name="connsiteY0" fmla="*/ 0 h 452922"/>
              <a:gd name="connsiteX1" fmla="*/ 188536 w 367646"/>
              <a:gd name="connsiteY1" fmla="*/ 452486 h 452922"/>
              <a:gd name="connsiteX2" fmla="*/ 367646 w 367646"/>
              <a:gd name="connsiteY2" fmla="*/ 65987 h 452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7646" h="452922">
                <a:moveTo>
                  <a:pt x="0" y="0"/>
                </a:moveTo>
                <a:cubicBezTo>
                  <a:pt x="63631" y="220744"/>
                  <a:pt x="127262" y="441488"/>
                  <a:pt x="188536" y="452486"/>
                </a:cubicBezTo>
                <a:cubicBezTo>
                  <a:pt x="249810" y="463484"/>
                  <a:pt x="308728" y="264735"/>
                  <a:pt x="367646" y="65987"/>
                </a:cubicBezTo>
              </a:path>
            </a:pathLst>
          </a:cu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3" name="Oval 42"/>
          <p:cNvSpPr>
            <a:spLocks noChangeArrowheads="1"/>
          </p:cNvSpPr>
          <p:nvPr/>
        </p:nvSpPr>
        <p:spPr bwMode="auto">
          <a:xfrm>
            <a:off x="2194064" y="4386436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" name="Line 43"/>
          <p:cNvSpPr>
            <a:spLocks noChangeShapeType="1"/>
          </p:cNvSpPr>
          <p:nvPr/>
        </p:nvSpPr>
        <p:spPr bwMode="auto">
          <a:xfrm>
            <a:off x="2270264" y="4462636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" name="Rectangle 44"/>
          <p:cNvSpPr>
            <a:spLocks noChangeArrowheads="1"/>
          </p:cNvSpPr>
          <p:nvPr/>
        </p:nvSpPr>
        <p:spPr bwMode="auto">
          <a:xfrm>
            <a:off x="2194064" y="4919836"/>
            <a:ext cx="2286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" name="Rectangle 98"/>
          <p:cNvSpPr>
            <a:spLocks noChangeArrowheads="1"/>
          </p:cNvSpPr>
          <p:nvPr/>
        </p:nvSpPr>
        <p:spPr bwMode="auto">
          <a:xfrm>
            <a:off x="1824638" y="4230569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B-Tree indexes on the disk?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68052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Get(K), Insert(K,V) and Update(K,V) are slow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O(log(n)) random disk accesses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Typically, is small, since B-Tree indexes uses large node size. But is still a killer for performance </a:t>
            </a:r>
            <a:endParaRPr kumimoji="1" lang="en-US" altLang="zh-CN" dirty="0"/>
          </a:p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indexes are not good enough for </a:t>
            </a:r>
            <a:r>
              <a:rPr kumimoji="1" lang="en-US" altLang="zh-CN" dirty="0">
                <a:solidFill>
                  <a:srgbClr val="BE374B"/>
                </a:solidFill>
              </a:rPr>
              <a:t>insertion-intensive</a:t>
            </a:r>
            <a:r>
              <a:rPr kumimoji="1" lang="en-US" altLang="zh-CN" dirty="0"/>
              <a:t> workloads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Still </a:t>
            </a:r>
            <a:r>
              <a:rPr kumimoji="1" lang="en-US" altLang="zh-CN" b="1" dirty="0">
                <a:solidFill>
                  <a:srgbClr val="BE374B"/>
                </a:solidFill>
              </a:rPr>
              <a:t>many random disk I/O </a:t>
            </a:r>
            <a:r>
              <a:rPr kumimoji="1" lang="en-US" altLang="zh-CN" dirty="0"/>
              <a:t>involved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Insertions are common for on-disk storages, because reads are served by other system components, e.g., a cache system like </a:t>
            </a:r>
            <a:r>
              <a:rPr kumimoji="1" lang="en-US" altLang="zh-CN" dirty="0" err="1"/>
              <a:t>Memached</a:t>
            </a:r>
            <a:r>
              <a:rPr kumimoji="1" lang="en-US" altLang="zh-CN" dirty="0"/>
              <a:t> 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E.g., check lecture 02, step#2 for scaling a website</a:t>
            </a:r>
            <a:endParaRPr kumimoji="1" lang="en-US" altLang="zh-CN" dirty="0"/>
          </a:p>
          <a:p>
            <a:r>
              <a:rPr kumimoji="1" lang="en-US" altLang="zh-CN" dirty="0" err="1"/>
              <a:t>B+Tree</a:t>
            </a:r>
            <a:r>
              <a:rPr kumimoji="1" lang="en-US" altLang="zh-CN" dirty="0"/>
              <a:t> index size can be large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For small values, the index size can be close to the value sizes (in the same order)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18146" y="1830524"/>
            <a:ext cx="7307708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9pPr>
          </a:lstStyle>
          <a:p>
            <a:pPr algn="ctr"/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Can we </a:t>
            </a:r>
            <a:r>
              <a:rPr lang="en-US" altLang="zh-CN" kern="0" dirty="0">
                <a:solidFill>
                  <a:srgbClr val="C00000"/>
                </a:solidFill>
                <a:ea typeface="+mn-ea"/>
              </a:rPr>
              <a:t>avoid random access</a:t>
            </a:r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 for </a:t>
            </a:r>
            <a:endParaRPr lang="en-US" altLang="zh-CN" b="0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index updates and insertions, </a:t>
            </a:r>
            <a:r>
              <a:rPr lang="en-US" altLang="zh-CN" kern="0" dirty="0">
                <a:solidFill>
                  <a:srgbClr val="C00000"/>
                </a:solidFill>
                <a:ea typeface="+mn-ea"/>
              </a:rPr>
              <a:t>with small index size</a:t>
            </a:r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, while </a:t>
            </a:r>
            <a:r>
              <a:rPr lang="en-US" altLang="zh-CN" kern="0" dirty="0">
                <a:solidFill>
                  <a:srgbClr val="C00000"/>
                </a:solidFill>
                <a:ea typeface="+mn-ea"/>
              </a:rPr>
              <a:t>supporting scans (no brute force) </a:t>
            </a:r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?</a:t>
            </a:r>
            <a:endParaRPr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Recall: segmented log file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b="0" dirty="0"/>
              <a:t>Compaction &amp; </a:t>
            </a:r>
            <a:r>
              <a:rPr kumimoji="1" lang="en-US" altLang="zh-CN" dirty="0">
                <a:solidFill>
                  <a:srgbClr val="C00000"/>
                </a:solidFill>
              </a:rPr>
              <a:t>segmentation</a:t>
            </a:r>
            <a:r>
              <a:rPr kumimoji="1" lang="en-US" altLang="zh-CN" b="0" dirty="0"/>
              <a:t> </a:t>
            </a:r>
            <a:endParaRPr kumimoji="1" lang="en-US" altLang="zh-CN" b="0" dirty="0"/>
          </a:p>
          <a:p>
            <a:pPr lvl="1"/>
            <a:r>
              <a:rPr kumimoji="1" lang="en-US" altLang="zh-CN" b="0" dirty="0"/>
              <a:t>Break a file into </a:t>
            </a:r>
            <a:r>
              <a:rPr kumimoji="1" lang="en-US" altLang="zh-CN" b="1" dirty="0">
                <a:solidFill>
                  <a:srgbClr val="C00000"/>
                </a:solidFill>
              </a:rPr>
              <a:t>fixed-sized</a:t>
            </a:r>
            <a:r>
              <a:rPr kumimoji="1" lang="en-US" altLang="zh-CN" b="0" dirty="0"/>
              <a:t> segments 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If a segment is full, then create a new file for insertions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Can control the compaction </a:t>
            </a:r>
            <a:r>
              <a:rPr lang="en-GB" altLang="zh-CN" b="1" dirty="0">
                <a:solidFill>
                  <a:srgbClr val="C00000"/>
                </a:solidFill>
              </a:rPr>
              <a:t>granularity</a:t>
            </a:r>
            <a:r>
              <a:rPr lang="en-GB" altLang="zh-CN" dirty="0"/>
              <a:t> with the segment size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表格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809925"/>
            <a:ext cx="6948264" cy="263917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Trees: </a:t>
            </a:r>
            <a:r>
              <a:rPr kumimoji="1" lang="en-US" altLang="zh-CN" dirty="0" err="1"/>
              <a:t>SSTables</a:t>
            </a:r>
            <a:r>
              <a:rPr kumimoji="1" lang="en-US" altLang="zh-CN" dirty="0"/>
              <a:t> (Sorted String Table)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680520"/>
          </a:xfrm>
        </p:spPr>
        <p:txBody>
          <a:bodyPr>
            <a:normAutofit/>
          </a:bodyPr>
          <a:lstStyle/>
          <a:p>
            <a:r>
              <a:rPr kumimoji="1" lang="en-US" altLang="zh-CN" dirty="0" err="1"/>
              <a:t>SSTable</a:t>
            </a:r>
            <a:r>
              <a:rPr kumimoji="1" lang="en-US" altLang="zh-CN" dirty="0"/>
              <a:t> </a:t>
            </a:r>
            <a:r>
              <a:rPr kumimoji="1" lang="en-US" altLang="zh-CN" b="0" dirty="0"/>
              <a:t>is based on the </a:t>
            </a:r>
            <a:r>
              <a:rPr kumimoji="1" lang="en-US" altLang="zh-CN" dirty="0">
                <a:solidFill>
                  <a:srgbClr val="BE374B"/>
                </a:solidFill>
              </a:rPr>
              <a:t>segmented log file </a:t>
            </a:r>
            <a:r>
              <a:rPr kumimoji="1" lang="en-US" altLang="zh-CN" b="0" dirty="0"/>
              <a:t>described in the hash index 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Break a file into </a:t>
            </a:r>
            <a:r>
              <a:rPr kumimoji="1" lang="en-US" altLang="zh-CN" b="1" dirty="0">
                <a:solidFill>
                  <a:srgbClr val="BE374B"/>
                </a:solidFill>
              </a:rPr>
              <a:t>fixed-sized</a:t>
            </a:r>
            <a:r>
              <a:rPr kumimoji="1" lang="en-US" altLang="zh-CN" dirty="0"/>
              <a:t> segments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a segment is full, then create a new file for insertion </a:t>
            </a:r>
            <a:endParaRPr kumimoji="1" lang="en-US" altLang="zh-CN" dirty="0"/>
          </a:p>
          <a:p>
            <a:r>
              <a:rPr kumimoji="1" lang="en-US" altLang="zh-CN" dirty="0"/>
              <a:t>With two extensions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Key-values in a segment are </a:t>
            </a:r>
            <a:r>
              <a:rPr kumimoji="1" lang="en-US" altLang="zh-CN" b="1" dirty="0">
                <a:solidFill>
                  <a:srgbClr val="BE374B"/>
                </a:solidFill>
              </a:rPr>
              <a:t>sorted</a:t>
            </a:r>
            <a:r>
              <a:rPr kumimoji="1" lang="en-US" altLang="zh-CN" dirty="0"/>
              <a:t> by the key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Old segment files are </a:t>
            </a:r>
            <a:r>
              <a:rPr kumimoji="1" lang="en-US" altLang="zh-CN" b="1" dirty="0">
                <a:solidFill>
                  <a:srgbClr val="BE374B"/>
                </a:solidFill>
              </a:rPr>
              <a:t>immutable</a:t>
            </a:r>
            <a:r>
              <a:rPr kumimoji="1" lang="en-US" altLang="zh-CN" dirty="0"/>
              <a:t> and can be </a:t>
            </a:r>
            <a:r>
              <a:rPr kumimoji="1" lang="en-US" altLang="zh-CN" b="1" dirty="0">
                <a:solidFill>
                  <a:srgbClr val="BE374B"/>
                </a:solidFill>
              </a:rPr>
              <a:t>compacted</a:t>
            </a:r>
            <a:r>
              <a:rPr kumimoji="1" lang="en-US" altLang="zh-CN" dirty="0"/>
              <a:t> to save spaces</a:t>
            </a:r>
            <a:endParaRPr kumimoji="1" lang="zh-CN" altLang="en-US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6"/>
          <p:cNvSpPr/>
          <p:nvPr/>
        </p:nvSpPr>
        <p:spPr>
          <a:xfrm>
            <a:off x="777286" y="4257370"/>
            <a:ext cx="7589428" cy="830997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Why immutable? Inserting in a </a:t>
            </a:r>
            <a:r>
              <a:rPr lang="en-US" altLang="zh-CN" sz="2400" dirty="0" err="1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SSTable</a:t>
            </a:r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</a:t>
            </a:r>
            <a:r>
              <a:rPr lang="en-US" altLang="zh-CN" sz="2400" b="1" dirty="0">
                <a:solidFill>
                  <a:srgbClr val="BD374B"/>
                </a:solidFill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 append-only</a:t>
            </a:r>
            <a:endParaRPr lang="en-US" altLang="zh-CN" sz="2400" b="1" dirty="0">
              <a:solidFill>
                <a:srgbClr val="BD374B"/>
              </a:solidFill>
              <a:latin typeface="Candara" panose="020E0502030303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 will come back to this topic later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Benefits of </a:t>
            </a:r>
            <a:r>
              <a:rPr kumimoji="1" lang="en-US" altLang="zh-CN" dirty="0" err="1"/>
              <a:t>SSTable</a:t>
            </a:r>
            <a:r>
              <a:rPr kumimoji="1" lang="en-US" altLang="zh-CN" dirty="0"/>
              <a:t> (compared to original log file)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#1. Merging two </a:t>
            </a:r>
            <a:r>
              <a:rPr kumimoji="1" lang="en-US" altLang="zh-CN" dirty="0" err="1"/>
              <a:t>SSTables</a:t>
            </a:r>
            <a:r>
              <a:rPr kumimoji="1" lang="en-US" altLang="zh-CN" dirty="0"/>
              <a:t> is efficient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Even if the two tables are much larger than the available memory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Similar to the </a:t>
            </a:r>
            <a:r>
              <a:rPr kumimoji="1"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图形用户界面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668910"/>
            <a:ext cx="4536656" cy="300037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Benefits of </a:t>
            </a:r>
            <a:r>
              <a:rPr kumimoji="1" lang="en-US" altLang="zh-CN" dirty="0" err="1"/>
              <a:t>SSTable</a:t>
            </a:r>
            <a:r>
              <a:rPr kumimoji="1" lang="en-US" altLang="zh-CN" dirty="0"/>
              <a:t> (compared to original log file)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#2. Searching a given key in a </a:t>
            </a:r>
            <a:r>
              <a:rPr kumimoji="1" lang="en-US" altLang="zh-CN" dirty="0" err="1"/>
              <a:t>SSTable</a:t>
            </a:r>
            <a:r>
              <a:rPr kumimoji="1" lang="en-US" altLang="zh-CN" dirty="0"/>
              <a:t> is efficient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We can use binary search to lookup a given key</a:t>
            </a:r>
            <a:endParaRPr kumimoji="1" lang="en-US" altLang="zh-CN" b="0" dirty="0"/>
          </a:p>
          <a:p>
            <a:pPr lvl="1"/>
            <a:r>
              <a:rPr kumimoji="1" lang="en-US" altLang="zh-CN" b="0" dirty="0"/>
              <a:t>Or we only need some </a:t>
            </a:r>
            <a:r>
              <a:rPr kumimoji="1" lang="en-US" altLang="zh-CN" b="0" dirty="0">
                <a:solidFill>
                  <a:schemeClr val="accent1"/>
                </a:solidFill>
              </a:rPr>
              <a:t>sparse index</a:t>
            </a:r>
            <a:r>
              <a:rPr kumimoji="1" lang="en-US" altLang="zh-CN" b="0" dirty="0"/>
              <a:t> for the acceleration,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one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for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each</a:t>
            </a:r>
            <a:r>
              <a:rPr kumimoji="1" lang="zh-CN" altLang="en-US" b="0" dirty="0"/>
              <a:t> </a:t>
            </a:r>
            <a:r>
              <a:rPr kumimoji="1" lang="en-US" altLang="zh-CN" b="0" dirty="0" err="1"/>
              <a:t>SSTable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E.g., </a:t>
            </a:r>
            <a:r>
              <a:rPr lang="en-US" altLang="zh-CN" dirty="0"/>
              <a:t>one key in index for every few KB of </a:t>
            </a:r>
            <a:r>
              <a:rPr lang="en-US" altLang="zh-CN" dirty="0" err="1"/>
              <a:t>SSTable</a:t>
            </a:r>
            <a:r>
              <a:rPr lang="en-US" altLang="zh-CN" dirty="0"/>
              <a:t> is sufficient, since scanning them is quick  </a:t>
            </a:r>
            <a:endParaRPr lang="en-US" altLang="zh-CN" dirty="0"/>
          </a:p>
          <a:p>
            <a:pPr lvl="1"/>
            <a:endParaRPr kumimoji="1" lang="en-US" altLang="zh-CN" b="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表格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120" y="3368552"/>
            <a:ext cx="4692352" cy="233790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Benefits of </a:t>
            </a:r>
            <a:r>
              <a:rPr kumimoji="1" lang="en-US" altLang="zh-CN" dirty="0" err="1"/>
              <a:t>SSTable</a:t>
            </a:r>
            <a:r>
              <a:rPr kumimoji="1" lang="en-US" altLang="zh-CN" dirty="0"/>
              <a:t> (compared to original log file)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#3. Support range operations </a:t>
            </a:r>
            <a:endParaRPr kumimoji="1" lang="en-US" altLang="zh-CN" dirty="0"/>
          </a:p>
          <a:p>
            <a:pPr lvl="1"/>
            <a:r>
              <a:rPr kumimoji="1" lang="en-US" altLang="zh-CN" b="0" dirty="0"/>
              <a:t>Since the KVS are sorted in the file</a:t>
            </a:r>
            <a:endParaRPr lang="en-US" altLang="zh-CN" dirty="0"/>
          </a:p>
          <a:p>
            <a:pPr lvl="1"/>
            <a:endParaRPr kumimoji="1" lang="en-US" altLang="zh-CN" b="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表格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848" y="2719282"/>
            <a:ext cx="5784304" cy="2881951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maintain </a:t>
            </a:r>
            <a:r>
              <a:rPr kumimoji="1" lang="en-US" altLang="zh-CN" dirty="0" err="1"/>
              <a:t>SSTable</a:t>
            </a:r>
            <a:r>
              <a:rPr kumimoji="1" lang="en-US" altLang="zh-CN" dirty="0"/>
              <a:t> with sequential writes?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269460"/>
          </a:xfrm>
        </p:spPr>
        <p:txBody>
          <a:bodyPr/>
          <a:lstStyle/>
          <a:p>
            <a:r>
              <a:rPr kumimoji="1" lang="en-US" altLang="zh-CN" dirty="0"/>
              <a:t>Use a </a:t>
            </a:r>
            <a:r>
              <a:rPr kumimoji="1" lang="en-US" altLang="zh-CN" dirty="0" err="1"/>
              <a:t>MemTable</a:t>
            </a:r>
            <a:r>
              <a:rPr kumimoji="1" lang="en-US" altLang="zh-CN" dirty="0"/>
              <a:t>: </a:t>
            </a:r>
            <a:r>
              <a:rPr kumimoji="1" lang="en-US" altLang="zh-CN" b="0" dirty="0"/>
              <a:t>an in-memory data structure (e.g., a red-black Tree)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Simple quiz: why not using hash table?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339752" y="3023566"/>
            <a:ext cx="216024" cy="216000"/>
          </a:xfrm>
          <a:prstGeom prst="ellipse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195736" y="3316232"/>
            <a:ext cx="216024" cy="216000"/>
          </a:xfrm>
          <a:prstGeom prst="ellipse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532125" y="3316232"/>
            <a:ext cx="216024" cy="216000"/>
          </a:xfrm>
          <a:prstGeom prst="ellipse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连接符 11"/>
          <p:cNvCxnSpPr>
            <a:stCxn id="9" idx="0"/>
            <a:endCxn id="8" idx="3"/>
          </p:cNvCxnSpPr>
          <p:nvPr/>
        </p:nvCxnSpPr>
        <p:spPr>
          <a:xfrm flipV="1">
            <a:off x="2303748" y="3207934"/>
            <a:ext cx="67640" cy="1082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/>
          <p:cNvCxnSpPr>
            <a:stCxn id="9" idx="6"/>
            <a:endCxn id="10" idx="2"/>
          </p:cNvCxnSpPr>
          <p:nvPr/>
        </p:nvCxnSpPr>
        <p:spPr>
          <a:xfrm>
            <a:off x="2411760" y="3424232"/>
            <a:ext cx="1203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/>
          <p:cNvCxnSpPr>
            <a:stCxn id="8" idx="5"/>
            <a:endCxn id="10" idx="0"/>
          </p:cNvCxnSpPr>
          <p:nvPr/>
        </p:nvCxnSpPr>
        <p:spPr>
          <a:xfrm>
            <a:off x="2524140" y="3207934"/>
            <a:ext cx="115997" cy="1082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847379" y="3608206"/>
            <a:ext cx="124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MemTable</a:t>
            </a:r>
            <a:endParaRPr lang="zh-CN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maintain </a:t>
            </a:r>
            <a:r>
              <a:rPr kumimoji="1" lang="en-US" altLang="zh-CN" dirty="0" err="1"/>
              <a:t>SSTable</a:t>
            </a:r>
            <a:r>
              <a:rPr kumimoji="1" lang="en-US" altLang="zh-CN" dirty="0"/>
              <a:t> with sequential writes?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080120"/>
          </a:xfrm>
        </p:spPr>
        <p:txBody>
          <a:bodyPr/>
          <a:lstStyle/>
          <a:p>
            <a:r>
              <a:rPr kumimoji="1" lang="en-US" altLang="zh-CN" dirty="0"/>
              <a:t>Use a </a:t>
            </a:r>
            <a:r>
              <a:rPr kumimoji="1" lang="en-US" altLang="zh-CN" dirty="0" err="1"/>
              <a:t>MemTable</a:t>
            </a:r>
            <a:r>
              <a:rPr kumimoji="1" lang="en-US" altLang="zh-CN" dirty="0"/>
              <a:t>: </a:t>
            </a:r>
            <a:r>
              <a:rPr kumimoji="1" lang="en-US" altLang="zh-CN" b="0" dirty="0"/>
              <a:t>an in-memory data structure (e.g., a red-black Tree)</a:t>
            </a:r>
            <a:endParaRPr kumimoji="1" lang="en-US" altLang="zh-CN" b="0" dirty="0"/>
          </a:p>
          <a:p>
            <a:r>
              <a:rPr kumimoji="1" lang="en-US" altLang="zh-CN" dirty="0"/>
              <a:t>Example</a:t>
            </a:r>
            <a:r>
              <a:rPr kumimoji="1" lang="en-US" altLang="zh-CN" b="0" dirty="0"/>
              <a:t>: insert a (K, V) into </a:t>
            </a:r>
            <a:r>
              <a:rPr kumimoji="1" lang="en-US" altLang="zh-CN" b="0" dirty="0" err="1"/>
              <a:t>SSTable</a:t>
            </a:r>
            <a:endParaRPr kumimoji="1" lang="en-US" altLang="zh-CN" b="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611560" y="2421148"/>
            <a:ext cx="360000" cy="369332"/>
            <a:chOff x="683568" y="2848168"/>
            <a:chExt cx="360000" cy="369332"/>
          </a:xfrm>
        </p:grpSpPr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1</a:t>
              </a:r>
              <a:endParaRPr lang="zh-CN" altLang="en-US" dirty="0"/>
            </a:p>
          </p:txBody>
        </p:sp>
      </p:grpSp>
      <p:sp>
        <p:nvSpPr>
          <p:cNvPr id="8" name="矩形 7"/>
          <p:cNvSpPr/>
          <p:nvPr/>
        </p:nvSpPr>
        <p:spPr>
          <a:xfrm>
            <a:off x="1011875" y="2389914"/>
            <a:ext cx="3749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Insert the (K,V) into the </a:t>
            </a:r>
            <a:r>
              <a:rPr kumimoji="1" lang="en-US" altLang="zh-CN" dirty="0" err="1"/>
              <a:t>MemTable</a:t>
            </a:r>
            <a:r>
              <a:rPr kumimoji="1" lang="en-US" altLang="zh-CN" dirty="0"/>
              <a:t> </a:t>
            </a:r>
            <a:endParaRPr lang="zh-CN" altLang="en-US" dirty="0"/>
          </a:p>
        </p:txBody>
      </p:sp>
      <p:grpSp>
        <p:nvGrpSpPr>
          <p:cNvPr id="27" name="组合 26"/>
          <p:cNvGrpSpPr/>
          <p:nvPr/>
        </p:nvGrpSpPr>
        <p:grpSpPr>
          <a:xfrm>
            <a:off x="2171556" y="3185612"/>
            <a:ext cx="552413" cy="508666"/>
            <a:chOff x="2195736" y="3023566"/>
            <a:chExt cx="552413" cy="508666"/>
          </a:xfrm>
        </p:grpSpPr>
        <p:sp>
          <p:nvSpPr>
            <p:cNvPr id="9" name="椭圆 8"/>
            <p:cNvSpPr/>
            <p:nvPr/>
          </p:nvSpPr>
          <p:spPr>
            <a:xfrm>
              <a:off x="2339752" y="3023566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2195736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2532125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2" name="直线连接符 11"/>
            <p:cNvCxnSpPr>
              <a:stCxn id="10" idx="0"/>
              <a:endCxn id="9" idx="3"/>
            </p:cNvCxnSpPr>
            <p:nvPr/>
          </p:nvCxnSpPr>
          <p:spPr>
            <a:xfrm flipV="1">
              <a:off x="2303748" y="3207934"/>
              <a:ext cx="67640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/>
            <p:cNvCxnSpPr>
              <a:stCxn id="10" idx="6"/>
              <a:endCxn id="11" idx="2"/>
            </p:cNvCxnSpPr>
            <p:nvPr/>
          </p:nvCxnSpPr>
          <p:spPr>
            <a:xfrm>
              <a:off x="2411760" y="3424232"/>
              <a:ext cx="1203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/>
            <p:cNvCxnSpPr>
              <a:stCxn id="9" idx="5"/>
              <a:endCxn id="11" idx="0"/>
            </p:cNvCxnSpPr>
            <p:nvPr/>
          </p:nvCxnSpPr>
          <p:spPr>
            <a:xfrm>
              <a:off x="2524140" y="3207934"/>
              <a:ext cx="115997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4"/>
          <p:cNvSpPr/>
          <p:nvPr/>
        </p:nvSpPr>
        <p:spPr>
          <a:xfrm>
            <a:off x="1823201" y="3864129"/>
            <a:ext cx="124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MemTable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469084" y="3136241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(K,V)</a:t>
            </a:r>
            <a:endParaRPr lang="zh-CN" altLang="en-US" dirty="0"/>
          </a:p>
        </p:txBody>
      </p:sp>
      <p:sp>
        <p:nvSpPr>
          <p:cNvPr id="17" name="任意形状 16"/>
          <p:cNvSpPr/>
          <p:nvPr/>
        </p:nvSpPr>
        <p:spPr>
          <a:xfrm>
            <a:off x="1143000" y="2942814"/>
            <a:ext cx="1113140" cy="431503"/>
          </a:xfrm>
          <a:custGeom>
            <a:avLst/>
            <a:gdLst>
              <a:gd name="connsiteX0" fmla="*/ 0 w 1117600"/>
              <a:gd name="connsiteY0" fmla="*/ 368209 h 402426"/>
              <a:gd name="connsiteX1" fmla="*/ 431800 w 1117600"/>
              <a:gd name="connsiteY1" fmla="*/ 368209 h 402426"/>
              <a:gd name="connsiteX2" fmla="*/ 419100 w 1117600"/>
              <a:gd name="connsiteY2" fmla="*/ 12609 h 402426"/>
              <a:gd name="connsiteX3" fmla="*/ 1117600 w 1117600"/>
              <a:gd name="connsiteY3" fmla="*/ 114209 h 402426"/>
              <a:gd name="connsiteX0-1" fmla="*/ 0 w 1113140"/>
              <a:gd name="connsiteY0-2" fmla="*/ 362132 h 396349"/>
              <a:gd name="connsiteX1-3" fmla="*/ 431800 w 1113140"/>
              <a:gd name="connsiteY1-4" fmla="*/ 362132 h 396349"/>
              <a:gd name="connsiteX2-5" fmla="*/ 419100 w 1113140"/>
              <a:gd name="connsiteY2-6" fmla="*/ 6532 h 396349"/>
              <a:gd name="connsiteX3-7" fmla="*/ 1113140 w 1113140"/>
              <a:gd name="connsiteY3-8" fmla="*/ 210723 h 396349"/>
              <a:gd name="connsiteX0-9" fmla="*/ 0 w 1113140"/>
              <a:gd name="connsiteY0-10" fmla="*/ 397286 h 431503"/>
              <a:gd name="connsiteX1-11" fmla="*/ 431800 w 1113140"/>
              <a:gd name="connsiteY1-12" fmla="*/ 397286 h 431503"/>
              <a:gd name="connsiteX2-13" fmla="*/ 419100 w 1113140"/>
              <a:gd name="connsiteY2-14" fmla="*/ 41686 h 431503"/>
              <a:gd name="connsiteX3-15" fmla="*/ 1113140 w 1113140"/>
              <a:gd name="connsiteY3-16" fmla="*/ 245877 h 431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13140" h="431503">
                <a:moveTo>
                  <a:pt x="0" y="397286"/>
                </a:moveTo>
                <a:cubicBezTo>
                  <a:pt x="180975" y="426919"/>
                  <a:pt x="361950" y="456553"/>
                  <a:pt x="431800" y="397286"/>
                </a:cubicBezTo>
                <a:cubicBezTo>
                  <a:pt x="501650" y="338019"/>
                  <a:pt x="304800" y="84019"/>
                  <a:pt x="419100" y="41686"/>
                </a:cubicBezTo>
                <a:cubicBezTo>
                  <a:pt x="533400" y="-647"/>
                  <a:pt x="1035143" y="-84798"/>
                  <a:pt x="1113140" y="24587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maintain </a:t>
            </a:r>
            <a:r>
              <a:rPr kumimoji="1" lang="en-US" altLang="zh-CN" dirty="0" err="1"/>
              <a:t>SSTable</a:t>
            </a:r>
            <a:r>
              <a:rPr kumimoji="1" lang="en-US" altLang="zh-CN" dirty="0"/>
              <a:t> with sequential writes?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080120"/>
          </a:xfrm>
        </p:spPr>
        <p:txBody>
          <a:bodyPr/>
          <a:lstStyle/>
          <a:p>
            <a:r>
              <a:rPr kumimoji="1" lang="en-US" altLang="zh-CN" dirty="0"/>
              <a:t>Use a </a:t>
            </a:r>
            <a:r>
              <a:rPr kumimoji="1" lang="en-US" altLang="zh-CN" dirty="0" err="1"/>
              <a:t>MemTable</a:t>
            </a:r>
            <a:r>
              <a:rPr kumimoji="1" lang="en-US" altLang="zh-CN" dirty="0"/>
              <a:t>: </a:t>
            </a:r>
            <a:r>
              <a:rPr kumimoji="1" lang="en-US" altLang="zh-CN" b="0" dirty="0"/>
              <a:t>an in-memory data structure (e.g., a red-black Tree)</a:t>
            </a:r>
            <a:endParaRPr kumimoji="1" lang="en-US" altLang="zh-CN" b="0" dirty="0"/>
          </a:p>
          <a:p>
            <a:r>
              <a:rPr kumimoji="1" lang="en-US" altLang="zh-CN" dirty="0"/>
              <a:t>Example</a:t>
            </a:r>
            <a:r>
              <a:rPr kumimoji="1" lang="en-US" altLang="zh-CN" b="0" dirty="0"/>
              <a:t>: insert a (K, V) into </a:t>
            </a:r>
            <a:r>
              <a:rPr kumimoji="1" lang="en-US" altLang="zh-CN" b="0" dirty="0" err="1"/>
              <a:t>SSTable</a:t>
            </a:r>
            <a:endParaRPr kumimoji="1" lang="en-US" altLang="zh-CN" b="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611560" y="2421148"/>
            <a:ext cx="360000" cy="369332"/>
            <a:chOff x="683568" y="2848168"/>
            <a:chExt cx="360000" cy="369332"/>
          </a:xfrm>
        </p:grpSpPr>
        <p:sp>
          <p:nvSpPr>
            <p:cNvPr id="6" name="椭圆 5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1</a:t>
              </a:r>
              <a:endParaRPr lang="zh-CN" altLang="en-US" dirty="0"/>
            </a:p>
          </p:txBody>
        </p:sp>
      </p:grpSp>
      <p:sp>
        <p:nvSpPr>
          <p:cNvPr id="8" name="矩形 7"/>
          <p:cNvSpPr/>
          <p:nvPr/>
        </p:nvSpPr>
        <p:spPr>
          <a:xfrm>
            <a:off x="1011875" y="2389914"/>
            <a:ext cx="3749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Insert the (K,V) into the </a:t>
            </a:r>
            <a:r>
              <a:rPr kumimoji="1" lang="en-US" altLang="zh-CN" dirty="0" err="1"/>
              <a:t>MemTable</a:t>
            </a:r>
            <a:r>
              <a:rPr kumimoji="1" lang="en-US" altLang="zh-CN" dirty="0"/>
              <a:t> </a:t>
            </a:r>
            <a:endParaRPr lang="zh-CN" altLang="en-US" dirty="0"/>
          </a:p>
        </p:txBody>
      </p:sp>
      <p:grpSp>
        <p:nvGrpSpPr>
          <p:cNvPr id="27" name="组合 26"/>
          <p:cNvGrpSpPr/>
          <p:nvPr/>
        </p:nvGrpSpPr>
        <p:grpSpPr>
          <a:xfrm>
            <a:off x="2171556" y="3185612"/>
            <a:ext cx="552413" cy="508666"/>
            <a:chOff x="2195736" y="3023566"/>
            <a:chExt cx="552413" cy="508666"/>
          </a:xfrm>
        </p:grpSpPr>
        <p:sp>
          <p:nvSpPr>
            <p:cNvPr id="9" name="椭圆 8"/>
            <p:cNvSpPr/>
            <p:nvPr/>
          </p:nvSpPr>
          <p:spPr>
            <a:xfrm>
              <a:off x="2339752" y="3023566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2195736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2532125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2" name="直线连接符 11"/>
            <p:cNvCxnSpPr>
              <a:stCxn id="10" idx="0"/>
              <a:endCxn id="9" idx="3"/>
            </p:cNvCxnSpPr>
            <p:nvPr/>
          </p:nvCxnSpPr>
          <p:spPr>
            <a:xfrm flipV="1">
              <a:off x="2303748" y="3207934"/>
              <a:ext cx="67640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/>
            <p:cNvCxnSpPr>
              <a:stCxn id="10" idx="6"/>
              <a:endCxn id="11" idx="2"/>
            </p:cNvCxnSpPr>
            <p:nvPr/>
          </p:nvCxnSpPr>
          <p:spPr>
            <a:xfrm>
              <a:off x="2411760" y="3424232"/>
              <a:ext cx="1203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/>
            <p:cNvCxnSpPr>
              <a:stCxn id="9" idx="5"/>
              <a:endCxn id="11" idx="0"/>
            </p:cNvCxnSpPr>
            <p:nvPr/>
          </p:nvCxnSpPr>
          <p:spPr>
            <a:xfrm>
              <a:off x="2524140" y="3207934"/>
              <a:ext cx="115997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4"/>
          <p:cNvSpPr/>
          <p:nvPr/>
        </p:nvSpPr>
        <p:spPr>
          <a:xfrm>
            <a:off x="1823201" y="3864129"/>
            <a:ext cx="124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MemTable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469084" y="3136241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(K,V)</a:t>
            </a:r>
            <a:endParaRPr lang="zh-CN" altLang="en-US" dirty="0"/>
          </a:p>
        </p:txBody>
      </p:sp>
      <p:sp>
        <p:nvSpPr>
          <p:cNvPr id="17" name="任意形状 16"/>
          <p:cNvSpPr/>
          <p:nvPr/>
        </p:nvSpPr>
        <p:spPr>
          <a:xfrm>
            <a:off x="1143000" y="2942814"/>
            <a:ext cx="1113140" cy="431503"/>
          </a:xfrm>
          <a:custGeom>
            <a:avLst/>
            <a:gdLst>
              <a:gd name="connsiteX0" fmla="*/ 0 w 1117600"/>
              <a:gd name="connsiteY0" fmla="*/ 368209 h 402426"/>
              <a:gd name="connsiteX1" fmla="*/ 431800 w 1117600"/>
              <a:gd name="connsiteY1" fmla="*/ 368209 h 402426"/>
              <a:gd name="connsiteX2" fmla="*/ 419100 w 1117600"/>
              <a:gd name="connsiteY2" fmla="*/ 12609 h 402426"/>
              <a:gd name="connsiteX3" fmla="*/ 1117600 w 1117600"/>
              <a:gd name="connsiteY3" fmla="*/ 114209 h 402426"/>
              <a:gd name="connsiteX0-1" fmla="*/ 0 w 1113140"/>
              <a:gd name="connsiteY0-2" fmla="*/ 362132 h 396349"/>
              <a:gd name="connsiteX1-3" fmla="*/ 431800 w 1113140"/>
              <a:gd name="connsiteY1-4" fmla="*/ 362132 h 396349"/>
              <a:gd name="connsiteX2-5" fmla="*/ 419100 w 1113140"/>
              <a:gd name="connsiteY2-6" fmla="*/ 6532 h 396349"/>
              <a:gd name="connsiteX3-7" fmla="*/ 1113140 w 1113140"/>
              <a:gd name="connsiteY3-8" fmla="*/ 210723 h 396349"/>
              <a:gd name="connsiteX0-9" fmla="*/ 0 w 1113140"/>
              <a:gd name="connsiteY0-10" fmla="*/ 397286 h 431503"/>
              <a:gd name="connsiteX1-11" fmla="*/ 431800 w 1113140"/>
              <a:gd name="connsiteY1-12" fmla="*/ 397286 h 431503"/>
              <a:gd name="connsiteX2-13" fmla="*/ 419100 w 1113140"/>
              <a:gd name="connsiteY2-14" fmla="*/ 41686 h 431503"/>
              <a:gd name="connsiteX3-15" fmla="*/ 1113140 w 1113140"/>
              <a:gd name="connsiteY3-16" fmla="*/ 245877 h 431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13140" h="431503">
                <a:moveTo>
                  <a:pt x="0" y="397286"/>
                </a:moveTo>
                <a:cubicBezTo>
                  <a:pt x="180975" y="426919"/>
                  <a:pt x="361950" y="456553"/>
                  <a:pt x="431800" y="397286"/>
                </a:cubicBezTo>
                <a:cubicBezTo>
                  <a:pt x="501650" y="338019"/>
                  <a:pt x="304800" y="84019"/>
                  <a:pt x="419100" y="41686"/>
                </a:cubicBezTo>
                <a:cubicBezTo>
                  <a:pt x="533400" y="-647"/>
                  <a:pt x="1035143" y="-84798"/>
                  <a:pt x="1113140" y="24587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11560" y="4585692"/>
            <a:ext cx="360000" cy="369332"/>
            <a:chOff x="683568" y="2848168"/>
            <a:chExt cx="360000" cy="369332"/>
          </a:xfrm>
        </p:grpSpPr>
        <p:sp>
          <p:nvSpPr>
            <p:cNvPr id="19" name="椭圆 18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2</a:t>
              </a:r>
              <a:endParaRPr lang="zh-CN" altLang="en-US" dirty="0"/>
            </a:p>
          </p:txBody>
        </p:sp>
      </p:grpSp>
      <p:sp>
        <p:nvSpPr>
          <p:cNvPr id="21" name="矩形 20"/>
          <p:cNvSpPr/>
          <p:nvPr/>
        </p:nvSpPr>
        <p:spPr>
          <a:xfrm>
            <a:off x="1011875" y="4598613"/>
            <a:ext cx="54938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check whether </a:t>
            </a:r>
            <a:r>
              <a:rPr kumimoji="1" lang="en-US" altLang="zh-CN" dirty="0" err="1"/>
              <a:t>MemTable</a:t>
            </a:r>
            <a:r>
              <a:rPr kumimoji="1" lang="en-US" altLang="zh-CN" dirty="0"/>
              <a:t> exceeds some threshold, </a:t>
            </a:r>
            <a:endParaRPr kumimoji="1" lang="en-US" altLang="zh-CN" dirty="0"/>
          </a:p>
          <a:p>
            <a:r>
              <a:rPr kumimoji="1" lang="en-US" altLang="zh-CN" dirty="0"/>
              <a:t>If so, flush it to a new </a:t>
            </a:r>
            <a:r>
              <a:rPr kumimoji="1" lang="en-US" altLang="zh-CN" dirty="0" err="1"/>
              <a:t>SSTable</a:t>
            </a:r>
            <a:r>
              <a:rPr kumimoji="1" lang="en-US" altLang="zh-CN" dirty="0"/>
              <a:t> </a:t>
            </a:r>
            <a:endParaRPr lang="zh-CN" altLang="en-US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656" y="2776891"/>
            <a:ext cx="1249125" cy="82295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581" y="3431183"/>
            <a:ext cx="405904" cy="4059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8" name="矩形 27"/>
          <p:cNvSpPr/>
          <p:nvPr/>
        </p:nvSpPr>
        <p:spPr>
          <a:xfrm>
            <a:off x="4415769" y="3861666"/>
            <a:ext cx="1043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SSTable</a:t>
            </a:r>
            <a:endParaRPr lang="zh-CN" altLang="en-US" dirty="0"/>
          </a:p>
        </p:txBody>
      </p:sp>
      <p:sp>
        <p:nvSpPr>
          <p:cNvPr id="26" name="Rectangle 6"/>
          <p:cNvSpPr/>
          <p:nvPr/>
        </p:nvSpPr>
        <p:spPr>
          <a:xfrm>
            <a:off x="5832921" y="3110360"/>
            <a:ext cx="3215352" cy="830997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BE374B"/>
                </a:solidFill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Question</a:t>
            </a:r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does writing to </a:t>
            </a:r>
            <a:r>
              <a:rPr lang="en-US" altLang="zh-CN" sz="2400" dirty="0" err="1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SSTable</a:t>
            </a:r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sequential?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maintain </a:t>
            </a:r>
            <a:r>
              <a:rPr kumimoji="1" lang="en-US" altLang="zh-CN" dirty="0" err="1"/>
              <a:t>SSTable</a:t>
            </a:r>
            <a:r>
              <a:rPr kumimoji="1" lang="en-US" altLang="zh-CN" dirty="0"/>
              <a:t> with sequential writes?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152128"/>
          </a:xfrm>
        </p:spPr>
        <p:txBody>
          <a:bodyPr/>
          <a:lstStyle/>
          <a:p>
            <a:r>
              <a:rPr kumimoji="1" lang="en-US" altLang="zh-CN" dirty="0"/>
              <a:t>Use a </a:t>
            </a:r>
            <a:r>
              <a:rPr kumimoji="1" lang="en-US" altLang="zh-CN" dirty="0" err="1"/>
              <a:t>MemTable</a:t>
            </a:r>
            <a:r>
              <a:rPr kumimoji="1" lang="en-US" altLang="zh-CN" dirty="0"/>
              <a:t>: </a:t>
            </a:r>
            <a:r>
              <a:rPr kumimoji="1" lang="en-US" altLang="zh-CN" b="0" dirty="0"/>
              <a:t>an in-memory sorted data structure (e.g., red-black Tree)</a:t>
            </a:r>
            <a:endParaRPr kumimoji="1" lang="en-US" altLang="zh-CN" b="0" dirty="0"/>
          </a:p>
          <a:p>
            <a:r>
              <a:rPr kumimoji="1" lang="en-US" altLang="zh-CN" dirty="0"/>
              <a:t>Example</a:t>
            </a:r>
            <a:r>
              <a:rPr kumimoji="1" lang="en-US" altLang="zh-CN" b="0" dirty="0"/>
              <a:t>: insert a (K, V) into </a:t>
            </a:r>
            <a:r>
              <a:rPr kumimoji="1" lang="en-US" altLang="zh-CN" b="0" dirty="0" err="1"/>
              <a:t>SSTable</a:t>
            </a:r>
            <a:endParaRPr kumimoji="1" lang="en-US" altLang="zh-CN" b="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2096944"/>
            <a:ext cx="1249125" cy="8229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530" y="2995252"/>
            <a:ext cx="405904" cy="4059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矩形 6"/>
          <p:cNvSpPr/>
          <p:nvPr/>
        </p:nvSpPr>
        <p:spPr>
          <a:xfrm>
            <a:off x="6340232" y="3466216"/>
            <a:ext cx="1159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SSTables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93" y="2995252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703" y="2995252"/>
            <a:ext cx="405904" cy="405904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0" name="组合 9"/>
          <p:cNvGrpSpPr/>
          <p:nvPr/>
        </p:nvGrpSpPr>
        <p:grpSpPr>
          <a:xfrm>
            <a:off x="705576" y="2444846"/>
            <a:ext cx="360000" cy="369332"/>
            <a:chOff x="683568" y="2848168"/>
            <a:chExt cx="360000" cy="369332"/>
          </a:xfrm>
        </p:grpSpPr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3</a:t>
              </a:r>
              <a:endParaRPr lang="zh-CN" altLang="en-US" dirty="0"/>
            </a:p>
          </p:txBody>
        </p:sp>
      </p:grpSp>
      <p:sp>
        <p:nvSpPr>
          <p:cNvPr id="13" name="矩形 12"/>
          <p:cNvSpPr/>
          <p:nvPr/>
        </p:nvSpPr>
        <p:spPr>
          <a:xfrm>
            <a:off x="1134634" y="2352513"/>
            <a:ext cx="39311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/>
              <a:t>What if there are too many </a:t>
            </a:r>
            <a:r>
              <a:rPr kumimoji="1" lang="en-US" altLang="zh-CN" dirty="0" err="1"/>
              <a:t>SSTables</a:t>
            </a:r>
            <a:r>
              <a:rPr kumimoji="1" lang="en-US" altLang="zh-CN" dirty="0"/>
              <a:t>?</a:t>
            </a:r>
            <a:endParaRPr kumimoji="1" lang="en-US" altLang="zh-CN" dirty="0"/>
          </a:p>
          <a:p>
            <a:r>
              <a:rPr kumimoji="1" lang="en-US" altLang="zh-CN" dirty="0"/>
              <a:t>We can </a:t>
            </a:r>
            <a:r>
              <a:rPr kumimoji="1" lang="en-US" altLang="zh-CN" b="1" dirty="0">
                <a:solidFill>
                  <a:srgbClr val="BE374B"/>
                </a:solidFill>
              </a:rPr>
              <a:t>merge &amp; compact </a:t>
            </a:r>
            <a:r>
              <a:rPr kumimoji="1" lang="en-US" altLang="zh-CN" dirty="0"/>
              <a:t>them as we have done before with segmented log files 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530" y="3975407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93" y="3975407"/>
            <a:ext cx="405904" cy="4059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椭圆 16"/>
          <p:cNvSpPr/>
          <p:nvPr/>
        </p:nvSpPr>
        <p:spPr>
          <a:xfrm>
            <a:off x="6608720" y="2827755"/>
            <a:ext cx="1042759" cy="657683"/>
          </a:xfrm>
          <a:prstGeom prst="ellipse">
            <a:avLst/>
          </a:prstGeom>
          <a:noFill/>
          <a:ln w="2540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任意形状 17"/>
          <p:cNvSpPr/>
          <p:nvPr/>
        </p:nvSpPr>
        <p:spPr>
          <a:xfrm>
            <a:off x="7170234" y="3434576"/>
            <a:ext cx="603712" cy="869974"/>
          </a:xfrm>
          <a:custGeom>
            <a:avLst/>
            <a:gdLst>
              <a:gd name="connsiteX0" fmla="*/ 278781 w 603712"/>
              <a:gd name="connsiteY0" fmla="*/ 0 h 869974"/>
              <a:gd name="connsiteX1" fmla="*/ 568712 w 603712"/>
              <a:gd name="connsiteY1" fmla="*/ 323385 h 869974"/>
              <a:gd name="connsiteX2" fmla="*/ 535259 w 603712"/>
              <a:gd name="connsiteY2" fmla="*/ 825190 h 869974"/>
              <a:gd name="connsiteX3" fmla="*/ 0 w 603712"/>
              <a:gd name="connsiteY3" fmla="*/ 814039 h 86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712" h="869974">
                <a:moveTo>
                  <a:pt x="278781" y="0"/>
                </a:moveTo>
                <a:cubicBezTo>
                  <a:pt x="402373" y="92926"/>
                  <a:pt x="525966" y="185853"/>
                  <a:pt x="568712" y="323385"/>
                </a:cubicBezTo>
                <a:cubicBezTo>
                  <a:pt x="611458" y="460917"/>
                  <a:pt x="630044" y="743414"/>
                  <a:pt x="535259" y="825190"/>
                </a:cubicBezTo>
                <a:cubicBezTo>
                  <a:pt x="440474" y="906966"/>
                  <a:pt x="220237" y="860502"/>
                  <a:pt x="0" y="81403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107797" y="3790741"/>
            <a:ext cx="199285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kumimoji="1" lang="en-US" altLang="zh-CN" dirty="0"/>
              <a:t>Merge &amp; compact</a:t>
            </a:r>
            <a:endParaRPr lang="zh-CN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Reads with </a:t>
            </a:r>
            <a:r>
              <a:rPr kumimoji="1" lang="en-US" altLang="zh-CN" dirty="0" err="1"/>
              <a:t>MemTable</a:t>
            </a:r>
            <a:r>
              <a:rPr kumimoji="1" lang="en-US" altLang="zh-CN" dirty="0"/>
              <a:t> + </a:t>
            </a:r>
            <a:r>
              <a:rPr kumimoji="1" lang="en-US" altLang="zh-CN" dirty="0" err="1"/>
              <a:t>SSTable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2808312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CN" b="0" dirty="0"/>
              <a:t>Checks the </a:t>
            </a:r>
            <a:r>
              <a:rPr kumimoji="1" lang="en-US" altLang="zh-CN" b="0" dirty="0" err="1"/>
              <a:t>MemTable</a:t>
            </a:r>
            <a:r>
              <a:rPr kumimoji="1" lang="en-US" altLang="zh-CN" b="0" dirty="0"/>
              <a:t> </a:t>
            </a:r>
            <a:endParaRPr kumimoji="1" lang="en-US" altLang="zh-CN" b="0" dirty="0"/>
          </a:p>
          <a:p>
            <a:pPr marL="342900" indent="-342900">
              <a:buAutoNum type="arabicPeriod"/>
            </a:pPr>
            <a:r>
              <a:rPr kumimoji="1" lang="en-US" altLang="zh-CN" b="0" dirty="0"/>
              <a:t>If misses, checks the latest </a:t>
            </a:r>
            <a:r>
              <a:rPr kumimoji="1" lang="en-US" altLang="zh-CN" b="0" dirty="0" err="1"/>
              <a:t>SSTable</a:t>
            </a:r>
            <a:endParaRPr kumimoji="1" lang="en-US" altLang="zh-CN" b="0" dirty="0"/>
          </a:p>
          <a:p>
            <a:pPr marL="342900" indent="-342900">
              <a:buAutoNum type="arabicPeriod"/>
            </a:pPr>
            <a:r>
              <a:rPr kumimoji="1" lang="en-US" altLang="zh-CN" b="0" dirty="0"/>
              <a:t>If still misses, checks the next older </a:t>
            </a:r>
            <a:r>
              <a:rPr kumimoji="1" lang="en-US" altLang="zh-CN" b="0" dirty="0" err="1"/>
              <a:t>SSTable</a:t>
            </a:r>
            <a:endParaRPr kumimoji="1" lang="en-US" altLang="zh-CN" b="0" dirty="0"/>
          </a:p>
          <a:p>
            <a:pPr marL="342900" indent="-342900">
              <a:buAutoNum type="arabicPeriod"/>
            </a:pPr>
            <a:r>
              <a:rPr kumimoji="1" lang="en-US" altLang="zh-CN" b="0" dirty="0"/>
              <a:t>… </a:t>
            </a:r>
            <a:endParaRPr kumimoji="1" lang="en-US" altLang="zh-CN" b="0" dirty="0"/>
          </a:p>
          <a:p>
            <a:r>
              <a:rPr kumimoji="1" lang="en-US" altLang="zh-CN" dirty="0"/>
              <a:t>Optimization</a:t>
            </a:r>
            <a:r>
              <a:rPr kumimoji="1" lang="en-US" altLang="zh-CN" b="0" dirty="0"/>
              <a:t>: keep a sparse index on each </a:t>
            </a:r>
            <a:r>
              <a:rPr kumimoji="1" lang="en-US" altLang="zh-CN" b="0" dirty="0" err="1"/>
              <a:t>SSTable</a:t>
            </a:r>
            <a:r>
              <a:rPr kumimoji="1" lang="en-US" altLang="zh-CN" b="0" dirty="0"/>
              <a:t> to accelerate the lookup </a:t>
            </a:r>
            <a:endParaRPr kumimoji="1" lang="en-US" altLang="zh-CN" b="0" dirty="0"/>
          </a:p>
          <a:p>
            <a:endParaRPr kumimoji="1"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619672" y="4503644"/>
            <a:ext cx="552413" cy="508666"/>
            <a:chOff x="2195736" y="3023566"/>
            <a:chExt cx="552413" cy="508666"/>
          </a:xfrm>
        </p:grpSpPr>
        <p:sp>
          <p:nvSpPr>
            <p:cNvPr id="6" name="椭圆 5"/>
            <p:cNvSpPr/>
            <p:nvPr/>
          </p:nvSpPr>
          <p:spPr>
            <a:xfrm>
              <a:off x="2339752" y="3023566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195736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2532125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9" name="直线连接符 8"/>
            <p:cNvCxnSpPr>
              <a:stCxn id="7" idx="0"/>
              <a:endCxn id="6" idx="3"/>
            </p:cNvCxnSpPr>
            <p:nvPr/>
          </p:nvCxnSpPr>
          <p:spPr>
            <a:xfrm flipV="1">
              <a:off x="2303748" y="3207934"/>
              <a:ext cx="67640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>
              <a:stCxn id="7" idx="6"/>
              <a:endCxn id="8" idx="2"/>
            </p:cNvCxnSpPr>
            <p:nvPr/>
          </p:nvCxnSpPr>
          <p:spPr>
            <a:xfrm>
              <a:off x="2411760" y="3424232"/>
              <a:ext cx="1203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>
              <a:stCxn id="6" idx="5"/>
              <a:endCxn id="8" idx="0"/>
            </p:cNvCxnSpPr>
            <p:nvPr/>
          </p:nvCxnSpPr>
          <p:spPr>
            <a:xfrm>
              <a:off x="2524140" y="3207934"/>
              <a:ext cx="115997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784" y="4606406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847" y="4606406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9912" y="460848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136" y="4606406"/>
            <a:ext cx="405904" cy="4059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6" name="矩形 15"/>
          <p:cNvSpPr/>
          <p:nvPr/>
        </p:nvSpPr>
        <p:spPr>
          <a:xfrm>
            <a:off x="5164578" y="4365979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600" dirty="0"/>
              <a:t>…</a:t>
            </a:r>
            <a:endParaRPr lang="zh-CN" altLang="en-US" sz="3600" dirty="0"/>
          </a:p>
        </p:txBody>
      </p:sp>
      <p:sp>
        <p:nvSpPr>
          <p:cNvPr id="17" name="矩形 16"/>
          <p:cNvSpPr/>
          <p:nvPr/>
        </p:nvSpPr>
        <p:spPr>
          <a:xfrm>
            <a:off x="1247137" y="5084044"/>
            <a:ext cx="124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MemTable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482196" y="5084044"/>
            <a:ext cx="1159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SSTables</a:t>
            </a:r>
            <a:endParaRPr lang="zh-CN" altLang="en-US" dirty="0"/>
          </a:p>
        </p:txBody>
      </p:sp>
      <p:sp>
        <p:nvSpPr>
          <p:cNvPr id="21" name="任意形状 20"/>
          <p:cNvSpPr/>
          <p:nvPr/>
        </p:nvSpPr>
        <p:spPr>
          <a:xfrm>
            <a:off x="2062976" y="4247733"/>
            <a:ext cx="68022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/>
        </p:nvSpPr>
        <p:spPr>
          <a:xfrm>
            <a:off x="2887191" y="4267061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任意形状 22"/>
          <p:cNvSpPr/>
          <p:nvPr/>
        </p:nvSpPr>
        <p:spPr>
          <a:xfrm>
            <a:off x="3519010" y="4251603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任意形状 23"/>
          <p:cNvSpPr/>
          <p:nvPr/>
        </p:nvSpPr>
        <p:spPr>
          <a:xfrm>
            <a:off x="4189653" y="4242493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任意形状 26"/>
          <p:cNvSpPr/>
          <p:nvPr/>
        </p:nvSpPr>
        <p:spPr>
          <a:xfrm>
            <a:off x="1230524" y="4237428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1220817" y="3813192"/>
            <a:ext cx="360000" cy="369332"/>
            <a:chOff x="683568" y="2848168"/>
            <a:chExt cx="360000" cy="369332"/>
          </a:xfrm>
        </p:grpSpPr>
        <p:sp>
          <p:nvSpPr>
            <p:cNvPr id="29" name="椭圆 28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1</a:t>
              </a:r>
              <a:endParaRPr lang="zh-CN" altLang="en-US" dirty="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187981" y="3813192"/>
            <a:ext cx="360000" cy="369332"/>
            <a:chOff x="683568" y="2848168"/>
            <a:chExt cx="360000" cy="369332"/>
          </a:xfrm>
        </p:grpSpPr>
        <p:sp>
          <p:nvSpPr>
            <p:cNvPr id="32" name="椭圆 31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2</a:t>
              </a:r>
              <a:endParaRPr lang="zh-CN" altLang="en-US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910143" y="3813192"/>
            <a:ext cx="360000" cy="369332"/>
            <a:chOff x="683568" y="2848168"/>
            <a:chExt cx="360000" cy="369332"/>
          </a:xfrm>
        </p:grpSpPr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3</a:t>
              </a:r>
              <a:endParaRPr lang="zh-CN" altLang="en-US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555333" y="3813192"/>
            <a:ext cx="360000" cy="369332"/>
            <a:chOff x="683568" y="2848168"/>
            <a:chExt cx="360000" cy="369332"/>
          </a:xfrm>
        </p:grpSpPr>
        <p:sp>
          <p:nvSpPr>
            <p:cNvPr id="38" name="椭圆 37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4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11560" y="2137420"/>
            <a:ext cx="7840092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9pPr>
          </a:lstStyle>
          <a:p>
            <a:pPr algn="ctr"/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Question: what are the drawbacks of </a:t>
            </a:r>
            <a:endParaRPr lang="en-US" altLang="zh-CN" b="0" kern="0" dirty="0">
              <a:solidFill>
                <a:srgbClr val="C00000"/>
              </a:solidFill>
              <a:ea typeface="+mn-ea"/>
            </a:endParaRPr>
          </a:p>
          <a:p>
            <a:pPr algn="ctr"/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such a design?</a:t>
            </a:r>
            <a:endParaRPr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Organizing data sequentially has several drawbacks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1368152"/>
          </a:xfrm>
        </p:spPr>
        <p:txBody>
          <a:bodyPr/>
          <a:lstStyle/>
          <a:p>
            <a:r>
              <a:rPr kumimoji="1" lang="en-US" altLang="zh-CN" dirty="0"/>
              <a:t>#1. Finding the old value is slow </a:t>
            </a:r>
            <a:endParaRPr kumimoji="1" lang="en-US" altLang="zh-CN" dirty="0"/>
          </a:p>
          <a:p>
            <a:r>
              <a:rPr kumimoji="1" lang="en-US" altLang="zh-CN" dirty="0"/>
              <a:t>#2. Deduplication is hard </a:t>
            </a:r>
            <a:endParaRPr kumimoji="1" lang="en-US" altLang="zh-CN" dirty="0"/>
          </a:p>
          <a:p>
            <a:r>
              <a:rPr kumimoji="1" lang="en-US" altLang="zh-CN" dirty="0"/>
              <a:t>#3.</a:t>
            </a:r>
            <a:r>
              <a:rPr kumimoji="1" lang="zh-CN" altLang="en-US" dirty="0"/>
              <a:t> </a:t>
            </a:r>
            <a:r>
              <a:rPr kumimoji="1" lang="en-US" altLang="zh-CN" dirty="0"/>
              <a:t>Range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query is still inefficient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619672" y="4503644"/>
            <a:ext cx="552413" cy="508666"/>
            <a:chOff x="2195736" y="3023566"/>
            <a:chExt cx="552413" cy="508666"/>
          </a:xfrm>
        </p:grpSpPr>
        <p:sp>
          <p:nvSpPr>
            <p:cNvPr id="6" name="椭圆 5"/>
            <p:cNvSpPr/>
            <p:nvPr/>
          </p:nvSpPr>
          <p:spPr>
            <a:xfrm>
              <a:off x="2339752" y="3023566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195736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2532125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9" name="直线连接符 8"/>
            <p:cNvCxnSpPr>
              <a:stCxn id="7" idx="0"/>
              <a:endCxn id="6" idx="3"/>
            </p:cNvCxnSpPr>
            <p:nvPr/>
          </p:nvCxnSpPr>
          <p:spPr>
            <a:xfrm flipV="1">
              <a:off x="2303748" y="3207934"/>
              <a:ext cx="67640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>
              <a:stCxn id="7" idx="6"/>
              <a:endCxn id="8" idx="2"/>
            </p:cNvCxnSpPr>
            <p:nvPr/>
          </p:nvCxnSpPr>
          <p:spPr>
            <a:xfrm>
              <a:off x="2411760" y="3424232"/>
              <a:ext cx="1203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>
              <a:stCxn id="6" idx="5"/>
              <a:endCxn id="8" idx="0"/>
            </p:cNvCxnSpPr>
            <p:nvPr/>
          </p:nvCxnSpPr>
          <p:spPr>
            <a:xfrm>
              <a:off x="2524140" y="3207934"/>
              <a:ext cx="115997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784" y="4606406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847" y="4606406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9912" y="460848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136" y="4606406"/>
            <a:ext cx="405904" cy="4059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6" name="矩形 15"/>
          <p:cNvSpPr/>
          <p:nvPr/>
        </p:nvSpPr>
        <p:spPr>
          <a:xfrm>
            <a:off x="5164578" y="4365979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600" dirty="0"/>
              <a:t>…</a:t>
            </a:r>
            <a:endParaRPr lang="zh-CN" altLang="en-US" sz="3600" dirty="0"/>
          </a:p>
        </p:txBody>
      </p:sp>
      <p:sp>
        <p:nvSpPr>
          <p:cNvPr id="17" name="矩形 16"/>
          <p:cNvSpPr/>
          <p:nvPr/>
        </p:nvSpPr>
        <p:spPr>
          <a:xfrm>
            <a:off x="1247137" y="5084044"/>
            <a:ext cx="124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MemTable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482196" y="5084044"/>
            <a:ext cx="1159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SSTables</a:t>
            </a:r>
            <a:endParaRPr lang="zh-CN" altLang="en-US" dirty="0"/>
          </a:p>
        </p:txBody>
      </p:sp>
      <p:sp>
        <p:nvSpPr>
          <p:cNvPr id="19" name="任意形状 18"/>
          <p:cNvSpPr/>
          <p:nvPr/>
        </p:nvSpPr>
        <p:spPr>
          <a:xfrm>
            <a:off x="2062976" y="4247733"/>
            <a:ext cx="68022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任意形状 19"/>
          <p:cNvSpPr/>
          <p:nvPr/>
        </p:nvSpPr>
        <p:spPr>
          <a:xfrm>
            <a:off x="2887191" y="4267061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任意形状 20"/>
          <p:cNvSpPr/>
          <p:nvPr/>
        </p:nvSpPr>
        <p:spPr>
          <a:xfrm>
            <a:off x="3519010" y="4251603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/>
        </p:nvSpPr>
        <p:spPr>
          <a:xfrm>
            <a:off x="4189653" y="4242493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任意形状 22"/>
          <p:cNvSpPr/>
          <p:nvPr/>
        </p:nvSpPr>
        <p:spPr>
          <a:xfrm>
            <a:off x="1230524" y="4237428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1220817" y="3813192"/>
            <a:ext cx="360000" cy="369332"/>
            <a:chOff x="683568" y="2848168"/>
            <a:chExt cx="360000" cy="369332"/>
          </a:xfrm>
        </p:grpSpPr>
        <p:sp>
          <p:nvSpPr>
            <p:cNvPr id="25" name="椭圆 24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1</a:t>
              </a:r>
              <a:endParaRPr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187981" y="3813192"/>
            <a:ext cx="360000" cy="369332"/>
            <a:chOff x="683568" y="2848168"/>
            <a:chExt cx="360000" cy="369332"/>
          </a:xfrm>
        </p:grpSpPr>
        <p:sp>
          <p:nvSpPr>
            <p:cNvPr id="28" name="椭圆 27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2</a:t>
              </a:r>
              <a:endParaRPr lang="zh-CN" altLang="en-US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910143" y="3813192"/>
            <a:ext cx="360000" cy="369332"/>
            <a:chOff x="683568" y="2848168"/>
            <a:chExt cx="360000" cy="369332"/>
          </a:xfrm>
        </p:grpSpPr>
        <p:sp>
          <p:nvSpPr>
            <p:cNvPr id="31" name="椭圆 30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3</a:t>
              </a:r>
              <a:endParaRPr lang="zh-CN" altLang="en-US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555333" y="3813192"/>
            <a:ext cx="360000" cy="369332"/>
            <a:chOff x="683568" y="2848168"/>
            <a:chExt cx="360000" cy="369332"/>
          </a:xfrm>
        </p:grpSpPr>
        <p:sp>
          <p:nvSpPr>
            <p:cNvPr id="34" name="椭圆 33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4</a:t>
              </a:r>
              <a:endParaRPr lang="zh-CN" altLang="en-US" dirty="0"/>
            </a:p>
          </p:txBody>
        </p:sp>
      </p:grpSp>
      <p:cxnSp>
        <p:nvCxnSpPr>
          <p:cNvPr id="37" name="直线箭头连接符 36"/>
          <p:cNvCxnSpPr/>
          <p:nvPr/>
        </p:nvCxnSpPr>
        <p:spPr>
          <a:xfrm>
            <a:off x="827584" y="3597192"/>
            <a:ext cx="5400600" cy="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797263" y="3213236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Old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53629" y="321323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New</a:t>
            </a:r>
            <a:endParaRPr lang="zh-CN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 Tree organizes </a:t>
            </a:r>
            <a:r>
              <a:rPr kumimoji="1" lang="en-US" altLang="zh-CN" dirty="0" err="1"/>
              <a:t>SSTables</a:t>
            </a:r>
            <a:r>
              <a:rPr kumimoji="1" lang="en-US" altLang="zh-CN" dirty="0"/>
              <a:t> in a hierarchy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2405628"/>
          </a:xfrm>
        </p:spPr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The famous </a:t>
            </a:r>
            <a:r>
              <a:rPr kumimoji="1" lang="en-US" altLang="zh-CN" b="1" dirty="0">
                <a:solidFill>
                  <a:srgbClr val="BE374B"/>
                </a:solidFill>
              </a:rPr>
              <a:t>L</a:t>
            </a:r>
            <a:r>
              <a:rPr kumimoji="1" lang="en-US" altLang="zh-CN" dirty="0"/>
              <a:t>og-</a:t>
            </a:r>
            <a:r>
              <a:rPr kumimoji="1" lang="en-US" altLang="zh-CN" b="1" dirty="0">
                <a:solidFill>
                  <a:srgbClr val="BE374B"/>
                </a:solidFill>
              </a:rPr>
              <a:t>s</a:t>
            </a:r>
            <a:r>
              <a:rPr kumimoji="1" lang="en-US" altLang="zh-CN" dirty="0"/>
              <a:t>tructured </a:t>
            </a:r>
            <a:r>
              <a:rPr kumimoji="1" lang="en-US" altLang="zh-CN" b="1" dirty="0">
                <a:solidFill>
                  <a:srgbClr val="BE374B"/>
                </a:solidFill>
              </a:rPr>
              <a:t>m</a:t>
            </a:r>
            <a:r>
              <a:rPr kumimoji="1" lang="en-US" altLang="zh-CN" dirty="0"/>
              <a:t>erge tree </a:t>
            </a:r>
            <a:endParaRPr kumimoji="1" lang="en-US" altLang="zh-CN" dirty="0"/>
          </a:p>
          <a:p>
            <a:r>
              <a:rPr kumimoji="1" lang="en-US" altLang="zh-CN" dirty="0"/>
              <a:t>Each layer has the entire KVS data of some time </a:t>
            </a:r>
            <a:endParaRPr kumimoji="1"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6887" y="3292743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079" y="328954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6419" y="389875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5611" y="3895555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920" y="3906267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112" y="3903072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227" y="460159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6419" y="4598403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722" y="459526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031" y="460598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8223" y="4602785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3593" y="460159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7" name="矩形 26"/>
          <p:cNvSpPr/>
          <p:nvPr/>
        </p:nvSpPr>
        <p:spPr>
          <a:xfrm>
            <a:off x="5521165" y="5117998"/>
            <a:ext cx="1185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LSM Tree</a:t>
            </a:r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5768507" y="2544075"/>
            <a:ext cx="552413" cy="508666"/>
            <a:chOff x="2195736" y="3023566"/>
            <a:chExt cx="552413" cy="508666"/>
          </a:xfrm>
        </p:grpSpPr>
        <p:sp>
          <p:nvSpPr>
            <p:cNvPr id="29" name="椭圆 28"/>
            <p:cNvSpPr/>
            <p:nvPr/>
          </p:nvSpPr>
          <p:spPr>
            <a:xfrm>
              <a:off x="2339752" y="3023566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2195736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2532125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2" name="直线连接符 31"/>
            <p:cNvCxnSpPr>
              <a:stCxn id="30" idx="0"/>
              <a:endCxn id="29" idx="3"/>
            </p:cNvCxnSpPr>
            <p:nvPr/>
          </p:nvCxnSpPr>
          <p:spPr>
            <a:xfrm flipV="1">
              <a:off x="2303748" y="3207934"/>
              <a:ext cx="67640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/>
            <p:cNvCxnSpPr>
              <a:stCxn id="30" idx="6"/>
              <a:endCxn id="31" idx="2"/>
            </p:cNvCxnSpPr>
            <p:nvPr/>
          </p:nvCxnSpPr>
          <p:spPr>
            <a:xfrm>
              <a:off x="2411760" y="3424232"/>
              <a:ext cx="1203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/>
            <p:cNvCxnSpPr>
              <a:stCxn id="29" idx="5"/>
              <a:endCxn id="31" idx="0"/>
            </p:cNvCxnSpPr>
            <p:nvPr/>
          </p:nvCxnSpPr>
          <p:spPr>
            <a:xfrm>
              <a:off x="2524140" y="3207934"/>
              <a:ext cx="115997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/>
          <p:cNvSpPr/>
          <p:nvPr/>
        </p:nvSpPr>
        <p:spPr>
          <a:xfrm>
            <a:off x="4315239" y="2575409"/>
            <a:ext cx="124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MemTable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4851950" y="3192859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L0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455409" y="392562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L1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3904405" y="462107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L2</a:t>
            </a:r>
            <a:endParaRPr lang="zh-CN" altLang="en-US" dirty="0"/>
          </a:p>
        </p:txBody>
      </p:sp>
      <p:cxnSp>
        <p:nvCxnSpPr>
          <p:cNvPr id="44" name="直线箭头连接符 43"/>
          <p:cNvCxnSpPr/>
          <p:nvPr/>
        </p:nvCxnSpPr>
        <p:spPr>
          <a:xfrm flipV="1">
            <a:off x="8316416" y="2544075"/>
            <a:ext cx="0" cy="257392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7993250" y="21172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New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8029497" y="5116802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Old</a:t>
            </a:r>
            <a:endParaRPr lang="zh-CN" altLang="en-US" dirty="0"/>
          </a:p>
        </p:txBody>
      </p:sp>
      <p:sp>
        <p:nvSpPr>
          <p:cNvPr id="48" name="内容占位符 2"/>
          <p:cNvSpPr txBox="1"/>
          <p:nvPr/>
        </p:nvSpPr>
        <p:spPr>
          <a:xfrm>
            <a:off x="399797" y="2117294"/>
            <a:ext cx="3666037" cy="2819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PingFang SC" panose="020B0400000000000000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kumimoji="1" lang="en-US" altLang="zh-CN" dirty="0"/>
              <a:t>Each layer has maximum size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Except</a:t>
            </a:r>
            <a:r>
              <a:rPr kumimoji="1" lang="zh-CN" altLang="en-US" dirty="0"/>
              <a:t> </a:t>
            </a:r>
            <a:r>
              <a:rPr kumimoji="1" lang="en-US" altLang="zh-CN" dirty="0"/>
              <a:t>L0, all files in layers are </a:t>
            </a:r>
            <a:r>
              <a:rPr kumimoji="1" lang="en-US" altLang="zh-CN" b="1" dirty="0">
                <a:solidFill>
                  <a:srgbClr val="C00000"/>
                </a:solidFill>
              </a:rPr>
              <a:t>sorted, and does not have duplicated keys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Except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L0, keys in each layer is </a:t>
            </a:r>
            <a:r>
              <a:rPr kumimoji="1" lang="en-US" altLang="zh-CN" b="1" dirty="0">
                <a:solidFill>
                  <a:srgbClr val="BD374B"/>
                </a:solidFill>
              </a:rPr>
              <a:t>sorted</a:t>
            </a:r>
            <a:r>
              <a:rPr kumimoji="1" lang="en-US" altLang="zh-CN" dirty="0">
                <a:solidFill>
                  <a:schemeClr val="tx1"/>
                </a:solidFill>
              </a:rPr>
              <a:t> according to the </a:t>
            </a:r>
            <a:r>
              <a:rPr kumimoji="1" lang="en-US" altLang="zh-CN" dirty="0" err="1">
                <a:solidFill>
                  <a:schemeClr val="tx1"/>
                </a:solidFill>
              </a:rPr>
              <a:t>SSTable</a:t>
            </a:r>
            <a:r>
              <a:rPr kumimoji="1" lang="en-US" altLang="zh-CN" dirty="0">
                <a:solidFill>
                  <a:schemeClr val="tx1"/>
                </a:solidFill>
              </a:rPr>
              <a:t>  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Hierarchy can speed up old value lookup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29307"/>
            <a:ext cx="6635080" cy="4471925"/>
          </a:xfrm>
        </p:spPr>
        <p:txBody>
          <a:bodyPr/>
          <a:lstStyle/>
          <a:p>
            <a:r>
              <a:rPr kumimoji="1" lang="en-US" altLang="zh-CN" dirty="0"/>
              <a:t>Each layer has only one file that store the key (except L0)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So we can search only one file per-layer (not per-file search)</a:t>
            </a:r>
            <a:endParaRPr kumimoji="1" lang="en-US" altLang="zh-CN" dirty="0"/>
          </a:p>
          <a:p>
            <a:r>
              <a:rPr kumimoji="1" lang="en-US" altLang="zh-CN" dirty="0"/>
              <a:t>Question: how to find the key file?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Many methods exist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 store a [min, max] per file in memory  </a:t>
            </a:r>
            <a:endParaRPr kumimoji="1" lang="en-US" altLang="zh-CN" dirty="0"/>
          </a:p>
          <a:p>
            <a:r>
              <a:rPr kumimoji="1" lang="en-US" altLang="zh-CN" dirty="0"/>
              <a:t>Read upon lower layers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First identify the file, then look it!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O(1) access per layer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6887" y="3292743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079" y="328954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6419" y="389875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5611" y="3895555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920" y="3906267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112" y="3903072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227" y="460159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6419" y="4598403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722" y="459526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031" y="460598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8223" y="4602785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3593" y="460159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矩形 16"/>
          <p:cNvSpPr/>
          <p:nvPr/>
        </p:nvSpPr>
        <p:spPr>
          <a:xfrm>
            <a:off x="5521165" y="5117998"/>
            <a:ext cx="1185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LSM Tree</a:t>
            </a:r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5768507" y="2544075"/>
            <a:ext cx="552413" cy="508666"/>
            <a:chOff x="2195736" y="3023566"/>
            <a:chExt cx="552413" cy="508666"/>
          </a:xfrm>
        </p:grpSpPr>
        <p:sp>
          <p:nvSpPr>
            <p:cNvPr id="19" name="椭圆 18"/>
            <p:cNvSpPr/>
            <p:nvPr/>
          </p:nvSpPr>
          <p:spPr>
            <a:xfrm>
              <a:off x="2339752" y="3023566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2195736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2532125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2" name="直线连接符 21"/>
            <p:cNvCxnSpPr>
              <a:stCxn id="20" idx="0"/>
              <a:endCxn id="19" idx="3"/>
            </p:cNvCxnSpPr>
            <p:nvPr/>
          </p:nvCxnSpPr>
          <p:spPr>
            <a:xfrm flipV="1">
              <a:off x="2303748" y="3207934"/>
              <a:ext cx="67640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/>
            <p:cNvCxnSpPr>
              <a:stCxn id="20" idx="6"/>
              <a:endCxn id="21" idx="2"/>
            </p:cNvCxnSpPr>
            <p:nvPr/>
          </p:nvCxnSpPr>
          <p:spPr>
            <a:xfrm>
              <a:off x="2411760" y="3424232"/>
              <a:ext cx="1203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/>
            <p:cNvCxnSpPr>
              <a:stCxn id="19" idx="5"/>
              <a:endCxn id="21" idx="0"/>
            </p:cNvCxnSpPr>
            <p:nvPr/>
          </p:nvCxnSpPr>
          <p:spPr>
            <a:xfrm>
              <a:off x="2524140" y="3207934"/>
              <a:ext cx="115997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24"/>
          <p:cNvSpPr/>
          <p:nvPr/>
        </p:nvSpPr>
        <p:spPr>
          <a:xfrm>
            <a:off x="5395972" y="2135839"/>
            <a:ext cx="124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MemTable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4851950" y="3192859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L0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4455409" y="392562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L1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3904405" y="462107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L2</a:t>
            </a:r>
            <a:endParaRPr lang="zh-CN" altLang="en-US" dirty="0"/>
          </a:p>
        </p:txBody>
      </p:sp>
      <p:cxnSp>
        <p:nvCxnSpPr>
          <p:cNvPr id="29" name="直线箭头连接符 28"/>
          <p:cNvCxnSpPr/>
          <p:nvPr/>
        </p:nvCxnSpPr>
        <p:spPr>
          <a:xfrm flipV="1">
            <a:off x="8316416" y="2544075"/>
            <a:ext cx="0" cy="257392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993250" y="21172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New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8029497" y="5116802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Old</a:t>
            </a:r>
            <a:endParaRPr lang="zh-CN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Hierarchy can speed up range query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29307"/>
            <a:ext cx="6635080" cy="4471925"/>
          </a:xfrm>
        </p:spPr>
        <p:txBody>
          <a:bodyPr/>
          <a:lstStyle/>
          <a:p>
            <a:r>
              <a:rPr kumimoji="1" lang="en-US" altLang="zh-CN" dirty="0"/>
              <a:t>Store a [min, max] per file </a:t>
            </a:r>
            <a:endParaRPr kumimoji="1" lang="en-US" altLang="zh-CN" dirty="0"/>
          </a:p>
          <a:p>
            <a:r>
              <a:rPr kumimoji="1" lang="en-US" altLang="zh-CN" dirty="0"/>
              <a:t>Range query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Query layer-by-layer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Then merge the results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6887" y="3292743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079" y="328954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6419" y="389875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5611" y="3895555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920" y="3906267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112" y="3903072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227" y="460159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6419" y="4598403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722" y="459526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031" y="460598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8223" y="4602785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3593" y="460159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矩形 16"/>
          <p:cNvSpPr/>
          <p:nvPr/>
        </p:nvSpPr>
        <p:spPr>
          <a:xfrm>
            <a:off x="5521165" y="5117998"/>
            <a:ext cx="1185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LSM Tree</a:t>
            </a:r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5768507" y="2544075"/>
            <a:ext cx="552413" cy="508666"/>
            <a:chOff x="2195736" y="3023566"/>
            <a:chExt cx="552413" cy="508666"/>
          </a:xfrm>
        </p:grpSpPr>
        <p:sp>
          <p:nvSpPr>
            <p:cNvPr id="19" name="椭圆 18"/>
            <p:cNvSpPr/>
            <p:nvPr/>
          </p:nvSpPr>
          <p:spPr>
            <a:xfrm>
              <a:off x="2339752" y="3023566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2195736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2532125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2" name="直线连接符 21"/>
            <p:cNvCxnSpPr>
              <a:stCxn id="20" idx="0"/>
              <a:endCxn id="19" idx="3"/>
            </p:cNvCxnSpPr>
            <p:nvPr/>
          </p:nvCxnSpPr>
          <p:spPr>
            <a:xfrm flipV="1">
              <a:off x="2303748" y="3207934"/>
              <a:ext cx="67640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/>
            <p:cNvCxnSpPr>
              <a:stCxn id="20" idx="6"/>
              <a:endCxn id="21" idx="2"/>
            </p:cNvCxnSpPr>
            <p:nvPr/>
          </p:nvCxnSpPr>
          <p:spPr>
            <a:xfrm>
              <a:off x="2411760" y="3424232"/>
              <a:ext cx="1203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/>
            <p:cNvCxnSpPr>
              <a:stCxn id="19" idx="5"/>
              <a:endCxn id="21" idx="0"/>
            </p:cNvCxnSpPr>
            <p:nvPr/>
          </p:nvCxnSpPr>
          <p:spPr>
            <a:xfrm>
              <a:off x="2524140" y="3207934"/>
              <a:ext cx="115997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24"/>
          <p:cNvSpPr/>
          <p:nvPr/>
        </p:nvSpPr>
        <p:spPr>
          <a:xfrm>
            <a:off x="4315239" y="2575409"/>
            <a:ext cx="124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MemTable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4851950" y="3192859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L0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4455409" y="392562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L1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3904405" y="462107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L2</a:t>
            </a:r>
            <a:endParaRPr lang="zh-CN" altLang="en-US" dirty="0"/>
          </a:p>
        </p:txBody>
      </p:sp>
      <p:cxnSp>
        <p:nvCxnSpPr>
          <p:cNvPr id="29" name="直线箭头连接符 28"/>
          <p:cNvCxnSpPr/>
          <p:nvPr/>
        </p:nvCxnSpPr>
        <p:spPr>
          <a:xfrm flipV="1">
            <a:off x="8316416" y="2544075"/>
            <a:ext cx="0" cy="257392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993250" y="21172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New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8029497" y="5116802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Old</a:t>
            </a:r>
            <a:endParaRPr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Range Query in LSM Tree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1129308"/>
            <a:ext cx="4416466" cy="2796316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kumimoji="1" lang="en-US" altLang="zh-CN" b="0" dirty="0"/>
              <a:t>Search each layer using </a:t>
            </a:r>
            <a:r>
              <a:rPr lang="en-US" altLang="zh-CN" dirty="0">
                <a:solidFill>
                  <a:srgbClr val="BE374B"/>
                </a:solidFill>
              </a:rPr>
              <a:t>binary search (or can leverage a sparse index)</a:t>
            </a:r>
            <a:endParaRPr lang="en-US" altLang="zh-CN" dirty="0">
              <a:solidFill>
                <a:srgbClr val="BE374B"/>
              </a:solidFill>
            </a:endParaRPr>
          </a:p>
          <a:p>
            <a:pPr marL="342900" indent="-342900">
              <a:buAutoNum type="arabicPeriod"/>
            </a:pPr>
            <a:r>
              <a:rPr kumimoji="1" lang="en-US" altLang="zh-CN" dirty="0">
                <a:solidFill>
                  <a:srgbClr val="BE374B"/>
                </a:solidFill>
              </a:rPr>
              <a:t>Merge</a:t>
            </a:r>
            <a:r>
              <a:rPr kumimoji="1" lang="en-US" altLang="zh-CN" b="0" dirty="0">
                <a:solidFill>
                  <a:schemeClr val="tx1"/>
                </a:solidFill>
              </a:rPr>
              <a:t> the results of each layer </a:t>
            </a:r>
            <a:endParaRPr kumimoji="1" lang="en-US" altLang="zh-CN" b="0" dirty="0">
              <a:solidFill>
                <a:schemeClr val="tx1"/>
              </a:solidFill>
            </a:endParaRPr>
          </a:p>
          <a:p>
            <a:r>
              <a:rPr kumimoji="1" lang="en-US" altLang="zh-CN" b="0" dirty="0">
                <a:solidFill>
                  <a:schemeClr val="tx1"/>
                </a:solidFill>
              </a:rPr>
              <a:t>Not as good as </a:t>
            </a:r>
            <a:r>
              <a:rPr kumimoji="1" lang="en-US" altLang="zh-CN" b="0" dirty="0" err="1">
                <a:solidFill>
                  <a:schemeClr val="tx1"/>
                </a:solidFill>
              </a:rPr>
              <a:t>B+Tree</a:t>
            </a:r>
            <a:r>
              <a:rPr kumimoji="1" lang="en-US" altLang="zh-CN" b="0" dirty="0">
                <a:solidFill>
                  <a:schemeClr val="tx1"/>
                </a:solidFill>
              </a:rPr>
              <a:t>,</a:t>
            </a:r>
            <a:r>
              <a:rPr kumimoji="1" lang="zh-CN" altLang="en-US" b="0" dirty="0">
                <a:solidFill>
                  <a:schemeClr val="tx1"/>
                </a:solidFill>
              </a:rPr>
              <a:t> </a:t>
            </a:r>
            <a:endParaRPr kumimoji="1" lang="en-US" altLang="zh-CN" b="0" dirty="0">
              <a:solidFill>
                <a:schemeClr val="tx1"/>
              </a:solidFill>
            </a:endParaRPr>
          </a:p>
          <a:p>
            <a:r>
              <a:rPr kumimoji="1" lang="en-US" altLang="zh-CN" b="0" dirty="0">
                <a:solidFill>
                  <a:schemeClr val="tx1"/>
                </a:solidFill>
              </a:rPr>
              <a:t>but is much better than hash &amp; logs without hierarchy! ! </a:t>
            </a:r>
            <a:endParaRPr kumimoji="1" lang="zh-CN" altLang="en-US" b="0" dirty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6887" y="3292743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6079" y="328954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6419" y="389875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5611" y="3895555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920" y="3906267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112" y="3903072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227" y="460159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6419" y="4598403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722" y="459526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031" y="460598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8223" y="4602785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3593" y="4601598"/>
            <a:ext cx="405904" cy="4059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7" name="矩形 26"/>
          <p:cNvSpPr/>
          <p:nvPr/>
        </p:nvSpPr>
        <p:spPr>
          <a:xfrm>
            <a:off x="5521165" y="5117998"/>
            <a:ext cx="1185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LSM Tree</a:t>
            </a:r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5768507" y="2544075"/>
            <a:ext cx="552413" cy="508666"/>
            <a:chOff x="2195736" y="3023566"/>
            <a:chExt cx="552413" cy="508666"/>
          </a:xfrm>
        </p:grpSpPr>
        <p:sp>
          <p:nvSpPr>
            <p:cNvPr id="29" name="椭圆 28"/>
            <p:cNvSpPr/>
            <p:nvPr/>
          </p:nvSpPr>
          <p:spPr>
            <a:xfrm>
              <a:off x="2339752" y="3023566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2195736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2532125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2" name="直线连接符 31"/>
            <p:cNvCxnSpPr>
              <a:stCxn id="30" idx="0"/>
              <a:endCxn id="29" idx="3"/>
            </p:cNvCxnSpPr>
            <p:nvPr/>
          </p:nvCxnSpPr>
          <p:spPr>
            <a:xfrm flipV="1">
              <a:off x="2303748" y="3207934"/>
              <a:ext cx="67640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/>
            <p:cNvCxnSpPr>
              <a:stCxn id="30" idx="6"/>
              <a:endCxn id="31" idx="2"/>
            </p:cNvCxnSpPr>
            <p:nvPr/>
          </p:nvCxnSpPr>
          <p:spPr>
            <a:xfrm>
              <a:off x="2411760" y="3424232"/>
              <a:ext cx="1203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/>
            <p:cNvCxnSpPr>
              <a:stCxn id="29" idx="5"/>
              <a:endCxn id="31" idx="0"/>
            </p:cNvCxnSpPr>
            <p:nvPr/>
          </p:nvCxnSpPr>
          <p:spPr>
            <a:xfrm>
              <a:off x="2524140" y="3207934"/>
              <a:ext cx="115997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/>
          <p:cNvSpPr/>
          <p:nvPr/>
        </p:nvSpPr>
        <p:spPr>
          <a:xfrm>
            <a:off x="4315239" y="2575409"/>
            <a:ext cx="124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MemTable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4851950" y="3192859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L0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455409" y="392562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L1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3904405" y="462107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L2</a:t>
            </a:r>
            <a:endParaRPr lang="zh-CN" altLang="en-US" dirty="0"/>
          </a:p>
        </p:txBody>
      </p:sp>
      <p:cxnSp>
        <p:nvCxnSpPr>
          <p:cNvPr id="44" name="直线箭头连接符 43"/>
          <p:cNvCxnSpPr/>
          <p:nvPr/>
        </p:nvCxnSpPr>
        <p:spPr>
          <a:xfrm flipV="1">
            <a:off x="8316416" y="2544075"/>
            <a:ext cx="0" cy="257392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7993250" y="211729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New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8029497" y="5116802"/>
            <a:ext cx="543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Old</a:t>
            </a:r>
            <a:endParaRPr lang="zh-CN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Read in LSM-Tree (Similar to </a:t>
            </a:r>
            <a:r>
              <a:rPr kumimoji="1" lang="en-US" altLang="zh-CN" dirty="0" err="1"/>
              <a:t>SSTables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  <p:sp>
        <p:nvSpPr>
          <p:cNvPr id="6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7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6501320" y="1638139"/>
            <a:ext cx="429926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Key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9" name="Straight Arrow Connector 20"/>
          <p:cNvCxnSpPr>
            <a:stCxn id="8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1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2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3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1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0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1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2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8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9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3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4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5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6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7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4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5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7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9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0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7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8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9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5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6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0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1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2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6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7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1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0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9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0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1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2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7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8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3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5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6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4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2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3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5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4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8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0" name="Rectangle 89"/>
          <p:cNvSpPr/>
          <p:nvPr/>
        </p:nvSpPr>
        <p:spPr>
          <a:xfrm>
            <a:off x="2813837" y="1630930"/>
            <a:ext cx="933876" cy="2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Read in LSM-Tree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  <p:sp>
        <p:nvSpPr>
          <p:cNvPr id="6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7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9" name="Straight Arrow Connector 20"/>
          <p:cNvCxnSpPr>
            <a:stCxn id="8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1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2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3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1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0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1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2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8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9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3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4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5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6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7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4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5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7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9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0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7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8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9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5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6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0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1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2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6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7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1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0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9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0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1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2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7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8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3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5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6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4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2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3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5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4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8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0" name="Rectangle 89"/>
          <p:cNvSpPr/>
          <p:nvPr/>
        </p:nvSpPr>
        <p:spPr>
          <a:xfrm>
            <a:off x="2813837" y="1630930"/>
            <a:ext cx="933876" cy="2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4990058" y="3232544"/>
            <a:ext cx="3215352" cy="46166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BE374B"/>
                </a:solidFill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 L0 sequentially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99592" y="3158844"/>
            <a:ext cx="3672408" cy="662218"/>
          </a:xfrm>
          <a:prstGeom prst="rect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Read in LSM-Tree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  <p:sp>
        <p:nvSpPr>
          <p:cNvPr id="6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7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9" name="Straight Arrow Connector 20"/>
          <p:cNvCxnSpPr>
            <a:stCxn id="8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1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2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3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1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0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1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2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8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9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3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4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5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6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7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4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5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7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9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0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7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8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9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5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6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0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1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2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6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7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1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0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9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0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1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2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7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8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3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5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6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4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2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3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5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4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8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0" name="Rectangle 89"/>
          <p:cNvSpPr/>
          <p:nvPr/>
        </p:nvSpPr>
        <p:spPr>
          <a:xfrm>
            <a:off x="2813837" y="1630930"/>
            <a:ext cx="933876" cy="2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4990058" y="3232544"/>
            <a:ext cx="3215352" cy="46166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BE374B"/>
                </a:solidFill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 L0 sequentially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99592" y="3158844"/>
            <a:ext cx="3672408" cy="662218"/>
          </a:xfrm>
          <a:prstGeom prst="rect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Straight Arrow Connector 83"/>
          <p:cNvCxnSpPr/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Read in LSM-Tree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14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15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17" name="Straight Arrow Connector 20"/>
          <p:cNvCxnSpPr>
            <a:stCxn id="16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20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21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9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8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9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60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6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7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61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62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63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64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5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22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23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45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7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8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46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5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6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47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53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4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8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9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0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1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2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24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25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6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41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2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7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9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0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8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37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8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9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30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1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32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70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71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73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74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72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76" name="Straight Arrow Connector 83"/>
          <p:cNvCxnSpPr>
            <a:endCxn id="64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9" name="Rectangle 89"/>
          <p:cNvSpPr/>
          <p:nvPr/>
        </p:nvSpPr>
        <p:spPr>
          <a:xfrm>
            <a:off x="2813837" y="1630930"/>
            <a:ext cx="1854651" cy="2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80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8555" y="3801315"/>
            <a:ext cx="4418479" cy="662218"/>
          </a:xfrm>
          <a:prstGeom prst="rect">
            <a:avLst/>
          </a:prstGeom>
          <a:noFill/>
          <a:ln w="19050">
            <a:solidFill>
              <a:srgbClr val="BE374B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Rectangle 6"/>
          <p:cNvSpPr/>
          <p:nvPr/>
        </p:nvSpPr>
        <p:spPr>
          <a:xfrm>
            <a:off x="4979800" y="2850562"/>
            <a:ext cx="3215352" cy="830997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BE374B"/>
                </a:solidFill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 lower layer using binary search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insert/update in LSM-Tree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7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9" name="Straight Arrow Connector 20"/>
          <p:cNvCxnSpPr>
            <a:stCxn id="8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1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2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3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1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0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1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2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8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9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3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4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5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6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7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4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5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7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9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0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7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8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9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5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6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0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1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2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6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7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1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0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9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0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1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2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7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8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3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5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6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4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2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3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5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4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8" name="Straight Arrow Connector 83"/>
          <p:cNvCxnSpPr>
            <a:endCxn id="56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1" name="Rectangle 89"/>
          <p:cNvSpPr/>
          <p:nvPr/>
        </p:nvSpPr>
        <p:spPr>
          <a:xfrm>
            <a:off x="2826872" y="2157322"/>
            <a:ext cx="1854651" cy="286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2" name="TextBox 84"/>
          <p:cNvSpPr txBox="1"/>
          <p:nvPr/>
        </p:nvSpPr>
        <p:spPr>
          <a:xfrm>
            <a:off x="3830903" y="1912967"/>
            <a:ext cx="415498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Full</a:t>
            </a:r>
            <a:endParaRPr lang="en-US" sz="1215" dirty="0">
              <a:latin typeface="Candara" panose="020E0502030303020204" pitchFamily="34" charset="0"/>
            </a:endParaRPr>
          </a:p>
        </p:txBody>
      </p:sp>
      <p:sp>
        <p:nvSpPr>
          <p:cNvPr id="73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Example: insert/update in LSM-Tree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14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15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17" name="Straight Arrow Connector 20"/>
          <p:cNvCxnSpPr>
            <a:stCxn id="16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20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21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9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8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9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60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6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7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61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62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63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64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5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22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23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45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7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8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46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5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6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47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53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4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8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9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0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1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2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24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25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6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41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2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7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9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0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8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37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8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9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30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1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32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70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71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73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74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72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75" name="Curved Connector 78"/>
          <p:cNvCxnSpPr/>
          <p:nvPr/>
        </p:nvCxnSpPr>
        <p:spPr>
          <a:xfrm rot="16200000" flipH="1">
            <a:off x="3946808" y="3455526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9"/>
          <p:cNvCxnSpPr/>
          <p:nvPr/>
        </p:nvCxnSpPr>
        <p:spPr>
          <a:xfrm rot="16200000" flipH="1">
            <a:off x="4554977" y="407552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80"/>
          <p:cNvCxnSpPr/>
          <p:nvPr/>
        </p:nvCxnSpPr>
        <p:spPr>
          <a:xfrm rot="16200000" flipH="1">
            <a:off x="5055068" y="439891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81"/>
          <p:cNvSpPr txBox="1"/>
          <p:nvPr/>
        </p:nvSpPr>
        <p:spPr>
          <a:xfrm>
            <a:off x="4320699" y="3289383"/>
            <a:ext cx="986167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Compaction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cxnSp>
        <p:nvCxnSpPr>
          <p:cNvPr id="80" name="Straight Arrow Connector 83"/>
          <p:cNvCxnSpPr>
            <a:endCxn id="64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83" name="Rectangle 89"/>
          <p:cNvSpPr/>
          <p:nvPr/>
        </p:nvSpPr>
        <p:spPr>
          <a:xfrm>
            <a:off x="2813837" y="1630930"/>
            <a:ext cx="933876" cy="2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pic>
        <p:nvPicPr>
          <p:cNvPr id="84" name="Picture 4" descr="卡通沙漏计时GIF图片-动态图片基地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2" t="21610" r="31203" b="23357"/>
          <a:stretch>
            <a:fillRect/>
          </a:stretch>
        </p:blipFill>
        <p:spPr bwMode="auto">
          <a:xfrm>
            <a:off x="4902370" y="3595343"/>
            <a:ext cx="623650" cy="6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What about crash?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507288" cy="3771636"/>
          </a:xfrm>
        </p:spPr>
        <p:txBody>
          <a:bodyPr/>
          <a:lstStyle/>
          <a:p>
            <a:r>
              <a:rPr kumimoji="1" lang="en-US" altLang="zh-CN" dirty="0" err="1"/>
              <a:t>MemTable</a:t>
            </a:r>
            <a:r>
              <a:rPr kumimoji="1" lang="en-US" altLang="zh-CN" dirty="0"/>
              <a:t> is an in-memory data structure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So it is vulnerable to machine failure </a:t>
            </a:r>
            <a:endParaRPr kumimoji="1" lang="en-US" altLang="zh-CN" dirty="0"/>
          </a:p>
          <a:p>
            <a:r>
              <a:rPr kumimoji="1" lang="en-US" altLang="zh-CN" dirty="0"/>
              <a:t>Goal: a successful insertion will store the data durably </a:t>
            </a:r>
            <a:endParaRPr kumimoji="1" lang="en-US" altLang="zh-CN" dirty="0"/>
          </a:p>
          <a:p>
            <a:r>
              <a:rPr kumimoji="1" lang="en-US" altLang="zh-CN" dirty="0"/>
              <a:t>Solution:</a:t>
            </a:r>
            <a:r>
              <a:rPr kumimoji="1" lang="en-US" altLang="zh-CN" b="0" dirty="0"/>
              <a:t> 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K</a:t>
            </a:r>
            <a:r>
              <a:rPr kumimoji="1" lang="en-US" altLang="zh-CN" b="0" dirty="0"/>
              <a:t>eep a separate log file the </a:t>
            </a:r>
            <a:r>
              <a:rPr kumimoji="1" lang="en-US" altLang="zh-CN" b="0" dirty="0" err="1"/>
              <a:t>MemTable</a:t>
            </a:r>
            <a:r>
              <a:rPr kumimoji="1" lang="en-US" altLang="zh-CN" b="0" dirty="0"/>
              <a:t> (may not be sorted)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Before inserting to the </a:t>
            </a:r>
            <a:r>
              <a:rPr kumimoji="1" lang="en-US" altLang="zh-CN" dirty="0" err="1"/>
              <a:t>MemTable</a:t>
            </a:r>
            <a:r>
              <a:rPr kumimoji="1" lang="en-US" altLang="zh-CN" dirty="0"/>
              <a:t>, adding the KV to the log first (also a sequential write); reply if the log is successful 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If the machine crashed, reboot it, and reconstruct the </a:t>
            </a:r>
            <a:r>
              <a:rPr kumimoji="1" lang="en-US" altLang="zh-CN" dirty="0" err="1"/>
              <a:t>MemTable</a:t>
            </a:r>
            <a:r>
              <a:rPr kumimoji="1" lang="en-US" altLang="zh-CN" dirty="0"/>
              <a:t> from the log</a:t>
            </a:r>
            <a:endParaRPr kumimoji="1" lang="en-US" altLang="zh-CN" b="0" dirty="0"/>
          </a:p>
          <a:p>
            <a:pPr marL="74295" lvl="1" indent="0">
              <a:buNone/>
            </a:pPr>
            <a:endParaRPr kumimoji="1"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 Tree Summary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Good when</a:t>
            </a:r>
            <a:endParaRPr kumimoji="1" lang="en-US" altLang="zh-CN" dirty="0"/>
          </a:p>
          <a:p>
            <a:pPr lvl="1"/>
            <a:r>
              <a:rPr lang="en-US" altLang="zh-CN" dirty="0"/>
              <a:t>Massive dataset</a:t>
            </a:r>
            <a:endParaRPr lang="en-US" altLang="zh-CN" dirty="0"/>
          </a:p>
          <a:p>
            <a:pPr lvl="1"/>
            <a:r>
              <a:rPr lang="en-US" altLang="zh-CN" dirty="0"/>
              <a:t>Rapid updates/insertions </a:t>
            </a:r>
            <a:endParaRPr lang="en-US" altLang="zh-CN" dirty="0"/>
          </a:p>
          <a:p>
            <a:pPr lvl="1"/>
            <a:r>
              <a:rPr lang="en-US" altLang="zh-CN" dirty="0"/>
              <a:t>Fast single-point lookup for recently updated data</a:t>
            </a:r>
            <a:endParaRPr lang="en-US" altLang="zh-CN" dirty="0"/>
          </a:p>
          <a:p>
            <a:pPr marL="74295" lvl="1" indent="0">
              <a:buNone/>
            </a:pPr>
            <a:r>
              <a:rPr lang="en-US" altLang="zh-CN" dirty="0"/>
              <a:t>Widely adopted in modern single-node key-value stores 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74295" lvl="1" indent="0">
              <a:buNone/>
            </a:pPr>
            <a:endParaRPr lang="en-US" altLang="zh-CN" dirty="0"/>
          </a:p>
          <a:p>
            <a:pPr marL="74295" lvl="1" indent="0">
              <a:buNone/>
            </a:pP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 descr="GitHub - zeke/learning-leveldb-with-juliangruber: @zeke and @juliangruber  talk about LevelDB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61556"/>
            <a:ext cx="2461466" cy="101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ocksDB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882" y="4179964"/>
            <a:ext cx="2448272" cy="137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etting Started with Bigtable on GCP | by Christopher Grant | Google Cloud  - Community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532" y="3270079"/>
            <a:ext cx="2112963" cy="1104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assandra - 维基百科，自由的百科全书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687" y="4014512"/>
            <a:ext cx="1909735" cy="128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 Tree Summary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Good when</a:t>
            </a:r>
            <a:endParaRPr kumimoji="1" lang="en-US" altLang="zh-CN" dirty="0"/>
          </a:p>
          <a:p>
            <a:pPr lvl="1"/>
            <a:r>
              <a:rPr lang="en-US" altLang="zh-CN" dirty="0"/>
              <a:t>Massive dataset</a:t>
            </a:r>
            <a:endParaRPr lang="en-US" altLang="zh-CN" dirty="0"/>
          </a:p>
          <a:p>
            <a:pPr lvl="1"/>
            <a:r>
              <a:rPr lang="en-US" altLang="zh-CN" dirty="0"/>
              <a:t>Rapid updates/insertions </a:t>
            </a:r>
            <a:endParaRPr lang="en-US" altLang="zh-CN" dirty="0"/>
          </a:p>
          <a:p>
            <a:pPr lvl="1"/>
            <a:r>
              <a:rPr lang="en-US" altLang="zh-CN" dirty="0"/>
              <a:t>Fast single-point lookup for recently updated data</a:t>
            </a:r>
            <a:endParaRPr lang="en-US" altLang="zh-CN" dirty="0"/>
          </a:p>
          <a:p>
            <a:pPr marL="74295" lvl="1" indent="0">
              <a:buNone/>
            </a:pPr>
            <a:r>
              <a:rPr lang="en-US" altLang="zh-CN" b="1" dirty="0"/>
              <a:t>Compared with B-Tree</a:t>
            </a:r>
            <a:endParaRPr lang="en-US" altLang="zh-CN" b="1" dirty="0"/>
          </a:p>
          <a:p>
            <a:pPr lvl="1"/>
            <a:r>
              <a:rPr lang="en-US" altLang="zh-CN" b="1" dirty="0">
                <a:solidFill>
                  <a:srgbClr val="BE374B"/>
                </a:solidFill>
              </a:rPr>
              <a:t>Pros</a:t>
            </a: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: good write performance due to sequential writes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lang="en-US" altLang="zh-CN" b="1" dirty="0">
                <a:solidFill>
                  <a:srgbClr val="BE374B"/>
                </a:solidFill>
              </a:rPr>
              <a:t>Cons</a:t>
            </a: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: additional compaction process, possible slow range queries, 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74295" lvl="1" indent="0">
              <a:buNone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     write stall caused by the compaction, slow lookup for non-existent key  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74295" lvl="1" indent="0">
              <a:buNone/>
            </a:pPr>
            <a:endParaRPr lang="en-US" altLang="zh-CN" dirty="0"/>
          </a:p>
          <a:p>
            <a:pPr marL="74295" lvl="1" indent="0">
              <a:buNone/>
            </a:pP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 Tree Summary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Good when</a:t>
            </a:r>
            <a:endParaRPr kumimoji="1" lang="en-US" altLang="zh-CN" dirty="0"/>
          </a:p>
          <a:p>
            <a:pPr lvl="1"/>
            <a:r>
              <a:rPr lang="en-US" altLang="zh-CN" dirty="0"/>
              <a:t>Massive dataset</a:t>
            </a:r>
            <a:endParaRPr lang="en-US" altLang="zh-CN" dirty="0"/>
          </a:p>
          <a:p>
            <a:pPr lvl="1"/>
            <a:r>
              <a:rPr lang="en-US" altLang="zh-CN" dirty="0"/>
              <a:t>Rapid updates/insertions </a:t>
            </a:r>
            <a:endParaRPr lang="en-US" altLang="zh-CN" dirty="0"/>
          </a:p>
          <a:p>
            <a:pPr lvl="1"/>
            <a:r>
              <a:rPr lang="en-US" altLang="zh-CN" dirty="0"/>
              <a:t>Fast single-point lookup for recently updated data</a:t>
            </a:r>
            <a:endParaRPr lang="en-US" altLang="zh-CN" dirty="0"/>
          </a:p>
          <a:p>
            <a:pPr marL="74295" lvl="1" indent="0">
              <a:buNone/>
            </a:pPr>
            <a:r>
              <a:rPr lang="en-US" altLang="zh-CN" dirty="0"/>
              <a:t>Compared with B-Tree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BE374B"/>
                </a:solidFill>
              </a:rPr>
              <a:t>Pros</a:t>
            </a: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: good write performance due to sequential writes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lang="en-US" altLang="zh-CN" b="1" dirty="0">
                <a:solidFill>
                  <a:srgbClr val="BE374B"/>
                </a:solidFill>
              </a:rPr>
              <a:t>Cons</a:t>
            </a: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: additional compaction process, possible slow range queries, 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74295" lvl="1" indent="0">
              <a:buNone/>
            </a:pPr>
            <a:r>
              <a:rPr lang="en-US" altLang="zh-CN" b="1" dirty="0">
                <a:solidFill>
                  <a:srgbClr val="BD374B"/>
                </a:solidFill>
              </a:rPr>
              <a:t>     write stall </a:t>
            </a: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caused by the compaction, slow lookup for non-existent key  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74295" lvl="1" indent="0">
              <a:buNone/>
            </a:pPr>
            <a:endParaRPr lang="en-US" altLang="zh-CN" dirty="0"/>
          </a:p>
          <a:p>
            <a:pPr marL="74295" lvl="1" indent="0">
              <a:buNone/>
            </a:pP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Write stall caused by compaction in LSM 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  <p:sp>
        <p:nvSpPr>
          <p:cNvPr id="6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7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9" name="Straight Arrow Connector 20"/>
          <p:cNvCxnSpPr>
            <a:stCxn id="8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1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2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3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1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0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1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2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8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9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3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4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5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6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7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4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5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7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9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0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7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8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9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5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6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0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1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2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6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7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1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0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9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0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1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2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7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8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3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5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6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4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2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3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5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4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7" name="Straight Arrow Connector 83"/>
          <p:cNvCxnSpPr>
            <a:endCxn id="56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0" name="Rectangle 89"/>
          <p:cNvSpPr/>
          <p:nvPr/>
        </p:nvSpPr>
        <p:spPr>
          <a:xfrm>
            <a:off x="2813837" y="1630930"/>
            <a:ext cx="933876" cy="2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Write stall caused by compaction in LSM 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14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15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17" name="Straight Arrow Connector 20"/>
          <p:cNvCxnSpPr>
            <a:stCxn id="16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20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21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9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8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9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60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6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7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61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62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63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64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5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22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23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45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7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8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46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5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6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47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53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4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8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9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0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1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2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24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25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6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41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2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7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9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0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8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37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8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9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30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1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32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70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71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73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74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72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76" name="Straight Arrow Connector 83"/>
          <p:cNvCxnSpPr>
            <a:endCxn id="64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9" name="Rectangle 89"/>
          <p:cNvSpPr/>
          <p:nvPr/>
        </p:nvSpPr>
        <p:spPr>
          <a:xfrm>
            <a:off x="2813837" y="1630930"/>
            <a:ext cx="1854651" cy="2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80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Write stall caused by compaction in LSM 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7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9" name="Straight Arrow Connector 20"/>
          <p:cNvCxnSpPr>
            <a:stCxn id="8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1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2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3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1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0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1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2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8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9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3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4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5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6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7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4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5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7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9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0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7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8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9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5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6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0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1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2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6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7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1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0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9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0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1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2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7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8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3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5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6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4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2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3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5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4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8" name="Straight Arrow Connector 83"/>
          <p:cNvCxnSpPr>
            <a:endCxn id="56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1" name="Rectangle 89"/>
          <p:cNvSpPr/>
          <p:nvPr/>
        </p:nvSpPr>
        <p:spPr>
          <a:xfrm>
            <a:off x="2826872" y="2157322"/>
            <a:ext cx="1854651" cy="286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2" name="TextBox 84"/>
          <p:cNvSpPr txBox="1"/>
          <p:nvPr/>
        </p:nvSpPr>
        <p:spPr>
          <a:xfrm>
            <a:off x="3830903" y="1912967"/>
            <a:ext cx="415498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Full</a:t>
            </a:r>
            <a:endParaRPr lang="en-US" sz="1215" dirty="0">
              <a:latin typeface="Candara" panose="020E0502030303020204" pitchFamily="34" charset="0"/>
            </a:endParaRPr>
          </a:p>
        </p:txBody>
      </p:sp>
      <p:sp>
        <p:nvSpPr>
          <p:cNvPr id="73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Write stall caused by compaction in LSM 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14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15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17" name="Straight Arrow Connector 20"/>
          <p:cNvCxnSpPr>
            <a:stCxn id="16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9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20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21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9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8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9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60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6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7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61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62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63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64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5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22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23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45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7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8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46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5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6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47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53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4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8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9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0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51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2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24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25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6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41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2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7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9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0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8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37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8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9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30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1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32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70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71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73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74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72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75" name="Curved Connector 78"/>
          <p:cNvCxnSpPr/>
          <p:nvPr/>
        </p:nvCxnSpPr>
        <p:spPr>
          <a:xfrm rot="16200000" flipH="1">
            <a:off x="3946808" y="3455526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9"/>
          <p:cNvCxnSpPr/>
          <p:nvPr/>
        </p:nvCxnSpPr>
        <p:spPr>
          <a:xfrm rot="16200000" flipH="1">
            <a:off x="4554977" y="407552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80"/>
          <p:cNvCxnSpPr/>
          <p:nvPr/>
        </p:nvCxnSpPr>
        <p:spPr>
          <a:xfrm rot="16200000" flipH="1">
            <a:off x="5055068" y="439891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81"/>
          <p:cNvSpPr txBox="1"/>
          <p:nvPr/>
        </p:nvSpPr>
        <p:spPr>
          <a:xfrm>
            <a:off x="4320699" y="3289383"/>
            <a:ext cx="986167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Compaction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cxnSp>
        <p:nvCxnSpPr>
          <p:cNvPr id="80" name="Straight Arrow Connector 83"/>
          <p:cNvCxnSpPr>
            <a:endCxn id="64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83" name="Rectangle 89"/>
          <p:cNvSpPr/>
          <p:nvPr/>
        </p:nvSpPr>
        <p:spPr>
          <a:xfrm>
            <a:off x="2813837" y="1630930"/>
            <a:ext cx="933876" cy="2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pic>
        <p:nvPicPr>
          <p:cNvPr id="84" name="Picture 4" descr="卡通沙漏计时GIF图片-动态图片基地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2" t="21610" r="31203" b="23357"/>
          <a:stretch>
            <a:fillRect/>
          </a:stretch>
        </p:blipFill>
        <p:spPr bwMode="auto">
          <a:xfrm>
            <a:off x="4902370" y="3595343"/>
            <a:ext cx="623650" cy="6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Write stall caused by compaction in LSM 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7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9" name="Straight Arrow Connector 20"/>
          <p:cNvCxnSpPr>
            <a:stCxn id="8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1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2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3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1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0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1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2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8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9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3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4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5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6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7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4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5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7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9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0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7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8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9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5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6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0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1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2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6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7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1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0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9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0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1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2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7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8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3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5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6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4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2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3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5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4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7" name="Curved Connector 78"/>
          <p:cNvCxnSpPr/>
          <p:nvPr/>
        </p:nvCxnSpPr>
        <p:spPr>
          <a:xfrm rot="16200000" flipH="1">
            <a:off x="3946808" y="3455526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79"/>
          <p:cNvCxnSpPr/>
          <p:nvPr/>
        </p:nvCxnSpPr>
        <p:spPr>
          <a:xfrm rot="16200000" flipH="1">
            <a:off x="4554977" y="407552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urved Connector 80"/>
          <p:cNvCxnSpPr/>
          <p:nvPr/>
        </p:nvCxnSpPr>
        <p:spPr>
          <a:xfrm rot="16200000" flipH="1">
            <a:off x="5055068" y="439891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81"/>
          <p:cNvSpPr txBox="1"/>
          <p:nvPr/>
        </p:nvSpPr>
        <p:spPr>
          <a:xfrm>
            <a:off x="4320699" y="3289383"/>
            <a:ext cx="986167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Compaction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cxnSp>
        <p:nvCxnSpPr>
          <p:cNvPr id="72" name="Straight Arrow Connector 83"/>
          <p:cNvCxnSpPr>
            <a:endCxn id="56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5" name="Rectangle 89"/>
          <p:cNvSpPr/>
          <p:nvPr/>
        </p:nvSpPr>
        <p:spPr>
          <a:xfrm>
            <a:off x="2813837" y="1630930"/>
            <a:ext cx="1854651" cy="2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pic>
        <p:nvPicPr>
          <p:cNvPr id="76" name="Picture 4" descr="卡通沙漏计时GIF图片-动态图片基地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2" t="21610" r="31203" b="23357"/>
          <a:stretch>
            <a:fillRect/>
          </a:stretch>
        </p:blipFill>
        <p:spPr bwMode="auto">
          <a:xfrm>
            <a:off x="4902370" y="3595343"/>
            <a:ext cx="623650" cy="6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Write stall caused by compaction in LSM 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7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9" name="Straight Arrow Connector 20"/>
          <p:cNvCxnSpPr>
            <a:stCxn id="8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1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2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3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1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0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1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2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8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9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3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4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5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6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7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4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5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7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9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0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7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8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9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5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6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0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1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2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6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7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1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0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9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0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1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2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7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8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3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5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6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4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2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3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5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4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7" name="Curved Connector 78"/>
          <p:cNvCxnSpPr/>
          <p:nvPr/>
        </p:nvCxnSpPr>
        <p:spPr>
          <a:xfrm rot="16200000" flipH="1">
            <a:off x="3946808" y="3455526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79"/>
          <p:cNvCxnSpPr/>
          <p:nvPr/>
        </p:nvCxnSpPr>
        <p:spPr>
          <a:xfrm rot="16200000" flipH="1">
            <a:off x="4554977" y="407552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urved Connector 80"/>
          <p:cNvCxnSpPr/>
          <p:nvPr/>
        </p:nvCxnSpPr>
        <p:spPr>
          <a:xfrm rot="16200000" flipH="1">
            <a:off x="5055068" y="439891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81"/>
          <p:cNvSpPr txBox="1"/>
          <p:nvPr/>
        </p:nvSpPr>
        <p:spPr>
          <a:xfrm>
            <a:off x="4320699" y="3289383"/>
            <a:ext cx="986167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Compaction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cxnSp>
        <p:nvCxnSpPr>
          <p:cNvPr id="72" name="Straight Arrow Connector 83"/>
          <p:cNvCxnSpPr>
            <a:endCxn id="56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5" name="Rectangle 89"/>
          <p:cNvSpPr/>
          <p:nvPr/>
        </p:nvSpPr>
        <p:spPr>
          <a:xfrm>
            <a:off x="2826872" y="2157322"/>
            <a:ext cx="1854651" cy="286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6" name="TextBox 84"/>
          <p:cNvSpPr txBox="1"/>
          <p:nvPr/>
        </p:nvSpPr>
        <p:spPr>
          <a:xfrm>
            <a:off x="3830903" y="1912967"/>
            <a:ext cx="415498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Full</a:t>
            </a:r>
            <a:endParaRPr lang="en-US" sz="1215" dirty="0">
              <a:latin typeface="Candara" panose="020E0502030303020204" pitchFamily="34" charset="0"/>
            </a:endParaRPr>
          </a:p>
        </p:txBody>
      </p:sp>
      <p:pic>
        <p:nvPicPr>
          <p:cNvPr id="77" name="Picture 4" descr="卡通沙漏计时GIF图片-动态图片基地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2" t="21610" r="31203" b="23357"/>
          <a:stretch>
            <a:fillRect/>
          </a:stretch>
        </p:blipFill>
        <p:spPr bwMode="auto">
          <a:xfrm>
            <a:off x="4902370" y="3595343"/>
            <a:ext cx="623650" cy="6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Write stall caused by compaction in LSM 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7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9" name="Straight Arrow Connector 20"/>
          <p:cNvCxnSpPr>
            <a:stCxn id="8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11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2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3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1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60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1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2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8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9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3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4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5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6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7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4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5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7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9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0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7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8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9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5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6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40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1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2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3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4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6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7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5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6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3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4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1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0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9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0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1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2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7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8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3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5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6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4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2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3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5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6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4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7" name="Curved Connector 78"/>
          <p:cNvCxnSpPr/>
          <p:nvPr/>
        </p:nvCxnSpPr>
        <p:spPr>
          <a:xfrm rot="16200000" flipH="1">
            <a:off x="3946808" y="3455526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79"/>
          <p:cNvCxnSpPr/>
          <p:nvPr/>
        </p:nvCxnSpPr>
        <p:spPr>
          <a:xfrm rot="16200000" flipH="1">
            <a:off x="4554977" y="407552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urved Connector 80"/>
          <p:cNvCxnSpPr/>
          <p:nvPr/>
        </p:nvCxnSpPr>
        <p:spPr>
          <a:xfrm rot="16200000" flipH="1">
            <a:off x="5055068" y="439891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81"/>
          <p:cNvSpPr txBox="1"/>
          <p:nvPr/>
        </p:nvSpPr>
        <p:spPr>
          <a:xfrm>
            <a:off x="4320699" y="3289383"/>
            <a:ext cx="986167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Compaction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cxnSp>
        <p:nvCxnSpPr>
          <p:cNvPr id="72" name="Straight Arrow Connector 83"/>
          <p:cNvCxnSpPr>
            <a:endCxn id="56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5" name="Rectangle 89"/>
          <p:cNvSpPr/>
          <p:nvPr/>
        </p:nvSpPr>
        <p:spPr>
          <a:xfrm>
            <a:off x="2826872" y="2157322"/>
            <a:ext cx="1854651" cy="286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pic>
        <p:nvPicPr>
          <p:cNvPr id="76" name="Picture 4" descr="卡通沙漏计时GIF图片-动态图片基地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2" t="21610" r="31203" b="23357"/>
          <a:stretch>
            <a:fillRect/>
          </a:stretch>
        </p:blipFill>
        <p:spPr bwMode="auto">
          <a:xfrm>
            <a:off x="4902370" y="3595343"/>
            <a:ext cx="623650" cy="6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Rectangle 87"/>
          <p:cNvSpPr/>
          <p:nvPr/>
        </p:nvSpPr>
        <p:spPr>
          <a:xfrm>
            <a:off x="2813837" y="1630930"/>
            <a:ext cx="933876" cy="286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78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Write stall caused by compaction in LSM 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0" name="Rectangle 17"/>
          <p:cNvSpPr/>
          <p:nvPr/>
        </p:nvSpPr>
        <p:spPr>
          <a:xfrm>
            <a:off x="2817464" y="2164245"/>
            <a:ext cx="1873468" cy="2875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cxnSp>
        <p:nvCxnSpPr>
          <p:cNvPr id="81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19"/>
          <p:cNvSpPr txBox="1"/>
          <p:nvPr/>
        </p:nvSpPr>
        <p:spPr>
          <a:xfrm>
            <a:off x="6501320" y="1638139"/>
            <a:ext cx="71526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KV pairs</a:t>
            </a:r>
            <a:endParaRPr lang="en-US" sz="1215" dirty="0">
              <a:latin typeface="Candara" panose="020E0502030303020204" pitchFamily="34" charset="0"/>
            </a:endParaRPr>
          </a:p>
        </p:txBody>
      </p:sp>
      <p:cxnSp>
        <p:nvCxnSpPr>
          <p:cNvPr id="83" name="Straight Arrow Connector 20"/>
          <p:cNvCxnSpPr>
            <a:stCxn id="82" idx="1"/>
          </p:cNvCxnSpPr>
          <p:nvPr/>
        </p:nvCxnSpPr>
        <p:spPr>
          <a:xfrm flipH="1">
            <a:off x="4672116" y="1777793"/>
            <a:ext cx="1829204" cy="3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21"/>
          <p:cNvSpPr txBox="1"/>
          <p:nvPr/>
        </p:nvSpPr>
        <p:spPr>
          <a:xfrm>
            <a:off x="1151076" y="2217634"/>
            <a:ext cx="752129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Memory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sp>
        <p:nvSpPr>
          <p:cNvPr id="85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86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87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125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134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35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26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132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33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127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128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129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130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31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88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89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111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123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24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12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121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22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13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119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20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114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115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116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117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18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90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91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109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10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92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107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08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93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105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06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94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103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04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95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96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101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02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97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99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100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98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136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137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139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140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138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141" name="Curved Connector 78"/>
          <p:cNvCxnSpPr/>
          <p:nvPr/>
        </p:nvCxnSpPr>
        <p:spPr>
          <a:xfrm rot="16200000" flipH="1">
            <a:off x="3946808" y="3455526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urved Connector 79"/>
          <p:cNvCxnSpPr/>
          <p:nvPr/>
        </p:nvCxnSpPr>
        <p:spPr>
          <a:xfrm rot="16200000" flipH="1">
            <a:off x="4554977" y="407552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urved Connector 80"/>
          <p:cNvCxnSpPr/>
          <p:nvPr/>
        </p:nvCxnSpPr>
        <p:spPr>
          <a:xfrm rot="16200000" flipH="1">
            <a:off x="5055068" y="439891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81"/>
          <p:cNvSpPr txBox="1"/>
          <p:nvPr/>
        </p:nvSpPr>
        <p:spPr>
          <a:xfrm>
            <a:off x="4320699" y="3289383"/>
            <a:ext cx="986167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Compaction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cxnSp>
        <p:nvCxnSpPr>
          <p:cNvPr id="145" name="Straight Arrow Connector 83"/>
          <p:cNvCxnSpPr>
            <a:endCxn id="130" idx="0"/>
          </p:cNvCxnSpPr>
          <p:nvPr/>
        </p:nvCxnSpPr>
        <p:spPr>
          <a:xfrm flipH="1">
            <a:off x="3756506" y="2466935"/>
            <a:ext cx="8015" cy="7993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Arrow Connector 85"/>
          <p:cNvCxnSpPr/>
          <p:nvPr/>
        </p:nvCxnSpPr>
        <p:spPr>
          <a:xfrm>
            <a:off x="3764524" y="1923712"/>
            <a:ext cx="0" cy="2385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Rectangle 88"/>
          <p:cNvSpPr/>
          <p:nvPr/>
        </p:nvSpPr>
        <p:spPr>
          <a:xfrm>
            <a:off x="2813838" y="1632115"/>
            <a:ext cx="1854652" cy="2863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148" name="Rectangle 89"/>
          <p:cNvSpPr/>
          <p:nvPr/>
        </p:nvSpPr>
        <p:spPr>
          <a:xfrm>
            <a:off x="2826872" y="2157322"/>
            <a:ext cx="1854651" cy="286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sp>
        <p:nvSpPr>
          <p:cNvPr id="149" name="TextBox 84"/>
          <p:cNvSpPr txBox="1"/>
          <p:nvPr/>
        </p:nvSpPr>
        <p:spPr>
          <a:xfrm>
            <a:off x="3830903" y="1912967"/>
            <a:ext cx="415498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dirty="0">
                <a:latin typeface="Candara" panose="020E0502030303020204" pitchFamily="34" charset="0"/>
              </a:rPr>
              <a:t>Full</a:t>
            </a:r>
            <a:endParaRPr lang="en-US" sz="1215" dirty="0">
              <a:latin typeface="Candara" panose="020E0502030303020204" pitchFamily="34" charset="0"/>
            </a:endParaRPr>
          </a:p>
        </p:txBody>
      </p:sp>
      <p:pic>
        <p:nvPicPr>
          <p:cNvPr id="150" name="Picture 4" descr="卡通沙漏计时GIF图片-动态图片基地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2" t="21610" r="31203" b="23357"/>
          <a:stretch>
            <a:fillRect/>
          </a:stretch>
        </p:blipFill>
        <p:spPr bwMode="auto">
          <a:xfrm>
            <a:off x="4902370" y="3595343"/>
            <a:ext cx="623650" cy="6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Rectangle 87"/>
          <p:cNvSpPr/>
          <p:nvPr/>
        </p:nvSpPr>
        <p:spPr>
          <a:xfrm>
            <a:off x="2813837" y="1629761"/>
            <a:ext cx="1854652" cy="28756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15" b="1" dirty="0">
              <a:solidFill>
                <a:sysClr val="windowText" lastClr="000000"/>
              </a:solidFill>
              <a:latin typeface="Candara" panose="020E0502030303020204" pitchFamily="34" charset="0"/>
            </a:endParaRPr>
          </a:p>
        </p:txBody>
      </p:sp>
      <p:pic>
        <p:nvPicPr>
          <p:cNvPr id="152" name="Graphic 9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9912" y="1935240"/>
            <a:ext cx="333963" cy="333963"/>
          </a:xfrm>
          <a:prstGeom prst="rect">
            <a:avLst/>
          </a:prstGeom>
        </p:spPr>
      </p:pic>
      <p:sp>
        <p:nvSpPr>
          <p:cNvPr id="153" name="TextBox 15"/>
          <p:cNvSpPr txBox="1"/>
          <p:nvPr/>
        </p:nvSpPr>
        <p:spPr>
          <a:xfrm>
            <a:off x="1718569" y="1683517"/>
            <a:ext cx="107815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latin typeface="Candara" panose="020E0502030303020204" pitchFamily="34" charset="0"/>
              </a:rPr>
              <a:t>MemTable</a:t>
            </a:r>
            <a:endParaRPr lang="en-US" sz="1350" b="1" dirty="0">
              <a:latin typeface="Candara" panose="020E0502030303020204" pitchFamily="34" charset="0"/>
            </a:endParaRPr>
          </a:p>
        </p:txBody>
      </p:sp>
      <p:sp>
        <p:nvSpPr>
          <p:cNvPr id="154" name="圆角矩形标注 153"/>
          <p:cNvSpPr/>
          <p:nvPr/>
        </p:nvSpPr>
        <p:spPr>
          <a:xfrm>
            <a:off x="5318175" y="1250460"/>
            <a:ext cx="2351926" cy="643792"/>
          </a:xfrm>
          <a:prstGeom prst="wedgeRoundRectCallout">
            <a:avLst>
              <a:gd name="adj1" fmla="val -56622"/>
              <a:gd name="adj2" fmla="val 79770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矩形 154"/>
          <p:cNvSpPr/>
          <p:nvPr/>
        </p:nvSpPr>
        <p:spPr>
          <a:xfrm>
            <a:off x="5130457" y="1242982"/>
            <a:ext cx="23519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dirty="0"/>
              <a:t>Stalled due to </a:t>
            </a:r>
            <a:endParaRPr lang="en-US" altLang="zh-CN" dirty="0"/>
          </a:p>
          <a:p>
            <a:pPr lvl="1"/>
            <a:r>
              <a:rPr lang="en-US" altLang="zh-CN" dirty="0"/>
              <a:t>slow compaction</a:t>
            </a:r>
            <a:endParaRPr lang="en-US" altLang="zh-CN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89584" y="2621230"/>
            <a:ext cx="7307708" cy="20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charset="0"/>
              </a:defRPr>
            </a:lvl9pPr>
          </a:lstStyle>
          <a:p>
            <a:pPr algn="ctr"/>
            <a:r>
              <a:rPr lang="en-US" altLang="zh-CN" b="0" kern="0" dirty="0">
                <a:solidFill>
                  <a:srgbClr val="C00000"/>
                </a:solidFill>
                <a:ea typeface="+mn-ea"/>
              </a:rPr>
              <a:t>How to avoid write stall?</a:t>
            </a:r>
            <a:endParaRPr kumimoji="0" lang="en-US" altLang="zh-CN" b="0" kern="0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 principle, hard to prevent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Can only </a:t>
            </a:r>
            <a:r>
              <a:rPr lang="en-GB" altLang="zh-CN" dirty="0"/>
              <a:t>alleviate</a:t>
            </a:r>
            <a:endParaRPr lang="en-GB" altLang="zh-CN" dirty="0"/>
          </a:p>
          <a:p>
            <a:pPr lvl="1"/>
            <a:r>
              <a:rPr kumimoji="1" lang="en-US" altLang="zh-CN" dirty="0"/>
              <a:t>E.g., speed up compaction &amp; merge process with advanced hardware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Straight Connector 18"/>
          <p:cNvCxnSpPr/>
          <p:nvPr/>
        </p:nvCxnSpPr>
        <p:spPr>
          <a:xfrm>
            <a:off x="1151075" y="2556156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2"/>
          <p:cNvSpPr txBox="1"/>
          <p:nvPr/>
        </p:nvSpPr>
        <p:spPr>
          <a:xfrm>
            <a:off x="1151076" y="2669441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1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2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0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9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0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1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7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8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2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3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4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5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6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3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4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6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8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9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7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6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7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4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5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39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0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1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2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3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5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6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4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5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7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2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3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0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1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8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9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0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1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6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7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2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4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5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3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1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2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4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5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3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6" name="Curved Connector 78"/>
          <p:cNvCxnSpPr/>
          <p:nvPr/>
        </p:nvCxnSpPr>
        <p:spPr>
          <a:xfrm rot="16200000" flipH="1">
            <a:off x="3946808" y="3455526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urved Connector 79"/>
          <p:cNvCxnSpPr/>
          <p:nvPr/>
        </p:nvCxnSpPr>
        <p:spPr>
          <a:xfrm rot="16200000" flipH="1">
            <a:off x="4554977" y="407552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80"/>
          <p:cNvCxnSpPr/>
          <p:nvPr/>
        </p:nvCxnSpPr>
        <p:spPr>
          <a:xfrm rot="16200000" flipH="1">
            <a:off x="5055068" y="439891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81"/>
          <p:cNvSpPr txBox="1"/>
          <p:nvPr/>
        </p:nvSpPr>
        <p:spPr>
          <a:xfrm>
            <a:off x="4320699" y="3289383"/>
            <a:ext cx="986167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Compaction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pic>
        <p:nvPicPr>
          <p:cNvPr id="75" name="Picture 4" descr="卡通沙漏计时GIF图片-动态图片基地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2" t="21610" r="31203" b="23357"/>
          <a:stretch>
            <a:fillRect/>
          </a:stretch>
        </p:blipFill>
        <p:spPr bwMode="auto">
          <a:xfrm>
            <a:off x="4902370" y="3595343"/>
            <a:ext cx="623650" cy="6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 principle, hard to prevent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Can only </a:t>
            </a:r>
            <a:r>
              <a:rPr lang="en-GB" altLang="zh-CN" dirty="0"/>
              <a:t>alleviate</a:t>
            </a:r>
            <a:endParaRPr lang="en-GB" altLang="zh-CN" dirty="0"/>
          </a:p>
          <a:p>
            <a:pPr lvl="1"/>
            <a:r>
              <a:rPr kumimoji="1" lang="en-US" altLang="zh-CN" dirty="0"/>
              <a:t>E.g., speed up compaction &amp; merge process with </a:t>
            </a:r>
            <a:r>
              <a:rPr kumimoji="1" lang="en-US" altLang="zh-CN" b="1" dirty="0">
                <a:solidFill>
                  <a:srgbClr val="C00000"/>
                </a:solidFill>
              </a:rPr>
              <a:t>advanced hardware 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b="1" dirty="0"/>
              <a:t>Observation</a:t>
            </a:r>
            <a:r>
              <a:rPr kumimoji="1" lang="en-US" altLang="zh-CN" dirty="0"/>
              <a:t>: SSD is much faster than disk on storage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Using it to store up-layer </a:t>
            </a:r>
            <a:r>
              <a:rPr kumimoji="1" lang="en-US" altLang="zh-CN" dirty="0" err="1"/>
              <a:t>SSTables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Straight Connector 18"/>
          <p:cNvCxnSpPr/>
          <p:nvPr/>
        </p:nvCxnSpPr>
        <p:spPr>
          <a:xfrm>
            <a:off x="1136578" y="3712004"/>
            <a:ext cx="71208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22"/>
          <p:cNvSpPr txBox="1"/>
          <p:nvPr/>
        </p:nvSpPr>
        <p:spPr>
          <a:xfrm>
            <a:off x="466424" y="3828540"/>
            <a:ext cx="470000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Disk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grpSp>
        <p:nvGrpSpPr>
          <p:cNvPr id="11" name="Group 23"/>
          <p:cNvGrpSpPr/>
          <p:nvPr/>
        </p:nvGrpSpPr>
        <p:grpSpPr>
          <a:xfrm>
            <a:off x="1122444" y="3266260"/>
            <a:ext cx="4526074" cy="1902274"/>
            <a:chOff x="719583" y="3592006"/>
            <a:chExt cx="6705294" cy="2818184"/>
          </a:xfrm>
        </p:grpSpPr>
        <p:grpSp>
          <p:nvGrpSpPr>
            <p:cNvPr id="12" name="Group 24"/>
            <p:cNvGrpSpPr/>
            <p:nvPr/>
          </p:nvGrpSpPr>
          <p:grpSpPr>
            <a:xfrm>
              <a:off x="722191" y="3592006"/>
              <a:ext cx="4152656" cy="616296"/>
              <a:chOff x="722191" y="3592006"/>
              <a:chExt cx="4152656" cy="616296"/>
            </a:xfrm>
          </p:grpSpPr>
          <p:grpSp>
            <p:nvGrpSpPr>
              <p:cNvPr id="50" name="Group 62"/>
              <p:cNvGrpSpPr/>
              <p:nvPr/>
            </p:nvGrpSpPr>
            <p:grpSpPr>
              <a:xfrm>
                <a:off x="1688949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9" name="Rectangle 71"/>
                <p:cNvSpPr/>
                <p:nvPr/>
              </p:nvSpPr>
              <p:spPr>
                <a:xfrm>
                  <a:off x="934212" y="4405091"/>
                  <a:ext cx="505901" cy="4378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60" name="Rectangle 72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51" name="Group 63"/>
              <p:cNvGrpSpPr/>
              <p:nvPr/>
            </p:nvGrpSpPr>
            <p:grpSpPr>
              <a:xfrm>
                <a:off x="2574594" y="3618060"/>
                <a:ext cx="505901" cy="590242"/>
                <a:chOff x="934212" y="4405091"/>
                <a:chExt cx="505901" cy="590242"/>
              </a:xfrm>
            </p:grpSpPr>
            <p:sp>
              <p:nvSpPr>
                <p:cNvPr id="57" name="Rectangle 69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8" name="Rectangle 70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52" name="TextBox 64"/>
              <p:cNvSpPr txBox="1"/>
              <p:nvPr/>
            </p:nvSpPr>
            <p:spPr>
              <a:xfrm>
                <a:off x="722191" y="3742359"/>
                <a:ext cx="874409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0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53" name="TextBox 65"/>
              <p:cNvSpPr txBox="1"/>
              <p:nvPr/>
            </p:nvSpPr>
            <p:spPr>
              <a:xfrm>
                <a:off x="3566366" y="3679427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54" name="Group 66"/>
              <p:cNvGrpSpPr/>
              <p:nvPr/>
            </p:nvGrpSpPr>
            <p:grpSpPr>
              <a:xfrm>
                <a:off x="4368946" y="3592006"/>
                <a:ext cx="505901" cy="590242"/>
                <a:chOff x="934212" y="4405091"/>
                <a:chExt cx="505901" cy="590242"/>
              </a:xfrm>
            </p:grpSpPr>
            <p:sp>
              <p:nvSpPr>
                <p:cNvPr id="55" name="Rectangle 67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56" name="Rectangle 68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sp>
          <p:nvSpPr>
            <p:cNvPr id="13" name="TextBox 25"/>
            <p:cNvSpPr txBox="1"/>
            <p:nvPr/>
          </p:nvSpPr>
          <p:spPr>
            <a:xfrm>
              <a:off x="3566365" y="5230985"/>
              <a:ext cx="503938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dirty="0">
                  <a:latin typeface="Candara" panose="020E0502030303020204" pitchFamily="34" charset="0"/>
                </a:rPr>
                <a:t>…</a:t>
              </a:r>
              <a:endParaRPr lang="en-US" sz="1215" dirty="0">
                <a:latin typeface="Candara" panose="020E0502030303020204" pitchFamily="34" charset="0"/>
              </a:endParaRPr>
            </a:p>
          </p:txBody>
        </p:sp>
        <p:grpSp>
          <p:nvGrpSpPr>
            <p:cNvPr id="14" name="Group 26"/>
            <p:cNvGrpSpPr/>
            <p:nvPr/>
          </p:nvGrpSpPr>
          <p:grpSpPr>
            <a:xfrm>
              <a:off x="719583" y="4507173"/>
              <a:ext cx="5037257" cy="615932"/>
              <a:chOff x="719583" y="4507173"/>
              <a:chExt cx="5037257" cy="615932"/>
            </a:xfrm>
          </p:grpSpPr>
          <p:grpSp>
            <p:nvGrpSpPr>
              <p:cNvPr id="36" name="Group 48"/>
              <p:cNvGrpSpPr/>
              <p:nvPr/>
            </p:nvGrpSpPr>
            <p:grpSpPr>
              <a:xfrm>
                <a:off x="168894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8" name="Rectangle 6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9" name="Rectangle 6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7" name="Group 49"/>
              <p:cNvGrpSpPr/>
              <p:nvPr/>
            </p:nvGrpSpPr>
            <p:grpSpPr>
              <a:xfrm>
                <a:off x="2587483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6" name="Rectangle 5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7" name="Rectangle 5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38" name="Group 50"/>
              <p:cNvGrpSpPr/>
              <p:nvPr/>
            </p:nvGrpSpPr>
            <p:grpSpPr>
              <a:xfrm>
                <a:off x="3486017" y="4532863"/>
                <a:ext cx="505901" cy="590242"/>
                <a:chOff x="934212" y="4405091"/>
                <a:chExt cx="505901" cy="590242"/>
              </a:xfrm>
            </p:grpSpPr>
            <p:sp>
              <p:nvSpPr>
                <p:cNvPr id="44" name="Rectangle 5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5" name="Rectangle 5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39" name="TextBox 51"/>
              <p:cNvSpPr txBox="1"/>
              <p:nvPr/>
            </p:nvSpPr>
            <p:spPr>
              <a:xfrm>
                <a:off x="4465819" y="4543201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sp>
            <p:nvSpPr>
              <p:cNvPr id="40" name="TextBox 52"/>
              <p:cNvSpPr txBox="1"/>
              <p:nvPr/>
            </p:nvSpPr>
            <p:spPr>
              <a:xfrm>
                <a:off x="719583" y="4689392"/>
                <a:ext cx="843536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>
                    <a:latin typeface="Candara" panose="020E0502030303020204" pitchFamily="34" charset="0"/>
                  </a:rPr>
                  <a:t>1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41" name="Group 53"/>
              <p:cNvGrpSpPr/>
              <p:nvPr/>
            </p:nvGrpSpPr>
            <p:grpSpPr>
              <a:xfrm>
                <a:off x="5250939" y="4507173"/>
                <a:ext cx="505901" cy="590242"/>
                <a:chOff x="934212" y="4405091"/>
                <a:chExt cx="505901" cy="590242"/>
              </a:xfrm>
            </p:grpSpPr>
            <p:sp>
              <p:nvSpPr>
                <p:cNvPr id="42" name="Rectangle 5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43" name="Rectangle 5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  <p:grpSp>
          <p:nvGrpSpPr>
            <p:cNvPr id="15" name="Group 27"/>
            <p:cNvGrpSpPr/>
            <p:nvPr/>
          </p:nvGrpSpPr>
          <p:grpSpPr>
            <a:xfrm>
              <a:off x="753449" y="5794258"/>
              <a:ext cx="6671428" cy="615932"/>
              <a:chOff x="719583" y="5794258"/>
              <a:chExt cx="6671428" cy="615932"/>
            </a:xfrm>
          </p:grpSpPr>
          <p:grpSp>
            <p:nvGrpSpPr>
              <p:cNvPr id="16" name="Group 28"/>
              <p:cNvGrpSpPr/>
              <p:nvPr/>
            </p:nvGrpSpPr>
            <p:grpSpPr>
              <a:xfrm>
                <a:off x="6885110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34" name="Rectangle 4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5" name="Rectangle 4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7" name="Group 29"/>
              <p:cNvGrpSpPr/>
              <p:nvPr/>
            </p:nvGrpSpPr>
            <p:grpSpPr>
              <a:xfrm>
                <a:off x="1663447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2" name="Rectangle 44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3" name="Rectangle 45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8" name="Group 30"/>
              <p:cNvGrpSpPr/>
              <p:nvPr/>
            </p:nvGrpSpPr>
            <p:grpSpPr>
              <a:xfrm>
                <a:off x="2561981" y="5794258"/>
                <a:ext cx="505901" cy="590242"/>
                <a:chOff x="934212" y="4405091"/>
                <a:chExt cx="505901" cy="590242"/>
              </a:xfrm>
            </p:grpSpPr>
            <p:sp>
              <p:nvSpPr>
                <p:cNvPr id="30" name="Rectangle 42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1" name="Rectangle 43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19" name="Group 31"/>
              <p:cNvGrpSpPr/>
              <p:nvPr/>
            </p:nvGrpSpPr>
            <p:grpSpPr>
              <a:xfrm>
                <a:off x="3460515" y="5819948"/>
                <a:ext cx="505901" cy="590242"/>
                <a:chOff x="934212" y="4405091"/>
                <a:chExt cx="505901" cy="590242"/>
              </a:xfrm>
            </p:grpSpPr>
            <p:sp>
              <p:nvSpPr>
                <p:cNvPr id="28" name="Rectangle 40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9" name="Rectangle 41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0" name="TextBox 32"/>
              <p:cNvSpPr txBox="1"/>
              <p:nvPr/>
            </p:nvSpPr>
            <p:spPr>
              <a:xfrm>
                <a:off x="6150864" y="5882126"/>
                <a:ext cx="503938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>
                    <a:latin typeface="Candara" panose="020E0502030303020204" pitchFamily="34" charset="0"/>
                  </a:rPr>
                  <a:t>…</a:t>
                </a:r>
                <a:endParaRPr lang="en-US" sz="1215" dirty="0">
                  <a:latin typeface="Candara" panose="020E0502030303020204" pitchFamily="34" charset="0"/>
                </a:endParaRPr>
              </a:p>
            </p:txBody>
          </p:sp>
          <p:grpSp>
            <p:nvGrpSpPr>
              <p:cNvPr id="21" name="Group 33"/>
              <p:cNvGrpSpPr/>
              <p:nvPr/>
            </p:nvGrpSpPr>
            <p:grpSpPr>
              <a:xfrm>
                <a:off x="5254081" y="5817253"/>
                <a:ext cx="505901" cy="590242"/>
                <a:chOff x="934212" y="4405091"/>
                <a:chExt cx="505901" cy="590242"/>
              </a:xfrm>
            </p:grpSpPr>
            <p:sp>
              <p:nvSpPr>
                <p:cNvPr id="26" name="Rectangle 38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7" name="Rectangle 39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grpSp>
            <p:nvGrpSpPr>
              <p:cNvPr id="22" name="Group 34"/>
              <p:cNvGrpSpPr/>
              <p:nvPr/>
            </p:nvGrpSpPr>
            <p:grpSpPr>
              <a:xfrm>
                <a:off x="4357298" y="5813616"/>
                <a:ext cx="505901" cy="590242"/>
                <a:chOff x="934212" y="4405091"/>
                <a:chExt cx="505901" cy="590242"/>
              </a:xfrm>
            </p:grpSpPr>
            <p:sp>
              <p:nvSpPr>
                <p:cNvPr id="24" name="Rectangle 36"/>
                <p:cNvSpPr/>
                <p:nvPr/>
              </p:nvSpPr>
              <p:spPr>
                <a:xfrm>
                  <a:off x="934212" y="4405091"/>
                  <a:ext cx="505901" cy="43784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25" name="Rectangle 37"/>
                <p:cNvSpPr/>
                <p:nvPr/>
              </p:nvSpPr>
              <p:spPr>
                <a:xfrm>
                  <a:off x="934212" y="4842933"/>
                  <a:ext cx="505901" cy="15240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15">
                    <a:solidFill>
                      <a:sysClr val="windowText" lastClr="000000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  <p:sp>
            <p:nvSpPr>
              <p:cNvPr id="23" name="TextBox 35"/>
              <p:cNvSpPr txBox="1"/>
              <p:nvPr/>
            </p:nvSpPr>
            <p:spPr>
              <a:xfrm>
                <a:off x="719583" y="5882126"/>
                <a:ext cx="864910" cy="413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15" dirty="0" err="1">
                    <a:latin typeface="Candara" panose="020E0502030303020204" pitchFamily="34" charset="0"/>
                  </a:rPr>
                  <a:t>Level</a:t>
                </a:r>
                <a:r>
                  <a:rPr lang="en-US" sz="1215" baseline="-25000" dirty="0" err="1">
                    <a:latin typeface="Candara" panose="020E0502030303020204" pitchFamily="34" charset="0"/>
                  </a:rPr>
                  <a:t>k</a:t>
                </a:r>
                <a:endParaRPr lang="en-US" sz="1215" baseline="-25000" dirty="0">
                  <a:latin typeface="Candara" panose="020E0502030303020204" pitchFamily="34" charset="0"/>
                </a:endParaRPr>
              </a:p>
            </p:txBody>
          </p:sp>
        </p:grpSp>
      </p:grpSp>
      <p:grpSp>
        <p:nvGrpSpPr>
          <p:cNvPr id="61" name="Group 73"/>
          <p:cNvGrpSpPr/>
          <p:nvPr/>
        </p:nvGrpSpPr>
        <p:grpSpPr>
          <a:xfrm>
            <a:off x="6121259" y="3821062"/>
            <a:ext cx="970806" cy="1419438"/>
            <a:chOff x="8058493" y="3604842"/>
            <a:chExt cx="1438231" cy="2102871"/>
          </a:xfrm>
        </p:grpSpPr>
        <p:grpSp>
          <p:nvGrpSpPr>
            <p:cNvPr id="62" name="Group 74"/>
            <p:cNvGrpSpPr/>
            <p:nvPr/>
          </p:nvGrpSpPr>
          <p:grpSpPr>
            <a:xfrm>
              <a:off x="8058493" y="4029708"/>
              <a:ext cx="1438231" cy="1678005"/>
              <a:chOff x="934212" y="4405091"/>
              <a:chExt cx="505901" cy="590242"/>
            </a:xfrm>
          </p:grpSpPr>
          <p:sp>
            <p:nvSpPr>
              <p:cNvPr id="64" name="Rectangle 76"/>
              <p:cNvSpPr/>
              <p:nvPr/>
            </p:nvSpPr>
            <p:spPr>
              <a:xfrm>
                <a:off x="934212" y="4405091"/>
                <a:ext cx="505901" cy="4378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KV pairs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(sorted)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  <p:sp>
            <p:nvSpPr>
              <p:cNvPr id="65" name="Rectangle 77"/>
              <p:cNvSpPr/>
              <p:nvPr/>
            </p:nvSpPr>
            <p:spPr>
              <a:xfrm>
                <a:off x="934212" y="4842933"/>
                <a:ext cx="505901" cy="1524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15" dirty="0">
                    <a:solidFill>
                      <a:sysClr val="windowText" lastClr="000000"/>
                    </a:solidFill>
                    <a:latin typeface="Candara" panose="020E0502030303020204" pitchFamily="34" charset="0"/>
                  </a:rPr>
                  <a:t>Metadata</a:t>
                </a:r>
                <a:endParaRPr lang="en-US" sz="1215" dirty="0">
                  <a:solidFill>
                    <a:sysClr val="windowText" lastClr="000000"/>
                  </a:solidFill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63" name="TextBox 75"/>
            <p:cNvSpPr txBox="1"/>
            <p:nvPr/>
          </p:nvSpPr>
          <p:spPr>
            <a:xfrm>
              <a:off x="8332806" y="3604842"/>
              <a:ext cx="1048246" cy="41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15" b="1" dirty="0">
                  <a:latin typeface="Candara" panose="020E0502030303020204" pitchFamily="34" charset="0"/>
                </a:rPr>
                <a:t>SSTable</a:t>
              </a:r>
              <a:endParaRPr lang="en-US" sz="1215" b="1" dirty="0">
                <a:latin typeface="Candara" panose="020E0502030303020204" pitchFamily="34" charset="0"/>
              </a:endParaRPr>
            </a:p>
          </p:txBody>
        </p:sp>
      </p:grpSp>
      <p:cxnSp>
        <p:nvCxnSpPr>
          <p:cNvPr id="66" name="Curved Connector 78"/>
          <p:cNvCxnSpPr/>
          <p:nvPr/>
        </p:nvCxnSpPr>
        <p:spPr>
          <a:xfrm rot="16200000" flipH="1">
            <a:off x="3946808" y="3455526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urved Connector 79"/>
          <p:cNvCxnSpPr/>
          <p:nvPr/>
        </p:nvCxnSpPr>
        <p:spPr>
          <a:xfrm rot="16200000" flipH="1">
            <a:off x="4554977" y="407552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80"/>
          <p:cNvCxnSpPr/>
          <p:nvPr/>
        </p:nvCxnSpPr>
        <p:spPr>
          <a:xfrm rot="16200000" flipH="1">
            <a:off x="5055068" y="4398915"/>
            <a:ext cx="354330" cy="340456"/>
          </a:xfrm>
          <a:prstGeom prst="curvedConnector3">
            <a:avLst>
              <a:gd name="adj1" fmla="val -2741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81"/>
          <p:cNvSpPr txBox="1"/>
          <p:nvPr/>
        </p:nvSpPr>
        <p:spPr>
          <a:xfrm>
            <a:off x="4320699" y="3289383"/>
            <a:ext cx="986167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Compaction</a:t>
            </a:r>
            <a:endParaRPr lang="en-US" sz="1215" b="1" dirty="0">
              <a:latin typeface="Candara" panose="020E0502030303020204" pitchFamily="34" charset="0"/>
            </a:endParaRPr>
          </a:p>
        </p:txBody>
      </p:sp>
      <p:pic>
        <p:nvPicPr>
          <p:cNvPr id="75" name="Picture 4" descr="卡通沙漏计时GIF图片-动态图片基地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2" t="21610" r="31203" b="23357"/>
          <a:stretch>
            <a:fillRect/>
          </a:stretch>
        </p:blipFill>
        <p:spPr bwMode="auto">
          <a:xfrm>
            <a:off x="4902370" y="3595343"/>
            <a:ext cx="623650" cy="6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22"/>
          <p:cNvSpPr txBox="1"/>
          <p:nvPr/>
        </p:nvSpPr>
        <p:spPr>
          <a:xfrm>
            <a:off x="457200" y="3228094"/>
            <a:ext cx="449162" cy="279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15" b="1" dirty="0">
                <a:latin typeface="Candara" panose="020E0502030303020204" pitchFamily="34" charset="0"/>
              </a:rPr>
              <a:t>SSD</a:t>
            </a:r>
            <a:endParaRPr lang="en-US" sz="1215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 Tree Summary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accent6"/>
                </a:solidFill>
              </a:rPr>
              <a:t>Good when</a:t>
            </a:r>
            <a:endParaRPr kumimoji="1" lang="en-US" altLang="zh-CN" dirty="0">
              <a:solidFill>
                <a:schemeClr val="accent6"/>
              </a:solidFill>
            </a:endParaRPr>
          </a:p>
          <a:p>
            <a:pPr lvl="1"/>
            <a:r>
              <a:rPr lang="en-US" altLang="zh-CN" dirty="0">
                <a:solidFill>
                  <a:schemeClr val="accent6"/>
                </a:solidFill>
              </a:rPr>
              <a:t>Massive dataset</a:t>
            </a:r>
            <a:endParaRPr lang="en-US" altLang="zh-CN" dirty="0">
              <a:solidFill>
                <a:schemeClr val="accent6"/>
              </a:solidFill>
            </a:endParaRPr>
          </a:p>
          <a:p>
            <a:pPr lvl="1"/>
            <a:r>
              <a:rPr lang="en-US" altLang="zh-CN" dirty="0">
                <a:solidFill>
                  <a:schemeClr val="accent6"/>
                </a:solidFill>
              </a:rPr>
              <a:t>Rapid updates/insertions </a:t>
            </a:r>
            <a:endParaRPr lang="en-US" altLang="zh-CN" dirty="0">
              <a:solidFill>
                <a:schemeClr val="accent6"/>
              </a:solidFill>
            </a:endParaRPr>
          </a:p>
          <a:p>
            <a:pPr lvl="1"/>
            <a:r>
              <a:rPr lang="en-US" altLang="zh-CN" dirty="0">
                <a:solidFill>
                  <a:schemeClr val="accent6"/>
                </a:solidFill>
              </a:rPr>
              <a:t>Fast lookups </a:t>
            </a:r>
            <a:endParaRPr lang="en-US" altLang="zh-CN" dirty="0">
              <a:solidFill>
                <a:schemeClr val="accent6"/>
              </a:solidFill>
            </a:endParaRPr>
          </a:p>
          <a:p>
            <a:pPr marL="74295" lvl="1" indent="0">
              <a:buNone/>
            </a:pPr>
            <a:r>
              <a:rPr lang="en-US" altLang="zh-CN" dirty="0">
                <a:solidFill>
                  <a:schemeClr val="accent6"/>
                </a:solidFill>
              </a:rPr>
              <a:t>Compared with B-Tree</a:t>
            </a:r>
            <a:endParaRPr lang="en-US" altLang="zh-CN" dirty="0">
              <a:solidFill>
                <a:schemeClr val="accent6"/>
              </a:solidFill>
            </a:endParaRPr>
          </a:p>
          <a:p>
            <a:pPr lvl="1"/>
            <a:r>
              <a:rPr lang="en-US" altLang="zh-CN" b="1" dirty="0">
                <a:solidFill>
                  <a:schemeClr val="accent6"/>
                </a:solidFill>
              </a:rPr>
              <a:t>Pros</a:t>
            </a:r>
            <a:r>
              <a:rPr lang="en-US" altLang="zh-CN" dirty="0">
                <a:solidFill>
                  <a:schemeClr val="accent6"/>
                </a:solidFill>
              </a:rPr>
              <a:t>: good write performance due to sequential writes</a:t>
            </a:r>
            <a:endParaRPr lang="en-US" altLang="zh-CN" dirty="0">
              <a:solidFill>
                <a:schemeClr val="accent6"/>
              </a:solidFill>
            </a:endParaRPr>
          </a:p>
          <a:p>
            <a:pPr lvl="1"/>
            <a:r>
              <a:rPr lang="en-US" altLang="zh-CN" b="1" dirty="0">
                <a:solidFill>
                  <a:schemeClr val="accent6"/>
                </a:solidFill>
              </a:rPr>
              <a:t>Cons</a:t>
            </a:r>
            <a:r>
              <a:rPr lang="en-US" altLang="zh-CN" dirty="0">
                <a:solidFill>
                  <a:schemeClr val="accent6"/>
                </a:solidFill>
              </a:rPr>
              <a:t>: additional compaction process, possible slow range queries, </a:t>
            </a:r>
            <a:endParaRPr lang="en-US" altLang="zh-CN" dirty="0">
              <a:solidFill>
                <a:schemeClr val="accent6"/>
              </a:solidFill>
            </a:endParaRPr>
          </a:p>
          <a:p>
            <a:pPr marL="74295" lvl="1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     write stall </a:t>
            </a: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caused by the compaction, </a:t>
            </a:r>
            <a:r>
              <a:rPr lang="en-US" altLang="zh-CN" b="1" dirty="0">
                <a:solidFill>
                  <a:srgbClr val="BD374B"/>
                </a:solidFill>
              </a:rPr>
              <a:t>slow lookup for non-existent key  </a:t>
            </a:r>
            <a:endParaRPr lang="en-US" altLang="zh-CN" b="1" dirty="0">
              <a:solidFill>
                <a:srgbClr val="BD374B"/>
              </a:solidFill>
            </a:endParaRPr>
          </a:p>
          <a:p>
            <a:pPr marL="74295" lvl="1" indent="0">
              <a:buNone/>
            </a:pPr>
            <a:endParaRPr lang="en-US" altLang="zh-CN" dirty="0"/>
          </a:p>
          <a:p>
            <a:pPr marL="74295" lvl="1" indent="0">
              <a:buNone/>
            </a:pPr>
            <a:endParaRPr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BD374B"/>
                </a:solidFill>
              </a:rPr>
              <a:t>Slow lookup for non-existent key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2808312"/>
          </a:xfrm>
        </p:spPr>
        <p:txBody>
          <a:bodyPr/>
          <a:lstStyle/>
          <a:p>
            <a:r>
              <a:rPr kumimoji="1" lang="en-US" altLang="zh-CN" dirty="0"/>
              <a:t>Recall: how LSM Tree lookup keys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en-US" altLang="zh-CN" b="0" dirty="0"/>
              <a:t>Checks the </a:t>
            </a:r>
            <a:r>
              <a:rPr kumimoji="1" lang="en-US" altLang="zh-CN" b="0" dirty="0" err="1"/>
              <a:t>MemTable</a:t>
            </a:r>
            <a:r>
              <a:rPr kumimoji="1" lang="en-US" altLang="zh-CN" b="0" dirty="0"/>
              <a:t> </a:t>
            </a:r>
            <a:endParaRPr kumimoji="1" lang="en-US" altLang="zh-CN" b="0" dirty="0"/>
          </a:p>
          <a:p>
            <a:pPr marL="342900" indent="-342900">
              <a:buAutoNum type="arabicPeriod"/>
            </a:pPr>
            <a:r>
              <a:rPr kumimoji="1" lang="en-US" altLang="zh-CN" b="0" dirty="0"/>
              <a:t>If misses, checks the latest </a:t>
            </a:r>
            <a:r>
              <a:rPr kumimoji="1" lang="en-US" altLang="zh-CN" b="0" dirty="0" err="1"/>
              <a:t>SSTable</a:t>
            </a:r>
            <a:endParaRPr kumimoji="1" lang="en-US" altLang="zh-CN" b="0" dirty="0"/>
          </a:p>
          <a:p>
            <a:pPr marL="342900" indent="-342900">
              <a:buAutoNum type="arabicPeriod"/>
            </a:pPr>
            <a:r>
              <a:rPr kumimoji="1" lang="en-US" altLang="zh-CN" b="0" dirty="0"/>
              <a:t>If still misses, checks the next older </a:t>
            </a:r>
            <a:r>
              <a:rPr kumimoji="1" lang="en-US" altLang="zh-CN" b="0" dirty="0" err="1"/>
              <a:t>SSTable</a:t>
            </a:r>
            <a:endParaRPr kumimoji="1" lang="en-US" altLang="zh-CN" b="0" dirty="0"/>
          </a:p>
          <a:p>
            <a:pPr marL="342900" indent="-342900">
              <a:buAutoNum type="arabicPeriod"/>
            </a:pPr>
            <a:r>
              <a:rPr kumimoji="1" lang="en-US" altLang="zh-CN" b="0" dirty="0"/>
              <a:t>… </a:t>
            </a:r>
            <a:endParaRPr kumimoji="1" lang="en-US" altLang="zh-CN" b="0" dirty="0"/>
          </a:p>
        </p:txBody>
      </p:sp>
      <p:grpSp>
        <p:nvGrpSpPr>
          <p:cNvPr id="6" name="组合 5"/>
          <p:cNvGrpSpPr/>
          <p:nvPr/>
        </p:nvGrpSpPr>
        <p:grpSpPr>
          <a:xfrm>
            <a:off x="1619672" y="4503644"/>
            <a:ext cx="552413" cy="508666"/>
            <a:chOff x="2195736" y="3023566"/>
            <a:chExt cx="552413" cy="508666"/>
          </a:xfrm>
        </p:grpSpPr>
        <p:sp>
          <p:nvSpPr>
            <p:cNvPr id="7" name="椭圆 6"/>
            <p:cNvSpPr/>
            <p:nvPr/>
          </p:nvSpPr>
          <p:spPr>
            <a:xfrm>
              <a:off x="2339752" y="3023566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2195736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2532125" y="3316232"/>
              <a:ext cx="216024" cy="216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0" name="直线连接符 9"/>
            <p:cNvCxnSpPr>
              <a:stCxn id="8" idx="0"/>
              <a:endCxn id="7" idx="3"/>
            </p:cNvCxnSpPr>
            <p:nvPr/>
          </p:nvCxnSpPr>
          <p:spPr>
            <a:xfrm flipV="1">
              <a:off x="2303748" y="3207934"/>
              <a:ext cx="67640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>
              <a:stCxn id="8" idx="6"/>
              <a:endCxn id="9" idx="2"/>
            </p:cNvCxnSpPr>
            <p:nvPr/>
          </p:nvCxnSpPr>
          <p:spPr>
            <a:xfrm>
              <a:off x="2411760" y="3424232"/>
              <a:ext cx="1203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>
              <a:stCxn id="7" idx="5"/>
              <a:endCxn id="9" idx="0"/>
            </p:cNvCxnSpPr>
            <p:nvPr/>
          </p:nvCxnSpPr>
          <p:spPr>
            <a:xfrm>
              <a:off x="2524140" y="3207934"/>
              <a:ext cx="115997" cy="108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784" y="4606406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847" y="4606406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9912" y="4608480"/>
            <a:ext cx="405904" cy="40590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136" y="4606406"/>
            <a:ext cx="405904" cy="4059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矩形 16"/>
          <p:cNvSpPr/>
          <p:nvPr/>
        </p:nvSpPr>
        <p:spPr>
          <a:xfrm>
            <a:off x="5164578" y="4365979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600" dirty="0"/>
              <a:t>…</a:t>
            </a:r>
            <a:endParaRPr lang="zh-CN" altLang="en-US" sz="3600" dirty="0"/>
          </a:p>
        </p:txBody>
      </p:sp>
      <p:sp>
        <p:nvSpPr>
          <p:cNvPr id="18" name="矩形 17"/>
          <p:cNvSpPr/>
          <p:nvPr/>
        </p:nvSpPr>
        <p:spPr>
          <a:xfrm>
            <a:off x="1247137" y="5084044"/>
            <a:ext cx="124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MemTable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3482196" y="5084044"/>
            <a:ext cx="1159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SSTables</a:t>
            </a:r>
            <a:endParaRPr lang="zh-CN" altLang="en-US" dirty="0"/>
          </a:p>
        </p:txBody>
      </p:sp>
      <p:sp>
        <p:nvSpPr>
          <p:cNvPr id="20" name="任意形状 19"/>
          <p:cNvSpPr/>
          <p:nvPr/>
        </p:nvSpPr>
        <p:spPr>
          <a:xfrm>
            <a:off x="2062976" y="4247733"/>
            <a:ext cx="68022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任意形状 20"/>
          <p:cNvSpPr/>
          <p:nvPr/>
        </p:nvSpPr>
        <p:spPr>
          <a:xfrm>
            <a:off x="2887191" y="4267061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/>
        </p:nvSpPr>
        <p:spPr>
          <a:xfrm>
            <a:off x="3519010" y="4251603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任意形状 22"/>
          <p:cNvSpPr/>
          <p:nvPr/>
        </p:nvSpPr>
        <p:spPr>
          <a:xfrm>
            <a:off x="4189653" y="4242493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任意形状 23"/>
          <p:cNvSpPr/>
          <p:nvPr/>
        </p:nvSpPr>
        <p:spPr>
          <a:xfrm>
            <a:off x="1230524" y="4237428"/>
            <a:ext cx="405904" cy="234269"/>
          </a:xfrm>
          <a:custGeom>
            <a:avLst/>
            <a:gdLst>
              <a:gd name="connsiteX0" fmla="*/ 0 w 680224"/>
              <a:gd name="connsiteY0" fmla="*/ 211966 h 234269"/>
              <a:gd name="connsiteX1" fmla="*/ 334536 w 680224"/>
              <a:gd name="connsiteY1" fmla="*/ 93 h 234269"/>
              <a:gd name="connsiteX2" fmla="*/ 680224 w 680224"/>
              <a:gd name="connsiteY2" fmla="*/ 234269 h 23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0224" h="234269">
                <a:moveTo>
                  <a:pt x="0" y="211966"/>
                </a:moveTo>
                <a:cubicBezTo>
                  <a:pt x="110582" y="104171"/>
                  <a:pt x="221165" y="-3624"/>
                  <a:pt x="334536" y="93"/>
                </a:cubicBezTo>
                <a:cubicBezTo>
                  <a:pt x="447907" y="3810"/>
                  <a:pt x="564065" y="119039"/>
                  <a:pt x="680224" y="234269"/>
                </a:cubicBezTo>
              </a:path>
            </a:pathLst>
          </a:cu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220817" y="3813192"/>
            <a:ext cx="360000" cy="369332"/>
            <a:chOff x="683568" y="2848168"/>
            <a:chExt cx="360000" cy="369332"/>
          </a:xfrm>
        </p:grpSpPr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1</a:t>
              </a:r>
              <a:endParaRPr lang="zh-CN" altLang="en-US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187981" y="3813192"/>
            <a:ext cx="360000" cy="369332"/>
            <a:chOff x="683568" y="2848168"/>
            <a:chExt cx="360000" cy="369332"/>
          </a:xfrm>
        </p:grpSpPr>
        <p:sp>
          <p:nvSpPr>
            <p:cNvPr id="29" name="椭圆 28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2</a:t>
              </a:r>
              <a:endParaRPr lang="zh-CN" altLang="en-US" dirty="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910143" y="3813192"/>
            <a:ext cx="360000" cy="369332"/>
            <a:chOff x="683568" y="2848168"/>
            <a:chExt cx="360000" cy="369332"/>
          </a:xfrm>
        </p:grpSpPr>
        <p:sp>
          <p:nvSpPr>
            <p:cNvPr id="32" name="椭圆 31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3</a:t>
              </a:r>
              <a:endParaRPr lang="zh-CN" altLang="en-US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555333" y="3813192"/>
            <a:ext cx="360000" cy="369332"/>
            <a:chOff x="683568" y="2848168"/>
            <a:chExt cx="360000" cy="369332"/>
          </a:xfrm>
        </p:grpSpPr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683568" y="2857500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707115" y="2848168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/>
                <a:t>4</a:t>
              </a:r>
              <a:endParaRPr lang="zh-CN" altLang="en-US" dirty="0"/>
            </a:p>
          </p:txBody>
        </p:sp>
      </p:grpSp>
      <p:sp>
        <p:nvSpPr>
          <p:cNvPr id="37" name="Rectangle 6"/>
          <p:cNvSpPr/>
          <p:nvPr/>
        </p:nvSpPr>
        <p:spPr>
          <a:xfrm>
            <a:off x="5492922" y="1110234"/>
            <a:ext cx="3215352" cy="830997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BE374B"/>
                </a:solidFill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Question</a:t>
            </a:r>
            <a:r>
              <a:rPr lang="en-US" altLang="zh-CN" sz="2400" dirty="0"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what if the key non-exist? 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  <p:sp>
        <p:nvSpPr>
          <p:cNvPr id="38" name="Rectangle 6"/>
          <p:cNvSpPr/>
          <p:nvPr/>
        </p:nvSpPr>
        <p:spPr>
          <a:xfrm>
            <a:off x="5505638" y="2469576"/>
            <a:ext cx="3215352" cy="461665"/>
          </a:xfrm>
          <a:prstGeom prst="rect">
            <a:avLst/>
          </a:prstGeom>
          <a:solidFill>
            <a:srgbClr val="F5FED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BE374B"/>
                </a:solidFill>
                <a:latin typeface="Candara" panose="020E0502030303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Will lookup all the files!</a:t>
            </a:r>
            <a:endParaRPr lang="zh-CN" altLang="en-US" sz="20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LSM Tree is a hot research topic today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Many </a:t>
            </a:r>
            <a:r>
              <a:rPr kumimoji="1" lang="en-US" altLang="zh-CN"/>
              <a:t>possible directions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14" descr="Diagram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507320"/>
            <a:ext cx="5235618" cy="357897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0" dirty="0">
                <a:solidFill>
                  <a:srgbClr val="C00000"/>
                </a:solidFill>
              </a:rPr>
              <a:t>Distributed key-value storage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356826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KV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distributed (see later lectures) </a:t>
            </a:r>
            <a:endParaRPr kumimoji="1" lang="en-US" altLang="zh-CN" dirty="0"/>
          </a:p>
          <a:p>
            <a:pPr lvl="1">
              <a:lnSpc>
                <a:spcPct val="130000"/>
              </a:lnSpc>
            </a:pPr>
            <a:r>
              <a:rPr kumimoji="1" lang="en-US" altLang="zh-CN" dirty="0"/>
              <a:t>RPC + key-value storage = distributed key-value storage!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See the next lecture </a:t>
            </a:r>
            <a:endParaRPr kumimoji="1" lang="en-US" altLang="zh-CN" dirty="0"/>
          </a:p>
          <a:p>
            <a:pPr lvl="1">
              <a:lnSpc>
                <a:spcPct val="130000"/>
              </a:lnSpc>
            </a:pPr>
            <a:r>
              <a:rPr kumimoji="1" lang="en-US" altLang="zh-CN" dirty="0"/>
              <a:t>We can also shard the data across multiple nodes 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i.e., high scalability </a:t>
            </a:r>
            <a:endParaRPr kumimoji="1" lang="en-US" altLang="zh-CN" dirty="0"/>
          </a:p>
          <a:p>
            <a:r>
              <a:rPr kumimoji="1" lang="en-US" altLang="zh-CN" dirty="0"/>
              <a:t>Key challenge: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How to find the data? 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consistent hashing</a:t>
            </a:r>
            <a:endParaRPr kumimoji="1" lang="zh-CN" altLang="en-US" dirty="0"/>
          </a:p>
          <a:p>
            <a:r>
              <a:rPr kumimoji="1" lang="en-US" altLang="zh-CN" dirty="0"/>
              <a:t>Other problems: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Fault tolerance (see later lectures)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Availability, replication &amp; consistency (see later lectures)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 of this lecture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Key-value store is an important component in computer systems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Typically built upon a filesystem to simplify disk hardware management </a:t>
            </a:r>
            <a:endParaRPr kumimoji="1" lang="en-US" altLang="zh-CN" dirty="0"/>
          </a:p>
          <a:p>
            <a:r>
              <a:rPr kumimoji="1" lang="en-US" altLang="zh-CN" dirty="0"/>
              <a:t>We show how KVS is evolved from log-structured file to the LSM tree</a:t>
            </a:r>
            <a:endParaRPr kumimoji="1" lang="en-US" altLang="zh-CN" dirty="0"/>
          </a:p>
          <a:p>
            <a:pPr lvl="1"/>
            <a:r>
              <a:rPr kumimoji="1" lang="en-US" altLang="zh-CN" b="0" dirty="0"/>
              <a:t>Log-structured file</a:t>
            </a:r>
            <a:endParaRPr kumimoji="1" lang="en-US" altLang="zh-CN" b="0" dirty="0"/>
          </a:p>
          <a:p>
            <a:pPr lvl="1"/>
            <a:r>
              <a:rPr kumimoji="1" lang="en-US" altLang="zh-CN" b="0" dirty="0"/>
              <a:t>Indexing </a:t>
            </a:r>
            <a:endParaRPr kumimoji="1" lang="en-US" altLang="zh-CN" b="0" dirty="0"/>
          </a:p>
          <a:p>
            <a:pPr lvl="1"/>
            <a:r>
              <a:rPr kumimoji="1" lang="en-US" altLang="zh-CN" dirty="0"/>
              <a:t>LSM Tree</a:t>
            </a:r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2207361" y="4823376"/>
            <a:ext cx="1872208" cy="603284"/>
          </a:xfrm>
          <a:prstGeom prst="roundRect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35579" y="4940352"/>
            <a:ext cx="1415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File system 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1979143" y="3378989"/>
            <a:ext cx="2232818" cy="603284"/>
          </a:xfrm>
          <a:prstGeom prst="roundRect">
            <a:avLst/>
          </a:prstGeom>
          <a:noFill/>
          <a:ln w="25400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207361" y="3495965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Key-value Store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7361" y="4218816"/>
            <a:ext cx="381809" cy="38180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7343" y="4218816"/>
            <a:ext cx="381809" cy="38180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73197" y="4225054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Key-value files</a:t>
            </a:r>
            <a:endParaRPr lang="zh-CN" altLang="en-US" dirty="0"/>
          </a:p>
        </p:txBody>
      </p:sp>
      <p:cxnSp>
        <p:nvCxnSpPr>
          <p:cNvPr id="12" name="直线箭头连接符 11"/>
          <p:cNvCxnSpPr/>
          <p:nvPr/>
        </p:nvCxnSpPr>
        <p:spPr>
          <a:xfrm>
            <a:off x="3599608" y="4143052"/>
            <a:ext cx="0" cy="533335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1" y="3250133"/>
            <a:ext cx="4934319" cy="2046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BE374B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0</TotalTime>
  <Words>25582</Words>
  <Application>WPS 演示</Application>
  <PresentationFormat>全屏显示(16:10)</PresentationFormat>
  <Paragraphs>2139</Paragraphs>
  <Slides>105</Slides>
  <Notes>56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105</vt:i4>
      </vt:variant>
    </vt:vector>
  </HeadingPairs>
  <TitlesOfParts>
    <vt:vector size="126" baseType="lpstr">
      <vt:lpstr>Arial</vt:lpstr>
      <vt:lpstr>宋体</vt:lpstr>
      <vt:lpstr>Wingdings</vt:lpstr>
      <vt:lpstr>等线</vt:lpstr>
      <vt:lpstr>微软雅黑 Light</vt:lpstr>
      <vt:lpstr>PingFang SC</vt:lpstr>
      <vt:lpstr>微软雅黑</vt:lpstr>
      <vt:lpstr>Calibri</vt:lpstr>
      <vt:lpstr>Comic Sans MS</vt:lpstr>
      <vt:lpstr>Courier New</vt:lpstr>
      <vt:lpstr>Century Gothic</vt:lpstr>
      <vt:lpstr>Eras Medium ITC</vt:lpstr>
      <vt:lpstr>Verdana</vt:lpstr>
      <vt:lpstr>Arial Unicode MS</vt:lpstr>
      <vt:lpstr>Segoe UI</vt:lpstr>
      <vt:lpstr>Consolas</vt:lpstr>
      <vt:lpstr>Helvetica-Bold</vt:lpstr>
      <vt:lpstr>Segoe Print</vt:lpstr>
      <vt:lpstr>Helvetica</vt:lpstr>
      <vt:lpstr>Candara</vt:lpstr>
      <vt:lpstr>1_Office 主题​​</vt:lpstr>
      <vt:lpstr>Google file system &amp;  from file system to key-value store </vt:lpstr>
      <vt:lpstr>Key-value storage (KVS): system w/ a simpler API</vt:lpstr>
      <vt:lpstr>Naïve solution to implement a KVS atop of filesystem </vt:lpstr>
      <vt:lpstr>KVS’s workloads are different than the filesystem </vt:lpstr>
      <vt:lpstr>Naïve implement a KVS on the filesystem is inefficient</vt:lpstr>
      <vt:lpstr>Naïve implement a KVS on the filesystem is inefficient</vt:lpstr>
      <vt:lpstr>Building Key-value Storage on File System </vt:lpstr>
      <vt:lpstr>A naïve Key-Value Storage (KVS)</vt:lpstr>
      <vt:lpstr>Update(K,V) in the naïve KVS</vt:lpstr>
      <vt:lpstr>PowerPoint 演示文稿</vt:lpstr>
      <vt:lpstr>Storage Hierarchy </vt:lpstr>
      <vt:lpstr>Storage Hierarchy: asymmetric performance of disk</vt:lpstr>
      <vt:lpstr>Random access vs. Sequential access </vt:lpstr>
      <vt:lpstr>Update(K,V) in the naïve KVS</vt:lpstr>
      <vt:lpstr>Insert(K,V) in the naïve KVS</vt:lpstr>
      <vt:lpstr>File format of naïve KVS &amp; log file  </vt:lpstr>
      <vt:lpstr>Updates work Well, What about Get(K,V)? </vt:lpstr>
      <vt:lpstr>Method: Accelerate Get with index </vt:lpstr>
      <vt:lpstr>First try of index: an In-memory Hash Index</vt:lpstr>
      <vt:lpstr>Hash index &amp; log-structured data file </vt:lpstr>
      <vt:lpstr>Hash Index++: Put it (or partially) on the disk </vt:lpstr>
      <vt:lpstr>Linked-list based hash index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Cuckoo hashing</vt:lpstr>
      <vt:lpstr>Selecting a proper index for KV store is non-trivial </vt:lpstr>
      <vt:lpstr>Issues of using hash index &amp; log file</vt:lpstr>
      <vt:lpstr>Issues of using hash index &amp; log file</vt:lpstr>
      <vt:lpstr>How to prevent a file from growing forever? </vt:lpstr>
      <vt:lpstr>How to prevent a file from growing forever? </vt:lpstr>
      <vt:lpstr>How to prevent a file from growing forever? </vt:lpstr>
      <vt:lpstr>How to prevent a file from growing forever? </vt:lpstr>
      <vt:lpstr>Recall: how to handle delete() for log-structed file? </vt:lpstr>
      <vt:lpstr>Issues of using hash index &amp; segmented log file</vt:lpstr>
      <vt:lpstr>B-Tree (B+Tree) indexes: a form of ordered index </vt:lpstr>
      <vt:lpstr>B+Tree indexes</vt:lpstr>
      <vt:lpstr>B+Tree indexes example (fanout = 5)</vt:lpstr>
      <vt:lpstr>B+Tree indexes example: Get(2)</vt:lpstr>
      <vt:lpstr>B+Tree indexes example: Get(2)</vt:lpstr>
      <vt:lpstr>B+Tree indexes example: Update(2)</vt:lpstr>
      <vt:lpstr>B+Tree indexes example: insert(10)</vt:lpstr>
      <vt:lpstr>B+Tree indexes example: insert(10)</vt:lpstr>
      <vt:lpstr>B+Tree indexes example: insert(11)</vt:lpstr>
      <vt:lpstr>B+Tree indexes example: insert(11)</vt:lpstr>
      <vt:lpstr>B+Tree can support efficient range operations </vt:lpstr>
      <vt:lpstr>Question: need a B+Tree to index the values in the log? </vt:lpstr>
      <vt:lpstr>B-Tree indexes on the disk? </vt:lpstr>
      <vt:lpstr>PowerPoint 演示文稿</vt:lpstr>
      <vt:lpstr>Recall: segmented log file</vt:lpstr>
      <vt:lpstr>LSM Trees: SSTables (Sorted String Table)</vt:lpstr>
      <vt:lpstr>Benefits of SSTable (compared to original log file) </vt:lpstr>
      <vt:lpstr>Benefits of SSTable (compared to original log file) </vt:lpstr>
      <vt:lpstr>Benefits of SSTable (compared to original log file) </vt:lpstr>
      <vt:lpstr>How to maintain SSTable with sequential writes? </vt:lpstr>
      <vt:lpstr>How to maintain SSTable with sequential writes? </vt:lpstr>
      <vt:lpstr>How to maintain SSTable with sequential writes? </vt:lpstr>
      <vt:lpstr>How to maintain SSTable with sequential writes? </vt:lpstr>
      <vt:lpstr>Reads with MemTable + SSTable</vt:lpstr>
      <vt:lpstr>PowerPoint 演示文稿</vt:lpstr>
      <vt:lpstr>Organizing data sequentially has several drawbacks</vt:lpstr>
      <vt:lpstr>LSM Tree organizes SSTables in a hierarchy </vt:lpstr>
      <vt:lpstr>Hierarchy can speed up old value lookup</vt:lpstr>
      <vt:lpstr>Hierarchy can speed up range query</vt:lpstr>
      <vt:lpstr>Range Query in LSM Tree</vt:lpstr>
      <vt:lpstr>Example: Read in LSM-Tree (Similar to SSTables)</vt:lpstr>
      <vt:lpstr>Example: Read in LSM-Tree</vt:lpstr>
      <vt:lpstr>Example: Read in LSM-Tree</vt:lpstr>
      <vt:lpstr>Example: Read in LSM-Tree</vt:lpstr>
      <vt:lpstr>Example: insert/update in LSM-Tree</vt:lpstr>
      <vt:lpstr>Example: insert/update in LSM-Tree</vt:lpstr>
      <vt:lpstr>What about crash? </vt:lpstr>
      <vt:lpstr>LSM Tree Summary </vt:lpstr>
      <vt:lpstr>LSM Tree Summary </vt:lpstr>
      <vt:lpstr>LSM Tree Summary </vt:lpstr>
      <vt:lpstr>Write stall caused by compaction in LSM Tree</vt:lpstr>
      <vt:lpstr>Write stall caused by compaction in LSM Tree</vt:lpstr>
      <vt:lpstr>Write stall caused by compaction in LSM Tree</vt:lpstr>
      <vt:lpstr>Write stall caused by compaction in LSM Tree</vt:lpstr>
      <vt:lpstr>Write stall caused by compaction in LSM Tree</vt:lpstr>
      <vt:lpstr>Write stall caused by compaction in LSM Tree</vt:lpstr>
      <vt:lpstr>Write stall caused by compaction in LSM Tree</vt:lpstr>
      <vt:lpstr>Write stall caused by compaction in LSM Tree</vt:lpstr>
      <vt:lpstr>PowerPoint 演示文稿</vt:lpstr>
      <vt:lpstr>In principle, hard to prevent</vt:lpstr>
      <vt:lpstr>In principle, hard to prevent</vt:lpstr>
      <vt:lpstr>LSM Tree Summary </vt:lpstr>
      <vt:lpstr>Slow lookup for non-existent key</vt:lpstr>
      <vt:lpstr>LSM Tree is a hot research topic today</vt:lpstr>
      <vt:lpstr>Distributed key-value storage </vt:lpstr>
      <vt:lpstr>Summary of this lecture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。</cp:lastModifiedBy>
  <cp:revision>1719</cp:revision>
  <cp:lastPrinted>2020-03-02T13:38:00Z</cp:lastPrinted>
  <dcterms:created xsi:type="dcterms:W3CDTF">2017-11-24T09:35:00Z</dcterms:created>
  <dcterms:modified xsi:type="dcterms:W3CDTF">2024-11-19T04:05:23Z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092F7CCD0162448095A180B496F555AE_12</vt:lpwstr>
  </property>
  <property fmtid="{D5CDD505-2E9C-101B-9397-08002B2CF9AE}" pid="3" name="KSOProductBuildVer">
    <vt:lpwstr>2052-12.1.0.18912</vt:lpwstr>
  </property>
</Properties>
</file>