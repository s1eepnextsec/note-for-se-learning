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2"/>
  </p:handoutMasterIdLst>
  <p:sldIdLst>
    <p:sldId id="2241" r:id="rId3"/>
    <p:sldId id="2725" r:id="rId5"/>
    <p:sldId id="2733" r:id="rId6"/>
    <p:sldId id="2746" r:id="rId7"/>
    <p:sldId id="2747" r:id="rId8"/>
    <p:sldId id="335" r:id="rId9"/>
    <p:sldId id="337" r:id="rId10"/>
    <p:sldId id="338" r:id="rId11"/>
    <p:sldId id="339" r:id="rId12"/>
    <p:sldId id="340" r:id="rId13"/>
    <p:sldId id="341" r:id="rId14"/>
    <p:sldId id="342" r:id="rId15"/>
    <p:sldId id="2749" r:id="rId16"/>
    <p:sldId id="2750" r:id="rId17"/>
    <p:sldId id="2751" r:id="rId18"/>
    <p:sldId id="2752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84" r:id="rId28"/>
    <p:sldId id="356" r:id="rId29"/>
    <p:sldId id="381" r:id="rId30"/>
    <p:sldId id="2754" r:id="rId31"/>
    <p:sldId id="358" r:id="rId32"/>
    <p:sldId id="359" r:id="rId33"/>
    <p:sldId id="360" r:id="rId34"/>
    <p:sldId id="361" r:id="rId35"/>
    <p:sldId id="2755" r:id="rId36"/>
    <p:sldId id="367" r:id="rId37"/>
    <p:sldId id="368" r:id="rId38"/>
    <p:sldId id="369" r:id="rId39"/>
    <p:sldId id="370" r:id="rId40"/>
    <p:sldId id="371" r:id="rId41"/>
    <p:sldId id="372" r:id="rId42"/>
    <p:sldId id="373" r:id="rId43"/>
    <p:sldId id="374" r:id="rId44"/>
    <p:sldId id="375" r:id="rId45"/>
    <p:sldId id="376" r:id="rId46"/>
    <p:sldId id="377" r:id="rId47"/>
    <p:sldId id="378" r:id="rId48"/>
    <p:sldId id="379" r:id="rId49"/>
    <p:sldId id="380" r:id="rId50"/>
    <p:sldId id="385" r:id="rId51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4" userDrawn="1">
          <p15:clr>
            <a:srgbClr val="A4A3A4"/>
          </p15:clr>
        </p15:guide>
        <p15:guide id="3" pos="52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0432FF"/>
    <a:srgbClr val="0066B8"/>
    <a:srgbClr val="BD374B"/>
    <a:srgbClr val="BE374B"/>
    <a:srgbClr val="EACBA3"/>
    <a:srgbClr val="E2EAF7"/>
    <a:srgbClr val="FF5F00"/>
    <a:srgbClr val="FF7E79"/>
    <a:srgbClr val="F6F9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4" autoAdjust="0"/>
    <p:restoredTop sz="88707" autoAdjust="0"/>
  </p:normalViewPr>
  <p:slideViewPr>
    <p:cSldViewPr showGuides="1">
      <p:cViewPr varScale="1">
        <p:scale>
          <a:sx n="130" d="100"/>
          <a:sy n="130" d="100"/>
        </p:scale>
        <p:origin x="1664" y="192"/>
      </p:cViewPr>
      <p:guideLst>
        <p:guide orient="horz" pos="2934"/>
        <p:guide pos="5284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minimize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load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5B8B3F-0F45-4AAD-B4A8-B1F7D58CB49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81025" indent="-225425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1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1" Type="http://schemas.openxmlformats.org/officeDocument/2006/relationships/image" Target="../media/image5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31048" y="1492992"/>
            <a:ext cx="9112952" cy="158053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200" b="0" dirty="0">
                <a:latin typeface="+mn-lt"/>
              </a:rPr>
              <a:t>TCP</a:t>
            </a:r>
            <a:r>
              <a:rPr kumimoji="1" lang="zh-CN" altLang="en-US" sz="3200" b="0" dirty="0">
                <a:latin typeface="+mn-lt"/>
              </a:rPr>
              <a:t> </a:t>
            </a:r>
            <a:r>
              <a:rPr kumimoji="1" lang="en-US" altLang="zh-CN" sz="3200" b="0" dirty="0">
                <a:latin typeface="+mn-lt"/>
              </a:rPr>
              <a:t>Congestion</a:t>
            </a:r>
            <a:r>
              <a:rPr kumimoji="1" lang="zh-CN" altLang="en-US" sz="3200" b="0" dirty="0">
                <a:latin typeface="+mn-lt"/>
              </a:rPr>
              <a:t> </a:t>
            </a:r>
            <a:r>
              <a:rPr kumimoji="1" lang="en-US" altLang="zh-CN" sz="3200" b="0" dirty="0">
                <a:latin typeface="+mn-lt"/>
              </a:rPr>
              <a:t>Control</a:t>
            </a:r>
            <a:r>
              <a:rPr kumimoji="1" lang="zh-CN" altLang="en-US" sz="3200" b="0" dirty="0">
                <a:latin typeface="+mn-lt"/>
              </a:rPr>
              <a:t> </a:t>
            </a:r>
            <a:r>
              <a:rPr kumimoji="1" lang="en-US" altLang="zh-CN" sz="3200" b="0" dirty="0">
                <a:latin typeface="+mn-lt"/>
              </a:rPr>
              <a:t>&amp;</a:t>
            </a:r>
            <a:r>
              <a:rPr kumimoji="1" lang="zh-CN" altLang="en-US" sz="3200" b="0" dirty="0">
                <a:latin typeface="+mn-lt"/>
              </a:rPr>
              <a:t> </a:t>
            </a:r>
            <a:r>
              <a:rPr kumimoji="1" lang="en-US" altLang="zh-CN" sz="3200" b="0" dirty="0">
                <a:latin typeface="+mn-lt"/>
              </a:rPr>
              <a:t>DNS</a:t>
            </a:r>
            <a:endParaRPr kumimoji="1" lang="zh-CN" altLang="en-US" sz="3200" b="0" dirty="0">
              <a:latin typeface="+mn-lt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/>
          <p:cNvSpPr txBox="1"/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SE3331-1 (2024 Fall)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 panose="020B0503020204020204" charset="-122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</p:spPr>
      </p:pic>
      <p:sp>
        <p:nvSpPr>
          <p:cNvPr id="10" name="副标题 5"/>
          <p:cNvSpPr txBox="1"/>
          <p:nvPr/>
        </p:nvSpPr>
        <p:spPr>
          <a:xfrm>
            <a:off x="-6647" y="5210411"/>
            <a:ext cx="822452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xx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BD374B"/>
                </a:solidFill>
              </a:rPr>
              <a:t>The Design of DNS</a:t>
            </a:r>
            <a:endParaRPr lang="en-US" altLang="zh-CN" dirty="0">
              <a:solidFill>
                <a:srgbClr val="BD374B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b="0" dirty="0">
                <a:solidFill>
                  <a:srgbClr val="BD374B"/>
                </a:solidFill>
              </a:rPr>
              <a:t>Domain Name Service</a:t>
            </a:r>
            <a:endParaRPr kumimoji="1" lang="en-US" altLang="zh-CN" sz="2000" b="0" dirty="0">
              <a:solidFill>
                <a:srgbClr val="BD374B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DNS: Binding IP and Domain Name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96FF"/>
                </a:solidFill>
                <a:latin typeface="+mn-lt"/>
              </a:rPr>
              <a:t>Names</a:t>
            </a:r>
            <a:r>
              <a:rPr lang="en-US" altLang="zh-CN" dirty="0">
                <a:latin typeface="+mn-lt"/>
              </a:rPr>
              <a:t>: hostname strings</a:t>
            </a:r>
            <a:endParaRPr lang="en-US" altLang="zh-CN" dirty="0">
              <a:latin typeface="+mn-lt"/>
            </a:endParaRPr>
          </a:p>
          <a:p>
            <a:pPr lvl="1"/>
            <a:r>
              <a:rPr lang="en-US" altLang="zh-CN" dirty="0">
                <a:latin typeface="+mn-lt"/>
              </a:rPr>
              <a:t>E.g., </a:t>
            </a:r>
            <a:r>
              <a:rPr lang="en-US" altLang="zh-CN" u="sng" dirty="0" err="1">
                <a:latin typeface="+mn-lt"/>
              </a:rPr>
              <a:t>www.sjtu.edu.cn</a:t>
            </a:r>
            <a:endParaRPr lang="en-US" altLang="zh-CN" u="sng" dirty="0">
              <a:latin typeface="+mn-lt"/>
            </a:endParaRPr>
          </a:p>
          <a:p>
            <a:r>
              <a:rPr lang="en-US" altLang="zh-CN" dirty="0">
                <a:solidFill>
                  <a:srgbClr val="0096FF"/>
                </a:solidFill>
                <a:latin typeface="+mn-lt"/>
              </a:rPr>
              <a:t>Values</a:t>
            </a:r>
            <a:r>
              <a:rPr lang="en-US" altLang="zh-CN" dirty="0">
                <a:latin typeface="+mn-lt"/>
              </a:rPr>
              <a:t>: IP addresses</a:t>
            </a:r>
            <a:endParaRPr lang="en-US" altLang="zh-CN" dirty="0">
              <a:latin typeface="+mn-lt"/>
            </a:endParaRPr>
          </a:p>
          <a:p>
            <a:pPr lvl="1"/>
            <a:r>
              <a:rPr lang="en-US" altLang="zh-CN" dirty="0">
                <a:latin typeface="+mn-lt"/>
              </a:rPr>
              <a:t>E.g., 202.120.2.119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solidFill>
                  <a:srgbClr val="0096FF"/>
                </a:solidFill>
                <a:latin typeface="+mn-lt"/>
              </a:rPr>
              <a:t>Look-up</a:t>
            </a:r>
            <a:r>
              <a:rPr lang="en-US" altLang="zh-CN" dirty="0">
                <a:latin typeface="+mn-lt"/>
              </a:rPr>
              <a:t> </a:t>
            </a:r>
            <a:r>
              <a:rPr lang="en-US" altLang="zh-CN" dirty="0">
                <a:solidFill>
                  <a:srgbClr val="0096FF"/>
                </a:solidFill>
                <a:latin typeface="+mn-lt"/>
              </a:rPr>
              <a:t>algorithm</a:t>
            </a:r>
            <a:endParaRPr lang="en-US" altLang="zh-CN" dirty="0">
              <a:solidFill>
                <a:srgbClr val="0096FF"/>
              </a:solidFill>
              <a:latin typeface="+mn-lt"/>
            </a:endParaRPr>
          </a:p>
          <a:p>
            <a:pPr lvl="1"/>
            <a:r>
              <a:rPr lang="en-US" altLang="zh-CN" dirty="0">
                <a:latin typeface="+mn-lt"/>
              </a:rPr>
              <a:t>Resolves a hostname to an IP address so that your machine knows where to send packets</a:t>
            </a:r>
            <a:endParaRPr lang="zh-CN" altLang="en-US" dirty="0">
              <a:latin typeface="+mn-lt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 Address as a Type of Name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/>
              <a:t>An IP address itself is a type of name</a:t>
            </a:r>
            <a:endParaRPr lang="en-US" altLang="zh-CN" dirty="0"/>
          </a:p>
          <a:p>
            <a:pPr lvl="1"/>
            <a:r>
              <a:rPr lang="en-US" altLang="zh-CN" dirty="0"/>
              <a:t>A structured name that is used to locate an object</a:t>
            </a:r>
            <a:endParaRPr lang="en-US" altLang="zh-CN" dirty="0"/>
          </a:p>
          <a:p>
            <a:pPr lvl="1"/>
            <a:r>
              <a:rPr lang="en-US" altLang="zh-CN" dirty="0"/>
              <a:t>Use IP address to identify the server</a:t>
            </a:r>
            <a:endParaRPr lang="en-US" altLang="zh-CN" dirty="0"/>
          </a:p>
          <a:p>
            <a:pPr lvl="2"/>
            <a:r>
              <a:rPr lang="en-US" altLang="zh-CN" sz="1600" dirty="0"/>
              <a:t>Recall your labs in ICS on socket</a:t>
            </a:r>
            <a:endParaRPr lang="en-US" altLang="zh-CN" sz="1600" dirty="0"/>
          </a:p>
          <a:p>
            <a:pPr lvl="1"/>
            <a:r>
              <a:rPr lang="en-US" altLang="zh-CN" dirty="0"/>
              <a:t>On Internet</a:t>
            </a:r>
            <a:endParaRPr lang="en-US" altLang="zh-CN" dirty="0"/>
          </a:p>
          <a:p>
            <a:pPr lvl="2"/>
            <a:r>
              <a:rPr lang="en-US" altLang="zh-CN" sz="1600" dirty="0"/>
              <a:t>The router will know where to send a packet with destination IP</a:t>
            </a:r>
            <a:endParaRPr lang="en-US" altLang="zh-CN" sz="1600" dirty="0"/>
          </a:p>
          <a:p>
            <a:r>
              <a:rPr lang="en-US" altLang="zh-CN" dirty="0"/>
              <a:t>Hostname has </a:t>
            </a:r>
            <a:r>
              <a:rPr lang="en-US" altLang="zh-CN" dirty="0">
                <a:solidFill>
                  <a:srgbClr val="C00000"/>
                </a:solidFill>
              </a:rPr>
              <a:t>no</a:t>
            </a:r>
            <a:r>
              <a:rPr lang="en-US" altLang="zh-CN" dirty="0"/>
              <a:t> such semantic</a:t>
            </a:r>
            <a:endParaRPr lang="en-US" altLang="zh-CN" dirty="0"/>
          </a:p>
          <a:p>
            <a:pPr lvl="1"/>
            <a:r>
              <a:rPr lang="en-US" altLang="zh-CN" dirty="0"/>
              <a:t>A router does not know how to send a packet to "</a:t>
            </a:r>
            <a:r>
              <a:rPr lang="en-US" altLang="zh-CN" u="sng" dirty="0" err="1"/>
              <a:t>baidu.com</a:t>
            </a:r>
            <a:r>
              <a:rPr lang="en-US" altLang="zh-CN" dirty="0"/>
              <a:t>"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Not Just Using IP Address?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/>
              <a:t>IPs are structured in a particular way for routing</a:t>
            </a:r>
            <a:endParaRPr lang="en-US" altLang="zh-CN" dirty="0"/>
          </a:p>
          <a:p>
            <a:pPr lvl="1"/>
            <a:r>
              <a:rPr lang="en-US" altLang="zh-CN" dirty="0"/>
              <a:t>You cannot choose your IP address as you wish</a:t>
            </a:r>
            <a:endParaRPr lang="en-US" altLang="zh-CN" dirty="0"/>
          </a:p>
          <a:p>
            <a:pPr lvl="2"/>
            <a:r>
              <a:rPr lang="en-US" altLang="zh-CN" sz="1600" dirty="0">
                <a:solidFill>
                  <a:srgbClr val="0096FF"/>
                </a:solidFill>
              </a:rPr>
              <a:t>Note: usually an address cannot be picked</a:t>
            </a:r>
            <a:endParaRPr lang="en-US" altLang="zh-CN" sz="1600" dirty="0">
              <a:solidFill>
                <a:srgbClr val="0096FF"/>
              </a:solidFill>
            </a:endParaRPr>
          </a:p>
          <a:p>
            <a:pPr lvl="1"/>
            <a:r>
              <a:rPr lang="en-US" altLang="zh-CN" dirty="0"/>
              <a:t>While you can choose your host names</a:t>
            </a:r>
            <a:endParaRPr lang="en-US" altLang="zh-CN" dirty="0"/>
          </a:p>
          <a:p>
            <a:r>
              <a:rPr lang="en-US" altLang="zh-CN" dirty="0"/>
              <a:t>IPs are not</a:t>
            </a:r>
            <a:r>
              <a:rPr lang="zh-CN" altLang="en-US" dirty="0"/>
              <a:t> </a:t>
            </a:r>
            <a:r>
              <a:rPr lang="en-US" altLang="zh-CN" dirty="0"/>
              <a:t>user-friendly</a:t>
            </a:r>
            <a:r>
              <a:rPr lang="zh-CN" altLang="en-US" dirty="0"/>
              <a:t> </a:t>
            </a:r>
            <a:r>
              <a:rPr lang="en-US" altLang="zh-CN" dirty="0"/>
              <a:t>enough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Questions on DNS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04456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Q: </a:t>
            </a:r>
            <a:r>
              <a:rPr lang="en-US" altLang="zh-CN" dirty="0">
                <a:solidFill>
                  <a:srgbClr val="C00000"/>
                </a:solidFill>
              </a:rPr>
              <a:t>Can a name have multiple values (IP addresses)?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Yes.</a:t>
            </a:r>
            <a:r>
              <a:rPr lang="zh-CN" altLang="en-US" dirty="0"/>
              <a:t> </a:t>
            </a:r>
            <a:r>
              <a:rPr lang="en-US" altLang="zh-CN" dirty="0"/>
              <a:t>This allows a web server to balance its load over multiple machines</a:t>
            </a:r>
            <a:endParaRPr lang="en-US" altLang="zh-CN" dirty="0"/>
          </a:p>
          <a:p>
            <a:pPr lvl="1"/>
            <a:r>
              <a:rPr lang="en-US" altLang="zh-CN" dirty="0"/>
              <a:t>Also allows a client to choice a nearest IP to access</a:t>
            </a:r>
            <a:endParaRPr lang="en-US" altLang="zh-CN" dirty="0"/>
          </a:p>
          <a:p>
            <a:r>
              <a:rPr lang="en-US" altLang="zh-CN" b="1" dirty="0">
                <a:solidFill>
                  <a:srgbClr val="C00000"/>
                </a:solidFill>
              </a:rPr>
              <a:t>Q: </a:t>
            </a:r>
            <a:r>
              <a:rPr lang="en-US" altLang="zh-CN" dirty="0">
                <a:solidFill>
                  <a:srgbClr val="C00000"/>
                </a:solidFill>
              </a:rPr>
              <a:t>Can a single value have multiple names?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Yes.</a:t>
            </a:r>
            <a:r>
              <a:rPr lang="zh-CN" altLang="en-US" dirty="0"/>
              <a:t> </a:t>
            </a:r>
            <a:r>
              <a:rPr lang="en-US" altLang="zh-CN" dirty="0"/>
              <a:t>This allows server consolidation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Q: Can the value corresponding to a name change?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Yes. This allows to change the physical machine (with different IP) that stores the data without changing the hostname</a:t>
            </a:r>
            <a:endParaRPr lang="en-US" altLang="zh-CN" dirty="0"/>
          </a:p>
          <a:p>
            <a:pPr lvl="1"/>
            <a:r>
              <a:rPr lang="en-US" altLang="zh-CN" dirty="0"/>
              <a:t>Such changing is hidden to clients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Look-up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At first, each machine kept a "</a:t>
            </a:r>
            <a:r>
              <a:rPr lang="en-US" altLang="zh-CN" dirty="0" err="1">
                <a:solidFill>
                  <a:srgbClr val="0096FF"/>
                </a:solidFill>
              </a:rPr>
              <a:t>hosts.txt</a:t>
            </a:r>
            <a:r>
              <a:rPr lang="en-US" altLang="zh-CN" dirty="0"/>
              <a:t>" for address binding</a:t>
            </a:r>
            <a:endParaRPr lang="en-US" altLang="zh-CN" dirty="0"/>
          </a:p>
          <a:p>
            <a:pPr lvl="1"/>
            <a:r>
              <a:rPr lang="en-US" altLang="zh-CN" dirty="0"/>
              <a:t>E.g., "</a:t>
            </a:r>
            <a:r>
              <a:rPr lang="en-US" altLang="zh-CN" dirty="0">
                <a:solidFill>
                  <a:srgbClr val="0096FF"/>
                </a:solidFill>
              </a:rPr>
              <a:t>r900 202.120.224.83</a:t>
            </a:r>
            <a:r>
              <a:rPr lang="en-US" altLang="zh-CN" dirty="0"/>
              <a:t>"</a:t>
            </a:r>
            <a:endParaRPr lang="en-US" altLang="zh-CN" dirty="0"/>
          </a:p>
          <a:p>
            <a:pPr lvl="1"/>
            <a:r>
              <a:rPr lang="en-US" altLang="zh-CN" dirty="0"/>
              <a:t>Using table look-up to resolve the binding</a:t>
            </a:r>
            <a:endParaRPr lang="en-US" altLang="zh-CN" dirty="0"/>
          </a:p>
          <a:p>
            <a:pPr lvl="1"/>
            <a:r>
              <a:rPr lang="en-US" altLang="zh-CN" dirty="0"/>
              <a:t>This method </a:t>
            </a:r>
            <a:r>
              <a:rPr lang="en-US" altLang="zh-CN" dirty="0">
                <a:solidFill>
                  <a:srgbClr val="C00000"/>
                </a:solidFill>
              </a:rPr>
              <a:t>cannot scale </a:t>
            </a:r>
            <a:r>
              <a:rPr lang="en-US" altLang="zh-CN" dirty="0"/>
              <a:t>in Internet</a:t>
            </a:r>
            <a:endParaRPr lang="en-US" altLang="zh-CN" dirty="0"/>
          </a:p>
          <a:p>
            <a:r>
              <a:rPr lang="en-US" altLang="zh-CN" dirty="0"/>
              <a:t>1984, four Berkeley students wrote </a:t>
            </a:r>
            <a:r>
              <a:rPr lang="en-US" altLang="zh-CN" b="1" dirty="0">
                <a:solidFill>
                  <a:srgbClr val="0096FF"/>
                </a:solidFill>
              </a:rPr>
              <a:t>BIND</a:t>
            </a:r>
            <a:endParaRPr lang="en-US" altLang="zh-CN" b="1" dirty="0">
              <a:solidFill>
                <a:srgbClr val="0096FF"/>
              </a:solidFill>
            </a:endParaRPr>
          </a:p>
          <a:p>
            <a:pPr lvl="1"/>
            <a:r>
              <a:rPr lang="en-US" altLang="zh-CN" b="1" dirty="0">
                <a:solidFill>
                  <a:srgbClr val="0096FF"/>
                </a:solidFill>
              </a:rPr>
              <a:t>B</a:t>
            </a:r>
            <a:r>
              <a:rPr lang="en-US" altLang="zh-CN" dirty="0"/>
              <a:t>erkeley </a:t>
            </a:r>
            <a:r>
              <a:rPr lang="en-US" altLang="zh-CN" b="1" dirty="0">
                <a:solidFill>
                  <a:srgbClr val="0096FF"/>
                </a:solidFill>
              </a:rPr>
              <a:t>I</a:t>
            </a:r>
            <a:r>
              <a:rPr lang="en-US" altLang="zh-CN" dirty="0"/>
              <a:t>nternet </a:t>
            </a:r>
            <a:r>
              <a:rPr lang="en-US" altLang="zh-CN" b="1" dirty="0">
                <a:solidFill>
                  <a:srgbClr val="0096FF"/>
                </a:solidFill>
              </a:rPr>
              <a:t>N</a:t>
            </a:r>
            <a:r>
              <a:rPr lang="en-US" altLang="zh-CN" dirty="0"/>
              <a:t>ame </a:t>
            </a:r>
            <a:r>
              <a:rPr lang="en-US" altLang="zh-CN" b="1" dirty="0">
                <a:solidFill>
                  <a:srgbClr val="0096FF"/>
                </a:solidFill>
              </a:rPr>
              <a:t>D</a:t>
            </a:r>
            <a:r>
              <a:rPr lang="en-US" altLang="zh-CN" dirty="0"/>
              <a:t>omain</a:t>
            </a:r>
            <a:endParaRPr lang="en-US" altLang="zh-CN" dirty="0"/>
          </a:p>
          <a:p>
            <a:pPr lvl="1"/>
            <a:r>
              <a:rPr lang="en-US" altLang="zh-CN" dirty="0"/>
              <a:t>Still the dominant DNS software in use</a:t>
            </a:r>
            <a:endParaRPr lang="en-US" altLang="zh-CN" dirty="0"/>
          </a:p>
          <a:p>
            <a:endParaRPr lang="zh-CN" altLang="en-US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Distributing Responsibility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The binding</a:t>
            </a:r>
            <a:endParaRPr lang="en-US" altLang="zh-CN" dirty="0"/>
          </a:p>
          <a:p>
            <a:pPr lvl="1"/>
            <a:r>
              <a:rPr lang="en-US" altLang="zh-CN" dirty="0"/>
              <a:t>Too large to be stored on a single machine</a:t>
            </a:r>
            <a:endParaRPr lang="en-US" altLang="zh-CN" dirty="0"/>
          </a:p>
          <a:p>
            <a:pPr lvl="1"/>
            <a:r>
              <a:rPr lang="en-US" altLang="zh-CN" dirty="0"/>
              <a:t>Thus, the data are stored on many machines</a:t>
            </a:r>
            <a:endParaRPr lang="en-US" altLang="zh-CN" dirty="0"/>
          </a:p>
          <a:p>
            <a:pPr lvl="2"/>
            <a:r>
              <a:rPr lang="en-US" altLang="zh-CN" sz="1600" dirty="0"/>
              <a:t>As known as "</a:t>
            </a:r>
            <a:r>
              <a:rPr lang="en-US" altLang="zh-CN" sz="1600" b="1" dirty="0">
                <a:solidFill>
                  <a:srgbClr val="0096FF"/>
                </a:solidFill>
              </a:rPr>
              <a:t>name servers</a:t>
            </a:r>
            <a:r>
              <a:rPr lang="en-US" altLang="zh-CN" sz="1600" dirty="0"/>
              <a:t>"</a:t>
            </a:r>
            <a:endParaRPr lang="en-US" altLang="zh-CN" sz="1600" dirty="0"/>
          </a:p>
          <a:p>
            <a:r>
              <a:rPr lang="en-US" altLang="zh-CN" dirty="0"/>
              <a:t>How to know which name server has a particular binding?</a:t>
            </a:r>
            <a:endParaRPr lang="en-US" altLang="zh-CN" dirty="0"/>
          </a:p>
          <a:p>
            <a:pPr lvl="1"/>
            <a:r>
              <a:rPr lang="en-US" altLang="zh-CN" dirty="0"/>
              <a:t>Solution: structure the hostname</a:t>
            </a:r>
            <a:endParaRPr lang="en-US" altLang="zh-CN" dirty="0"/>
          </a:p>
          <a:p>
            <a:pPr lvl="1"/>
            <a:r>
              <a:rPr lang="en-US" altLang="zh-CN" dirty="0"/>
              <a:t>Names have a hierarchy, e.g., </a:t>
            </a:r>
            <a:r>
              <a:rPr lang="en-US" altLang="zh-CN" i="1" dirty="0">
                <a:solidFill>
                  <a:srgbClr val="0096FF"/>
                </a:solidFill>
              </a:rPr>
              <a:t>com</a:t>
            </a:r>
            <a:r>
              <a:rPr lang="en-US" altLang="zh-CN" dirty="0"/>
              <a:t>, </a:t>
            </a:r>
            <a:r>
              <a:rPr lang="en-US" altLang="zh-CN" i="1" dirty="0">
                <a:solidFill>
                  <a:srgbClr val="0096FF"/>
                </a:solidFill>
              </a:rPr>
              <a:t>net</a:t>
            </a:r>
            <a:r>
              <a:rPr lang="en-US" altLang="zh-CN" dirty="0"/>
              <a:t>, </a:t>
            </a:r>
            <a:r>
              <a:rPr lang="en-US" altLang="zh-CN" i="1" dirty="0" err="1">
                <a:solidFill>
                  <a:srgbClr val="0096FF"/>
                </a:solidFill>
              </a:rPr>
              <a:t>gov</a:t>
            </a:r>
            <a:r>
              <a:rPr lang="en-US" altLang="zh-CN" dirty="0"/>
              <a:t>, correspond to "</a:t>
            </a:r>
            <a:r>
              <a:rPr lang="en-US" altLang="zh-CN" b="1" dirty="0">
                <a:solidFill>
                  <a:srgbClr val="0096FF"/>
                </a:solidFill>
              </a:rPr>
              <a:t>zones</a:t>
            </a:r>
            <a:r>
              <a:rPr lang="en-US" altLang="zh-CN" dirty="0"/>
              <a:t>"</a:t>
            </a:r>
            <a:endParaRPr lang="en-US" altLang="zh-CN" dirty="0"/>
          </a:p>
          <a:p>
            <a:pPr lvl="1"/>
            <a:r>
              <a:rPr lang="en-US" altLang="zh-CN" dirty="0"/>
              <a:t>Zones are mapped to name servers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Name Servers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The root zone</a:t>
            </a:r>
            <a:endParaRPr lang="en-US" altLang="zh-CN" dirty="0"/>
          </a:p>
          <a:p>
            <a:pPr lvl="1"/>
            <a:r>
              <a:rPr lang="en-US" altLang="zh-CN" dirty="0"/>
              <a:t>Maintained by </a:t>
            </a:r>
            <a:r>
              <a:rPr lang="en-US" altLang="zh-CN" b="1" u="sng" dirty="0"/>
              <a:t>ICANN</a:t>
            </a:r>
            <a:r>
              <a:rPr lang="en-US" altLang="zh-CN" dirty="0"/>
              <a:t>, non-profit</a:t>
            </a:r>
            <a:endParaRPr lang="en-US" altLang="zh-CN" dirty="0"/>
          </a:p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0096FF"/>
                </a:solidFill>
              </a:rPr>
              <a:t>".com" </a:t>
            </a:r>
            <a:r>
              <a:rPr lang="en-US" altLang="zh-CN" dirty="0"/>
              <a:t>zone</a:t>
            </a:r>
            <a:endParaRPr lang="en-US" altLang="zh-CN" dirty="0"/>
          </a:p>
          <a:p>
            <a:pPr lvl="1"/>
            <a:r>
              <a:rPr lang="en-US" altLang="zh-CN" dirty="0"/>
              <a:t>Maintained by </a:t>
            </a:r>
            <a:r>
              <a:rPr lang="en-US" altLang="zh-CN" b="1" u="sng" dirty="0"/>
              <a:t>VeriSign</a:t>
            </a:r>
            <a:r>
              <a:rPr lang="en-US" altLang="zh-CN" dirty="0"/>
              <a:t>, add for money</a:t>
            </a:r>
            <a:endParaRPr lang="en-US" altLang="zh-CN" dirty="0"/>
          </a:p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0096FF"/>
                </a:solidFill>
              </a:rPr>
              <a:t>".</a:t>
            </a:r>
            <a:r>
              <a:rPr lang="en-US" altLang="zh-CN" dirty="0" err="1">
                <a:solidFill>
                  <a:srgbClr val="0096FF"/>
                </a:solidFill>
              </a:rPr>
              <a:t>sjtu.edu.cn</a:t>
            </a:r>
            <a:r>
              <a:rPr lang="en-US" altLang="zh-CN" dirty="0">
                <a:solidFill>
                  <a:srgbClr val="0096FF"/>
                </a:solidFill>
              </a:rPr>
              <a:t>" </a:t>
            </a:r>
            <a:r>
              <a:rPr lang="en-US" altLang="zh-CN" dirty="0"/>
              <a:t>zone</a:t>
            </a:r>
            <a:endParaRPr lang="en-US" altLang="zh-CN" dirty="0"/>
          </a:p>
          <a:p>
            <a:pPr lvl="1"/>
            <a:r>
              <a:rPr lang="en-US" altLang="zh-CN" dirty="0"/>
              <a:t>Maintained by </a:t>
            </a:r>
            <a:r>
              <a:rPr lang="en-US" altLang="zh-CN" b="1" u="sng" dirty="0"/>
              <a:t>SJTU</a:t>
            </a:r>
            <a:endParaRPr lang="zh-CN" altLang="en-US" b="1" u="sng" dirty="0"/>
          </a:p>
        </p:txBody>
      </p:sp>
      <p:pic>
        <p:nvPicPr>
          <p:cNvPr id="1034" name="Picture 10" descr="http://blogs-images.forbes.com/erikkain/files/2012/02/verisign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815" y="2608727"/>
            <a:ext cx="2040161" cy="1256885"/>
          </a:xfrm>
          <a:prstGeom prst="rect">
            <a:avLst/>
          </a:prstGeom>
          <a:noFill/>
        </p:spPr>
      </p:pic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DNS Hierarchy (a partial view)</a:t>
            </a:r>
            <a:endParaRPr lang="zh-CN" altLang="en-US" dirty="0">
              <a:ea typeface="等线" panose="0201060003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68" y="1129308"/>
            <a:ext cx="7950200" cy="4114800"/>
          </a:xfrm>
          <a:prstGeom prst="rect">
            <a:avLst/>
          </a:prstGeom>
        </p:spPr>
      </p:pic>
      <p:sp>
        <p:nvSpPr>
          <p:cNvPr id="4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DNS Look-up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972271"/>
          </a:xfrm>
        </p:spPr>
        <p:txBody>
          <a:bodyPr>
            <a:normAutofit/>
          </a:bodyPr>
          <a:lstStyle/>
          <a:p>
            <a:r>
              <a:rPr lang="en-US" altLang="zh-CN" dirty="0"/>
              <a:t>Example: lookup IP of </a:t>
            </a:r>
            <a:r>
              <a:rPr lang="en-US" altLang="zh-CN" dirty="0">
                <a:solidFill>
                  <a:srgbClr val="0096FF"/>
                </a:solidFill>
              </a:rPr>
              <a:t>"</a:t>
            </a:r>
            <a:r>
              <a:rPr lang="en-US" altLang="zh-CN" dirty="0" err="1">
                <a:solidFill>
                  <a:srgbClr val="0096FF"/>
                </a:solidFill>
              </a:rPr>
              <a:t>ipads.se.sjtu.edu.cn</a:t>
            </a:r>
            <a:r>
              <a:rPr lang="en-US" altLang="zh-CN" dirty="0">
                <a:solidFill>
                  <a:srgbClr val="0096FF"/>
                </a:solidFill>
              </a:rPr>
              <a:t>"</a:t>
            </a:r>
            <a:endParaRPr lang="en-US" altLang="zh-CN" dirty="0">
              <a:solidFill>
                <a:srgbClr val="0096FF"/>
              </a:solidFill>
            </a:endParaRPr>
          </a:p>
          <a:p>
            <a:r>
              <a:rPr lang="en-US" altLang="zh-CN" dirty="0"/>
              <a:t>Traverse the name hierarchy from the root</a:t>
            </a:r>
            <a:endParaRPr lang="en-US" altLang="zh-CN" dirty="0"/>
          </a:p>
          <a:p>
            <a:pPr lvl="1"/>
            <a:r>
              <a:rPr lang="en-US" altLang="zh-CN" dirty="0"/>
              <a:t>The root will tell us the "</a:t>
            </a:r>
            <a:r>
              <a:rPr lang="en-US" altLang="zh-CN" dirty="0" err="1">
                <a:solidFill>
                  <a:srgbClr val="0096FF"/>
                </a:solidFill>
              </a:rPr>
              <a:t>cn</a:t>
            </a:r>
            <a:r>
              <a:rPr lang="en-US" altLang="zh-CN" dirty="0"/>
              <a:t>" name server IP,</a:t>
            </a:r>
            <a:endParaRPr lang="en-US" altLang="zh-CN" dirty="0"/>
          </a:p>
          <a:p>
            <a:pPr lvl="1"/>
            <a:r>
              <a:rPr lang="en-US" altLang="zh-CN" dirty="0"/>
              <a:t>which will tell us the "</a:t>
            </a:r>
            <a:r>
              <a:rPr lang="en-US" altLang="zh-CN" dirty="0" err="1">
                <a:solidFill>
                  <a:srgbClr val="0096FF"/>
                </a:solidFill>
              </a:rPr>
              <a:t>edu.cn</a:t>
            </a:r>
            <a:r>
              <a:rPr lang="en-US" altLang="zh-CN" dirty="0"/>
              <a:t>" name server IP,</a:t>
            </a:r>
            <a:endParaRPr lang="en-US" altLang="zh-CN" dirty="0"/>
          </a:p>
          <a:p>
            <a:pPr lvl="1"/>
            <a:r>
              <a:rPr lang="en-US" altLang="zh-CN" dirty="0"/>
              <a:t>which will tell us the "</a:t>
            </a:r>
            <a:r>
              <a:rPr lang="en-US" altLang="zh-CN" dirty="0" err="1">
                <a:solidFill>
                  <a:srgbClr val="0096FF"/>
                </a:solidFill>
              </a:rPr>
              <a:t>sjtu.edu.cn</a:t>
            </a:r>
            <a:r>
              <a:rPr lang="en-US" altLang="zh-CN" dirty="0"/>
              <a:t>" name server IP,</a:t>
            </a:r>
            <a:endParaRPr lang="en-US" altLang="zh-CN" dirty="0"/>
          </a:p>
          <a:p>
            <a:pPr lvl="1"/>
            <a:r>
              <a:rPr lang="en-US" altLang="zh-CN" dirty="0"/>
              <a:t>which will tell us the "</a:t>
            </a:r>
            <a:r>
              <a:rPr lang="en-US" altLang="zh-CN" dirty="0" err="1">
                <a:solidFill>
                  <a:srgbClr val="0096FF"/>
                </a:solidFill>
              </a:rPr>
              <a:t>se.sjtu.edu.cn</a:t>
            </a:r>
            <a:r>
              <a:rPr lang="en-US" altLang="zh-CN" dirty="0"/>
              <a:t>" name server IP,</a:t>
            </a:r>
            <a:endParaRPr lang="en-US" altLang="zh-CN" dirty="0"/>
          </a:p>
          <a:p>
            <a:pPr lvl="1"/>
            <a:r>
              <a:rPr lang="en-US" altLang="zh-CN" dirty="0"/>
              <a:t>which finally tells us the "</a:t>
            </a:r>
            <a:r>
              <a:rPr lang="en-US" altLang="zh-CN" dirty="0" err="1">
                <a:solidFill>
                  <a:srgbClr val="0096FF"/>
                </a:solidFill>
              </a:rPr>
              <a:t>ipads.se.sjtu.edu.cn</a:t>
            </a:r>
            <a:r>
              <a:rPr lang="en-US" altLang="zh-CN" dirty="0"/>
              <a:t>" IP</a:t>
            </a:r>
            <a:endParaRPr lang="en-US" altLang="zh-CN" dirty="0"/>
          </a:p>
          <a:p>
            <a:r>
              <a:rPr lang="en-US" altLang="zh-CN" dirty="0"/>
              <a:t>Such algorithm is called </a:t>
            </a:r>
            <a:r>
              <a:rPr lang="en-US" altLang="zh-CN" b="1" u="sng" dirty="0"/>
              <a:t>delegation</a:t>
            </a:r>
            <a:endParaRPr lang="zh-CN" altLang="en-US" b="1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DNS Lookup</a:t>
            </a:r>
            <a:endParaRPr lang="zh-CN" altLang="en-US" b="0" dirty="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00" y="1129308"/>
            <a:ext cx="3708400" cy="4152900"/>
          </a:xfrm>
          <a:prstGeom prst="rect">
            <a:avLst/>
          </a:prstGeom>
        </p:spPr>
      </p:pic>
      <p:sp>
        <p:nvSpPr>
          <p:cNvPr id="2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DNS Lookup</a:t>
            </a:r>
            <a:endParaRPr lang="zh-CN" altLang="en-US" dirty="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00" y="1129308"/>
            <a:ext cx="3708400" cy="41529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28713"/>
            <a:ext cx="6692900" cy="4152900"/>
          </a:xfrm>
          <a:prstGeom prst="rect">
            <a:avLst/>
          </a:prstGeom>
        </p:spPr>
      </p:pic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DNS Lookup</a:t>
            </a:r>
            <a:endParaRPr lang="zh-CN" altLang="en-US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00" y="1129308"/>
            <a:ext cx="3708400" cy="4152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0018"/>
            <a:ext cx="7112000" cy="4152900"/>
          </a:xfrm>
          <a:prstGeom prst="rect">
            <a:avLst/>
          </a:prstGeom>
        </p:spPr>
      </p:pic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>
                <a:latin typeface="+mn-ea"/>
                <a:ea typeface="+mn-ea"/>
              </a:rPr>
            </a:fld>
            <a:endParaRPr lang="zh-CN" altLang="en-US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DNS Lookup</a:t>
            </a:r>
            <a:endParaRPr lang="zh-CN" altLang="en-US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00" y="1129308"/>
            <a:ext cx="3708400" cy="41529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46" y="1128713"/>
            <a:ext cx="7632700" cy="4152900"/>
          </a:xfrm>
          <a:prstGeom prst="rect">
            <a:avLst/>
          </a:prstGeom>
        </p:spPr>
      </p:pic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>
                <a:latin typeface="+mn-ea"/>
                <a:ea typeface="+mn-ea"/>
              </a:rPr>
            </a:fld>
            <a:endParaRPr lang="zh-CN" altLang="en-US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DNS Lookup</a:t>
            </a:r>
            <a:endParaRPr lang="zh-CN" altLang="en-US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00" y="1129308"/>
            <a:ext cx="3708400" cy="41529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29308"/>
            <a:ext cx="7772400" cy="4152900"/>
          </a:xfrm>
          <a:prstGeom prst="rect">
            <a:avLst/>
          </a:prstGeom>
        </p:spPr>
      </p:pic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>
                <a:latin typeface="+mn-ea"/>
                <a:ea typeface="+mn-ea"/>
              </a:rPr>
            </a:fld>
            <a:endParaRPr lang="zh-CN" altLang="en-US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Context in DNS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Names in DNS are </a:t>
            </a:r>
            <a:r>
              <a:rPr lang="en-US" altLang="zh-CN" b="1" dirty="0">
                <a:solidFill>
                  <a:srgbClr val="0096FF"/>
                </a:solidFill>
              </a:rPr>
              <a:t>global</a:t>
            </a:r>
            <a:r>
              <a:rPr lang="en-US" altLang="zh-CN" dirty="0"/>
              <a:t> (context-free)</a:t>
            </a:r>
            <a:endParaRPr lang="en-US" altLang="zh-CN" dirty="0"/>
          </a:p>
          <a:p>
            <a:pPr lvl="1"/>
            <a:r>
              <a:rPr lang="en-US" altLang="zh-CN" dirty="0"/>
              <a:t>A hostname means the same thing everywhere in DNS</a:t>
            </a:r>
            <a:endParaRPr lang="en-US" altLang="zh-CN" dirty="0"/>
          </a:p>
          <a:p>
            <a:r>
              <a:rPr lang="en-US" altLang="zh-CN" dirty="0"/>
              <a:t>Actually, it should be "</a:t>
            </a:r>
            <a:r>
              <a:rPr lang="en-US" altLang="zh-CN" dirty="0" err="1"/>
              <a:t>ipads.se.sjtu.edu.cn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en-US" altLang="zh-CN" dirty="0"/>
              <a:t>"</a:t>
            </a:r>
            <a:endParaRPr lang="en-US" altLang="zh-CN" dirty="0"/>
          </a:p>
          <a:p>
            <a:pPr lvl="1"/>
            <a:r>
              <a:rPr lang="en-US" altLang="zh-CN" dirty="0"/>
              <a:t>A hostname is a list of domain names concatenated with dots</a:t>
            </a:r>
            <a:endParaRPr lang="en-US" altLang="zh-CN" dirty="0"/>
          </a:p>
          <a:p>
            <a:pPr lvl="1"/>
            <a:r>
              <a:rPr lang="en-US" altLang="zh-CN" dirty="0"/>
              <a:t>The root domain is unnamed, i.e., "." + blank</a:t>
            </a:r>
            <a:endParaRPr lang="en-US" altLang="zh-CN" dirty="0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5292080" y="2281436"/>
            <a:ext cx="360040" cy="0"/>
          </a:xfrm>
          <a:prstGeom prst="straightConnector1">
            <a:avLst/>
          </a:prstGeom>
          <a:ln w="38100">
            <a:solidFill>
              <a:srgbClr val="FF2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Fault Tolerant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Each zone can have </a:t>
            </a:r>
            <a:r>
              <a:rPr lang="en-US" altLang="zh-CN" b="1" dirty="0">
                <a:solidFill>
                  <a:srgbClr val="0096FF"/>
                </a:solidFill>
              </a:rPr>
              <a:t>multiple</a:t>
            </a:r>
            <a:r>
              <a:rPr lang="en-US" altLang="zh-CN" dirty="0"/>
              <a:t> name servers</a:t>
            </a:r>
            <a:endParaRPr lang="en-US" altLang="zh-CN" dirty="0"/>
          </a:p>
          <a:p>
            <a:pPr lvl="1"/>
            <a:r>
              <a:rPr lang="en-US" altLang="zh-CN" dirty="0"/>
              <a:t>A </a:t>
            </a:r>
            <a:r>
              <a:rPr lang="en-US" altLang="zh-CN" b="1" dirty="0"/>
              <a:t>delegation</a:t>
            </a:r>
            <a:r>
              <a:rPr lang="en-US" altLang="zh-CN" dirty="0"/>
              <a:t> usually contains a list of name servers</a:t>
            </a:r>
            <a:endParaRPr lang="en-US" altLang="zh-CN" dirty="0"/>
          </a:p>
          <a:p>
            <a:pPr lvl="1"/>
            <a:r>
              <a:rPr lang="en-US" altLang="zh-CN" dirty="0"/>
              <a:t>If one name server is down, others can be used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Three Enhancements on Look-up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The initial DNS request can go to any name server, not just the root server</a:t>
            </a:r>
            <a:endParaRPr lang="en-US" altLang="zh-CN" dirty="0"/>
          </a:p>
          <a:p>
            <a:pPr lvl="1"/>
            <a:r>
              <a:rPr lang="en-US" altLang="zh-CN" dirty="0"/>
              <a:t>Even on your own machine: </a:t>
            </a:r>
            <a:r>
              <a:rPr lang="en-US" altLang="zh-CN" dirty="0">
                <a:solidFill>
                  <a:srgbClr val="0096FF"/>
                </a:solidFill>
              </a:rPr>
              <a:t>/</a:t>
            </a:r>
            <a:r>
              <a:rPr lang="en-US" altLang="zh-CN" dirty="0" err="1">
                <a:solidFill>
                  <a:srgbClr val="0096FF"/>
                </a:solidFill>
              </a:rPr>
              <a:t>etc</a:t>
            </a:r>
            <a:r>
              <a:rPr lang="en-US" altLang="zh-CN" dirty="0">
                <a:solidFill>
                  <a:srgbClr val="0096FF"/>
                </a:solidFill>
              </a:rPr>
              <a:t>/hosts</a:t>
            </a:r>
            <a:endParaRPr lang="en-US" altLang="zh-CN" dirty="0">
              <a:solidFill>
                <a:srgbClr val="0096FF"/>
              </a:solidFill>
            </a:endParaRPr>
          </a:p>
          <a:p>
            <a:pPr lvl="1"/>
            <a:r>
              <a:rPr lang="en-US" altLang="zh-CN" dirty="0"/>
              <a:t>You can specific name servers in </a:t>
            </a:r>
            <a:r>
              <a:rPr lang="en-US" altLang="zh-CN" dirty="0">
                <a:solidFill>
                  <a:srgbClr val="0096FF"/>
                </a:solidFill>
              </a:rPr>
              <a:t>/</a:t>
            </a:r>
            <a:r>
              <a:rPr lang="en-US" altLang="zh-CN" dirty="0" err="1">
                <a:solidFill>
                  <a:srgbClr val="0096FF"/>
                </a:solidFill>
              </a:rPr>
              <a:t>etc</a:t>
            </a:r>
            <a:r>
              <a:rPr lang="en-US" altLang="zh-CN" dirty="0">
                <a:solidFill>
                  <a:srgbClr val="0096FF"/>
                </a:solidFill>
              </a:rPr>
              <a:t>/</a:t>
            </a:r>
            <a:r>
              <a:rPr lang="en-US" altLang="zh-CN" dirty="0" err="1">
                <a:solidFill>
                  <a:srgbClr val="0096FF"/>
                </a:solidFill>
              </a:rPr>
              <a:t>resolv.conf</a:t>
            </a:r>
            <a:endParaRPr lang="en-US" altLang="zh-CN" dirty="0">
              <a:solidFill>
                <a:srgbClr val="0096FF"/>
              </a:solidFill>
            </a:endParaRPr>
          </a:p>
          <a:p>
            <a:pPr lvl="1"/>
            <a:r>
              <a:rPr lang="en-US" altLang="zh-CN" dirty="0"/>
              <a:t>If no record, just return address of the root server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C00000"/>
                </a:solidFill>
              </a:rPr>
              <a:t>Q</a:t>
            </a:r>
            <a:r>
              <a:rPr lang="en-US" altLang="zh-CN" dirty="0">
                <a:solidFill>
                  <a:srgbClr val="C00000"/>
                </a:solidFill>
              </a:rPr>
              <a:t>: what are the benefits?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Three Enhancements on Look-up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 Recursion</a:t>
            </a:r>
            <a:endParaRPr lang="en-US" altLang="zh-CN" dirty="0"/>
          </a:p>
          <a:p>
            <a:pPr lvl="1"/>
            <a:r>
              <a:rPr lang="en-US" altLang="zh-CN" dirty="0"/>
              <a:t>A client asks a name server "</a:t>
            </a:r>
            <a:r>
              <a:rPr lang="en-US" altLang="zh-CN" dirty="0" err="1">
                <a:solidFill>
                  <a:srgbClr val="0096FF"/>
                </a:solidFill>
              </a:rPr>
              <a:t>www.baidu.com</a:t>
            </a:r>
            <a:r>
              <a:rPr lang="en-US" altLang="zh-CN" dirty="0"/>
              <a:t>"</a:t>
            </a:r>
            <a:endParaRPr lang="en-US" altLang="zh-CN" dirty="0"/>
          </a:p>
          <a:p>
            <a:pPr lvl="1"/>
            <a:r>
              <a:rPr lang="en-US" altLang="zh-CN" dirty="0"/>
              <a:t>The name server </a:t>
            </a:r>
            <a:r>
              <a:rPr lang="en-US" altLang="zh-CN" b="1" dirty="0"/>
              <a:t>does all the lookup </a:t>
            </a:r>
            <a:r>
              <a:rPr lang="en-US" altLang="zh-CN" dirty="0"/>
              <a:t>through the tree and return the IP of </a:t>
            </a:r>
            <a:r>
              <a:rPr lang="en-US" altLang="zh-CN" dirty="0">
                <a:solidFill>
                  <a:srgbClr val="0096FF"/>
                </a:solidFill>
              </a:rPr>
              <a:t>Baidu</a:t>
            </a:r>
            <a:r>
              <a:rPr lang="en-US" altLang="zh-CN" dirty="0"/>
              <a:t> to the client</a:t>
            </a:r>
            <a:endParaRPr lang="en-US" altLang="zh-CN" dirty="0"/>
          </a:p>
          <a:p>
            <a:pPr lvl="1"/>
            <a:r>
              <a:rPr lang="en-US" altLang="zh-CN" dirty="0"/>
              <a:t>Usually, a name server has a better network connection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DNS Request Process</a:t>
            </a:r>
            <a:endParaRPr lang="en-US" altLang="zh-CN" dirty="0"/>
          </a:p>
        </p:txBody>
      </p:sp>
      <p:sp>
        <p:nvSpPr>
          <p:cNvPr id="6" name="Rectangle 5"/>
          <p:cNvSpPr/>
          <p:nvPr/>
        </p:nvSpPr>
        <p:spPr bwMode="auto">
          <a:xfrm>
            <a:off x="1272084" y="4254500"/>
            <a:ext cx="2730500" cy="6985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Name client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47108" name="Straight Arrow Connector 12"/>
          <p:cNvCxnSpPr>
            <a:cxnSpLocks noChangeShapeType="1"/>
          </p:cNvCxnSpPr>
          <p:nvPr/>
        </p:nvCxnSpPr>
        <p:spPr bwMode="auto">
          <a:xfrm flipV="1">
            <a:off x="1462584" y="2349500"/>
            <a:ext cx="0" cy="1905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cxnSp>
        <p:nvCxnSpPr>
          <p:cNvPr id="47109" name="Straight Arrow Connector 13"/>
          <p:cNvCxnSpPr>
            <a:cxnSpLocks noChangeShapeType="1"/>
          </p:cNvCxnSpPr>
          <p:nvPr/>
        </p:nvCxnSpPr>
        <p:spPr bwMode="auto">
          <a:xfrm>
            <a:off x="1716584" y="2413000"/>
            <a:ext cx="0" cy="184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cxnSp>
        <p:nvCxnSpPr>
          <p:cNvPr id="47110" name="Straight Arrow Connector 16"/>
          <p:cNvCxnSpPr>
            <a:cxnSpLocks noChangeShapeType="1"/>
          </p:cNvCxnSpPr>
          <p:nvPr/>
        </p:nvCxnSpPr>
        <p:spPr bwMode="auto">
          <a:xfrm flipV="1">
            <a:off x="2351584" y="2984500"/>
            <a:ext cx="0" cy="1270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cxnSp>
        <p:nvCxnSpPr>
          <p:cNvPr id="47111" name="Straight Arrow Connector 22"/>
          <p:cNvCxnSpPr>
            <a:cxnSpLocks noChangeShapeType="1"/>
          </p:cNvCxnSpPr>
          <p:nvPr/>
        </p:nvCxnSpPr>
        <p:spPr bwMode="auto">
          <a:xfrm>
            <a:off x="2605584" y="3048000"/>
            <a:ext cx="0" cy="1206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cxnSp>
        <p:nvCxnSpPr>
          <p:cNvPr id="47112" name="Straight Arrow Connector 25"/>
          <p:cNvCxnSpPr>
            <a:cxnSpLocks noChangeShapeType="1"/>
          </p:cNvCxnSpPr>
          <p:nvPr/>
        </p:nvCxnSpPr>
        <p:spPr bwMode="auto">
          <a:xfrm flipV="1">
            <a:off x="3304084" y="3556000"/>
            <a:ext cx="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cxnSp>
        <p:nvCxnSpPr>
          <p:cNvPr id="47113" name="Straight Arrow Connector 27"/>
          <p:cNvCxnSpPr>
            <a:cxnSpLocks noChangeShapeType="1"/>
          </p:cNvCxnSpPr>
          <p:nvPr/>
        </p:nvCxnSpPr>
        <p:spPr bwMode="auto">
          <a:xfrm>
            <a:off x="3558084" y="3619500"/>
            <a:ext cx="0" cy="635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sp>
        <p:nvSpPr>
          <p:cNvPr id="31" name="Rectangle 30"/>
          <p:cNvSpPr/>
          <p:nvPr/>
        </p:nvSpPr>
        <p:spPr bwMode="auto">
          <a:xfrm>
            <a:off x="5222866" y="4254500"/>
            <a:ext cx="2730500" cy="6985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Name client</a:t>
            </a:r>
            <a:endParaRPr lang="en-US" sz="15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5159366" y="1397000"/>
            <a:ext cx="1016000" cy="1016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5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6048366" y="2032000"/>
            <a:ext cx="1016000" cy="1016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335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4" name="Oval 33"/>
          <p:cNvSpPr/>
          <p:nvPr/>
        </p:nvSpPr>
        <p:spPr bwMode="auto">
          <a:xfrm>
            <a:off x="7000866" y="2603500"/>
            <a:ext cx="1016000" cy="1016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165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83908" y="2866761"/>
            <a:ext cx="14605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ns.iss.edu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119" name="Straight Arrow Connector 35"/>
          <p:cNvCxnSpPr>
            <a:cxnSpLocks noChangeShapeType="1"/>
          </p:cNvCxnSpPr>
          <p:nvPr/>
        </p:nvCxnSpPr>
        <p:spPr bwMode="auto">
          <a:xfrm flipV="1">
            <a:off x="5413366" y="2349500"/>
            <a:ext cx="0" cy="1905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cxnSp>
        <p:nvCxnSpPr>
          <p:cNvPr id="47120" name="Straight Arrow Connector 36"/>
          <p:cNvCxnSpPr>
            <a:cxnSpLocks noChangeShapeType="1"/>
          </p:cNvCxnSpPr>
          <p:nvPr/>
        </p:nvCxnSpPr>
        <p:spPr bwMode="auto">
          <a:xfrm>
            <a:off x="5577408" y="2413000"/>
            <a:ext cx="0" cy="184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cxnSp>
        <p:nvCxnSpPr>
          <p:cNvPr id="47121" name="Curved Connector 43"/>
          <p:cNvCxnSpPr>
            <a:cxnSpLocks noChangeShapeType="1"/>
            <a:stCxn id="32" idx="7"/>
            <a:endCxn id="33" idx="0"/>
          </p:cNvCxnSpPr>
          <p:nvPr/>
        </p:nvCxnSpPr>
        <p:spPr bwMode="auto">
          <a:xfrm rot="16200000" flipH="1">
            <a:off x="6048367" y="1524000"/>
            <a:ext cx="486833" cy="529167"/>
          </a:xfrm>
          <a:prstGeom prst="curvedConnector3">
            <a:avLst>
              <a:gd name="adj1" fmla="val -17181"/>
            </a:avLst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cxnSp>
        <p:nvCxnSpPr>
          <p:cNvPr id="47122" name="Curved Connector 45"/>
          <p:cNvCxnSpPr>
            <a:cxnSpLocks noChangeShapeType="1"/>
            <a:stCxn id="33" idx="7"/>
            <a:endCxn id="34" idx="0"/>
          </p:cNvCxnSpPr>
          <p:nvPr/>
        </p:nvCxnSpPr>
        <p:spPr bwMode="auto">
          <a:xfrm rot="16200000" flipH="1">
            <a:off x="7000867" y="2095500"/>
            <a:ext cx="423333" cy="592667"/>
          </a:xfrm>
          <a:prstGeom prst="curvedConnector3">
            <a:avLst>
              <a:gd name="adj1" fmla="val -26019"/>
            </a:avLst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cxnSp>
        <p:nvCxnSpPr>
          <p:cNvPr id="47123" name="Curved Connector 49"/>
          <p:cNvCxnSpPr>
            <a:cxnSpLocks noChangeShapeType="1"/>
            <a:stCxn id="34" idx="3"/>
            <a:endCxn id="33" idx="4"/>
          </p:cNvCxnSpPr>
          <p:nvPr/>
        </p:nvCxnSpPr>
        <p:spPr bwMode="auto">
          <a:xfrm rot="5400000" flipH="1">
            <a:off x="6641033" y="2963333"/>
            <a:ext cx="423333" cy="592667"/>
          </a:xfrm>
          <a:prstGeom prst="curvedConnector3">
            <a:avLst>
              <a:gd name="adj1" fmla="val -11412"/>
            </a:avLst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cxnSp>
        <p:nvCxnSpPr>
          <p:cNvPr id="47124" name="Curved Connector 53"/>
          <p:cNvCxnSpPr>
            <a:cxnSpLocks noChangeShapeType="1"/>
            <a:stCxn id="33" idx="3"/>
            <a:endCxn id="32" idx="4"/>
          </p:cNvCxnSpPr>
          <p:nvPr/>
        </p:nvCxnSpPr>
        <p:spPr bwMode="auto">
          <a:xfrm rot="5400000" flipH="1">
            <a:off x="5688533" y="2391833"/>
            <a:ext cx="486833" cy="529167"/>
          </a:xfrm>
          <a:prstGeom prst="curvedConnector3">
            <a:avLst>
              <a:gd name="adj1" fmla="val -4481"/>
            </a:avLst>
          </a:prstGeom>
          <a:noFill/>
          <a:ln w="9525">
            <a:solidFill>
              <a:schemeClr val="tx1"/>
            </a:solidFill>
            <a:round/>
            <a:tailEnd type="stealth" w="med" len="med"/>
          </a:ln>
        </p:spPr>
      </p:cxnSp>
      <p:sp>
        <p:nvSpPr>
          <p:cNvPr id="61" name="TextBox 60"/>
          <p:cNvSpPr txBox="1"/>
          <p:nvPr/>
        </p:nvSpPr>
        <p:spPr>
          <a:xfrm>
            <a:off x="827584" y="3679032"/>
            <a:ext cx="8890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ginger.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Scholar.edu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399084" y="2857501"/>
            <a:ext cx="889000" cy="24622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NS: for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edu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180134" y="3234532"/>
            <a:ext cx="977900" cy="5539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NS: for 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Scholarly.edu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494584" y="3683000"/>
            <a:ext cx="889000" cy="5539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AP: for 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ginger.Scholar.edu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716584" y="3683000"/>
            <a:ext cx="8890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ginger.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Scholar.edu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669084" y="3683000"/>
            <a:ext cx="8890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ginger.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Scholar.edu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831408" y="2349501"/>
            <a:ext cx="14605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names.edu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932040" y="1714501"/>
            <a:ext cx="14605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a.root.net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Oval 71"/>
          <p:cNvSpPr/>
          <p:nvPr/>
        </p:nvSpPr>
        <p:spPr bwMode="auto">
          <a:xfrm>
            <a:off x="1208584" y="1359958"/>
            <a:ext cx="1016000" cy="1016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5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3" name="Oval 72"/>
          <p:cNvSpPr/>
          <p:nvPr/>
        </p:nvSpPr>
        <p:spPr bwMode="auto">
          <a:xfrm>
            <a:off x="2097584" y="1994958"/>
            <a:ext cx="1016000" cy="1016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335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4" name="Oval 73"/>
          <p:cNvSpPr/>
          <p:nvPr/>
        </p:nvSpPr>
        <p:spPr bwMode="auto">
          <a:xfrm>
            <a:off x="3050084" y="2566458"/>
            <a:ext cx="1016000" cy="1016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165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833126" y="2829720"/>
            <a:ext cx="14605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ns.iss.edu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880626" y="2312459"/>
            <a:ext cx="14605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names.edu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91626" y="1677459"/>
            <a:ext cx="14605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a.root.net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74774" y="5152402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Recursion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07704" y="5152402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Non-Recursion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3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/>
      <p:bldP spid="69" grpId="0"/>
      <p:bldP spid="7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Three Enhancements on Look-up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4644" y="1129308"/>
            <a:ext cx="8229600" cy="4260303"/>
          </a:xfrm>
        </p:spPr>
        <p:txBody>
          <a:bodyPr>
            <a:normAutofit/>
          </a:bodyPr>
          <a:lstStyle/>
          <a:p>
            <a:r>
              <a:rPr lang="en-US" altLang="zh-CN" dirty="0"/>
              <a:t>3. Caching</a:t>
            </a:r>
            <a:endParaRPr lang="en-US" altLang="zh-CN" dirty="0"/>
          </a:p>
          <a:p>
            <a:pPr lvl="1"/>
            <a:r>
              <a:rPr lang="en-US" altLang="zh-CN" dirty="0"/>
              <a:t>DNS clients and name servers keep a cache of names</a:t>
            </a:r>
            <a:endParaRPr lang="en-US" altLang="zh-CN" dirty="0"/>
          </a:p>
          <a:p>
            <a:pPr lvl="2"/>
            <a:r>
              <a:rPr lang="en-US" altLang="zh-CN" sz="1600" dirty="0"/>
              <a:t>Your browser will not do two look-ups for one address</a:t>
            </a:r>
            <a:endParaRPr lang="en-US" altLang="zh-CN" sz="1600" dirty="0"/>
          </a:p>
          <a:p>
            <a:pPr lvl="1"/>
            <a:r>
              <a:rPr lang="en-US" altLang="zh-CN" dirty="0"/>
              <a:t>Cache has expire time limit</a:t>
            </a:r>
            <a:endParaRPr lang="en-US" altLang="zh-CN" dirty="0"/>
          </a:p>
          <a:p>
            <a:pPr lvl="2"/>
            <a:r>
              <a:rPr lang="en-US" altLang="zh-CN" sz="1600" dirty="0"/>
              <a:t>Controlled by a time-to-live parameter in the response itself</a:t>
            </a:r>
            <a:endParaRPr lang="en-US" altLang="zh-CN" sz="1600" dirty="0"/>
          </a:p>
          <a:p>
            <a:pPr lvl="2"/>
            <a:r>
              <a:rPr lang="en-US" altLang="zh-CN" sz="1600" dirty="0"/>
              <a:t>E.g., SJTU sets the TTL of </a:t>
            </a:r>
            <a:r>
              <a:rPr lang="en-US" altLang="zh-CN" sz="1600" dirty="0" err="1">
                <a:solidFill>
                  <a:srgbClr val="0096FF"/>
                </a:solidFill>
              </a:rPr>
              <a:t>www.sjtu.edu.cn</a:t>
            </a:r>
            <a:r>
              <a:rPr lang="zh-CN" altLang="en-US" sz="1600" dirty="0">
                <a:solidFill>
                  <a:srgbClr val="0096FF"/>
                </a:solidFill>
              </a:rPr>
              <a:t> </a:t>
            </a:r>
            <a:r>
              <a:rPr lang="en-US" altLang="zh-CN" sz="1600" dirty="0"/>
              <a:t>to</a:t>
            </a:r>
            <a:r>
              <a:rPr lang="zh-CN" altLang="en-US" sz="1600" dirty="0"/>
              <a:t> </a:t>
            </a:r>
            <a:r>
              <a:rPr lang="en-US" altLang="zh-CN" sz="1600" dirty="0"/>
              <a:t>24h</a:t>
            </a:r>
            <a:endParaRPr lang="en-US" altLang="zh-CN" sz="1600" dirty="0"/>
          </a:p>
          <a:p>
            <a:pPr lvl="1"/>
            <a:r>
              <a:rPr lang="en-US" altLang="zh-CN" dirty="0"/>
              <a:t>TTL (Time To Live)</a:t>
            </a:r>
            <a:endParaRPr lang="en-US" altLang="zh-CN" dirty="0"/>
          </a:p>
          <a:p>
            <a:pPr lvl="2"/>
            <a:r>
              <a:rPr lang="en-US" altLang="zh-CN" sz="1600" dirty="0"/>
              <a:t>Long TTL VS. short TTL</a:t>
            </a:r>
            <a:endParaRPr lang="en-US" altLang="zh-CN" sz="1600" dirty="0"/>
          </a:p>
          <a:p>
            <a:pPr lvl="2"/>
            <a:r>
              <a:rPr lang="en-US" altLang="zh-CN" sz="1600" b="1" dirty="0">
                <a:solidFill>
                  <a:srgbClr val="C00000"/>
                </a:solidFill>
              </a:rPr>
              <a:t>Q:</a:t>
            </a:r>
            <a:r>
              <a:rPr lang="en-US" altLang="zh-CN" sz="1600" dirty="0">
                <a:solidFill>
                  <a:srgbClr val="C00000"/>
                </a:solidFill>
              </a:rPr>
              <a:t> what are the tradeoffs?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Combine These Enhancements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If:</a:t>
            </a:r>
            <a:endParaRPr lang="en-US" altLang="zh-CN" dirty="0"/>
          </a:p>
          <a:p>
            <a:pPr lvl="1"/>
            <a:r>
              <a:rPr lang="en-US" altLang="zh-CN" dirty="0"/>
              <a:t>Many machines at SJTU use the SJTU name server for their initial DNS query, and</a:t>
            </a:r>
            <a:endParaRPr lang="en-US" altLang="zh-CN" dirty="0"/>
          </a:p>
          <a:p>
            <a:pPr lvl="1"/>
            <a:r>
              <a:rPr lang="en-US" altLang="zh-CN" dirty="0"/>
              <a:t>The name server offers recursive querying and caching</a:t>
            </a:r>
            <a:endParaRPr lang="en-US" altLang="zh-CN" dirty="0"/>
          </a:p>
          <a:p>
            <a:r>
              <a:rPr lang="en-US" altLang="zh-CN" dirty="0"/>
              <a:t>Then:</a:t>
            </a:r>
            <a:endParaRPr lang="en-US" altLang="zh-CN" dirty="0"/>
          </a:p>
          <a:p>
            <a:pPr lvl="1"/>
            <a:r>
              <a:rPr lang="en-US" altLang="zh-CN" dirty="0"/>
              <a:t>The name server's cache will hold many bindings, and</a:t>
            </a:r>
            <a:endParaRPr lang="en-US" altLang="zh-CN" dirty="0"/>
          </a:p>
          <a:p>
            <a:pPr lvl="1"/>
            <a:r>
              <a:rPr lang="en-US" altLang="zh-CN" dirty="0"/>
              <a:t>Performance benefits from this large cache</a:t>
            </a:r>
            <a:endParaRPr lang="en-US" altLang="zh-CN" dirty="0"/>
          </a:p>
          <a:p>
            <a:pPr lvl="1"/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Other Features of DNS</a:t>
            </a:r>
            <a:endParaRPr lang="en-US" altLang="zh-CN" dirty="0"/>
          </a:p>
        </p:txBody>
      </p:sp>
      <p:sp>
        <p:nvSpPr>
          <p:cNvPr id="51202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At least two identical replica servers</a:t>
            </a:r>
            <a:endParaRPr lang="en-US" altLang="zh-CN" dirty="0"/>
          </a:p>
          <a:p>
            <a:pPr lvl="1"/>
            <a:r>
              <a:rPr lang="en-US" altLang="zh-CN" b="1" dirty="0"/>
              <a:t>80 replicas </a:t>
            </a:r>
            <a:r>
              <a:rPr lang="en-US" altLang="zh-CN" dirty="0"/>
              <a:t>of the root name server in 2008</a:t>
            </a:r>
            <a:endParaRPr lang="en-US" altLang="zh-CN" dirty="0"/>
          </a:p>
          <a:p>
            <a:pPr lvl="1"/>
            <a:r>
              <a:rPr lang="en-US" altLang="zh-CN" dirty="0"/>
              <a:t>Replicas are placed separated around the world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4176" y="2425452"/>
            <a:ext cx="5975648" cy="2964508"/>
          </a:xfrm>
          <a:prstGeom prst="rect">
            <a:avLst/>
          </a:prstGeom>
        </p:spPr>
      </p:pic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Other Features of DNS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Organization's name server (e.g., SJTU)</a:t>
            </a:r>
            <a:endParaRPr lang="en-US" altLang="zh-CN" dirty="0"/>
          </a:p>
          <a:p>
            <a:pPr lvl="1"/>
            <a:r>
              <a:rPr lang="en-US" altLang="zh-CN" b="1" dirty="0"/>
              <a:t>Several replicas </a:t>
            </a:r>
            <a:r>
              <a:rPr lang="en-US" altLang="zh-CN" dirty="0"/>
              <a:t>in campus</a:t>
            </a:r>
            <a:endParaRPr lang="en-US" altLang="zh-CN" dirty="0"/>
          </a:p>
          <a:p>
            <a:pPr lvl="2"/>
            <a:r>
              <a:rPr lang="en-US" altLang="zh-CN" sz="1600" dirty="0"/>
              <a:t>To enable communications within the organization</a:t>
            </a:r>
            <a:endParaRPr lang="en-US" altLang="zh-CN" sz="1600" dirty="0"/>
          </a:p>
          <a:p>
            <a:pPr lvl="1"/>
            <a:r>
              <a:rPr lang="en-US" altLang="zh-CN" dirty="0"/>
              <a:t>At least one </a:t>
            </a:r>
            <a:r>
              <a:rPr lang="en-US" altLang="zh-CN" b="1" dirty="0"/>
              <a:t>out of the campus</a:t>
            </a:r>
            <a:endParaRPr lang="en-US" altLang="zh-CN" b="1" dirty="0"/>
          </a:p>
          <a:p>
            <a:pPr lvl="2"/>
            <a:r>
              <a:rPr lang="en-US" altLang="zh-CN" sz="1600" dirty="0"/>
              <a:t>To validate the address for outside world</a:t>
            </a:r>
            <a:endParaRPr lang="en-US" altLang="zh-CN" sz="1600" dirty="0"/>
          </a:p>
          <a:p>
            <a:endParaRPr kumimoji="1"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Name Discovery in DNS</a:t>
            </a:r>
            <a:r>
              <a:rPr lang="zh-CN" altLang="en-US" dirty="0"/>
              <a:t> </a:t>
            </a:r>
            <a:r>
              <a:rPr lang="en-US" altLang="zh-CN" dirty="0"/>
              <a:t>(at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place)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 client must discover the name of a nearby name server</a:t>
            </a:r>
            <a:endParaRPr lang="en-US" altLang="zh-CN" dirty="0"/>
          </a:p>
          <a:p>
            <a:pPr lvl="1"/>
            <a:r>
              <a:rPr lang="en-US" altLang="zh-CN" dirty="0"/>
              <a:t>Name discovery broadcast to ISP at first time</a:t>
            </a:r>
            <a:endParaRPr lang="en-US" altLang="zh-CN" dirty="0"/>
          </a:p>
          <a:p>
            <a:pPr lvl="1"/>
            <a:r>
              <a:rPr lang="en-US" altLang="zh-CN" dirty="0"/>
              <a:t>Ask network manager</a:t>
            </a:r>
            <a:endParaRPr lang="en-US" altLang="zh-CN" dirty="0"/>
          </a:p>
          <a:p>
            <a:pPr lvl="1"/>
            <a:r>
              <a:rPr lang="en-US" altLang="zh-CN" dirty="0"/>
              <a:t>Ask by email, Google, etc.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Comparing Hostname &amp; Filename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651304" cy="4356826"/>
          </a:xfrm>
        </p:spPr>
        <p:txBody>
          <a:bodyPr>
            <a:noAutofit/>
          </a:bodyPr>
          <a:lstStyle/>
          <a:p>
            <a:r>
              <a:rPr lang="en-US" altLang="zh-CN" dirty="0"/>
              <a:t>They are both for more </a:t>
            </a:r>
            <a:r>
              <a:rPr lang="en-US" altLang="zh-CN" b="1" dirty="0"/>
              <a:t>user friendly</a:t>
            </a:r>
            <a:endParaRPr lang="en-US" altLang="zh-CN" b="1" dirty="0"/>
          </a:p>
          <a:p>
            <a:pPr lvl="1"/>
            <a:r>
              <a:rPr lang="en-US" altLang="zh-CN" dirty="0"/>
              <a:t>File-name -&gt; </a:t>
            </a:r>
            <a:r>
              <a:rPr lang="en-US" altLang="zh-CN" dirty="0" err="1"/>
              <a:t>inode</a:t>
            </a:r>
            <a:r>
              <a:rPr lang="en-US" altLang="zh-CN" dirty="0"/>
              <a:t> number</a:t>
            </a:r>
            <a:endParaRPr lang="en-US" altLang="zh-CN" dirty="0"/>
          </a:p>
          <a:p>
            <a:pPr lvl="1"/>
            <a:r>
              <a:rPr lang="en-US" altLang="zh-CN" dirty="0"/>
              <a:t>Host-name -&gt; IP address</a:t>
            </a:r>
            <a:endParaRPr lang="en-US" altLang="zh-CN" dirty="0"/>
          </a:p>
          <a:p>
            <a:pPr lvl="1"/>
            <a:r>
              <a:rPr lang="en-US" altLang="zh-CN" dirty="0"/>
              <a:t>File-name and host-name are </a:t>
            </a:r>
            <a:r>
              <a:rPr lang="en-US" altLang="zh-CN" b="1" dirty="0">
                <a:solidFill>
                  <a:srgbClr val="0096FF"/>
                </a:solidFill>
              </a:rPr>
              <a:t>hierarchical</a:t>
            </a:r>
            <a:r>
              <a:rPr lang="en-US" altLang="zh-CN" dirty="0"/>
              <a:t>; </a:t>
            </a:r>
            <a:r>
              <a:rPr lang="en-US" altLang="zh-CN" dirty="0" err="1"/>
              <a:t>inode</a:t>
            </a:r>
            <a:r>
              <a:rPr lang="en-US" altLang="zh-CN" dirty="0"/>
              <a:t> num and IP </a:t>
            </a:r>
            <a:r>
              <a:rPr lang="en-US" altLang="zh-CN" dirty="0" err="1"/>
              <a:t>addr</a:t>
            </a:r>
            <a:r>
              <a:rPr lang="en-US" altLang="zh-CN" dirty="0"/>
              <a:t>. are </a:t>
            </a:r>
            <a:r>
              <a:rPr lang="en-US" altLang="zh-CN" b="1" dirty="0">
                <a:solidFill>
                  <a:srgbClr val="0096FF"/>
                </a:solidFill>
              </a:rPr>
              <a:t>plane</a:t>
            </a:r>
            <a:endParaRPr lang="en-US" altLang="zh-CN" b="1" dirty="0">
              <a:solidFill>
                <a:srgbClr val="0096FF"/>
              </a:solidFill>
            </a:endParaRPr>
          </a:p>
          <a:p>
            <a:r>
              <a:rPr lang="en-US" altLang="zh-CN" dirty="0"/>
              <a:t>They are both </a:t>
            </a:r>
            <a:r>
              <a:rPr lang="en-US" altLang="zh-CN" b="1" dirty="0">
                <a:solidFill>
                  <a:srgbClr val="0096FF"/>
                </a:solidFill>
              </a:rPr>
              <a:t>not</a:t>
            </a:r>
            <a:r>
              <a:rPr lang="en-US" altLang="zh-CN" dirty="0"/>
              <a:t> a part of the object</a:t>
            </a:r>
            <a:endParaRPr lang="en-US" altLang="zh-CN" dirty="0"/>
          </a:p>
          <a:p>
            <a:pPr lvl="1"/>
            <a:r>
              <a:rPr lang="en-US" altLang="zh-CN" dirty="0"/>
              <a:t>File-name is not a part of a file (stored in directory)</a:t>
            </a:r>
            <a:endParaRPr lang="en-US" altLang="zh-CN" dirty="0"/>
          </a:p>
          <a:p>
            <a:pPr lvl="1"/>
            <a:r>
              <a:rPr lang="en-US" altLang="zh-CN" dirty="0"/>
              <a:t>Host-name is not a part of a website (stored on name server)</a:t>
            </a:r>
            <a:endParaRPr lang="en-US" altLang="zh-CN" dirty="0"/>
          </a:p>
          <a:p>
            <a:r>
              <a:rPr lang="en-US" altLang="zh-CN" dirty="0"/>
              <a:t>Name and value binding</a:t>
            </a:r>
            <a:endParaRPr lang="en-US" altLang="zh-CN" dirty="0"/>
          </a:p>
          <a:p>
            <a:pPr lvl="1"/>
            <a:r>
              <a:rPr lang="en-US" altLang="zh-CN" dirty="0"/>
              <a:t>File:   1-name -&gt; N-values (no); N-name -&gt; 1-value (yes)</a:t>
            </a:r>
            <a:endParaRPr lang="en-US" altLang="zh-CN" dirty="0"/>
          </a:p>
          <a:p>
            <a:pPr lvl="1"/>
            <a:r>
              <a:rPr lang="en-US" altLang="zh-CN" dirty="0"/>
              <a:t>DNS: 1-name -&gt; N-values (</a:t>
            </a:r>
            <a:r>
              <a:rPr lang="en-US" altLang="zh-CN" b="1" dirty="0">
                <a:solidFill>
                  <a:srgbClr val="0096FF"/>
                </a:solidFill>
              </a:rPr>
              <a:t>yes</a:t>
            </a:r>
            <a:r>
              <a:rPr lang="en-US" altLang="zh-CN" dirty="0"/>
              <a:t>); N-name -&gt; 1-value (yes)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BD374B"/>
                </a:solidFill>
              </a:rPr>
              <a:t>Behind the DNS Design</a:t>
            </a:r>
            <a:endParaRPr lang="en-US" altLang="zh-CN" dirty="0">
              <a:solidFill>
                <a:srgbClr val="BD374B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b="0" dirty="0">
                <a:solidFill>
                  <a:srgbClr val="BD374B"/>
                </a:solidFill>
              </a:rPr>
              <a:t>Why was DNS designed in this way?</a:t>
            </a:r>
            <a:endParaRPr kumimoji="1" lang="en-US" altLang="zh-CN" sz="2000" b="0" dirty="0">
              <a:solidFill>
                <a:srgbClr val="BD374B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Benefits of Hierarchical Design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Hierarchies delegate responsibility</a:t>
            </a:r>
            <a:endParaRPr lang="en-US" altLang="zh-CN" dirty="0"/>
          </a:p>
          <a:p>
            <a:r>
              <a:rPr lang="en-US" altLang="zh-CN" dirty="0"/>
              <a:t>Each zone is only responsible for a small portion</a:t>
            </a:r>
            <a:endParaRPr lang="en-US" altLang="zh-CN" dirty="0"/>
          </a:p>
          <a:p>
            <a:r>
              <a:rPr lang="en-US" altLang="zh-CN" dirty="0"/>
              <a:t>Hierarchies also limit interaction between modules</a:t>
            </a:r>
            <a:endParaRPr lang="en-US" altLang="zh-CN" dirty="0"/>
          </a:p>
          <a:p>
            <a:endParaRPr lang="en-US" altLang="zh-CN" dirty="0"/>
          </a:p>
          <a:p>
            <a:pPr marL="3429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600" dirty="0"/>
              <a:t>A type of </a:t>
            </a:r>
            <a:r>
              <a:rPr lang="en-US" altLang="zh-CN" sz="1600" b="1" dirty="0">
                <a:solidFill>
                  <a:srgbClr val="0096FF"/>
                </a:solidFill>
              </a:rPr>
              <a:t>de-centralization </a:t>
            </a:r>
            <a:endParaRPr lang="en-US" altLang="zh-CN" sz="1600" b="1" dirty="0">
              <a:solidFill>
                <a:srgbClr val="0096FF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Good Points on DNS Design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b="1" dirty="0"/>
              <a:t>Global names </a:t>
            </a:r>
            <a:r>
              <a:rPr lang="en-US" altLang="zh-CN" dirty="0"/>
              <a:t>(assuming same root servers)</a:t>
            </a:r>
            <a:endParaRPr lang="en-US" altLang="zh-CN" dirty="0"/>
          </a:p>
          <a:p>
            <a:pPr lvl="1"/>
            <a:r>
              <a:rPr lang="en-US" altLang="zh-CN" dirty="0"/>
              <a:t>No need to specific a context</a:t>
            </a:r>
            <a:endParaRPr lang="en-US" altLang="zh-CN" dirty="0"/>
          </a:p>
          <a:p>
            <a:pPr lvl="1"/>
            <a:r>
              <a:rPr lang="en-US" altLang="zh-CN" dirty="0"/>
              <a:t>DNS has no trouble generating unique names</a:t>
            </a:r>
            <a:endParaRPr lang="en-US" altLang="zh-CN" dirty="0"/>
          </a:p>
          <a:p>
            <a:pPr lvl="1"/>
            <a:r>
              <a:rPr lang="en-US" altLang="zh-CN" dirty="0"/>
              <a:t>The name can also be user-friendly</a:t>
            </a:r>
            <a:endParaRPr lang="en-US" altLang="zh-CN" dirty="0"/>
          </a:p>
          <a:p>
            <a:r>
              <a:rPr lang="en-US" altLang="zh-CN" b="1" dirty="0"/>
              <a:t>Scalable</a:t>
            </a:r>
            <a:r>
              <a:rPr lang="en-US" altLang="zh-CN" dirty="0"/>
              <a:t> in performance</a:t>
            </a:r>
            <a:endParaRPr lang="en-US" altLang="zh-CN" dirty="0"/>
          </a:p>
          <a:p>
            <a:pPr lvl="1"/>
            <a:r>
              <a:rPr lang="en-US" altLang="zh-CN" dirty="0"/>
              <a:t>Simplicity: look-up is simple and can be done by a PC</a:t>
            </a:r>
            <a:endParaRPr lang="en-US" altLang="zh-CN" dirty="0"/>
          </a:p>
          <a:p>
            <a:pPr lvl="1"/>
            <a:r>
              <a:rPr lang="en-US" altLang="zh-CN" dirty="0"/>
              <a:t>Caching: reduce number of total queries</a:t>
            </a:r>
            <a:endParaRPr lang="en-US" altLang="zh-CN" dirty="0"/>
          </a:p>
          <a:p>
            <a:pPr lvl="1"/>
            <a:r>
              <a:rPr lang="en-US" altLang="zh-CN" dirty="0"/>
              <a:t>Delegation: many name severs handle lookups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Good Points on DNS Design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Scalable</a:t>
            </a:r>
            <a:r>
              <a:rPr lang="en-US" altLang="zh-CN" dirty="0"/>
              <a:t> in management</a:t>
            </a:r>
            <a:endParaRPr lang="en-US" altLang="zh-CN" dirty="0"/>
          </a:p>
          <a:p>
            <a:pPr lvl="1"/>
            <a:r>
              <a:rPr lang="en-US" altLang="zh-CN" dirty="0"/>
              <a:t>Each zone makes its own policy decision on binding</a:t>
            </a:r>
            <a:endParaRPr lang="en-US" altLang="zh-CN" dirty="0"/>
          </a:p>
          <a:p>
            <a:pPr lvl="1"/>
            <a:r>
              <a:rPr lang="en-US" altLang="zh-CN" dirty="0"/>
              <a:t>Hierarchy is great here</a:t>
            </a:r>
            <a:endParaRPr lang="en-US" altLang="zh-CN" dirty="0"/>
          </a:p>
          <a:p>
            <a:r>
              <a:rPr lang="en-US" altLang="zh-CN" b="1" dirty="0"/>
              <a:t>Fault tolerant</a:t>
            </a:r>
            <a:endParaRPr lang="en-US" altLang="zh-CN" b="1" dirty="0"/>
          </a:p>
          <a:p>
            <a:pPr lvl="1"/>
            <a:r>
              <a:rPr lang="en-US" altLang="zh-CN" dirty="0"/>
              <a:t>If one name server breaks, other will still work</a:t>
            </a:r>
            <a:endParaRPr lang="en-US" altLang="zh-CN" dirty="0"/>
          </a:p>
          <a:p>
            <a:pPr lvl="1"/>
            <a:r>
              <a:rPr lang="en-US" altLang="zh-CN" dirty="0"/>
              <a:t>Duplicated name server for a same zone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Bad Points on DNS Design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Policy</a:t>
            </a:r>
            <a:endParaRPr lang="en-US" altLang="zh-CN" dirty="0"/>
          </a:p>
          <a:p>
            <a:pPr lvl="1"/>
            <a:r>
              <a:rPr lang="en-US" altLang="zh-CN" dirty="0"/>
              <a:t>Who should control the root zone, .com zone, etc.? Governments?</a:t>
            </a:r>
            <a:endParaRPr lang="en-US" altLang="zh-CN" dirty="0"/>
          </a:p>
          <a:p>
            <a:r>
              <a:rPr lang="en-US" altLang="zh-CN" dirty="0"/>
              <a:t>Significant load on root servers</a:t>
            </a:r>
            <a:endParaRPr lang="en-US" altLang="zh-CN" dirty="0"/>
          </a:p>
          <a:p>
            <a:pPr lvl="1"/>
            <a:r>
              <a:rPr lang="en-US" altLang="zh-CN" dirty="0"/>
              <a:t>Many DNS clients starts by talking to root server</a:t>
            </a:r>
            <a:endParaRPr lang="en-US" altLang="zh-CN" dirty="0"/>
          </a:p>
          <a:p>
            <a:pPr lvl="1"/>
            <a:r>
              <a:rPr lang="en-US" altLang="zh-CN" dirty="0"/>
              <a:t>Many queries for non-existent names, becomes a </a:t>
            </a:r>
            <a:r>
              <a:rPr lang="en-US" altLang="zh-CN" dirty="0" err="1"/>
              <a:t>DoS</a:t>
            </a:r>
            <a:r>
              <a:rPr lang="zh-CN" altLang="en-US" dirty="0"/>
              <a:t> </a:t>
            </a:r>
            <a:r>
              <a:rPr lang="en-US" altLang="zh-CN" dirty="0"/>
              <a:t>attack</a:t>
            </a:r>
            <a:endParaRPr lang="en-US" altLang="zh-CN" dirty="0"/>
          </a:p>
          <a:p>
            <a:r>
              <a:rPr lang="en-US" altLang="zh-CN" dirty="0"/>
              <a:t>Security</a:t>
            </a:r>
            <a:endParaRPr lang="en-US" altLang="zh-CN" dirty="0"/>
          </a:p>
          <a:p>
            <a:pPr lvl="1"/>
            <a:r>
              <a:rPr lang="en-US" altLang="zh-CN" dirty="0"/>
              <a:t>How does a client know if the response is correct?</a:t>
            </a:r>
            <a:endParaRPr lang="en-US" altLang="zh-CN" dirty="0"/>
          </a:p>
          <a:p>
            <a:pPr lvl="1"/>
            <a:r>
              <a:rPr lang="en-US" altLang="zh-CN" dirty="0"/>
              <a:t>How does VeriSign know "change </a:t>
            </a:r>
            <a:r>
              <a:rPr lang="en-US" altLang="zh-CN" dirty="0" err="1"/>
              <a:t>Amazon.com</a:t>
            </a:r>
            <a:r>
              <a:rPr lang="en-US" altLang="zh-CN" dirty="0"/>
              <a:t> IP" is legal?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BD374B"/>
                </a:solidFill>
              </a:rPr>
              <a:t>Naming Scheme</a:t>
            </a:r>
            <a:endParaRPr lang="en-US" altLang="zh-CN" dirty="0">
              <a:solidFill>
                <a:srgbClr val="BD374B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b="0" dirty="0">
                <a:solidFill>
                  <a:srgbClr val="BD374B"/>
                </a:solidFill>
              </a:rPr>
              <a:t>Naming: the glue of modules</a:t>
            </a:r>
            <a:endParaRPr kumimoji="1" lang="en-US" altLang="zh-CN" sz="2000" b="0" dirty="0">
              <a:solidFill>
                <a:srgbClr val="BD374B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Naming in General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spcBef>
                <a:spcPts val="600"/>
              </a:spcBef>
            </a:pPr>
            <a:r>
              <a:rPr kumimoji="1" lang="en-US" altLang="zh-CN" b="0" dirty="0" err="1"/>
              <a:t>ipads.se.sjtu.edu.cn</a:t>
            </a:r>
            <a:r>
              <a:rPr kumimoji="1" lang="en-US" altLang="zh-CN" b="0" dirty="0"/>
              <a:t> – hostname</a:t>
            </a:r>
            <a:endParaRPr kumimoji="1" lang="en-US" altLang="zh-CN" b="0" dirty="0"/>
          </a:p>
          <a:p>
            <a:pPr lvl="1">
              <a:spcBef>
                <a:spcPts val="600"/>
              </a:spcBef>
            </a:pPr>
            <a:r>
              <a:rPr kumimoji="1" lang="en-US" altLang="zh-CN" b="0" dirty="0" err="1"/>
              <a:t>steven@apple.com</a:t>
            </a:r>
            <a:r>
              <a:rPr kumimoji="1" lang="en-US" altLang="zh-CN" b="0" dirty="0"/>
              <a:t> - email</a:t>
            </a:r>
            <a:endParaRPr kumimoji="1" lang="en-US" altLang="zh-CN" b="0" dirty="0"/>
          </a:p>
          <a:p>
            <a:pPr lvl="1">
              <a:spcBef>
                <a:spcPts val="600"/>
              </a:spcBef>
            </a:pPr>
            <a:r>
              <a:rPr kumimoji="1" lang="en-US" altLang="zh-CN" b="0" dirty="0" err="1"/>
              <a:t>steven</a:t>
            </a:r>
            <a:r>
              <a:rPr kumimoji="1" lang="en-US" altLang="zh-CN" b="0" dirty="0"/>
              <a:t> – username</a:t>
            </a:r>
            <a:endParaRPr kumimoji="1" lang="en-US" altLang="zh-CN" b="0" dirty="0"/>
          </a:p>
          <a:p>
            <a:pPr lvl="1">
              <a:spcBef>
                <a:spcPts val="600"/>
              </a:spcBef>
            </a:pPr>
            <a:r>
              <a:rPr kumimoji="1" lang="en-US" altLang="zh-CN" b="0" dirty="0"/>
              <a:t>EAX - x86 processor register name</a:t>
            </a:r>
            <a:endParaRPr kumimoji="1" lang="en-US" altLang="zh-CN" b="0" dirty="0"/>
          </a:p>
          <a:p>
            <a:pPr lvl="1">
              <a:spcBef>
                <a:spcPts val="600"/>
              </a:spcBef>
            </a:pPr>
            <a:r>
              <a:rPr kumimoji="1" lang="en-US" altLang="zh-CN" b="0" dirty="0"/>
              <a:t>main() - function name</a:t>
            </a:r>
            <a:endParaRPr kumimoji="1" lang="en-US" altLang="zh-CN" b="0" dirty="0"/>
          </a:p>
          <a:p>
            <a:pPr lvl="1">
              <a:spcBef>
                <a:spcPts val="600"/>
              </a:spcBef>
            </a:pPr>
            <a:r>
              <a:rPr kumimoji="1" lang="en-US" altLang="zh-CN" b="0" dirty="0" err="1"/>
              <a:t>WebBrowser</a:t>
            </a:r>
            <a:r>
              <a:rPr kumimoji="1" lang="en-US" altLang="zh-CN" b="0" dirty="0"/>
              <a:t> - class name</a:t>
            </a:r>
            <a:endParaRPr kumimoji="1" lang="en-US" altLang="zh-CN" b="0" dirty="0"/>
          </a:p>
          <a:p>
            <a:pPr lvl="1">
              <a:spcBef>
                <a:spcPts val="600"/>
              </a:spcBef>
            </a:pPr>
            <a:r>
              <a:rPr kumimoji="1" lang="en-US" altLang="zh-CN" b="0" dirty="0"/>
              <a:t>/courses/</a:t>
            </a:r>
            <a:r>
              <a:rPr kumimoji="1" lang="en-US" altLang="zh-CN" b="0" dirty="0" err="1"/>
              <a:t>cse</a:t>
            </a:r>
            <a:r>
              <a:rPr kumimoji="1" lang="en-US" altLang="zh-CN" b="0" dirty="0"/>
              <a:t>/</a:t>
            </a:r>
            <a:r>
              <a:rPr kumimoji="1" lang="en-US" altLang="zh-CN" b="0" dirty="0" err="1"/>
              <a:t>index.html</a:t>
            </a:r>
            <a:r>
              <a:rPr kumimoji="1" lang="en-US" altLang="zh-CN" b="0" dirty="0"/>
              <a:t> - path name (fully-qualified)</a:t>
            </a:r>
            <a:endParaRPr kumimoji="1" lang="en-US" altLang="zh-CN" b="0" dirty="0"/>
          </a:p>
          <a:p>
            <a:pPr lvl="1">
              <a:spcBef>
                <a:spcPts val="600"/>
              </a:spcBef>
            </a:pPr>
            <a:r>
              <a:rPr kumimoji="1" lang="en-US" altLang="zh-CN" b="0" dirty="0" err="1"/>
              <a:t>index.html</a:t>
            </a:r>
            <a:r>
              <a:rPr kumimoji="1" lang="en-US" altLang="zh-CN" b="0" dirty="0"/>
              <a:t> - path name (relative)</a:t>
            </a:r>
            <a:endParaRPr kumimoji="1" lang="en-US" altLang="zh-CN" b="0" dirty="0"/>
          </a:p>
          <a:p>
            <a:pPr lvl="1">
              <a:spcBef>
                <a:spcPts val="600"/>
              </a:spcBef>
            </a:pPr>
            <a:r>
              <a:rPr kumimoji="1" lang="en-US" altLang="zh-CN" b="0" dirty="0"/>
              <a:t>http://</a:t>
            </a:r>
            <a:r>
              <a:rPr kumimoji="1" lang="en-US" altLang="zh-CN" b="0" dirty="0" err="1"/>
              <a:t>ipads.se.sjtu.edu.cn</a:t>
            </a:r>
            <a:r>
              <a:rPr kumimoji="1" lang="en-US" altLang="zh-CN" b="0" dirty="0"/>
              <a:t>/courses/</a:t>
            </a:r>
            <a:r>
              <a:rPr kumimoji="1" lang="en-US" altLang="zh-CN" b="0" dirty="0" err="1"/>
              <a:t>cse</a:t>
            </a:r>
            <a:r>
              <a:rPr kumimoji="1" lang="en-US" altLang="zh-CN" b="0" dirty="0"/>
              <a:t>/</a:t>
            </a:r>
            <a:r>
              <a:rPr kumimoji="1" lang="en-US" altLang="zh-CN" b="0" dirty="0" err="1"/>
              <a:t>index.html</a:t>
            </a:r>
            <a:r>
              <a:rPr kumimoji="1" lang="en-US" altLang="zh-CN" b="0" dirty="0"/>
              <a:t> - URL</a:t>
            </a:r>
            <a:endParaRPr kumimoji="1" lang="en-US" altLang="zh-CN" b="0" dirty="0"/>
          </a:p>
          <a:p>
            <a:pPr lvl="1">
              <a:spcBef>
                <a:spcPts val="600"/>
              </a:spcBef>
            </a:pPr>
            <a:r>
              <a:rPr kumimoji="1" lang="en-US" altLang="zh-CN" b="0" dirty="0"/>
              <a:t>13918275839- Phone number</a:t>
            </a:r>
            <a:endParaRPr kumimoji="1" lang="en-US" altLang="zh-CN" b="0" dirty="0"/>
          </a:p>
          <a:p>
            <a:pPr lvl="1">
              <a:spcBef>
                <a:spcPts val="600"/>
              </a:spcBef>
            </a:pPr>
            <a:r>
              <a:rPr kumimoji="1" lang="en-US" altLang="zh-CN" b="0" dirty="0"/>
              <a:t>202.120.40.188 - IP Address</a:t>
            </a:r>
            <a:endParaRPr kumimoji="1" lang="zh-CN" altLang="en-US" b="0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Naming a Disk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File name: </a:t>
            </a:r>
            <a:r>
              <a:rPr kumimoji="1" lang="en-US" altLang="zh-CN" dirty="0">
                <a:solidFill>
                  <a:srgbClr val="C00000"/>
                </a:solidFill>
              </a:rPr>
              <a:t>/dev/sda1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As a special type of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: device </a:t>
            </a:r>
            <a:r>
              <a:rPr kumimoji="1" lang="en-US" altLang="zh-CN" dirty="0" err="1"/>
              <a:t>inode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8,0 as (major, minor)</a:t>
            </a:r>
            <a:endParaRPr kumimoji="1" lang="en-US" altLang="zh-CN" dirty="0"/>
          </a:p>
          <a:p>
            <a:r>
              <a:rPr kumimoji="1" lang="en-US" altLang="zh-CN" dirty="0"/>
              <a:t>PCI address (name): </a:t>
            </a:r>
            <a:r>
              <a:rPr kumimoji="1" lang="en-US" altLang="zh-CN" dirty="0">
                <a:solidFill>
                  <a:srgbClr val="C00000"/>
                </a:solidFill>
              </a:rPr>
              <a:t>19:00.0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SCSI storage controller: LSI Logic / </a:t>
            </a:r>
            <a:r>
              <a:rPr kumimoji="1" lang="en-US" altLang="zh-CN" dirty="0" err="1"/>
              <a:t>Symbios</a:t>
            </a:r>
            <a:r>
              <a:rPr kumimoji="1" lang="en-US" altLang="zh-CN" dirty="0"/>
              <a:t> Logic SAS1068E PCI-Express Fusion-MPT SAS (rev 08)</a:t>
            </a:r>
            <a:endParaRPr kumimoji="1" lang="zh-CN" altLang="en-US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Naming for Modularity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356826"/>
          </a:xfrm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Retrieval</a:t>
            </a:r>
            <a:r>
              <a:rPr lang="en-US" altLang="zh-CN" dirty="0"/>
              <a:t>: e.g., using URL to get a web page</a:t>
            </a:r>
            <a:endParaRPr lang="en-US" altLang="zh-CN" dirty="0"/>
          </a:p>
          <a:p>
            <a:r>
              <a:rPr lang="en-US" altLang="zh-CN" b="1" dirty="0">
                <a:solidFill>
                  <a:srgbClr val="C00000"/>
                </a:solidFill>
              </a:rPr>
              <a:t>Sharing</a:t>
            </a:r>
            <a:r>
              <a:rPr lang="en-US" altLang="zh-CN" dirty="0"/>
              <a:t>: e.g., passing an object reference to a function</a:t>
            </a:r>
            <a:endParaRPr lang="en-US" altLang="zh-CN" dirty="0"/>
          </a:p>
          <a:p>
            <a:pPr lvl="1"/>
            <a:r>
              <a:rPr lang="en-US" altLang="zh-CN" dirty="0"/>
              <a:t>Save space as well: only sending the name, not the object</a:t>
            </a:r>
            <a:endParaRPr lang="en-US" altLang="zh-CN" dirty="0"/>
          </a:p>
          <a:p>
            <a:r>
              <a:rPr lang="en-US" altLang="zh-CN" b="1" dirty="0">
                <a:solidFill>
                  <a:srgbClr val="C00000"/>
                </a:solidFill>
              </a:rPr>
              <a:t>Hiding</a:t>
            </a:r>
            <a:r>
              <a:rPr lang="en-US" altLang="zh-CN" dirty="0"/>
              <a:t>: e.g., using a file name without knowing file system</a:t>
            </a:r>
            <a:endParaRPr lang="en-US" altLang="zh-CN" dirty="0"/>
          </a:p>
          <a:p>
            <a:pPr lvl="1"/>
            <a:r>
              <a:rPr lang="en-US" altLang="zh-CN" dirty="0"/>
              <a:t>Can support access control: use an object only if knowing its name</a:t>
            </a:r>
            <a:endParaRPr lang="en-US" altLang="zh-CN" dirty="0"/>
          </a:p>
          <a:p>
            <a:pPr lvl="1"/>
            <a:r>
              <a:rPr lang="en-US" altLang="zh-CN" dirty="0"/>
              <a:t>E.g., Windows has many undocumented API</a:t>
            </a:r>
            <a:endParaRPr lang="en-US" altLang="zh-CN" dirty="0"/>
          </a:p>
          <a:p>
            <a:r>
              <a:rPr lang="en-US" altLang="zh-CN" b="1" dirty="0">
                <a:solidFill>
                  <a:srgbClr val="C00000"/>
                </a:solidFill>
              </a:rPr>
              <a:t>User-friendly identifiers</a:t>
            </a:r>
            <a:r>
              <a:rPr lang="en-US" altLang="zh-CN" dirty="0"/>
              <a:t>: e.g., “homework.txt” instead of 0x051DE540</a:t>
            </a:r>
            <a:endParaRPr lang="en-US" altLang="zh-CN" dirty="0"/>
          </a:p>
          <a:p>
            <a:r>
              <a:rPr lang="en-US" altLang="zh-CN" b="1" dirty="0">
                <a:solidFill>
                  <a:srgbClr val="C00000"/>
                </a:solidFill>
              </a:rPr>
              <a:t>Indirection</a:t>
            </a:r>
            <a:r>
              <a:rPr lang="en-US" altLang="zh-CN" dirty="0"/>
              <a:t>: e.g., OS can move the location of the file data without notifying the user</a:t>
            </a:r>
            <a:endParaRPr lang="en-US" altLang="zh-CN" dirty="0"/>
          </a:p>
          <a:p>
            <a:pPr lvl="1"/>
            <a:r>
              <a:rPr lang="en-US" altLang="zh-CN" dirty="0"/>
              <a:t>Have you ever defragmented your hard driver?</a:t>
            </a:r>
            <a:endParaRPr lang="zh-CN" alt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</a:t>
            </a:r>
            <a:r>
              <a:rPr lang="en-US" altLang="zh-CN" dirty="0"/>
              <a:t>es</a:t>
            </a:r>
            <a:r>
              <a:rPr 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dirty="0"/>
              <a:t>Nam</a:t>
            </a:r>
            <a:r>
              <a:rPr lang="en-US" altLang="zh-CN" dirty="0"/>
              <a:t>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US" altLang="zh-CN" dirty="0"/>
              <a:t>Software uses these names in an obvious way</a:t>
            </a:r>
            <a:endParaRPr lang="en-US" altLang="zh-CN" dirty="0"/>
          </a:p>
          <a:p>
            <a:pPr lvl="1">
              <a:spcBef>
                <a:spcPts val="300"/>
              </a:spcBef>
            </a:pPr>
            <a:r>
              <a:rPr lang="en-US" altLang="zh-CN" dirty="0"/>
              <a:t>E.g., memory addresses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en-US" altLang="zh-CN" dirty="0"/>
              <a:t>Hardware modules connected to a bus </a:t>
            </a:r>
            <a:endParaRPr lang="en-US" altLang="zh-CN" dirty="0"/>
          </a:p>
          <a:p>
            <a:pPr lvl="1">
              <a:spcBef>
                <a:spcPts val="300"/>
              </a:spcBef>
            </a:pPr>
            <a:r>
              <a:rPr lang="en-US" altLang="zh-CN" dirty="0"/>
              <a:t>Use bus addresses (a kind of name) for interconnection</a:t>
            </a:r>
            <a:endParaRPr lang="en-US" altLang="zh-CN" dirty="0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Naming Schemes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naming schemes contains three parts:</a:t>
            </a:r>
            <a:endParaRPr lang="en-US" altLang="zh-CN" dirty="0"/>
          </a:p>
          <a:p>
            <a:pPr lvl="1"/>
            <a:r>
              <a:rPr lang="en-US" altLang="zh-CN" dirty="0"/>
              <a:t>1. Set of all possible </a:t>
            </a:r>
            <a:r>
              <a:rPr lang="en-US" altLang="zh-CN" b="1" dirty="0">
                <a:solidFill>
                  <a:srgbClr val="0096FF"/>
                </a:solidFill>
              </a:rPr>
              <a:t>names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2"/>
            <a:r>
              <a:rPr lang="en-US" altLang="zh-CN" sz="1600" dirty="0"/>
              <a:t>You cannot use ‘for’ as a variable in C</a:t>
            </a:r>
            <a:endParaRPr lang="en-US" altLang="zh-CN" sz="1600" dirty="0"/>
          </a:p>
          <a:p>
            <a:pPr lvl="1"/>
            <a:r>
              <a:rPr lang="en-US" altLang="zh-CN" dirty="0"/>
              <a:t>2. Set of all possible </a:t>
            </a:r>
            <a:r>
              <a:rPr lang="en-US" altLang="zh-CN" b="1" dirty="0">
                <a:solidFill>
                  <a:srgbClr val="0096FF"/>
                </a:solidFill>
              </a:rPr>
              <a:t>values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3. </a:t>
            </a:r>
            <a:r>
              <a:rPr lang="en-US" altLang="zh-CN" b="1" dirty="0">
                <a:solidFill>
                  <a:srgbClr val="0096FF"/>
                </a:solidFill>
              </a:rPr>
              <a:t>Look-up algorithm </a:t>
            </a:r>
            <a:r>
              <a:rPr lang="en-US" altLang="zh-CN" dirty="0"/>
              <a:t>to translate a name into a value </a:t>
            </a:r>
            <a:endParaRPr lang="en-US" altLang="zh-CN" dirty="0"/>
          </a:p>
          <a:p>
            <a:pPr lvl="2"/>
            <a:r>
              <a:rPr lang="en-US" altLang="zh-CN" sz="1600" dirty="0"/>
              <a:t>or a set of values, or “none”</a:t>
            </a:r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Naming Model</a:t>
            </a:r>
            <a:endParaRPr lang="en-US" altLang="zh-CN" dirty="0"/>
          </a:p>
        </p:txBody>
      </p:sp>
      <p:pic>
        <p:nvPicPr>
          <p:cNvPr id="8196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44" y="1705372"/>
            <a:ext cx="8129588" cy="301520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Naming Terminology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96FF"/>
                </a:solidFill>
              </a:rPr>
              <a:t>Binding</a:t>
            </a:r>
            <a:r>
              <a:rPr kumimoji="1" lang="en-US" altLang="zh-CN" dirty="0">
                <a:solidFill>
                  <a:srgbClr val="C00101"/>
                </a:solidFill>
              </a:rPr>
              <a:t> </a:t>
            </a:r>
            <a:r>
              <a:rPr kumimoji="1" lang="en-US" altLang="zh-CN" dirty="0"/>
              <a:t>– A mapping from a name to value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rgbClr val="0096FF"/>
                </a:solidFill>
              </a:rPr>
              <a:t>Unbind</a:t>
            </a:r>
            <a:r>
              <a:rPr kumimoji="1" lang="zh-CN" altLang="en-US" dirty="0">
                <a:solidFill>
                  <a:srgbClr val="C00101"/>
                </a:solidFill>
              </a:rPr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delete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mapping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name that has a mapping is </a:t>
            </a:r>
            <a:r>
              <a:rPr kumimoji="1" lang="en-US" altLang="zh-CN" dirty="0">
                <a:solidFill>
                  <a:srgbClr val="0096FF"/>
                </a:solidFill>
              </a:rPr>
              <a:t>bound</a:t>
            </a:r>
            <a:endParaRPr kumimoji="1" lang="en-US" altLang="zh-CN" dirty="0">
              <a:solidFill>
                <a:srgbClr val="0096FF"/>
              </a:solidFill>
            </a:endParaRPr>
          </a:p>
          <a:p>
            <a:r>
              <a:rPr kumimoji="1" lang="en-US" altLang="zh-CN" dirty="0"/>
              <a:t>A name mapping algorithm </a:t>
            </a:r>
            <a:r>
              <a:rPr kumimoji="1" lang="en-US" altLang="zh-CN" dirty="0">
                <a:solidFill>
                  <a:srgbClr val="0096FF"/>
                </a:solidFill>
              </a:rPr>
              <a:t>resolves</a:t>
            </a:r>
            <a:r>
              <a:rPr kumimoji="1" lang="en-US" altLang="zh-CN" dirty="0">
                <a:solidFill>
                  <a:srgbClr val="C00101"/>
                </a:solidFill>
              </a:rPr>
              <a:t> </a:t>
            </a:r>
            <a:r>
              <a:rPr kumimoji="1" lang="en-US" altLang="zh-CN" dirty="0"/>
              <a:t>a name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Naming Context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Type-1</a:t>
            </a:r>
            <a:r>
              <a:rPr lang="en-US" altLang="zh-CN" dirty="0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: context and name are separated</a:t>
            </a:r>
            <a:endParaRPr lang="en-US" altLang="zh-CN" dirty="0">
              <a:latin typeface="+mn-lt"/>
              <a:ea typeface="等线" panose="02010600030101010101" charset="-122"/>
              <a:cs typeface="宋体" panose="02010600030101010101" pitchFamily="2" charset="-122"/>
            </a:endParaRPr>
          </a:p>
          <a:p>
            <a:pPr lvl="1"/>
            <a:r>
              <a:rPr lang="en-US" altLang="zh-CN" dirty="0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E.g., </a:t>
            </a:r>
            <a:r>
              <a:rPr lang="en-US" altLang="zh-CN" dirty="0" err="1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inode</a:t>
            </a:r>
            <a:r>
              <a:rPr lang="en-US" altLang="zh-CN" dirty="0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 number’s context is the file system</a:t>
            </a:r>
            <a:endParaRPr lang="en-US" altLang="zh-CN" dirty="0">
              <a:latin typeface="+mn-lt"/>
              <a:ea typeface="等线" panose="02010600030101010101" charset="-122"/>
              <a:cs typeface="宋体" panose="02010600030101010101" pitchFamily="2" charset="-122"/>
            </a:endParaRPr>
          </a:p>
          <a:p>
            <a:r>
              <a:rPr lang="en-US" altLang="zh-CN" b="1" dirty="0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Type-2</a:t>
            </a:r>
            <a:r>
              <a:rPr lang="en-US" altLang="zh-CN" dirty="0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: context is part of the name</a:t>
            </a:r>
            <a:endParaRPr lang="en-US" altLang="zh-CN" dirty="0">
              <a:latin typeface="+mn-lt"/>
              <a:ea typeface="等线" panose="02010600030101010101" charset="-122"/>
              <a:cs typeface="宋体" panose="02010600030101010101" pitchFamily="2" charset="-122"/>
            </a:endParaRPr>
          </a:p>
          <a:p>
            <a:pPr lvl="1"/>
            <a:r>
              <a:rPr lang="en-US" altLang="zh-CN" dirty="0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E.g., xiayubin@sjtu.edu.cn</a:t>
            </a:r>
            <a:endParaRPr lang="en-US" altLang="zh-CN" dirty="0">
              <a:latin typeface="+mn-lt"/>
              <a:ea typeface="等线" panose="02010600030101010101" charset="-122"/>
              <a:cs typeface="宋体" panose="02010600030101010101" pitchFamily="2" charset="-122"/>
            </a:endParaRPr>
          </a:p>
          <a:p>
            <a:pPr lvl="2"/>
            <a:endParaRPr lang="en-US" altLang="zh-CN" dirty="0">
              <a:latin typeface="+mn-lt"/>
              <a:ea typeface="等线" panose="02010600030101010101" charset="-122"/>
              <a:cs typeface="宋体" panose="02010600030101010101" pitchFamily="2" charset="-122"/>
            </a:endParaRPr>
          </a:p>
          <a:p>
            <a:r>
              <a:rPr lang="en-US" altLang="zh-CN" dirty="0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Name spaces with only one possible context are called </a:t>
            </a:r>
            <a:r>
              <a:rPr lang="en-US" altLang="zh-CN" b="1" dirty="0">
                <a:solidFill>
                  <a:srgbClr val="0096FF"/>
                </a:solidFill>
                <a:latin typeface="+mn-lt"/>
                <a:ea typeface="等线" panose="02010600030101010101" charset="-122"/>
                <a:cs typeface="宋体" panose="02010600030101010101" pitchFamily="2" charset="-122"/>
              </a:rPr>
              <a:t>universal name spaces</a:t>
            </a:r>
            <a:endParaRPr lang="en-US" altLang="zh-CN" b="1" dirty="0">
              <a:solidFill>
                <a:srgbClr val="0096FF"/>
              </a:solidFill>
              <a:latin typeface="+mn-lt"/>
              <a:ea typeface="等线" panose="02010600030101010101" charset="-122"/>
              <a:cs typeface="宋体" panose="02010600030101010101" pitchFamily="2" charset="-122"/>
            </a:endParaRPr>
          </a:p>
          <a:p>
            <a:pPr lvl="1"/>
            <a:r>
              <a:rPr lang="en-US" altLang="zh-CN" dirty="0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Example: credit card number,</a:t>
            </a:r>
            <a:r>
              <a:rPr lang="zh-CN" altLang="en-US" dirty="0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+mn-lt"/>
                <a:ea typeface="等线" panose="02010600030101010101" charset="-122"/>
                <a:cs typeface="宋体" panose="02010600030101010101" pitchFamily="2" charset="-122"/>
              </a:rPr>
              <a:t>UUID, email address</a:t>
            </a:r>
            <a:endParaRPr lang="en-US" altLang="zh-CN" dirty="0">
              <a:latin typeface="+mn-lt"/>
              <a:ea typeface="等线" panose="02010600030101010101" charset="-122"/>
              <a:cs typeface="宋体" panose="02010600030101010101" pitchFamily="2" charset="-122"/>
            </a:endParaRPr>
          </a:p>
          <a:p>
            <a:endParaRPr lang="zh-CN" altLang="en-US" sz="24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Determining Context - 1</a:t>
            </a:r>
            <a:endParaRPr lang="en-US" altLang="zh-CN" dirty="0">
              <a:ea typeface="等线" panose="02010600030101010101" charset="-122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等线" panose="02010600030101010101" charset="-122"/>
              </a:rPr>
              <a:t>Hard code it in the resolver</a:t>
            </a:r>
            <a:endParaRPr lang="en-US" altLang="zh-CN" dirty="0">
              <a:latin typeface="+mn-lt"/>
              <a:ea typeface="等线" panose="02010600030101010101" charset="-122"/>
            </a:endParaRPr>
          </a:p>
          <a:p>
            <a:pPr lvl="1"/>
            <a:r>
              <a:rPr lang="en-US" altLang="zh-CN" dirty="0">
                <a:latin typeface="+mn-lt"/>
                <a:ea typeface="等线" panose="02010600030101010101" charset="-122"/>
              </a:rPr>
              <a:t>Examples: Many universal name spaces work this way</a:t>
            </a:r>
            <a:endParaRPr lang="en-US" altLang="zh-CN" dirty="0">
              <a:latin typeface="+mn-lt"/>
              <a:ea typeface="等线" panose="02010600030101010101" charset="-122"/>
            </a:endParaRPr>
          </a:p>
          <a:p>
            <a:r>
              <a:rPr lang="en-US" altLang="zh-CN" dirty="0">
                <a:latin typeface="+mn-lt"/>
                <a:ea typeface="等线" panose="02010600030101010101" charset="-122"/>
              </a:rPr>
              <a:t>Embedded in name itself</a:t>
            </a:r>
            <a:endParaRPr lang="en-US" altLang="zh-CN" dirty="0">
              <a:latin typeface="+mn-lt"/>
              <a:ea typeface="等线" panose="02010600030101010101" charset="-122"/>
            </a:endParaRPr>
          </a:p>
          <a:p>
            <a:pPr lvl="1"/>
            <a:r>
              <a:rPr lang="en-US" altLang="zh-CN" dirty="0" err="1">
                <a:latin typeface="+mn-lt"/>
                <a:ea typeface="等线" panose="02010600030101010101" charset="-122"/>
              </a:rPr>
              <a:t>cse</a:t>
            </a:r>
            <a:r>
              <a:rPr lang="hu-HU" altLang="zh-CN" dirty="0">
                <a:latin typeface="+mn-lt"/>
                <a:ea typeface="等线" panose="02010600030101010101" charset="-122"/>
              </a:rPr>
              <a:t>@</a:t>
            </a:r>
            <a:r>
              <a:rPr lang="en-US" altLang="zh-CN" dirty="0">
                <a:latin typeface="+mn-lt"/>
                <a:ea typeface="等线" panose="02010600030101010101" charset="-122"/>
              </a:rPr>
              <a:t>sjtu.edu.cn:</a:t>
            </a:r>
            <a:r>
              <a:rPr lang="hu-HU" dirty="0">
                <a:latin typeface="+mn-lt"/>
                <a:ea typeface="等线" panose="02010600030101010101" charset="-122"/>
              </a:rPr>
              <a:t> </a:t>
            </a:r>
            <a:endParaRPr lang="zh-CN" altLang="en-US" dirty="0">
              <a:latin typeface="+mn-lt"/>
              <a:ea typeface="等线" panose="02010600030101010101" charset="-122"/>
            </a:endParaRPr>
          </a:p>
          <a:p>
            <a:pPr lvl="2"/>
            <a:r>
              <a:rPr lang="hu-HU" altLang="zh-CN" sz="1600" dirty="0">
                <a:latin typeface="+mn-lt"/>
                <a:ea typeface="等线" panose="02010600030101010101" charset="-122"/>
              </a:rPr>
              <a:t>Name = </a:t>
            </a:r>
            <a:r>
              <a:rPr lang="hu-HU" sz="1600" dirty="0">
                <a:latin typeface="+mn-lt"/>
                <a:ea typeface="等线" panose="02010600030101010101" charset="-122"/>
              </a:rPr>
              <a:t>“cse”</a:t>
            </a:r>
            <a:endParaRPr lang="en-US" altLang="zh-CN" sz="1600" dirty="0">
              <a:latin typeface="+mn-lt"/>
              <a:ea typeface="等线" panose="02010600030101010101" charset="-122"/>
            </a:endParaRPr>
          </a:p>
          <a:p>
            <a:pPr lvl="2"/>
            <a:r>
              <a:rPr lang="hu-HU" altLang="zh-CN" sz="1600" dirty="0">
                <a:latin typeface="+mn-lt"/>
                <a:ea typeface="等线" panose="02010600030101010101" charset="-122"/>
              </a:rPr>
              <a:t>Context = </a:t>
            </a:r>
            <a:r>
              <a:rPr lang="hu-HU" sz="1600" dirty="0">
                <a:latin typeface="+mn-lt"/>
                <a:ea typeface="等线" panose="02010600030101010101" charset="-122"/>
              </a:rPr>
              <a:t>“</a:t>
            </a:r>
            <a:r>
              <a:rPr lang="en-US" sz="1600" dirty="0" err="1">
                <a:latin typeface="+mn-lt"/>
                <a:ea typeface="等线" panose="02010600030101010101" charset="-122"/>
              </a:rPr>
              <a:t>sjtu</a:t>
            </a:r>
            <a:r>
              <a:rPr lang="hu-HU" altLang="zh-CN" sz="1600" dirty="0">
                <a:latin typeface="+mn-lt"/>
                <a:ea typeface="等线" panose="02010600030101010101" charset="-122"/>
              </a:rPr>
              <a:t>.edu</a:t>
            </a:r>
            <a:r>
              <a:rPr lang="en-US" altLang="zh-CN" sz="1600" dirty="0">
                <a:latin typeface="+mn-lt"/>
                <a:ea typeface="等线" panose="02010600030101010101" charset="-122"/>
              </a:rPr>
              <a:t>.</a:t>
            </a:r>
            <a:r>
              <a:rPr lang="en-US" altLang="zh-CN" sz="1600" dirty="0" err="1">
                <a:latin typeface="+mn-lt"/>
                <a:ea typeface="等线" panose="02010600030101010101" charset="-122"/>
              </a:rPr>
              <a:t>cn</a:t>
            </a:r>
            <a:r>
              <a:rPr lang="hu-HU" sz="1600" dirty="0">
                <a:latin typeface="+mn-lt"/>
                <a:ea typeface="等线" panose="02010600030101010101" charset="-122"/>
              </a:rPr>
              <a:t>”</a:t>
            </a:r>
            <a:endParaRPr lang="hu-HU" altLang="zh-CN" sz="1600" dirty="0">
              <a:latin typeface="+mn-lt"/>
              <a:ea typeface="等线" panose="02010600030101010101" charset="-122"/>
            </a:endParaRPr>
          </a:p>
          <a:p>
            <a:pPr lvl="1"/>
            <a:r>
              <a:rPr lang="hu-HU" altLang="zh-CN" dirty="0">
                <a:latin typeface="+mn-lt"/>
                <a:ea typeface="等线" panose="02010600030101010101" charset="-122"/>
              </a:rPr>
              <a:t>/</a:t>
            </a:r>
            <a:r>
              <a:rPr lang="hr-HR" altLang="zh-CN" dirty="0">
                <a:latin typeface="+mn-lt"/>
                <a:ea typeface="等线" panose="02010600030101010101" charset="-122"/>
              </a:rPr>
              <a:t>ipads.se.sjtu.edu.cn</a:t>
            </a:r>
            <a:r>
              <a:rPr lang="hu-HU" altLang="zh-CN" dirty="0">
                <a:latin typeface="+mn-lt"/>
                <a:ea typeface="等线" panose="02010600030101010101" charset="-122"/>
              </a:rPr>
              <a:t>/courses/cse/</a:t>
            </a:r>
            <a:r>
              <a:rPr lang="en-US" altLang="zh-CN" dirty="0">
                <a:latin typeface="+mn-lt"/>
                <a:ea typeface="等线" panose="02010600030101010101" charset="-122"/>
              </a:rPr>
              <a:t>README</a:t>
            </a:r>
            <a:r>
              <a:rPr lang="hu-HU" altLang="zh-CN" dirty="0">
                <a:latin typeface="+mn-lt"/>
                <a:ea typeface="等线" panose="02010600030101010101" charset="-122"/>
              </a:rPr>
              <a:t> </a:t>
            </a:r>
            <a:r>
              <a:rPr lang="en-US" altLang="zh-CN" dirty="0">
                <a:latin typeface="+mn-lt"/>
                <a:ea typeface="等线" panose="02010600030101010101" charset="-122"/>
              </a:rPr>
              <a:t>:</a:t>
            </a:r>
            <a:r>
              <a:rPr lang="hu-HU" dirty="0">
                <a:latin typeface="+mn-lt"/>
                <a:ea typeface="等线" panose="02010600030101010101" charset="-122"/>
              </a:rPr>
              <a:t> </a:t>
            </a:r>
            <a:endParaRPr lang="zh-CN" altLang="en-US" dirty="0">
              <a:latin typeface="+mn-lt"/>
              <a:ea typeface="等线" panose="02010600030101010101" charset="-122"/>
            </a:endParaRPr>
          </a:p>
          <a:p>
            <a:pPr lvl="2"/>
            <a:r>
              <a:rPr lang="en-US" altLang="zh-CN" sz="1600" dirty="0">
                <a:latin typeface="+mn-lt"/>
                <a:ea typeface="等线" panose="02010600030101010101" charset="-122"/>
              </a:rPr>
              <a:t>Name = </a:t>
            </a:r>
            <a:r>
              <a:rPr lang="en-US" sz="1600" dirty="0">
                <a:latin typeface="+mn-lt"/>
                <a:ea typeface="等线" panose="02010600030101010101" charset="-122"/>
              </a:rPr>
              <a:t>“</a:t>
            </a:r>
            <a:r>
              <a:rPr lang="en-US" altLang="zh-CN" sz="1600" dirty="0">
                <a:latin typeface="+mn-lt"/>
                <a:ea typeface="等线" panose="02010600030101010101" charset="-122"/>
              </a:rPr>
              <a:t>README</a:t>
            </a:r>
            <a:r>
              <a:rPr lang="en-US" sz="1600" dirty="0">
                <a:latin typeface="+mn-lt"/>
                <a:ea typeface="等线" panose="02010600030101010101" charset="-122"/>
              </a:rPr>
              <a:t>”</a:t>
            </a:r>
            <a:r>
              <a:rPr lang="en-US" altLang="zh-CN" sz="1600" dirty="0">
                <a:latin typeface="+mn-lt"/>
                <a:ea typeface="等线" panose="02010600030101010101" charset="-122"/>
              </a:rPr>
              <a:t>  </a:t>
            </a:r>
            <a:endParaRPr lang="en-US" altLang="zh-CN" sz="1600" dirty="0">
              <a:latin typeface="+mn-lt"/>
              <a:ea typeface="等线" panose="02010600030101010101" charset="-122"/>
            </a:endParaRPr>
          </a:p>
          <a:p>
            <a:pPr lvl="2"/>
            <a:r>
              <a:rPr lang="en-US" altLang="zh-CN" sz="1600" dirty="0">
                <a:latin typeface="+mn-lt"/>
                <a:ea typeface="等线" panose="02010600030101010101" charset="-122"/>
              </a:rPr>
              <a:t>Context = “</a:t>
            </a:r>
            <a:r>
              <a:rPr lang="hu-HU" altLang="zh-CN" sz="1600" dirty="0">
                <a:latin typeface="+mn-lt"/>
                <a:ea typeface="等线" panose="02010600030101010101" charset="-122"/>
              </a:rPr>
              <a:t>/</a:t>
            </a:r>
            <a:r>
              <a:rPr lang="hr-HR" altLang="zh-CN" sz="1600" dirty="0">
                <a:latin typeface="+mn-lt"/>
                <a:ea typeface="等线" panose="02010600030101010101" charset="-122"/>
              </a:rPr>
              <a:t>ipads.se.sjtu.edu.cn</a:t>
            </a:r>
            <a:r>
              <a:rPr lang="hu-HU" altLang="zh-CN" sz="1600" dirty="0">
                <a:latin typeface="+mn-lt"/>
                <a:ea typeface="等线" panose="02010600030101010101" charset="-122"/>
              </a:rPr>
              <a:t>/courses/cse</a:t>
            </a:r>
            <a:r>
              <a:rPr lang="en-US" sz="1600" dirty="0">
                <a:latin typeface="+mn-lt"/>
                <a:ea typeface="等线" panose="02010600030101010101" charset="-122"/>
              </a:rPr>
              <a:t>”</a:t>
            </a:r>
            <a:endParaRPr lang="en-US" altLang="zh-CN" sz="1600" dirty="0">
              <a:latin typeface="+mn-lt"/>
              <a:ea typeface="等线" panose="02010600030101010101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Determining Context - 2</a:t>
            </a:r>
            <a:endParaRPr lang="en-US" altLang="zh-CN" dirty="0">
              <a:ea typeface="等线" panose="02010600030101010101" charset="-122"/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等线" panose="02010600030101010101" charset="-122"/>
              </a:rPr>
              <a:t>Taken from environment (Dynamic)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Unix </a:t>
            </a:r>
            <a:r>
              <a:rPr lang="en-US" altLang="zh-CN" dirty="0" err="1">
                <a:ea typeface="等线" panose="02010600030101010101" charset="-122"/>
              </a:rPr>
              <a:t>cmd</a:t>
            </a:r>
            <a:r>
              <a:rPr lang="en-US" altLang="zh-CN" dirty="0">
                <a:ea typeface="等线" panose="02010600030101010101" charset="-122"/>
              </a:rPr>
              <a:t>: </a:t>
            </a:r>
            <a:r>
              <a:rPr lang="en-US" dirty="0">
                <a:ea typeface="等线" panose="02010600030101010101" charset="-122"/>
              </a:rPr>
              <a:t>“</a:t>
            </a:r>
            <a:r>
              <a:rPr lang="en-US" altLang="ja-JP" b="1" dirty="0" err="1">
                <a:solidFill>
                  <a:srgbClr val="0096FF"/>
                </a:solidFill>
                <a:ea typeface="等线" panose="02010600030101010101" charset="-122"/>
              </a:rPr>
              <a:t>rm</a:t>
            </a:r>
            <a:r>
              <a:rPr lang="en-US" altLang="ja-JP" b="1" dirty="0">
                <a:solidFill>
                  <a:srgbClr val="0096FF"/>
                </a:solidFill>
                <a:ea typeface="等线" panose="02010600030101010101" charset="-122"/>
              </a:rPr>
              <a:t> foo</a:t>
            </a:r>
            <a:r>
              <a:rPr lang="en-US" dirty="0">
                <a:ea typeface="等线" panose="02010600030101010101" charset="-122"/>
              </a:rPr>
              <a:t>”</a:t>
            </a:r>
            <a:r>
              <a:rPr lang="en-US" altLang="ja-JP" dirty="0">
                <a:ea typeface="等线" panose="02010600030101010101" charset="-122"/>
              </a:rPr>
              <a:t>: </a:t>
            </a:r>
            <a:endParaRPr lang="en-US" altLang="ja-JP" dirty="0">
              <a:ea typeface="等线" panose="02010600030101010101" charset="-122"/>
            </a:endParaRPr>
          </a:p>
          <a:p>
            <a:pPr lvl="2"/>
            <a:r>
              <a:rPr lang="en-US" altLang="ja-JP" sz="1600" dirty="0">
                <a:ea typeface="等线" panose="02010600030101010101" charset="-122"/>
              </a:rPr>
              <a:t>Name = </a:t>
            </a:r>
            <a:r>
              <a:rPr lang="en-US" sz="1600" dirty="0">
                <a:ea typeface="等线" panose="02010600030101010101" charset="-122"/>
              </a:rPr>
              <a:t>“</a:t>
            </a:r>
            <a:r>
              <a:rPr lang="en-US" altLang="ja-JP" sz="1600" dirty="0">
                <a:ea typeface="等线" panose="02010600030101010101" charset="-122"/>
              </a:rPr>
              <a:t>foo</a:t>
            </a:r>
            <a:r>
              <a:rPr lang="en-US" sz="1600" dirty="0">
                <a:ea typeface="等线" panose="02010600030101010101" charset="-122"/>
              </a:rPr>
              <a:t>”</a:t>
            </a:r>
            <a:r>
              <a:rPr lang="en-US" altLang="ja-JP" sz="1600" dirty="0">
                <a:ea typeface="等线" panose="02010600030101010101" charset="-122"/>
              </a:rPr>
              <a:t>, context is current </a:t>
            </a:r>
            <a:r>
              <a:rPr lang="en-US" altLang="ja-JP" sz="1600" dirty="0" err="1">
                <a:ea typeface="等线" panose="02010600030101010101" charset="-122"/>
              </a:rPr>
              <a:t>dir</a:t>
            </a:r>
            <a:r>
              <a:rPr lang="en-US" altLang="ja-JP" sz="1600" dirty="0">
                <a:ea typeface="等线" panose="02010600030101010101" charset="-122"/>
              </a:rPr>
              <a:t> </a:t>
            </a:r>
            <a:endParaRPr lang="en-US" altLang="ja-JP" sz="1600" dirty="0">
              <a:ea typeface="等线" panose="02010600030101010101" charset="-122"/>
            </a:endParaRPr>
          </a:p>
          <a:p>
            <a:pPr lvl="2"/>
            <a:r>
              <a:rPr lang="en-US" altLang="ja-JP" sz="1600" b="1" dirty="0">
                <a:solidFill>
                  <a:srgbClr val="C00000"/>
                </a:solidFill>
                <a:ea typeface="等线" panose="02010600030101010101" charset="-122"/>
              </a:rPr>
              <a:t>Question</a:t>
            </a:r>
            <a:r>
              <a:rPr lang="en-US" altLang="ja-JP" sz="1600" dirty="0">
                <a:solidFill>
                  <a:srgbClr val="C00000"/>
                </a:solidFill>
                <a:ea typeface="等线" panose="02010600030101010101" charset="-122"/>
              </a:rPr>
              <a:t>: how to find the binary of “</a:t>
            </a:r>
            <a:r>
              <a:rPr lang="en-US" altLang="ja-JP" sz="1600" dirty="0" err="1">
                <a:solidFill>
                  <a:srgbClr val="C00000"/>
                </a:solidFill>
                <a:ea typeface="等线" panose="02010600030101010101" charset="-122"/>
              </a:rPr>
              <a:t>rm</a:t>
            </a:r>
            <a:r>
              <a:rPr lang="en-US" altLang="ja-JP" sz="1600" dirty="0">
                <a:solidFill>
                  <a:srgbClr val="C00000"/>
                </a:solidFill>
                <a:ea typeface="等线" panose="02010600030101010101" charset="-122"/>
              </a:rPr>
              <a:t>” command?</a:t>
            </a:r>
            <a:endParaRPr lang="en-US" altLang="ja-JP" sz="1600" dirty="0">
              <a:solidFill>
                <a:srgbClr val="C00000"/>
              </a:solidFill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Read memory 0x7c911109: </a:t>
            </a:r>
            <a:endParaRPr lang="en-US" altLang="zh-CN" dirty="0">
              <a:ea typeface="等线" panose="02010600030101010101" charset="-122"/>
            </a:endParaRPr>
          </a:p>
          <a:p>
            <a:pPr lvl="2"/>
            <a:r>
              <a:rPr lang="en-US" altLang="zh-CN" sz="1600" dirty="0">
                <a:ea typeface="等线" panose="02010600030101010101" charset="-122"/>
              </a:rPr>
              <a:t>Name = </a:t>
            </a:r>
            <a:r>
              <a:rPr lang="en-US" sz="1600" dirty="0">
                <a:ea typeface="等线" panose="02010600030101010101" charset="-122"/>
              </a:rPr>
              <a:t>“</a:t>
            </a:r>
            <a:r>
              <a:rPr lang="en-US" altLang="zh-CN" sz="1600" dirty="0">
                <a:ea typeface="等线" panose="02010600030101010101" charset="-122"/>
              </a:rPr>
              <a:t>0x7c911109</a:t>
            </a:r>
            <a:r>
              <a:rPr lang="en-US" sz="1600" dirty="0">
                <a:ea typeface="等线" panose="02010600030101010101" charset="-122"/>
              </a:rPr>
              <a:t>”</a:t>
            </a:r>
            <a:r>
              <a:rPr lang="en-US" altLang="zh-CN" sz="1600" dirty="0">
                <a:ea typeface="等线" panose="02010600030101010101" charset="-122"/>
              </a:rPr>
              <a:t>, </a:t>
            </a:r>
            <a:endParaRPr lang="en-US" altLang="zh-CN" sz="1600" dirty="0">
              <a:ea typeface="等线" panose="02010600030101010101" charset="-122"/>
            </a:endParaRPr>
          </a:p>
          <a:p>
            <a:pPr lvl="2"/>
            <a:r>
              <a:rPr lang="en-US" altLang="zh-CN" sz="1600" dirty="0">
                <a:ea typeface="等线" panose="02010600030101010101" charset="-122"/>
              </a:rPr>
              <a:t>Context is thread</a:t>
            </a:r>
            <a:r>
              <a:rPr lang="en-US" sz="1600" dirty="0">
                <a:ea typeface="等线" panose="02010600030101010101" charset="-122"/>
              </a:rPr>
              <a:t>’</a:t>
            </a:r>
            <a:r>
              <a:rPr lang="en-US" altLang="zh-CN" sz="1600" dirty="0">
                <a:ea typeface="等线" panose="02010600030101010101" charset="-122"/>
              </a:rPr>
              <a:t>s address space</a:t>
            </a:r>
            <a:endParaRPr lang="en-US" altLang="zh-CN" sz="1600" dirty="0">
              <a:ea typeface="等线" panose="02010600030101010101" charset="-122"/>
            </a:endParaRPr>
          </a:p>
          <a:p>
            <a:r>
              <a:rPr lang="en-US" altLang="zh-CN" dirty="0">
                <a:ea typeface="等线" panose="02010600030101010101" charset="-122"/>
              </a:rPr>
              <a:t>Many errors in systems due to using wrong context</a:t>
            </a:r>
            <a:endParaRPr lang="en-US" altLang="zh-CN" dirty="0">
              <a:ea typeface="等线" panose="02010600030101010101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Name Mapping Algorithms - 1</a:t>
            </a:r>
            <a:endParaRPr lang="en-US" altLang="zh-CN" dirty="0">
              <a:ea typeface="等线" panose="02010600030101010101" charset="-122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ea typeface="等线" panose="02010600030101010101" charset="-122"/>
              </a:rPr>
              <a:t>Table lookup</a:t>
            </a:r>
            <a:endParaRPr lang="en-US" altLang="zh-CN" b="1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Find name in a table</a:t>
            </a:r>
            <a:endParaRPr lang="en-US" altLang="zh-CN" dirty="0">
              <a:ea typeface="等线" panose="02010600030101010101" charset="-122"/>
            </a:endParaRPr>
          </a:p>
          <a:p>
            <a:pPr lvl="2"/>
            <a:r>
              <a:rPr lang="en-US" altLang="zh-CN" sz="1600" dirty="0">
                <a:ea typeface="等线" panose="02010600030101010101" charset="-122"/>
              </a:rPr>
              <a:t>E.g., Phone book</a:t>
            </a:r>
            <a:endParaRPr lang="en-US" altLang="zh-CN" sz="1600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Context: which table?</a:t>
            </a:r>
            <a:endParaRPr lang="en-US" altLang="zh-CN" dirty="0">
              <a:ea typeface="等线" panose="02010600030101010101" charset="-122"/>
            </a:endParaRPr>
          </a:p>
          <a:p>
            <a:pPr lvl="2"/>
            <a:r>
              <a:rPr lang="en-US" altLang="zh-CN" sz="1600" dirty="0">
                <a:ea typeface="等线" panose="02010600030101010101" charset="-122"/>
              </a:rPr>
              <a:t>Implicit VS. explicit</a:t>
            </a:r>
            <a:endParaRPr lang="en-US" altLang="zh-CN" sz="1600" dirty="0">
              <a:ea typeface="等线" panose="02010600030101010101" charset="-122"/>
            </a:endParaRPr>
          </a:p>
          <a:p>
            <a:pPr lvl="2"/>
            <a:r>
              <a:rPr lang="en-US" altLang="zh-CN" sz="1600" dirty="0">
                <a:ea typeface="等线" panose="02010600030101010101" charset="-122"/>
              </a:rPr>
              <a:t>Default context</a:t>
            </a:r>
            <a:endParaRPr lang="en-US" altLang="zh-CN" sz="1600" dirty="0">
              <a:ea typeface="等线" panose="02010600030101010101" charset="-122"/>
            </a:endParaRPr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904" y="1333500"/>
            <a:ext cx="3651896" cy="33059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" panose="02010600030101010101" charset="-122"/>
              </a:rPr>
              <a:t>Name Mapping Algorithms - 2</a:t>
            </a:r>
            <a:endParaRPr kumimoji="1" lang="zh-CN" altLang="en-US" dirty="0">
              <a:ea typeface="等线" panose="0201060003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ea typeface="等线" panose="02010600030101010101" charset="-122"/>
              </a:rPr>
              <a:t>Recursive lookup</a:t>
            </a:r>
            <a:endParaRPr lang="en-US" altLang="zh-CN" b="1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E.g., “/</a:t>
            </a:r>
            <a:r>
              <a:rPr lang="en-US" altLang="zh-CN" dirty="0" err="1">
                <a:ea typeface="等线" panose="02010600030101010101" charset="-122"/>
              </a:rPr>
              <a:t>usr</a:t>
            </a:r>
            <a:r>
              <a:rPr lang="en-US" altLang="zh-CN" dirty="0">
                <a:ea typeface="等线" panose="02010600030101010101" charset="-122"/>
              </a:rPr>
              <a:t>/bin/</a:t>
            </a:r>
            <a:r>
              <a:rPr lang="en-US" altLang="zh-CN" dirty="0" err="1">
                <a:ea typeface="等线" panose="02010600030101010101" charset="-122"/>
              </a:rPr>
              <a:t>rm</a:t>
            </a:r>
            <a:r>
              <a:rPr lang="en-US" altLang="zh-CN" dirty="0">
                <a:ea typeface="等线" panose="02010600030101010101" charset="-122"/>
              </a:rPr>
              <a:t>”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First find “</a:t>
            </a:r>
            <a:r>
              <a:rPr lang="en-US" altLang="zh-CN" dirty="0" err="1">
                <a:ea typeface="等线" panose="02010600030101010101" charset="-122"/>
              </a:rPr>
              <a:t>usr</a:t>
            </a:r>
            <a:r>
              <a:rPr lang="en-US" altLang="zh-CN" dirty="0">
                <a:ea typeface="等线" panose="02010600030101010101" charset="-122"/>
              </a:rPr>
              <a:t>” in “/”, then find “bin” in “/</a:t>
            </a:r>
            <a:r>
              <a:rPr lang="en-US" altLang="zh-CN" dirty="0" err="1">
                <a:ea typeface="等线" panose="02010600030101010101" charset="-122"/>
              </a:rPr>
              <a:t>usr</a:t>
            </a:r>
            <a:r>
              <a:rPr lang="en-US" altLang="zh-CN" dirty="0">
                <a:ea typeface="等线" panose="02010600030101010101" charset="-122"/>
              </a:rPr>
              <a:t>”, then “</a:t>
            </a:r>
            <a:r>
              <a:rPr lang="en-US" altLang="zh-CN" dirty="0" err="1">
                <a:ea typeface="等线" panose="02010600030101010101" charset="-122"/>
              </a:rPr>
              <a:t>rm</a:t>
            </a:r>
            <a:r>
              <a:rPr lang="en-US" altLang="zh-CN" dirty="0">
                <a:ea typeface="等线" panose="02010600030101010101" charset="-122"/>
              </a:rPr>
              <a:t>”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Each look-up process is the same</a:t>
            </a:r>
            <a:endParaRPr lang="en-US" altLang="zh-CN" dirty="0">
              <a:ea typeface="等线" panose="02010600030101010101" charset="-122"/>
            </a:endParaRPr>
          </a:p>
          <a:p>
            <a:r>
              <a:rPr lang="nl-NL" altLang="zh-CN" b="1" dirty="0">
                <a:ea typeface="等线" panose="02010600030101010101" charset="-122"/>
              </a:rPr>
              <a:t>Multiple </a:t>
            </a:r>
            <a:r>
              <a:rPr lang="nl-NL" altLang="zh-CN" b="1" dirty="0" err="1">
                <a:ea typeface="等线" panose="02010600030101010101" charset="-122"/>
              </a:rPr>
              <a:t>lookup</a:t>
            </a:r>
            <a:endParaRPr lang="nl-NL" altLang="zh-CN" b="1" dirty="0">
              <a:ea typeface="等线" panose="02010600030101010101" charset="-122"/>
            </a:endParaRPr>
          </a:p>
          <a:p>
            <a:pPr lvl="1"/>
            <a:r>
              <a:rPr lang="nl-NL" altLang="zh-CN" b="1" dirty="0" err="1">
                <a:solidFill>
                  <a:srgbClr val="C00000"/>
                </a:solidFill>
                <a:ea typeface="等线" panose="02010600030101010101" charset="-122"/>
              </a:rPr>
              <a:t>Recall</a:t>
            </a:r>
            <a:r>
              <a:rPr lang="nl-NL" altLang="zh-CN" dirty="0">
                <a:solidFill>
                  <a:srgbClr val="C00000"/>
                </a:solidFill>
                <a:ea typeface="等线" panose="02010600030101010101" charset="-122"/>
              </a:rPr>
              <a:t>: </a:t>
            </a:r>
            <a:r>
              <a:rPr lang="nl-NL" altLang="zh-CN" dirty="0" err="1">
                <a:solidFill>
                  <a:srgbClr val="C00000"/>
                </a:solidFill>
                <a:ea typeface="等线" panose="02010600030101010101" charset="-122"/>
              </a:rPr>
              <a:t>how</a:t>
            </a:r>
            <a:r>
              <a:rPr lang="nl-NL" altLang="zh-CN" dirty="0">
                <a:solidFill>
                  <a:srgbClr val="C00000"/>
                </a:solidFill>
                <a:ea typeface="等线" panose="02010600030101010101" charset="-122"/>
              </a:rPr>
              <a:t> </a:t>
            </a:r>
            <a:r>
              <a:rPr lang="nl-NL" altLang="zh-CN" dirty="0" err="1">
                <a:solidFill>
                  <a:srgbClr val="C00000"/>
                </a:solidFill>
                <a:ea typeface="等线" panose="02010600030101010101" charset="-122"/>
              </a:rPr>
              <a:t>to</a:t>
            </a:r>
            <a:r>
              <a:rPr lang="nl-NL" altLang="zh-CN" dirty="0">
                <a:solidFill>
                  <a:srgbClr val="C00000"/>
                </a:solidFill>
                <a:ea typeface="等线" panose="02010600030101010101" charset="-122"/>
              </a:rPr>
              <a:t> </a:t>
            </a:r>
            <a:r>
              <a:rPr lang="nl-NL" altLang="zh-CN" dirty="0" err="1">
                <a:solidFill>
                  <a:srgbClr val="C00000"/>
                </a:solidFill>
                <a:ea typeface="等线" panose="02010600030101010101" charset="-122"/>
              </a:rPr>
              <a:t>find</a:t>
            </a:r>
            <a:r>
              <a:rPr lang="nl-NL" altLang="zh-CN" dirty="0">
                <a:solidFill>
                  <a:srgbClr val="C00000"/>
                </a:solidFill>
                <a:ea typeface="等线" panose="02010600030101010101" charset="-122"/>
              </a:rPr>
              <a:t> “</a:t>
            </a:r>
            <a:r>
              <a:rPr lang="nl-NL" altLang="zh-CN" dirty="0" err="1">
                <a:solidFill>
                  <a:srgbClr val="C00000"/>
                </a:solidFill>
                <a:ea typeface="等线" panose="02010600030101010101" charset="-122"/>
              </a:rPr>
              <a:t>rm</a:t>
            </a:r>
            <a:r>
              <a:rPr lang="nl-NL" altLang="zh-CN" dirty="0">
                <a:solidFill>
                  <a:srgbClr val="C00000"/>
                </a:solidFill>
                <a:ea typeface="等线" panose="02010600030101010101" charset="-122"/>
              </a:rPr>
              <a:t>” without absolute name?</a:t>
            </a:r>
            <a:endParaRPr lang="nl-NL" altLang="zh-CN" dirty="0">
              <a:solidFill>
                <a:srgbClr val="C00000"/>
              </a:solidFill>
              <a:ea typeface="等线" panose="02010600030101010101" charset="-122"/>
            </a:endParaRPr>
          </a:p>
          <a:p>
            <a:pPr lvl="1"/>
            <a:r>
              <a:rPr lang="nl-NL" altLang="zh-CN" dirty="0">
                <a:ea typeface="等线" panose="02010600030101010101" charset="-122"/>
              </a:rPr>
              <a:t>$PATH</a:t>
            </a:r>
            <a:endParaRPr lang="nl-NL" altLang="zh-CN" dirty="0">
              <a:ea typeface="等线" panose="02010600030101010101" charset="-122"/>
            </a:endParaRPr>
          </a:p>
          <a:p>
            <a:pPr lvl="2"/>
            <a:r>
              <a:rPr lang="nl-NL" altLang="zh-CN" sz="1600" dirty="0">
                <a:ea typeface="等线" panose="02010600030101010101" charset="-122"/>
              </a:rPr>
              <a:t>E.g., “/</a:t>
            </a:r>
            <a:r>
              <a:rPr lang="nl-NL" altLang="zh-CN" sz="1600" dirty="0" err="1">
                <a:ea typeface="等线" panose="02010600030101010101" charset="-122"/>
              </a:rPr>
              <a:t>usr</a:t>
            </a:r>
            <a:r>
              <a:rPr lang="nl-NL" altLang="zh-CN" sz="1600" dirty="0">
                <a:ea typeface="等线" panose="02010600030101010101" charset="-122"/>
              </a:rPr>
              <a:t>/</a:t>
            </a:r>
            <a:r>
              <a:rPr lang="nl-NL" altLang="zh-CN" sz="1600" dirty="0" err="1">
                <a:ea typeface="等线" panose="02010600030101010101" charset="-122"/>
              </a:rPr>
              <a:t>local</a:t>
            </a:r>
            <a:r>
              <a:rPr lang="nl-NL" altLang="zh-CN" sz="1600" dirty="0">
                <a:ea typeface="等线" panose="02010600030101010101" charset="-122"/>
              </a:rPr>
              <a:t>/</a:t>
            </a:r>
            <a:r>
              <a:rPr lang="nl-NL" altLang="zh-CN" sz="1600" dirty="0" err="1">
                <a:ea typeface="等线" panose="02010600030101010101" charset="-122"/>
              </a:rPr>
              <a:t>sbin</a:t>
            </a:r>
            <a:r>
              <a:rPr lang="nl-NL" altLang="zh-CN" sz="1600" dirty="0">
                <a:ea typeface="等线" panose="02010600030101010101" charset="-122"/>
              </a:rPr>
              <a:t>:/</a:t>
            </a:r>
            <a:r>
              <a:rPr lang="nl-NL" altLang="zh-CN" sz="1600" dirty="0" err="1">
                <a:ea typeface="等线" panose="02010600030101010101" charset="-122"/>
              </a:rPr>
              <a:t>usr</a:t>
            </a:r>
            <a:r>
              <a:rPr lang="nl-NL" altLang="zh-CN" sz="1600" dirty="0">
                <a:ea typeface="等线" panose="02010600030101010101" charset="-122"/>
              </a:rPr>
              <a:t>/</a:t>
            </a:r>
            <a:r>
              <a:rPr lang="nl-NL" altLang="zh-CN" sz="1600" dirty="0" err="1">
                <a:ea typeface="等线" panose="02010600030101010101" charset="-122"/>
              </a:rPr>
              <a:t>local</a:t>
            </a:r>
            <a:r>
              <a:rPr lang="nl-NL" altLang="zh-CN" sz="1600" dirty="0">
                <a:ea typeface="等线" panose="02010600030101010101" charset="-122"/>
              </a:rPr>
              <a:t>/bin:/</a:t>
            </a:r>
            <a:r>
              <a:rPr lang="nl-NL" altLang="zh-CN" sz="1600" dirty="0" err="1">
                <a:ea typeface="等线" panose="02010600030101010101" charset="-122"/>
              </a:rPr>
              <a:t>usr</a:t>
            </a:r>
            <a:r>
              <a:rPr lang="nl-NL" altLang="zh-CN" sz="1600" dirty="0">
                <a:ea typeface="等线" panose="02010600030101010101" charset="-122"/>
              </a:rPr>
              <a:t>/</a:t>
            </a:r>
            <a:r>
              <a:rPr lang="nl-NL" altLang="zh-CN" sz="1600" dirty="0" err="1">
                <a:ea typeface="等线" panose="02010600030101010101" charset="-122"/>
              </a:rPr>
              <a:t>sbin</a:t>
            </a:r>
            <a:r>
              <a:rPr lang="nl-NL" altLang="zh-CN" sz="1600" dirty="0">
                <a:ea typeface="等线" panose="02010600030101010101" charset="-122"/>
              </a:rPr>
              <a:t>:/</a:t>
            </a:r>
            <a:r>
              <a:rPr lang="nl-NL" altLang="zh-CN" sz="1600" dirty="0" err="1">
                <a:ea typeface="等线" panose="02010600030101010101" charset="-122"/>
              </a:rPr>
              <a:t>usr</a:t>
            </a:r>
            <a:r>
              <a:rPr lang="nl-NL" altLang="zh-CN" sz="1600" dirty="0">
                <a:ea typeface="等线" panose="02010600030101010101" charset="-122"/>
              </a:rPr>
              <a:t>/bin:/</a:t>
            </a:r>
            <a:r>
              <a:rPr lang="nl-NL" altLang="zh-CN" sz="1600" dirty="0" err="1">
                <a:ea typeface="等线" panose="02010600030101010101" charset="-122"/>
              </a:rPr>
              <a:t>sbin</a:t>
            </a:r>
            <a:r>
              <a:rPr lang="nl-NL" altLang="zh-CN" sz="1600" dirty="0">
                <a:ea typeface="等线" panose="02010600030101010101" charset="-122"/>
              </a:rPr>
              <a:t>:/bin”</a:t>
            </a:r>
            <a:endParaRPr lang="nl-NL" altLang="zh-CN" sz="1600" dirty="0">
              <a:ea typeface="等线" panose="02010600030101010101" charset="-122"/>
            </a:endParaRPr>
          </a:p>
          <a:p>
            <a:pPr lvl="1"/>
            <a:r>
              <a:rPr lang="nl-NL" altLang="zh-CN" dirty="0">
                <a:ea typeface="等线" panose="02010600030101010101" charset="-122"/>
              </a:rPr>
              <a:t>Look</a:t>
            </a:r>
            <a:r>
              <a:rPr lang="en-US" altLang="zh-CN" dirty="0">
                <a:ea typeface="等线" panose="02010600030101010101" charset="-122"/>
              </a:rPr>
              <a:t>-up</a:t>
            </a:r>
            <a:r>
              <a:rPr lang="zh-CN" altLang="en-US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in</a:t>
            </a:r>
            <a:r>
              <a:rPr lang="zh-CN" altLang="en-US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a</a:t>
            </a:r>
            <a:r>
              <a:rPr lang="zh-CN" altLang="en-US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predefined</a:t>
            </a:r>
            <a:r>
              <a:rPr lang="zh-CN" altLang="en-US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list</a:t>
            </a:r>
            <a:r>
              <a:rPr lang="zh-CN" altLang="en-US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of</a:t>
            </a:r>
            <a:r>
              <a:rPr lang="zh-CN" altLang="en-US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context</a:t>
            </a:r>
            <a:endParaRPr lang="nl-NL" altLang="zh-CN" dirty="0">
              <a:ea typeface="等线" panose="02010600030101010101" charset="-122"/>
            </a:endParaRPr>
          </a:p>
          <a:p>
            <a:pPr lvl="1">
              <a:lnSpc>
                <a:spcPct val="114000"/>
              </a:lnSpc>
            </a:pPr>
            <a:endParaRPr lang="zh-CN" altLang="en-US" sz="2000" dirty="0">
              <a:ea typeface="等线" panose="0201060003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等线" panose="02010600030101010101" charset="-122"/>
              </a:rPr>
              <a:t>Interpreter Naming API</a:t>
            </a:r>
            <a:endParaRPr lang="en-US" altLang="zh-CN" dirty="0">
              <a:ea typeface="等线" panose="02010600030101010101" charset="-122"/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i-FI" altLang="zh-CN" i="1" dirty="0">
                <a:ea typeface="等线" panose="02010600030101010101" charset="-122"/>
              </a:rPr>
              <a:t> </a:t>
            </a:r>
            <a:r>
              <a:rPr lang="fi-FI" altLang="zh-CN" b="1" i="1" dirty="0">
                <a:solidFill>
                  <a:srgbClr val="0096FF"/>
                </a:solidFill>
                <a:ea typeface="等线" panose="02010600030101010101" charset="-122"/>
              </a:rPr>
              <a:t>value</a:t>
            </a:r>
            <a:r>
              <a:rPr lang="fi-FI" altLang="zh-CN" i="1" dirty="0">
                <a:ea typeface="等线" panose="02010600030101010101" charset="-122"/>
              </a:rPr>
              <a:t> </a:t>
            </a:r>
            <a:r>
              <a:rPr lang="fi-FI" altLang="zh-CN" dirty="0">
                <a:ea typeface="等线" panose="02010600030101010101" charset="-122"/>
              </a:rPr>
              <a:t>← </a:t>
            </a:r>
            <a:r>
              <a:rPr lang="fi-FI" altLang="zh-CN" b="1" dirty="0">
                <a:ea typeface="等线" panose="02010600030101010101" charset="-122"/>
              </a:rPr>
              <a:t>RESOLVE</a:t>
            </a:r>
            <a:r>
              <a:rPr lang="fi-FI" altLang="zh-CN" dirty="0">
                <a:ea typeface="等线" panose="02010600030101010101" charset="-122"/>
              </a:rPr>
              <a:t>(</a:t>
            </a:r>
            <a:r>
              <a:rPr lang="fi-FI" altLang="zh-CN" i="1" dirty="0">
                <a:ea typeface="等线" panose="02010600030101010101" charset="-122"/>
              </a:rPr>
              <a:t>name</a:t>
            </a:r>
            <a:r>
              <a:rPr lang="fi-FI" altLang="zh-CN" dirty="0">
                <a:ea typeface="等线" panose="02010600030101010101" charset="-122"/>
              </a:rPr>
              <a:t>, </a:t>
            </a:r>
            <a:r>
              <a:rPr lang="fi-FI" altLang="zh-CN" i="1" dirty="0">
                <a:ea typeface="等线" panose="02010600030101010101" charset="-122"/>
              </a:rPr>
              <a:t>context</a:t>
            </a:r>
            <a:r>
              <a:rPr lang="fi-FI" altLang="zh-CN" dirty="0">
                <a:ea typeface="等线" panose="02010600030101010101" charset="-122"/>
              </a:rPr>
              <a:t>)</a:t>
            </a:r>
            <a:endParaRPr lang="fi-FI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Return the mapping of </a:t>
            </a:r>
            <a:r>
              <a:rPr lang="en-US" altLang="zh-CN" i="1" dirty="0">
                <a:ea typeface="等线" panose="02010600030101010101" charset="-122"/>
              </a:rPr>
              <a:t>name </a:t>
            </a:r>
            <a:r>
              <a:rPr lang="en-US" altLang="zh-CN" dirty="0">
                <a:ea typeface="等线" panose="02010600030101010101" charset="-122"/>
              </a:rPr>
              <a:t>in the </a:t>
            </a:r>
            <a:r>
              <a:rPr lang="en-US" altLang="zh-CN" i="1" dirty="0">
                <a:ea typeface="等线" panose="02010600030101010101" charset="-122"/>
              </a:rPr>
              <a:t>context</a:t>
            </a:r>
            <a:endParaRPr lang="en-US" altLang="zh-CN" i="1" dirty="0">
              <a:ea typeface="等线" panose="02010600030101010101" charset="-122"/>
            </a:endParaRPr>
          </a:p>
          <a:p>
            <a:r>
              <a:rPr lang="en-US" altLang="zh-CN" i="1" dirty="0">
                <a:ea typeface="等线" panose="02010600030101010101" charset="-122"/>
              </a:rPr>
              <a:t> </a:t>
            </a:r>
            <a:r>
              <a:rPr lang="en-US" altLang="zh-CN" b="1" i="1" dirty="0">
                <a:solidFill>
                  <a:srgbClr val="0096FF"/>
                </a:solidFill>
                <a:ea typeface="等线" panose="02010600030101010101" charset="-122"/>
              </a:rPr>
              <a:t>status</a:t>
            </a:r>
            <a:r>
              <a:rPr lang="en-US" altLang="zh-CN" i="1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← </a:t>
            </a:r>
            <a:r>
              <a:rPr lang="en-US" altLang="zh-CN" b="1" dirty="0">
                <a:ea typeface="等线" panose="02010600030101010101" charset="-122"/>
              </a:rPr>
              <a:t>BIND</a:t>
            </a:r>
            <a:r>
              <a:rPr lang="en-US" altLang="zh-CN" dirty="0">
                <a:ea typeface="等线" panose="02010600030101010101" charset="-122"/>
              </a:rPr>
              <a:t>(</a:t>
            </a:r>
            <a:r>
              <a:rPr lang="en-US" altLang="zh-CN" i="1" dirty="0">
                <a:ea typeface="等线" panose="02010600030101010101" charset="-122"/>
              </a:rPr>
              <a:t>name</a:t>
            </a:r>
            <a:r>
              <a:rPr lang="en-US" altLang="zh-CN" dirty="0">
                <a:ea typeface="等线" panose="02010600030101010101" charset="-122"/>
              </a:rPr>
              <a:t>, </a:t>
            </a:r>
            <a:r>
              <a:rPr lang="en-US" altLang="zh-CN" i="1" dirty="0">
                <a:ea typeface="等线" panose="02010600030101010101" charset="-122"/>
              </a:rPr>
              <a:t>value</a:t>
            </a:r>
            <a:r>
              <a:rPr lang="en-US" altLang="zh-CN" dirty="0">
                <a:ea typeface="等线" panose="02010600030101010101" charset="-122"/>
              </a:rPr>
              <a:t>, </a:t>
            </a:r>
            <a:r>
              <a:rPr lang="en-US" altLang="zh-CN" i="1" dirty="0">
                <a:ea typeface="等线" panose="02010600030101010101" charset="-122"/>
              </a:rPr>
              <a:t>context</a:t>
            </a:r>
            <a:r>
              <a:rPr lang="en-US" altLang="zh-CN" dirty="0">
                <a:ea typeface="等线" panose="02010600030101010101" charset="-122"/>
              </a:rPr>
              <a:t>)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Establish a </a:t>
            </a:r>
            <a:r>
              <a:rPr lang="en-US" altLang="zh-CN" i="1" dirty="0">
                <a:ea typeface="等线" panose="02010600030101010101" charset="-122"/>
              </a:rPr>
              <a:t>name </a:t>
            </a:r>
            <a:r>
              <a:rPr lang="en-US" altLang="zh-CN" dirty="0">
                <a:ea typeface="等线" panose="02010600030101010101" charset="-122"/>
              </a:rPr>
              <a:t>to </a:t>
            </a:r>
            <a:r>
              <a:rPr lang="en-US" altLang="zh-CN" i="1" dirty="0">
                <a:ea typeface="等线" panose="02010600030101010101" charset="-122"/>
              </a:rPr>
              <a:t>value mapping </a:t>
            </a:r>
            <a:r>
              <a:rPr lang="en-US" altLang="zh-CN" dirty="0">
                <a:ea typeface="等线" panose="02010600030101010101" charset="-122"/>
              </a:rPr>
              <a:t>in the </a:t>
            </a:r>
            <a:r>
              <a:rPr lang="en-US" altLang="zh-CN" i="1" dirty="0">
                <a:ea typeface="等线" panose="02010600030101010101" charset="-122"/>
              </a:rPr>
              <a:t>context</a:t>
            </a:r>
            <a:endParaRPr lang="en-US" altLang="zh-CN" i="1" dirty="0">
              <a:ea typeface="等线" panose="02010600030101010101" charset="-122"/>
            </a:endParaRPr>
          </a:p>
          <a:p>
            <a:r>
              <a:rPr lang="en-US" altLang="zh-CN" i="1" dirty="0">
                <a:ea typeface="等线" panose="02010600030101010101" charset="-122"/>
              </a:rPr>
              <a:t> </a:t>
            </a:r>
            <a:r>
              <a:rPr lang="en-US" altLang="zh-CN" b="1" i="1" dirty="0">
                <a:solidFill>
                  <a:srgbClr val="0096FF"/>
                </a:solidFill>
                <a:ea typeface="等线" panose="02010600030101010101" charset="-122"/>
              </a:rPr>
              <a:t>status</a:t>
            </a:r>
            <a:r>
              <a:rPr lang="en-US" altLang="zh-CN" i="1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← </a:t>
            </a:r>
            <a:r>
              <a:rPr lang="en-US" altLang="zh-CN" b="1" dirty="0">
                <a:ea typeface="等线" panose="02010600030101010101" charset="-122"/>
              </a:rPr>
              <a:t>UNBIND</a:t>
            </a:r>
            <a:r>
              <a:rPr lang="en-US" altLang="zh-CN" dirty="0">
                <a:ea typeface="等线" panose="02010600030101010101" charset="-122"/>
              </a:rPr>
              <a:t>(</a:t>
            </a:r>
            <a:r>
              <a:rPr lang="en-US" altLang="zh-CN" i="1" dirty="0">
                <a:ea typeface="等线" panose="02010600030101010101" charset="-122"/>
              </a:rPr>
              <a:t>name</a:t>
            </a:r>
            <a:r>
              <a:rPr lang="en-US" altLang="zh-CN" dirty="0">
                <a:ea typeface="等线" panose="02010600030101010101" charset="-122"/>
              </a:rPr>
              <a:t>, </a:t>
            </a:r>
            <a:r>
              <a:rPr lang="en-US" altLang="zh-CN" i="1" dirty="0">
                <a:ea typeface="等线" panose="02010600030101010101" charset="-122"/>
              </a:rPr>
              <a:t>context</a:t>
            </a:r>
            <a:r>
              <a:rPr lang="en-US" altLang="zh-CN" dirty="0">
                <a:ea typeface="等线" panose="02010600030101010101" charset="-122"/>
              </a:rPr>
              <a:t>)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Delete name from </a:t>
            </a:r>
            <a:r>
              <a:rPr lang="en-US" altLang="zh-CN" i="1" dirty="0">
                <a:ea typeface="等线" panose="02010600030101010101" charset="-122"/>
              </a:rPr>
              <a:t>context</a:t>
            </a:r>
            <a:endParaRPr lang="en-US" altLang="zh-CN" i="1" dirty="0">
              <a:ea typeface="等线" panose="02010600030101010101" charset="-122"/>
            </a:endParaRPr>
          </a:p>
          <a:p>
            <a:r>
              <a:rPr lang="en-US" altLang="zh-CN" i="1" dirty="0">
                <a:ea typeface="等线" panose="02010600030101010101" charset="-122"/>
              </a:rPr>
              <a:t> </a:t>
            </a:r>
            <a:r>
              <a:rPr lang="en-US" altLang="zh-CN" b="1" i="1" dirty="0">
                <a:solidFill>
                  <a:srgbClr val="0096FF"/>
                </a:solidFill>
                <a:ea typeface="等线" panose="02010600030101010101" charset="-122"/>
              </a:rPr>
              <a:t>list</a:t>
            </a:r>
            <a:r>
              <a:rPr lang="en-US" altLang="zh-CN" i="1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← </a:t>
            </a:r>
            <a:r>
              <a:rPr lang="en-US" altLang="zh-CN" b="1" dirty="0">
                <a:ea typeface="等线" panose="02010600030101010101" charset="-122"/>
              </a:rPr>
              <a:t>ENUMERATE</a:t>
            </a:r>
            <a:r>
              <a:rPr lang="en-US" altLang="zh-CN" dirty="0">
                <a:ea typeface="等线" panose="02010600030101010101" charset="-122"/>
              </a:rPr>
              <a:t>(</a:t>
            </a:r>
            <a:r>
              <a:rPr lang="en-US" altLang="zh-CN" i="1" dirty="0">
                <a:ea typeface="等线" panose="02010600030101010101" charset="-122"/>
              </a:rPr>
              <a:t>context</a:t>
            </a:r>
            <a:r>
              <a:rPr lang="en-US" altLang="zh-CN" dirty="0">
                <a:ea typeface="等线" panose="02010600030101010101" charset="-122"/>
              </a:rPr>
              <a:t>)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Return a list of all bindings</a:t>
            </a:r>
            <a:endParaRPr lang="en-US" altLang="zh-CN" dirty="0">
              <a:ea typeface="等线" panose="02010600030101010101" charset="-122"/>
            </a:endParaRPr>
          </a:p>
          <a:p>
            <a:r>
              <a:rPr lang="en-US" altLang="zh-CN" i="1" dirty="0">
                <a:ea typeface="等线" panose="02010600030101010101" charset="-122"/>
              </a:rPr>
              <a:t> </a:t>
            </a:r>
            <a:r>
              <a:rPr lang="en-US" altLang="zh-CN" b="1" i="1" dirty="0">
                <a:solidFill>
                  <a:srgbClr val="0096FF"/>
                </a:solidFill>
                <a:ea typeface="等线" panose="02010600030101010101" charset="-122"/>
              </a:rPr>
              <a:t>result</a:t>
            </a:r>
            <a:r>
              <a:rPr lang="en-US" altLang="zh-CN" i="1" dirty="0">
                <a:ea typeface="等线" panose="02010600030101010101" charset="-122"/>
              </a:rPr>
              <a:t> </a:t>
            </a:r>
            <a:r>
              <a:rPr lang="en-US" altLang="zh-CN" dirty="0">
                <a:ea typeface="等线" panose="02010600030101010101" charset="-122"/>
              </a:rPr>
              <a:t>← </a:t>
            </a:r>
            <a:r>
              <a:rPr lang="en-US" altLang="zh-CN" b="1" dirty="0">
                <a:ea typeface="等线" panose="02010600030101010101" charset="-122"/>
              </a:rPr>
              <a:t>COMPARE</a:t>
            </a:r>
            <a:r>
              <a:rPr lang="en-US" altLang="zh-CN" dirty="0">
                <a:ea typeface="等线" panose="02010600030101010101" charset="-122"/>
              </a:rPr>
              <a:t>(</a:t>
            </a:r>
            <a:r>
              <a:rPr lang="en-US" altLang="zh-CN" i="1" dirty="0">
                <a:ea typeface="等线" panose="02010600030101010101" charset="-122"/>
              </a:rPr>
              <a:t>name1</a:t>
            </a:r>
            <a:r>
              <a:rPr lang="en-US" altLang="zh-CN" dirty="0">
                <a:ea typeface="等线" panose="02010600030101010101" charset="-122"/>
              </a:rPr>
              <a:t>, </a:t>
            </a:r>
            <a:r>
              <a:rPr lang="en-US" altLang="zh-CN" i="1" dirty="0">
                <a:ea typeface="等线" panose="02010600030101010101" charset="-122"/>
              </a:rPr>
              <a:t>name2</a:t>
            </a:r>
            <a:r>
              <a:rPr lang="en-US" altLang="zh-CN" dirty="0">
                <a:ea typeface="等线" panose="02010600030101010101" charset="-122"/>
              </a:rPr>
              <a:t>)</a:t>
            </a:r>
            <a:endParaRPr lang="en-US" altLang="zh-CN" dirty="0">
              <a:ea typeface="等线" panose="02010600030101010101" charset="-122"/>
            </a:endParaRPr>
          </a:p>
          <a:p>
            <a:pPr lvl="1"/>
            <a:r>
              <a:rPr lang="en-US" altLang="zh-CN" dirty="0">
                <a:ea typeface="等线" panose="02010600030101010101" charset="-122"/>
              </a:rPr>
              <a:t>Check if </a:t>
            </a:r>
            <a:r>
              <a:rPr lang="en-US" altLang="zh-CN" i="1" dirty="0">
                <a:ea typeface="等线" panose="02010600030101010101" charset="-122"/>
              </a:rPr>
              <a:t>name1 </a:t>
            </a:r>
            <a:r>
              <a:rPr lang="en-US" altLang="zh-CN" dirty="0">
                <a:ea typeface="等线" panose="02010600030101010101" charset="-122"/>
              </a:rPr>
              <a:t>and </a:t>
            </a:r>
            <a:r>
              <a:rPr lang="en-US" altLang="zh-CN" i="1" dirty="0">
                <a:ea typeface="等线" panose="02010600030101010101" charset="-122"/>
              </a:rPr>
              <a:t>name2 </a:t>
            </a:r>
            <a:r>
              <a:rPr lang="en-US" altLang="zh-CN" dirty="0">
                <a:ea typeface="等线" panose="02010600030101010101" charset="-122"/>
              </a:rPr>
              <a:t>are equal</a:t>
            </a:r>
            <a:endParaRPr lang="en-US" altLang="zh-CN" dirty="0">
              <a:ea typeface="等线" panose="02010600030101010101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FAQ of Naming Scheme - 1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is the syntax of names?</a:t>
            </a:r>
            <a:endParaRPr lang="en-US" altLang="zh-CN" dirty="0"/>
          </a:p>
          <a:p>
            <a:r>
              <a:rPr lang="en-US" altLang="zh-CN" dirty="0"/>
              <a:t>What are the possible value?</a:t>
            </a:r>
            <a:endParaRPr lang="en-US" altLang="zh-CN" dirty="0"/>
          </a:p>
          <a:p>
            <a:r>
              <a:rPr lang="en-US" altLang="zh-CN" dirty="0"/>
              <a:t>What context is used to resolve names?</a:t>
            </a:r>
            <a:endParaRPr lang="en-US" altLang="zh-CN" dirty="0"/>
          </a:p>
          <a:p>
            <a:r>
              <a:rPr lang="en-US" altLang="zh-CN" dirty="0"/>
              <a:t>Who specifies the context?</a:t>
            </a:r>
            <a:endParaRPr lang="en-US" altLang="zh-CN" dirty="0"/>
          </a:p>
          <a:p>
            <a:r>
              <a:rPr lang="en-US" altLang="zh-CN" dirty="0"/>
              <a:t>Is a particular name global (context-free) or local?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FAQ of Naming Scheme - 2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Does every name have a value?</a:t>
            </a:r>
            <a:endParaRPr lang="en-US" altLang="zh-CN" dirty="0"/>
          </a:p>
          <a:p>
            <a:pPr lvl="1"/>
            <a:r>
              <a:rPr lang="en-US" altLang="zh-CN" dirty="0"/>
              <a:t>Or, can you have “dangling” names?</a:t>
            </a:r>
            <a:endParaRPr lang="en-US" altLang="zh-CN" dirty="0"/>
          </a:p>
          <a:p>
            <a:r>
              <a:rPr lang="en-US" altLang="zh-CN" dirty="0"/>
              <a:t>Can a single name have multiple values?</a:t>
            </a:r>
            <a:endParaRPr lang="en-US" altLang="zh-CN" dirty="0"/>
          </a:p>
          <a:p>
            <a:r>
              <a:rPr lang="en-US" altLang="zh-CN" dirty="0"/>
              <a:t>Does every value have a name?</a:t>
            </a:r>
            <a:endParaRPr lang="en-US" altLang="zh-CN" dirty="0"/>
          </a:p>
          <a:p>
            <a:pPr lvl="1"/>
            <a:r>
              <a:rPr lang="en-US" altLang="zh-CN" dirty="0"/>
              <a:t>Or, can you name everything?</a:t>
            </a:r>
            <a:endParaRPr lang="en-US" altLang="zh-CN" dirty="0"/>
          </a:p>
          <a:p>
            <a:r>
              <a:rPr lang="en-US" altLang="zh-CN" dirty="0"/>
              <a:t>Can a single value have multiple names?</a:t>
            </a:r>
            <a:endParaRPr lang="en-US" altLang="zh-CN" dirty="0"/>
          </a:p>
          <a:p>
            <a:pPr lvl="1"/>
            <a:r>
              <a:rPr lang="en-US" altLang="zh-CN" dirty="0"/>
              <a:t>Or, are there synonyms?</a:t>
            </a:r>
            <a:endParaRPr lang="en-US" altLang="zh-CN" dirty="0"/>
          </a:p>
          <a:p>
            <a:r>
              <a:rPr lang="en-US" altLang="zh-CN" dirty="0"/>
              <a:t>Can the value corresponding to a name change over time?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BE374B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0</TotalTime>
  <Words>10534</Words>
  <Application>WPS 演示</Application>
  <PresentationFormat>全屏显示(16:10)</PresentationFormat>
  <Paragraphs>517</Paragraphs>
  <Slides>48</Slides>
  <Notes>7</Notes>
  <HiddenSlides>3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5" baseType="lpstr">
      <vt:lpstr>Arial</vt:lpstr>
      <vt:lpstr>宋体</vt:lpstr>
      <vt:lpstr>Wingdings</vt:lpstr>
      <vt:lpstr>等线</vt:lpstr>
      <vt:lpstr>微软雅黑 Light</vt:lpstr>
      <vt:lpstr>PingFang SC</vt:lpstr>
      <vt:lpstr>微软雅黑</vt:lpstr>
      <vt:lpstr>Calibri</vt:lpstr>
      <vt:lpstr>Comic Sans MS</vt:lpstr>
      <vt:lpstr>Calibri Light</vt:lpstr>
      <vt:lpstr>MS PGothic</vt:lpstr>
      <vt:lpstr>Arial Unicode MS</vt:lpstr>
      <vt:lpstr>Calibri</vt:lpstr>
      <vt:lpstr>Myriad Pro Light SemiCond</vt:lpstr>
      <vt:lpstr>Segoe Print</vt:lpstr>
      <vt:lpstr>Symbol</vt:lpstr>
      <vt:lpstr>1_Office 主题​​</vt:lpstr>
      <vt:lpstr>TCP Congestion Control &amp; DNS</vt:lpstr>
      <vt:lpstr>PowerPoint 演示文稿</vt:lpstr>
      <vt:lpstr>DNS: Binding IP and Domain Name</vt:lpstr>
      <vt:lpstr>IP Address as a Type of Name</vt:lpstr>
      <vt:lpstr>Why Not Just Using IP Address?</vt:lpstr>
      <vt:lpstr>Questions on DNS</vt:lpstr>
      <vt:lpstr>Look-up Algorithm</vt:lpstr>
      <vt:lpstr>Distributing Responsibility</vt:lpstr>
      <vt:lpstr>Name Servers</vt:lpstr>
      <vt:lpstr>DNS Hierarchy (a partial view)</vt:lpstr>
      <vt:lpstr>Basic DNS Look-up Algorithm</vt:lpstr>
      <vt:lpstr>DNS Lookup</vt:lpstr>
      <vt:lpstr>DNS Lookup</vt:lpstr>
      <vt:lpstr>DNS Lookup</vt:lpstr>
      <vt:lpstr>DNS Lookup</vt:lpstr>
      <vt:lpstr>DNS Lookup</vt:lpstr>
      <vt:lpstr>Context in DNS</vt:lpstr>
      <vt:lpstr>Fault Tolerant</vt:lpstr>
      <vt:lpstr>Three Enhancements on Look-up Algorithm</vt:lpstr>
      <vt:lpstr>Three Enhancements on Look-up Algorithm</vt:lpstr>
      <vt:lpstr>DNS Request Process</vt:lpstr>
      <vt:lpstr>Three Enhancements on Look-up Algorithm</vt:lpstr>
      <vt:lpstr>Combine These Enhancements</vt:lpstr>
      <vt:lpstr>Other Features of DNS</vt:lpstr>
      <vt:lpstr>Other Features of DNS</vt:lpstr>
      <vt:lpstr>Name Discovery in DNS (at the first place)</vt:lpstr>
      <vt:lpstr>Comparing Hostname &amp; Filename</vt:lpstr>
      <vt:lpstr>PowerPoint 演示文稿</vt:lpstr>
      <vt:lpstr>Benefits of Hierarchical Design</vt:lpstr>
      <vt:lpstr>Good Points on DNS Design</vt:lpstr>
      <vt:lpstr>Good Points on DNS Design</vt:lpstr>
      <vt:lpstr>Bad Points on DNS Design</vt:lpstr>
      <vt:lpstr>PowerPoint 演示文稿</vt:lpstr>
      <vt:lpstr>Naming in General</vt:lpstr>
      <vt:lpstr>Naming a Disk</vt:lpstr>
      <vt:lpstr>Naming for Modularity</vt:lpstr>
      <vt:lpstr>Addresses as Names</vt:lpstr>
      <vt:lpstr>Naming Schemes</vt:lpstr>
      <vt:lpstr>Naming Model</vt:lpstr>
      <vt:lpstr>Naming Terminology</vt:lpstr>
      <vt:lpstr>Naming Context</vt:lpstr>
      <vt:lpstr>Determining Context - 1</vt:lpstr>
      <vt:lpstr>Determining Context - 2</vt:lpstr>
      <vt:lpstr>Name Mapping Algorithms - 1</vt:lpstr>
      <vt:lpstr>Name Mapping Algorithms - 2</vt:lpstr>
      <vt:lpstr>Interpreter Naming API</vt:lpstr>
      <vt:lpstr>FAQ of Naming Scheme - 1</vt:lpstr>
      <vt:lpstr>FAQ of Naming Scheme - 2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。</cp:lastModifiedBy>
  <cp:revision>1605</cp:revision>
  <cp:lastPrinted>2020-03-02T13:38:00Z</cp:lastPrinted>
  <dcterms:created xsi:type="dcterms:W3CDTF">2017-11-24T09:35:00Z</dcterms:created>
  <dcterms:modified xsi:type="dcterms:W3CDTF">2025-01-15T04:05:40Z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6239FAC5ADC7414BBDDF27F5B453EA6B_12</vt:lpwstr>
  </property>
  <property fmtid="{D5CDD505-2E9C-101B-9397-08002B2CF9AE}" pid="3" name="KSOProductBuildVer">
    <vt:lpwstr>2052-12.1.0.19770</vt:lpwstr>
  </property>
</Properties>
</file>