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2241" r:id="rId3"/>
    <p:sldId id="2268" r:id="rId5"/>
    <p:sldId id="2417" r:id="rId6"/>
    <p:sldId id="2429" r:id="rId7"/>
    <p:sldId id="2430" r:id="rId8"/>
    <p:sldId id="260" r:id="rId9"/>
    <p:sldId id="261" r:id="rId10"/>
    <p:sldId id="2431" r:id="rId11"/>
    <p:sldId id="2432" r:id="rId12"/>
    <p:sldId id="263" r:id="rId13"/>
    <p:sldId id="2433" r:id="rId14"/>
    <p:sldId id="2434" r:id="rId15"/>
    <p:sldId id="2435" r:id="rId16"/>
    <p:sldId id="2440" r:id="rId17"/>
    <p:sldId id="2436" r:id="rId18"/>
    <p:sldId id="2437" r:id="rId19"/>
    <p:sldId id="2438" r:id="rId20"/>
    <p:sldId id="2439" r:id="rId21"/>
    <p:sldId id="2441" r:id="rId22"/>
    <p:sldId id="2442" r:id="rId23"/>
    <p:sldId id="2443" r:id="rId24"/>
    <p:sldId id="2444" r:id="rId25"/>
    <p:sldId id="2445" r:id="rId26"/>
    <p:sldId id="2446" r:id="rId27"/>
    <p:sldId id="2447" r:id="rId28"/>
    <p:sldId id="2448" r:id="rId29"/>
    <p:sldId id="2449" r:id="rId30"/>
    <p:sldId id="2450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1400" r:id="rId42"/>
    <p:sldId id="1401" r:id="rId43"/>
    <p:sldId id="2452" r:id="rId44"/>
    <p:sldId id="2453" r:id="rId45"/>
    <p:sldId id="1404" r:id="rId46"/>
    <p:sldId id="2473" r:id="rId47"/>
    <p:sldId id="2454" r:id="rId48"/>
    <p:sldId id="2455" r:id="rId49"/>
    <p:sldId id="2456" r:id="rId50"/>
  </p:sldIdLst>
  <p:sldSz cx="9144000" cy="5715000" type="screen16x1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0432FF"/>
    <a:srgbClr val="E2EAF7"/>
    <a:srgbClr val="FF5F00"/>
    <a:srgbClr val="FF7E79"/>
    <a:srgbClr val="F6F9D6"/>
    <a:srgbClr val="B0FFD3"/>
    <a:srgbClr val="00FDFF"/>
    <a:srgbClr val="FFFC00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39" autoAdjust="0"/>
    <p:restoredTop sz="79382" autoAdjust="0"/>
  </p:normalViewPr>
  <p:slideViewPr>
    <p:cSldViewPr showGuides="1">
      <p:cViewPr varScale="1">
        <p:scale>
          <a:sx n="113" d="100"/>
          <a:sy n="113" d="100"/>
        </p:scale>
        <p:origin x="1432" y="184"/>
      </p:cViewPr>
      <p:guideLst>
        <p:guide orient="horz" pos="2480"/>
        <p:guide pos="2925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TODO: redraw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with a 512 byte block size, and 4 byte block pointers, each indirect block can consist of 128 (512 / 4) pointers.</a:t>
            </a:r>
            <a:endParaRPr lang="en-US" altLang="zh-CN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For one double indirect block: (128*128*512)</a:t>
            </a:r>
            <a:r>
              <a:rPr lang="en-US" altLang="zh-CN" baseline="0" dirty="0">
                <a:latin typeface="Times New Roman" panose="02020603050405020304" charset="0"/>
                <a:ea typeface="宋体" panose="02010600030101010101" pitchFamily="2" charset="-122"/>
              </a:rPr>
              <a:t> / (1024*1024)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+mn-lt"/>
                <a:ea typeface="+mn-ea"/>
                <a:cs typeface="PingFang SC" panose="020B0400000000000000" pitchFamily="34" charset="-122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+mn-lt"/>
                <a:ea typeface="+mn-ea"/>
                <a:cs typeface="PingFang SC" panose="020B0400000000000000" pitchFamily="34" charset="-122"/>
              </a:defRPr>
            </a:lvl1pPr>
            <a:lvl2pPr marL="360045"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2pPr>
            <a:lvl3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757238" y="1690127"/>
            <a:ext cx="7772400" cy="122502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dirty="0" err="1">
                <a:latin typeface="+mn-lt"/>
              </a:rPr>
              <a:t>inode</a:t>
            </a:r>
            <a:r>
              <a:rPr kumimoji="1" lang="en-US" altLang="zh-CN" sz="3600" dirty="0">
                <a:latin typeface="+mn-lt"/>
              </a:rPr>
              <a:t>-based File System</a:t>
            </a:r>
            <a:endParaRPr kumimoji="1" lang="zh-CN" altLang="en-US" sz="3600" dirty="0">
              <a:latin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 panose="020B050302020402020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 panose="020B0503020204020204" charset="-122"/>
              </a:rPr>
              <a:t>(2024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 panose="020B0503020204020204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+mj-lt"/>
                <a:ea typeface="微软雅黑" panose="020B0503020204020204" charset="-122"/>
              </a:rPr>
              <a:t>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4613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Yubin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Xia/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Xingda</a:t>
            </a:r>
            <a:r>
              <a:rPr kumimoji="1"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Wei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228866"/>
            <a:ext cx="8630919" cy="900442"/>
          </a:xfrm>
        </p:spPr>
        <p:txBody>
          <a:bodyPr/>
          <a:lstStyle/>
          <a:p>
            <a:r>
              <a:rPr kumimoji="1" lang="en-US" altLang="zh-CN" dirty="0"/>
              <a:t>Large-scale websites are built from distributed systems </a:t>
            </a:r>
            <a:endParaRPr kumimoji="1"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4549022" cy="1498280"/>
          </a:xfrm>
        </p:spPr>
        <p:txBody>
          <a:bodyPr>
            <a:normAutofit/>
          </a:bodyPr>
          <a:lstStyle/>
          <a:p>
            <a:r>
              <a:rPr kumimoji="1" lang="en-US" altLang="zh-CN" b="0" dirty="0"/>
              <a:t>While distributed systems are built from components on a </a:t>
            </a:r>
            <a:r>
              <a:rPr kumimoji="1" lang="en-US" altLang="zh-CN" dirty="0">
                <a:solidFill>
                  <a:srgbClr val="C00000"/>
                </a:solidFill>
              </a:rPr>
              <a:t>single</a:t>
            </a:r>
            <a:r>
              <a:rPr kumimoji="1" lang="en-US" altLang="zh-CN" b="0" dirty="0"/>
              <a:t> node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File system runtimes, etc. </a:t>
            </a:r>
            <a:endParaRPr kumimoji="1" lang="en-US" altLang="zh-CN" dirty="0"/>
          </a:p>
        </p:txBody>
      </p:sp>
      <p:grpSp>
        <p:nvGrpSpPr>
          <p:cNvPr id="31" name="组合 30"/>
          <p:cNvGrpSpPr/>
          <p:nvPr/>
        </p:nvGrpSpPr>
        <p:grpSpPr>
          <a:xfrm>
            <a:off x="5818303" y="4272758"/>
            <a:ext cx="3038209" cy="1240753"/>
            <a:chOff x="5004048" y="4297660"/>
            <a:chExt cx="3038209" cy="1240753"/>
          </a:xfrm>
        </p:grpSpPr>
        <p:grpSp>
          <p:nvGrpSpPr>
            <p:cNvPr id="12" name="组合 11"/>
            <p:cNvGrpSpPr/>
            <p:nvPr/>
          </p:nvGrpSpPr>
          <p:grpSpPr>
            <a:xfrm>
              <a:off x="5004048" y="4297660"/>
              <a:ext cx="905319" cy="801616"/>
              <a:chOff x="5914584" y="4712265"/>
              <a:chExt cx="905319" cy="801616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5914584" y="4712265"/>
                <a:ext cx="901209" cy="801616"/>
                <a:chOff x="5914584" y="4712265"/>
                <a:chExt cx="901209" cy="801616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6060281" y="4888681"/>
                  <a:ext cx="609817" cy="6252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5914584" y="4712265"/>
                  <a:ext cx="901209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rgbClr val="000000"/>
                      </a:solidFill>
                    </a:rPr>
                    <a:t>File server</a:t>
                  </a:r>
                  <a:endParaRPr lang="zh-CN" altLang="en-US" sz="1200" dirty="0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5914584" y="4989264"/>
                <a:ext cx="905319" cy="494965"/>
                <a:chOff x="4881156" y="4586631"/>
                <a:chExt cx="905319" cy="494965"/>
              </a:xfrm>
            </p:grpSpPr>
            <p:sp>
              <p:nvSpPr>
                <p:cNvPr id="7" name="一个圆顶角并剪去另一个顶角的矩形 6"/>
                <p:cNvSpPr/>
                <p:nvPr/>
              </p:nvSpPr>
              <p:spPr>
                <a:xfrm>
                  <a:off x="5087522" y="4586631"/>
                  <a:ext cx="492589" cy="461665"/>
                </a:xfrm>
                <a:prstGeom prst="snipRound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4881156" y="4619931"/>
                  <a:ext cx="905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File:</a:t>
                  </a:r>
                  <a:endParaRPr kumimoji="1" lang="en-US" altLang="zh-CN" sz="1200" b="1" dirty="0"/>
                </a:p>
                <a:p>
                  <a:pPr algn="ctr"/>
                  <a:r>
                    <a:rPr kumimoji="1" lang="en-US" altLang="zh-CN" sz="1200" dirty="0"/>
                    <a:t>image</a:t>
                  </a:r>
                  <a:endParaRPr kumimoji="1" lang="zh-CN" altLang="en-US" sz="1200" dirty="0"/>
                </a:p>
              </p:txBody>
            </p:sp>
          </p:grpSp>
        </p:grpSp>
        <p:grpSp>
          <p:nvGrpSpPr>
            <p:cNvPr id="13" name="组合 12"/>
            <p:cNvGrpSpPr/>
            <p:nvPr/>
          </p:nvGrpSpPr>
          <p:grpSpPr>
            <a:xfrm>
              <a:off x="5835606" y="4297660"/>
              <a:ext cx="905319" cy="801616"/>
              <a:chOff x="5914584" y="4712265"/>
              <a:chExt cx="905319" cy="801616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5914584" y="4712265"/>
                <a:ext cx="901209" cy="801616"/>
                <a:chOff x="5914584" y="4712265"/>
                <a:chExt cx="901209" cy="801616"/>
              </a:xfrm>
            </p:grpSpPr>
            <p:sp>
              <p:nvSpPr>
                <p:cNvPr id="18" name="矩形 17"/>
                <p:cNvSpPr/>
                <p:nvPr/>
              </p:nvSpPr>
              <p:spPr>
                <a:xfrm>
                  <a:off x="6060281" y="4888681"/>
                  <a:ext cx="609817" cy="6252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5914584" y="4712265"/>
                  <a:ext cx="901209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rgbClr val="000000"/>
                      </a:solidFill>
                    </a:rPr>
                    <a:t>File server</a:t>
                  </a:r>
                  <a:endParaRPr lang="zh-CN" altLang="en-US" sz="1200" dirty="0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5914584" y="4989264"/>
                <a:ext cx="905319" cy="494965"/>
                <a:chOff x="4881156" y="4586631"/>
                <a:chExt cx="905319" cy="494965"/>
              </a:xfrm>
            </p:grpSpPr>
            <p:sp>
              <p:nvSpPr>
                <p:cNvPr id="16" name="一个圆顶角并剪去另一个顶角的矩形 15"/>
                <p:cNvSpPr/>
                <p:nvPr/>
              </p:nvSpPr>
              <p:spPr>
                <a:xfrm>
                  <a:off x="5087522" y="4586631"/>
                  <a:ext cx="492589" cy="461665"/>
                </a:xfrm>
                <a:prstGeom prst="snipRound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4881156" y="4619931"/>
                  <a:ext cx="905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File:</a:t>
                  </a:r>
                  <a:endParaRPr kumimoji="1" lang="en-US" altLang="zh-CN" sz="1200" b="1" dirty="0"/>
                </a:p>
                <a:p>
                  <a:pPr algn="ctr"/>
                  <a:r>
                    <a:rPr kumimoji="1" lang="en-US" altLang="zh-CN" sz="1200" dirty="0"/>
                    <a:t>image</a:t>
                  </a:r>
                  <a:endParaRPr kumimoji="1" lang="zh-CN" altLang="en-US" sz="1200" dirty="0"/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7136938" y="4297660"/>
              <a:ext cx="905319" cy="801616"/>
              <a:chOff x="5914584" y="4712265"/>
              <a:chExt cx="905319" cy="801616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5914584" y="4712265"/>
                <a:ext cx="901209" cy="801616"/>
                <a:chOff x="5914584" y="4712265"/>
                <a:chExt cx="901209" cy="801616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6060281" y="4888681"/>
                  <a:ext cx="609817" cy="6252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5914584" y="4712265"/>
                  <a:ext cx="901209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rgbClr val="000000"/>
                      </a:solidFill>
                    </a:rPr>
                    <a:t>File server</a:t>
                  </a:r>
                  <a:endParaRPr lang="zh-CN" altLang="en-US" sz="1200" dirty="0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5914584" y="4989264"/>
                <a:ext cx="905319" cy="494965"/>
                <a:chOff x="4881156" y="4586631"/>
                <a:chExt cx="905319" cy="494965"/>
              </a:xfrm>
            </p:grpSpPr>
            <p:sp>
              <p:nvSpPr>
                <p:cNvPr id="23" name="一个圆顶角并剪去另一个顶角的矩形 22"/>
                <p:cNvSpPr/>
                <p:nvPr/>
              </p:nvSpPr>
              <p:spPr>
                <a:xfrm>
                  <a:off x="5087522" y="4586631"/>
                  <a:ext cx="492589" cy="461665"/>
                </a:xfrm>
                <a:prstGeom prst="snipRound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4881156" y="4619931"/>
                  <a:ext cx="905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File:</a:t>
                  </a:r>
                  <a:endParaRPr kumimoji="1" lang="en-US" altLang="zh-CN" sz="1200" b="1" dirty="0"/>
                </a:p>
                <a:p>
                  <a:pPr algn="ctr"/>
                  <a:r>
                    <a:rPr kumimoji="1" lang="en-US" altLang="zh-CN" sz="1200" dirty="0"/>
                    <a:t>image</a:t>
                  </a:r>
                  <a:endParaRPr kumimoji="1" lang="zh-CN" altLang="en-US" sz="1200" dirty="0"/>
                </a:p>
              </p:txBody>
            </p:sp>
          </p:grpSp>
        </p:grpSp>
        <p:sp>
          <p:nvSpPr>
            <p:cNvPr id="27" name="矩形 26"/>
            <p:cNvSpPr/>
            <p:nvPr/>
          </p:nvSpPr>
          <p:spPr>
            <a:xfrm>
              <a:off x="6680258" y="4546994"/>
              <a:ext cx="49244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000000"/>
                  </a:solidFill>
                </a:rPr>
                <a:t>…</a:t>
              </a:r>
              <a:endParaRPr lang="zh-CN" altLang="en-US" sz="2400" dirty="0"/>
            </a:p>
          </p:txBody>
        </p:sp>
        <p:cxnSp>
          <p:nvCxnSpPr>
            <p:cNvPr id="29" name="直线连接符 28"/>
            <p:cNvCxnSpPr/>
            <p:nvPr/>
          </p:nvCxnSpPr>
          <p:spPr>
            <a:xfrm>
              <a:off x="5090360" y="5161756"/>
              <a:ext cx="288840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5495307" y="5199859"/>
              <a:ext cx="2191626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rgbClr val="000000"/>
                  </a:solidFill>
                </a:rPr>
                <a:t>Distributed file system</a:t>
              </a:r>
              <a:endParaRPr lang="zh-CN" altLang="en-US" sz="1600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758122" y="2568458"/>
            <a:ext cx="3098390" cy="1384372"/>
            <a:chOff x="5645427" y="2766408"/>
            <a:chExt cx="3098390" cy="1384372"/>
          </a:xfrm>
        </p:grpSpPr>
        <p:grpSp>
          <p:nvGrpSpPr>
            <p:cNvPr id="33" name="组合 32"/>
            <p:cNvGrpSpPr/>
            <p:nvPr/>
          </p:nvGrpSpPr>
          <p:grpSpPr>
            <a:xfrm>
              <a:off x="5645427" y="2766408"/>
              <a:ext cx="1309974" cy="899967"/>
              <a:chOff x="6831174" y="4263832"/>
              <a:chExt cx="1309974" cy="89996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6848261" y="4495975"/>
                <a:ext cx="1212919" cy="66782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6831174" y="4263832"/>
                <a:ext cx="130997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000000"/>
                    </a:solidFill>
                  </a:rPr>
                  <a:t>Database server</a:t>
                </a:r>
                <a:endParaRPr lang="zh-CN" altLang="en-US" sz="1200" dirty="0"/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6951983" y="4538944"/>
                <a:ext cx="1080001" cy="584154"/>
                <a:chOff x="6642225" y="3964214"/>
                <a:chExt cx="816191" cy="584154"/>
              </a:xfrm>
            </p:grpSpPr>
            <p:sp>
              <p:nvSpPr>
                <p:cNvPr id="37" name="磁盘 36"/>
                <p:cNvSpPr/>
                <p:nvPr/>
              </p:nvSpPr>
              <p:spPr>
                <a:xfrm>
                  <a:off x="6642225" y="3964214"/>
                  <a:ext cx="816191" cy="584154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6679366" y="4033238"/>
                  <a:ext cx="73310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Database</a:t>
                  </a:r>
                  <a:endParaRPr kumimoji="1" lang="en-US" altLang="zh-CN" sz="1200" b="1" dirty="0"/>
                </a:p>
                <a:p>
                  <a:pPr algn="ctr"/>
                  <a:r>
                    <a:rPr kumimoji="1" lang="en-US" altLang="zh-CN" sz="1200" dirty="0"/>
                    <a:t>user, price</a:t>
                  </a:r>
                  <a:endParaRPr kumimoji="1" lang="zh-CN" altLang="en-US" sz="1200" dirty="0"/>
                </a:p>
              </p:txBody>
            </p:sp>
          </p:grpSp>
        </p:grpSp>
        <p:grpSp>
          <p:nvGrpSpPr>
            <p:cNvPr id="39" name="组合 38"/>
            <p:cNvGrpSpPr/>
            <p:nvPr/>
          </p:nvGrpSpPr>
          <p:grpSpPr>
            <a:xfrm>
              <a:off x="7433843" y="2770148"/>
              <a:ext cx="1309974" cy="899967"/>
              <a:chOff x="6831174" y="4263832"/>
              <a:chExt cx="1309974" cy="899967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6848261" y="4495975"/>
                <a:ext cx="1212919" cy="66782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6831174" y="4263832"/>
                <a:ext cx="130997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200" dirty="0">
                    <a:solidFill>
                      <a:srgbClr val="000000"/>
                    </a:solidFill>
                  </a:rPr>
                  <a:t>Database server</a:t>
                </a:r>
                <a:endParaRPr lang="zh-CN" altLang="en-US" sz="1200" dirty="0"/>
              </a:p>
            </p:txBody>
          </p:sp>
          <p:grpSp>
            <p:nvGrpSpPr>
              <p:cNvPr id="42" name="组合 41"/>
              <p:cNvGrpSpPr/>
              <p:nvPr/>
            </p:nvGrpSpPr>
            <p:grpSpPr>
              <a:xfrm>
                <a:off x="6951983" y="4538944"/>
                <a:ext cx="1080001" cy="584154"/>
                <a:chOff x="6642225" y="3964214"/>
                <a:chExt cx="816191" cy="584154"/>
              </a:xfrm>
            </p:grpSpPr>
            <p:sp>
              <p:nvSpPr>
                <p:cNvPr id="43" name="磁盘 42"/>
                <p:cNvSpPr/>
                <p:nvPr/>
              </p:nvSpPr>
              <p:spPr>
                <a:xfrm>
                  <a:off x="6642225" y="3964214"/>
                  <a:ext cx="816191" cy="584154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6679366" y="4033238"/>
                  <a:ext cx="73310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Database</a:t>
                  </a:r>
                  <a:endParaRPr kumimoji="1" lang="en-US" altLang="zh-CN" sz="1200" b="1" dirty="0"/>
                </a:p>
                <a:p>
                  <a:pPr algn="ctr"/>
                  <a:r>
                    <a:rPr kumimoji="1" lang="en-US" altLang="zh-CN" sz="1200" dirty="0"/>
                    <a:t>user, price</a:t>
                  </a:r>
                  <a:endParaRPr kumimoji="1" lang="zh-CN" altLang="en-US" sz="1200" dirty="0"/>
                </a:p>
              </p:txBody>
            </p:sp>
          </p:grpSp>
        </p:grpSp>
        <p:cxnSp>
          <p:nvCxnSpPr>
            <p:cNvPr id="45" name="直线连接符 44"/>
            <p:cNvCxnSpPr/>
            <p:nvPr/>
          </p:nvCxnSpPr>
          <p:spPr>
            <a:xfrm>
              <a:off x="5645427" y="3793604"/>
              <a:ext cx="30813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6897697" y="3066734"/>
              <a:ext cx="49244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rgbClr val="000000"/>
                  </a:solidFill>
                </a:rPr>
                <a:t>…</a:t>
              </a:r>
              <a:endParaRPr lang="zh-CN" altLang="en-US" sz="2400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6151448" y="3812226"/>
              <a:ext cx="206498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rgbClr val="000000"/>
                  </a:solidFill>
                </a:rPr>
                <a:t>Distributed database</a:t>
              </a:r>
              <a:endParaRPr lang="zh-CN" altLang="en-US" sz="1600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5383207" y="1199766"/>
            <a:ext cx="3704912" cy="1076455"/>
            <a:chOff x="5248883" y="1420516"/>
            <a:chExt cx="3704912" cy="1076455"/>
          </a:xfrm>
        </p:grpSpPr>
        <p:grpSp>
          <p:nvGrpSpPr>
            <p:cNvPr id="63" name="组合 62"/>
            <p:cNvGrpSpPr/>
            <p:nvPr/>
          </p:nvGrpSpPr>
          <p:grpSpPr>
            <a:xfrm>
              <a:off x="5248883" y="1420516"/>
              <a:ext cx="3704912" cy="608773"/>
              <a:chOff x="5248883" y="1420516"/>
              <a:chExt cx="3704912" cy="608773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5248883" y="1424862"/>
                <a:ext cx="1215397" cy="604427"/>
                <a:chOff x="4705349" y="3308267"/>
                <a:chExt cx="1215397" cy="604427"/>
              </a:xfrm>
            </p:grpSpPr>
            <p:sp>
              <p:nvSpPr>
                <p:cNvPr id="51" name="梯形 50"/>
                <p:cNvSpPr/>
                <p:nvPr/>
              </p:nvSpPr>
              <p:spPr>
                <a:xfrm>
                  <a:off x="4857850" y="3506191"/>
                  <a:ext cx="910397" cy="406503"/>
                </a:xfrm>
                <a:prstGeom prst="trapezoi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4896935" y="3566708"/>
                  <a:ext cx="79220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Caching</a:t>
                  </a:r>
                  <a:endParaRPr kumimoji="1" lang="en-US" altLang="zh-CN" sz="1200" b="1" dirty="0"/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4705349" y="3308267"/>
                  <a:ext cx="121539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rgbClr val="000000"/>
                      </a:solidFill>
                    </a:rPr>
                    <a:t>Caching server</a:t>
                  </a:r>
                  <a:endParaRPr lang="zh-CN" altLang="en-US" sz="1200" dirty="0"/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50866" y="1424862"/>
                <a:ext cx="1215397" cy="604427"/>
                <a:chOff x="4705349" y="3308267"/>
                <a:chExt cx="1215397" cy="604427"/>
              </a:xfrm>
            </p:grpSpPr>
            <p:sp>
              <p:nvSpPr>
                <p:cNvPr id="55" name="梯形 54"/>
                <p:cNvSpPr/>
                <p:nvPr/>
              </p:nvSpPr>
              <p:spPr>
                <a:xfrm>
                  <a:off x="4857850" y="3506191"/>
                  <a:ext cx="910397" cy="406503"/>
                </a:xfrm>
                <a:prstGeom prst="trapezoi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4896935" y="3566708"/>
                  <a:ext cx="79220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Caching</a:t>
                  </a:r>
                  <a:endParaRPr kumimoji="1" lang="en-US" altLang="zh-CN" sz="1200" b="1" dirty="0"/>
                </a:p>
              </p:txBody>
            </p:sp>
            <p:sp>
              <p:nvSpPr>
                <p:cNvPr id="57" name="矩形 56"/>
                <p:cNvSpPr/>
                <p:nvPr/>
              </p:nvSpPr>
              <p:spPr>
                <a:xfrm>
                  <a:off x="4705349" y="3308267"/>
                  <a:ext cx="121539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rgbClr val="000000"/>
                      </a:solidFill>
                    </a:rPr>
                    <a:t>Caching server</a:t>
                  </a:r>
                  <a:endParaRPr lang="zh-CN" altLang="en-US" sz="1200" dirty="0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7738398" y="1420516"/>
                <a:ext cx="1215397" cy="604427"/>
                <a:chOff x="4705349" y="3308267"/>
                <a:chExt cx="1215397" cy="604427"/>
              </a:xfrm>
            </p:grpSpPr>
            <p:sp>
              <p:nvSpPr>
                <p:cNvPr id="59" name="梯形 58"/>
                <p:cNvSpPr/>
                <p:nvPr/>
              </p:nvSpPr>
              <p:spPr>
                <a:xfrm>
                  <a:off x="4857850" y="3506191"/>
                  <a:ext cx="910397" cy="406503"/>
                </a:xfrm>
                <a:prstGeom prst="trapezoi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4896935" y="3566708"/>
                  <a:ext cx="79220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Caching</a:t>
                  </a:r>
                  <a:endParaRPr kumimoji="1" lang="en-US" altLang="zh-CN" sz="1200" b="1" dirty="0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4705349" y="3308267"/>
                  <a:ext cx="121539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rgbClr val="000000"/>
                      </a:solidFill>
                    </a:rPr>
                    <a:t>Caching server</a:t>
                  </a:r>
                  <a:endParaRPr lang="zh-CN" altLang="en-US" sz="1200" dirty="0"/>
                </a:p>
              </p:txBody>
            </p:sp>
          </p:grpSp>
          <p:sp>
            <p:nvSpPr>
              <p:cNvPr id="62" name="矩形 61"/>
              <p:cNvSpPr/>
              <p:nvPr/>
            </p:nvSpPr>
            <p:spPr>
              <a:xfrm>
                <a:off x="7415910" y="1502122"/>
                <a:ext cx="492443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dirty="0">
                    <a:solidFill>
                      <a:srgbClr val="000000"/>
                    </a:solidFill>
                  </a:rPr>
                  <a:t>…</a:t>
                </a:r>
                <a:endParaRPr lang="zh-CN" altLang="en-US" sz="2400" dirty="0"/>
              </a:p>
            </p:txBody>
          </p:sp>
        </p:grpSp>
        <p:cxnSp>
          <p:nvCxnSpPr>
            <p:cNvPr id="64" name="直线连接符 63"/>
            <p:cNvCxnSpPr/>
            <p:nvPr/>
          </p:nvCxnSpPr>
          <p:spPr>
            <a:xfrm>
              <a:off x="5308749" y="2137420"/>
              <a:ext cx="36450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6027005" y="2158417"/>
              <a:ext cx="192713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rgbClr val="000000"/>
                  </a:solidFill>
                </a:rPr>
                <a:t>Distributed caching</a:t>
              </a:r>
              <a:endParaRPr lang="zh-CN" altLang="en-US" sz="1600" dirty="0"/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2236116" y="3199271"/>
            <a:ext cx="768261" cy="2146974"/>
            <a:chOff x="3096000" y="3119298"/>
            <a:chExt cx="768261" cy="2146974"/>
          </a:xfrm>
        </p:grpSpPr>
        <p:sp>
          <p:nvSpPr>
            <p:cNvPr id="68" name="矩形 67"/>
            <p:cNvSpPr/>
            <p:nvPr/>
          </p:nvSpPr>
          <p:spPr>
            <a:xfrm>
              <a:off x="3096000" y="3119298"/>
              <a:ext cx="725111" cy="21469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9" name="组合 68"/>
            <p:cNvGrpSpPr/>
            <p:nvPr/>
          </p:nvGrpSpPr>
          <p:grpSpPr>
            <a:xfrm rot="5400000">
              <a:off x="2988299" y="3437380"/>
              <a:ext cx="690955" cy="180000"/>
              <a:chOff x="4884739" y="2696400"/>
              <a:chExt cx="690955" cy="180000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 rot="5400000">
              <a:off x="3219367" y="3437381"/>
              <a:ext cx="690955" cy="180000"/>
              <a:chOff x="4884739" y="2696400"/>
              <a:chExt cx="690955" cy="18000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 rot="5400000">
              <a:off x="2988299" y="4762203"/>
              <a:ext cx="690955" cy="180000"/>
              <a:chOff x="4884739" y="2696400"/>
              <a:chExt cx="690955" cy="180000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 rot="5400000">
              <a:off x="3219367" y="4762204"/>
              <a:ext cx="690955" cy="180000"/>
              <a:chOff x="4884739" y="2696400"/>
              <a:chExt cx="690955" cy="180000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93" name="矩形 92"/>
            <p:cNvSpPr/>
            <p:nvPr/>
          </p:nvSpPr>
          <p:spPr>
            <a:xfrm>
              <a:off x="3126559" y="4015893"/>
              <a:ext cx="73770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rgbClr val="000000"/>
                  </a:solidFill>
                </a:rPr>
                <a:t>Load</a:t>
              </a:r>
              <a:endParaRPr kumimoji="1" lang="en-US" altLang="zh-CN" sz="1200" dirty="0">
                <a:solidFill>
                  <a:srgbClr val="000000"/>
                </a:solidFill>
              </a:endParaRPr>
            </a:p>
            <a:p>
              <a:r>
                <a:rPr kumimoji="1" lang="en-US" altLang="zh-CN" sz="1200" dirty="0">
                  <a:solidFill>
                    <a:srgbClr val="000000"/>
                  </a:solidFill>
                </a:rPr>
                <a:t>Balance</a:t>
              </a:r>
              <a:endParaRPr lang="zh-CN" altLang="en-US" sz="1200" dirty="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3302994" y="2814021"/>
            <a:ext cx="1703228" cy="1049410"/>
            <a:chOff x="5882155" y="4329138"/>
            <a:chExt cx="1703228" cy="1049410"/>
          </a:xfrm>
        </p:grpSpPr>
        <p:sp>
          <p:nvSpPr>
            <p:cNvPr id="96" name="矩形 95"/>
            <p:cNvSpPr/>
            <p:nvPr/>
          </p:nvSpPr>
          <p:spPr>
            <a:xfrm>
              <a:off x="5882155" y="4329138"/>
              <a:ext cx="1703228" cy="9004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97" name="圆角矩形 96"/>
            <p:cNvSpPr/>
            <p:nvPr/>
          </p:nvSpPr>
          <p:spPr>
            <a:xfrm>
              <a:off x="5919232" y="4422093"/>
              <a:ext cx="1564153" cy="64325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Application #1</a:t>
              </a:r>
              <a:endParaRPr kumimoji="1"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</a:rPr>
                <a:t>generate the page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5999834" y="5101549"/>
              <a:ext cx="14029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rgbClr val="000000"/>
                  </a:solidFill>
                </a:rPr>
                <a:t>Application server</a:t>
              </a:r>
              <a:endParaRPr lang="zh-CN" altLang="en-US" sz="1200" dirty="0"/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270533" y="4048243"/>
            <a:ext cx="1703228" cy="1049410"/>
            <a:chOff x="5882155" y="4329138"/>
            <a:chExt cx="1703228" cy="1049410"/>
          </a:xfrm>
        </p:grpSpPr>
        <p:sp>
          <p:nvSpPr>
            <p:cNvPr id="111" name="矩形 110"/>
            <p:cNvSpPr/>
            <p:nvPr/>
          </p:nvSpPr>
          <p:spPr>
            <a:xfrm>
              <a:off x="5882155" y="4329138"/>
              <a:ext cx="1703228" cy="9004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sp>
          <p:nvSpPr>
            <p:cNvPr id="112" name="圆角矩形 111"/>
            <p:cNvSpPr/>
            <p:nvPr/>
          </p:nvSpPr>
          <p:spPr>
            <a:xfrm>
              <a:off x="5919232" y="4422093"/>
              <a:ext cx="1564153" cy="64325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Application #2</a:t>
              </a:r>
              <a:endParaRPr kumimoji="1" lang="en-US" altLang="zh-CN" sz="1200" b="1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</a:rPr>
                <a:t>add the order</a:t>
              </a: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5999834" y="5101549"/>
              <a:ext cx="14029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rgbClr val="000000"/>
                  </a:solidFill>
                </a:rPr>
                <a:t>Application server</a:t>
              </a:r>
              <a:endParaRPr lang="zh-CN" altLang="en-US" sz="1200" dirty="0"/>
            </a:p>
          </p:txBody>
        </p:sp>
      </p:grpSp>
      <p:sp>
        <p:nvSpPr>
          <p:cNvPr id="116" name="矩形 115"/>
          <p:cNvSpPr/>
          <p:nvPr/>
        </p:nvSpPr>
        <p:spPr>
          <a:xfrm rot="5400000">
            <a:off x="3984226" y="5112000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rgbClr val="000000"/>
                </a:solidFill>
              </a:rPr>
              <a:t>…</a:t>
            </a:r>
            <a:endParaRPr lang="zh-CN" altLang="en-US" sz="2400" dirty="0"/>
          </a:p>
        </p:txBody>
      </p:sp>
      <p:cxnSp>
        <p:nvCxnSpPr>
          <p:cNvPr id="32" name="直线连接符 31"/>
          <p:cNvCxnSpPr/>
          <p:nvPr/>
        </p:nvCxnSpPr>
        <p:spPr>
          <a:xfrm>
            <a:off x="1979712" y="2706957"/>
            <a:ext cx="0" cy="35864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76"/>
          <p:cNvCxnSpPr/>
          <p:nvPr/>
        </p:nvCxnSpPr>
        <p:spPr>
          <a:xfrm>
            <a:off x="1979712" y="2706957"/>
            <a:ext cx="324036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/>
          <p:cNvCxnSpPr/>
          <p:nvPr/>
        </p:nvCxnSpPr>
        <p:spPr>
          <a:xfrm flipV="1">
            <a:off x="5220072" y="1129308"/>
            <a:ext cx="0" cy="15776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/>
          <p:cNvCxnSpPr/>
          <p:nvPr/>
        </p:nvCxnSpPr>
        <p:spPr>
          <a:xfrm>
            <a:off x="5220072" y="1129308"/>
            <a:ext cx="43924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/>
          <p:cNvGrpSpPr/>
          <p:nvPr/>
        </p:nvGrpSpPr>
        <p:grpSpPr>
          <a:xfrm rot="16200000">
            <a:off x="703673" y="3881347"/>
            <a:ext cx="1548280" cy="638043"/>
            <a:chOff x="6020855" y="1361203"/>
            <a:chExt cx="1548280" cy="638043"/>
          </a:xfrm>
        </p:grpSpPr>
        <p:sp>
          <p:nvSpPr>
            <p:cNvPr id="102" name="云形 101"/>
            <p:cNvSpPr/>
            <p:nvPr/>
          </p:nvSpPr>
          <p:spPr>
            <a:xfrm>
              <a:off x="6020855" y="1361203"/>
              <a:ext cx="1548280" cy="638043"/>
            </a:xfrm>
            <a:prstGeom prst="clou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311529" y="1443038"/>
              <a:ext cx="9669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0000"/>
                  </a:solidFill>
                </a:rPr>
                <a:t>Internet</a:t>
              </a:r>
              <a:endParaRPr lang="zh-CN" altLang="en-US" dirty="0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911161" y="3550232"/>
            <a:ext cx="252000" cy="517828"/>
            <a:chOff x="1735514" y="3550232"/>
            <a:chExt cx="420567" cy="517828"/>
          </a:xfrm>
        </p:grpSpPr>
        <p:cxnSp>
          <p:nvCxnSpPr>
            <p:cNvPr id="104" name="直线箭头连接符 103"/>
            <p:cNvCxnSpPr/>
            <p:nvPr/>
          </p:nvCxnSpPr>
          <p:spPr>
            <a:xfrm>
              <a:off x="1735514" y="3550232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箭头连接符 105"/>
            <p:cNvCxnSpPr/>
            <p:nvPr/>
          </p:nvCxnSpPr>
          <p:spPr>
            <a:xfrm>
              <a:off x="1735514" y="3720585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106"/>
            <p:cNvCxnSpPr/>
            <p:nvPr/>
          </p:nvCxnSpPr>
          <p:spPr>
            <a:xfrm>
              <a:off x="1735514" y="3897707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箭头连接符 107"/>
            <p:cNvCxnSpPr/>
            <p:nvPr/>
          </p:nvCxnSpPr>
          <p:spPr>
            <a:xfrm>
              <a:off x="1735514" y="4068060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/>
          <p:cNvGrpSpPr/>
          <p:nvPr/>
        </p:nvGrpSpPr>
        <p:grpSpPr>
          <a:xfrm>
            <a:off x="1907704" y="4263806"/>
            <a:ext cx="252000" cy="517828"/>
            <a:chOff x="1735514" y="3550232"/>
            <a:chExt cx="420567" cy="517828"/>
          </a:xfrm>
        </p:grpSpPr>
        <p:cxnSp>
          <p:nvCxnSpPr>
            <p:cNvPr id="117" name="直线箭头连接符 116"/>
            <p:cNvCxnSpPr/>
            <p:nvPr/>
          </p:nvCxnSpPr>
          <p:spPr>
            <a:xfrm>
              <a:off x="1735514" y="3550232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箭头连接符 117"/>
            <p:cNvCxnSpPr/>
            <p:nvPr/>
          </p:nvCxnSpPr>
          <p:spPr>
            <a:xfrm>
              <a:off x="1735514" y="3720585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线箭头连接符 118"/>
            <p:cNvCxnSpPr/>
            <p:nvPr/>
          </p:nvCxnSpPr>
          <p:spPr>
            <a:xfrm>
              <a:off x="1735514" y="3897707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线箭头连接符 119"/>
            <p:cNvCxnSpPr/>
            <p:nvPr/>
          </p:nvCxnSpPr>
          <p:spPr>
            <a:xfrm>
              <a:off x="1735514" y="4068060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任意形状 98"/>
          <p:cNvSpPr/>
          <p:nvPr/>
        </p:nvSpPr>
        <p:spPr>
          <a:xfrm>
            <a:off x="2675106" y="2972121"/>
            <a:ext cx="680937" cy="425574"/>
          </a:xfrm>
          <a:custGeom>
            <a:avLst/>
            <a:gdLst>
              <a:gd name="connsiteX0" fmla="*/ 0 w 680937"/>
              <a:gd name="connsiteY0" fmla="*/ 403377 h 425574"/>
              <a:gd name="connsiteX1" fmla="*/ 447473 w 680937"/>
              <a:gd name="connsiteY1" fmla="*/ 383922 h 425574"/>
              <a:gd name="connsiteX2" fmla="*/ 379379 w 680937"/>
              <a:gd name="connsiteY2" fmla="*/ 23998 h 425574"/>
              <a:gd name="connsiteX3" fmla="*/ 680937 w 680937"/>
              <a:gd name="connsiteY3" fmla="*/ 62909 h 42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0937" h="425574">
                <a:moveTo>
                  <a:pt x="0" y="403377"/>
                </a:moveTo>
                <a:cubicBezTo>
                  <a:pt x="192121" y="425264"/>
                  <a:pt x="384243" y="447152"/>
                  <a:pt x="447473" y="383922"/>
                </a:cubicBezTo>
                <a:cubicBezTo>
                  <a:pt x="510703" y="320692"/>
                  <a:pt x="340468" y="77500"/>
                  <a:pt x="379379" y="23998"/>
                </a:cubicBezTo>
                <a:cubicBezTo>
                  <a:pt x="418290" y="-29504"/>
                  <a:pt x="549613" y="16702"/>
                  <a:pt x="680937" y="62909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任意形状 99"/>
          <p:cNvSpPr/>
          <p:nvPr/>
        </p:nvSpPr>
        <p:spPr>
          <a:xfrm>
            <a:off x="2733472" y="3533078"/>
            <a:ext cx="671209" cy="1017912"/>
          </a:xfrm>
          <a:custGeom>
            <a:avLst/>
            <a:gdLst>
              <a:gd name="connsiteX0" fmla="*/ 0 w 671209"/>
              <a:gd name="connsiteY0" fmla="*/ 75884 h 1017912"/>
              <a:gd name="connsiteX1" fmla="*/ 291830 w 671209"/>
              <a:gd name="connsiteY1" fmla="*/ 85611 h 1017912"/>
              <a:gd name="connsiteX2" fmla="*/ 340468 w 671209"/>
              <a:gd name="connsiteY2" fmla="*/ 941645 h 1017912"/>
              <a:gd name="connsiteX3" fmla="*/ 671209 w 671209"/>
              <a:gd name="connsiteY3" fmla="*/ 922190 h 101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209" h="1017912">
                <a:moveTo>
                  <a:pt x="0" y="75884"/>
                </a:moveTo>
                <a:cubicBezTo>
                  <a:pt x="117542" y="8601"/>
                  <a:pt x="235085" y="-58682"/>
                  <a:pt x="291830" y="85611"/>
                </a:cubicBezTo>
                <a:cubicBezTo>
                  <a:pt x="348575" y="229904"/>
                  <a:pt x="277238" y="802215"/>
                  <a:pt x="340468" y="941645"/>
                </a:cubicBezTo>
                <a:cubicBezTo>
                  <a:pt x="403698" y="1081075"/>
                  <a:pt x="537453" y="1001632"/>
                  <a:pt x="671209" y="92219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任意形状 104"/>
          <p:cNvSpPr/>
          <p:nvPr/>
        </p:nvSpPr>
        <p:spPr>
          <a:xfrm>
            <a:off x="2743200" y="4928179"/>
            <a:ext cx="1215957" cy="488037"/>
          </a:xfrm>
          <a:custGeom>
            <a:avLst/>
            <a:gdLst>
              <a:gd name="connsiteX0" fmla="*/ 0 w 1215957"/>
              <a:gd name="connsiteY0" fmla="*/ 3744 h 488037"/>
              <a:gd name="connsiteX1" fmla="*/ 379379 w 1215957"/>
              <a:gd name="connsiteY1" fmla="*/ 62110 h 488037"/>
              <a:gd name="connsiteX2" fmla="*/ 680936 w 1215957"/>
              <a:gd name="connsiteY2" fmla="*/ 431761 h 488037"/>
              <a:gd name="connsiteX3" fmla="*/ 1215957 w 1215957"/>
              <a:gd name="connsiteY3" fmla="*/ 480400 h 48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5957" h="488037">
                <a:moveTo>
                  <a:pt x="0" y="3744"/>
                </a:moveTo>
                <a:cubicBezTo>
                  <a:pt x="132945" y="-2741"/>
                  <a:pt x="265890" y="-9226"/>
                  <a:pt x="379379" y="62110"/>
                </a:cubicBezTo>
                <a:cubicBezTo>
                  <a:pt x="492868" y="133446"/>
                  <a:pt x="541506" y="362046"/>
                  <a:pt x="680936" y="431761"/>
                </a:cubicBezTo>
                <a:cubicBezTo>
                  <a:pt x="820366" y="501476"/>
                  <a:pt x="1018161" y="490938"/>
                  <a:pt x="1215957" y="48040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任意形状 120"/>
          <p:cNvSpPr/>
          <p:nvPr/>
        </p:nvSpPr>
        <p:spPr>
          <a:xfrm>
            <a:off x="4864086" y="2014176"/>
            <a:ext cx="1283795" cy="1189054"/>
          </a:xfrm>
          <a:custGeom>
            <a:avLst/>
            <a:gdLst>
              <a:gd name="connsiteX0" fmla="*/ 9471 w 1283795"/>
              <a:gd name="connsiteY0" fmla="*/ 1118130 h 1189054"/>
              <a:gd name="connsiteX1" fmla="*/ 67837 w 1283795"/>
              <a:gd name="connsiteY1" fmla="*/ 1127858 h 1189054"/>
              <a:gd name="connsiteX2" fmla="*/ 515310 w 1283795"/>
              <a:gd name="connsiteY2" fmla="*/ 1108403 h 1189054"/>
              <a:gd name="connsiteX3" fmla="*/ 641769 w 1283795"/>
              <a:gd name="connsiteY3" fmla="*/ 106454 h 1189054"/>
              <a:gd name="connsiteX4" fmla="*/ 1283795 w 1283795"/>
              <a:gd name="connsiteY4" fmla="*/ 77271 h 118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3795" h="1189054">
                <a:moveTo>
                  <a:pt x="9471" y="1118130"/>
                </a:moveTo>
                <a:cubicBezTo>
                  <a:pt x="-3499" y="1123804"/>
                  <a:pt x="-16469" y="1129479"/>
                  <a:pt x="67837" y="1127858"/>
                </a:cubicBezTo>
                <a:cubicBezTo>
                  <a:pt x="152143" y="1126237"/>
                  <a:pt x="419655" y="1278637"/>
                  <a:pt x="515310" y="1108403"/>
                </a:cubicBezTo>
                <a:cubicBezTo>
                  <a:pt x="610965" y="938169"/>
                  <a:pt x="513688" y="278309"/>
                  <a:pt x="641769" y="106454"/>
                </a:cubicBezTo>
                <a:cubicBezTo>
                  <a:pt x="769850" y="-65401"/>
                  <a:pt x="1026822" y="5935"/>
                  <a:pt x="1283795" y="77271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任意形状 121"/>
          <p:cNvSpPr/>
          <p:nvPr/>
        </p:nvSpPr>
        <p:spPr>
          <a:xfrm>
            <a:off x="4902740" y="4349164"/>
            <a:ext cx="1420239" cy="942683"/>
          </a:xfrm>
          <a:custGeom>
            <a:avLst/>
            <a:gdLst>
              <a:gd name="connsiteX0" fmla="*/ 0 w 1420239"/>
              <a:gd name="connsiteY0" fmla="*/ 47738 h 942683"/>
              <a:gd name="connsiteX1" fmla="*/ 593388 w 1420239"/>
              <a:gd name="connsiteY1" fmla="*/ 47738 h 942683"/>
              <a:gd name="connsiteX2" fmla="*/ 680937 w 1420239"/>
              <a:gd name="connsiteY2" fmla="*/ 543849 h 942683"/>
              <a:gd name="connsiteX3" fmla="*/ 1420239 w 1420239"/>
              <a:gd name="connsiteY3" fmla="*/ 942683 h 942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942683">
                <a:moveTo>
                  <a:pt x="0" y="47738"/>
                </a:moveTo>
                <a:cubicBezTo>
                  <a:pt x="239949" y="6395"/>
                  <a:pt x="479899" y="-34947"/>
                  <a:pt x="593388" y="47738"/>
                </a:cubicBezTo>
                <a:cubicBezTo>
                  <a:pt x="706877" y="130423"/>
                  <a:pt x="543129" y="394692"/>
                  <a:pt x="680937" y="543849"/>
                </a:cubicBezTo>
                <a:cubicBezTo>
                  <a:pt x="818745" y="693006"/>
                  <a:pt x="1119492" y="817844"/>
                  <a:pt x="1420239" y="942683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任意形状 122"/>
          <p:cNvSpPr/>
          <p:nvPr/>
        </p:nvSpPr>
        <p:spPr>
          <a:xfrm>
            <a:off x="4931923" y="3381875"/>
            <a:ext cx="1313234" cy="460911"/>
          </a:xfrm>
          <a:custGeom>
            <a:avLst/>
            <a:gdLst>
              <a:gd name="connsiteX0" fmla="*/ 0 w 1313234"/>
              <a:gd name="connsiteY0" fmla="*/ 51989 h 460911"/>
              <a:gd name="connsiteX1" fmla="*/ 437745 w 1313234"/>
              <a:gd name="connsiteY1" fmla="*/ 32534 h 460911"/>
              <a:gd name="connsiteX2" fmla="*/ 428017 w 1313234"/>
              <a:gd name="connsiteY2" fmla="*/ 431368 h 460911"/>
              <a:gd name="connsiteX3" fmla="*/ 1313234 w 1313234"/>
              <a:gd name="connsiteY3" fmla="*/ 431368 h 460911"/>
              <a:gd name="connsiteX4" fmla="*/ 1313234 w 1313234"/>
              <a:gd name="connsiteY4" fmla="*/ 431368 h 46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3234" h="460911">
                <a:moveTo>
                  <a:pt x="0" y="51989"/>
                </a:moveTo>
                <a:cubicBezTo>
                  <a:pt x="183204" y="10646"/>
                  <a:pt x="366409" y="-30696"/>
                  <a:pt x="437745" y="32534"/>
                </a:cubicBezTo>
                <a:cubicBezTo>
                  <a:pt x="509081" y="95764"/>
                  <a:pt x="282102" y="364896"/>
                  <a:pt x="428017" y="431368"/>
                </a:cubicBezTo>
                <a:cubicBezTo>
                  <a:pt x="573932" y="497840"/>
                  <a:pt x="1313234" y="431368"/>
                  <a:pt x="1313234" y="431368"/>
                </a:cubicBezTo>
                <a:lnTo>
                  <a:pt x="1313234" y="431368"/>
                </a:ln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945" y="3397695"/>
            <a:ext cx="329286" cy="329286"/>
          </a:xfrm>
          <a:prstGeom prst="rect">
            <a:avLst/>
          </a:prstGeom>
        </p:spPr>
      </p:pic>
      <p:pic>
        <p:nvPicPr>
          <p:cNvPr id="126" name="图片 1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0" y="3955145"/>
            <a:ext cx="536836" cy="536836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47" y="4549038"/>
            <a:ext cx="425471" cy="425471"/>
          </a:xfrm>
          <a:prstGeom prst="rect">
            <a:avLst/>
          </a:prstGeom>
        </p:spPr>
      </p:pic>
      <p:sp>
        <p:nvSpPr>
          <p:cNvPr id="128" name="矩形 127"/>
          <p:cNvSpPr/>
          <p:nvPr/>
        </p:nvSpPr>
        <p:spPr>
          <a:xfrm rot="5400000">
            <a:off x="381976" y="5112000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rgbClr val="000000"/>
                </a:solidFill>
              </a:rPr>
              <a:t>…</a:t>
            </a:r>
            <a:endParaRPr lang="zh-CN" altLang="en-US" sz="2400" dirty="0"/>
          </a:p>
        </p:txBody>
      </p:sp>
      <p:cxnSp>
        <p:nvCxnSpPr>
          <p:cNvPr id="135" name="直线箭头连接符 134"/>
          <p:cNvCxnSpPr/>
          <p:nvPr/>
        </p:nvCxnSpPr>
        <p:spPr>
          <a:xfrm>
            <a:off x="769034" y="3667368"/>
            <a:ext cx="255810" cy="3293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/>
          <p:cNvCxnSpPr/>
          <p:nvPr/>
        </p:nvCxnSpPr>
        <p:spPr>
          <a:xfrm>
            <a:off x="804116" y="4272758"/>
            <a:ext cx="25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/>
          <p:cNvCxnSpPr/>
          <p:nvPr/>
        </p:nvCxnSpPr>
        <p:spPr>
          <a:xfrm flipV="1">
            <a:off x="795533" y="4557531"/>
            <a:ext cx="260583" cy="23305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/>
          <p:cNvCxnSpPr/>
          <p:nvPr/>
        </p:nvCxnSpPr>
        <p:spPr>
          <a:xfrm flipV="1">
            <a:off x="794988" y="4948686"/>
            <a:ext cx="281447" cy="51067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113717" y="2910714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Users</a:t>
            </a:r>
            <a:endParaRPr lang="zh-CN" altLang="en-US" dirty="0"/>
          </a:p>
        </p:txBody>
      </p:sp>
      <p:grpSp>
        <p:nvGrpSpPr>
          <p:cNvPr id="146" name="组合 145"/>
          <p:cNvGrpSpPr/>
          <p:nvPr/>
        </p:nvGrpSpPr>
        <p:grpSpPr>
          <a:xfrm>
            <a:off x="1031305" y="2691437"/>
            <a:ext cx="845234" cy="489970"/>
            <a:chOff x="6020855" y="1361204"/>
            <a:chExt cx="845234" cy="489970"/>
          </a:xfrm>
        </p:grpSpPr>
        <p:sp>
          <p:nvSpPr>
            <p:cNvPr id="147" name="云形 146"/>
            <p:cNvSpPr/>
            <p:nvPr/>
          </p:nvSpPr>
          <p:spPr>
            <a:xfrm>
              <a:off x="6020855" y="1361204"/>
              <a:ext cx="845234" cy="489970"/>
            </a:xfrm>
            <a:prstGeom prst="clou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6110928" y="1413481"/>
              <a:ext cx="68480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0000"/>
                  </a:solidFill>
                </a:rPr>
                <a:t>CDN</a:t>
              </a:r>
              <a:endParaRPr lang="zh-CN" altLang="en-US" dirty="0"/>
            </a:p>
          </p:txBody>
        </p:sp>
      </p:grpSp>
      <p:cxnSp>
        <p:nvCxnSpPr>
          <p:cNvPr id="149" name="直线箭头连接符 148"/>
          <p:cNvCxnSpPr/>
          <p:nvPr/>
        </p:nvCxnSpPr>
        <p:spPr>
          <a:xfrm flipV="1">
            <a:off x="1337719" y="3186000"/>
            <a:ext cx="0" cy="2304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/>
          <p:cNvCxnSpPr/>
          <p:nvPr/>
        </p:nvCxnSpPr>
        <p:spPr>
          <a:xfrm flipV="1">
            <a:off x="1477813" y="3203164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/>
          <p:cNvGrpSpPr/>
          <p:nvPr/>
        </p:nvGrpSpPr>
        <p:grpSpPr>
          <a:xfrm>
            <a:off x="4492257" y="5204142"/>
            <a:ext cx="1322740" cy="293267"/>
            <a:chOff x="4833436" y="4356643"/>
            <a:chExt cx="1322740" cy="293267"/>
          </a:xfrm>
        </p:grpSpPr>
        <p:sp>
          <p:nvSpPr>
            <p:cNvPr id="130" name="圆柱体 129"/>
            <p:cNvSpPr/>
            <p:nvPr/>
          </p:nvSpPr>
          <p:spPr>
            <a:xfrm rot="5400000">
              <a:off x="5375673" y="3869407"/>
              <a:ext cx="276998" cy="1284008"/>
            </a:xfrm>
            <a:prstGeom prst="ca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1" name="矩形 130"/>
            <p:cNvSpPr/>
            <p:nvPr/>
          </p:nvSpPr>
          <p:spPr>
            <a:xfrm>
              <a:off x="4833436" y="4356643"/>
              <a:ext cx="12840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rgbClr val="000000"/>
                  </a:solidFill>
                </a:rPr>
                <a:t>Message queue</a:t>
              </a:r>
              <a:endParaRPr lang="zh-CN" altLang="en-US" sz="1200" dirty="0"/>
            </a:p>
          </p:txBody>
        </p:sp>
      </p:grpSp>
      <p:sp>
        <p:nvSpPr>
          <p:cNvPr id="4" name="任意形状 3"/>
          <p:cNvSpPr/>
          <p:nvPr/>
        </p:nvSpPr>
        <p:spPr>
          <a:xfrm>
            <a:off x="4994031" y="4797083"/>
            <a:ext cx="342313" cy="365760"/>
          </a:xfrm>
          <a:custGeom>
            <a:avLst/>
            <a:gdLst>
              <a:gd name="connsiteX0" fmla="*/ 0 w 342313"/>
              <a:gd name="connsiteY0" fmla="*/ 0 h 365760"/>
              <a:gd name="connsiteX1" fmla="*/ 295421 w 342313"/>
              <a:gd name="connsiteY1" fmla="*/ 70339 h 365760"/>
              <a:gd name="connsiteX2" fmla="*/ 337624 w 342313"/>
              <a:gd name="connsiteY2" fmla="*/ 36576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13" h="365760">
                <a:moveTo>
                  <a:pt x="0" y="0"/>
                </a:moveTo>
                <a:cubicBezTo>
                  <a:pt x="119575" y="4689"/>
                  <a:pt x="239150" y="9379"/>
                  <a:pt x="295421" y="70339"/>
                </a:cubicBezTo>
                <a:cubicBezTo>
                  <a:pt x="351692" y="131299"/>
                  <a:pt x="344658" y="248529"/>
                  <a:pt x="337624" y="36576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228866"/>
            <a:ext cx="8630919" cy="900442"/>
          </a:xfrm>
        </p:spPr>
        <p:txBody>
          <a:bodyPr/>
          <a:lstStyle/>
          <a:p>
            <a:r>
              <a:rPr kumimoji="1" lang="en-US" altLang="zh-CN" dirty="0"/>
              <a:t>Large-scale websites are built from distributed systems </a:t>
            </a:r>
            <a:endParaRPr kumimoji="1" lang="zh-CN" altLang="en-US" b="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5818303" y="4272758"/>
            <a:ext cx="3038209" cy="1240753"/>
            <a:chOff x="5004048" y="4297660"/>
            <a:chExt cx="3038209" cy="1240753"/>
          </a:xfrm>
        </p:grpSpPr>
        <p:grpSp>
          <p:nvGrpSpPr>
            <p:cNvPr id="12" name="组合 11"/>
            <p:cNvGrpSpPr/>
            <p:nvPr/>
          </p:nvGrpSpPr>
          <p:grpSpPr>
            <a:xfrm>
              <a:off x="5004048" y="4297660"/>
              <a:ext cx="905319" cy="801616"/>
              <a:chOff x="5914584" y="4712265"/>
              <a:chExt cx="905319" cy="801616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5914584" y="4712265"/>
                <a:ext cx="901209" cy="801616"/>
                <a:chOff x="5914584" y="4712265"/>
                <a:chExt cx="901209" cy="801616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6060281" y="4888681"/>
                  <a:ext cx="609817" cy="6252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5914584" y="4712265"/>
                  <a:ext cx="901209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File server</a:t>
                  </a:r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5914584" y="4989264"/>
                <a:ext cx="905319" cy="494965"/>
                <a:chOff x="4881156" y="4586631"/>
                <a:chExt cx="905319" cy="494965"/>
              </a:xfrm>
            </p:grpSpPr>
            <p:sp>
              <p:nvSpPr>
                <p:cNvPr id="7" name="一个圆顶角并剪去另一个顶角的矩形 6"/>
                <p:cNvSpPr/>
                <p:nvPr/>
              </p:nvSpPr>
              <p:spPr>
                <a:xfrm>
                  <a:off x="5087522" y="4586631"/>
                  <a:ext cx="492589" cy="461665"/>
                </a:xfrm>
                <a:prstGeom prst="snipRound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4881156" y="4619931"/>
                  <a:ext cx="905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/>
                    <a:t>File:</a:t>
                  </a:r>
                  <a:endParaRPr kumimoji="1" lang="en-US" altLang="zh-CN" sz="1200" b="1" dirty="0"/>
                </a:p>
                <a:p>
                  <a:pPr algn="ctr"/>
                  <a:r>
                    <a:rPr kumimoji="1" lang="en-US" altLang="zh-CN" sz="1200" dirty="0"/>
                    <a:t>image</a:t>
                  </a:r>
                  <a:endParaRPr kumimoji="1" lang="zh-CN" altLang="en-US" sz="1200" dirty="0"/>
                </a:p>
              </p:txBody>
            </p:sp>
          </p:grpSp>
        </p:grpSp>
        <p:grpSp>
          <p:nvGrpSpPr>
            <p:cNvPr id="13" name="组合 12"/>
            <p:cNvGrpSpPr/>
            <p:nvPr/>
          </p:nvGrpSpPr>
          <p:grpSpPr>
            <a:xfrm>
              <a:off x="5835606" y="4297660"/>
              <a:ext cx="905319" cy="801616"/>
              <a:chOff x="5914584" y="4712265"/>
              <a:chExt cx="905319" cy="801616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5914584" y="4712265"/>
                <a:ext cx="901209" cy="801616"/>
                <a:chOff x="5914584" y="4712265"/>
                <a:chExt cx="901209" cy="801616"/>
              </a:xfrm>
            </p:grpSpPr>
            <p:sp>
              <p:nvSpPr>
                <p:cNvPr id="18" name="矩形 17"/>
                <p:cNvSpPr/>
                <p:nvPr/>
              </p:nvSpPr>
              <p:spPr>
                <a:xfrm>
                  <a:off x="6060281" y="4888681"/>
                  <a:ext cx="609817" cy="6252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5914584" y="4712265"/>
                  <a:ext cx="901209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File server</a:t>
                  </a:r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5914584" y="4989264"/>
                <a:ext cx="905319" cy="494965"/>
                <a:chOff x="4881156" y="4586631"/>
                <a:chExt cx="905319" cy="494965"/>
              </a:xfrm>
            </p:grpSpPr>
            <p:sp>
              <p:nvSpPr>
                <p:cNvPr id="16" name="一个圆顶角并剪去另一个顶角的矩形 15"/>
                <p:cNvSpPr/>
                <p:nvPr/>
              </p:nvSpPr>
              <p:spPr>
                <a:xfrm>
                  <a:off x="5087522" y="4586631"/>
                  <a:ext cx="492589" cy="461665"/>
                </a:xfrm>
                <a:prstGeom prst="snipRound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4881156" y="4619931"/>
                  <a:ext cx="905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File: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  <a:p>
                  <a:pPr algn="ctr"/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image</a:t>
                  </a:r>
                  <a:endParaRPr kumimoji="1"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7136938" y="4297660"/>
              <a:ext cx="905319" cy="801616"/>
              <a:chOff x="5914584" y="4712265"/>
              <a:chExt cx="905319" cy="801616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5914584" y="4712265"/>
                <a:ext cx="901209" cy="801616"/>
                <a:chOff x="5914584" y="4712265"/>
                <a:chExt cx="901209" cy="801616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6060281" y="4888681"/>
                  <a:ext cx="609817" cy="62520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5914584" y="4712265"/>
                  <a:ext cx="901209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File server</a:t>
                  </a:r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5914584" y="4989264"/>
                <a:ext cx="905319" cy="494965"/>
                <a:chOff x="4881156" y="4586631"/>
                <a:chExt cx="905319" cy="494965"/>
              </a:xfrm>
            </p:grpSpPr>
            <p:sp>
              <p:nvSpPr>
                <p:cNvPr id="23" name="一个圆顶角并剪去另一个顶角的矩形 22"/>
                <p:cNvSpPr/>
                <p:nvPr/>
              </p:nvSpPr>
              <p:spPr>
                <a:xfrm>
                  <a:off x="5087522" y="4586631"/>
                  <a:ext cx="492589" cy="461665"/>
                </a:xfrm>
                <a:prstGeom prst="snipRound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4881156" y="4619931"/>
                  <a:ext cx="9053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File: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  <a:p>
                  <a:pPr algn="ctr"/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image</a:t>
                  </a:r>
                  <a:endParaRPr kumimoji="1"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sp>
          <p:nvSpPr>
            <p:cNvPr id="27" name="矩形 26"/>
            <p:cNvSpPr/>
            <p:nvPr/>
          </p:nvSpPr>
          <p:spPr>
            <a:xfrm>
              <a:off x="6680258" y="4546994"/>
              <a:ext cx="49244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chemeClr val="accent6"/>
                  </a:solidFill>
                </a:rPr>
                <a:t>…</a:t>
              </a:r>
              <a:endParaRPr lang="zh-CN" altLang="en-US" sz="2400" dirty="0">
                <a:solidFill>
                  <a:schemeClr val="accent6"/>
                </a:solidFill>
              </a:endParaRPr>
            </a:p>
          </p:txBody>
        </p:sp>
        <p:cxnSp>
          <p:nvCxnSpPr>
            <p:cNvPr id="29" name="直线连接符 28"/>
            <p:cNvCxnSpPr/>
            <p:nvPr/>
          </p:nvCxnSpPr>
          <p:spPr>
            <a:xfrm>
              <a:off x="5090360" y="5161756"/>
              <a:ext cx="288840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5495307" y="5199859"/>
              <a:ext cx="2191626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accent6"/>
                  </a:solidFill>
                </a:rPr>
                <a:t>Distributed file system</a:t>
              </a:r>
              <a:endParaRPr lang="zh-CN" altLang="en-US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758122" y="2568458"/>
            <a:ext cx="3098390" cy="1384372"/>
            <a:chOff x="5645427" y="2766408"/>
            <a:chExt cx="3098390" cy="1384372"/>
          </a:xfrm>
        </p:grpSpPr>
        <p:grpSp>
          <p:nvGrpSpPr>
            <p:cNvPr id="33" name="组合 32"/>
            <p:cNvGrpSpPr/>
            <p:nvPr/>
          </p:nvGrpSpPr>
          <p:grpSpPr>
            <a:xfrm>
              <a:off x="5645427" y="2766408"/>
              <a:ext cx="1309974" cy="899967"/>
              <a:chOff x="6831174" y="4263832"/>
              <a:chExt cx="1309974" cy="89996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6848261" y="4495975"/>
                <a:ext cx="1212919" cy="66782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6831174" y="4263832"/>
                <a:ext cx="130997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/>
                    </a:solidFill>
                  </a:rPr>
                  <a:t>Database server</a:t>
                </a:r>
                <a:endParaRPr lang="zh-CN" altLang="en-US" sz="1200" dirty="0">
                  <a:solidFill>
                    <a:schemeClr val="accent6"/>
                  </a:solidFill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6951983" y="4538944"/>
                <a:ext cx="1080001" cy="584154"/>
                <a:chOff x="6642225" y="3964214"/>
                <a:chExt cx="816191" cy="584154"/>
              </a:xfrm>
            </p:grpSpPr>
            <p:sp>
              <p:nvSpPr>
                <p:cNvPr id="37" name="磁盘 36"/>
                <p:cNvSpPr/>
                <p:nvPr/>
              </p:nvSpPr>
              <p:spPr>
                <a:xfrm>
                  <a:off x="6642225" y="3964214"/>
                  <a:ext cx="816191" cy="584154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6679366" y="4033238"/>
                  <a:ext cx="73310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Database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  <a:p>
                  <a:pPr algn="ctr"/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user, price</a:t>
                  </a:r>
                  <a:endParaRPr kumimoji="1"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39" name="组合 38"/>
            <p:cNvGrpSpPr/>
            <p:nvPr/>
          </p:nvGrpSpPr>
          <p:grpSpPr>
            <a:xfrm>
              <a:off x="7433843" y="2770148"/>
              <a:ext cx="1309974" cy="899967"/>
              <a:chOff x="6831174" y="4263832"/>
              <a:chExt cx="1309974" cy="899967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6848261" y="4495975"/>
                <a:ext cx="1212919" cy="66782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6831174" y="4263832"/>
                <a:ext cx="1309974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200" dirty="0">
                    <a:solidFill>
                      <a:schemeClr val="accent6"/>
                    </a:solidFill>
                  </a:rPr>
                  <a:t>Database server</a:t>
                </a:r>
                <a:endParaRPr lang="zh-CN" altLang="en-US" sz="1200" dirty="0">
                  <a:solidFill>
                    <a:schemeClr val="accent6"/>
                  </a:solidFill>
                </a:endParaRPr>
              </a:p>
            </p:txBody>
          </p:sp>
          <p:grpSp>
            <p:nvGrpSpPr>
              <p:cNvPr id="42" name="组合 41"/>
              <p:cNvGrpSpPr/>
              <p:nvPr/>
            </p:nvGrpSpPr>
            <p:grpSpPr>
              <a:xfrm>
                <a:off x="6951983" y="4538944"/>
                <a:ext cx="1080001" cy="584154"/>
                <a:chOff x="6642225" y="3964214"/>
                <a:chExt cx="816191" cy="584154"/>
              </a:xfrm>
            </p:grpSpPr>
            <p:sp>
              <p:nvSpPr>
                <p:cNvPr id="43" name="磁盘 42"/>
                <p:cNvSpPr/>
                <p:nvPr/>
              </p:nvSpPr>
              <p:spPr>
                <a:xfrm>
                  <a:off x="6642225" y="3964214"/>
                  <a:ext cx="816191" cy="584154"/>
                </a:xfrm>
                <a:prstGeom prst="flowChartMagneticDisk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2200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6679366" y="4033238"/>
                  <a:ext cx="733109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Database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  <a:p>
                  <a:pPr algn="ctr"/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user, price</a:t>
                  </a:r>
                  <a:endParaRPr kumimoji="1"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cxnSp>
          <p:nvCxnSpPr>
            <p:cNvPr id="45" name="直线连接符 44"/>
            <p:cNvCxnSpPr/>
            <p:nvPr/>
          </p:nvCxnSpPr>
          <p:spPr>
            <a:xfrm>
              <a:off x="5645427" y="3793604"/>
              <a:ext cx="30813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6897697" y="3066734"/>
              <a:ext cx="49244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solidFill>
                    <a:schemeClr val="accent6"/>
                  </a:solidFill>
                </a:rPr>
                <a:t>…</a:t>
              </a:r>
              <a:endParaRPr lang="zh-CN" altLang="en-US" sz="2400" dirty="0">
                <a:solidFill>
                  <a:schemeClr val="accent6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6151448" y="3812226"/>
              <a:ext cx="206498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accent6"/>
                  </a:solidFill>
                </a:rPr>
                <a:t>Distributed database</a:t>
              </a:r>
              <a:endParaRPr lang="zh-CN" altLang="en-US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5383207" y="1199766"/>
            <a:ext cx="3704912" cy="1076455"/>
            <a:chOff x="5248883" y="1420516"/>
            <a:chExt cx="3704912" cy="1076455"/>
          </a:xfrm>
        </p:grpSpPr>
        <p:grpSp>
          <p:nvGrpSpPr>
            <p:cNvPr id="63" name="组合 62"/>
            <p:cNvGrpSpPr/>
            <p:nvPr/>
          </p:nvGrpSpPr>
          <p:grpSpPr>
            <a:xfrm>
              <a:off x="5248883" y="1420516"/>
              <a:ext cx="3704912" cy="608773"/>
              <a:chOff x="5248883" y="1420516"/>
              <a:chExt cx="3704912" cy="608773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5248883" y="1424862"/>
                <a:ext cx="1215397" cy="604427"/>
                <a:chOff x="4705349" y="3308267"/>
                <a:chExt cx="1215397" cy="604427"/>
              </a:xfrm>
            </p:grpSpPr>
            <p:sp>
              <p:nvSpPr>
                <p:cNvPr id="51" name="梯形 50"/>
                <p:cNvSpPr/>
                <p:nvPr/>
              </p:nvSpPr>
              <p:spPr>
                <a:xfrm>
                  <a:off x="4857850" y="3506191"/>
                  <a:ext cx="910397" cy="406503"/>
                </a:xfrm>
                <a:prstGeom prst="trapezoi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4896935" y="3566708"/>
                  <a:ext cx="79220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Caching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4705349" y="3308267"/>
                  <a:ext cx="121539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Caching server</a:t>
                  </a:r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50866" y="1424862"/>
                <a:ext cx="1215397" cy="604427"/>
                <a:chOff x="4705349" y="3308267"/>
                <a:chExt cx="1215397" cy="604427"/>
              </a:xfrm>
            </p:grpSpPr>
            <p:sp>
              <p:nvSpPr>
                <p:cNvPr id="55" name="梯形 54"/>
                <p:cNvSpPr/>
                <p:nvPr/>
              </p:nvSpPr>
              <p:spPr>
                <a:xfrm>
                  <a:off x="4857850" y="3506191"/>
                  <a:ext cx="910397" cy="406503"/>
                </a:xfrm>
                <a:prstGeom prst="trapezoi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4896935" y="3566708"/>
                  <a:ext cx="79220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Caching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>
                <a:xfrm>
                  <a:off x="4705349" y="3308267"/>
                  <a:ext cx="121539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Caching server</a:t>
                  </a:r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7738398" y="1420516"/>
                <a:ext cx="1215397" cy="604427"/>
                <a:chOff x="4705349" y="3308267"/>
                <a:chExt cx="1215397" cy="604427"/>
              </a:xfrm>
            </p:grpSpPr>
            <p:sp>
              <p:nvSpPr>
                <p:cNvPr id="59" name="梯形 58"/>
                <p:cNvSpPr/>
                <p:nvPr/>
              </p:nvSpPr>
              <p:spPr>
                <a:xfrm>
                  <a:off x="4857850" y="3506191"/>
                  <a:ext cx="910397" cy="406503"/>
                </a:xfrm>
                <a:prstGeom prst="trapezoi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4896935" y="3566708"/>
                  <a:ext cx="79220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en-US" altLang="zh-CN" sz="1200" b="1" dirty="0">
                      <a:solidFill>
                        <a:schemeClr val="accent6"/>
                      </a:solidFill>
                    </a:rPr>
                    <a:t>Caching</a:t>
                  </a:r>
                  <a:endParaRPr kumimoji="1" lang="en-US" altLang="zh-CN" sz="1200" b="1" dirty="0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4705349" y="3308267"/>
                  <a:ext cx="121539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zh-CN" sz="1200" dirty="0">
                      <a:solidFill>
                        <a:schemeClr val="accent6"/>
                      </a:solidFill>
                    </a:rPr>
                    <a:t>Caching server</a:t>
                  </a:r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p:grpSp>
          <p:sp>
            <p:nvSpPr>
              <p:cNvPr id="62" name="矩形 61"/>
              <p:cNvSpPr/>
              <p:nvPr/>
            </p:nvSpPr>
            <p:spPr>
              <a:xfrm>
                <a:off x="7415910" y="1502122"/>
                <a:ext cx="492443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dirty="0">
                    <a:solidFill>
                      <a:schemeClr val="accent6"/>
                    </a:solidFill>
                  </a:rPr>
                  <a:t>…</a:t>
                </a:r>
                <a:endParaRPr lang="zh-CN" altLang="en-US" sz="2400" dirty="0">
                  <a:solidFill>
                    <a:schemeClr val="accent6"/>
                  </a:solidFill>
                </a:endParaRPr>
              </a:p>
            </p:txBody>
          </p:sp>
        </p:grpSp>
        <p:cxnSp>
          <p:nvCxnSpPr>
            <p:cNvPr id="64" name="直线连接符 63"/>
            <p:cNvCxnSpPr/>
            <p:nvPr/>
          </p:nvCxnSpPr>
          <p:spPr>
            <a:xfrm>
              <a:off x="5308749" y="2137420"/>
              <a:ext cx="36450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6027005" y="2158417"/>
              <a:ext cx="192713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accent6"/>
                  </a:solidFill>
                </a:rPr>
                <a:t>Distributed caching</a:t>
              </a:r>
              <a:endParaRPr lang="zh-CN" altLang="en-US" sz="16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2236116" y="3199271"/>
            <a:ext cx="768261" cy="2146974"/>
            <a:chOff x="3096000" y="3119298"/>
            <a:chExt cx="768261" cy="2146974"/>
          </a:xfrm>
        </p:grpSpPr>
        <p:sp>
          <p:nvSpPr>
            <p:cNvPr id="68" name="矩形 67"/>
            <p:cNvSpPr/>
            <p:nvPr/>
          </p:nvSpPr>
          <p:spPr>
            <a:xfrm>
              <a:off x="3096000" y="3119298"/>
              <a:ext cx="725111" cy="21469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9" name="组合 68"/>
            <p:cNvGrpSpPr/>
            <p:nvPr/>
          </p:nvGrpSpPr>
          <p:grpSpPr>
            <a:xfrm rot="5400000">
              <a:off x="2988299" y="3437380"/>
              <a:ext cx="690955" cy="180000"/>
              <a:chOff x="4884739" y="2696400"/>
              <a:chExt cx="690955" cy="180000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 rot="5400000">
              <a:off x="3219367" y="3437381"/>
              <a:ext cx="690955" cy="180000"/>
              <a:chOff x="4884739" y="2696400"/>
              <a:chExt cx="690955" cy="18000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 rot="5400000">
              <a:off x="2988299" y="4762203"/>
              <a:ext cx="690955" cy="180000"/>
              <a:chOff x="4884739" y="2696400"/>
              <a:chExt cx="690955" cy="180000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 rot="5400000">
              <a:off x="3219367" y="4762204"/>
              <a:ext cx="690955" cy="180000"/>
              <a:chOff x="4884739" y="2696400"/>
              <a:chExt cx="690955" cy="180000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4884739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5135696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5395694" y="2696400"/>
                <a:ext cx="180000" cy="18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93" name="矩形 92"/>
            <p:cNvSpPr/>
            <p:nvPr/>
          </p:nvSpPr>
          <p:spPr>
            <a:xfrm>
              <a:off x="3126559" y="4015893"/>
              <a:ext cx="73770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rgbClr val="000000"/>
                  </a:solidFill>
                </a:rPr>
                <a:t>Load</a:t>
              </a:r>
              <a:endParaRPr kumimoji="1" lang="en-US" altLang="zh-CN" sz="1200" dirty="0">
                <a:solidFill>
                  <a:srgbClr val="000000"/>
                </a:solidFill>
              </a:endParaRPr>
            </a:p>
            <a:p>
              <a:r>
                <a:rPr kumimoji="1" lang="en-US" altLang="zh-CN" sz="1200" dirty="0">
                  <a:solidFill>
                    <a:srgbClr val="000000"/>
                  </a:solidFill>
                </a:rPr>
                <a:t>Balance</a:t>
              </a:r>
              <a:endParaRPr lang="zh-CN" altLang="en-US" sz="1200" dirty="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3302994" y="2814021"/>
            <a:ext cx="1703228" cy="1049410"/>
            <a:chOff x="5882155" y="4329138"/>
            <a:chExt cx="1703228" cy="1049410"/>
          </a:xfrm>
        </p:grpSpPr>
        <p:sp>
          <p:nvSpPr>
            <p:cNvPr id="96" name="矩形 95"/>
            <p:cNvSpPr/>
            <p:nvPr/>
          </p:nvSpPr>
          <p:spPr>
            <a:xfrm>
              <a:off x="5882155" y="4329138"/>
              <a:ext cx="1703228" cy="9004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accent6"/>
                </a:solidFill>
              </a:endParaRPr>
            </a:p>
          </p:txBody>
        </p:sp>
        <p:sp>
          <p:nvSpPr>
            <p:cNvPr id="97" name="圆角矩形 96"/>
            <p:cNvSpPr/>
            <p:nvPr/>
          </p:nvSpPr>
          <p:spPr>
            <a:xfrm>
              <a:off x="5919232" y="4422093"/>
              <a:ext cx="1564153" cy="64325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accent6"/>
                  </a:solidFill>
                </a:rPr>
                <a:t>Application #1</a:t>
              </a:r>
              <a:endParaRPr kumimoji="1" lang="en-US" altLang="zh-CN" sz="1200" b="1" dirty="0">
                <a:solidFill>
                  <a:schemeClr val="accent6"/>
                </a:solidFill>
              </a:endParaRPr>
            </a:p>
            <a:p>
              <a:pPr algn="ctr"/>
              <a:r>
                <a:rPr kumimoji="1" lang="en-US" altLang="zh-CN" sz="1200" dirty="0">
                  <a:solidFill>
                    <a:schemeClr val="accent6"/>
                  </a:solidFill>
                </a:rPr>
                <a:t>generate the page</a:t>
              </a:r>
              <a:endParaRPr kumimoji="1" lang="en-US" altLang="zh-CN" sz="1200" dirty="0">
                <a:solidFill>
                  <a:schemeClr val="accent6"/>
                </a:solidFill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5999834" y="5101549"/>
              <a:ext cx="14029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chemeClr val="accent6"/>
                  </a:solidFill>
                </a:rPr>
                <a:t>Application server</a:t>
              </a:r>
              <a:endParaRPr lang="zh-CN" altLang="en-US" sz="1200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270533" y="4048243"/>
            <a:ext cx="1703228" cy="1049410"/>
            <a:chOff x="5882155" y="4329138"/>
            <a:chExt cx="1703228" cy="1049410"/>
          </a:xfrm>
        </p:grpSpPr>
        <p:sp>
          <p:nvSpPr>
            <p:cNvPr id="111" name="矩形 110"/>
            <p:cNvSpPr/>
            <p:nvPr/>
          </p:nvSpPr>
          <p:spPr>
            <a:xfrm>
              <a:off x="5882155" y="4329138"/>
              <a:ext cx="1703228" cy="9004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accent6"/>
                </a:solidFill>
              </a:endParaRPr>
            </a:p>
          </p:txBody>
        </p:sp>
        <p:sp>
          <p:nvSpPr>
            <p:cNvPr id="112" name="圆角矩形 111"/>
            <p:cNvSpPr/>
            <p:nvPr/>
          </p:nvSpPr>
          <p:spPr>
            <a:xfrm>
              <a:off x="5919232" y="4422093"/>
              <a:ext cx="1564153" cy="64325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accent6"/>
                  </a:solidFill>
                </a:rPr>
                <a:t>Application #2</a:t>
              </a:r>
              <a:endParaRPr kumimoji="1" lang="en-US" altLang="zh-CN" sz="1200" b="1" dirty="0">
                <a:solidFill>
                  <a:schemeClr val="accent6"/>
                </a:solidFill>
              </a:endParaRPr>
            </a:p>
            <a:p>
              <a:pPr algn="ctr"/>
              <a:r>
                <a:rPr kumimoji="1" lang="en-US" altLang="zh-CN" sz="1200" dirty="0">
                  <a:solidFill>
                    <a:schemeClr val="accent6"/>
                  </a:solidFill>
                </a:rPr>
                <a:t>add the order</a:t>
              </a:r>
              <a:endParaRPr kumimoji="1" lang="en-US" altLang="zh-CN" sz="1200" dirty="0">
                <a:solidFill>
                  <a:schemeClr val="accent6"/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5999834" y="5101549"/>
              <a:ext cx="14029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sz="1200" dirty="0">
                  <a:solidFill>
                    <a:schemeClr val="accent6"/>
                  </a:solidFill>
                </a:rPr>
                <a:t>Application server</a:t>
              </a:r>
              <a:endParaRPr lang="zh-CN" altLang="en-US" sz="12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16" name="矩形 115"/>
          <p:cNvSpPr/>
          <p:nvPr/>
        </p:nvSpPr>
        <p:spPr>
          <a:xfrm rot="5400000">
            <a:off x="3984226" y="5112000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chemeClr val="accent6"/>
                </a:solidFill>
              </a:rPr>
              <a:t>…</a:t>
            </a:r>
            <a:endParaRPr lang="zh-CN" altLang="en-US" sz="2400" dirty="0">
              <a:solidFill>
                <a:schemeClr val="accent6"/>
              </a:solidFill>
            </a:endParaRPr>
          </a:p>
        </p:txBody>
      </p:sp>
      <p:cxnSp>
        <p:nvCxnSpPr>
          <p:cNvPr id="32" name="直线连接符 31"/>
          <p:cNvCxnSpPr/>
          <p:nvPr/>
        </p:nvCxnSpPr>
        <p:spPr>
          <a:xfrm>
            <a:off x="1979712" y="2706957"/>
            <a:ext cx="0" cy="35864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76"/>
          <p:cNvCxnSpPr/>
          <p:nvPr/>
        </p:nvCxnSpPr>
        <p:spPr>
          <a:xfrm>
            <a:off x="1979712" y="2706957"/>
            <a:ext cx="324036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/>
          <p:cNvCxnSpPr/>
          <p:nvPr/>
        </p:nvCxnSpPr>
        <p:spPr>
          <a:xfrm flipV="1">
            <a:off x="5220072" y="1129308"/>
            <a:ext cx="0" cy="15776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/>
          <p:cNvCxnSpPr/>
          <p:nvPr/>
        </p:nvCxnSpPr>
        <p:spPr>
          <a:xfrm>
            <a:off x="5220072" y="1129308"/>
            <a:ext cx="43924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/>
          <p:cNvGrpSpPr/>
          <p:nvPr/>
        </p:nvGrpSpPr>
        <p:grpSpPr>
          <a:xfrm rot="16200000">
            <a:off x="703673" y="3881347"/>
            <a:ext cx="1548280" cy="638043"/>
            <a:chOff x="6020855" y="1361203"/>
            <a:chExt cx="1548280" cy="638043"/>
          </a:xfrm>
        </p:grpSpPr>
        <p:sp>
          <p:nvSpPr>
            <p:cNvPr id="102" name="云形 101"/>
            <p:cNvSpPr/>
            <p:nvPr/>
          </p:nvSpPr>
          <p:spPr>
            <a:xfrm>
              <a:off x="6020855" y="1361203"/>
              <a:ext cx="1548280" cy="638043"/>
            </a:xfrm>
            <a:prstGeom prst="clou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311529" y="1443038"/>
              <a:ext cx="9669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0000"/>
                  </a:solidFill>
                </a:rPr>
                <a:t>Internet</a:t>
              </a:r>
              <a:endParaRPr lang="zh-CN" altLang="en-US" dirty="0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911161" y="3550232"/>
            <a:ext cx="252000" cy="517828"/>
            <a:chOff x="1735514" y="3550232"/>
            <a:chExt cx="420567" cy="517828"/>
          </a:xfrm>
        </p:grpSpPr>
        <p:cxnSp>
          <p:nvCxnSpPr>
            <p:cNvPr id="104" name="直线箭头连接符 103"/>
            <p:cNvCxnSpPr/>
            <p:nvPr/>
          </p:nvCxnSpPr>
          <p:spPr>
            <a:xfrm>
              <a:off x="1735514" y="3550232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箭头连接符 105"/>
            <p:cNvCxnSpPr/>
            <p:nvPr/>
          </p:nvCxnSpPr>
          <p:spPr>
            <a:xfrm>
              <a:off x="1735514" y="3720585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箭头连接符 106"/>
            <p:cNvCxnSpPr/>
            <p:nvPr/>
          </p:nvCxnSpPr>
          <p:spPr>
            <a:xfrm>
              <a:off x="1735514" y="3897707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箭头连接符 107"/>
            <p:cNvCxnSpPr/>
            <p:nvPr/>
          </p:nvCxnSpPr>
          <p:spPr>
            <a:xfrm>
              <a:off x="1735514" y="4068060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/>
          <p:cNvGrpSpPr/>
          <p:nvPr/>
        </p:nvGrpSpPr>
        <p:grpSpPr>
          <a:xfrm>
            <a:off x="1907704" y="4263806"/>
            <a:ext cx="252000" cy="517828"/>
            <a:chOff x="1735514" y="3550232"/>
            <a:chExt cx="420567" cy="517828"/>
          </a:xfrm>
        </p:grpSpPr>
        <p:cxnSp>
          <p:nvCxnSpPr>
            <p:cNvPr id="117" name="直线箭头连接符 116"/>
            <p:cNvCxnSpPr/>
            <p:nvPr/>
          </p:nvCxnSpPr>
          <p:spPr>
            <a:xfrm>
              <a:off x="1735514" y="3550232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箭头连接符 117"/>
            <p:cNvCxnSpPr/>
            <p:nvPr/>
          </p:nvCxnSpPr>
          <p:spPr>
            <a:xfrm>
              <a:off x="1735514" y="3720585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线箭头连接符 118"/>
            <p:cNvCxnSpPr/>
            <p:nvPr/>
          </p:nvCxnSpPr>
          <p:spPr>
            <a:xfrm>
              <a:off x="1735514" y="3897707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线箭头连接符 119"/>
            <p:cNvCxnSpPr/>
            <p:nvPr/>
          </p:nvCxnSpPr>
          <p:spPr>
            <a:xfrm>
              <a:off x="1735514" y="4068060"/>
              <a:ext cx="4205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任意形状 98"/>
          <p:cNvSpPr/>
          <p:nvPr/>
        </p:nvSpPr>
        <p:spPr>
          <a:xfrm>
            <a:off x="2675106" y="2972121"/>
            <a:ext cx="680937" cy="425574"/>
          </a:xfrm>
          <a:custGeom>
            <a:avLst/>
            <a:gdLst>
              <a:gd name="connsiteX0" fmla="*/ 0 w 680937"/>
              <a:gd name="connsiteY0" fmla="*/ 403377 h 425574"/>
              <a:gd name="connsiteX1" fmla="*/ 447473 w 680937"/>
              <a:gd name="connsiteY1" fmla="*/ 383922 h 425574"/>
              <a:gd name="connsiteX2" fmla="*/ 379379 w 680937"/>
              <a:gd name="connsiteY2" fmla="*/ 23998 h 425574"/>
              <a:gd name="connsiteX3" fmla="*/ 680937 w 680937"/>
              <a:gd name="connsiteY3" fmla="*/ 62909 h 42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0937" h="425574">
                <a:moveTo>
                  <a:pt x="0" y="403377"/>
                </a:moveTo>
                <a:cubicBezTo>
                  <a:pt x="192121" y="425264"/>
                  <a:pt x="384243" y="447152"/>
                  <a:pt x="447473" y="383922"/>
                </a:cubicBezTo>
                <a:cubicBezTo>
                  <a:pt x="510703" y="320692"/>
                  <a:pt x="340468" y="77500"/>
                  <a:pt x="379379" y="23998"/>
                </a:cubicBezTo>
                <a:cubicBezTo>
                  <a:pt x="418290" y="-29504"/>
                  <a:pt x="549613" y="16702"/>
                  <a:pt x="680937" y="62909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100" name="任意形状 99"/>
          <p:cNvSpPr/>
          <p:nvPr/>
        </p:nvSpPr>
        <p:spPr>
          <a:xfrm>
            <a:off x="2733472" y="3533078"/>
            <a:ext cx="671209" cy="1017912"/>
          </a:xfrm>
          <a:custGeom>
            <a:avLst/>
            <a:gdLst>
              <a:gd name="connsiteX0" fmla="*/ 0 w 671209"/>
              <a:gd name="connsiteY0" fmla="*/ 75884 h 1017912"/>
              <a:gd name="connsiteX1" fmla="*/ 291830 w 671209"/>
              <a:gd name="connsiteY1" fmla="*/ 85611 h 1017912"/>
              <a:gd name="connsiteX2" fmla="*/ 340468 w 671209"/>
              <a:gd name="connsiteY2" fmla="*/ 941645 h 1017912"/>
              <a:gd name="connsiteX3" fmla="*/ 671209 w 671209"/>
              <a:gd name="connsiteY3" fmla="*/ 922190 h 101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209" h="1017912">
                <a:moveTo>
                  <a:pt x="0" y="75884"/>
                </a:moveTo>
                <a:cubicBezTo>
                  <a:pt x="117542" y="8601"/>
                  <a:pt x="235085" y="-58682"/>
                  <a:pt x="291830" y="85611"/>
                </a:cubicBezTo>
                <a:cubicBezTo>
                  <a:pt x="348575" y="229904"/>
                  <a:pt x="277238" y="802215"/>
                  <a:pt x="340468" y="941645"/>
                </a:cubicBezTo>
                <a:cubicBezTo>
                  <a:pt x="403698" y="1081075"/>
                  <a:pt x="537453" y="1001632"/>
                  <a:pt x="671209" y="92219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105" name="任意形状 104"/>
          <p:cNvSpPr/>
          <p:nvPr/>
        </p:nvSpPr>
        <p:spPr>
          <a:xfrm>
            <a:off x="2743200" y="4928179"/>
            <a:ext cx="1215957" cy="488037"/>
          </a:xfrm>
          <a:custGeom>
            <a:avLst/>
            <a:gdLst>
              <a:gd name="connsiteX0" fmla="*/ 0 w 1215957"/>
              <a:gd name="connsiteY0" fmla="*/ 3744 h 488037"/>
              <a:gd name="connsiteX1" fmla="*/ 379379 w 1215957"/>
              <a:gd name="connsiteY1" fmla="*/ 62110 h 488037"/>
              <a:gd name="connsiteX2" fmla="*/ 680936 w 1215957"/>
              <a:gd name="connsiteY2" fmla="*/ 431761 h 488037"/>
              <a:gd name="connsiteX3" fmla="*/ 1215957 w 1215957"/>
              <a:gd name="connsiteY3" fmla="*/ 480400 h 48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5957" h="488037">
                <a:moveTo>
                  <a:pt x="0" y="3744"/>
                </a:moveTo>
                <a:cubicBezTo>
                  <a:pt x="132945" y="-2741"/>
                  <a:pt x="265890" y="-9226"/>
                  <a:pt x="379379" y="62110"/>
                </a:cubicBezTo>
                <a:cubicBezTo>
                  <a:pt x="492868" y="133446"/>
                  <a:pt x="541506" y="362046"/>
                  <a:pt x="680936" y="431761"/>
                </a:cubicBezTo>
                <a:cubicBezTo>
                  <a:pt x="820366" y="501476"/>
                  <a:pt x="1018161" y="490938"/>
                  <a:pt x="1215957" y="48040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121" name="任意形状 120"/>
          <p:cNvSpPr/>
          <p:nvPr/>
        </p:nvSpPr>
        <p:spPr>
          <a:xfrm>
            <a:off x="4864086" y="2014176"/>
            <a:ext cx="1283795" cy="1189054"/>
          </a:xfrm>
          <a:custGeom>
            <a:avLst/>
            <a:gdLst>
              <a:gd name="connsiteX0" fmla="*/ 9471 w 1283795"/>
              <a:gd name="connsiteY0" fmla="*/ 1118130 h 1189054"/>
              <a:gd name="connsiteX1" fmla="*/ 67837 w 1283795"/>
              <a:gd name="connsiteY1" fmla="*/ 1127858 h 1189054"/>
              <a:gd name="connsiteX2" fmla="*/ 515310 w 1283795"/>
              <a:gd name="connsiteY2" fmla="*/ 1108403 h 1189054"/>
              <a:gd name="connsiteX3" fmla="*/ 641769 w 1283795"/>
              <a:gd name="connsiteY3" fmla="*/ 106454 h 1189054"/>
              <a:gd name="connsiteX4" fmla="*/ 1283795 w 1283795"/>
              <a:gd name="connsiteY4" fmla="*/ 77271 h 118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3795" h="1189054">
                <a:moveTo>
                  <a:pt x="9471" y="1118130"/>
                </a:moveTo>
                <a:cubicBezTo>
                  <a:pt x="-3499" y="1123804"/>
                  <a:pt x="-16469" y="1129479"/>
                  <a:pt x="67837" y="1127858"/>
                </a:cubicBezTo>
                <a:cubicBezTo>
                  <a:pt x="152143" y="1126237"/>
                  <a:pt x="419655" y="1278637"/>
                  <a:pt x="515310" y="1108403"/>
                </a:cubicBezTo>
                <a:cubicBezTo>
                  <a:pt x="610965" y="938169"/>
                  <a:pt x="513688" y="278309"/>
                  <a:pt x="641769" y="106454"/>
                </a:cubicBezTo>
                <a:cubicBezTo>
                  <a:pt x="769850" y="-65401"/>
                  <a:pt x="1026822" y="5935"/>
                  <a:pt x="1283795" y="77271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122" name="任意形状 121"/>
          <p:cNvSpPr/>
          <p:nvPr/>
        </p:nvSpPr>
        <p:spPr>
          <a:xfrm>
            <a:off x="4902740" y="4349164"/>
            <a:ext cx="1420239" cy="942683"/>
          </a:xfrm>
          <a:custGeom>
            <a:avLst/>
            <a:gdLst>
              <a:gd name="connsiteX0" fmla="*/ 0 w 1420239"/>
              <a:gd name="connsiteY0" fmla="*/ 47738 h 942683"/>
              <a:gd name="connsiteX1" fmla="*/ 593388 w 1420239"/>
              <a:gd name="connsiteY1" fmla="*/ 47738 h 942683"/>
              <a:gd name="connsiteX2" fmla="*/ 680937 w 1420239"/>
              <a:gd name="connsiteY2" fmla="*/ 543849 h 942683"/>
              <a:gd name="connsiteX3" fmla="*/ 1420239 w 1420239"/>
              <a:gd name="connsiteY3" fmla="*/ 942683 h 942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239" h="942683">
                <a:moveTo>
                  <a:pt x="0" y="47738"/>
                </a:moveTo>
                <a:cubicBezTo>
                  <a:pt x="239949" y="6395"/>
                  <a:pt x="479899" y="-34947"/>
                  <a:pt x="593388" y="47738"/>
                </a:cubicBezTo>
                <a:cubicBezTo>
                  <a:pt x="706877" y="130423"/>
                  <a:pt x="543129" y="394692"/>
                  <a:pt x="680937" y="543849"/>
                </a:cubicBezTo>
                <a:cubicBezTo>
                  <a:pt x="818745" y="693006"/>
                  <a:pt x="1119492" y="817844"/>
                  <a:pt x="1420239" y="942683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123" name="任意形状 122"/>
          <p:cNvSpPr/>
          <p:nvPr/>
        </p:nvSpPr>
        <p:spPr>
          <a:xfrm>
            <a:off x="4931923" y="3381875"/>
            <a:ext cx="1313234" cy="460911"/>
          </a:xfrm>
          <a:custGeom>
            <a:avLst/>
            <a:gdLst>
              <a:gd name="connsiteX0" fmla="*/ 0 w 1313234"/>
              <a:gd name="connsiteY0" fmla="*/ 51989 h 460911"/>
              <a:gd name="connsiteX1" fmla="*/ 437745 w 1313234"/>
              <a:gd name="connsiteY1" fmla="*/ 32534 h 460911"/>
              <a:gd name="connsiteX2" fmla="*/ 428017 w 1313234"/>
              <a:gd name="connsiteY2" fmla="*/ 431368 h 460911"/>
              <a:gd name="connsiteX3" fmla="*/ 1313234 w 1313234"/>
              <a:gd name="connsiteY3" fmla="*/ 431368 h 460911"/>
              <a:gd name="connsiteX4" fmla="*/ 1313234 w 1313234"/>
              <a:gd name="connsiteY4" fmla="*/ 431368 h 46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3234" h="460911">
                <a:moveTo>
                  <a:pt x="0" y="51989"/>
                </a:moveTo>
                <a:cubicBezTo>
                  <a:pt x="183204" y="10646"/>
                  <a:pt x="366409" y="-30696"/>
                  <a:pt x="437745" y="32534"/>
                </a:cubicBezTo>
                <a:cubicBezTo>
                  <a:pt x="509081" y="95764"/>
                  <a:pt x="282102" y="364896"/>
                  <a:pt x="428017" y="431368"/>
                </a:cubicBezTo>
                <a:cubicBezTo>
                  <a:pt x="573932" y="497840"/>
                  <a:pt x="1313234" y="431368"/>
                  <a:pt x="1313234" y="431368"/>
                </a:cubicBezTo>
                <a:lnTo>
                  <a:pt x="1313234" y="431368"/>
                </a:ln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945" y="3397695"/>
            <a:ext cx="329286" cy="329286"/>
          </a:xfrm>
          <a:prstGeom prst="rect">
            <a:avLst/>
          </a:prstGeom>
        </p:spPr>
      </p:pic>
      <p:pic>
        <p:nvPicPr>
          <p:cNvPr id="126" name="图片 1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0" y="3955145"/>
            <a:ext cx="536836" cy="536836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47" y="4549038"/>
            <a:ext cx="425471" cy="425471"/>
          </a:xfrm>
          <a:prstGeom prst="rect">
            <a:avLst/>
          </a:prstGeom>
        </p:spPr>
      </p:pic>
      <p:sp>
        <p:nvSpPr>
          <p:cNvPr id="128" name="矩形 127"/>
          <p:cNvSpPr/>
          <p:nvPr/>
        </p:nvSpPr>
        <p:spPr>
          <a:xfrm rot="5400000">
            <a:off x="381976" y="5112000"/>
            <a:ext cx="4924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rgbClr val="000000"/>
                </a:solidFill>
              </a:rPr>
              <a:t>…</a:t>
            </a:r>
            <a:endParaRPr lang="zh-CN" altLang="en-US" sz="2400" dirty="0"/>
          </a:p>
        </p:txBody>
      </p:sp>
      <p:cxnSp>
        <p:nvCxnSpPr>
          <p:cNvPr id="135" name="直线箭头连接符 134"/>
          <p:cNvCxnSpPr/>
          <p:nvPr/>
        </p:nvCxnSpPr>
        <p:spPr>
          <a:xfrm>
            <a:off x="769034" y="3667368"/>
            <a:ext cx="255810" cy="3293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/>
          <p:cNvCxnSpPr/>
          <p:nvPr/>
        </p:nvCxnSpPr>
        <p:spPr>
          <a:xfrm>
            <a:off x="804116" y="4272758"/>
            <a:ext cx="25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/>
          <p:cNvCxnSpPr/>
          <p:nvPr/>
        </p:nvCxnSpPr>
        <p:spPr>
          <a:xfrm flipV="1">
            <a:off x="795533" y="4557531"/>
            <a:ext cx="260583" cy="23305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/>
          <p:cNvCxnSpPr/>
          <p:nvPr/>
        </p:nvCxnSpPr>
        <p:spPr>
          <a:xfrm flipV="1">
            <a:off x="794988" y="4948686"/>
            <a:ext cx="281447" cy="51067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113717" y="2910714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/>
              <a:t>Users</a:t>
            </a:r>
            <a:endParaRPr lang="zh-CN" altLang="en-US" dirty="0"/>
          </a:p>
        </p:txBody>
      </p:sp>
      <p:grpSp>
        <p:nvGrpSpPr>
          <p:cNvPr id="146" name="组合 145"/>
          <p:cNvGrpSpPr/>
          <p:nvPr/>
        </p:nvGrpSpPr>
        <p:grpSpPr>
          <a:xfrm>
            <a:off x="1031305" y="2691437"/>
            <a:ext cx="845234" cy="489970"/>
            <a:chOff x="6020855" y="1361204"/>
            <a:chExt cx="845234" cy="489970"/>
          </a:xfrm>
        </p:grpSpPr>
        <p:sp>
          <p:nvSpPr>
            <p:cNvPr id="147" name="云形 146"/>
            <p:cNvSpPr/>
            <p:nvPr/>
          </p:nvSpPr>
          <p:spPr>
            <a:xfrm>
              <a:off x="6020855" y="1361204"/>
              <a:ext cx="845234" cy="489970"/>
            </a:xfrm>
            <a:prstGeom prst="clou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6110928" y="1413481"/>
              <a:ext cx="684803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solidFill>
                    <a:srgbClr val="000000"/>
                  </a:solidFill>
                </a:rPr>
                <a:t>CDN</a:t>
              </a:r>
              <a:endParaRPr lang="zh-CN" altLang="en-US" dirty="0"/>
            </a:p>
          </p:txBody>
        </p:sp>
      </p:grpSp>
      <p:cxnSp>
        <p:nvCxnSpPr>
          <p:cNvPr id="149" name="直线箭头连接符 148"/>
          <p:cNvCxnSpPr/>
          <p:nvPr/>
        </p:nvCxnSpPr>
        <p:spPr>
          <a:xfrm flipV="1">
            <a:off x="1337719" y="3186000"/>
            <a:ext cx="0" cy="2304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/>
          <p:cNvCxnSpPr/>
          <p:nvPr/>
        </p:nvCxnSpPr>
        <p:spPr>
          <a:xfrm flipV="1">
            <a:off x="1477813" y="3203164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/>
          <p:cNvGrpSpPr/>
          <p:nvPr/>
        </p:nvGrpSpPr>
        <p:grpSpPr>
          <a:xfrm>
            <a:off x="4492257" y="5204142"/>
            <a:ext cx="1322740" cy="293267"/>
            <a:chOff x="4833436" y="4356643"/>
            <a:chExt cx="1322740" cy="293267"/>
          </a:xfrm>
        </p:grpSpPr>
        <p:sp>
          <p:nvSpPr>
            <p:cNvPr id="130" name="圆柱体 129"/>
            <p:cNvSpPr/>
            <p:nvPr/>
          </p:nvSpPr>
          <p:spPr>
            <a:xfrm rot="5400000">
              <a:off x="5375673" y="3869407"/>
              <a:ext cx="276998" cy="1284008"/>
            </a:xfrm>
            <a:prstGeom prst="ca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6"/>
                </a:solidFill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4833436" y="4356643"/>
              <a:ext cx="12840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accent6"/>
                  </a:solidFill>
                </a:rPr>
                <a:t>Message queue</a:t>
              </a:r>
              <a:endParaRPr lang="zh-CN" altLang="en-US" sz="12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4" name="任意形状 3"/>
          <p:cNvSpPr/>
          <p:nvPr/>
        </p:nvSpPr>
        <p:spPr>
          <a:xfrm>
            <a:off x="4994031" y="4797083"/>
            <a:ext cx="342313" cy="365760"/>
          </a:xfrm>
          <a:custGeom>
            <a:avLst/>
            <a:gdLst>
              <a:gd name="connsiteX0" fmla="*/ 0 w 342313"/>
              <a:gd name="connsiteY0" fmla="*/ 0 h 365760"/>
              <a:gd name="connsiteX1" fmla="*/ 295421 w 342313"/>
              <a:gd name="connsiteY1" fmla="*/ 70339 h 365760"/>
              <a:gd name="connsiteX2" fmla="*/ 337624 w 342313"/>
              <a:gd name="connsiteY2" fmla="*/ 36576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13" h="365760">
                <a:moveTo>
                  <a:pt x="0" y="0"/>
                </a:moveTo>
                <a:cubicBezTo>
                  <a:pt x="119575" y="4689"/>
                  <a:pt x="239150" y="9379"/>
                  <a:pt x="295421" y="70339"/>
                </a:cubicBezTo>
                <a:cubicBezTo>
                  <a:pt x="351692" y="131299"/>
                  <a:pt x="344658" y="248529"/>
                  <a:pt x="337624" y="36576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5868502" y="4382802"/>
            <a:ext cx="797845" cy="741671"/>
          </a:xfrm>
          <a:prstGeom prst="ellipse">
            <a:avLst/>
          </a:pr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4549022" cy="1498280"/>
          </a:xfrm>
        </p:spPr>
        <p:txBody>
          <a:bodyPr>
            <a:normAutofit/>
          </a:bodyPr>
          <a:lstStyle/>
          <a:p>
            <a:r>
              <a:rPr kumimoji="1" lang="en-US" altLang="zh-CN" b="0" dirty="0"/>
              <a:t>While distributed systems are built from components on a </a:t>
            </a:r>
            <a:r>
              <a:rPr kumimoji="1" lang="en-US" altLang="zh-CN" dirty="0">
                <a:solidFill>
                  <a:srgbClr val="C00000"/>
                </a:solidFill>
              </a:rPr>
              <a:t>single</a:t>
            </a:r>
            <a:r>
              <a:rPr kumimoji="1" lang="en-US" altLang="zh-CN" b="0" dirty="0"/>
              <a:t> node</a:t>
            </a:r>
            <a:endParaRPr kumimoji="1" lang="en-US" altLang="zh-CN" b="0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File system</a:t>
            </a:r>
            <a:r>
              <a:rPr kumimoji="1" lang="en-US" altLang="zh-CN" dirty="0"/>
              <a:t> runtimes, etc. 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altLang="zh-CN" sz="3200" kern="0" cap="none" dirty="0" err="1">
                <a:solidFill>
                  <a:srgbClr val="C00000"/>
                </a:solidFill>
                <a:latin typeface="Arial" panose="020B0604020202020204"/>
                <a:cs typeface="+mn-cs"/>
              </a:rPr>
              <a:t>iNode</a:t>
            </a:r>
            <a:r>
              <a:rPr lang="en-US" altLang="zh-CN" sz="3200" kern="0" cap="none" dirty="0">
                <a:solidFill>
                  <a:srgbClr val="C00000"/>
                </a:solidFill>
                <a:latin typeface="Arial" panose="020B0604020202020204"/>
                <a:cs typeface="+mn-cs"/>
              </a:rPr>
              <a:t>-based File System</a:t>
            </a:r>
            <a:endParaRPr lang="zh-CN" altLang="en-US" sz="60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is a file?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2245"/>
            <a:ext cx="8229600" cy="3771636"/>
          </a:xfrm>
        </p:spPr>
        <p:txBody>
          <a:bodyPr>
            <a:normAutofit fontScale="92500"/>
          </a:bodyPr>
          <a:lstStyle/>
          <a:p>
            <a:r>
              <a:rPr lang="en-US" altLang="zh-CN" sz="2200" b="0" dirty="0"/>
              <a:t>A file has </a:t>
            </a:r>
            <a:r>
              <a:rPr lang="en-US" altLang="zh-CN" sz="2200" dirty="0">
                <a:solidFill>
                  <a:srgbClr val="C00000"/>
                </a:solidFill>
              </a:rPr>
              <a:t>two key properties: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lvl="1"/>
            <a:r>
              <a:rPr lang="en-US" altLang="zh-CN" sz="2200" u="sng" dirty="0"/>
              <a:t>It is </a:t>
            </a:r>
            <a:r>
              <a:rPr lang="en-US" altLang="zh-CN" sz="2200" b="1" u="sng" dirty="0">
                <a:solidFill>
                  <a:srgbClr val="C00000"/>
                </a:solidFill>
              </a:rPr>
              <a:t>durable</a:t>
            </a:r>
            <a:r>
              <a:rPr lang="en-US" altLang="zh-CN" sz="2200" dirty="0"/>
              <a:t> &amp; </a:t>
            </a:r>
            <a:r>
              <a:rPr lang="en-US" altLang="zh-CN" sz="2200" u="sng" dirty="0"/>
              <a:t>has a </a:t>
            </a:r>
            <a:r>
              <a:rPr lang="en-US" altLang="zh-CN" sz="2200" b="1" u="sng" dirty="0">
                <a:solidFill>
                  <a:srgbClr val="C00000"/>
                </a:solidFill>
              </a:rPr>
              <a:t>name</a:t>
            </a:r>
            <a:endParaRPr lang="en-US" altLang="zh-CN" sz="2200" b="1" u="sng" dirty="0">
              <a:solidFill>
                <a:srgbClr val="C00000"/>
              </a:solidFill>
            </a:endParaRPr>
          </a:p>
          <a:p>
            <a:pPr lvl="1"/>
            <a:r>
              <a:rPr lang="en-US" altLang="zh-CN" sz="2200" dirty="0"/>
              <a:t>It is a high-level version of the memory abstraction</a:t>
            </a:r>
            <a:endParaRPr lang="en-US" altLang="zh-CN" sz="2200" dirty="0"/>
          </a:p>
          <a:p>
            <a:r>
              <a:rPr lang="en-US" altLang="zh-CN" sz="2200" b="0" dirty="0"/>
              <a:t>System layer implements files using </a:t>
            </a:r>
            <a:r>
              <a:rPr lang="en-US" altLang="zh-CN" sz="2200" dirty="0">
                <a:solidFill>
                  <a:srgbClr val="C00000"/>
                </a:solidFill>
              </a:rPr>
              <a:t>modules from hardware layer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lvl="1"/>
            <a:r>
              <a:rPr lang="en-US" altLang="zh-CN" sz="2200" b="1" dirty="0"/>
              <a:t>Divide-and-conquer</a:t>
            </a:r>
            <a:r>
              <a:rPr lang="en-US" altLang="zh-CN" sz="2200" dirty="0"/>
              <a:t> strategy</a:t>
            </a:r>
            <a:endParaRPr lang="en-US" altLang="zh-CN" sz="2200" dirty="0"/>
          </a:p>
          <a:p>
            <a:pPr lvl="1"/>
            <a:r>
              <a:rPr lang="en-US" altLang="zh-CN" sz="2200" dirty="0"/>
              <a:t>Makes use of several hidden layers of machine-oriented names (addresses), one on another, to implement files</a:t>
            </a:r>
            <a:endParaRPr lang="en-US" altLang="zh-CN" sz="2200" dirty="0"/>
          </a:p>
          <a:p>
            <a:pPr lvl="1"/>
            <a:r>
              <a:rPr lang="en-US" altLang="zh-CN" sz="2200" dirty="0"/>
              <a:t>Maps user-friendly names to these files</a:t>
            </a:r>
            <a:endParaRPr lang="en-US" altLang="zh-CN" sz="2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6252978" y="362723"/>
            <a:ext cx="2344216" cy="153316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4211960" y="773147"/>
            <a:ext cx="17846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40030"/>
                </a:solidFill>
                <a:ea typeface="微软雅黑" panose="020B0503020204020204" charset="-122"/>
                <a:cs typeface="Arial" panose="020B0604020202020204" pitchFamily="34" charset="0"/>
              </a:rPr>
              <a:t>Storage</a:t>
            </a:r>
            <a:r>
              <a:rPr lang="zh-CN" altLang="en-US" dirty="0">
                <a:solidFill>
                  <a:srgbClr val="F40030"/>
                </a:solidFill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40030"/>
                </a:solidFill>
                <a:ea typeface="微软雅黑" panose="020B0503020204020204" charset="-122"/>
                <a:cs typeface="Arial" panose="020B0604020202020204" pitchFamily="34" charset="0"/>
              </a:rPr>
              <a:t>as files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7" name="直线连接符 6"/>
          <p:cNvCxnSpPr>
            <a:stCxn id="6" idx="3"/>
          </p:cNvCxnSpPr>
          <p:nvPr/>
        </p:nvCxnSpPr>
        <p:spPr>
          <a:xfrm>
            <a:off x="5996641" y="957813"/>
            <a:ext cx="371609" cy="31358"/>
          </a:xfrm>
          <a:prstGeom prst="line">
            <a:avLst/>
          </a:prstGeom>
          <a:ln>
            <a:solidFill>
              <a:srgbClr val="F4003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Big Picture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1907704" y="2355068"/>
            <a:ext cx="45365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907704" y="4299284"/>
            <a:ext cx="45365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095836" y="2571092"/>
            <a:ext cx="2160240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File System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95836" y="3432246"/>
            <a:ext cx="2160240" cy="648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Disk Driver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644008" y="4729708"/>
            <a:ext cx="1478598" cy="2880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646442" y="4585692"/>
            <a:ext cx="1478598" cy="2880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644008" y="4441676"/>
            <a:ext cx="1478598" cy="28803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15548" y="5048987"/>
            <a:ext cx="6848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Disk</a:t>
            </a:r>
            <a:endParaRPr lang="zh-CN" altLang="en-US" sz="20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76212" y="1345332"/>
            <a:ext cx="1199644" cy="7907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App-1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576134" y="1345332"/>
            <a:ext cx="1199644" cy="7907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App-2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76056" y="1345332"/>
            <a:ext cx="1199644" cy="7907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App-3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8535" y="2983189"/>
            <a:ext cx="982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Kernel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364244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80268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796292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12316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28340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44364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60388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76412" y="4523300"/>
            <a:ext cx="216024" cy="5073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673541" y="5022613"/>
            <a:ext cx="1109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Memory</a:t>
            </a:r>
            <a:endParaRPr lang="zh-CN" altLang="en-US" sz="20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8424" y="4445830"/>
            <a:ext cx="13532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Hardware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36161" y="1448329"/>
            <a:ext cx="7553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User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523837" y="1679161"/>
            <a:ext cx="1912703" cy="1339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OPEN("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a.txt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", "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rw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")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READ(…)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WRITE(…)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…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522391" y="3972208"/>
            <a:ext cx="2329356" cy="6991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READ(block-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addr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buf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)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WRITE(block-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addr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buf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)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z="1050" smtClean="0"/>
            </a:fld>
            <a:endParaRPr lang="zh-CN" altLang="en-US" sz="1050" dirty="0"/>
          </a:p>
        </p:txBody>
      </p:sp>
      <p:sp>
        <p:nvSpPr>
          <p:cNvPr id="4" name="矩形 3"/>
          <p:cNvSpPr/>
          <p:nvPr/>
        </p:nvSpPr>
        <p:spPr>
          <a:xfrm>
            <a:off x="6209648" y="5017740"/>
            <a:ext cx="2720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(4TB</a:t>
            </a:r>
            <a:r>
              <a:rPr lang="zh-CN" altLang="en-US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2</a:t>
            </a:r>
            <a:r>
              <a:rPr lang="en-US" altLang="zh-CN" baseline="300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30</a:t>
            </a:r>
            <a:r>
              <a:rPr lang="zh-CN" altLang="en-US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4KB</a:t>
            </a:r>
            <a:r>
              <a:rPr lang="zh-CN" altLang="en-US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blocks)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Abstraction: API of UNIX File System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OPEN, READ, WRITE</a:t>
            </a:r>
            <a:r>
              <a:rPr lang="en-US" altLang="zh-CN" sz="2000" b="0">
                <a:latin typeface="Courier New" panose="02070309020205020404" pitchFamily="49" charset="0"/>
                <a:cs typeface="Courier New" panose="02070309020205020404" pitchFamily="49" charset="0"/>
              </a:rPr>
              <a:t>, APPEND, SEEK</a:t>
            </a:r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CLOSE</a:t>
            </a:r>
            <a:endParaRPr lang="en-US" altLang="zh-CN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FSYNC</a:t>
            </a:r>
            <a:endParaRPr lang="en-US" altLang="zh-CN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STAT, CHMOD, CHOWN</a:t>
            </a:r>
            <a:endParaRPr lang="en-US" altLang="zh-CN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RENAME, LINK, UNLINK, SYMLINK</a:t>
            </a:r>
            <a:endParaRPr lang="en-US" altLang="zh-CN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MKDIR, CHDIR, CHROOT</a:t>
            </a:r>
            <a:endParaRPr lang="en-US" altLang="zh-CN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MOUNT, UNMOUNT</a:t>
            </a:r>
            <a:endParaRPr lang="en-US" altLang="zh-CN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….</a:t>
            </a:r>
            <a:endParaRPr lang="zh-CN" altLang="en-US" sz="20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E315FA61-8901-B549-B657-C9EAE3269AB0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Naive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032448"/>
          </a:xfrm>
        </p:spPr>
        <p:txBody>
          <a:bodyPr>
            <a:normAutofit/>
          </a:bodyPr>
          <a:lstStyle/>
          <a:p>
            <a:r>
              <a:rPr kumimoji="1" lang="en-US" altLang="zh-CN" sz="2000" b="0" dirty="0"/>
              <a:t>Each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file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occupies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one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continuous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range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of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blocks</a:t>
            </a:r>
            <a:endParaRPr kumimoji="1" lang="en-US" altLang="zh-CN" sz="2000" b="0" dirty="0"/>
          </a:p>
          <a:p>
            <a:pPr lvl="1"/>
            <a:r>
              <a:rPr kumimoji="1" lang="en-US" altLang="zh-CN" sz="2000" b="0" dirty="0"/>
              <a:t>Use</a:t>
            </a:r>
            <a:r>
              <a:rPr kumimoji="1" lang="zh-CN" altLang="en-US" sz="2000" b="0" dirty="0"/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block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index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0" dirty="0"/>
              <a:t>as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file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name,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e.g.,</a:t>
            </a:r>
            <a:r>
              <a:rPr kumimoji="1" lang="zh-CN" altLang="en-US" sz="2000" b="0" dirty="0"/>
              <a:t> </a:t>
            </a:r>
            <a:r>
              <a:rPr kumimoji="1" lang="en-US" altLang="zh-CN" sz="2000" dirty="0"/>
              <a:t>107,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113</a:t>
            </a:r>
            <a:endParaRPr kumimoji="1" lang="en-US" altLang="zh-CN" sz="2000" b="0" dirty="0"/>
          </a:p>
          <a:p>
            <a:pPr lvl="1"/>
            <a:r>
              <a:rPr kumimoji="1" lang="en-US" altLang="zh-CN" sz="2000" b="0" dirty="0"/>
              <a:t>Every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file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write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will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either</a:t>
            </a:r>
            <a:r>
              <a:rPr kumimoji="1" lang="zh-CN" altLang="en-US" sz="2000" b="0" dirty="0"/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append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or</a:t>
            </a:r>
            <a:r>
              <a:rPr kumimoji="1" lang="zh-CN" altLang="en-US" sz="2000" b="0" dirty="0"/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reallocate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endParaRPr kumimoji="1" lang="en-US" altLang="zh-CN" sz="2000" b="0" dirty="0"/>
          </a:p>
          <a:p>
            <a:endParaRPr kumimoji="1" lang="en-US" altLang="zh-CN" sz="2000" b="0" dirty="0"/>
          </a:p>
          <a:p>
            <a:endParaRPr kumimoji="1" lang="en-US" altLang="zh-CN" sz="2000" b="0" dirty="0"/>
          </a:p>
          <a:p>
            <a:endParaRPr kumimoji="1" lang="en-US" altLang="zh-CN" sz="2000" b="0" dirty="0"/>
          </a:p>
          <a:p>
            <a:r>
              <a:rPr kumimoji="1" lang="en-US" altLang="zh-CN" sz="2000" b="0" dirty="0"/>
              <a:t>What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are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the</a:t>
            </a:r>
            <a:r>
              <a:rPr kumimoji="1" lang="zh-CN" altLang="en-US" sz="2000" b="0" dirty="0"/>
              <a:t> </a:t>
            </a:r>
            <a:r>
              <a:rPr kumimoji="1" lang="en-US" altLang="zh-CN" sz="2000" dirty="0">
                <a:solidFill>
                  <a:srgbClr val="C00000"/>
                </a:solidFill>
              </a:rPr>
              <a:t>problems</a:t>
            </a:r>
            <a:r>
              <a:rPr kumimoji="1" lang="en-US" altLang="zh-CN" sz="2000" b="0" dirty="0"/>
              <a:t>?</a:t>
            </a:r>
            <a:endParaRPr kumimoji="1" lang="en-US" altLang="zh-CN" sz="2000" b="0" dirty="0"/>
          </a:p>
        </p:txBody>
      </p:sp>
      <p:sp>
        <p:nvSpPr>
          <p:cNvPr id="4" name="矩形 3"/>
          <p:cNvSpPr/>
          <p:nvPr/>
        </p:nvSpPr>
        <p:spPr>
          <a:xfrm>
            <a:off x="251520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3568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15616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547664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979712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11760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843808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275856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707904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39952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72000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04048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436096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868144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300192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732240" y="2893162"/>
            <a:ext cx="43204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64288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596336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028384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460432" y="2893162"/>
            <a:ext cx="432048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51520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b="1" dirty="0">
                <a:solidFill>
                  <a:srgbClr val="009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  <a:endParaRPr kumimoji="1" lang="zh-CN" altLang="en-US" sz="1100" b="1" dirty="0">
              <a:solidFill>
                <a:srgbClr val="009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3568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102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15616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103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547664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104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79712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105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411760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106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843808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b="1" dirty="0">
                <a:solidFill>
                  <a:srgbClr val="009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107</a:t>
            </a:r>
            <a:endParaRPr kumimoji="1" lang="zh-CN" altLang="en-US" sz="1100" b="1" dirty="0">
              <a:solidFill>
                <a:srgbClr val="009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275856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108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707904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139952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572000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111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004048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436096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b="1" dirty="0">
                <a:solidFill>
                  <a:srgbClr val="009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113</a:t>
            </a:r>
            <a:endParaRPr kumimoji="1" lang="zh-CN" altLang="en-US" sz="1100" b="1" dirty="0">
              <a:solidFill>
                <a:srgbClr val="009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868144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114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00192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115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732240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116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64288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117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596336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118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028384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119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460432" y="3325210"/>
            <a:ext cx="4320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  <a:endParaRPr kumimoji="1" lang="zh-CN" alt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直线箭头连接符 46"/>
          <p:cNvCxnSpPr>
            <a:endCxn id="25" idx="2"/>
          </p:cNvCxnSpPr>
          <p:nvPr/>
        </p:nvCxnSpPr>
        <p:spPr>
          <a:xfrm flipV="1">
            <a:off x="467544" y="3757258"/>
            <a:ext cx="0" cy="32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/>
          <p:cNvCxnSpPr/>
          <p:nvPr/>
        </p:nvCxnSpPr>
        <p:spPr>
          <a:xfrm flipV="1">
            <a:off x="3059832" y="3757258"/>
            <a:ext cx="0" cy="32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/>
          <p:nvPr/>
        </p:nvCxnSpPr>
        <p:spPr>
          <a:xfrm flipV="1">
            <a:off x="5652120" y="3757258"/>
            <a:ext cx="0" cy="32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altLang="zh-CN" sz="3600" kern="0" cap="none" dirty="0" err="1">
                <a:solidFill>
                  <a:srgbClr val="C00000"/>
                </a:solidFill>
                <a:latin typeface="Arial" panose="020B0604020202020204"/>
                <a:cs typeface="+mn-cs"/>
              </a:rPr>
              <a:t>inode</a:t>
            </a:r>
            <a:r>
              <a:rPr lang="en-US" altLang="zh-CN" sz="3600" kern="0" cap="none" dirty="0">
                <a:solidFill>
                  <a:srgbClr val="C00000"/>
                </a:solidFill>
                <a:latin typeface="Arial" panose="020B0604020202020204"/>
                <a:cs typeface="+mn-cs"/>
              </a:rPr>
              <a:t>: 7 software layers</a:t>
            </a:r>
            <a:endParaRPr lang="zh-CN" altLang="en-US" sz="66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The Naming Layers of the UNIX FS (version 6)</a:t>
            </a:r>
            <a:endParaRPr lang="zh-CN" dirty="0"/>
          </a:p>
        </p:txBody>
      </p:sp>
      <p:sp>
        <p:nvSpPr>
          <p:cNvPr id="81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246070DB-D0BF-3243-8608-E626275AB0A5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819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45332"/>
            <a:ext cx="7340550" cy="4196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L1: Block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Mapping</a:t>
            </a:r>
            <a:r>
              <a:rPr kumimoji="1" lang="en-US" altLang="zh-CN" b="0" dirty="0"/>
              <a:t>: block number -&gt; block data </a:t>
            </a:r>
            <a:endParaRPr kumimoji="1" lang="en-US" altLang="zh-CN" b="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b="0" dirty="0"/>
              <a:t>How to know the </a:t>
            </a:r>
            <a:r>
              <a:rPr kumimoji="1" lang="en-US" altLang="zh-CN" dirty="0">
                <a:solidFill>
                  <a:srgbClr val="C00000"/>
                </a:solidFill>
              </a:rPr>
              <a:t>size</a:t>
            </a:r>
            <a:r>
              <a:rPr kumimoji="1" lang="en-US" altLang="zh-CN" b="0" dirty="0"/>
              <a:t> of block?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How to know which block is free?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These </a:t>
            </a:r>
            <a:r>
              <a:rPr kumimoji="1" lang="en-US" altLang="zh-CN" b="1" dirty="0">
                <a:solidFill>
                  <a:srgbClr val="C00000"/>
                </a:solidFill>
              </a:rPr>
              <a:t>metadata</a:t>
            </a:r>
            <a:r>
              <a:rPr kumimoji="1" lang="en-US" altLang="zh-CN" dirty="0"/>
              <a:t> will also be stored on the same disk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Super block!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744230"/>
            <a:ext cx="501650" cy="3855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568" y="1728883"/>
            <a:ext cx="8686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procedure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BLOCK_NUMBER_TO_BLOCK(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b)-&gt;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i="1" dirty="0"/>
              <a:t>  </a:t>
            </a:r>
            <a:r>
              <a:rPr kumimoji="1" lang="en-US" altLang="zh-CN" b="1" i="1" dirty="0"/>
              <a:t>return</a:t>
            </a:r>
            <a:r>
              <a:rPr kumimoji="1" lang="en-US" altLang="zh-CN" i="1" dirty="0"/>
              <a:t> devices[b]</a:t>
            </a:r>
            <a:endParaRPr kumimoji="1" lang="zh-CN" altLang="en-US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Super Block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0" dirty="0"/>
              <a:t>One superblock per file system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Kernel reads superblock when mount the FS</a:t>
            </a:r>
            <a:endParaRPr kumimoji="1" lang="en-US" altLang="zh-CN" dirty="0"/>
          </a:p>
          <a:p>
            <a:r>
              <a:rPr kumimoji="1" lang="en-US" altLang="zh-CN" b="0" dirty="0"/>
              <a:t>Superblock </a:t>
            </a:r>
            <a:r>
              <a:rPr kumimoji="1" lang="en-US" altLang="zh-CN" dirty="0">
                <a:solidFill>
                  <a:srgbClr val="C00000"/>
                </a:solidFill>
              </a:rPr>
              <a:t>contains</a:t>
            </a:r>
            <a:r>
              <a:rPr kumimoji="1" lang="en-US" altLang="zh-CN" b="0" dirty="0"/>
              <a:t>: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>
              <a:buFontTx/>
              <a:buChar char="–"/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Size of the blocks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MS PGothic" panose="020B0600070205080204" charset="-128"/>
            </a:endParaRPr>
          </a:p>
          <a:p>
            <a:pPr lvl="1">
              <a:buFontTx/>
              <a:buChar char="–"/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Number of free blocks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MS PGothic" panose="020B0600070205080204" charset="-128"/>
            </a:endParaRPr>
          </a:p>
          <a:p>
            <a:pPr lvl="1">
              <a:buFontTx/>
              <a:buChar char="–"/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A list of free blocks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MS PGothic" panose="020B0600070205080204" charset="-128"/>
            </a:endParaRPr>
          </a:p>
          <a:p>
            <a:pPr lvl="1">
              <a:buFontTx/>
              <a:buChar char="–"/>
            </a:pP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Other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metadata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of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the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file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system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(including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inode</a:t>
            </a:r>
            <a:r>
              <a:rPr lang="zh-CN" altLang="en-US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MS PGothic" panose="020B0600070205080204" charset="-128"/>
              </a:rPr>
              <a:t>info)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619678" y="4867200"/>
            <a:ext cx="720074" cy="632996"/>
            <a:chOff x="1619678" y="4888800"/>
            <a:chExt cx="720074" cy="632996"/>
          </a:xfrm>
        </p:grpSpPr>
        <p:sp>
          <p:nvSpPr>
            <p:cNvPr id="20" name="矩形 19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619678" y="4888800"/>
              <a:ext cx="694421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700" dirty="0"/>
                <a:t>Boot</a:t>
              </a:r>
              <a:endParaRPr kumimoji="1" lang="en-US" altLang="zh-CN" sz="1700" dirty="0"/>
            </a:p>
            <a:p>
              <a:r>
                <a:rPr kumimoji="1" lang="en-US" altLang="zh-CN" sz="1700" dirty="0"/>
                <a:t>block</a:t>
              </a:r>
              <a:endParaRPr lang="zh-CN" altLang="en-US" sz="17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331339" y="4867200"/>
            <a:ext cx="768159" cy="633591"/>
            <a:chOff x="1619678" y="4888205"/>
            <a:chExt cx="768159" cy="633591"/>
          </a:xfrm>
        </p:grpSpPr>
        <p:sp>
          <p:nvSpPr>
            <p:cNvPr id="25" name="矩形 24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619678" y="4888205"/>
              <a:ext cx="768159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700" dirty="0"/>
                <a:t>Super</a:t>
              </a:r>
              <a:endParaRPr kumimoji="1" lang="en-US" altLang="zh-CN" sz="1700" dirty="0"/>
            </a:p>
            <a:p>
              <a:r>
                <a:rPr kumimoji="1" lang="en-US" altLang="zh-CN" sz="1700" dirty="0"/>
                <a:t>block</a:t>
              </a:r>
              <a:endParaRPr lang="zh-CN" altLang="en-US" sz="17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43000" y="4867200"/>
            <a:ext cx="720074" cy="633591"/>
            <a:chOff x="1619678" y="4888205"/>
            <a:chExt cx="720074" cy="633591"/>
          </a:xfrm>
        </p:grpSpPr>
        <p:sp>
          <p:nvSpPr>
            <p:cNvPr id="28" name="矩形 27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751460" y="4867200"/>
            <a:ext cx="720074" cy="633591"/>
            <a:chOff x="1619678" y="4888205"/>
            <a:chExt cx="720074" cy="633591"/>
          </a:xfrm>
        </p:grpSpPr>
        <p:sp>
          <p:nvSpPr>
            <p:cNvPr id="31" name="矩形 30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471534" y="4867200"/>
            <a:ext cx="720074" cy="633591"/>
            <a:chOff x="1619678" y="4888205"/>
            <a:chExt cx="720074" cy="633591"/>
          </a:xfrm>
        </p:grpSpPr>
        <p:sp>
          <p:nvSpPr>
            <p:cNvPr id="34" name="矩形 33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185216" y="4867200"/>
            <a:ext cx="720074" cy="633591"/>
            <a:chOff x="1619678" y="4888205"/>
            <a:chExt cx="720074" cy="633591"/>
          </a:xfrm>
        </p:grpSpPr>
        <p:sp>
          <p:nvSpPr>
            <p:cNvPr id="37" name="矩形 36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893676" y="4867200"/>
            <a:ext cx="720074" cy="633591"/>
            <a:chOff x="1619678" y="4888205"/>
            <a:chExt cx="720074" cy="633591"/>
          </a:xfrm>
        </p:grpSpPr>
        <p:sp>
          <p:nvSpPr>
            <p:cNvPr id="40" name="矩形 39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617586" y="4867200"/>
            <a:ext cx="720074" cy="633591"/>
            <a:chOff x="1619678" y="4888205"/>
            <a:chExt cx="720074" cy="633591"/>
          </a:xfrm>
        </p:grpSpPr>
        <p:sp>
          <p:nvSpPr>
            <p:cNvPr id="43" name="矩形 42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sp>
        <p:nvSpPr>
          <p:cNvPr id="45" name="矩形 44"/>
          <p:cNvSpPr/>
          <p:nvPr/>
        </p:nvSpPr>
        <p:spPr>
          <a:xfrm>
            <a:off x="1810435" y="44833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2534923" y="447983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1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401179" y="447548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…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6654457" y="448581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 - 1</a:t>
            </a:r>
            <a:endParaRPr lang="zh-CN" alt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417" y="5401468"/>
            <a:ext cx="501650" cy="313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L1: Block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Block size: a trade-off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Neither too small or too big</a:t>
            </a:r>
            <a:endParaRPr kumimoji="1" lang="en-US" altLang="zh-CN" dirty="0"/>
          </a:p>
          <a:p>
            <a:r>
              <a:rPr kumimoji="1" lang="en-US" altLang="zh-CN" dirty="0"/>
              <a:t>Question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What will happen if the block size is too small? What if too big?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How to efficiently track free blocks? 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L1: Block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Block size: a trade-off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Neither too small or too big</a:t>
            </a:r>
            <a:endParaRPr kumimoji="1" lang="en-US" altLang="zh-CN" dirty="0"/>
          </a:p>
          <a:p>
            <a:r>
              <a:rPr kumimoji="1" lang="en-US" altLang="zh-CN" dirty="0"/>
              <a:t>Question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What will happen if the block size is too small? What if too big?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How to efficiently track free blocks? </a:t>
            </a:r>
            <a:endParaRPr kumimoji="1" lang="en-US" altLang="zh-CN" dirty="0"/>
          </a:p>
          <a:p>
            <a:r>
              <a:rPr kumimoji="1" lang="en-US" altLang="zh-CN" dirty="0"/>
              <a:t>Use a bitmap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19678" y="4867200"/>
            <a:ext cx="720074" cy="632996"/>
            <a:chOff x="1619678" y="4888800"/>
            <a:chExt cx="720074" cy="632996"/>
          </a:xfrm>
        </p:grpSpPr>
        <p:sp>
          <p:nvSpPr>
            <p:cNvPr id="8" name="矩形 7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619678" y="4888800"/>
              <a:ext cx="694421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700" dirty="0"/>
                <a:t>Boot</a:t>
              </a:r>
              <a:endParaRPr kumimoji="1" lang="en-US" altLang="zh-CN" sz="1700" dirty="0"/>
            </a:p>
            <a:p>
              <a:r>
                <a:rPr kumimoji="1" lang="en-US" altLang="zh-CN" sz="1700" dirty="0"/>
                <a:t>block</a:t>
              </a:r>
              <a:endParaRPr lang="zh-CN" altLang="en-US" sz="17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31339" y="4867200"/>
            <a:ext cx="768159" cy="633591"/>
            <a:chOff x="1619678" y="4888205"/>
            <a:chExt cx="768159" cy="633591"/>
          </a:xfrm>
        </p:grpSpPr>
        <p:sp>
          <p:nvSpPr>
            <p:cNvPr id="11" name="矩形 10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619678" y="4888205"/>
              <a:ext cx="768159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700" dirty="0"/>
                <a:t>Super</a:t>
              </a:r>
              <a:endParaRPr kumimoji="1" lang="en-US" altLang="zh-CN" sz="1700" dirty="0"/>
            </a:p>
            <a:p>
              <a:r>
                <a:rPr kumimoji="1" lang="en-US" altLang="zh-CN" sz="1700" dirty="0"/>
                <a:t>block</a:t>
              </a:r>
              <a:endParaRPr lang="zh-CN" altLang="en-US" sz="1700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471534" y="4867200"/>
            <a:ext cx="720074" cy="633591"/>
            <a:chOff x="1619678" y="4888205"/>
            <a:chExt cx="720074" cy="633591"/>
          </a:xfrm>
        </p:grpSpPr>
        <p:sp>
          <p:nvSpPr>
            <p:cNvPr id="20" name="矩形 19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213224" y="4867200"/>
            <a:ext cx="720074" cy="633591"/>
            <a:chOff x="1619678" y="4888205"/>
            <a:chExt cx="720074" cy="633591"/>
          </a:xfrm>
        </p:grpSpPr>
        <p:sp>
          <p:nvSpPr>
            <p:cNvPr id="23" name="矩形 22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921684" y="4867200"/>
            <a:ext cx="720074" cy="633591"/>
            <a:chOff x="1619678" y="4888205"/>
            <a:chExt cx="720074" cy="633591"/>
          </a:xfrm>
        </p:grpSpPr>
        <p:sp>
          <p:nvSpPr>
            <p:cNvPr id="26" name="矩形 25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645594" y="4867200"/>
            <a:ext cx="720074" cy="633591"/>
            <a:chOff x="1619678" y="4888205"/>
            <a:chExt cx="720074" cy="633591"/>
          </a:xfrm>
        </p:grpSpPr>
        <p:sp>
          <p:nvSpPr>
            <p:cNvPr id="29" name="矩形 28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043000" y="4879939"/>
            <a:ext cx="2537111" cy="620852"/>
            <a:chOff x="1619678" y="4900944"/>
            <a:chExt cx="850275" cy="620852"/>
          </a:xfrm>
          <a:solidFill>
            <a:schemeClr val="bg1"/>
          </a:solidFill>
        </p:grpSpPr>
        <p:sp>
          <p:nvSpPr>
            <p:cNvPr id="14" name="矩形 13"/>
            <p:cNvSpPr/>
            <p:nvPr/>
          </p:nvSpPr>
          <p:spPr>
            <a:xfrm>
              <a:off x="1619678" y="4900944"/>
              <a:ext cx="850275" cy="620852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Bitmap for free blocks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662467" y="5022992"/>
              <a:ext cx="1847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sp>
        <p:nvSpPr>
          <p:cNvPr id="32" name="矩形 31"/>
          <p:cNvSpPr/>
          <p:nvPr/>
        </p:nvSpPr>
        <p:spPr>
          <a:xfrm>
            <a:off x="1810435" y="44833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2534923" y="447983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1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3401179" y="447548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…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6682465" y="448581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 - 1</a:t>
            </a:r>
            <a:endParaRPr lang="zh-CN" altLang="en-US" dirty="0"/>
          </a:p>
        </p:txBody>
      </p:sp>
      <p:sp>
        <p:nvSpPr>
          <p:cNvPr id="36" name="左大括号 35"/>
          <p:cNvSpPr/>
          <p:nvPr/>
        </p:nvSpPr>
        <p:spPr>
          <a:xfrm rot="5400000">
            <a:off x="6516463" y="3670994"/>
            <a:ext cx="215973" cy="1408692"/>
          </a:xfrm>
          <a:prstGeom prst="leftBrace">
            <a:avLst>
              <a:gd name="adj1" fmla="val 57099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864550" y="3787158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</a:rPr>
              <a:t>File blocks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L2: File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File requirements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Store items that are larger than one block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May grow or shrink over time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file is a linear array of bytes of arbitrary length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Record which blocks belong to each file</a:t>
            </a:r>
            <a:endParaRPr kumimoji="1" lang="en-US" altLang="zh-CN" dirty="0"/>
          </a:p>
          <a:p>
            <a:r>
              <a:rPr kumimoji="1" lang="en-US" altLang="zh-CN" dirty="0" err="1"/>
              <a:t>inode</a:t>
            </a:r>
            <a:r>
              <a:rPr kumimoji="1" lang="en-US" altLang="zh-CN" dirty="0"/>
              <a:t> (index node)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container for </a:t>
            </a:r>
            <a:r>
              <a:rPr kumimoji="1" lang="en-US" altLang="zh-CN" b="1" dirty="0">
                <a:solidFill>
                  <a:srgbClr val="C00000"/>
                </a:solidFill>
              </a:rPr>
              <a:t>metadata</a:t>
            </a:r>
            <a:r>
              <a:rPr kumimoji="1" lang="en-US" altLang="zh-CN" dirty="0"/>
              <a:t> about the file 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77781" y="4175623"/>
            <a:ext cx="3836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block_nums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[N]</a:t>
            </a: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size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等线" panose="02010600030101010101" charset="-122"/>
              </a:rPr>
              <a:t>inode</a:t>
            </a:r>
            <a:r>
              <a:rPr lang="en-US" altLang="zh-CN" dirty="0">
                <a:ea typeface="等线" panose="02010600030101010101" charset="-122"/>
              </a:rPr>
              <a:t> for Larger Files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2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53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54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1905000" y="3257567"/>
            <a:ext cx="533400" cy="39687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1905000" y="3654441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1905000" y="3844941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1905000" y="4027504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1905000" y="4218004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7" name="矩形 106"/>
          <p:cNvSpPr/>
          <p:nvPr/>
        </p:nvSpPr>
        <p:spPr bwMode="auto">
          <a:xfrm>
            <a:off x="1905000" y="4408504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8" name="矩形 107"/>
          <p:cNvSpPr/>
          <p:nvPr/>
        </p:nvSpPr>
        <p:spPr bwMode="auto">
          <a:xfrm>
            <a:off x="1905000" y="4596358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09" name="矩形 108"/>
          <p:cNvSpPr/>
          <p:nvPr/>
        </p:nvSpPr>
        <p:spPr bwMode="auto">
          <a:xfrm>
            <a:off x="1905000" y="4786858"/>
            <a:ext cx="533400" cy="190500"/>
          </a:xfrm>
          <a:prstGeom prst="rect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10" name="矩形 109"/>
          <p:cNvSpPr/>
          <p:nvPr/>
        </p:nvSpPr>
        <p:spPr bwMode="auto">
          <a:xfrm>
            <a:off x="1905000" y="4972066"/>
            <a:ext cx="533400" cy="190500"/>
          </a:xfrm>
          <a:prstGeom prst="rect">
            <a:avLst/>
          </a:pr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111" name="肘形连接符 23"/>
          <p:cNvCxnSpPr>
            <a:cxnSpLocks noChangeShapeType="1"/>
            <a:stCxn id="103" idx="3"/>
            <a:endCxn id="145" idx="1"/>
          </p:cNvCxnSpPr>
          <p:nvPr/>
        </p:nvCxnSpPr>
        <p:spPr bwMode="auto">
          <a:xfrm flipV="1">
            <a:off x="2438400" y="2699957"/>
            <a:ext cx="1341438" cy="1049734"/>
          </a:xfrm>
          <a:prstGeom prst="bentConnector3">
            <a:avLst>
              <a:gd name="adj1" fmla="val 32498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cxnSp>
        <p:nvCxnSpPr>
          <p:cNvPr id="112" name="肘形连接符 58382"/>
          <p:cNvCxnSpPr>
            <a:cxnSpLocks noChangeShapeType="1"/>
            <a:stCxn id="110" idx="3"/>
            <a:endCxn id="115" idx="1"/>
          </p:cNvCxnSpPr>
          <p:nvPr/>
        </p:nvCxnSpPr>
        <p:spPr bwMode="auto">
          <a:xfrm flipV="1">
            <a:off x="2438400" y="4665149"/>
            <a:ext cx="1341438" cy="402167"/>
          </a:xfrm>
          <a:prstGeom prst="bentConnector3">
            <a:avLst>
              <a:gd name="adj1" fmla="val 62537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sp>
        <p:nvSpPr>
          <p:cNvPr id="113" name="TextBox 67"/>
          <p:cNvSpPr txBox="1">
            <a:spLocks noChangeArrowheads="1"/>
          </p:cNvSpPr>
          <p:nvPr/>
        </p:nvSpPr>
        <p:spPr bwMode="auto">
          <a:xfrm>
            <a:off x="611560" y="4009628"/>
            <a:ext cx="12511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b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an</a:t>
            </a:r>
            <a:r>
              <a:rPr lang="zh-CN" altLang="en-US" sz="1800" b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800" b="0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endParaRPr lang="zh-CN" altLang="en-US" sz="1800" b="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14" name="TextBox 68"/>
          <p:cNvSpPr txBox="1">
            <a:spLocks noChangeArrowheads="1"/>
          </p:cNvSpPr>
          <p:nvPr/>
        </p:nvSpPr>
        <p:spPr bwMode="auto">
          <a:xfrm>
            <a:off x="707036" y="1525963"/>
            <a:ext cx="1501775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b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indirect block</a:t>
            </a:r>
            <a:endParaRPr lang="zh-CN" altLang="en-US" sz="1600" b="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3779838" y="4569899"/>
            <a:ext cx="533400" cy="190500"/>
          </a:xfrm>
          <a:prstGeom prst="rect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3779838" y="4757754"/>
            <a:ext cx="533400" cy="190500"/>
          </a:xfrm>
          <a:prstGeom prst="rect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3780676" y="4948254"/>
            <a:ext cx="532562" cy="190500"/>
          </a:xfrm>
          <a:prstGeom prst="rect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18" name="矩形 117"/>
          <p:cNvSpPr/>
          <p:nvPr/>
        </p:nvSpPr>
        <p:spPr bwMode="auto">
          <a:xfrm>
            <a:off x="5486400" y="3829066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19" name="矩形 118"/>
          <p:cNvSpPr/>
          <p:nvPr/>
        </p:nvSpPr>
        <p:spPr bwMode="auto">
          <a:xfrm>
            <a:off x="5486400" y="4015598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20" name="矩形 119"/>
          <p:cNvSpPr/>
          <p:nvPr/>
        </p:nvSpPr>
        <p:spPr bwMode="auto">
          <a:xfrm>
            <a:off x="5491163" y="4206098"/>
            <a:ext cx="528637" cy="215874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21" name="矩形 120"/>
          <p:cNvSpPr/>
          <p:nvPr/>
        </p:nvSpPr>
        <p:spPr bwMode="auto">
          <a:xfrm>
            <a:off x="5486400" y="2426589"/>
            <a:ext cx="533400" cy="54901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宋体" panose="02010600030101010101" pitchFamily="2" charset="-122"/>
              </a:rPr>
              <a:t>Data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122" name="肘形连接符 83"/>
          <p:cNvCxnSpPr>
            <a:cxnSpLocks noChangeShapeType="1"/>
            <a:stCxn id="141" idx="3"/>
            <a:endCxn id="121" idx="1"/>
          </p:cNvCxnSpPr>
          <p:nvPr/>
        </p:nvCxnSpPr>
        <p:spPr bwMode="auto">
          <a:xfrm flipV="1">
            <a:off x="4313238" y="2701094"/>
            <a:ext cx="1173162" cy="7416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sp>
        <p:nvSpPr>
          <p:cNvPr id="123" name="矩形 122"/>
          <p:cNvSpPr/>
          <p:nvPr/>
        </p:nvSpPr>
        <p:spPr bwMode="auto">
          <a:xfrm>
            <a:off x="5486400" y="4569899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24" name="矩形 123"/>
          <p:cNvSpPr/>
          <p:nvPr/>
        </p:nvSpPr>
        <p:spPr bwMode="auto">
          <a:xfrm>
            <a:off x="5486400" y="4757754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25" name="矩形 124"/>
          <p:cNvSpPr/>
          <p:nvPr/>
        </p:nvSpPr>
        <p:spPr bwMode="auto">
          <a:xfrm>
            <a:off x="5491163" y="4948254"/>
            <a:ext cx="528637" cy="206972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126" name="肘形连接符 89"/>
          <p:cNvCxnSpPr>
            <a:cxnSpLocks noChangeShapeType="1"/>
            <a:stCxn id="115" idx="3"/>
            <a:endCxn id="118" idx="1"/>
          </p:cNvCxnSpPr>
          <p:nvPr/>
        </p:nvCxnSpPr>
        <p:spPr bwMode="auto">
          <a:xfrm flipV="1">
            <a:off x="4313238" y="3924316"/>
            <a:ext cx="1173162" cy="740833"/>
          </a:xfrm>
          <a:prstGeom prst="bentConnector3">
            <a:avLst>
              <a:gd name="adj1" fmla="val 42833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cxnSp>
        <p:nvCxnSpPr>
          <p:cNvPr id="127" name="肘形连接符 94"/>
          <p:cNvCxnSpPr>
            <a:cxnSpLocks noChangeShapeType="1"/>
            <a:stCxn id="116" idx="3"/>
            <a:endCxn id="123" idx="1"/>
          </p:cNvCxnSpPr>
          <p:nvPr/>
        </p:nvCxnSpPr>
        <p:spPr bwMode="auto">
          <a:xfrm flipV="1">
            <a:off x="4313238" y="4665151"/>
            <a:ext cx="1173162" cy="187854"/>
          </a:xfrm>
          <a:prstGeom prst="bentConnector3">
            <a:avLst>
              <a:gd name="adj1" fmla="val 54481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sp>
        <p:nvSpPr>
          <p:cNvPr id="128" name="矩形 127"/>
          <p:cNvSpPr/>
          <p:nvPr/>
        </p:nvSpPr>
        <p:spPr bwMode="auto">
          <a:xfrm>
            <a:off x="7315200" y="2425452"/>
            <a:ext cx="533400" cy="54901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宋体" panose="02010600030101010101" pitchFamily="2" charset="-122"/>
              </a:rPr>
              <a:t>Data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29" name="矩形 128"/>
          <p:cNvSpPr/>
          <p:nvPr/>
        </p:nvSpPr>
        <p:spPr bwMode="auto">
          <a:xfrm>
            <a:off x="7315200" y="3094538"/>
            <a:ext cx="533400" cy="54901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宋体" panose="02010600030101010101" pitchFamily="2" charset="-122"/>
              </a:rPr>
              <a:t>Data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30" name="矩形 129"/>
          <p:cNvSpPr/>
          <p:nvPr/>
        </p:nvSpPr>
        <p:spPr bwMode="auto">
          <a:xfrm>
            <a:off x="7315200" y="3909765"/>
            <a:ext cx="533400" cy="550333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宋体" panose="02010600030101010101" pitchFamily="2" charset="-122"/>
              </a:rPr>
              <a:t>Data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31" name="矩形 130"/>
          <p:cNvSpPr/>
          <p:nvPr/>
        </p:nvSpPr>
        <p:spPr bwMode="auto">
          <a:xfrm>
            <a:off x="7315200" y="4579160"/>
            <a:ext cx="533400" cy="54901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宋体" panose="02010600030101010101" pitchFamily="2" charset="-122"/>
              </a:rPr>
              <a:t>Data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132" name="肘形连接符 100"/>
          <p:cNvCxnSpPr>
            <a:cxnSpLocks noChangeShapeType="1"/>
            <a:stCxn id="118" idx="3"/>
            <a:endCxn id="128" idx="1"/>
          </p:cNvCxnSpPr>
          <p:nvPr/>
        </p:nvCxnSpPr>
        <p:spPr bwMode="auto">
          <a:xfrm flipV="1">
            <a:off x="6019800" y="2699957"/>
            <a:ext cx="1295400" cy="1224359"/>
          </a:xfrm>
          <a:prstGeom prst="bentConnector3">
            <a:avLst>
              <a:gd name="adj1" fmla="val 33784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cxnSp>
        <p:nvCxnSpPr>
          <p:cNvPr id="133" name="肘形连接符 105"/>
          <p:cNvCxnSpPr>
            <a:cxnSpLocks noChangeShapeType="1"/>
            <a:stCxn id="119" idx="3"/>
            <a:endCxn id="129" idx="1"/>
          </p:cNvCxnSpPr>
          <p:nvPr/>
        </p:nvCxnSpPr>
        <p:spPr bwMode="auto">
          <a:xfrm flipV="1">
            <a:off x="6019800" y="3369043"/>
            <a:ext cx="1295400" cy="74180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cxnSp>
        <p:nvCxnSpPr>
          <p:cNvPr id="134" name="肘形连接符 108"/>
          <p:cNvCxnSpPr>
            <a:cxnSpLocks noChangeShapeType="1"/>
            <a:stCxn id="123" idx="3"/>
            <a:endCxn id="130" idx="1"/>
          </p:cNvCxnSpPr>
          <p:nvPr/>
        </p:nvCxnSpPr>
        <p:spPr bwMode="auto">
          <a:xfrm flipV="1">
            <a:off x="6019800" y="4184931"/>
            <a:ext cx="1295400" cy="480218"/>
          </a:xfrm>
          <a:prstGeom prst="bentConnector3">
            <a:avLst>
              <a:gd name="adj1" fmla="val 65262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cxnSp>
        <p:nvCxnSpPr>
          <p:cNvPr id="135" name="肘形连接符 110"/>
          <p:cNvCxnSpPr>
            <a:cxnSpLocks noChangeShapeType="1"/>
            <a:stCxn id="124" idx="3"/>
            <a:endCxn id="131" idx="1"/>
          </p:cNvCxnSpPr>
          <p:nvPr/>
        </p:nvCxnSpPr>
        <p:spPr bwMode="auto">
          <a:xfrm>
            <a:off x="6019800" y="4853005"/>
            <a:ext cx="1295400" cy="132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sp>
        <p:nvSpPr>
          <p:cNvPr id="136" name="TextBox 124"/>
          <p:cNvSpPr txBox="1">
            <a:spLocks noChangeArrowheads="1"/>
          </p:cNvSpPr>
          <p:nvPr/>
        </p:nvSpPr>
        <p:spPr bwMode="auto">
          <a:xfrm>
            <a:off x="-58139" y="1827588"/>
            <a:ext cx="2263775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b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double indirect block</a:t>
            </a:r>
            <a:endParaRPr lang="zh-CN" altLang="en-US" sz="1600" b="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37" name="TextBox 125"/>
          <p:cNvSpPr txBox="1">
            <a:spLocks noChangeArrowheads="1"/>
          </p:cNvSpPr>
          <p:nvPr/>
        </p:nvSpPr>
        <p:spPr bwMode="auto">
          <a:xfrm>
            <a:off x="707036" y="1223014"/>
            <a:ext cx="1501775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b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38" name="矩形 137"/>
          <p:cNvSpPr/>
          <p:nvPr/>
        </p:nvSpPr>
        <p:spPr bwMode="auto">
          <a:xfrm>
            <a:off x="2310408" y="1301067"/>
            <a:ext cx="533400" cy="175948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39" name="矩形 138"/>
          <p:cNvSpPr/>
          <p:nvPr/>
        </p:nvSpPr>
        <p:spPr bwMode="auto">
          <a:xfrm>
            <a:off x="2310408" y="1604014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0" name="矩形 139"/>
          <p:cNvSpPr/>
          <p:nvPr/>
        </p:nvSpPr>
        <p:spPr bwMode="auto">
          <a:xfrm>
            <a:off x="2310408" y="1921514"/>
            <a:ext cx="533400" cy="190500"/>
          </a:xfrm>
          <a:prstGeom prst="rect">
            <a:avLst/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1" name="矩形 140"/>
          <p:cNvSpPr/>
          <p:nvPr/>
        </p:nvSpPr>
        <p:spPr bwMode="auto">
          <a:xfrm>
            <a:off x="3779838" y="3347524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2" name="矩形 141"/>
          <p:cNvSpPr/>
          <p:nvPr/>
        </p:nvSpPr>
        <p:spPr bwMode="auto">
          <a:xfrm>
            <a:off x="3779838" y="3535378"/>
            <a:ext cx="533400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3" name="矩形 142"/>
          <p:cNvSpPr/>
          <p:nvPr/>
        </p:nvSpPr>
        <p:spPr bwMode="auto">
          <a:xfrm>
            <a:off x="3780204" y="3719264"/>
            <a:ext cx="533034" cy="190500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144" name="肘形连接符 58377"/>
          <p:cNvCxnSpPr>
            <a:cxnSpLocks noChangeShapeType="1"/>
            <a:stCxn id="109" idx="3"/>
            <a:endCxn id="141" idx="1"/>
          </p:cNvCxnSpPr>
          <p:nvPr/>
        </p:nvCxnSpPr>
        <p:spPr bwMode="auto">
          <a:xfrm flipV="1">
            <a:off x="2438400" y="3442774"/>
            <a:ext cx="1341438" cy="143933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tailEnd type="arrow" w="med" len="med"/>
          </a:ln>
        </p:spPr>
      </p:cxnSp>
      <p:sp>
        <p:nvSpPr>
          <p:cNvPr id="145" name="矩形 144"/>
          <p:cNvSpPr/>
          <p:nvPr/>
        </p:nvSpPr>
        <p:spPr bwMode="auto">
          <a:xfrm>
            <a:off x="3779838" y="2425452"/>
            <a:ext cx="533400" cy="54901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宋体" panose="02010600030101010101" pitchFamily="2" charset="-122"/>
              </a:rPr>
              <a:t>Data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6" name="TextBox 124"/>
          <p:cNvSpPr txBox="1">
            <a:spLocks noChangeArrowheads="1"/>
          </p:cNvSpPr>
          <p:nvPr/>
        </p:nvSpPr>
        <p:spPr bwMode="auto">
          <a:xfrm>
            <a:off x="-58139" y="2128128"/>
            <a:ext cx="2263775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b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charset="-122"/>
              </a:rPr>
              <a:t>triple indirect block</a:t>
            </a:r>
            <a:endParaRPr lang="zh-CN" altLang="en-US" sz="1600" b="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47" name="矩形 146"/>
          <p:cNvSpPr/>
          <p:nvPr/>
        </p:nvSpPr>
        <p:spPr bwMode="auto">
          <a:xfrm>
            <a:off x="2310408" y="2222054"/>
            <a:ext cx="533400" cy="190500"/>
          </a:xfrm>
          <a:prstGeom prst="rect">
            <a:avLst/>
          </a:pr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8" name="左大括号 147"/>
          <p:cNvSpPr/>
          <p:nvPr/>
        </p:nvSpPr>
        <p:spPr>
          <a:xfrm>
            <a:off x="1763688" y="3257567"/>
            <a:ext cx="99020" cy="1904999"/>
          </a:xfrm>
          <a:prstGeom prst="leftBrace">
            <a:avLst>
              <a:gd name="adj1" fmla="val 84288"/>
              <a:gd name="adj2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L2: File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0" dirty="0"/>
              <a:t>Given an </a:t>
            </a:r>
            <a:r>
              <a:rPr kumimoji="1" lang="en-US" altLang="zh-CN" b="0" dirty="0" err="1"/>
              <a:t>inode</a:t>
            </a:r>
            <a:r>
              <a:rPr kumimoji="1" lang="en-US" altLang="zh-CN" b="0" dirty="0"/>
              <a:t>, can map a block index number (of a file)  to a block number (of a disk)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Index number: e.g., </a:t>
            </a:r>
            <a:r>
              <a:rPr kumimoji="1" lang="en-US" altLang="zh-CN" dirty="0">
                <a:solidFill>
                  <a:srgbClr val="C00000"/>
                </a:solidFill>
              </a:rPr>
              <a:t>the 3rd block of a file is number 78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9330" y="2446918"/>
            <a:ext cx="8686800" cy="157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/>
              <a:t>procedure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INODE_TO_BLOCK(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offset, 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)-&gt;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i="1" dirty="0"/>
              <a:t>  </a:t>
            </a:r>
            <a:r>
              <a:rPr kumimoji="1" lang="zh-CN" altLang="en-US" i="1" dirty="0"/>
              <a:t>  </a:t>
            </a:r>
            <a:r>
              <a:rPr kumimoji="1" lang="en-US" altLang="zh-CN" i="1" dirty="0"/>
              <a:t>o &lt;- offset / BLOCKSIZE</a:t>
            </a:r>
            <a:endParaRPr kumimoji="1" lang="en-US" altLang="zh-CN" i="1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i="1" dirty="0"/>
              <a:t>  </a:t>
            </a:r>
            <a:r>
              <a:rPr kumimoji="1" lang="zh-CN" altLang="en-US" i="1" dirty="0"/>
              <a:t>  </a:t>
            </a:r>
            <a:r>
              <a:rPr kumimoji="1" lang="en-US" altLang="zh-CN" i="1" dirty="0"/>
              <a:t>b –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INDEX_TO_BLOCK_NUMBER</a:t>
            </a:r>
            <a:r>
              <a:rPr kumimoji="1" lang="en-US" altLang="zh-CN" i="1" dirty="0"/>
              <a:t>(</a:t>
            </a:r>
            <a:r>
              <a:rPr kumimoji="1" lang="en-US" altLang="zh-CN" i="1" dirty="0" err="1"/>
              <a:t>i,o</a:t>
            </a:r>
            <a:r>
              <a:rPr kumimoji="1" lang="en-US" altLang="zh-CN" i="1" dirty="0"/>
              <a:t>)</a:t>
            </a:r>
            <a:endParaRPr kumimoji="1" lang="en-US" altLang="zh-CN" i="1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i="1" dirty="0"/>
              <a:t>  </a:t>
            </a:r>
            <a:r>
              <a:rPr kumimoji="1" lang="zh-CN" altLang="en-US" i="1" dirty="0"/>
              <a:t>  </a:t>
            </a:r>
            <a:r>
              <a:rPr kumimoji="1" lang="en-US" altLang="zh-CN" b="1" i="1" dirty="0"/>
              <a:t>return</a:t>
            </a:r>
            <a:r>
              <a:rPr kumimoji="1" lang="en-US" altLang="zh-CN" i="1" dirty="0"/>
              <a:t>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BLOCK_NUMBER_TO_BLOCK</a:t>
            </a:r>
            <a:r>
              <a:rPr kumimoji="1" lang="en-US" altLang="zh-CN" i="1" dirty="0"/>
              <a:t>(b)</a:t>
            </a:r>
            <a:endParaRPr kumimoji="1" lang="zh-CN" altLang="en-US" i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72371" y="4114068"/>
            <a:ext cx="8139094" cy="1132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/>
              <a:t>procedure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INDEX_TO_BLOCK_NUMBER(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index)-&gt;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b="1" i="1" dirty="0"/>
              <a:t>   </a:t>
            </a:r>
            <a:r>
              <a:rPr kumimoji="1" lang="zh-CN" altLang="en-US" b="1" i="1" dirty="0"/>
              <a:t>  </a:t>
            </a:r>
            <a:r>
              <a:rPr kumimoji="1" lang="en-US" altLang="zh-CN" b="1" i="1" dirty="0"/>
              <a:t>return</a:t>
            </a:r>
            <a:r>
              <a:rPr kumimoji="1" lang="en-US" altLang="zh-CN" i="1" dirty="0"/>
              <a:t> </a:t>
            </a:r>
            <a:r>
              <a:rPr kumimoji="1" lang="en-US" altLang="zh-CN" i="1" dirty="0" err="1"/>
              <a:t>i.block_nums</a:t>
            </a:r>
            <a:r>
              <a:rPr kumimoji="1" lang="en-US" altLang="zh-CN" i="1" dirty="0"/>
              <a:t>[index]</a:t>
            </a:r>
            <a:endParaRPr kumimoji="1" lang="zh-CN" altLang="en-US" i="1" dirty="0"/>
          </a:p>
        </p:txBody>
      </p:sp>
      <p:sp>
        <p:nvSpPr>
          <p:cNvPr id="15" name="任意形状 14"/>
          <p:cNvSpPr/>
          <p:nvPr/>
        </p:nvSpPr>
        <p:spPr>
          <a:xfrm>
            <a:off x="4480560" y="3212796"/>
            <a:ext cx="444137" cy="941193"/>
          </a:xfrm>
          <a:custGeom>
            <a:avLst/>
            <a:gdLst>
              <a:gd name="connsiteX0" fmla="*/ 0 w 444137"/>
              <a:gd name="connsiteY0" fmla="*/ 39855 h 941193"/>
              <a:gd name="connsiteX1" fmla="*/ 365760 w 444137"/>
              <a:gd name="connsiteY1" fmla="*/ 105170 h 941193"/>
              <a:gd name="connsiteX2" fmla="*/ 444137 w 444137"/>
              <a:gd name="connsiteY2" fmla="*/ 941193 h 94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137" h="941193">
                <a:moveTo>
                  <a:pt x="0" y="39855"/>
                </a:moveTo>
                <a:cubicBezTo>
                  <a:pt x="145868" y="-2599"/>
                  <a:pt x="291737" y="-45053"/>
                  <a:pt x="365760" y="105170"/>
                </a:cubicBezTo>
                <a:cubicBezTo>
                  <a:pt x="439783" y="255393"/>
                  <a:pt x="441960" y="598293"/>
                  <a:pt x="444137" y="941193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L3: </a:t>
            </a:r>
            <a:r>
              <a:rPr lang="en-US" altLang="zh-CN" dirty="0" err="1">
                <a:ea typeface="等线" panose="02010600030101010101" charset="-122"/>
              </a:rPr>
              <a:t>inode</a:t>
            </a:r>
            <a:r>
              <a:rPr lang="en-US" altLang="zh-CN" dirty="0">
                <a:ea typeface="等线" panose="02010600030101010101" charset="-122"/>
              </a:rPr>
              <a:t> Number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b="0" dirty="0"/>
              <a:t>Mapping: </a:t>
            </a:r>
            <a:r>
              <a:rPr kumimoji="1" lang="en-US" altLang="zh-CN" dirty="0" err="1">
                <a:solidFill>
                  <a:srgbClr val="C00000"/>
                </a:solidFill>
              </a:rPr>
              <a:t>inode</a:t>
            </a:r>
            <a:r>
              <a:rPr kumimoji="1" lang="en-US" altLang="zh-CN" dirty="0">
                <a:solidFill>
                  <a:srgbClr val="C00000"/>
                </a:solidFill>
              </a:rPr>
              <a:t> number -&gt; </a:t>
            </a:r>
            <a:r>
              <a:rPr kumimoji="1" lang="en-US" altLang="zh-CN" dirty="0" err="1">
                <a:solidFill>
                  <a:srgbClr val="C00000"/>
                </a:solidFill>
              </a:rPr>
              <a:t>inode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 err="1">
                <a:solidFill>
                  <a:srgbClr val="C00000"/>
                </a:solidFill>
              </a:rPr>
              <a:t>inode</a:t>
            </a:r>
            <a:r>
              <a:rPr kumimoji="1" lang="en-US" altLang="zh-CN" dirty="0">
                <a:solidFill>
                  <a:srgbClr val="C00000"/>
                </a:solidFill>
              </a:rPr>
              <a:t> table</a:t>
            </a:r>
            <a:r>
              <a:rPr kumimoji="1" lang="en-US" altLang="zh-CN" b="0" dirty="0">
                <a:solidFill>
                  <a:schemeClr val="tx1"/>
                </a:solidFill>
              </a:rPr>
              <a:t>: at a fixed location on storage</a:t>
            </a:r>
            <a:endParaRPr kumimoji="1" lang="en-US" altLang="zh-CN" b="0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inode</a:t>
            </a:r>
            <a:r>
              <a:rPr kumimoji="1" lang="en-US" altLang="zh-CN" dirty="0">
                <a:solidFill>
                  <a:schemeClr val="tx1"/>
                </a:solidFill>
              </a:rPr>
              <a:t> number is the index of </a:t>
            </a:r>
            <a:r>
              <a:rPr kumimoji="1" lang="en-US" altLang="zh-CN" dirty="0" err="1">
                <a:solidFill>
                  <a:schemeClr val="tx1"/>
                </a:solidFill>
              </a:rPr>
              <a:t>inode</a:t>
            </a:r>
            <a:r>
              <a:rPr kumimoji="1" lang="en-US" altLang="zh-CN" dirty="0">
                <a:solidFill>
                  <a:schemeClr val="tx1"/>
                </a:solidFill>
              </a:rPr>
              <a:t> table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Track which </a:t>
            </a:r>
            <a:r>
              <a:rPr kumimoji="1" lang="en-US" altLang="zh-CN" dirty="0" err="1">
                <a:solidFill>
                  <a:schemeClr val="tx1"/>
                </a:solidFill>
              </a:rPr>
              <a:t>inode</a:t>
            </a:r>
            <a:r>
              <a:rPr kumimoji="1" lang="en-US" altLang="zh-CN" dirty="0">
                <a:solidFill>
                  <a:schemeClr val="tx1"/>
                </a:solidFill>
              </a:rPr>
              <a:t> number are in use, e.g. free list, a field in </a:t>
            </a:r>
            <a:r>
              <a:rPr kumimoji="1" lang="en-US" altLang="zh-CN" dirty="0" err="1">
                <a:solidFill>
                  <a:schemeClr val="tx1"/>
                </a:solidFill>
              </a:rPr>
              <a:t>inode</a:t>
            </a:r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2195" y="1999464"/>
            <a:ext cx="81390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/>
              <a:t>procedure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INODE_NUMBER_TO_INODE(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num)-&gt; 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500"/>
              </a:spcAft>
            </a:pPr>
            <a:r>
              <a:rPr kumimoji="1" lang="en-US" altLang="zh-CN" b="1" i="1" dirty="0"/>
              <a:t>   return</a:t>
            </a:r>
            <a:r>
              <a:rPr kumimoji="1" lang="en-US" altLang="zh-CN" i="1" dirty="0"/>
              <a:t> </a:t>
            </a:r>
            <a:r>
              <a:rPr kumimoji="1" lang="en-US" altLang="zh-CN" i="1" dirty="0" err="1"/>
              <a:t>inode_table</a:t>
            </a:r>
            <a:r>
              <a:rPr kumimoji="1" lang="en-US" altLang="zh-CN" i="1" dirty="0"/>
              <a:t>[num]</a:t>
            </a:r>
            <a:endParaRPr kumimoji="1" lang="zh-CN" altLang="en-US" i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1619678" y="4867200"/>
            <a:ext cx="720074" cy="632996"/>
            <a:chOff x="1619678" y="4888800"/>
            <a:chExt cx="720074" cy="632996"/>
          </a:xfrm>
        </p:grpSpPr>
        <p:sp>
          <p:nvSpPr>
            <p:cNvPr id="11" name="矩形 10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619678" y="4888800"/>
              <a:ext cx="694421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700" dirty="0"/>
                <a:t>Boot</a:t>
              </a:r>
              <a:endParaRPr kumimoji="1" lang="en-US" altLang="zh-CN" sz="1700" dirty="0"/>
            </a:p>
            <a:p>
              <a:r>
                <a:rPr kumimoji="1" lang="en-US" altLang="zh-CN" sz="1700" dirty="0"/>
                <a:t>block</a:t>
              </a:r>
              <a:endParaRPr lang="zh-CN" altLang="en-US" sz="170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331339" y="4867200"/>
            <a:ext cx="768159" cy="633591"/>
            <a:chOff x="1619678" y="4888205"/>
            <a:chExt cx="768159" cy="633591"/>
          </a:xfrm>
        </p:grpSpPr>
        <p:sp>
          <p:nvSpPr>
            <p:cNvPr id="14" name="矩形 13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619678" y="4888205"/>
              <a:ext cx="768159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700" dirty="0"/>
                <a:t>Super</a:t>
              </a:r>
              <a:endParaRPr kumimoji="1" lang="en-US" altLang="zh-CN" sz="1700" dirty="0"/>
            </a:p>
            <a:p>
              <a:r>
                <a:rPr kumimoji="1" lang="en-US" altLang="zh-CN" sz="1700" dirty="0"/>
                <a:t>block</a:t>
              </a:r>
              <a:endParaRPr lang="zh-CN" altLang="en-US" sz="1700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71534" y="4867200"/>
            <a:ext cx="720074" cy="633591"/>
            <a:chOff x="1619678" y="4888205"/>
            <a:chExt cx="720074" cy="633591"/>
          </a:xfrm>
        </p:grpSpPr>
        <p:sp>
          <p:nvSpPr>
            <p:cNvPr id="17" name="矩形 16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13224" y="4867200"/>
            <a:ext cx="720074" cy="633591"/>
            <a:chOff x="1619678" y="4888205"/>
            <a:chExt cx="720074" cy="633591"/>
          </a:xfrm>
        </p:grpSpPr>
        <p:sp>
          <p:nvSpPr>
            <p:cNvPr id="20" name="矩形 19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580109" y="4867200"/>
            <a:ext cx="1420121" cy="633591"/>
            <a:chOff x="1619677" y="4888205"/>
            <a:chExt cx="720074" cy="633591"/>
          </a:xfrm>
          <a:solidFill>
            <a:schemeClr val="bg1"/>
          </a:solidFill>
        </p:grpSpPr>
        <p:sp>
          <p:nvSpPr>
            <p:cNvPr id="24" name="矩形 23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619677" y="4900944"/>
              <a:ext cx="720074" cy="6208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973200" y="4867200"/>
            <a:ext cx="720074" cy="633591"/>
            <a:chOff x="1619678" y="4888205"/>
            <a:chExt cx="720074" cy="633591"/>
          </a:xfrm>
        </p:grpSpPr>
        <p:sp>
          <p:nvSpPr>
            <p:cNvPr id="26" name="矩形 25"/>
            <p:cNvSpPr/>
            <p:nvPr/>
          </p:nvSpPr>
          <p:spPr>
            <a:xfrm>
              <a:off x="1619678" y="4900944"/>
              <a:ext cx="720074" cy="6208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619678" y="488820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43000" y="4879939"/>
            <a:ext cx="2537111" cy="620852"/>
            <a:chOff x="1619678" y="4900944"/>
            <a:chExt cx="850275" cy="620852"/>
          </a:xfrm>
          <a:solidFill>
            <a:schemeClr val="bg1"/>
          </a:solidFill>
        </p:grpSpPr>
        <p:sp>
          <p:nvSpPr>
            <p:cNvPr id="29" name="矩形 28"/>
            <p:cNvSpPr/>
            <p:nvPr/>
          </p:nvSpPr>
          <p:spPr>
            <a:xfrm>
              <a:off x="1619678" y="4900944"/>
              <a:ext cx="850275" cy="620852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Bitmap for free blocks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662467" y="5022992"/>
              <a:ext cx="1847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sp>
        <p:nvSpPr>
          <p:cNvPr id="31" name="矩形 30"/>
          <p:cNvSpPr/>
          <p:nvPr/>
        </p:nvSpPr>
        <p:spPr>
          <a:xfrm>
            <a:off x="1810435" y="44833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0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2534923" y="447983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1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3401179" y="447548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…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6682465" y="448581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 - 1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5612818" y="4999330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Inode</a:t>
            </a:r>
            <a:r>
              <a:rPr kumimoji="1" lang="en-US" altLang="zh-CN" b="1" dirty="0">
                <a:solidFill>
                  <a:srgbClr val="C00000"/>
                </a:solidFill>
              </a:rPr>
              <a:t> table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8" name="矩形 37"/>
          <p:cNvSpPr/>
          <p:nvPr/>
        </p:nvSpPr>
        <p:spPr bwMode="auto">
          <a:xfrm rot="5400000">
            <a:off x="6182326" y="4794146"/>
            <a:ext cx="222250" cy="123825"/>
          </a:xfrm>
          <a:prstGeom prst="rect">
            <a:avLst/>
          </a:prstGeom>
          <a:ln>
            <a:solidFill>
              <a:srgbClr val="8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39" name="矩形 38"/>
          <p:cNvSpPr/>
          <p:nvPr/>
        </p:nvSpPr>
        <p:spPr bwMode="auto">
          <a:xfrm rot="5400000">
            <a:off x="6063263" y="4798908"/>
            <a:ext cx="222250" cy="114300"/>
          </a:xfrm>
          <a:prstGeom prst="rect">
            <a:avLst/>
          </a:prstGeom>
          <a:ln>
            <a:solidFill>
              <a:srgbClr val="8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40" name="矩形 39"/>
          <p:cNvSpPr/>
          <p:nvPr/>
        </p:nvSpPr>
        <p:spPr bwMode="auto">
          <a:xfrm rot="5400000">
            <a:off x="5947375" y="4798908"/>
            <a:ext cx="222250" cy="114300"/>
          </a:xfrm>
          <a:prstGeom prst="rect">
            <a:avLst/>
          </a:prstGeom>
          <a:ln>
            <a:solidFill>
              <a:srgbClr val="8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 bwMode="auto">
          <a:xfrm rot="5400000">
            <a:off x="5833075" y="4798908"/>
            <a:ext cx="222250" cy="114300"/>
          </a:xfrm>
          <a:prstGeom prst="rect">
            <a:avLst/>
          </a:prstGeom>
          <a:ln>
            <a:solidFill>
              <a:srgbClr val="8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42" name="矩形 41"/>
          <p:cNvSpPr/>
          <p:nvPr/>
        </p:nvSpPr>
        <p:spPr bwMode="auto">
          <a:xfrm rot="5400000">
            <a:off x="6415688" y="4798908"/>
            <a:ext cx="222250" cy="114300"/>
          </a:xfrm>
          <a:prstGeom prst="rect">
            <a:avLst/>
          </a:prstGeom>
          <a:ln>
            <a:solidFill>
              <a:srgbClr val="8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 bwMode="auto">
          <a:xfrm rot="5400000">
            <a:off x="6301388" y="4798908"/>
            <a:ext cx="222250" cy="114300"/>
          </a:xfrm>
          <a:prstGeom prst="rect">
            <a:avLst/>
          </a:prstGeom>
          <a:ln>
            <a:solidFill>
              <a:srgbClr val="8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Put Layers so far Together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3802730"/>
            <a:ext cx="8220075" cy="1683404"/>
          </a:xfrm>
        </p:spPr>
        <p:txBody>
          <a:bodyPr>
            <a:normAutofit/>
          </a:bodyPr>
          <a:lstStyle/>
          <a:p>
            <a:r>
              <a:rPr kumimoji="1" lang="en-US" altLang="zh-CN" b="0" dirty="0" err="1"/>
              <a:t>inode</a:t>
            </a:r>
            <a:r>
              <a:rPr kumimoji="1" lang="en-US" altLang="zh-CN" b="0" dirty="0"/>
              <a:t> number is sufficient to operate a file. However,</a:t>
            </a:r>
            <a:endParaRPr kumimoji="1" lang="en-US" altLang="zh-CN" b="0" dirty="0"/>
          </a:p>
          <a:p>
            <a:pPr lvl="1"/>
            <a:r>
              <a:rPr kumimoji="1" lang="en-US" altLang="zh-CN" dirty="0" err="1"/>
              <a:t>inode</a:t>
            </a:r>
            <a:r>
              <a:rPr kumimoji="1" lang="en-US" altLang="zh-CN" dirty="0"/>
              <a:t> numbers are convenient names only for computer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inode</a:t>
            </a:r>
            <a:r>
              <a:rPr kumimoji="1" lang="en-US" altLang="zh-CN" dirty="0"/>
              <a:t> numbers change on different storage device</a:t>
            </a:r>
            <a:endParaRPr kumimoji="1" lang="en-US" altLang="zh-CN" dirty="0"/>
          </a:p>
          <a:p>
            <a:r>
              <a:rPr kumimoji="1" lang="en-US" altLang="zh-CN" b="0" dirty="0"/>
              <a:t>A file needs a more </a:t>
            </a:r>
            <a:r>
              <a:rPr kumimoji="1" lang="en-US" altLang="zh-CN" dirty="0">
                <a:solidFill>
                  <a:srgbClr val="C00000"/>
                </a:solidFill>
              </a:rPr>
              <a:t>user-friendly name</a:t>
            </a:r>
            <a:r>
              <a:rPr kumimoji="1" lang="en-US" altLang="zh-CN" b="0" dirty="0"/>
              <a:t>!</a:t>
            </a:r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1689" y="1273324"/>
            <a:ext cx="8139094" cy="227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b="1" dirty="0"/>
              <a:t>procedure</a:t>
            </a:r>
            <a:r>
              <a:rPr kumimoji="1" lang="en-US" altLang="zh-CN" sz="2000" dirty="0"/>
              <a:t> 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INODE_NUMBER_TO_BLOCK(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offset,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inode_number</a:t>
            </a:r>
            <a:r>
              <a:rPr kumimoji="1"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)-&gt;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i="1" dirty="0" err="1">
                <a:cs typeface="Courier New" panose="02070309020205020404" pitchFamily="49" charset="0"/>
              </a:rPr>
              <a:t>i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INODE_NUMBER_TO_INODE</a:t>
            </a:r>
            <a:r>
              <a:rPr kumimoji="1" lang="en-US" altLang="zh-CN" i="1" dirty="0">
                <a:cs typeface="Courier New" panose="02070309020205020404" pitchFamily="49" charset="0"/>
              </a:rPr>
              <a:t>(</a:t>
            </a:r>
            <a:r>
              <a:rPr kumimoji="1" lang="en-US" altLang="zh-CN" i="1" dirty="0" err="1">
                <a:cs typeface="Courier New" panose="02070309020205020404" pitchFamily="49" charset="0"/>
              </a:rPr>
              <a:t>inode_number</a:t>
            </a:r>
            <a:r>
              <a:rPr kumimoji="1" lang="en-US" altLang="zh-CN" i="1" dirty="0">
                <a:cs typeface="Courier New" panose="02070309020205020404" pitchFamily="49" charset="0"/>
              </a:rPr>
              <a:t>)</a:t>
            </a:r>
            <a:endParaRPr kumimoji="1" lang="en-US" altLang="zh-CN" i="1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i="1" dirty="0"/>
              <a:t>   o &lt;- offset / BLOCKSIZE</a:t>
            </a:r>
            <a:endParaRPr kumimoji="1" lang="en-US" altLang="zh-CN" i="1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b="1" i="1" dirty="0"/>
              <a:t>   </a:t>
            </a:r>
            <a:r>
              <a:rPr kumimoji="1" lang="en-US" altLang="zh-CN" i="1" dirty="0"/>
              <a:t>b &lt;-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INDEX_TO_BLOCK_NUMBER</a:t>
            </a:r>
            <a:r>
              <a:rPr kumimoji="1" lang="en-US" altLang="zh-CN" i="1" dirty="0"/>
              <a:t>(</a:t>
            </a:r>
            <a:r>
              <a:rPr kumimoji="1" lang="en-US" altLang="zh-CN" i="1" dirty="0" err="1"/>
              <a:t>i,o</a:t>
            </a:r>
            <a:r>
              <a:rPr kumimoji="1" lang="en-US" altLang="zh-CN" i="1" dirty="0"/>
              <a:t>)</a:t>
            </a:r>
            <a:endParaRPr kumimoji="1" lang="en-US" altLang="zh-CN" i="1" dirty="0"/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i="1" dirty="0"/>
              <a:t>   </a:t>
            </a:r>
            <a:r>
              <a:rPr kumimoji="1" lang="en-US" altLang="zh-CN" b="1" i="1" dirty="0"/>
              <a:t>return</a:t>
            </a:r>
            <a:r>
              <a:rPr kumimoji="1" lang="en-US" altLang="zh-CN" i="1" dirty="0"/>
              <a:t>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BLOCK_NUMBER_TO_BLOCK</a:t>
            </a:r>
            <a:r>
              <a:rPr kumimoji="1" lang="en-US" altLang="zh-CN" i="1" dirty="0"/>
              <a:t>(b)</a:t>
            </a:r>
            <a:endParaRPr kumimoji="1" lang="zh-CN" altLang="en-US" i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L4: File Name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File name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Hide metadata of file management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Files and I/O devices</a:t>
            </a:r>
            <a:endParaRPr kumimoji="1" lang="en-US" altLang="zh-CN" dirty="0"/>
          </a:p>
          <a:p>
            <a:r>
              <a:rPr kumimoji="1" lang="en-US" altLang="zh-CN" dirty="0"/>
              <a:t>Mapping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Mapping table is saved in directory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Default context: </a:t>
            </a:r>
            <a:r>
              <a:rPr kumimoji="1" lang="en-US" altLang="zh-CN" b="1" dirty="0">
                <a:solidFill>
                  <a:srgbClr val="C00000"/>
                </a:solidFill>
              </a:rPr>
              <a:t>current working directory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marL="720090" lvl="2"/>
            <a:r>
              <a:rPr kumimoji="1" lang="en-US" altLang="zh-CN" dirty="0"/>
              <a:t>Context reference is an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number</a:t>
            </a:r>
            <a:endParaRPr kumimoji="1" lang="en-US" altLang="zh-CN" dirty="0"/>
          </a:p>
          <a:p>
            <a:pPr marL="720090" lvl="2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current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directory </a:t>
            </a:r>
            <a:r>
              <a:rPr kumimoji="1" lang="en-US" altLang="zh-CN" b="1" dirty="0">
                <a:solidFill>
                  <a:srgbClr val="C00000"/>
                </a:solidFill>
              </a:rPr>
              <a:t>is also a file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marL="74295" lvl="1" indent="0">
              <a:buNone/>
            </a:pPr>
            <a:endParaRPr kumimoji="1" lang="en-US" altLang="zh-CN" dirty="0"/>
          </a:p>
          <a:p>
            <a:pPr lvl="1">
              <a:spcBef>
                <a:spcPts val="1200"/>
              </a:spcBef>
            </a:pPr>
            <a:r>
              <a:rPr kumimoji="1" lang="en-US" altLang="zh-CN" dirty="0"/>
              <a:t>Max length of a file name is </a:t>
            </a:r>
            <a:r>
              <a:rPr kumimoji="1" lang="en-US" altLang="zh-CN" b="1" dirty="0">
                <a:solidFill>
                  <a:srgbClr val="C00000"/>
                </a:solidFill>
              </a:rPr>
              <a:t>14 bytes </a:t>
            </a:r>
            <a:r>
              <a:rPr kumimoji="1" lang="en-US" altLang="zh-CN" dirty="0"/>
              <a:t>in UNIX version 6</a:t>
            </a:r>
            <a:r>
              <a:rPr kumimoji="1" lang="zh-CN" altLang="en-US" dirty="0"/>
              <a:t> </a:t>
            </a:r>
            <a:r>
              <a:rPr kumimoji="1" lang="en-US" altLang="zh-CN" dirty="0"/>
              <a:t>(what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mean?)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91200" y="1214632"/>
            <a:ext cx="3836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block_nums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[N]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size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kumimoji="1"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1"/>
          <p:cNvGraphicFramePr>
            <a:graphicFrameLocks noGrp="1"/>
          </p:cNvGraphicFramePr>
          <p:nvPr/>
        </p:nvGraphicFramePr>
        <p:xfrm>
          <a:off x="5987848" y="2905863"/>
          <a:ext cx="2557110" cy="914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437225"/>
                <a:gridCol w="1119885"/>
              </a:tblGrid>
              <a:tr h="292775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File name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inode</a:t>
                      </a:r>
                      <a:r>
                        <a:rPr lang="en-US" altLang="zh-CN" sz="1400" dirty="0"/>
                        <a:t> num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</a:tr>
              <a:tr h="2927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</a:rPr>
                        <a:t>helloworld.txt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</a:rPr>
                        <a:t>12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</a:tr>
              <a:tr h="2927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</a:rPr>
                        <a:t>cse2021.md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</a:rPr>
                        <a:t>73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6156176" y="2602498"/>
            <a:ext cx="2254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400" dirty="0"/>
              <a:t>Overview of </a:t>
            </a:r>
            <a:r>
              <a:rPr kumimoji="1" lang="en-US" altLang="zh-CN" sz="1400" dirty="0" err="1"/>
              <a:t>inode</a:t>
            </a:r>
            <a:r>
              <a:rPr kumimoji="1" lang="en-US" altLang="zh-CN" sz="1400" dirty="0"/>
              <a:t> content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61958" y="4223369"/>
            <a:ext cx="7859216" cy="634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600" b="1" dirty="0"/>
              <a:t>procedure</a:t>
            </a:r>
            <a:r>
              <a:rPr kumimoji="1" lang="en-US" altLang="zh-CN" sz="1600" dirty="0"/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name_to_inode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filename,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)-&gt;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sz="1400" b="1" i="1" dirty="0"/>
              <a:t>   </a:t>
            </a:r>
            <a:r>
              <a:rPr kumimoji="1" lang="zh-CN" altLang="en-US" sz="1400" b="1" i="1" dirty="0"/>
              <a:t>  </a:t>
            </a:r>
            <a:r>
              <a:rPr kumimoji="1" lang="en-US" altLang="zh-CN" sz="1400" b="1" i="1" dirty="0"/>
              <a:t>return</a:t>
            </a:r>
            <a:r>
              <a:rPr kumimoji="1" lang="en-US" altLang="zh-CN" sz="1400" i="1" dirty="0"/>
              <a:t>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LOOKUP</a:t>
            </a:r>
            <a:r>
              <a:rPr kumimoji="1" lang="en-US" altLang="zh-CN" sz="1400" i="1" dirty="0"/>
              <a:t>(</a:t>
            </a:r>
            <a:r>
              <a:rPr kumimoji="1" lang="en-US" altLang="zh-CN" sz="1400" i="1" dirty="0" err="1"/>
              <a:t>dir</a:t>
            </a:r>
            <a:r>
              <a:rPr kumimoji="1" lang="en-US" altLang="zh-CN" sz="1400" i="1" dirty="0"/>
              <a:t>, filename)</a:t>
            </a:r>
            <a:endParaRPr kumimoji="1" lang="zh-CN" altLang="en-US" sz="1400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LOOKUP in a Directory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11716"/>
            <a:ext cx="8229600" cy="15895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0" dirty="0">
                <a:ea typeface="等线" panose="02010600030101010101" charset="-122"/>
              </a:rPr>
              <a:t>Name comparing method: </a:t>
            </a:r>
            <a:r>
              <a:rPr lang="en-US" altLang="zh-CN" b="0" dirty="0">
                <a:solidFill>
                  <a:srgbClr val="C00000"/>
                </a:solidFill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STRING_MATCH</a:t>
            </a:r>
            <a:endParaRPr lang="en-US" altLang="zh-CN" b="0" dirty="0">
              <a:solidFill>
                <a:srgbClr val="C00000"/>
              </a:solidFill>
              <a:latin typeface="Courier New" panose="02070309020205020404" pitchFamily="49" charset="0"/>
              <a:ea typeface="等线" panose="02010600030101010101" charset="-122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b="0" dirty="0">
                <a:ea typeface="等线" panose="02010600030101010101" charset="-122"/>
              </a:rPr>
              <a:t>LOOKUP(”cse2021", </a:t>
            </a:r>
            <a:r>
              <a:rPr lang="en-US" altLang="zh-CN" b="0" dirty="0" err="1">
                <a:ea typeface="等线" panose="02010600030101010101" charset="-122"/>
              </a:rPr>
              <a:t>dir</a:t>
            </a:r>
            <a:r>
              <a:rPr lang="en-US" altLang="zh-CN" b="0" dirty="0">
                <a:ea typeface="等线" panose="02010600030101010101" charset="-122"/>
              </a:rPr>
              <a:t>) will return </a:t>
            </a:r>
            <a:r>
              <a:rPr lang="en-US" altLang="zh-CN" dirty="0">
                <a:ea typeface="等线" panose="02010600030101010101" charset="-122"/>
              </a:rPr>
              <a:t>73</a:t>
            </a:r>
            <a:endParaRPr lang="en-US" altLang="zh-CN" b="0" dirty="0">
              <a:ea typeface="等线" panose="02010600030101010101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0" dirty="0">
                <a:ea typeface="等线" panose="02010600030101010101" charset="-122"/>
              </a:rPr>
              <a:t>Next problem</a:t>
            </a:r>
            <a:r>
              <a:rPr lang="en-US" altLang="zh-CN" dirty="0">
                <a:ea typeface="等线" panose="02010600030101010101" charset="-122"/>
              </a:rPr>
              <a:t>: </a:t>
            </a:r>
            <a:endParaRPr lang="en-US" altLang="zh-CN" dirty="0">
              <a:ea typeface="等线" panose="02010600030101010101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C00000"/>
                </a:solidFill>
                <a:ea typeface="等线" panose="02010600030101010101" charset="-122"/>
              </a:rPr>
              <a:t>W</a:t>
            </a:r>
            <a:r>
              <a:rPr lang="en-US" altLang="zh-CN" b="0" dirty="0">
                <a:solidFill>
                  <a:srgbClr val="C00000"/>
                </a:solidFill>
                <a:ea typeface="等线" panose="02010600030101010101" charset="-122"/>
              </a:rPr>
              <a:t>hat if there</a:t>
            </a:r>
            <a:r>
              <a:rPr lang="zh-CN" altLang="en-US" b="0" dirty="0">
                <a:solidFill>
                  <a:srgbClr val="C00000"/>
                </a:solidFill>
                <a:ea typeface="等线" panose="02010600030101010101" charset="-122"/>
              </a:rPr>
              <a:t> </a:t>
            </a:r>
            <a:r>
              <a:rPr lang="en-US" altLang="zh-CN" b="0" dirty="0">
                <a:solidFill>
                  <a:srgbClr val="C00000"/>
                </a:solidFill>
                <a:ea typeface="等线" panose="02010600030101010101" charset="-122"/>
              </a:rPr>
              <a:t>are</a:t>
            </a:r>
            <a:r>
              <a:rPr lang="zh-CN" altLang="en-US" b="0" dirty="0">
                <a:solidFill>
                  <a:srgbClr val="C00000"/>
                </a:solidFill>
                <a:ea typeface="等线" panose="02010600030101010101" charset="-122"/>
              </a:rPr>
              <a:t> </a:t>
            </a:r>
            <a:r>
              <a:rPr lang="en-US" altLang="zh-CN" b="0" dirty="0">
                <a:solidFill>
                  <a:srgbClr val="C00000"/>
                </a:solidFill>
                <a:ea typeface="等线" panose="02010600030101010101" charset="-122"/>
              </a:rPr>
              <a:t>too many files?</a:t>
            </a:r>
            <a:endParaRPr lang="zh-CN" altLang="en-US" b="0" dirty="0">
              <a:solidFill>
                <a:srgbClr val="C00000"/>
              </a:solidFill>
              <a:ea typeface="等线" panose="02010600030101010101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4415" y="1040298"/>
            <a:ext cx="9313701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700" b="1" dirty="0"/>
              <a:t>procedure</a:t>
            </a:r>
            <a:r>
              <a:rPr kumimoji="1" lang="en-US" altLang="zh-CN" sz="1700" dirty="0"/>
              <a:t> 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LOOKUP(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filename, 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)-&gt; 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kumimoji="1" lang="en-US" altLang="zh-CN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500"/>
              </a:spcAft>
            </a:pPr>
            <a:r>
              <a:rPr kumimoji="1" lang="en-US" altLang="zh-CN" sz="1400" b="1" i="1" dirty="0"/>
              <a:t>   block </a:t>
            </a:r>
            <a:r>
              <a:rPr kumimoji="1" lang="en-US" altLang="zh-CN" sz="1400" i="1" dirty="0"/>
              <a:t>b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</a:t>
            </a:r>
            <a:r>
              <a:rPr kumimoji="1" lang="en-US" altLang="zh-CN" sz="1400" b="1" i="1" dirty="0" err="1"/>
              <a:t>inode</a:t>
            </a:r>
            <a:r>
              <a:rPr kumimoji="1" lang="en-US" altLang="zh-CN" sz="1400" i="1" dirty="0"/>
              <a:t> </a:t>
            </a:r>
            <a:r>
              <a:rPr kumimoji="1" lang="en-US" altLang="zh-CN" sz="1400" i="1" dirty="0" err="1"/>
              <a:t>i</a:t>
            </a:r>
            <a:r>
              <a:rPr kumimoji="1" lang="en-US" altLang="zh-CN" sz="1400" i="1" dirty="0"/>
              <a:t> =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INODE_NUMBER_TO_INODE</a:t>
            </a:r>
            <a:r>
              <a:rPr kumimoji="1" lang="en-US" altLang="zh-CN" sz="1400" i="1" dirty="0"/>
              <a:t>(</a:t>
            </a:r>
            <a:r>
              <a:rPr kumimoji="1" lang="en-US" altLang="zh-CN" sz="1400" i="1" dirty="0" err="1"/>
              <a:t>dir</a:t>
            </a:r>
            <a:r>
              <a:rPr kumimoji="1" lang="en-US" altLang="zh-CN" sz="1400" i="1" dirty="0"/>
              <a:t>)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</a:t>
            </a:r>
            <a:r>
              <a:rPr kumimoji="1" lang="en-US" altLang="zh-CN" sz="1400" b="1" i="1" dirty="0"/>
              <a:t>if</a:t>
            </a:r>
            <a:r>
              <a:rPr kumimoji="1" lang="en-US" altLang="zh-CN" sz="1400" i="1" dirty="0"/>
              <a:t> </a:t>
            </a:r>
            <a:r>
              <a:rPr kumimoji="1" lang="en-US" altLang="zh-CN" sz="1400" i="1" dirty="0" err="1"/>
              <a:t>i.type</a:t>
            </a:r>
            <a:r>
              <a:rPr kumimoji="1" lang="en-US" altLang="zh-CN" sz="1400" i="1" dirty="0"/>
              <a:t> != DIRECTORY </a:t>
            </a:r>
            <a:r>
              <a:rPr kumimoji="1" lang="en-US" altLang="zh-CN" sz="1400" b="1" i="1" dirty="0"/>
              <a:t>then</a:t>
            </a:r>
            <a:r>
              <a:rPr kumimoji="1" lang="en-US" altLang="zh-CN" sz="1400" i="1" dirty="0"/>
              <a:t> </a:t>
            </a:r>
            <a:r>
              <a:rPr kumimoji="1" lang="en-US" altLang="zh-CN" sz="1400" b="1" i="1" dirty="0"/>
              <a:t>return</a:t>
            </a:r>
            <a:r>
              <a:rPr kumimoji="1" lang="en-US" altLang="zh-CN" sz="1400" i="1" dirty="0"/>
              <a:t> FAIURE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</a:t>
            </a:r>
            <a:r>
              <a:rPr kumimoji="1" lang="en-US" altLang="zh-CN" sz="1400" b="1" i="1" dirty="0"/>
              <a:t>for</a:t>
            </a:r>
            <a:r>
              <a:rPr kumimoji="1" lang="en-US" altLang="zh-CN" sz="1400" i="1" dirty="0"/>
              <a:t> offset from 0 to </a:t>
            </a:r>
            <a:r>
              <a:rPr kumimoji="1" lang="en-US" altLang="zh-CN" sz="1400" i="1" dirty="0" err="1"/>
              <a:t>i.size</a:t>
            </a:r>
            <a:r>
              <a:rPr kumimoji="1" lang="en-US" altLang="zh-CN" sz="1400" i="1" dirty="0"/>
              <a:t> – 1 </a:t>
            </a:r>
            <a:r>
              <a:rPr kumimoji="1" lang="en-US" altLang="zh-CN" sz="1400" b="1" i="1" dirty="0"/>
              <a:t>do</a:t>
            </a:r>
            <a:endParaRPr kumimoji="1" lang="en-US" altLang="zh-CN" sz="1400" b="1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      b &lt;-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INODE_NUMBER_TO_BLOCK</a:t>
            </a:r>
            <a:r>
              <a:rPr kumimoji="1" lang="en-US" altLang="zh-CN" sz="1400" i="1" dirty="0"/>
              <a:t>(offset, </a:t>
            </a:r>
            <a:r>
              <a:rPr kumimoji="1" lang="en-US" altLang="zh-CN" sz="1400" i="1" dirty="0" err="1"/>
              <a:t>dir</a:t>
            </a:r>
            <a:r>
              <a:rPr kumimoji="1" lang="en-US" altLang="zh-CN" sz="1400" i="1" dirty="0"/>
              <a:t>) 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      </a:t>
            </a:r>
            <a:r>
              <a:rPr kumimoji="1" lang="en-US" altLang="zh-CN" sz="1400" b="1" i="1" dirty="0"/>
              <a:t>if</a:t>
            </a:r>
            <a:r>
              <a:rPr kumimoji="1" lang="en-US" altLang="zh-CN" sz="1400" i="1" dirty="0"/>
              <a:t>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STRING_MATCH</a:t>
            </a:r>
            <a:r>
              <a:rPr kumimoji="1" lang="en-US" altLang="zh-CN" sz="1400" i="1" dirty="0"/>
              <a:t>(filename, b) </a:t>
            </a:r>
            <a:r>
              <a:rPr kumimoji="1" lang="en-US" altLang="zh-CN" sz="1400" b="1" i="1" dirty="0"/>
              <a:t>then</a:t>
            </a:r>
            <a:r>
              <a:rPr kumimoji="1" lang="en-US" altLang="zh-CN" sz="1400" i="1" dirty="0"/>
              <a:t> 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         </a:t>
            </a:r>
            <a:r>
              <a:rPr kumimoji="1" lang="en-US" altLang="zh-CN" sz="1400" b="1" i="1" dirty="0"/>
              <a:t>return</a:t>
            </a:r>
            <a:r>
              <a:rPr kumimoji="1" lang="en-US" altLang="zh-CN" sz="1400" i="1" dirty="0"/>
              <a:t>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INODE_NUMBER</a:t>
            </a:r>
            <a:r>
              <a:rPr kumimoji="1" lang="en-US" altLang="zh-CN" sz="1400" i="1" dirty="0"/>
              <a:t>(filename, b)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     offset &lt;- offset + BLOCKSIZSE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sz="1400" i="1" dirty="0"/>
              <a:t>   </a:t>
            </a:r>
            <a:r>
              <a:rPr kumimoji="1" lang="en-US" altLang="zh-CN" sz="1400" b="1" i="1" dirty="0"/>
              <a:t>return</a:t>
            </a:r>
            <a:r>
              <a:rPr kumimoji="1" lang="en-US" altLang="zh-CN" sz="1400" i="1" dirty="0"/>
              <a:t> FAILURE </a:t>
            </a:r>
            <a:endParaRPr kumimoji="1" lang="en-US" altLang="zh-CN" sz="1400" i="1" dirty="0"/>
          </a:p>
          <a:p>
            <a:pPr>
              <a:spcAft>
                <a:spcPts val="500"/>
              </a:spcAft>
            </a:pPr>
            <a:r>
              <a:rPr kumimoji="1" lang="en-US" altLang="zh-CN" b="1" i="1" dirty="0"/>
              <a:t>   </a:t>
            </a:r>
            <a:endParaRPr kumimoji="1" lang="zh-CN" altLang="en-US" i="1" dirty="0"/>
          </a:p>
        </p:txBody>
      </p:sp>
      <p:graphicFrame>
        <p:nvGraphicFramePr>
          <p:cNvPr id="14" name="表格 11"/>
          <p:cNvGraphicFramePr>
            <a:graphicFrameLocks noGrp="1"/>
          </p:cNvGraphicFramePr>
          <p:nvPr/>
        </p:nvGraphicFramePr>
        <p:xfrm>
          <a:off x="5940152" y="4264257"/>
          <a:ext cx="2557110" cy="914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437225"/>
                <a:gridCol w="1119885"/>
              </a:tblGrid>
              <a:tr h="292775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File name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inode</a:t>
                      </a:r>
                      <a:r>
                        <a:rPr lang="en-US" altLang="zh-CN" sz="1400" dirty="0"/>
                        <a:t> num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</a:tr>
              <a:tr h="2927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</a:rPr>
                        <a:t>helloworld.txt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</a:rPr>
                        <a:t>12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</a:tr>
              <a:tr h="2927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</a:rPr>
                        <a:t>cse2021.md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</a:rPr>
                        <a:t>73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6108480" y="3960892"/>
            <a:ext cx="22541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sz="1400" dirty="0"/>
              <a:t>Overview of </a:t>
            </a:r>
            <a:r>
              <a:rPr kumimoji="1" lang="en-US" altLang="zh-CN" sz="1400" dirty="0" err="1"/>
              <a:t>inode</a:t>
            </a:r>
            <a:r>
              <a:rPr kumimoji="1" lang="en-US" altLang="zh-CN" sz="1400" dirty="0"/>
              <a:t> content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/>
              <a:t>L5: Path Name Layer</a:t>
            </a:r>
            <a:endParaRPr kumimoji="1" lang="zh-CN" altLang="en-US" sz="2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>
            <a:normAutofit/>
          </a:bodyPr>
          <a:lstStyle/>
          <a:p>
            <a:r>
              <a:rPr kumimoji="1" lang="en-US" altLang="zh-CN" b="0" dirty="0"/>
              <a:t>Hierarchy of directories and files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Structured naming: E.g. "projects/paper"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dirty="0">
                <a:ea typeface="等线" panose="02010600030101010101" charset="-122"/>
              </a:rPr>
              <a:t>Context: </a:t>
            </a:r>
            <a:r>
              <a:rPr lang="en-US" altLang="zh-CN" b="0" dirty="0">
                <a:ea typeface="等线" panose="02010600030101010101" charset="-122"/>
              </a:rPr>
              <a:t>the working directory</a:t>
            </a:r>
            <a:r>
              <a:rPr lang="zh-CN" altLang="en-US" b="0" dirty="0">
                <a:ea typeface="等线" panose="02010600030101010101" charset="-122"/>
              </a:rPr>
              <a:t>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endParaRPr lang="en-US" altLang="zh-CN" b="0" dirty="0">
              <a:ea typeface="等线" panose="02010600030101010101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3519930" y="628082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1520" y="2262175"/>
            <a:ext cx="9313701" cy="1943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700" b="1" dirty="0"/>
              <a:t>procedure</a:t>
            </a:r>
            <a:r>
              <a:rPr kumimoji="1" lang="en-US" altLang="zh-CN" sz="1700" dirty="0"/>
              <a:t> 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PATH_TO_INODE_NUMBER(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path, 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)-&gt; 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kumimoji="1" lang="en-US" altLang="zh-CN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sz="1400" b="1" i="1" dirty="0"/>
              <a:t> </a:t>
            </a:r>
            <a:r>
              <a:rPr kumimoji="1" lang="zh-CN" altLang="en-US" sz="1400" b="1" i="1" dirty="0"/>
              <a:t>  </a:t>
            </a:r>
            <a:r>
              <a:rPr kumimoji="1" lang="en-US" altLang="zh-CN" sz="1400" b="1" i="1" dirty="0"/>
              <a:t>  if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PLAIN_NAME(path)</a:t>
            </a:r>
            <a:r>
              <a:rPr kumimoji="1" lang="en-US" altLang="zh-CN" sz="1400" b="1" i="1" dirty="0">
                <a:cs typeface="Courier New" panose="02070309020205020404" pitchFamily="49" charset="0"/>
              </a:rPr>
              <a:t>return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NAME_TO_INODE_NUMBER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(</a:t>
            </a:r>
            <a:r>
              <a:rPr kumimoji="1" lang="en-US" altLang="zh-CN" sz="1400" i="1" dirty="0" err="1">
                <a:cs typeface="Courier New" panose="02070309020205020404" pitchFamily="49" charset="0"/>
              </a:rPr>
              <a:t>path,dir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)</a:t>
            </a:r>
            <a:endParaRPr kumimoji="1" lang="en-US" altLang="zh-CN" sz="1400" i="1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sz="1400" i="1" dirty="0">
                <a:cs typeface="Courier New" panose="02070309020205020404" pitchFamily="49" charset="0"/>
              </a:rPr>
              <a:t>   </a:t>
            </a:r>
            <a:r>
              <a:rPr kumimoji="1" lang="zh-CN" altLang="en-US" sz="1400" i="1" dirty="0">
                <a:cs typeface="Courier New" panose="02070309020205020404" pitchFamily="49" charset="0"/>
              </a:rPr>
              <a:t>  </a:t>
            </a:r>
            <a:r>
              <a:rPr kumimoji="1" lang="en-US" altLang="zh-CN" sz="1400" b="1" dirty="0">
                <a:cs typeface="Courier New" panose="02070309020205020404" pitchFamily="49" charset="0"/>
              </a:rPr>
              <a:t>else</a:t>
            </a:r>
            <a:r>
              <a:rPr kumimoji="1" lang="en-US" altLang="zh-CN" sz="1400" dirty="0">
                <a:cs typeface="Courier New" panose="02070309020205020404" pitchFamily="49" charset="0"/>
              </a:rPr>
              <a:t> </a:t>
            </a:r>
            <a:endParaRPr kumimoji="1" lang="en-US" altLang="zh-CN" sz="1400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sz="1400" b="1" i="1" dirty="0">
                <a:cs typeface="Courier New" panose="02070309020205020404" pitchFamily="49" charset="0"/>
              </a:rPr>
              <a:t>   </a:t>
            </a:r>
            <a:r>
              <a:rPr kumimoji="1" lang="zh-CN" altLang="en-US" sz="1400" b="1" i="1" dirty="0">
                <a:cs typeface="Courier New" panose="02070309020205020404" pitchFamily="49" charset="0"/>
              </a:rPr>
              <a:t>  </a:t>
            </a:r>
            <a:r>
              <a:rPr kumimoji="1" lang="en-US" altLang="zh-CN" sz="1400" b="1" i="1" dirty="0">
                <a:cs typeface="Courier New" panose="02070309020205020404" pitchFamily="49" charset="0"/>
              </a:rPr>
              <a:t>    </a:t>
            </a:r>
            <a:r>
              <a:rPr kumimoji="1" lang="en-US" altLang="zh-CN" sz="1400" i="1" dirty="0" err="1">
                <a:cs typeface="Courier New" panose="02070309020205020404" pitchFamily="49" charset="0"/>
              </a:rPr>
              <a:t>dir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 &lt;-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LOOKUP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(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(path), </a:t>
            </a:r>
            <a:r>
              <a:rPr kumimoji="1" lang="en-US" altLang="zh-CN" sz="1400" i="1" dirty="0" err="1">
                <a:cs typeface="Courier New" panose="02070309020205020404" pitchFamily="49" charset="0"/>
              </a:rPr>
              <a:t>dir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)</a:t>
            </a:r>
            <a:endParaRPr kumimoji="1" lang="en-US" altLang="zh-CN" sz="1400" i="1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sz="1400" i="1" dirty="0">
                <a:cs typeface="Courier New" panose="02070309020205020404" pitchFamily="49" charset="0"/>
              </a:rPr>
              <a:t>   </a:t>
            </a:r>
            <a:r>
              <a:rPr kumimoji="1" lang="zh-CN" altLang="en-US" sz="1400" i="1" dirty="0">
                <a:cs typeface="Courier New" panose="02070309020205020404" pitchFamily="49" charset="0"/>
              </a:rPr>
              <a:t>  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    path &lt;-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REST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(path)</a:t>
            </a:r>
            <a:endParaRPr kumimoji="1" lang="en-US" altLang="zh-CN" sz="1400" i="1" dirty="0"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kumimoji="1" lang="en-US" altLang="zh-CN" sz="1400" i="1" dirty="0">
                <a:cs typeface="Courier New" panose="02070309020205020404" pitchFamily="49" charset="0"/>
              </a:rPr>
              <a:t>   </a:t>
            </a:r>
            <a:r>
              <a:rPr kumimoji="1" lang="zh-CN" altLang="en-US" sz="1400" i="1" dirty="0">
                <a:cs typeface="Courier New" panose="02070309020205020404" pitchFamily="49" charset="0"/>
              </a:rPr>
              <a:t>  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    </a:t>
            </a:r>
            <a:r>
              <a:rPr kumimoji="1" lang="en-US" altLang="zh-CN" sz="1400" b="1" i="1" dirty="0">
                <a:cs typeface="Courier New" panose="02070309020205020404" pitchFamily="49" charset="0"/>
              </a:rPr>
              <a:t>return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PATH_TO_INODE_NUMBER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(</a:t>
            </a:r>
            <a:r>
              <a:rPr kumimoji="1" lang="en-US" altLang="zh-CN" sz="1400" i="1" dirty="0" err="1">
                <a:cs typeface="Courier New" panose="02070309020205020404" pitchFamily="49" charset="0"/>
              </a:rPr>
              <a:t>path,dir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)</a:t>
            </a:r>
            <a:endParaRPr kumimoji="1" lang="zh-CN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Links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5282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LINK</a:t>
            </a:r>
            <a:r>
              <a:rPr kumimoji="1" lang="en-US" altLang="zh-CN" dirty="0"/>
              <a:t>: </a:t>
            </a:r>
            <a:r>
              <a:rPr kumimoji="1" lang="en-US" altLang="zh-CN" b="0" dirty="0"/>
              <a:t>create</a:t>
            </a:r>
            <a:r>
              <a:rPr kumimoji="1" lang="zh-CN" altLang="en-US" dirty="0"/>
              <a:t> </a:t>
            </a:r>
            <a:r>
              <a:rPr kumimoji="1" lang="en-US" altLang="zh-CN" b="0" dirty="0"/>
              <a:t>shortcut for long names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LINK("</a:t>
            </a:r>
            <a:r>
              <a:rPr kumimoji="1" lang="en-US" altLang="zh-CN" dirty="0">
                <a:solidFill>
                  <a:srgbClr val="C00000"/>
                </a:solidFill>
              </a:rPr>
              <a:t>Mail/inbox/new-assignment</a:t>
            </a:r>
            <a:r>
              <a:rPr kumimoji="1" lang="en-US" altLang="zh-CN" dirty="0"/>
              <a:t>", "</a:t>
            </a:r>
            <a:r>
              <a:rPr kumimoji="1" lang="en-US" altLang="zh-CN" dirty="0">
                <a:solidFill>
                  <a:srgbClr val="C00000"/>
                </a:solidFill>
              </a:rPr>
              <a:t>assignment</a:t>
            </a:r>
            <a:r>
              <a:rPr kumimoji="1" lang="en-US" altLang="zh-CN" dirty="0"/>
              <a:t>")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Turns strict hierarchy into a directed graph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Users cannot create links to directories -&gt; acyclic graph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Different filenames, same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number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C00000"/>
                </a:solidFill>
              </a:rPr>
              <a:t>UNLINK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dirty="0"/>
              <a:t>Remove the binding of filename to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number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UNLINK last binding, put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/blocks to a free-list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A reference counter is needed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19930" y="628082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Links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Reference count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An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can bind multiple file names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+1 when </a:t>
            </a:r>
            <a:r>
              <a:rPr kumimoji="1" lang="en-US" altLang="zh-CN" b="1" dirty="0">
                <a:solidFill>
                  <a:srgbClr val="C00000"/>
                </a:solidFill>
              </a:rPr>
              <a:t>LINK</a:t>
            </a:r>
            <a:r>
              <a:rPr kumimoji="1" lang="en-US" altLang="zh-CN" dirty="0"/>
              <a:t>, -1 when </a:t>
            </a:r>
            <a:r>
              <a:rPr kumimoji="1" lang="en-US" altLang="zh-CN" b="1" dirty="0">
                <a:solidFill>
                  <a:srgbClr val="C00000"/>
                </a:solidFill>
              </a:rPr>
              <a:t>UNLINK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dirty="0"/>
              <a:t>A file will be deleted when reference count is 0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No cycle allowed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2"/>
            <a:r>
              <a:rPr kumimoji="1" lang="en-US" altLang="zh-CN" dirty="0"/>
              <a:t>Except for '.' and '..'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Naming current and parent </a:t>
            </a:r>
            <a:br>
              <a:rPr kumimoji="1" lang="en-US" altLang="zh-CN" dirty="0"/>
            </a:br>
            <a:r>
              <a:rPr kumimoji="1" lang="en-US" altLang="zh-CN" dirty="0"/>
              <a:t>directory with no need to </a:t>
            </a:r>
            <a:br>
              <a:rPr kumimoji="1" lang="en-US" altLang="zh-CN" dirty="0"/>
            </a:br>
            <a:r>
              <a:rPr kumimoji="1" lang="en-US" altLang="zh-CN" dirty="0"/>
              <a:t>know their names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19930" y="628078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91200" y="1257829"/>
            <a:ext cx="38365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block_nums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[N]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size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refcnt</a:t>
            </a:r>
            <a:endParaRPr kumimoji="1"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No Cycle for LINK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19930" y="628078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  <a:cs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14017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宋体" panose="02010600030101010101" pitchFamily="2" charset="-122"/>
              </a:rPr>
              <a:t>x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7921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20875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宋体" panose="02010600030101010101" pitchFamily="2" charset="-122"/>
              </a:rPr>
              <a:t>25:1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7921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20875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16" name="直接连接符 11"/>
          <p:cNvCxnSpPr>
            <a:cxnSpLocks noChangeShapeType="1"/>
            <a:stCxn id="11" idx="2"/>
            <a:endCxn id="12" idx="0"/>
          </p:cNvCxnSpPr>
          <p:nvPr/>
        </p:nvCxnSpPr>
        <p:spPr bwMode="auto">
          <a:xfrm flipH="1">
            <a:off x="10588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17" name="直接连接符 13"/>
          <p:cNvCxnSpPr>
            <a:cxnSpLocks noChangeShapeType="1"/>
            <a:stCxn id="12" idx="2"/>
            <a:endCxn id="14" idx="0"/>
          </p:cNvCxnSpPr>
          <p:nvPr/>
        </p:nvCxnSpPr>
        <p:spPr bwMode="auto">
          <a:xfrm>
            <a:off x="10588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18" name="直接连接符 17"/>
          <p:cNvCxnSpPr>
            <a:cxnSpLocks noChangeShapeType="1"/>
            <a:stCxn id="11" idx="2"/>
            <a:endCxn id="13" idx="0"/>
          </p:cNvCxnSpPr>
          <p:nvPr/>
        </p:nvCxnSpPr>
        <p:spPr bwMode="auto">
          <a:xfrm>
            <a:off x="16684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19" name="直接连接符 19"/>
          <p:cNvCxnSpPr>
            <a:cxnSpLocks noChangeShapeType="1"/>
            <a:stCxn id="13" idx="2"/>
            <a:endCxn id="15" idx="0"/>
          </p:cNvCxnSpPr>
          <p:nvPr/>
        </p:nvCxnSpPr>
        <p:spPr bwMode="auto">
          <a:xfrm>
            <a:off x="24685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579140" y="3577580"/>
            <a:ext cx="2552700" cy="9848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/a/b is a directory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The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of a is 1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a's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num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is 25</a:t>
            </a:r>
            <a:endParaRPr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21" name="圆角矩形 20"/>
          <p:cNvSpPr/>
          <p:nvPr/>
        </p:nvSpPr>
        <p:spPr bwMode="auto">
          <a:xfrm>
            <a:off x="40687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宋体" panose="02010600030101010101" pitchFamily="2" charset="-122"/>
              </a:rPr>
              <a:t>x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34591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47545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宋体" panose="02010600030101010101" pitchFamily="2" charset="-122"/>
              </a:rPr>
              <a:t>25:2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34591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47545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26" name="直接连接符 27"/>
          <p:cNvCxnSpPr>
            <a:cxnSpLocks noChangeShapeType="1"/>
            <a:stCxn id="21" idx="2"/>
            <a:endCxn id="22" idx="0"/>
          </p:cNvCxnSpPr>
          <p:nvPr/>
        </p:nvCxnSpPr>
        <p:spPr bwMode="auto">
          <a:xfrm flipH="1">
            <a:off x="37258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27" name="直接连接符 28"/>
          <p:cNvCxnSpPr>
            <a:cxnSpLocks noChangeShapeType="1"/>
            <a:stCxn id="22" idx="2"/>
            <a:endCxn id="24" idx="0"/>
          </p:cNvCxnSpPr>
          <p:nvPr/>
        </p:nvCxnSpPr>
        <p:spPr bwMode="auto">
          <a:xfrm>
            <a:off x="37258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28" name="直接连接符 30"/>
          <p:cNvCxnSpPr>
            <a:cxnSpLocks noChangeShapeType="1"/>
            <a:stCxn id="21" idx="2"/>
            <a:endCxn id="23" idx="0"/>
          </p:cNvCxnSpPr>
          <p:nvPr/>
        </p:nvCxnSpPr>
        <p:spPr bwMode="auto">
          <a:xfrm>
            <a:off x="43354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29" name="直接连接符 31"/>
          <p:cNvCxnSpPr>
            <a:cxnSpLocks noChangeShapeType="1"/>
            <a:stCxn id="23" idx="2"/>
            <a:endCxn id="25" idx="0"/>
          </p:cNvCxnSpPr>
          <p:nvPr/>
        </p:nvCxnSpPr>
        <p:spPr bwMode="auto">
          <a:xfrm>
            <a:off x="51355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sp>
        <p:nvSpPr>
          <p:cNvPr id="30" name="圆角矩形 29"/>
          <p:cNvSpPr/>
          <p:nvPr/>
        </p:nvSpPr>
        <p:spPr bwMode="auto">
          <a:xfrm>
            <a:off x="68119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宋体" panose="02010600030101010101" pitchFamily="2" charset="-122"/>
              </a:rPr>
              <a:t>x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31" name="圆角矩形 30"/>
          <p:cNvSpPr/>
          <p:nvPr/>
        </p:nvSpPr>
        <p:spPr bwMode="auto">
          <a:xfrm>
            <a:off x="62023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32" name="圆角矩形 31"/>
          <p:cNvSpPr/>
          <p:nvPr/>
        </p:nvSpPr>
        <p:spPr bwMode="auto">
          <a:xfrm>
            <a:off x="74977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charset="-122"/>
                <a:cs typeface="宋体" panose="02010600030101010101" pitchFamily="2" charset="-122"/>
              </a:rPr>
              <a:t>25:1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33" name="圆角矩形 32"/>
          <p:cNvSpPr/>
          <p:nvPr/>
        </p:nvSpPr>
        <p:spPr bwMode="auto">
          <a:xfrm>
            <a:off x="62023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74977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等线" panose="02010600030101010101" charset="-122"/>
              <a:cs typeface="宋体" panose="02010600030101010101" pitchFamily="2" charset="-122"/>
            </a:endParaRPr>
          </a:p>
        </p:txBody>
      </p:sp>
      <p:cxnSp>
        <p:nvCxnSpPr>
          <p:cNvPr id="35" name="直接连接符 38"/>
          <p:cNvCxnSpPr>
            <a:cxnSpLocks noChangeShapeType="1"/>
            <a:stCxn id="30" idx="2"/>
            <a:endCxn id="31" idx="0"/>
          </p:cNvCxnSpPr>
          <p:nvPr/>
        </p:nvCxnSpPr>
        <p:spPr bwMode="auto">
          <a:xfrm flipH="1">
            <a:off x="64690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36" name="直接连接符 39"/>
          <p:cNvCxnSpPr>
            <a:cxnSpLocks noChangeShapeType="1"/>
            <a:stCxn id="31" idx="2"/>
            <a:endCxn id="33" idx="0"/>
          </p:cNvCxnSpPr>
          <p:nvPr/>
        </p:nvCxnSpPr>
        <p:spPr bwMode="auto">
          <a:xfrm>
            <a:off x="64690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37" name="直接连接符 41"/>
          <p:cNvCxnSpPr>
            <a:cxnSpLocks noChangeShapeType="1"/>
            <a:stCxn id="30" idx="2"/>
            <a:endCxn id="32" idx="0"/>
          </p:cNvCxnSpPr>
          <p:nvPr/>
        </p:nvCxnSpPr>
        <p:spPr bwMode="auto">
          <a:xfrm>
            <a:off x="70786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38" name="直接连接符 42"/>
          <p:cNvCxnSpPr>
            <a:cxnSpLocks noChangeShapeType="1"/>
            <a:stCxn id="32" idx="2"/>
            <a:endCxn id="34" idx="0"/>
          </p:cNvCxnSpPr>
          <p:nvPr/>
        </p:nvCxnSpPr>
        <p:spPr bwMode="auto">
          <a:xfrm>
            <a:off x="78787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</p:cxnSp>
      <p:cxnSp>
        <p:nvCxnSpPr>
          <p:cNvPr id="39" name="肘形连接符 48"/>
          <p:cNvCxnSpPr>
            <a:cxnSpLocks noChangeShapeType="1"/>
            <a:stCxn id="25" idx="1"/>
            <a:endCxn id="23" idx="1"/>
          </p:cNvCxnSpPr>
          <p:nvPr/>
        </p:nvCxnSpPr>
        <p:spPr bwMode="auto">
          <a:xfrm rot="10800000">
            <a:off x="4754563" y="2370668"/>
            <a:ext cx="12700" cy="645583"/>
          </a:xfrm>
          <a:prstGeom prst="bentConnector3">
            <a:avLst>
              <a:gd name="adj1" fmla="val 2213796"/>
            </a:avLst>
          </a:prstGeom>
          <a:noFill/>
          <a:ln w="9525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40" name="肘形连接符 56"/>
          <p:cNvCxnSpPr>
            <a:cxnSpLocks noChangeShapeType="1"/>
            <a:stCxn id="34" idx="1"/>
            <a:endCxn id="32" idx="1"/>
          </p:cNvCxnSpPr>
          <p:nvPr/>
        </p:nvCxnSpPr>
        <p:spPr bwMode="auto">
          <a:xfrm rot="10800000">
            <a:off x="7497763" y="2370668"/>
            <a:ext cx="12700" cy="645583"/>
          </a:xfrm>
          <a:prstGeom prst="bentConnector3">
            <a:avLst>
              <a:gd name="adj1" fmla="val 2544829"/>
            </a:avLst>
          </a:prstGeom>
          <a:noFill/>
          <a:ln w="9525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41" name="TextBox 57"/>
          <p:cNvSpPr txBox="1">
            <a:spLocks noChangeArrowheads="1"/>
          </p:cNvSpPr>
          <p:nvPr/>
        </p:nvSpPr>
        <p:spPr bwMode="auto">
          <a:xfrm>
            <a:off x="1782763" y="1778000"/>
            <a:ext cx="91440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2" name="TextBox 58"/>
          <p:cNvSpPr txBox="1">
            <a:spLocks noChangeArrowheads="1"/>
          </p:cNvSpPr>
          <p:nvPr/>
        </p:nvSpPr>
        <p:spPr bwMode="auto">
          <a:xfrm>
            <a:off x="1935163" y="2524125"/>
            <a:ext cx="66675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3" name="TextBox 59"/>
          <p:cNvSpPr txBox="1">
            <a:spLocks noChangeArrowheads="1"/>
          </p:cNvSpPr>
          <p:nvPr/>
        </p:nvSpPr>
        <p:spPr bwMode="auto">
          <a:xfrm>
            <a:off x="3281536" y="3577581"/>
            <a:ext cx="2514600" cy="13068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LINK ("/a/b/c",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  <a:sym typeface="+mn-ea"/>
              </a:rPr>
              <a:t>"/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a")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Cause a cycle!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of a is 2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4" name="TextBox 60"/>
          <p:cNvSpPr txBox="1">
            <a:spLocks noChangeArrowheads="1"/>
          </p:cNvSpPr>
          <p:nvPr/>
        </p:nvSpPr>
        <p:spPr bwMode="auto">
          <a:xfrm>
            <a:off x="4449763" y="1778000"/>
            <a:ext cx="91440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5" name="TextBox 61"/>
          <p:cNvSpPr txBox="1">
            <a:spLocks noChangeArrowheads="1"/>
          </p:cNvSpPr>
          <p:nvPr/>
        </p:nvSpPr>
        <p:spPr bwMode="auto">
          <a:xfrm>
            <a:off x="4602163" y="2524125"/>
            <a:ext cx="66675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6" name="TextBox 64"/>
          <p:cNvSpPr txBox="1">
            <a:spLocks noChangeArrowheads="1"/>
          </p:cNvSpPr>
          <p:nvPr/>
        </p:nvSpPr>
        <p:spPr bwMode="auto">
          <a:xfrm>
            <a:off x="4011613" y="2524125"/>
            <a:ext cx="66675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c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7" name="TextBox 67"/>
          <p:cNvSpPr txBox="1">
            <a:spLocks noChangeArrowheads="1"/>
          </p:cNvSpPr>
          <p:nvPr/>
        </p:nvSpPr>
        <p:spPr bwMode="auto">
          <a:xfrm>
            <a:off x="7326313" y="2524125"/>
            <a:ext cx="66675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8" name="TextBox 68"/>
          <p:cNvSpPr txBox="1">
            <a:spLocks noChangeArrowheads="1"/>
          </p:cNvSpPr>
          <p:nvPr/>
        </p:nvSpPr>
        <p:spPr bwMode="auto">
          <a:xfrm>
            <a:off x="6735763" y="2524125"/>
            <a:ext cx="66675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c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49" name="TextBox 69"/>
          <p:cNvSpPr txBox="1">
            <a:spLocks noChangeArrowheads="1"/>
          </p:cNvSpPr>
          <p:nvPr/>
        </p:nvSpPr>
        <p:spPr bwMode="auto">
          <a:xfrm>
            <a:off x="6018659" y="3577580"/>
            <a:ext cx="3017837" cy="180049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UNLINK ("/a")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of a is 1, so the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25 is not deleted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Now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25 is dis-connected from graph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No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one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can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get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</a:rPr>
              <a:t>it!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50" name="TextBox 70"/>
          <p:cNvSpPr txBox="1">
            <a:spLocks noChangeArrowheads="1"/>
          </p:cNvSpPr>
          <p:nvPr/>
        </p:nvSpPr>
        <p:spPr bwMode="auto">
          <a:xfrm>
            <a:off x="7308304" y="1849388"/>
            <a:ext cx="91440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pic>
        <p:nvPicPr>
          <p:cNvPr id="51" name="图形 5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8304" y="1852904"/>
            <a:ext cx="356524" cy="356524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1478865" y="4732975"/>
            <a:ext cx="4082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deleting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directory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b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kumimoji="1" lang="zh-CN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first?</a:t>
            </a:r>
            <a:endParaRPr kumimoji="1" lang="zh-CN" altLang="en-US" sz="20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83568" y="478037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Think: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2" grpId="0"/>
      <p:bldP spid="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Renaming - 1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3519930" y="628082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3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200" y="1213717"/>
            <a:ext cx="383658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UNLINK(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LINK(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UNLINK(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frome_name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457200" y="2454110"/>
            <a:ext cx="8229600" cy="212457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Text edit </a:t>
            </a:r>
            <a:r>
              <a:rPr kumimoji="1" lang="en-US" altLang="zh-CN" b="0" dirty="0"/>
              <a:t>usually save editing file in a </a:t>
            </a:r>
            <a:r>
              <a:rPr kumimoji="1" lang="en-US" altLang="zh-CN" dirty="0">
                <a:solidFill>
                  <a:srgbClr val="C00000"/>
                </a:solidFill>
              </a:rPr>
              <a:t>temp</a:t>
            </a:r>
            <a:r>
              <a:rPr kumimoji="1" lang="en-US" altLang="zh-CN" b="0" dirty="0"/>
              <a:t> file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Edit in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a.txt.swp</a:t>
            </a:r>
            <a:r>
              <a:rPr kumimoji="1" lang="en-US" altLang="zh-CN" dirty="0"/>
              <a:t>, then rename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a.txt.swp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/>
              <a:t>to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a.txt</a:t>
            </a: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b="0" dirty="0"/>
              <a:t>What if the computer </a:t>
            </a:r>
            <a:r>
              <a:rPr kumimoji="1" lang="en-US" altLang="zh-CN" dirty="0">
                <a:solidFill>
                  <a:srgbClr val="C00000"/>
                </a:solidFill>
              </a:rPr>
              <a:t>fails between 1 &amp; 2</a:t>
            </a:r>
            <a:r>
              <a:rPr kumimoji="1" lang="en-US" altLang="zh-CN" b="0" dirty="0"/>
              <a:t>?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The file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to_name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/>
              <a:t>will be lost, which will surprise the user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Need </a:t>
            </a:r>
            <a:r>
              <a:rPr kumimoji="1" lang="en-US" altLang="zh-CN" b="1" dirty="0">
                <a:solidFill>
                  <a:srgbClr val="C00000"/>
                </a:solidFill>
              </a:rPr>
              <a:t>atomic</a:t>
            </a:r>
            <a:r>
              <a:rPr kumimoji="1" lang="en-US" altLang="zh-CN" dirty="0"/>
              <a:t> action (in later lectures)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Renaming - 2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09428"/>
            <a:ext cx="8229600" cy="3276706"/>
          </a:xfrm>
        </p:spPr>
        <p:txBody>
          <a:bodyPr/>
          <a:lstStyle/>
          <a:p>
            <a:r>
              <a:rPr kumimoji="1" lang="en-US" altLang="zh-CN" b="0" dirty="0"/>
              <a:t>Weaker specification without atomic actions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1. Changes the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number in for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to_name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dirty="0"/>
              <a:t>to the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number of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from_name</a:t>
            </a: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kumimoji="1" lang="en-US" altLang="zh-CN" dirty="0"/>
              <a:t>2. Removes the directory entry for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from_name</a:t>
            </a: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0" dirty="0">
                <a:ea typeface="等线" panose="02010600030101010101" charset="-122"/>
              </a:rPr>
              <a:t>If fails between 1 &amp; 2</a:t>
            </a:r>
            <a:endParaRPr lang="en-US" altLang="zh-CN" b="0" dirty="0">
              <a:ea typeface="等线" panose="02010600030101010101" charset="-122"/>
            </a:endParaRPr>
          </a:p>
          <a:p>
            <a:pPr lvl="1"/>
            <a:r>
              <a:rPr lang="en-US" altLang="zh-CN" sz="1600" dirty="0">
                <a:ea typeface="等线" panose="02010600030101010101" charset="-122"/>
              </a:rPr>
              <a:t>Must increase reference count of </a:t>
            </a:r>
            <a:r>
              <a:rPr lang="en-US" altLang="zh-CN" sz="1600" dirty="0" err="1">
                <a:solidFill>
                  <a:srgbClr val="C00000"/>
                </a:solidFill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from_name</a:t>
            </a:r>
            <a:r>
              <a:rPr lang="en-US" altLang="zh-CN" sz="1600" dirty="0" err="1">
                <a:ea typeface="等线" panose="02010600030101010101" charset="-122"/>
              </a:rPr>
              <a:t>'s</a:t>
            </a:r>
            <a:r>
              <a:rPr lang="en-US" altLang="zh-CN" sz="1600" dirty="0">
                <a:ea typeface="等线" panose="02010600030101010101" charset="-122"/>
              </a:rPr>
              <a:t> </a:t>
            </a:r>
            <a:r>
              <a:rPr lang="en-US" altLang="zh-CN" sz="1600" dirty="0" err="1">
                <a:ea typeface="等线" panose="02010600030101010101" charset="-122"/>
              </a:rPr>
              <a:t>inode</a:t>
            </a:r>
            <a:r>
              <a:rPr lang="en-US" altLang="zh-CN" sz="1600" dirty="0">
                <a:ea typeface="等线" panose="02010600030101010101" charset="-122"/>
              </a:rPr>
              <a:t> on recovery</a:t>
            </a:r>
            <a:endParaRPr lang="en-US" altLang="zh-CN" sz="1600" dirty="0">
              <a:ea typeface="等线" panose="02010600030101010101" charset="-122"/>
            </a:endParaRPr>
          </a:p>
          <a:p>
            <a:r>
              <a:rPr lang="en-US" altLang="zh-CN" b="0" dirty="0">
                <a:ea typeface="等线" panose="02010600030101010101" charset="-122"/>
              </a:rPr>
              <a:t>If </a:t>
            </a:r>
            <a:r>
              <a:rPr lang="en-US" altLang="zh-CN" b="0" dirty="0" err="1">
                <a:solidFill>
                  <a:srgbClr val="C00000"/>
                </a:solidFill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to_name</a:t>
            </a:r>
            <a:r>
              <a:rPr lang="en-US" altLang="zh-CN" b="0" dirty="0">
                <a:solidFill>
                  <a:srgbClr val="C00000"/>
                </a:solidFill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 </a:t>
            </a:r>
            <a:r>
              <a:rPr lang="en-US" altLang="zh-CN" b="0" dirty="0">
                <a:ea typeface="等线" panose="02010600030101010101" charset="-122"/>
              </a:rPr>
              <a:t>already exists</a:t>
            </a:r>
            <a:endParaRPr lang="en-US" altLang="zh-CN" b="0" dirty="0">
              <a:ea typeface="等线" panose="02010600030101010101" charset="-122"/>
            </a:endParaRPr>
          </a:p>
          <a:p>
            <a:pPr lvl="1"/>
            <a:r>
              <a:rPr lang="en-US" altLang="zh-CN" sz="1600" dirty="0">
                <a:ea typeface="等线" panose="02010600030101010101" charset="-122"/>
              </a:rPr>
              <a:t>It will always exist even if the</a:t>
            </a:r>
            <a:r>
              <a:rPr lang="zh-CN" altLang="en-US" sz="1600" dirty="0">
                <a:ea typeface="等线" panose="02010600030101010101" charset="-122"/>
              </a:rPr>
              <a:t> </a:t>
            </a:r>
            <a:r>
              <a:rPr lang="en-US" altLang="zh-CN" sz="1600" dirty="0">
                <a:ea typeface="等线" panose="02010600030101010101" charset="-122"/>
              </a:rPr>
              <a:t>machine fails between 1 &amp; 2</a:t>
            </a:r>
            <a:endParaRPr lang="zh-CN" altLang="zh-CN" sz="1600" dirty="0">
              <a:ea typeface="等线" panose="02010600030101010101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19930" y="628082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" y="1213717"/>
            <a:ext cx="383658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LINK(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600"/>
              </a:spcAft>
            </a:pP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UNLINK(</a:t>
            </a:r>
            <a:r>
              <a:rPr kumimoji="1"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frome_name</a:t>
            </a:r>
            <a:r>
              <a:rPr kumimoji="1"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L6: Absolute Path </a:t>
            </a:r>
            <a:br>
              <a:rPr kumimoji="1" lang="en-US" altLang="zh-CN" dirty="0"/>
            </a:br>
            <a:r>
              <a:rPr kumimoji="1" lang="en-US" altLang="zh-CN" dirty="0"/>
              <a:t>Name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4094"/>
            <a:ext cx="8229600" cy="3476850"/>
          </a:xfrm>
        </p:spPr>
        <p:txBody>
          <a:bodyPr/>
          <a:lstStyle/>
          <a:p>
            <a:r>
              <a:rPr kumimoji="1" lang="en-US" altLang="zh-CN" dirty="0"/>
              <a:t>HOME directory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Every user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 default working directory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(HOME)</a:t>
            </a:r>
            <a:r>
              <a:rPr kumimoji="1" lang="zh-CN" altLang="en-US" dirty="0"/>
              <a:t> </a:t>
            </a:r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Problem: no sharing of files between users</a:t>
            </a:r>
            <a:endParaRPr kumimoji="1" lang="en-US" altLang="zh-CN" dirty="0"/>
          </a:p>
          <a:p>
            <a:r>
              <a:rPr kumimoji="1" lang="en-US" altLang="zh-CN" b="0" dirty="0"/>
              <a:t>Introducing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the </a:t>
            </a:r>
            <a:r>
              <a:rPr kumimoji="1" lang="en-US" altLang="zh-CN" dirty="0">
                <a:solidFill>
                  <a:srgbClr val="C00000"/>
                </a:solidFill>
              </a:rPr>
              <a:t>root</a:t>
            </a:r>
            <a:r>
              <a:rPr kumimoji="1" lang="en-US" altLang="zh-CN" b="0" dirty="0"/>
              <a:t> directory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A universal context for all users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well-known name: '/'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Both '/.' and '/..' are linked to '/'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19930" y="628082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3519930" y="333296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Absolute path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1927" y="4532754"/>
            <a:ext cx="9313701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700" b="1" dirty="0"/>
              <a:t>procedure</a:t>
            </a:r>
            <a:r>
              <a:rPr kumimoji="1" lang="en-US" altLang="zh-CN" sz="1700" dirty="0"/>
              <a:t> 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GENERATEPATH_TO_INODE_NUMBER(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kumimoji="1"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path)-&gt; </a:t>
            </a:r>
            <a:r>
              <a:rPr kumimoji="1" lang="en-US" altLang="zh-CN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endParaRPr kumimoji="1" lang="en-US" altLang="zh-CN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500"/>
              </a:spcAft>
            </a:pPr>
            <a:r>
              <a:rPr kumimoji="1" lang="en-US" altLang="zh-CN" sz="1400" b="1" i="1" dirty="0"/>
              <a:t>   if</a:t>
            </a:r>
            <a:r>
              <a:rPr kumimoji="1" lang="en-US" altLang="zh-CN" sz="1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path[0] = “/” </a:t>
            </a:r>
            <a:r>
              <a:rPr kumimoji="1" lang="en-US" altLang="zh-CN" sz="1400" b="1" i="1" dirty="0">
                <a:cs typeface="Courier New" panose="02070309020205020404" pitchFamily="49" charset="0"/>
              </a:rPr>
              <a:t>return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PATH_TO_INODE_NUMBER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(path,1)</a:t>
            </a:r>
            <a:endParaRPr kumimoji="1" lang="en-US" altLang="zh-CN" sz="1400" i="1" dirty="0">
              <a:cs typeface="Courier New" panose="02070309020205020404" pitchFamily="49" charset="0"/>
            </a:endParaRPr>
          </a:p>
          <a:p>
            <a:pPr>
              <a:spcAft>
                <a:spcPts val="500"/>
              </a:spcAft>
            </a:pPr>
            <a:r>
              <a:rPr kumimoji="1" lang="en-US" altLang="zh-CN" sz="1400" i="1" dirty="0">
                <a:cs typeface="Courier New" panose="02070309020205020404" pitchFamily="49" charset="0"/>
              </a:rPr>
              <a:t>   </a:t>
            </a:r>
            <a:r>
              <a:rPr kumimoji="1" lang="en-US" altLang="zh-CN" sz="1400" b="1" dirty="0">
                <a:cs typeface="Courier New" panose="02070309020205020404" pitchFamily="49" charset="0"/>
              </a:rPr>
              <a:t>else return 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PATH_TO_INODE_NUMBER(</a:t>
            </a:r>
            <a:r>
              <a:rPr kumimoji="1" lang="en-US" altLang="zh-CN" sz="1400" i="1" dirty="0">
                <a:cs typeface="Courier New" panose="02070309020205020404" pitchFamily="49" charset="0"/>
              </a:rPr>
              <a:t>path, wd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1" lang="en-US" altLang="zh-CN" sz="1400" dirty="0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CD952D1A-ECCA-2247-8DF4-C1FAEF05A6B8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9B9537D4-3386-0546-89BF-72B0A8799FB1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21" name="圆角矩形 4"/>
          <p:cNvSpPr>
            <a:spLocks noChangeArrowheads="1"/>
          </p:cNvSpPr>
          <p:nvPr/>
        </p:nvSpPr>
        <p:spPr bwMode="auto">
          <a:xfrm>
            <a:off x="457200" y="3492500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2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381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b="0" dirty="0">
                <a:ea typeface="等线" panose="02010600030101010101" charset="-122"/>
              </a:rPr>
              <a:t>'/' root directory: </a:t>
            </a:r>
            <a:r>
              <a:rPr lang="en-US" altLang="zh-CN" sz="2800" b="0" dirty="0" err="1">
                <a:ea typeface="等线" panose="02010600030101010101" charset="-122"/>
              </a:rPr>
              <a:t>inode</a:t>
            </a:r>
            <a:r>
              <a:rPr lang="en-US" altLang="zh-CN" sz="2800" b="0" dirty="0">
                <a:ea typeface="等线" panose="02010600030101010101" charset="-122"/>
              </a:rPr>
              <a:t> is 1</a:t>
            </a:r>
            <a:endParaRPr lang="zh-CN" altLang="en-US" sz="2800" b="0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42D1F0F0-4B09-2843-8E99-19132CBAFB08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35845" name="圆角矩形 4"/>
          <p:cNvSpPr>
            <a:spLocks noChangeArrowheads="1"/>
          </p:cNvSpPr>
          <p:nvPr/>
        </p:nvSpPr>
        <p:spPr bwMode="auto">
          <a:xfrm>
            <a:off x="457200" y="2413000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6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381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b="0" dirty="0">
                <a:ea typeface="等线" panose="02010600030101010101" charset="-122"/>
              </a:rPr>
              <a:t>Find the first directory in '/' by block number</a:t>
            </a:r>
            <a:endParaRPr lang="zh-CN" altLang="en-US" sz="2800" b="0" dirty="0">
              <a:ea typeface="等线" panose="02010600030101010101" charset="-122"/>
            </a:endParaRPr>
          </a:p>
        </p:txBody>
      </p:sp>
      <p:sp>
        <p:nvSpPr>
          <p:cNvPr id="35847" name="圆角矩形 8"/>
          <p:cNvSpPr>
            <a:spLocks noChangeArrowheads="1"/>
          </p:cNvSpPr>
          <p:nvPr/>
        </p:nvSpPr>
        <p:spPr bwMode="auto">
          <a:xfrm>
            <a:off x="5189538" y="2141803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D810989B-7333-B142-A839-84FE41F86764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686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36869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381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b="0" dirty="0">
                <a:ea typeface="等线" panose="02010600030101010101" charset="-122"/>
              </a:rPr>
              <a:t>Find '/programs' by comparing name</a:t>
            </a:r>
            <a:endParaRPr lang="zh-CN" altLang="en-US" sz="2800" b="0" dirty="0">
              <a:ea typeface="等线" panose="02010600030101010101" charset="-122"/>
            </a:endParaRPr>
          </a:p>
        </p:txBody>
      </p:sp>
      <p:sp>
        <p:nvSpPr>
          <p:cNvPr id="36870" name="圆角矩形 6"/>
          <p:cNvSpPr>
            <a:spLocks noChangeArrowheads="1"/>
          </p:cNvSpPr>
          <p:nvPr/>
        </p:nvSpPr>
        <p:spPr bwMode="auto">
          <a:xfrm>
            <a:off x="4724400" y="2509573"/>
            <a:ext cx="9144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1865BB70-5E88-8B42-9E21-A01140D9C5EC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37893" name="圆角矩形 4"/>
          <p:cNvSpPr>
            <a:spLocks noChangeArrowheads="1"/>
          </p:cNvSpPr>
          <p:nvPr/>
        </p:nvSpPr>
        <p:spPr bwMode="auto">
          <a:xfrm>
            <a:off x="5638800" y="2493698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894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381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b="0" dirty="0">
                <a:ea typeface="等线" panose="02010600030101010101" charset="-122"/>
              </a:rPr>
              <a:t>Find '/programs' </a:t>
            </a:r>
            <a:r>
              <a:rPr lang="en-US" altLang="zh-CN" sz="2800" b="0" dirty="0" err="1">
                <a:ea typeface="等线" panose="02010600030101010101" charset="-122"/>
              </a:rPr>
              <a:t>inode</a:t>
            </a:r>
            <a:r>
              <a:rPr lang="en-US" altLang="zh-CN" sz="2800" b="0" dirty="0">
                <a:ea typeface="等线" panose="02010600030101010101" charset="-122"/>
              </a:rPr>
              <a:t> by its </a:t>
            </a:r>
            <a:r>
              <a:rPr lang="en-US" altLang="zh-CN" sz="2800" b="0" dirty="0" err="1">
                <a:ea typeface="等线" panose="02010600030101010101" charset="-122"/>
              </a:rPr>
              <a:t>inode</a:t>
            </a:r>
            <a:r>
              <a:rPr lang="en-US" altLang="zh-CN" sz="2800" b="0" dirty="0">
                <a:ea typeface="等线" panose="02010600030101010101" charset="-122"/>
              </a:rPr>
              <a:t> number 7</a:t>
            </a:r>
            <a:endParaRPr lang="zh-CN" altLang="en-US" sz="2800" b="0" dirty="0">
              <a:ea typeface="等线" panose="02010600030101010101" charset="-122"/>
            </a:endParaRPr>
          </a:p>
        </p:txBody>
      </p:sp>
      <p:sp>
        <p:nvSpPr>
          <p:cNvPr id="37895" name="圆角矩形 8"/>
          <p:cNvSpPr>
            <a:spLocks noChangeArrowheads="1"/>
          </p:cNvSpPr>
          <p:nvPr/>
        </p:nvSpPr>
        <p:spPr bwMode="auto">
          <a:xfrm>
            <a:off x="2112963" y="3492500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1DDE52B2-C570-8C48-BE11-3BBC8206BC11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38917" name="圆角矩形 4"/>
          <p:cNvSpPr>
            <a:spLocks noChangeArrowheads="1"/>
          </p:cNvSpPr>
          <p:nvPr/>
        </p:nvSpPr>
        <p:spPr bwMode="auto">
          <a:xfrm>
            <a:off x="6400800" y="2139157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918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381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b="0" dirty="0">
                <a:ea typeface="等线" panose="02010600030101010101" charset="-122"/>
              </a:rPr>
              <a:t>Find the first file in '/programs/'</a:t>
            </a:r>
            <a:endParaRPr lang="zh-CN" altLang="en-US" sz="2800" b="0" dirty="0">
              <a:ea typeface="等线" panose="02010600030101010101" charset="-122"/>
            </a:endParaRPr>
          </a:p>
        </p:txBody>
      </p:sp>
      <p:sp>
        <p:nvSpPr>
          <p:cNvPr id="38919" name="圆角矩形 8"/>
          <p:cNvSpPr>
            <a:spLocks noChangeArrowheads="1"/>
          </p:cNvSpPr>
          <p:nvPr/>
        </p:nvSpPr>
        <p:spPr bwMode="auto">
          <a:xfrm>
            <a:off x="2112963" y="2413000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7CB8CBDD-E4DB-6548-A047-6A349EEA66F6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39941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381000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b="0" dirty="0">
                <a:ea typeface="等线" panose="02010600030101010101" charset="-122"/>
              </a:rPr>
              <a:t>Find '/programs/</a:t>
            </a:r>
            <a:r>
              <a:rPr lang="en-US" altLang="zh-CN" sz="2800" b="0" dirty="0" err="1">
                <a:ea typeface="等线" panose="02010600030101010101" charset="-122"/>
              </a:rPr>
              <a:t>pong.c</a:t>
            </a:r>
            <a:r>
              <a:rPr lang="en-US" altLang="zh-CN" sz="2800" b="0" dirty="0">
                <a:ea typeface="等线" panose="02010600030101010101" charset="-122"/>
              </a:rPr>
              <a:t>' by comparing its name</a:t>
            </a:r>
            <a:endParaRPr lang="zh-CN" altLang="en-US" sz="2800" b="0" dirty="0">
              <a:ea typeface="等线" panose="02010600030101010101" charset="-122"/>
            </a:endParaRPr>
          </a:p>
        </p:txBody>
      </p:sp>
      <p:sp>
        <p:nvSpPr>
          <p:cNvPr id="39942" name="圆角矩形 8"/>
          <p:cNvSpPr>
            <a:spLocks noChangeArrowheads="1"/>
          </p:cNvSpPr>
          <p:nvPr/>
        </p:nvSpPr>
        <p:spPr bwMode="auto">
          <a:xfrm>
            <a:off x="6075363" y="2509573"/>
            <a:ext cx="762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BDFD7301-B3AE-6249-9999-23E65DFB8733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40965" name="内容占位符 2"/>
          <p:cNvSpPr>
            <a:spLocks noGrp="1"/>
          </p:cNvSpPr>
          <p:nvPr>
            <p:ph idx="1"/>
          </p:nvPr>
        </p:nvSpPr>
        <p:spPr>
          <a:xfrm>
            <a:off x="457200" y="4635499"/>
            <a:ext cx="8305800" cy="641615"/>
          </a:xfrm>
        </p:spPr>
        <p:txBody>
          <a:bodyPr>
            <a:normAutofit/>
          </a:bodyPr>
          <a:lstStyle/>
          <a:p>
            <a:r>
              <a:rPr lang="en-US" altLang="zh-CN" b="0" dirty="0"/>
              <a:t>Find </a:t>
            </a:r>
            <a:r>
              <a:rPr lang="en-US" altLang="zh-CN" b="0" dirty="0" err="1"/>
              <a:t>inode</a:t>
            </a:r>
            <a:r>
              <a:rPr lang="en-US" altLang="zh-CN" b="0" dirty="0"/>
              <a:t> of '/programs/</a:t>
            </a:r>
            <a:r>
              <a:rPr lang="en-US" altLang="zh-CN" b="0" dirty="0" err="1"/>
              <a:t>pong.c</a:t>
            </a:r>
            <a:r>
              <a:rPr lang="en-US" altLang="zh-CN" b="0" dirty="0"/>
              <a:t>' by the </a:t>
            </a:r>
            <a:r>
              <a:rPr lang="en-US" altLang="zh-CN" b="0" dirty="0" err="1"/>
              <a:t>inode</a:t>
            </a:r>
            <a:r>
              <a:rPr lang="en-US" altLang="zh-CN" b="0" dirty="0"/>
              <a:t> number 9</a:t>
            </a:r>
            <a:endParaRPr lang="zh-CN" altLang="en-US" b="0" dirty="0"/>
          </a:p>
        </p:txBody>
      </p:sp>
      <p:sp>
        <p:nvSpPr>
          <p:cNvPr id="40966" name="圆角矩形 8"/>
          <p:cNvSpPr>
            <a:spLocks noChangeArrowheads="1"/>
          </p:cNvSpPr>
          <p:nvPr/>
        </p:nvSpPr>
        <p:spPr bwMode="auto">
          <a:xfrm>
            <a:off x="6837363" y="2509573"/>
            <a:ext cx="3810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67" name="圆角矩形 6"/>
          <p:cNvSpPr>
            <a:spLocks noChangeArrowheads="1"/>
          </p:cNvSpPr>
          <p:nvPr/>
        </p:nvSpPr>
        <p:spPr bwMode="auto">
          <a:xfrm>
            <a:off x="2698750" y="3492500"/>
            <a:ext cx="304800" cy="25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326B62FE-A102-AA44-8ED7-C6F8562B232D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41989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886296"/>
          </a:xfrm>
        </p:spPr>
        <p:txBody>
          <a:bodyPr>
            <a:normAutofit/>
          </a:bodyPr>
          <a:lstStyle/>
          <a:p>
            <a:r>
              <a:rPr lang="en-US" altLang="zh-CN" b="0" dirty="0"/>
              <a:t>Find block number of '/programs/</a:t>
            </a:r>
            <a:r>
              <a:rPr lang="en-US" altLang="zh-CN" b="0" dirty="0" err="1"/>
              <a:t>pong.c</a:t>
            </a:r>
            <a:r>
              <a:rPr lang="en-US" altLang="zh-CN" b="0" dirty="0"/>
              <a:t>'</a:t>
            </a:r>
            <a:endParaRPr lang="zh-CN" altLang="en-US" b="0" dirty="0"/>
          </a:p>
        </p:txBody>
      </p:sp>
      <p:sp>
        <p:nvSpPr>
          <p:cNvPr id="41990" name="圆角矩形 6"/>
          <p:cNvSpPr>
            <a:spLocks noChangeArrowheads="1"/>
          </p:cNvSpPr>
          <p:nvPr/>
        </p:nvSpPr>
        <p:spPr bwMode="auto">
          <a:xfrm>
            <a:off x="2698750" y="2399771"/>
            <a:ext cx="304800" cy="66542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An Example: Find Blocks of "/programs/</a:t>
            </a:r>
            <a:r>
              <a:rPr lang="en-US" altLang="zh-CN" dirty="0" err="1"/>
              <a:t>pong.c</a:t>
            </a:r>
            <a:r>
              <a:rPr lang="en-US" altLang="zh-CN" dirty="0"/>
              <a:t>"</a:t>
            </a:r>
            <a:endParaRPr lang="zh-CN" altLang="en-US" dirty="0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0A0D5308-A692-2742-AA13-308D44D3DC04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3958"/>
            <a:ext cx="8153400" cy="2767542"/>
          </a:xfrm>
          <a:prstGeom prst="rect">
            <a:avLst/>
          </a:prstGeom>
          <a:noFill/>
          <a:ln>
            <a:noFill/>
          </a:ln>
        </p:spPr>
      </p:pic>
      <p:sp>
        <p:nvSpPr>
          <p:cNvPr id="43013" name="内容占位符 2"/>
          <p:cNvSpPr>
            <a:spLocks noGrp="1"/>
          </p:cNvSpPr>
          <p:nvPr>
            <p:ph idx="1"/>
          </p:nvPr>
        </p:nvSpPr>
        <p:spPr>
          <a:xfrm>
            <a:off x="457200" y="4635500"/>
            <a:ext cx="8305800" cy="814288"/>
          </a:xfrm>
        </p:spPr>
        <p:txBody>
          <a:bodyPr>
            <a:normAutofit/>
          </a:bodyPr>
          <a:lstStyle/>
          <a:p>
            <a:r>
              <a:rPr lang="en-US" altLang="zh-CN" b="0" dirty="0"/>
              <a:t>Find data of block 61 by its block number</a:t>
            </a:r>
            <a:endParaRPr lang="en-US" altLang="zh-CN" b="0" dirty="0"/>
          </a:p>
          <a:p>
            <a:pPr lvl="1"/>
            <a:r>
              <a:rPr lang="en-US" altLang="zh-CN" dirty="0"/>
              <a:t>And data of block 44 &amp; 15</a:t>
            </a:r>
            <a:endParaRPr lang="zh-CN" altLang="en-US" dirty="0"/>
          </a:p>
        </p:txBody>
      </p:sp>
      <p:sp>
        <p:nvSpPr>
          <p:cNvPr id="43014" name="圆角矩形 6"/>
          <p:cNvSpPr>
            <a:spLocks noChangeArrowheads="1"/>
          </p:cNvSpPr>
          <p:nvPr/>
        </p:nvSpPr>
        <p:spPr bwMode="auto">
          <a:xfrm>
            <a:off x="2698750" y="2399772"/>
            <a:ext cx="304800" cy="267229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5" name="圆角矩形 8"/>
          <p:cNvSpPr>
            <a:spLocks noChangeArrowheads="1"/>
          </p:cNvSpPr>
          <p:nvPr/>
        </p:nvSpPr>
        <p:spPr bwMode="auto">
          <a:xfrm>
            <a:off x="7904163" y="2149742"/>
            <a:ext cx="304800" cy="267229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16" name="圆角矩形 9"/>
          <p:cNvSpPr>
            <a:spLocks noChangeArrowheads="1"/>
          </p:cNvSpPr>
          <p:nvPr/>
        </p:nvSpPr>
        <p:spPr bwMode="auto">
          <a:xfrm>
            <a:off x="7616828" y="2533386"/>
            <a:ext cx="917575" cy="768614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</a:ln>
        </p:spPr>
        <p:txBody>
          <a:bodyPr anchor="ctr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Directory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7200" y="1129308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ls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-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ai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temp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7536909 .  7530417 ..  7536939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  7536940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  7536941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c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  7536942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d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echo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“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obase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=16;7536909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7530417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7536939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7536940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7536941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7536942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" | 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bc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73010D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72E7B1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73012B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73012C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73012D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73012E</a:t>
            </a:r>
            <a:endParaRPr lang="zh-CN" altLang="en-US" sz="1400" b="1" dirty="0">
              <a:solidFill>
                <a:srgbClr val="FF26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sudo /sbin/debugfs /dev/sda1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 1.43.4 (31-Jan-2017)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debugfs:  dump temp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temp.out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debugfs:  quit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xxd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temp.out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0000000: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0102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b1e7 7200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..s...........r.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0000010: 0c00 0202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2e2e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2b01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 ........+.s.....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0000020: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6100 0000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2c01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6200 0000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a...,.s.....b...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0000030: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6300 0000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2e01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-.s.....c.....s.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0000040: c40f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6400 0000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0000 0000 0000 0000  ....d...........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0000050: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Directory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72000" y="1335591"/>
            <a:ext cx="38249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b1e7 7200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2e2e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2b01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6100 0000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2c01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6200 0000</a:t>
            </a:r>
            <a:r>
              <a:rPr lang="zh-CN" altLang="en-US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b="1" dirty="0">
              <a:solidFill>
                <a:srgbClr val="00B050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6300 0000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2e01 7300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c40f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6400 0000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2635" y="1273324"/>
            <a:ext cx="48245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latin typeface="Courier" charset="0"/>
                <a:ea typeface="Courier" charset="0"/>
                <a:cs typeface="Courier" charset="0"/>
              </a:rPr>
              <a:t>struct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ext4_dir_entry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{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uint32_t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inode_number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uint16_t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dir_entry_length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uint8_t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 err="1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file_name_length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uint8_t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 err="1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file_type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name[EXT4_NAME_LEN]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}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28298" y="3205927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8298" y="3937620"/>
            <a:ext cx="4752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0d01</a:t>
            </a:r>
            <a:r>
              <a:rPr kumimoji="1" lang="zh-CN" altLang="en-US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7300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number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entry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length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12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bytes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kumimoji="1" lang="en-US" altLang="zh-CN" sz="1400" b="1" dirty="0">
                <a:solidFill>
                  <a:srgbClr val="FFC000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length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1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byte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kumimoji="1" lang="en-US" altLang="zh-CN" sz="1400" b="1" dirty="0">
                <a:solidFill>
                  <a:schemeClr val="accent4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type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regular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</a:t>
            </a:r>
            <a:r>
              <a:rPr kumimoji="1" lang="zh-CN" altLang="en-US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0000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(2e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-&gt;</a:t>
            </a:r>
            <a:r>
              <a:rPr kumimoji="1" lang="zh-CN" alt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latin typeface="Courier" charset="0"/>
                <a:ea typeface="Courier" charset="0"/>
                <a:cs typeface="Courier" charset="0"/>
              </a:rPr>
              <a:t>".")</a:t>
            </a:r>
            <a:endParaRPr kumimoji="1" lang="zh-CN" altLang="en-US" sz="14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2635" y="3145532"/>
            <a:ext cx="3672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Type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0x0: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Unknown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0x1: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Regular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0x2: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Directory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0x3: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Character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device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0x4: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Block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device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0x5: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FIFO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0x6: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Socket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0x7: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Symbolic</a:t>
            </a:r>
            <a:r>
              <a:rPr kumimoji="1" lang="zh-CN" altLang="en-US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link</a:t>
            </a:r>
            <a:endParaRPr kumimoji="1" lang="zh-CN" altLang="en-US" sz="1400" b="1" dirty="0">
              <a:solidFill>
                <a:srgbClr val="7030A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6228184" y="3577580"/>
            <a:ext cx="576064" cy="288032"/>
          </a:xfrm>
          <a:prstGeom prst="down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1358520"/>
            <a:ext cx="3240360" cy="21602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61135" y="3251091"/>
            <a:ext cx="3240360" cy="21602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GB" altLang="zh-CN" dirty="0"/>
              <a:t>L7: Symbolic </a:t>
            </a:r>
            <a:br>
              <a:rPr kumimoji="1" lang="en-GB" altLang="zh-CN" dirty="0"/>
            </a:br>
            <a:r>
              <a:rPr kumimoji="1" lang="en-GB" altLang="zh-CN" dirty="0"/>
              <a:t>Link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b="0" dirty="0"/>
              <a:t>Name files </a:t>
            </a:r>
            <a:r>
              <a:rPr kumimoji="1" lang="en-GB" altLang="zh-CN" dirty="0">
                <a:solidFill>
                  <a:srgbClr val="BE384B"/>
                </a:solidFill>
              </a:rPr>
              <a:t>on other disks</a:t>
            </a:r>
            <a:endParaRPr kumimoji="1" lang="en-GB" altLang="zh-CN" dirty="0">
              <a:solidFill>
                <a:srgbClr val="BE384B"/>
              </a:solidFill>
            </a:endParaRPr>
          </a:p>
          <a:p>
            <a:pPr lvl="1"/>
            <a:r>
              <a:rPr kumimoji="1" lang="en-GB" altLang="zh-CN" dirty="0" err="1"/>
              <a:t>Inode</a:t>
            </a:r>
            <a:r>
              <a:rPr kumimoji="1" lang="en-GB" altLang="zh-CN" dirty="0"/>
              <a:t> is different on other disks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Supports to attach new disks to the name space</a:t>
            </a:r>
            <a:endParaRPr kumimoji="1" lang="en-GB" altLang="zh-CN" dirty="0"/>
          </a:p>
          <a:p>
            <a:r>
              <a:rPr kumimoji="1" lang="en-GB" altLang="zh-CN" dirty="0"/>
              <a:t>Two options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Make </a:t>
            </a:r>
            <a:r>
              <a:rPr kumimoji="1" lang="en-GB" altLang="zh-CN" dirty="0" err="1"/>
              <a:t>inodes</a:t>
            </a:r>
            <a:r>
              <a:rPr kumimoji="1" lang="en-GB" altLang="zh-CN" dirty="0"/>
              <a:t> unique across all disks (not good)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Create synonyms for the files on the other disks</a:t>
            </a:r>
            <a:endParaRPr kumimoji="1" lang="en-GB" altLang="zh-CN" dirty="0"/>
          </a:p>
          <a:p>
            <a:r>
              <a:rPr lang="en-US" altLang="zh-CN" dirty="0">
                <a:ea typeface="等线" panose="02010600030101010101" charset="-122"/>
              </a:rPr>
              <a:t>Introducing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layer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7: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solidFill>
                  <a:srgbClr val="BE384B"/>
                </a:solidFill>
                <a:ea typeface="等线" panose="02010600030101010101" charset="-122"/>
              </a:rPr>
              <a:t>soft link (symbolic link)</a:t>
            </a:r>
            <a:endParaRPr lang="en-US" altLang="zh-CN" dirty="0">
              <a:solidFill>
                <a:srgbClr val="BE384B"/>
              </a:solidFill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SYMLINK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Add another type of </a:t>
            </a:r>
            <a:r>
              <a:rPr lang="en-US" altLang="zh-CN" dirty="0" err="1">
                <a:ea typeface="等线" panose="02010600030101010101" charset="-122"/>
              </a:rPr>
              <a:t>inode</a:t>
            </a:r>
            <a:endParaRPr lang="en-US" altLang="zh-CN" dirty="0">
              <a:ea typeface="等线" panose="02010600030101010101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3525747" y="14355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Symbolic link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74676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Block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6553200" y="381001"/>
            <a:ext cx="922338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(</a:t>
            </a:r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)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5791200" y="381001"/>
            <a:ext cx="7620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 err="1">
                <a:latin typeface="Arial" panose="020B0604020202020204" pitchFamily="34" charset="0"/>
                <a:ea typeface="等线" panose="02010600030101010101" charset="-122"/>
              </a:rPr>
              <a:t>Inode</a:t>
            </a:r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 num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021266" y="381001"/>
            <a:ext cx="77487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File</a:t>
            </a:r>
            <a:endParaRPr lang="en-US" altLang="zh-CN" sz="1600" b="0" dirty="0">
              <a:latin typeface="Arial" panose="020B0604020202020204" pitchFamily="34" charset="0"/>
              <a:ea typeface="等线" panose="02010600030101010101" charset="-122"/>
            </a:endParaRPr>
          </a:p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3525747" y="322596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Absolute path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3525747" y="629636"/>
            <a:ext cx="1498848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0" dirty="0">
                <a:latin typeface="Arial" panose="020B0604020202020204" pitchFamily="34" charset="0"/>
                <a:ea typeface="等线" panose="02010600030101010101" charset="-122"/>
              </a:rPr>
              <a:t>Path name</a:t>
            </a:r>
            <a:endParaRPr lang="zh-CN" altLang="en-US" sz="1600" b="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8229600" y="381002"/>
            <a:ext cx="685800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b="0"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Comic Sans MS" panose="030F070203030202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Disk</a:t>
            </a:r>
            <a:endParaRPr lang="en-US" altLang="zh-CN" sz="1600" dirty="0">
              <a:latin typeface="Arial" panose="020B0604020202020204" pitchFamily="34" charset="0"/>
              <a:ea typeface="等线" panose="02010600030101010101" charset="-122"/>
            </a:endParaRPr>
          </a:p>
          <a:p>
            <a:r>
              <a:rPr lang="en-US" altLang="zh-CN" sz="1600" dirty="0">
                <a:latin typeface="Arial" panose="020B0604020202020204" pitchFamily="34" charset="0"/>
                <a:ea typeface="等线" panose="02010600030101010101" charset="-122"/>
              </a:rPr>
              <a:t>Block</a:t>
            </a:r>
            <a:endParaRPr lang="zh-CN" altLang="en-US" sz="1600" dirty="0">
              <a:latin typeface="Arial" panose="020B0604020202020204" pitchFamily="3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7412" y="1273324"/>
            <a:ext cx="8229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ln -s "/</a:t>
            </a:r>
            <a:r>
              <a:rPr lang="en-US" altLang="zh-CN" sz="16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tmp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altLang="zh-CN" sz="16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abc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" s-link</a:t>
            </a:r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6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ls</a:t>
            </a:r>
            <a:r>
              <a:rPr lang="zh-CN" altLang="en-US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–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l</a:t>
            </a:r>
            <a:r>
              <a:rPr lang="zh-CN" altLang="en-US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s-link</a:t>
            </a:r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7536945 </a:t>
            </a:r>
            <a:r>
              <a:rPr lang="en-US" altLang="zh-CN" sz="1600" dirty="0" err="1">
                <a:latin typeface="Courier" charset="0"/>
                <a:ea typeface="Courier" charset="0"/>
                <a:cs typeface="Courier" charset="0"/>
              </a:rPr>
              <a:t>lrwxrwxrwx</a:t>
            </a:r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 1 </a:t>
            </a:r>
            <a:r>
              <a:rPr lang="en-US" altLang="zh-CN" sz="1600" dirty="0" err="1">
                <a:latin typeface="Courier" charset="0"/>
                <a:ea typeface="Courier" charset="0"/>
                <a:cs typeface="Courier" charset="0"/>
              </a:rPr>
              <a:t>xiayubin</a:t>
            </a:r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8</a:t>
            </a:r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 Sep 20 08:01 s-link -&gt; /</a:t>
            </a:r>
            <a:r>
              <a:rPr lang="en-US" altLang="zh-CN" sz="1600" dirty="0" err="1">
                <a:latin typeface="Courier" charset="0"/>
                <a:ea typeface="Courier" charset="0"/>
                <a:cs typeface="Courier" charset="0"/>
              </a:rPr>
              <a:t>tmp</a:t>
            </a:r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altLang="zh-CN" sz="1600" dirty="0" err="1">
                <a:latin typeface="Courier" charset="0"/>
                <a:ea typeface="Courier" charset="0"/>
                <a:cs typeface="Courier" charset="0"/>
              </a:rPr>
              <a:t>abc</a:t>
            </a:r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6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readlink</a:t>
            </a:r>
            <a:r>
              <a:rPr lang="zh-CN" altLang="en-US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s-link</a:t>
            </a:r>
            <a:endParaRPr lang="zh-CN" altLang="en-US" sz="16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altLang="zh-CN" sz="1600" dirty="0" err="1">
                <a:latin typeface="Courier" charset="0"/>
                <a:ea typeface="Courier" charset="0"/>
                <a:cs typeface="Courier" charset="0"/>
              </a:rPr>
              <a:t>tmp</a:t>
            </a:r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altLang="zh-CN" sz="1600" dirty="0" err="1">
                <a:latin typeface="Courier" charset="0"/>
                <a:ea typeface="Courier" charset="0"/>
                <a:cs typeface="Courier" charset="0"/>
              </a:rPr>
              <a:t>abc</a:t>
            </a:r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cat</a:t>
            </a:r>
            <a:r>
              <a:rPr lang="zh-CN" altLang="en-US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s-link</a:t>
            </a:r>
            <a:endParaRPr lang="zh-CN" altLang="en-US" sz="16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latin typeface="Courier" charset="0"/>
                <a:ea typeface="Courier" charset="0"/>
                <a:cs typeface="Courier" charset="0"/>
              </a:rPr>
              <a:t>cat: slink: No such file or directory</a:t>
            </a:r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6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echo "hello, world" &gt; /</a:t>
            </a:r>
            <a:r>
              <a:rPr lang="en-US" altLang="zh-CN" sz="16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tmp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/</a:t>
            </a:r>
            <a:r>
              <a:rPr lang="en-US" altLang="zh-CN" sz="16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abc</a:t>
            </a:r>
            <a:endParaRPr lang="zh-CN" altLang="en-US" sz="16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6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6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cat</a:t>
            </a:r>
            <a:r>
              <a:rPr lang="zh-CN" altLang="en-US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s-link</a:t>
            </a:r>
            <a:endParaRPr lang="zh-CN" altLang="en-US" sz="16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600" dirty="0" err="1">
                <a:latin typeface="Courier" charset="0"/>
                <a:ea typeface="Courier" charset="0"/>
                <a:cs typeface="Courier" charset="0"/>
              </a:rPr>
              <a:t>hello</a:t>
            </a:r>
            <a:r>
              <a:rPr lang="fi-FI" altLang="zh-CN" sz="160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fi-FI" altLang="zh-CN" sz="1600" dirty="0" err="1">
                <a:latin typeface="Courier" charset="0"/>
                <a:ea typeface="Courier" charset="0"/>
                <a:cs typeface="Courier" charset="0"/>
              </a:rPr>
              <a:t>world</a:t>
            </a:r>
            <a:endParaRPr lang="fi-FI" altLang="zh-CN" sz="16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27984" y="2741060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BE384B"/>
                </a:solidFill>
                <a:latin typeface="等线" panose="02010600030101010101" charset="-122"/>
                <a:ea typeface="等线" panose="02010600030101010101" charset="-122"/>
              </a:rPr>
              <a:t>What</a:t>
            </a:r>
            <a:r>
              <a:rPr lang="zh-CN" altLang="en-US" sz="2000" dirty="0">
                <a:solidFill>
                  <a:srgbClr val="BE384B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2000" dirty="0">
                <a:solidFill>
                  <a:srgbClr val="BE384B"/>
                </a:solidFill>
                <a:latin typeface="等线" panose="02010600030101010101" charset="-122"/>
                <a:ea typeface="等线" panose="02010600030101010101" charset="-122"/>
              </a:rPr>
              <a:t>does "8" means? </a:t>
            </a:r>
            <a:endParaRPr lang="zh-CN" altLang="en-US" sz="2000" dirty="0">
              <a:solidFill>
                <a:srgbClr val="BE384B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cxnSp>
        <p:nvCxnSpPr>
          <p:cNvPr id="7" name="直接连接符 5"/>
          <p:cNvCxnSpPr/>
          <p:nvPr/>
        </p:nvCxnSpPr>
        <p:spPr>
          <a:xfrm>
            <a:off x="4319972" y="2353444"/>
            <a:ext cx="216024" cy="3600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963400" y="2741060"/>
            <a:ext cx="10871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BE384B"/>
                </a:solidFill>
                <a:latin typeface="等线" panose="02010600030101010101" charset="-122"/>
                <a:ea typeface="等线" panose="02010600030101010101" charset="-122"/>
              </a:rPr>
              <a:t>File size</a:t>
            </a:r>
            <a:endParaRPr lang="zh-CN" altLang="en-US" sz="2000" b="1" dirty="0">
              <a:solidFill>
                <a:srgbClr val="BE384B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 Types of Links (Synonyms)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1633364"/>
            <a:ext cx="6045200" cy="2921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7944" y="45136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By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file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name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9592" y="228143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By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1"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inode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number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51920" y="265076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By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1"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inode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number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Sidebar: Notice the Context Change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67654"/>
          </a:xfrm>
        </p:spPr>
        <p:txBody>
          <a:bodyPr>
            <a:normAutofit/>
          </a:bodyPr>
          <a:lstStyle/>
          <a:p>
            <a:r>
              <a:rPr kumimoji="1" lang="en-GB" altLang="zh-CN" b="0" dirty="0"/>
              <a:t>Another </a:t>
            </a:r>
            <a:r>
              <a:rPr kumimoji="1" lang="en-GB" altLang="zh-CN" dirty="0">
                <a:solidFill>
                  <a:srgbClr val="BE384B"/>
                </a:solidFill>
              </a:rPr>
              <a:t>interesting behavior </a:t>
            </a:r>
            <a:r>
              <a:rPr kumimoji="1" lang="en-GB" altLang="zh-CN" b="0" dirty="0"/>
              <a:t>of soft link</a:t>
            </a:r>
            <a:endParaRPr kumimoji="1" lang="en-GB" altLang="zh-CN" b="0" dirty="0"/>
          </a:p>
          <a:p>
            <a:pPr lvl="1"/>
            <a:r>
              <a:rPr kumimoji="1" lang="en-GB" altLang="zh-CN" dirty="0"/>
              <a:t>There is a directory: "/Scholarly/programs/www"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The root directory contains a soft link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"/CSE-web" -&gt; "/Scholarly/programs/www"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Run following commands</a:t>
            </a:r>
            <a:endParaRPr kumimoji="1" lang="en-GB" altLang="zh-CN" dirty="0"/>
          </a:p>
          <a:p>
            <a:pPr lvl="2"/>
            <a:r>
              <a:rPr kumimoji="1"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cd CSE-web</a:t>
            </a:r>
            <a:endParaRPr kumimoji="1" lang="en-GB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kumimoji="1"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cd ..</a:t>
            </a:r>
            <a:endParaRPr kumimoji="1" lang="en-GB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kumimoji="1" lang="en-GB" altLang="zh-CN" dirty="0"/>
              <a:t>What is the current directory? Why?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".." is resolved in a new default context: by bash, not file system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Sidebar: Notice the Context Change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b="0" dirty="0"/>
              <a:t>The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bash tries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to be </a:t>
            </a:r>
            <a:r>
              <a:rPr kumimoji="1" lang="en-US" altLang="zh-CN" sz="2000" dirty="0">
                <a:solidFill>
                  <a:srgbClr val="BE384B"/>
                </a:solidFill>
              </a:rPr>
              <a:t>"human-friendly"</a:t>
            </a:r>
            <a:endParaRPr kumimoji="1" lang="en-US" altLang="zh-CN" sz="2000" dirty="0">
              <a:solidFill>
                <a:srgbClr val="BE384B"/>
              </a:solidFill>
            </a:endParaRPr>
          </a:p>
          <a:p>
            <a:pPr lvl="1"/>
            <a:r>
              <a:rPr kumimoji="1" lang="en-US" altLang="zh-CN" dirty="0"/>
              <a:t>When you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cd /into/a/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zh-CN" dirty="0"/>
              <a:t>, the shell remembers the old location (in </a:t>
            </a:r>
            <a:r>
              <a:rPr kumimoji="1" lang="en-US" altLang="zh-CN" b="1" dirty="0"/>
              <a:t>$OLDPWD</a:t>
            </a:r>
            <a:r>
              <a:rPr kumimoji="1" lang="en-US" altLang="zh-CN" dirty="0"/>
              <a:t>) and will use that directory when you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cd .. </a:t>
            </a:r>
            <a:r>
              <a:rPr kumimoji="1" lang="en-US" altLang="zh-CN" dirty="0"/>
              <a:t>under the assumption that you want to return to the directory you were just in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GB" altLang="zh-CN" b="0" dirty="0"/>
              <a:t>If you want to use the real .., then you must also use </a:t>
            </a:r>
            <a:r>
              <a:rPr kumimoji="1" lang="en-GB" altLang="zh-CN" dirty="0">
                <a:solidFill>
                  <a:srgbClr val="BE384B"/>
                </a:solidFill>
              </a:rPr>
              <a:t>"cd -P .."</a:t>
            </a:r>
            <a:br>
              <a:rPr kumimoji="1" lang="en-GB" altLang="zh-CN" b="0" dirty="0"/>
            </a:br>
            <a:r>
              <a:rPr kumimoji="1" lang="en-GB" altLang="zh-CN" b="0" i="1" dirty="0"/>
              <a:t>        The -P option says to use the physical directory</a:t>
            </a:r>
            <a:br>
              <a:rPr kumimoji="1" lang="en-GB" altLang="zh-CN" b="0" i="1" dirty="0"/>
            </a:br>
            <a:r>
              <a:rPr kumimoji="1" lang="en-GB" altLang="zh-CN" b="0" i="1" dirty="0"/>
              <a:t>        structure instead of following symbolic links (see</a:t>
            </a:r>
            <a:br>
              <a:rPr kumimoji="1" lang="en-GB" altLang="zh-CN" b="0" i="1" dirty="0"/>
            </a:br>
            <a:r>
              <a:rPr kumimoji="1" lang="en-GB" altLang="zh-CN" b="0" i="1" dirty="0"/>
              <a:t>        also the -P option to the set built</a:t>
            </a:r>
            <a:r>
              <a:rPr kumimoji="1" lang="en-US" altLang="zh-CN" b="0" i="1" dirty="0"/>
              <a:t>-</a:t>
            </a:r>
            <a:r>
              <a:rPr kumimoji="1" lang="en-GB" altLang="zh-CN" b="0" i="1" dirty="0"/>
              <a:t>in command);</a:t>
            </a:r>
            <a:br>
              <a:rPr kumimoji="1" lang="en-GB" altLang="zh-CN" b="0" i="1" dirty="0"/>
            </a:br>
            <a:r>
              <a:rPr kumimoji="1" lang="en-GB" altLang="zh-CN" b="0" i="1" dirty="0"/>
              <a:t>        the -L option forces symbolic links to be followed.</a:t>
            </a:r>
            <a:endParaRPr kumimoji="1" lang="en-GB" altLang="zh-CN" b="0" i="1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553200" y="3542636"/>
            <a:ext cx="2376264" cy="17543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$ cd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$ cd a/b/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$ cd -P ..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-P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sarnold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 of File System's</a:t>
            </a:r>
            <a:r>
              <a:rPr kumimoji="1" lang="zh-CN" altLang="en-US" dirty="0"/>
              <a:t> </a:t>
            </a:r>
            <a:r>
              <a:rPr kumimoji="1" lang="en-US" altLang="zh-CN" dirty="0"/>
              <a:t>7</a:t>
            </a:r>
            <a:r>
              <a:rPr kumimoji="1" lang="zh-CN" altLang="en-US" dirty="0"/>
              <a:t> </a:t>
            </a:r>
            <a:r>
              <a:rPr kumimoji="1" lang="en-US" altLang="zh-CN" dirty="0"/>
              <a:t>Layers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5332"/>
            <a:ext cx="8229600" cy="3951630"/>
          </a:xfrm>
        </p:spPr>
        <p:txBody>
          <a:bodyPr>
            <a:normAutofit/>
          </a:bodyPr>
          <a:lstStyle/>
          <a:p>
            <a:r>
              <a:rPr kumimoji="1" lang="en-GB" altLang="zh-CN" dirty="0">
                <a:solidFill>
                  <a:schemeClr val="accent1"/>
                </a:solidFill>
              </a:rPr>
              <a:t>File name is </a:t>
            </a:r>
            <a:r>
              <a:rPr kumimoji="1" lang="en-GB" altLang="zh-CN" dirty="0">
                <a:solidFill>
                  <a:schemeClr val="accent1"/>
                </a:solidFill>
                <a:highlight>
                  <a:srgbClr val="FFFF00"/>
                </a:highlight>
              </a:rPr>
              <a:t>not</a:t>
            </a:r>
            <a:r>
              <a:rPr kumimoji="1" lang="en-GB" altLang="zh-CN" dirty="0">
                <a:solidFill>
                  <a:schemeClr val="accent1"/>
                </a:solidFill>
              </a:rPr>
              <a:t> part of a file</a:t>
            </a:r>
            <a:endParaRPr kumimoji="1" lang="en-GB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GB" altLang="zh-CN" dirty="0"/>
              <a:t>Name is </a:t>
            </a:r>
            <a:r>
              <a:rPr kumimoji="1" lang="en-GB" altLang="zh-CN" b="1" dirty="0">
                <a:solidFill>
                  <a:srgbClr val="BE384B"/>
                </a:solidFill>
              </a:rPr>
              <a:t>not</a:t>
            </a:r>
            <a:r>
              <a:rPr kumimoji="1" lang="en-GB" altLang="zh-CN" dirty="0"/>
              <a:t> a part of an </a:t>
            </a:r>
            <a:r>
              <a:rPr kumimoji="1" lang="en-GB" altLang="zh-CN" dirty="0" err="1"/>
              <a:t>inode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Name is </a:t>
            </a:r>
            <a:r>
              <a:rPr kumimoji="1" lang="en-GB" altLang="zh-CN" u="sng" dirty="0"/>
              <a:t>data of a directory</a:t>
            </a:r>
            <a:r>
              <a:rPr kumimoji="1" lang="en-GB" altLang="zh-CN" dirty="0"/>
              <a:t>, and </a:t>
            </a:r>
            <a:r>
              <a:rPr kumimoji="1" lang="en-GB" altLang="zh-CN" u="sng" dirty="0"/>
              <a:t>metadata of a file system</a:t>
            </a:r>
            <a:endParaRPr kumimoji="1" lang="en-GB" altLang="zh-CN" u="sng" dirty="0"/>
          </a:p>
          <a:p>
            <a:pPr lvl="1"/>
            <a:r>
              <a:rPr kumimoji="1" lang="en-US" altLang="zh-CN" dirty="0"/>
              <a:t>One</a:t>
            </a:r>
            <a:r>
              <a:rPr kumimoji="1" lang="en-GB" altLang="zh-CN" dirty="0"/>
              <a:t> </a:t>
            </a:r>
            <a:r>
              <a:rPr kumimoji="1" lang="en-GB" altLang="zh-CN" dirty="0" err="1"/>
              <a:t>inode</a:t>
            </a:r>
            <a:r>
              <a:rPr kumimoji="1" lang="en-GB" altLang="zh-CN" dirty="0"/>
              <a:t> can have several names (hard links)</a:t>
            </a:r>
            <a:endParaRPr kumimoji="1" lang="en-GB" altLang="zh-CN" dirty="0"/>
          </a:p>
          <a:p>
            <a:r>
              <a:rPr kumimoji="1" lang="en-GB" altLang="zh-CN" dirty="0">
                <a:solidFill>
                  <a:srgbClr val="BE384B"/>
                </a:solidFill>
              </a:rPr>
              <a:t>Hard links are equal</a:t>
            </a:r>
            <a:endParaRPr kumimoji="1" lang="en-GB" altLang="zh-CN" dirty="0">
              <a:solidFill>
                <a:srgbClr val="BE384B"/>
              </a:solidFill>
            </a:endParaRPr>
          </a:p>
          <a:p>
            <a:pPr lvl="1"/>
            <a:r>
              <a:rPr kumimoji="1" lang="en-GB" altLang="zh-CN" dirty="0"/>
              <a:t>If a file has two names, both are links (instead of "a link and a name")</a:t>
            </a:r>
            <a:endParaRPr kumimoji="1" lang="en-GB" altLang="zh-CN" dirty="0"/>
          </a:p>
          <a:p>
            <a:r>
              <a:rPr kumimoji="1" lang="en-GB" altLang="zh-CN" dirty="0">
                <a:solidFill>
                  <a:schemeClr val="accent1"/>
                </a:solidFill>
              </a:rPr>
              <a:t>Directory size is small</a:t>
            </a:r>
            <a:endParaRPr kumimoji="1" lang="en-GB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GB" altLang="zh-CN" dirty="0"/>
              <a:t>Only mapping from name to </a:t>
            </a:r>
            <a:r>
              <a:rPr kumimoji="1" lang="en-GB" altLang="zh-CN" dirty="0" err="1"/>
              <a:t>inode</a:t>
            </a:r>
            <a:r>
              <a:rPr kumimoji="1" lang="en-GB" altLang="zh-CN" dirty="0"/>
              <a:t> number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The term "folder" is somewhat misleading</a:t>
            </a:r>
            <a:endParaRPr kumimoji="1" lang="en-GB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mJmY2RjMjcxZTk1ZjYxOWQ5MzU5ZGFjNDFjM2I5Yjk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chemeClr val="tx1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13561</Words>
  <Application>WPS 演示</Application>
  <PresentationFormat>全屏显示(16:10)</PresentationFormat>
  <Paragraphs>1135</Paragraphs>
  <Slides>47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6" baseType="lpstr">
      <vt:lpstr>Arial</vt:lpstr>
      <vt:lpstr>宋体</vt:lpstr>
      <vt:lpstr>Wingdings</vt:lpstr>
      <vt:lpstr>等线</vt:lpstr>
      <vt:lpstr>微软雅黑 Light</vt:lpstr>
      <vt:lpstr>PingFang SC</vt:lpstr>
      <vt:lpstr>微软雅黑</vt:lpstr>
      <vt:lpstr>Calibri</vt:lpstr>
      <vt:lpstr>Arial</vt:lpstr>
      <vt:lpstr>Courier New</vt:lpstr>
      <vt:lpstr>Comic Sans MS</vt:lpstr>
      <vt:lpstr>Adobe 楷体 Std R</vt:lpstr>
      <vt:lpstr>Arial Unicode MS</vt:lpstr>
      <vt:lpstr>MS PGothic</vt:lpstr>
      <vt:lpstr>Times New Roman</vt:lpstr>
      <vt:lpstr>Calibri</vt:lpstr>
      <vt:lpstr>Courier</vt:lpstr>
      <vt:lpstr>Consolas</vt:lpstr>
      <vt:lpstr>1_Office 主题​​</vt:lpstr>
      <vt:lpstr>inode-based File System</vt:lpstr>
      <vt:lpstr>Large-scale websites are built from distributed systems </vt:lpstr>
      <vt:lpstr>Large-scale websites are built from distributed systems </vt:lpstr>
      <vt:lpstr>iNode-based File System</vt:lpstr>
      <vt:lpstr>What is a file? </vt:lpstr>
      <vt:lpstr>The Big Picture</vt:lpstr>
      <vt:lpstr>Abstraction: API of UNIX File System</vt:lpstr>
      <vt:lpstr>A Naive File System</vt:lpstr>
      <vt:lpstr>inode: 7 software layers</vt:lpstr>
      <vt:lpstr>The Naming Layers of the UNIX FS (version 6)</vt:lpstr>
      <vt:lpstr>L1: Block Layer</vt:lpstr>
      <vt:lpstr>Super Block</vt:lpstr>
      <vt:lpstr>L1: Block Layer</vt:lpstr>
      <vt:lpstr>L1: Block Layer</vt:lpstr>
      <vt:lpstr>L2: File Layer</vt:lpstr>
      <vt:lpstr>inode for Larger Files</vt:lpstr>
      <vt:lpstr>L2: File Layer</vt:lpstr>
      <vt:lpstr>L3: inode Number Layer</vt:lpstr>
      <vt:lpstr>Put Layers so far Together</vt:lpstr>
      <vt:lpstr>L4: File Name Layer</vt:lpstr>
      <vt:lpstr>LOOKUP in a Directory</vt:lpstr>
      <vt:lpstr>L5: Path Name Layer</vt:lpstr>
      <vt:lpstr>Links</vt:lpstr>
      <vt:lpstr>Links</vt:lpstr>
      <vt:lpstr>No Cycle for LINK</vt:lpstr>
      <vt:lpstr>Renaming - 1</vt:lpstr>
      <vt:lpstr>Renaming - 2</vt:lpstr>
      <vt:lpstr>L6: Absolute Path  Name Layer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An Example: Find Blocks of "/programs/pong.c"</vt:lpstr>
      <vt:lpstr>Directly Dump a Directory</vt:lpstr>
      <vt:lpstr>Directly Dump a Directory</vt:lpstr>
      <vt:lpstr>L7: Symbolic  Link Layer</vt:lpstr>
      <vt:lpstr>Directly Dump a Symbolic Link</vt:lpstr>
      <vt:lpstr>Two Types of Links (Synonyms)</vt:lpstr>
      <vt:lpstr>PowerPoint 演示文稿</vt:lpstr>
      <vt:lpstr>Sidebar: Notice the Context Change</vt:lpstr>
      <vt:lpstr>Sidebar: Notice the Context Change</vt:lpstr>
      <vt:lpstr>Summary of File System's 7 Layers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1571</cp:revision>
  <cp:lastPrinted>2020-03-02T13:38:00Z</cp:lastPrinted>
  <dcterms:created xsi:type="dcterms:W3CDTF">2017-11-24T09:35:00Z</dcterms:created>
  <dcterms:modified xsi:type="dcterms:W3CDTF">2024-11-12T17:45:48Z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CB923CC97FA94AC5B34688D96D6BD7BB_12</vt:lpwstr>
  </property>
  <property fmtid="{D5CDD505-2E9C-101B-9397-08002B2CF9AE}" pid="3" name="KSOProductBuildVer">
    <vt:lpwstr>2052-12.1.0.18608</vt:lpwstr>
  </property>
</Properties>
</file>