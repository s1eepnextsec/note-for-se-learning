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241" r:id="rId3"/>
    <p:sldId id="4604" r:id="rId5"/>
    <p:sldId id="4650" r:id="rId6"/>
    <p:sldId id="4617" r:id="rId7"/>
    <p:sldId id="4618" r:id="rId8"/>
    <p:sldId id="4672" r:id="rId9"/>
    <p:sldId id="4673" r:id="rId10"/>
    <p:sldId id="4675" r:id="rId11"/>
    <p:sldId id="4676" r:id="rId12"/>
    <p:sldId id="4620" r:id="rId13"/>
    <p:sldId id="4632" r:id="rId14"/>
    <p:sldId id="4611" r:id="rId15"/>
    <p:sldId id="4610" r:id="rId16"/>
    <p:sldId id="2115" r:id="rId17"/>
    <p:sldId id="3023" r:id="rId18"/>
    <p:sldId id="4621" r:id="rId19"/>
    <p:sldId id="4629" r:id="rId20"/>
    <p:sldId id="4630" r:id="rId21"/>
    <p:sldId id="4631" r:id="rId22"/>
    <p:sldId id="4635" r:id="rId23"/>
    <p:sldId id="4636" r:id="rId24"/>
    <p:sldId id="4638" r:id="rId25"/>
    <p:sldId id="4640" r:id="rId26"/>
    <p:sldId id="4645" r:id="rId27"/>
    <p:sldId id="4646" r:id="rId28"/>
    <p:sldId id="4652" r:id="rId29"/>
    <p:sldId id="4648" r:id="rId30"/>
    <p:sldId id="4644" r:id="rId31"/>
    <p:sldId id="4654" r:id="rId32"/>
    <p:sldId id="4656" r:id="rId33"/>
    <p:sldId id="4655" r:id="rId34"/>
    <p:sldId id="4649" r:id="rId35"/>
    <p:sldId id="4660" r:id="rId36"/>
    <p:sldId id="4642" r:id="rId37"/>
    <p:sldId id="4624" r:id="rId38"/>
    <p:sldId id="4625" r:id="rId39"/>
    <p:sldId id="4627" r:id="rId40"/>
    <p:sldId id="4623" r:id="rId41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927" userDrawn="1">
          <p15:clr>
            <a:srgbClr val="A4A3A4"/>
          </p15:clr>
        </p15:guide>
        <p15:guide id="4" orient="horz" pos="18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9D6"/>
    <a:srgbClr val="0432FF"/>
    <a:srgbClr val="00FDFF"/>
    <a:srgbClr val="B0FFD3"/>
    <a:srgbClr val="BE384B"/>
    <a:srgbClr val="E2EAF7"/>
    <a:srgbClr val="FF5F00"/>
    <a:srgbClr val="FF7E79"/>
    <a:srgbClr val="FFFC00"/>
    <a:srgbClr val="73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9" autoAdjust="0"/>
    <p:restoredTop sz="95728" autoAdjust="0"/>
  </p:normalViewPr>
  <p:slideViewPr>
    <p:cSldViewPr showGuides="1">
      <p:cViewPr>
        <p:scale>
          <a:sx n="120" d="100"/>
          <a:sy n="120" d="100"/>
        </p:scale>
        <p:origin x="1664" y="712"/>
      </p:cViewPr>
      <p:guideLst>
        <p:guide pos="2927"/>
        <p:guide orient="horz" pos="1811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\begin{align*}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\sum_{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=1}^{L} \beta (P-1) \frac{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Bd_i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}{P}\right)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\end{align*}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b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b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\begin{align*}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   T_{{comm}}({domain}) =  &amp;\sum_{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=1}^{L}\left(\alpha {\log(P)}+ \beta \frac{P-1}{P}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Bd_i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\right)\\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+2&amp;\sum_{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=2}^{L}\left(\alpha {\log(P)}+ \beta \frac{P-1}{P} d_{i-1}\right)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\end{align*}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b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\begin{align*}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\sum_{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=1}^{L} \beta (P-1) \frac{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Bd_i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}{P}\right)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\end{align*}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b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b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\begin{align*}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   T_{{comm}}({domain}) =  &amp;\sum_{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=1}^{L}\left(\alpha {\log(P)}+ \beta \frac{P-1}{P} 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Bd_i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\right)\\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+2&amp;\sum_{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=2}^{L}\left(\alpha {\log(P)}+ \beta \frac{P-1}{P} d_{i-1}\right)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\end{align*}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b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\begin{align*}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2\sum_{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=2}^{L}\left(\beta (P-1) \frac{</a:t>
            </a:r>
            <a:r>
              <a:rPr lang="en-US" sz="1200" b="0" i="0" u="none" strike="noStrike" cap="none" err="1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Bd_i</a:t>
            </a:r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}{P}\right)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sz="1200" b="0" i="0" u="none" strike="noStrike" cap="none">
                <a:solidFill>
                  <a:schemeClr val="dk1"/>
                </a:solidFill>
                <a:effectLst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\end{align*}</a:t>
            </a:r>
            <a:endParaRPr lang="en-US" sz="1200" b="0" i="0" u="none" strike="noStrike" cap="none">
              <a:solidFill>
                <a:schemeClr val="dk1"/>
              </a:solidFill>
              <a:effectLst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/>
                </a:solidFill>
                <a:latin typeface="+mn-lt"/>
                <a:ea typeface="+mn-ea"/>
                <a:cs typeface="PingFang SC Bold" panose="020B0400000000000000" pitchFamily="34" charset="-122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+mn-lt"/>
                <a:ea typeface="+mn-ea"/>
                <a:cs typeface="PingFang SC Bold" panose="020B0400000000000000" pitchFamily="34" charset="-122"/>
              </a:defRPr>
            </a:lvl1pPr>
            <a:lvl2pPr marL="360045">
              <a:lnSpc>
                <a:spcPct val="120000"/>
              </a:lnSpc>
              <a:defRPr sz="1800" b="0" i="0">
                <a:latin typeface="+mn-lt"/>
                <a:ea typeface="+mn-ea"/>
                <a:cs typeface="PingFang SC" panose="020B0400000000000000" pitchFamily="34" charset="-122"/>
              </a:defRPr>
            </a:lvl2pPr>
            <a:lvl3pPr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5pPr>
          </a:lstStyle>
          <a:p>
            <a:pPr lvl="0"/>
            <a:r>
              <a:rPr lang="en-US" altLang="zh-CN" dirty="0" err="1"/>
              <a:t>yy</a:t>
            </a:r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99" Type="http://schemas.openxmlformats.org/officeDocument/2006/relationships/tags" Target="../tags/tag98.xml"/><Relationship Id="rId98" Type="http://schemas.openxmlformats.org/officeDocument/2006/relationships/tags" Target="../tags/tag97.xml"/><Relationship Id="rId97" Type="http://schemas.openxmlformats.org/officeDocument/2006/relationships/tags" Target="../tags/tag96.xml"/><Relationship Id="rId96" Type="http://schemas.openxmlformats.org/officeDocument/2006/relationships/tags" Target="../tags/tag95.xml"/><Relationship Id="rId95" Type="http://schemas.openxmlformats.org/officeDocument/2006/relationships/tags" Target="../tags/tag94.xml"/><Relationship Id="rId94" Type="http://schemas.openxmlformats.org/officeDocument/2006/relationships/tags" Target="../tags/tag93.xml"/><Relationship Id="rId93" Type="http://schemas.openxmlformats.org/officeDocument/2006/relationships/tags" Target="../tags/tag92.xml"/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image" Target="../media/image9.png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7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6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5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4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3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7" Type="http://schemas.openxmlformats.org/officeDocument/2006/relationships/slideLayout" Target="../slideLayouts/slideLayout2.xml"/><Relationship Id="rId276" Type="http://schemas.openxmlformats.org/officeDocument/2006/relationships/tags" Target="../tags/tag275.xml"/><Relationship Id="rId275" Type="http://schemas.openxmlformats.org/officeDocument/2006/relationships/tags" Target="../tags/tag274.xml"/><Relationship Id="rId274" Type="http://schemas.openxmlformats.org/officeDocument/2006/relationships/tags" Target="../tags/tag273.xml"/><Relationship Id="rId273" Type="http://schemas.openxmlformats.org/officeDocument/2006/relationships/tags" Target="../tags/tag272.xml"/><Relationship Id="rId272" Type="http://schemas.openxmlformats.org/officeDocument/2006/relationships/tags" Target="../tags/tag271.xml"/><Relationship Id="rId271" Type="http://schemas.openxmlformats.org/officeDocument/2006/relationships/tags" Target="../tags/tag270.xml"/><Relationship Id="rId270" Type="http://schemas.openxmlformats.org/officeDocument/2006/relationships/tags" Target="../tags/tag269.xml"/><Relationship Id="rId27" Type="http://schemas.openxmlformats.org/officeDocument/2006/relationships/tags" Target="../tags/tag26.xml"/><Relationship Id="rId269" Type="http://schemas.openxmlformats.org/officeDocument/2006/relationships/tags" Target="../tags/tag268.xml"/><Relationship Id="rId268" Type="http://schemas.openxmlformats.org/officeDocument/2006/relationships/tags" Target="../tags/tag267.xml"/><Relationship Id="rId267" Type="http://schemas.openxmlformats.org/officeDocument/2006/relationships/tags" Target="../tags/tag266.xml"/><Relationship Id="rId266" Type="http://schemas.openxmlformats.org/officeDocument/2006/relationships/tags" Target="../tags/tag265.xml"/><Relationship Id="rId265" Type="http://schemas.openxmlformats.org/officeDocument/2006/relationships/tags" Target="../tags/tag264.xml"/><Relationship Id="rId264" Type="http://schemas.openxmlformats.org/officeDocument/2006/relationships/tags" Target="../tags/tag263.xml"/><Relationship Id="rId263" Type="http://schemas.openxmlformats.org/officeDocument/2006/relationships/tags" Target="../tags/tag262.xml"/><Relationship Id="rId262" Type="http://schemas.openxmlformats.org/officeDocument/2006/relationships/tags" Target="../tags/tag261.xml"/><Relationship Id="rId261" Type="http://schemas.openxmlformats.org/officeDocument/2006/relationships/tags" Target="../tags/tag260.xml"/><Relationship Id="rId260" Type="http://schemas.openxmlformats.org/officeDocument/2006/relationships/tags" Target="../tags/tag259.xml"/><Relationship Id="rId26" Type="http://schemas.openxmlformats.org/officeDocument/2006/relationships/tags" Target="../tags/tag25.xml"/><Relationship Id="rId259" Type="http://schemas.openxmlformats.org/officeDocument/2006/relationships/tags" Target="../tags/tag258.xml"/><Relationship Id="rId258" Type="http://schemas.openxmlformats.org/officeDocument/2006/relationships/tags" Target="../tags/tag257.xml"/><Relationship Id="rId257" Type="http://schemas.openxmlformats.org/officeDocument/2006/relationships/tags" Target="../tags/tag256.xml"/><Relationship Id="rId256" Type="http://schemas.openxmlformats.org/officeDocument/2006/relationships/tags" Target="../tags/tag255.xml"/><Relationship Id="rId255" Type="http://schemas.openxmlformats.org/officeDocument/2006/relationships/tags" Target="../tags/tag254.xml"/><Relationship Id="rId254" Type="http://schemas.openxmlformats.org/officeDocument/2006/relationships/tags" Target="../tags/tag253.xml"/><Relationship Id="rId253" Type="http://schemas.openxmlformats.org/officeDocument/2006/relationships/tags" Target="../tags/tag252.xml"/><Relationship Id="rId252" Type="http://schemas.openxmlformats.org/officeDocument/2006/relationships/tags" Target="../tags/tag251.xml"/><Relationship Id="rId251" Type="http://schemas.openxmlformats.org/officeDocument/2006/relationships/tags" Target="../tags/tag250.xml"/><Relationship Id="rId250" Type="http://schemas.openxmlformats.org/officeDocument/2006/relationships/tags" Target="../tags/tag249.xml"/><Relationship Id="rId25" Type="http://schemas.openxmlformats.org/officeDocument/2006/relationships/tags" Target="../tags/tag24.xml"/><Relationship Id="rId249" Type="http://schemas.openxmlformats.org/officeDocument/2006/relationships/tags" Target="../tags/tag248.xml"/><Relationship Id="rId248" Type="http://schemas.openxmlformats.org/officeDocument/2006/relationships/tags" Target="../tags/tag247.xml"/><Relationship Id="rId247" Type="http://schemas.openxmlformats.org/officeDocument/2006/relationships/tags" Target="../tags/tag246.xml"/><Relationship Id="rId246" Type="http://schemas.openxmlformats.org/officeDocument/2006/relationships/tags" Target="../tags/tag245.xml"/><Relationship Id="rId245" Type="http://schemas.openxmlformats.org/officeDocument/2006/relationships/tags" Target="../tags/tag244.xml"/><Relationship Id="rId244" Type="http://schemas.openxmlformats.org/officeDocument/2006/relationships/tags" Target="../tags/tag243.xml"/><Relationship Id="rId243" Type="http://schemas.openxmlformats.org/officeDocument/2006/relationships/tags" Target="../tags/tag242.xml"/><Relationship Id="rId242" Type="http://schemas.openxmlformats.org/officeDocument/2006/relationships/tags" Target="../tags/tag241.xml"/><Relationship Id="rId241" Type="http://schemas.openxmlformats.org/officeDocument/2006/relationships/tags" Target="../tags/tag240.xml"/><Relationship Id="rId240" Type="http://schemas.openxmlformats.org/officeDocument/2006/relationships/tags" Target="../tags/tag239.xml"/><Relationship Id="rId24" Type="http://schemas.openxmlformats.org/officeDocument/2006/relationships/tags" Target="../tags/tag23.xml"/><Relationship Id="rId239" Type="http://schemas.openxmlformats.org/officeDocument/2006/relationships/tags" Target="../tags/tag238.xml"/><Relationship Id="rId238" Type="http://schemas.openxmlformats.org/officeDocument/2006/relationships/tags" Target="../tags/tag237.xml"/><Relationship Id="rId237" Type="http://schemas.openxmlformats.org/officeDocument/2006/relationships/tags" Target="../tags/tag236.xml"/><Relationship Id="rId236" Type="http://schemas.openxmlformats.org/officeDocument/2006/relationships/tags" Target="../tags/tag235.xml"/><Relationship Id="rId235" Type="http://schemas.openxmlformats.org/officeDocument/2006/relationships/tags" Target="../tags/tag234.xml"/><Relationship Id="rId234" Type="http://schemas.openxmlformats.org/officeDocument/2006/relationships/tags" Target="../tags/tag233.xml"/><Relationship Id="rId233" Type="http://schemas.openxmlformats.org/officeDocument/2006/relationships/tags" Target="../tags/tag232.xml"/><Relationship Id="rId232" Type="http://schemas.openxmlformats.org/officeDocument/2006/relationships/tags" Target="../tags/tag231.xml"/><Relationship Id="rId231" Type="http://schemas.openxmlformats.org/officeDocument/2006/relationships/tags" Target="../tags/tag230.xml"/><Relationship Id="rId230" Type="http://schemas.openxmlformats.org/officeDocument/2006/relationships/tags" Target="../tags/tag229.xml"/><Relationship Id="rId23" Type="http://schemas.openxmlformats.org/officeDocument/2006/relationships/tags" Target="../tags/tag22.xml"/><Relationship Id="rId229" Type="http://schemas.openxmlformats.org/officeDocument/2006/relationships/tags" Target="../tags/tag228.xml"/><Relationship Id="rId228" Type="http://schemas.openxmlformats.org/officeDocument/2006/relationships/tags" Target="../tags/tag227.xml"/><Relationship Id="rId227" Type="http://schemas.openxmlformats.org/officeDocument/2006/relationships/tags" Target="../tags/tag226.xml"/><Relationship Id="rId226" Type="http://schemas.openxmlformats.org/officeDocument/2006/relationships/tags" Target="../tags/tag225.xml"/><Relationship Id="rId225" Type="http://schemas.openxmlformats.org/officeDocument/2006/relationships/tags" Target="../tags/tag224.xml"/><Relationship Id="rId224" Type="http://schemas.openxmlformats.org/officeDocument/2006/relationships/tags" Target="../tags/tag223.xml"/><Relationship Id="rId223" Type="http://schemas.openxmlformats.org/officeDocument/2006/relationships/tags" Target="../tags/tag222.xml"/><Relationship Id="rId222" Type="http://schemas.openxmlformats.org/officeDocument/2006/relationships/tags" Target="../tags/tag221.xml"/><Relationship Id="rId221" Type="http://schemas.openxmlformats.org/officeDocument/2006/relationships/tags" Target="../tags/tag220.xml"/><Relationship Id="rId220" Type="http://schemas.openxmlformats.org/officeDocument/2006/relationships/tags" Target="../tags/tag219.xml"/><Relationship Id="rId22" Type="http://schemas.openxmlformats.org/officeDocument/2006/relationships/tags" Target="../tags/tag21.xml"/><Relationship Id="rId219" Type="http://schemas.openxmlformats.org/officeDocument/2006/relationships/tags" Target="../tags/tag218.xml"/><Relationship Id="rId218" Type="http://schemas.openxmlformats.org/officeDocument/2006/relationships/tags" Target="../tags/tag217.xml"/><Relationship Id="rId217" Type="http://schemas.openxmlformats.org/officeDocument/2006/relationships/tags" Target="../tags/tag216.xml"/><Relationship Id="rId216" Type="http://schemas.openxmlformats.org/officeDocument/2006/relationships/tags" Target="../tags/tag215.xml"/><Relationship Id="rId215" Type="http://schemas.openxmlformats.org/officeDocument/2006/relationships/tags" Target="../tags/tag214.xml"/><Relationship Id="rId214" Type="http://schemas.openxmlformats.org/officeDocument/2006/relationships/tags" Target="../tags/tag213.xml"/><Relationship Id="rId213" Type="http://schemas.openxmlformats.org/officeDocument/2006/relationships/tags" Target="../tags/tag212.xml"/><Relationship Id="rId212" Type="http://schemas.openxmlformats.org/officeDocument/2006/relationships/tags" Target="../tags/tag211.xml"/><Relationship Id="rId211" Type="http://schemas.openxmlformats.org/officeDocument/2006/relationships/tags" Target="../tags/tag210.xml"/><Relationship Id="rId210" Type="http://schemas.openxmlformats.org/officeDocument/2006/relationships/tags" Target="../tags/tag209.xml"/><Relationship Id="rId21" Type="http://schemas.openxmlformats.org/officeDocument/2006/relationships/tags" Target="../tags/tag20.xml"/><Relationship Id="rId209" Type="http://schemas.openxmlformats.org/officeDocument/2006/relationships/tags" Target="../tags/tag208.xml"/><Relationship Id="rId208" Type="http://schemas.openxmlformats.org/officeDocument/2006/relationships/tags" Target="../tags/tag207.xml"/><Relationship Id="rId207" Type="http://schemas.openxmlformats.org/officeDocument/2006/relationships/tags" Target="../tags/tag206.xml"/><Relationship Id="rId206" Type="http://schemas.openxmlformats.org/officeDocument/2006/relationships/tags" Target="../tags/tag205.xml"/><Relationship Id="rId205" Type="http://schemas.openxmlformats.org/officeDocument/2006/relationships/tags" Target="../tags/tag204.xml"/><Relationship Id="rId204" Type="http://schemas.openxmlformats.org/officeDocument/2006/relationships/tags" Target="../tags/tag203.xml"/><Relationship Id="rId203" Type="http://schemas.openxmlformats.org/officeDocument/2006/relationships/tags" Target="../tags/tag202.xml"/><Relationship Id="rId202" Type="http://schemas.openxmlformats.org/officeDocument/2006/relationships/tags" Target="../tags/tag201.xml"/><Relationship Id="rId201" Type="http://schemas.openxmlformats.org/officeDocument/2006/relationships/tags" Target="../tags/tag200.xml"/><Relationship Id="rId200" Type="http://schemas.openxmlformats.org/officeDocument/2006/relationships/tags" Target="../tags/tag199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9" Type="http://schemas.openxmlformats.org/officeDocument/2006/relationships/tags" Target="../tags/tag198.xml"/><Relationship Id="rId198" Type="http://schemas.openxmlformats.org/officeDocument/2006/relationships/tags" Target="../tags/tag197.xml"/><Relationship Id="rId197" Type="http://schemas.openxmlformats.org/officeDocument/2006/relationships/tags" Target="../tags/tag196.xml"/><Relationship Id="rId196" Type="http://schemas.openxmlformats.org/officeDocument/2006/relationships/tags" Target="../tags/tag195.xml"/><Relationship Id="rId195" Type="http://schemas.openxmlformats.org/officeDocument/2006/relationships/tags" Target="../tags/tag194.xml"/><Relationship Id="rId194" Type="http://schemas.openxmlformats.org/officeDocument/2006/relationships/tags" Target="../tags/tag193.xml"/><Relationship Id="rId193" Type="http://schemas.openxmlformats.org/officeDocument/2006/relationships/tags" Target="../tags/tag192.xml"/><Relationship Id="rId192" Type="http://schemas.openxmlformats.org/officeDocument/2006/relationships/tags" Target="../tags/tag191.xml"/><Relationship Id="rId191" Type="http://schemas.openxmlformats.org/officeDocument/2006/relationships/tags" Target="../tags/tag190.xml"/><Relationship Id="rId190" Type="http://schemas.openxmlformats.org/officeDocument/2006/relationships/tags" Target="../tags/tag189.xml"/><Relationship Id="rId19" Type="http://schemas.openxmlformats.org/officeDocument/2006/relationships/tags" Target="../tags/tag18.xml"/><Relationship Id="rId189" Type="http://schemas.openxmlformats.org/officeDocument/2006/relationships/tags" Target="../tags/tag188.xml"/><Relationship Id="rId188" Type="http://schemas.openxmlformats.org/officeDocument/2006/relationships/tags" Target="../tags/tag187.xml"/><Relationship Id="rId187" Type="http://schemas.openxmlformats.org/officeDocument/2006/relationships/tags" Target="../tags/tag186.xml"/><Relationship Id="rId186" Type="http://schemas.openxmlformats.org/officeDocument/2006/relationships/tags" Target="../tags/tag185.xml"/><Relationship Id="rId185" Type="http://schemas.openxmlformats.org/officeDocument/2006/relationships/tags" Target="../tags/tag184.xml"/><Relationship Id="rId184" Type="http://schemas.openxmlformats.org/officeDocument/2006/relationships/tags" Target="../tags/tag183.xml"/><Relationship Id="rId183" Type="http://schemas.openxmlformats.org/officeDocument/2006/relationships/tags" Target="../tags/tag182.xml"/><Relationship Id="rId182" Type="http://schemas.openxmlformats.org/officeDocument/2006/relationships/tags" Target="../tags/tag181.xml"/><Relationship Id="rId181" Type="http://schemas.openxmlformats.org/officeDocument/2006/relationships/tags" Target="../tags/tag180.xml"/><Relationship Id="rId180" Type="http://schemas.openxmlformats.org/officeDocument/2006/relationships/tags" Target="../tags/tag179.xml"/><Relationship Id="rId18" Type="http://schemas.openxmlformats.org/officeDocument/2006/relationships/tags" Target="../tags/tag17.xml"/><Relationship Id="rId179" Type="http://schemas.openxmlformats.org/officeDocument/2006/relationships/tags" Target="../tags/tag178.xml"/><Relationship Id="rId178" Type="http://schemas.openxmlformats.org/officeDocument/2006/relationships/tags" Target="../tags/tag177.xml"/><Relationship Id="rId177" Type="http://schemas.openxmlformats.org/officeDocument/2006/relationships/tags" Target="../tags/tag176.xml"/><Relationship Id="rId176" Type="http://schemas.openxmlformats.org/officeDocument/2006/relationships/tags" Target="../tags/tag175.xml"/><Relationship Id="rId175" Type="http://schemas.openxmlformats.org/officeDocument/2006/relationships/tags" Target="../tags/tag174.xml"/><Relationship Id="rId174" Type="http://schemas.openxmlformats.org/officeDocument/2006/relationships/tags" Target="../tags/tag173.xml"/><Relationship Id="rId173" Type="http://schemas.openxmlformats.org/officeDocument/2006/relationships/tags" Target="../tags/tag172.xml"/><Relationship Id="rId172" Type="http://schemas.openxmlformats.org/officeDocument/2006/relationships/tags" Target="../tags/tag171.xml"/><Relationship Id="rId171" Type="http://schemas.openxmlformats.org/officeDocument/2006/relationships/tags" Target="../tags/tag170.xml"/><Relationship Id="rId170" Type="http://schemas.openxmlformats.org/officeDocument/2006/relationships/tags" Target="../tags/tag169.xml"/><Relationship Id="rId17" Type="http://schemas.openxmlformats.org/officeDocument/2006/relationships/tags" Target="../tags/tag16.xml"/><Relationship Id="rId169" Type="http://schemas.openxmlformats.org/officeDocument/2006/relationships/tags" Target="../tags/tag168.xml"/><Relationship Id="rId168" Type="http://schemas.openxmlformats.org/officeDocument/2006/relationships/tags" Target="../tags/tag167.xml"/><Relationship Id="rId167" Type="http://schemas.openxmlformats.org/officeDocument/2006/relationships/tags" Target="../tags/tag166.xml"/><Relationship Id="rId166" Type="http://schemas.openxmlformats.org/officeDocument/2006/relationships/tags" Target="../tags/tag165.xml"/><Relationship Id="rId165" Type="http://schemas.openxmlformats.org/officeDocument/2006/relationships/tags" Target="../tags/tag164.xml"/><Relationship Id="rId164" Type="http://schemas.openxmlformats.org/officeDocument/2006/relationships/tags" Target="../tags/tag163.xml"/><Relationship Id="rId163" Type="http://schemas.openxmlformats.org/officeDocument/2006/relationships/tags" Target="../tags/tag162.xml"/><Relationship Id="rId162" Type="http://schemas.openxmlformats.org/officeDocument/2006/relationships/tags" Target="../tags/tag161.xml"/><Relationship Id="rId161" Type="http://schemas.openxmlformats.org/officeDocument/2006/relationships/tags" Target="../tags/tag160.xml"/><Relationship Id="rId160" Type="http://schemas.openxmlformats.org/officeDocument/2006/relationships/tags" Target="../tags/tag159.xml"/><Relationship Id="rId16" Type="http://schemas.openxmlformats.org/officeDocument/2006/relationships/tags" Target="../tags/tag15.xml"/><Relationship Id="rId159" Type="http://schemas.openxmlformats.org/officeDocument/2006/relationships/tags" Target="../tags/tag158.xml"/><Relationship Id="rId158" Type="http://schemas.openxmlformats.org/officeDocument/2006/relationships/tags" Target="../tags/tag157.xml"/><Relationship Id="rId157" Type="http://schemas.openxmlformats.org/officeDocument/2006/relationships/tags" Target="../tags/tag156.xml"/><Relationship Id="rId156" Type="http://schemas.openxmlformats.org/officeDocument/2006/relationships/tags" Target="../tags/tag155.xml"/><Relationship Id="rId155" Type="http://schemas.openxmlformats.org/officeDocument/2006/relationships/tags" Target="../tags/tag154.xml"/><Relationship Id="rId154" Type="http://schemas.openxmlformats.org/officeDocument/2006/relationships/tags" Target="../tags/tag153.xml"/><Relationship Id="rId153" Type="http://schemas.openxmlformats.org/officeDocument/2006/relationships/tags" Target="../tags/tag152.xml"/><Relationship Id="rId152" Type="http://schemas.openxmlformats.org/officeDocument/2006/relationships/tags" Target="../tags/tag151.xml"/><Relationship Id="rId151" Type="http://schemas.openxmlformats.org/officeDocument/2006/relationships/tags" Target="../tags/tag150.xml"/><Relationship Id="rId150" Type="http://schemas.openxmlformats.org/officeDocument/2006/relationships/tags" Target="../tags/tag149.xml"/><Relationship Id="rId15" Type="http://schemas.openxmlformats.org/officeDocument/2006/relationships/tags" Target="../tags/tag14.xml"/><Relationship Id="rId149" Type="http://schemas.openxmlformats.org/officeDocument/2006/relationships/tags" Target="../tags/tag148.xml"/><Relationship Id="rId148" Type="http://schemas.openxmlformats.org/officeDocument/2006/relationships/tags" Target="../tags/tag147.xml"/><Relationship Id="rId147" Type="http://schemas.openxmlformats.org/officeDocument/2006/relationships/tags" Target="../tags/tag146.xml"/><Relationship Id="rId146" Type="http://schemas.openxmlformats.org/officeDocument/2006/relationships/tags" Target="../tags/tag145.xml"/><Relationship Id="rId145" Type="http://schemas.openxmlformats.org/officeDocument/2006/relationships/tags" Target="../tags/tag144.xml"/><Relationship Id="rId144" Type="http://schemas.openxmlformats.org/officeDocument/2006/relationships/tags" Target="../tags/tag143.xml"/><Relationship Id="rId143" Type="http://schemas.openxmlformats.org/officeDocument/2006/relationships/tags" Target="../tags/tag142.xml"/><Relationship Id="rId142" Type="http://schemas.openxmlformats.org/officeDocument/2006/relationships/tags" Target="../tags/tag141.xml"/><Relationship Id="rId141" Type="http://schemas.openxmlformats.org/officeDocument/2006/relationships/tags" Target="../tags/tag140.xml"/><Relationship Id="rId140" Type="http://schemas.openxmlformats.org/officeDocument/2006/relationships/tags" Target="../tags/tag139.xml"/><Relationship Id="rId14" Type="http://schemas.openxmlformats.org/officeDocument/2006/relationships/tags" Target="../tags/tag13.xml"/><Relationship Id="rId139" Type="http://schemas.openxmlformats.org/officeDocument/2006/relationships/tags" Target="../tags/tag138.xml"/><Relationship Id="rId138" Type="http://schemas.openxmlformats.org/officeDocument/2006/relationships/tags" Target="../tags/tag137.xml"/><Relationship Id="rId137" Type="http://schemas.openxmlformats.org/officeDocument/2006/relationships/tags" Target="../tags/tag136.xml"/><Relationship Id="rId136" Type="http://schemas.openxmlformats.org/officeDocument/2006/relationships/tags" Target="../tags/tag135.xml"/><Relationship Id="rId135" Type="http://schemas.openxmlformats.org/officeDocument/2006/relationships/tags" Target="../tags/tag134.xml"/><Relationship Id="rId134" Type="http://schemas.openxmlformats.org/officeDocument/2006/relationships/tags" Target="../tags/tag133.xml"/><Relationship Id="rId133" Type="http://schemas.openxmlformats.org/officeDocument/2006/relationships/tags" Target="../tags/tag132.xml"/><Relationship Id="rId132" Type="http://schemas.openxmlformats.org/officeDocument/2006/relationships/tags" Target="../tags/tag131.xml"/><Relationship Id="rId131" Type="http://schemas.openxmlformats.org/officeDocument/2006/relationships/tags" Target="../tags/tag130.xml"/><Relationship Id="rId130" Type="http://schemas.openxmlformats.org/officeDocument/2006/relationships/tags" Target="../tags/tag129.xml"/><Relationship Id="rId13" Type="http://schemas.openxmlformats.org/officeDocument/2006/relationships/tags" Target="../tags/tag12.xml"/><Relationship Id="rId129" Type="http://schemas.openxmlformats.org/officeDocument/2006/relationships/tags" Target="../tags/tag128.xml"/><Relationship Id="rId128" Type="http://schemas.openxmlformats.org/officeDocument/2006/relationships/tags" Target="../tags/tag127.xml"/><Relationship Id="rId127" Type="http://schemas.openxmlformats.org/officeDocument/2006/relationships/tags" Target="../tags/tag126.xml"/><Relationship Id="rId126" Type="http://schemas.openxmlformats.org/officeDocument/2006/relationships/tags" Target="../tags/tag125.xml"/><Relationship Id="rId125" Type="http://schemas.openxmlformats.org/officeDocument/2006/relationships/tags" Target="../tags/tag124.xml"/><Relationship Id="rId124" Type="http://schemas.openxmlformats.org/officeDocument/2006/relationships/tags" Target="../tags/tag123.xml"/><Relationship Id="rId123" Type="http://schemas.openxmlformats.org/officeDocument/2006/relationships/tags" Target="../tags/tag122.xml"/><Relationship Id="rId122" Type="http://schemas.openxmlformats.org/officeDocument/2006/relationships/tags" Target="../tags/tag121.xml"/><Relationship Id="rId121" Type="http://schemas.openxmlformats.org/officeDocument/2006/relationships/tags" Target="../tags/tag120.xml"/><Relationship Id="rId120" Type="http://schemas.openxmlformats.org/officeDocument/2006/relationships/tags" Target="../tags/tag119.xml"/><Relationship Id="rId12" Type="http://schemas.openxmlformats.org/officeDocument/2006/relationships/tags" Target="../tags/tag11.xml"/><Relationship Id="rId119" Type="http://schemas.openxmlformats.org/officeDocument/2006/relationships/tags" Target="../tags/tag118.xml"/><Relationship Id="rId118" Type="http://schemas.openxmlformats.org/officeDocument/2006/relationships/tags" Target="../tags/tag117.xml"/><Relationship Id="rId117" Type="http://schemas.openxmlformats.org/officeDocument/2006/relationships/tags" Target="../tags/tag116.xml"/><Relationship Id="rId116" Type="http://schemas.openxmlformats.org/officeDocument/2006/relationships/tags" Target="../tags/tag115.xml"/><Relationship Id="rId115" Type="http://schemas.openxmlformats.org/officeDocument/2006/relationships/tags" Target="../tags/tag114.xml"/><Relationship Id="rId114" Type="http://schemas.openxmlformats.org/officeDocument/2006/relationships/tags" Target="../tags/tag113.xml"/><Relationship Id="rId113" Type="http://schemas.openxmlformats.org/officeDocument/2006/relationships/tags" Target="../tags/tag112.xml"/><Relationship Id="rId112" Type="http://schemas.openxmlformats.org/officeDocument/2006/relationships/tags" Target="../tags/tag111.xml"/><Relationship Id="rId111" Type="http://schemas.openxmlformats.org/officeDocument/2006/relationships/tags" Target="../tags/tag110.xml"/><Relationship Id="rId110" Type="http://schemas.openxmlformats.org/officeDocument/2006/relationships/tags" Target="../tags/tag109.xml"/><Relationship Id="rId11" Type="http://schemas.openxmlformats.org/officeDocument/2006/relationships/tags" Target="../tags/tag10.xml"/><Relationship Id="rId109" Type="http://schemas.openxmlformats.org/officeDocument/2006/relationships/tags" Target="../tags/tag108.xml"/><Relationship Id="rId108" Type="http://schemas.openxmlformats.org/officeDocument/2006/relationships/tags" Target="../tags/tag107.xml"/><Relationship Id="rId107" Type="http://schemas.openxmlformats.org/officeDocument/2006/relationships/tags" Target="../tags/tag106.xml"/><Relationship Id="rId106" Type="http://schemas.openxmlformats.org/officeDocument/2006/relationships/tags" Target="../tags/tag105.xml"/><Relationship Id="rId105" Type="http://schemas.openxmlformats.org/officeDocument/2006/relationships/tags" Target="../tags/tag104.xml"/><Relationship Id="rId104" Type="http://schemas.openxmlformats.org/officeDocument/2006/relationships/tags" Target="../tags/tag103.xml"/><Relationship Id="rId103" Type="http://schemas.openxmlformats.org/officeDocument/2006/relationships/tags" Target="../tags/tag102.xml"/><Relationship Id="rId102" Type="http://schemas.openxmlformats.org/officeDocument/2006/relationships/tags" Target="../tags/tag101.xml"/><Relationship Id="rId101" Type="http://schemas.openxmlformats.org/officeDocument/2006/relationships/tags" Target="../tags/tag100.xml"/><Relationship Id="rId100" Type="http://schemas.openxmlformats.org/officeDocument/2006/relationships/tags" Target="../tags/tag99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devblogs.nvidia.com/massively-scale-deep-learning-training-nccl-2-4/" TargetMode="External"/><Relationship Id="rId2" Type="http://schemas.openxmlformats.org/officeDocument/2006/relationships/image" Target="../media/image11.tiff"/><Relationship Id="rId1" Type="http://schemas.openxmlformats.org/officeDocument/2006/relationships/image" Target="../media/image10.tif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3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emf"/><Relationship Id="rId8" Type="http://schemas.openxmlformats.org/officeDocument/2006/relationships/image" Target="../media/image22.emf"/><Relationship Id="rId7" Type="http://schemas.openxmlformats.org/officeDocument/2006/relationships/image" Target="../media/image21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4.emf"/><Relationship Id="rId1" Type="http://schemas.openxmlformats.org/officeDocument/2006/relationships/image" Target="../media/image15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emf"/><Relationship Id="rId3" Type="http://schemas.openxmlformats.org/officeDocument/2006/relationships/image" Target="../media/image30.emf"/><Relationship Id="rId2" Type="http://schemas.openxmlformats.org/officeDocument/2006/relationships/image" Target="../media/image29.jpeg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433401" y="1001455"/>
            <a:ext cx="8639311" cy="210474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600" dirty="0">
                <a:latin typeface="+mn-lt"/>
              </a:rPr>
              <a:t>Distributed Computing frameworks</a:t>
            </a:r>
            <a:br>
              <a:rPr kumimoji="1" lang="en-US" altLang="zh-CN" sz="3600" dirty="0">
                <a:latin typeface="+mn-lt"/>
              </a:rPr>
            </a:br>
            <a:r>
              <a:rPr kumimoji="1" lang="en-US" altLang="zh-CN" sz="3600" b="0" dirty="0">
                <a:latin typeface="+mn-lt"/>
              </a:rPr>
              <a:t>MapReduce, computation graph &amp; Distributed training</a:t>
            </a:r>
            <a:endParaRPr kumimoji="1" lang="zh-CN" altLang="en-US" sz="3600" b="0" dirty="0">
              <a:latin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/>
          <p:cNvSpPr txBox="1"/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</a:rPr>
              <a:t>SE3331-1 (2024 Fall)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lt"/>
              <a:ea typeface="微软雅黑" panose="020B0503020204020204" charset="-122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</p:spPr>
      </p:pic>
      <p:sp>
        <p:nvSpPr>
          <p:cNvPr id="10" name="副标题 5"/>
          <p:cNvSpPr txBox="1"/>
          <p:nvPr/>
        </p:nvSpPr>
        <p:spPr>
          <a:xfrm>
            <a:off x="-6647" y="5210411"/>
            <a:ext cx="822452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Credits: 	 AI-sys Sp22, CMU15-418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1" name="副标题 5"/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4613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Xingda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Wei, </a:t>
            </a:r>
            <a:r>
              <a:rPr kumimoji="1"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Yubin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Xia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www.sjtu.edu.cn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 Key communication operator: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Rounded Rectangle 95"/>
          <p:cNvSpPr/>
          <p:nvPr/>
        </p:nvSpPr>
        <p:spPr>
          <a:xfrm>
            <a:off x="2525041" y="2519016"/>
            <a:ext cx="2068049" cy="1396228"/>
          </a:xfrm>
          <a:prstGeom prst="roundRect">
            <a:avLst/>
          </a:prstGeom>
          <a:solidFill>
            <a:srgbClr val="9BBB59">
              <a:lumMod val="60000"/>
              <a:lumOff val="40000"/>
            </a:srgbClr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r>
              <a:rPr lang="en-US" sz="1500" b="1">
                <a:solidFill>
                  <a:srgbClr val="FFFFFF"/>
                </a:solidFill>
              </a:rPr>
              <a:t>GPU 2</a:t>
            </a:r>
            <a:endParaRPr lang="en-US" sz="1500" b="1" kern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96"/>
          <p:cNvSpPr/>
          <p:nvPr/>
        </p:nvSpPr>
        <p:spPr>
          <a:xfrm>
            <a:off x="4727482" y="2531130"/>
            <a:ext cx="2068049" cy="1396228"/>
          </a:xfrm>
          <a:prstGeom prst="roundRect">
            <a:avLst/>
          </a:prstGeom>
          <a:solidFill>
            <a:srgbClr val="9BBB59">
              <a:lumMod val="60000"/>
              <a:lumOff val="40000"/>
            </a:srgbClr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r>
              <a:rPr lang="en-US" sz="1500" b="1">
                <a:solidFill>
                  <a:srgbClr val="FFFFFF"/>
                </a:solidFill>
              </a:rPr>
              <a:t>GPU 3</a:t>
            </a:r>
            <a:endParaRPr lang="en-US" sz="1500" b="1" kern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Rounded Rectangle 97"/>
          <p:cNvSpPr/>
          <p:nvPr/>
        </p:nvSpPr>
        <p:spPr>
          <a:xfrm>
            <a:off x="6902434" y="2531130"/>
            <a:ext cx="2068049" cy="1396228"/>
          </a:xfrm>
          <a:prstGeom prst="roundRect">
            <a:avLst/>
          </a:prstGeom>
          <a:solidFill>
            <a:srgbClr val="9BBB59">
              <a:lumMod val="60000"/>
              <a:lumOff val="40000"/>
            </a:srgbClr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r>
              <a:rPr lang="en-US" sz="1500" b="1">
                <a:solidFill>
                  <a:srgbClr val="FFFFFF"/>
                </a:solidFill>
              </a:rPr>
              <a:t>GPU 4</a:t>
            </a:r>
            <a:endParaRPr lang="en-US" sz="1500" b="1" kern="0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8" name="Straight Arrow Connector 81"/>
          <p:cNvCxnSpPr>
            <a:stCxn id="14" idx="2"/>
            <a:endCxn id="15" idx="0"/>
          </p:cNvCxnSpPr>
          <p:nvPr/>
        </p:nvCxnSpPr>
        <p:spPr>
          <a:xfrm flipH="1">
            <a:off x="1412082" y="2103688"/>
            <a:ext cx="3531877" cy="397883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9" name="Straight Arrow Connector 82"/>
          <p:cNvCxnSpPr>
            <a:stCxn id="14" idx="2"/>
            <a:endCxn id="5" idx="0"/>
          </p:cNvCxnSpPr>
          <p:nvPr/>
        </p:nvCxnSpPr>
        <p:spPr>
          <a:xfrm flipH="1">
            <a:off x="3559066" y="2103688"/>
            <a:ext cx="1384893" cy="415328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0" name="Straight Arrow Connector 83"/>
          <p:cNvCxnSpPr>
            <a:stCxn id="14" idx="2"/>
            <a:endCxn id="6" idx="0"/>
          </p:cNvCxnSpPr>
          <p:nvPr/>
        </p:nvCxnSpPr>
        <p:spPr>
          <a:xfrm>
            <a:off x="4943959" y="2103688"/>
            <a:ext cx="817548" cy="427442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1" name="Straight Arrow Connector 84"/>
          <p:cNvCxnSpPr>
            <a:stCxn id="14" idx="2"/>
            <a:endCxn id="7" idx="0"/>
          </p:cNvCxnSpPr>
          <p:nvPr/>
        </p:nvCxnSpPr>
        <p:spPr>
          <a:xfrm>
            <a:off x="4943959" y="2103688"/>
            <a:ext cx="2992499" cy="427442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2" name="Group 5"/>
          <p:cNvGrpSpPr/>
          <p:nvPr/>
        </p:nvGrpSpPr>
        <p:grpSpPr>
          <a:xfrm>
            <a:off x="2893981" y="1025244"/>
            <a:ext cx="3356039" cy="1078444"/>
            <a:chOff x="515707" y="5420075"/>
            <a:chExt cx="4474719" cy="1437925"/>
          </a:xfrm>
        </p:grpSpPr>
        <p:pic>
          <p:nvPicPr>
            <p:cNvPr id="13" name="Picture 4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5707" y="5572060"/>
              <a:ext cx="4474719" cy="1160113"/>
            </a:xfrm>
            <a:prstGeom prst="rect">
              <a:avLst/>
            </a:prstGeom>
          </p:spPr>
        </p:pic>
        <p:sp>
          <p:nvSpPr>
            <p:cNvPr id="14" name="Rectangle 45"/>
            <p:cNvSpPr/>
            <p:nvPr/>
          </p:nvSpPr>
          <p:spPr>
            <a:xfrm>
              <a:off x="2861554" y="5420075"/>
              <a:ext cx="774916" cy="1437925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5" name="Rounded Rectangle 85"/>
          <p:cNvSpPr/>
          <p:nvPr/>
        </p:nvSpPr>
        <p:spPr>
          <a:xfrm>
            <a:off x="430012" y="2501571"/>
            <a:ext cx="1964141" cy="1396228"/>
          </a:xfrm>
          <a:prstGeom prst="roundRect">
            <a:avLst/>
          </a:prstGeom>
          <a:solidFill>
            <a:srgbClr val="9BBB59">
              <a:lumMod val="60000"/>
              <a:lumOff val="40000"/>
            </a:srgbClr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endParaRPr lang="en-US" sz="1500" b="1">
              <a:solidFill>
                <a:srgbClr val="FFFFFF"/>
              </a:solidFill>
            </a:endParaRPr>
          </a:p>
          <a:p>
            <a:pPr algn="ctr" defTabSz="685800">
              <a:defRPr/>
            </a:pPr>
            <a:r>
              <a:rPr lang="en-US" sz="1500" b="1">
                <a:solidFill>
                  <a:srgbClr val="FFFFFF"/>
                </a:solidFill>
              </a:rPr>
              <a:t>GPU 1</a:t>
            </a:r>
            <a:endParaRPr lang="en-US" sz="1500" b="1" kern="0">
              <a:solidFill>
                <a:srgbClr val="FFFFFF"/>
              </a:solidFill>
              <a:latin typeface="Arial" panose="020B0604020202020204"/>
            </a:endParaRPr>
          </a:p>
        </p:txBody>
      </p:sp>
      <p:pic>
        <p:nvPicPr>
          <p:cNvPr id="16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55" y="2681330"/>
            <a:ext cx="1479654" cy="830418"/>
          </a:xfrm>
          <a:prstGeom prst="rect">
            <a:avLst/>
          </a:prstGeom>
        </p:spPr>
      </p:pic>
      <p:pic>
        <p:nvPicPr>
          <p:cNvPr id="17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774" y="2647358"/>
            <a:ext cx="1698582" cy="898361"/>
          </a:xfrm>
          <a:prstGeom prst="rect">
            <a:avLst/>
          </a:prstGeom>
        </p:spPr>
      </p:pic>
      <p:pic>
        <p:nvPicPr>
          <p:cNvPr id="18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256" y="2646196"/>
            <a:ext cx="1804272" cy="898361"/>
          </a:xfrm>
          <a:prstGeom prst="rect">
            <a:avLst/>
          </a:prstGeom>
        </p:spPr>
      </p:pic>
      <p:pic>
        <p:nvPicPr>
          <p:cNvPr id="19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223" y="2683942"/>
            <a:ext cx="1834469" cy="860615"/>
          </a:xfrm>
          <a:prstGeom prst="rect">
            <a:avLst/>
          </a:prstGeom>
        </p:spPr>
      </p:pic>
      <p:pic>
        <p:nvPicPr>
          <p:cNvPr id="20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9277" y="4354800"/>
            <a:ext cx="4048125" cy="1000125"/>
          </a:xfrm>
          <a:prstGeom prst="rect">
            <a:avLst/>
          </a:prstGeom>
        </p:spPr>
      </p:pic>
      <p:sp>
        <p:nvSpPr>
          <p:cNvPr id="21" name="Rounded Rectangle 98"/>
          <p:cNvSpPr/>
          <p:nvPr/>
        </p:nvSpPr>
        <p:spPr>
          <a:xfrm>
            <a:off x="430012" y="4055700"/>
            <a:ext cx="8531388" cy="239982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b="1" kern="0">
                <a:solidFill>
                  <a:srgbClr val="FFFFFF"/>
                </a:solidFill>
                <a:latin typeface="Arial" panose="020B0604020202020204"/>
              </a:rPr>
              <a:t>ALLREDUCE</a:t>
            </a:r>
            <a:endParaRPr lang="en-US" sz="1350" b="1" kern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Rounded Rectangle 99"/>
          <p:cNvSpPr/>
          <p:nvPr/>
        </p:nvSpPr>
        <p:spPr>
          <a:xfrm>
            <a:off x="4134862" y="4398074"/>
            <a:ext cx="2660669" cy="91357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b="1" kern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 System requirements for </a:t>
            </a:r>
            <a:r>
              <a:rPr kumimoji="1" lang="en-US" altLang="zh-CN" dirty="0" err="1"/>
              <a:t>AllReduce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Overhead analysis: computation + network</a:t>
            </a:r>
            <a:endParaRPr kumimoji="1" lang="en-US" altLang="zh-CN" dirty="0"/>
          </a:p>
          <a:p>
            <a:r>
              <a:rPr kumimoji="1" lang="en-US" altLang="zh-CN" dirty="0"/>
              <a:t>The overhead of computation is typically small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Compute a sum operation on device is highly optimized, </a:t>
            </a:r>
            <a:endParaRPr kumimoji="1" lang="en-US" altLang="zh-CN" dirty="0"/>
          </a:p>
          <a:p>
            <a:pPr marL="74295" lvl="1" indent="0">
              <a:buNone/>
            </a:pPr>
            <a:r>
              <a:rPr kumimoji="1" lang="en-US" altLang="zh-CN" dirty="0"/>
              <a:t>     e.g., SIMD, GPU, TPU, etc. </a:t>
            </a:r>
            <a:endParaRPr kumimoji="1" lang="en-US" altLang="zh-CN" dirty="0"/>
          </a:p>
          <a:p>
            <a:r>
              <a:rPr kumimoji="1" lang="en-US" altLang="zh-CN" dirty="0">
                <a:highlight>
                  <a:srgbClr val="FFFF00"/>
                </a:highlight>
              </a:rPr>
              <a:t>Goal: reduce network overhead 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 lvl="1"/>
            <a:r>
              <a:rPr kumimoji="1" lang="en-US" altLang="zh-CN" dirty="0"/>
              <a:t>Reduce bytes sent per-message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Reduce concurrent messages sent to a server 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 De-centralized approach for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9165704" cy="1224136"/>
          </a:xfrm>
        </p:spPr>
        <p:txBody>
          <a:bodyPr/>
          <a:lstStyle/>
          <a:p>
            <a:r>
              <a:rPr kumimoji="1" lang="en-US" altLang="zh-CN"/>
              <a:t>Each node finishes its </a:t>
            </a:r>
            <a:r>
              <a:rPr kumimoji="1" lang="en-US" altLang="zh-CN" err="1"/>
              <a:t>allreduce</a:t>
            </a:r>
            <a:r>
              <a:rPr kumimoji="1" lang="en-US" altLang="zh-CN"/>
              <a:t>, one-by-one</a:t>
            </a:r>
            <a:endParaRPr kumimoji="1" lang="en-US" altLang="zh-CN"/>
          </a:p>
          <a:p>
            <a:pPr lvl="1"/>
            <a:r>
              <a:rPr kumimoji="1" lang="en-US" altLang="zh-CN"/>
              <a:t>Communications from future rounds can be moved earlier if w/o contention </a:t>
            </a:r>
            <a:endParaRPr kumimoji="1" lang="zh-CN" altLang="en-US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47344" y="2112149"/>
            <a:ext cx="576064" cy="576064"/>
            <a:chOff x="1935252" y="3577580"/>
            <a:chExt cx="576064" cy="57606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47344" y="2925465"/>
            <a:ext cx="576064" cy="576064"/>
            <a:chOff x="1935252" y="3577580"/>
            <a:chExt cx="576064" cy="576064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1" name="直线连接符 10"/>
          <p:cNvCxnSpPr/>
          <p:nvPr/>
        </p:nvCxnSpPr>
        <p:spPr>
          <a:xfrm>
            <a:off x="178735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176368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567022" y="2308021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585770" y="3213497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047344" y="3867212"/>
            <a:ext cx="576064" cy="576064"/>
            <a:chOff x="1935252" y="3577580"/>
            <a:chExt cx="576064" cy="57606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18" name="直线连接符 17"/>
          <p:cNvCxnSpPr/>
          <p:nvPr/>
        </p:nvCxnSpPr>
        <p:spPr>
          <a:xfrm>
            <a:off x="176368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047344" y="4775717"/>
            <a:ext cx="576064" cy="576064"/>
            <a:chOff x="1935252" y="3577580"/>
            <a:chExt cx="576064" cy="57606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176368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585770" y="4122001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593479" y="5036014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5" name="直线箭头连接符 24"/>
          <p:cNvCxnSpPr/>
          <p:nvPr/>
        </p:nvCxnSpPr>
        <p:spPr>
          <a:xfrm flipV="1">
            <a:off x="1955046" y="2373140"/>
            <a:ext cx="312698" cy="875789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987654" y="2747182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连接符 30"/>
          <p:cNvCxnSpPr/>
          <p:nvPr/>
        </p:nvCxnSpPr>
        <p:spPr>
          <a:xfrm>
            <a:off x="3131840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/>
          <p:cNvCxnSpPr/>
          <p:nvPr/>
        </p:nvCxnSpPr>
        <p:spPr>
          <a:xfrm flipV="1">
            <a:off x="1905072" y="3341786"/>
            <a:ext cx="307901" cy="90672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1967151" y="3750342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9" name="直线箭头连接符 38"/>
          <p:cNvCxnSpPr/>
          <p:nvPr/>
        </p:nvCxnSpPr>
        <p:spPr>
          <a:xfrm flipV="1">
            <a:off x="1995180" y="4317983"/>
            <a:ext cx="265565" cy="846607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2023657" y="4754665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6" name="直线箭头连接符 45"/>
          <p:cNvCxnSpPr/>
          <p:nvPr/>
        </p:nvCxnSpPr>
        <p:spPr>
          <a:xfrm>
            <a:off x="2521719" y="2417101"/>
            <a:ext cx="439911" cy="276617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2486457" y="2741146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2" name="直线箭头连接符 51"/>
          <p:cNvCxnSpPr/>
          <p:nvPr/>
        </p:nvCxnSpPr>
        <p:spPr>
          <a:xfrm>
            <a:off x="4359546" y="2403578"/>
            <a:ext cx="523674" cy="1878767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4342399" y="2761830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5" name="直线箭头连接符 54"/>
          <p:cNvCxnSpPr/>
          <p:nvPr/>
        </p:nvCxnSpPr>
        <p:spPr>
          <a:xfrm flipV="1">
            <a:off x="3241044" y="2353444"/>
            <a:ext cx="584682" cy="1932421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3307310" y="3745956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8" name="直线箭头连接符 57"/>
          <p:cNvCxnSpPr/>
          <p:nvPr/>
        </p:nvCxnSpPr>
        <p:spPr>
          <a:xfrm flipV="1">
            <a:off x="3455692" y="3303239"/>
            <a:ext cx="540245" cy="1867677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3458751" y="4754664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1" name="直线箭头连接符 60"/>
          <p:cNvCxnSpPr/>
          <p:nvPr/>
        </p:nvCxnSpPr>
        <p:spPr>
          <a:xfrm>
            <a:off x="4189335" y="3286169"/>
            <a:ext cx="561890" cy="1893632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4266121" y="3753087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6" name="直线连接符 65"/>
          <p:cNvCxnSpPr/>
          <p:nvPr/>
        </p:nvCxnSpPr>
        <p:spPr>
          <a:xfrm>
            <a:off x="5076056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/>
          <p:cNvCxnSpPr/>
          <p:nvPr/>
        </p:nvCxnSpPr>
        <p:spPr>
          <a:xfrm>
            <a:off x="5362011" y="4269449"/>
            <a:ext cx="227895" cy="895141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423920" y="4754663"/>
            <a:ext cx="200139" cy="184319"/>
          </a:xfrm>
          <a:prstGeom prst="rect">
            <a:avLst/>
          </a:prstGeom>
          <a:solidFill>
            <a:srgbClr val="FAEADC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0" name="直线箭头连接符 69"/>
          <p:cNvCxnSpPr/>
          <p:nvPr/>
        </p:nvCxnSpPr>
        <p:spPr>
          <a:xfrm flipV="1">
            <a:off x="5786142" y="2373140"/>
            <a:ext cx="680872" cy="2781559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5801416" y="4754662"/>
            <a:ext cx="200139" cy="184319"/>
          </a:xfrm>
          <a:prstGeom prst="rect">
            <a:avLst/>
          </a:prstGeom>
          <a:solidFill>
            <a:srgbClr val="00FDFF"/>
          </a:solidFill>
          <a:ln w="8890">
            <a:solidFill>
              <a:schemeClr val="tx1">
                <a:alpha val="99000"/>
              </a:schemeClr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5" name="直线箭头连接符 74"/>
          <p:cNvCxnSpPr/>
          <p:nvPr/>
        </p:nvCxnSpPr>
        <p:spPr>
          <a:xfrm>
            <a:off x="6607294" y="2409339"/>
            <a:ext cx="306560" cy="932447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6727365" y="2757558"/>
            <a:ext cx="200139" cy="184319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8" name="直线箭头连接符 77"/>
          <p:cNvCxnSpPr/>
          <p:nvPr/>
        </p:nvCxnSpPr>
        <p:spPr>
          <a:xfrm>
            <a:off x="6437295" y="3306650"/>
            <a:ext cx="312698" cy="976991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6476783" y="3755508"/>
            <a:ext cx="200139" cy="184319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1" name="直线连接符 80"/>
          <p:cNvCxnSpPr/>
          <p:nvPr/>
        </p:nvCxnSpPr>
        <p:spPr>
          <a:xfrm>
            <a:off x="7092280" y="204351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/>
          <p:cNvGrpSpPr/>
          <p:nvPr/>
        </p:nvGrpSpPr>
        <p:grpSpPr>
          <a:xfrm>
            <a:off x="7107900" y="2019684"/>
            <a:ext cx="1603597" cy="369425"/>
            <a:chOff x="7107900" y="2019684"/>
            <a:chExt cx="1603597" cy="369425"/>
          </a:xfrm>
        </p:grpSpPr>
        <p:sp>
          <p:nvSpPr>
            <p:cNvPr id="82" name="矩形 81"/>
            <p:cNvSpPr>
              <a:spLocks noChangeAspect="1"/>
            </p:cNvSpPr>
            <p:nvPr/>
          </p:nvSpPr>
          <p:spPr>
            <a:xfrm>
              <a:off x="7239118" y="2114443"/>
              <a:ext cx="195450" cy="1800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3" name="矩形 82"/>
            <p:cNvSpPr>
              <a:spLocks noChangeAspect="1"/>
            </p:cNvSpPr>
            <p:nvPr/>
          </p:nvSpPr>
          <p:spPr>
            <a:xfrm>
              <a:off x="7669034" y="2114443"/>
              <a:ext cx="195450" cy="1800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8085819" y="2114443"/>
              <a:ext cx="195450" cy="180000"/>
            </a:xfrm>
            <a:prstGeom prst="rect">
              <a:avLst/>
            </a:prstGeom>
            <a:solidFill>
              <a:srgbClr val="FAEADC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516047" y="2114443"/>
              <a:ext cx="195450" cy="180000"/>
            </a:xfrm>
            <a:prstGeom prst="rect">
              <a:avLst/>
            </a:prstGeom>
            <a:solidFill>
              <a:srgbClr val="00FDFF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6" name="文本框 85"/>
            <p:cNvSpPr txBox="1"/>
            <p:nvPr/>
          </p:nvSpPr>
          <p:spPr>
            <a:xfrm flipH="1" flipV="1">
              <a:off x="7107900" y="2019777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87" name="文本框 86"/>
            <p:cNvSpPr txBox="1"/>
            <p:nvPr/>
          </p:nvSpPr>
          <p:spPr>
            <a:xfrm flipH="1" flipV="1">
              <a:off x="7519490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88" name="文本框 87"/>
            <p:cNvSpPr txBox="1"/>
            <p:nvPr/>
          </p:nvSpPr>
          <p:spPr>
            <a:xfrm flipH="1" flipV="1">
              <a:off x="7934981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7107900" y="2948065"/>
            <a:ext cx="1603597" cy="369425"/>
            <a:chOff x="7107900" y="2019684"/>
            <a:chExt cx="1603597" cy="369425"/>
          </a:xfrm>
        </p:grpSpPr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7239118" y="2114443"/>
              <a:ext cx="195450" cy="1800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矩形 91"/>
            <p:cNvSpPr>
              <a:spLocks noChangeAspect="1"/>
            </p:cNvSpPr>
            <p:nvPr/>
          </p:nvSpPr>
          <p:spPr>
            <a:xfrm>
              <a:off x="7669034" y="2114443"/>
              <a:ext cx="195450" cy="1800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3" name="矩形 92"/>
            <p:cNvSpPr>
              <a:spLocks noChangeAspect="1"/>
            </p:cNvSpPr>
            <p:nvPr/>
          </p:nvSpPr>
          <p:spPr>
            <a:xfrm>
              <a:off x="8085819" y="2114443"/>
              <a:ext cx="195450" cy="180000"/>
            </a:xfrm>
            <a:prstGeom prst="rect">
              <a:avLst/>
            </a:prstGeom>
            <a:solidFill>
              <a:srgbClr val="FAEADC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4" name="矩形 93"/>
            <p:cNvSpPr>
              <a:spLocks noChangeAspect="1"/>
            </p:cNvSpPr>
            <p:nvPr/>
          </p:nvSpPr>
          <p:spPr>
            <a:xfrm>
              <a:off x="8516047" y="2114443"/>
              <a:ext cx="195450" cy="180000"/>
            </a:xfrm>
            <a:prstGeom prst="rect">
              <a:avLst/>
            </a:prstGeom>
            <a:solidFill>
              <a:srgbClr val="00FDFF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5" name="文本框 94"/>
            <p:cNvSpPr txBox="1"/>
            <p:nvPr/>
          </p:nvSpPr>
          <p:spPr>
            <a:xfrm flipH="1" flipV="1">
              <a:off x="7107900" y="2019777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96" name="文本框 95"/>
            <p:cNvSpPr txBox="1"/>
            <p:nvPr/>
          </p:nvSpPr>
          <p:spPr>
            <a:xfrm flipH="1" flipV="1">
              <a:off x="7519490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97" name="文本框 96"/>
            <p:cNvSpPr txBox="1"/>
            <p:nvPr/>
          </p:nvSpPr>
          <p:spPr>
            <a:xfrm flipH="1" flipV="1">
              <a:off x="7934981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7107900" y="3948558"/>
            <a:ext cx="1603597" cy="369425"/>
            <a:chOff x="7107900" y="2019684"/>
            <a:chExt cx="1603597" cy="369425"/>
          </a:xfrm>
        </p:grpSpPr>
        <p:sp>
          <p:nvSpPr>
            <p:cNvPr id="99" name="矩形 98"/>
            <p:cNvSpPr>
              <a:spLocks noChangeAspect="1"/>
            </p:cNvSpPr>
            <p:nvPr/>
          </p:nvSpPr>
          <p:spPr>
            <a:xfrm>
              <a:off x="7239118" y="2114443"/>
              <a:ext cx="195450" cy="1800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矩形 99"/>
            <p:cNvSpPr>
              <a:spLocks noChangeAspect="1"/>
            </p:cNvSpPr>
            <p:nvPr/>
          </p:nvSpPr>
          <p:spPr>
            <a:xfrm>
              <a:off x="7669034" y="2114443"/>
              <a:ext cx="195450" cy="1800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1" name="矩形 100"/>
            <p:cNvSpPr>
              <a:spLocks noChangeAspect="1"/>
            </p:cNvSpPr>
            <p:nvPr/>
          </p:nvSpPr>
          <p:spPr>
            <a:xfrm>
              <a:off x="8085819" y="2114443"/>
              <a:ext cx="195450" cy="180000"/>
            </a:xfrm>
            <a:prstGeom prst="rect">
              <a:avLst/>
            </a:prstGeom>
            <a:solidFill>
              <a:srgbClr val="FAEADC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" name="矩形 101"/>
            <p:cNvSpPr>
              <a:spLocks noChangeAspect="1"/>
            </p:cNvSpPr>
            <p:nvPr/>
          </p:nvSpPr>
          <p:spPr>
            <a:xfrm>
              <a:off x="8516047" y="2114443"/>
              <a:ext cx="195450" cy="180000"/>
            </a:xfrm>
            <a:prstGeom prst="rect">
              <a:avLst/>
            </a:prstGeom>
            <a:solidFill>
              <a:srgbClr val="00FDFF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 flipH="1" flipV="1">
              <a:off x="7107900" y="2019777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104" name="文本框 103"/>
            <p:cNvSpPr txBox="1"/>
            <p:nvPr/>
          </p:nvSpPr>
          <p:spPr>
            <a:xfrm flipH="1" flipV="1">
              <a:off x="7519490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105" name="文本框 104"/>
            <p:cNvSpPr txBox="1"/>
            <p:nvPr/>
          </p:nvSpPr>
          <p:spPr>
            <a:xfrm flipH="1" flipV="1">
              <a:off x="7934981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7120757" y="4832964"/>
            <a:ext cx="1603597" cy="369425"/>
            <a:chOff x="7107900" y="2019684"/>
            <a:chExt cx="1603597" cy="369425"/>
          </a:xfrm>
        </p:grpSpPr>
        <p:sp>
          <p:nvSpPr>
            <p:cNvPr id="107" name="矩形 106"/>
            <p:cNvSpPr>
              <a:spLocks noChangeAspect="1"/>
            </p:cNvSpPr>
            <p:nvPr/>
          </p:nvSpPr>
          <p:spPr>
            <a:xfrm>
              <a:off x="7239118" y="2114443"/>
              <a:ext cx="195450" cy="1800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8" name="矩形 107"/>
            <p:cNvSpPr>
              <a:spLocks noChangeAspect="1"/>
            </p:cNvSpPr>
            <p:nvPr/>
          </p:nvSpPr>
          <p:spPr>
            <a:xfrm>
              <a:off x="7669034" y="2114443"/>
              <a:ext cx="195450" cy="1800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矩形 108"/>
            <p:cNvSpPr>
              <a:spLocks noChangeAspect="1"/>
            </p:cNvSpPr>
            <p:nvPr/>
          </p:nvSpPr>
          <p:spPr>
            <a:xfrm>
              <a:off x="8085819" y="2114443"/>
              <a:ext cx="195450" cy="180000"/>
            </a:xfrm>
            <a:prstGeom prst="rect">
              <a:avLst/>
            </a:prstGeom>
            <a:solidFill>
              <a:srgbClr val="FAEADC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矩形 109"/>
            <p:cNvSpPr>
              <a:spLocks noChangeAspect="1"/>
            </p:cNvSpPr>
            <p:nvPr/>
          </p:nvSpPr>
          <p:spPr>
            <a:xfrm>
              <a:off x="8516047" y="2114443"/>
              <a:ext cx="195450" cy="180000"/>
            </a:xfrm>
            <a:prstGeom prst="rect">
              <a:avLst/>
            </a:prstGeom>
            <a:solidFill>
              <a:srgbClr val="00FDFF"/>
            </a:solidFill>
            <a:ln w="8890">
              <a:solidFill>
                <a:schemeClr val="tx1">
                  <a:alpha val="99000"/>
                </a:schemeClr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文本框 110"/>
            <p:cNvSpPr txBox="1"/>
            <p:nvPr/>
          </p:nvSpPr>
          <p:spPr>
            <a:xfrm flipH="1" flipV="1">
              <a:off x="7107900" y="2019777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112" name="文本框 111"/>
            <p:cNvSpPr txBox="1"/>
            <p:nvPr/>
          </p:nvSpPr>
          <p:spPr>
            <a:xfrm flipH="1" flipV="1">
              <a:off x="7519490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  <p:sp>
          <p:nvSpPr>
            <p:cNvPr id="113" name="文本框 112"/>
            <p:cNvSpPr txBox="1"/>
            <p:nvPr/>
          </p:nvSpPr>
          <p:spPr>
            <a:xfrm flipH="1" flipV="1">
              <a:off x="7934981" y="2019684"/>
              <a:ext cx="609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+</a:t>
              </a:r>
              <a:endParaRPr lang="zh-CN" altLang="en-US" b="1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Analysis of the naïve decentralized reduce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383960" cy="4356826"/>
          </a:xfrm>
        </p:spPr>
        <p:txBody>
          <a:bodyPr/>
          <a:lstStyle/>
          <a:p>
            <a:r>
              <a:rPr kumimoji="1" lang="en-US" altLang="zh-CN"/>
              <a:t>N: total parameters, P: # processors</a:t>
            </a:r>
            <a:endParaRPr kumimoji="1" lang="en-US" altLang="zh-CN"/>
          </a:p>
          <a:p>
            <a:r>
              <a:rPr kumimoji="1" lang="en-US" altLang="zh-CN"/>
              <a:t>Total communication per-machine </a:t>
            </a:r>
            <a:endParaRPr kumimoji="1" lang="en-US" altLang="zh-CN"/>
          </a:p>
          <a:p>
            <a:pPr lvl="1"/>
            <a:r>
              <a:rPr kumimoji="1" lang="en-US" altLang="zh-CN"/>
              <a:t>N * (P – 1) data (Bad …)</a:t>
            </a:r>
            <a:endParaRPr kumimoji="1" lang="en-US" altLang="zh-CN"/>
          </a:p>
          <a:p>
            <a:pPr lvl="1"/>
            <a:r>
              <a:rPr kumimoji="1" lang="en-US" altLang="zh-CN"/>
              <a:t>O(1) fan-in (Good!)</a:t>
            </a:r>
            <a:endParaRPr kumimoji="1" lang="en-US" altLang="zh-CN"/>
          </a:p>
          <a:p>
            <a:r>
              <a:rPr kumimoji="1" lang="en-US" altLang="zh-CN"/>
              <a:t>Total communication rounds: </a:t>
            </a:r>
            <a:r>
              <a:rPr kumimoji="1" lang="en-US" altLang="zh-CN" strike="sngStrike"/>
              <a:t>O(P * P)  </a:t>
            </a:r>
            <a:r>
              <a:rPr kumimoji="1" lang="en-US" altLang="zh-CN"/>
              <a:t>=》</a:t>
            </a:r>
            <a:r>
              <a:rPr kumimoji="1" lang="zh-CN" altLang="en-US"/>
              <a:t> </a:t>
            </a:r>
            <a:r>
              <a:rPr kumimoji="1" lang="en-US" altLang="zh-CN"/>
              <a:t>O(P)</a:t>
            </a:r>
            <a:endParaRPr kumimoji="1" lang="en-US" altLang="zh-CN"/>
          </a:p>
          <a:p>
            <a:pPr lvl="1"/>
            <a:r>
              <a:rPr kumimoji="1" lang="en-US" altLang="zh-CN"/>
              <a:t>Higher than the parameter server approach (O(1)) , but w/o contention</a:t>
            </a:r>
            <a:endParaRPr kumimoji="1" lang="en-US" altLang="zh-CN"/>
          </a:p>
          <a:p>
            <a:r>
              <a:rPr kumimoji="1" lang="en-US" altLang="zh-CN"/>
              <a:t>Question</a:t>
            </a:r>
            <a:endParaRPr kumimoji="1" lang="en-US" altLang="zh-CN"/>
          </a:p>
          <a:p>
            <a:pPr lvl="1"/>
            <a:r>
              <a:rPr kumimoji="1" lang="en-US" altLang="zh-CN"/>
              <a:t>Can we do better? </a:t>
            </a:r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02840" y="2029750"/>
            <a:ext cx="4269160" cy="395702"/>
          </a:xfrm>
          <a:prstGeom prst="rect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5292080" y="4478022"/>
            <a:ext cx="3580780" cy="1008112"/>
          </a:xfrm>
          <a:prstGeom prst="rect">
            <a:avLst/>
          </a:prstGeom>
          <a:solidFill>
            <a:srgbClr val="FAEADC"/>
          </a:solidFill>
          <a:ln w="381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/>
              <a:t>Goal</a:t>
            </a:r>
            <a:r>
              <a:rPr kumimoji="1" lang="en-US" altLang="zh-CN" sz="2400" b="0"/>
              <a:t>: reduce the payload sent per-process</a:t>
            </a:r>
            <a:endParaRPr kumimoji="1" lang="en-US" altLang="zh-CN"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can de-centralized approach using sharding?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36178"/>
            <a:ext cx="8229600" cy="3771636"/>
          </a:xfrm>
        </p:spPr>
        <p:txBody>
          <a:bodyPr/>
          <a:lstStyle/>
          <a:p>
            <a:r>
              <a:rPr kumimoji="1" lang="en-US" altLang="zh-CN" dirty="0"/>
              <a:t>e.g., each node is responsible for reducing a shard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node 0 is responsible for reducing the shard 0 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3"/>
          <p:cNvSpPr txBox="1"/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47616" y="2112149"/>
            <a:ext cx="576064" cy="576064"/>
            <a:chOff x="1935252" y="3577580"/>
            <a:chExt cx="576064" cy="57606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47616" y="2925465"/>
            <a:ext cx="576064" cy="576064"/>
            <a:chOff x="1935252" y="3577580"/>
            <a:chExt cx="576064" cy="57606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3" name="直线连接符 12"/>
          <p:cNvCxnSpPr/>
          <p:nvPr/>
        </p:nvCxnSpPr>
        <p:spPr>
          <a:xfrm>
            <a:off x="197971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195604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47616" y="3867212"/>
            <a:ext cx="576064" cy="576064"/>
            <a:chOff x="1935252" y="3577580"/>
            <a:chExt cx="576064" cy="57606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18" name="直线连接符 17"/>
          <p:cNvCxnSpPr/>
          <p:nvPr/>
        </p:nvCxnSpPr>
        <p:spPr>
          <a:xfrm>
            <a:off x="195604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447616" y="4775717"/>
            <a:ext cx="576064" cy="576064"/>
            <a:chOff x="1935252" y="3577580"/>
            <a:chExt cx="576064" cy="57606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195604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3275856" y="2083526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5268416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7284640" y="204351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1331640" y="2308021"/>
            <a:ext cx="449060" cy="186022"/>
            <a:chOff x="1331640" y="2308021"/>
            <a:chExt cx="449060" cy="186022"/>
          </a:xfrm>
        </p:grpSpPr>
        <p:sp>
          <p:nvSpPr>
            <p:cNvPr id="27" name="矩形 26"/>
            <p:cNvSpPr/>
            <p:nvPr/>
          </p:nvSpPr>
          <p:spPr>
            <a:xfrm>
              <a:off x="1331640" y="2308021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453616" y="2308021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1581158" y="2308021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1708700" y="2310443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356628" y="3185343"/>
            <a:ext cx="449060" cy="186022"/>
            <a:chOff x="1865773" y="2475845"/>
            <a:chExt cx="449060" cy="186022"/>
          </a:xfrm>
          <a:solidFill>
            <a:srgbClr val="0432FF"/>
          </a:solidFill>
        </p:grpSpPr>
        <p:sp>
          <p:nvSpPr>
            <p:cNvPr id="32" name="矩形 31"/>
            <p:cNvSpPr/>
            <p:nvPr/>
          </p:nvSpPr>
          <p:spPr>
            <a:xfrm>
              <a:off x="1865773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987749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2115291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2242833" y="2478267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356628" y="4140210"/>
            <a:ext cx="449060" cy="186022"/>
            <a:chOff x="1865773" y="2475845"/>
            <a:chExt cx="449060" cy="186022"/>
          </a:xfrm>
          <a:solidFill>
            <a:srgbClr val="FAEADD"/>
          </a:solidFill>
        </p:grpSpPr>
        <p:sp>
          <p:nvSpPr>
            <p:cNvPr id="37" name="矩形 36"/>
            <p:cNvSpPr/>
            <p:nvPr/>
          </p:nvSpPr>
          <p:spPr>
            <a:xfrm>
              <a:off x="1865773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987749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2115291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2242833" y="2478267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365798" y="5080919"/>
            <a:ext cx="449060" cy="186022"/>
            <a:chOff x="1865773" y="2475845"/>
            <a:chExt cx="449060" cy="186022"/>
          </a:xfrm>
          <a:solidFill>
            <a:srgbClr val="02FDFF"/>
          </a:solidFill>
        </p:grpSpPr>
        <p:sp>
          <p:nvSpPr>
            <p:cNvPr id="42" name="矩形 41"/>
            <p:cNvSpPr/>
            <p:nvPr/>
          </p:nvSpPr>
          <p:spPr>
            <a:xfrm>
              <a:off x="1865773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1987749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2115291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2242833" y="2478267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1102536" y="1934260"/>
            <a:ext cx="91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0 1 2 3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can de-centralized approach using sharding?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36178"/>
            <a:ext cx="8229600" cy="3771636"/>
          </a:xfrm>
        </p:spPr>
        <p:txBody>
          <a:bodyPr/>
          <a:lstStyle/>
          <a:p>
            <a:r>
              <a:rPr kumimoji="1" lang="en-US" altLang="zh-CN" dirty="0"/>
              <a:t>e.g., each node is responsible for reducing a shard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node 0 is responsible for reducing the shard 0 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cxnSp>
        <p:nvCxnSpPr>
          <p:cNvPr id="5" name="直线箭头连接符 4"/>
          <p:cNvCxnSpPr/>
          <p:nvPr/>
        </p:nvCxnSpPr>
        <p:spPr>
          <a:xfrm flipV="1">
            <a:off x="2123728" y="2396966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3"/>
          <p:cNvSpPr txBox="1"/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47616" y="2112149"/>
            <a:ext cx="576064" cy="576064"/>
            <a:chOff x="1935252" y="3577580"/>
            <a:chExt cx="576064" cy="57606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47616" y="2925465"/>
            <a:ext cx="576064" cy="576064"/>
            <a:chOff x="1935252" y="3577580"/>
            <a:chExt cx="576064" cy="57606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3" name="直线连接符 12"/>
          <p:cNvCxnSpPr/>
          <p:nvPr/>
        </p:nvCxnSpPr>
        <p:spPr>
          <a:xfrm>
            <a:off x="197971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195604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47616" y="3867212"/>
            <a:ext cx="576064" cy="576064"/>
            <a:chOff x="1935252" y="3577580"/>
            <a:chExt cx="576064" cy="57606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18" name="直线连接符 17"/>
          <p:cNvCxnSpPr/>
          <p:nvPr/>
        </p:nvCxnSpPr>
        <p:spPr>
          <a:xfrm>
            <a:off x="195604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447616" y="4775717"/>
            <a:ext cx="576064" cy="576064"/>
            <a:chOff x="1935252" y="3577580"/>
            <a:chExt cx="576064" cy="57606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195604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3275856" y="2083526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5268416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7284640" y="204351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331640" y="2308021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356628" y="3185343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356628" y="4140210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365798" y="5080919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2176325" y="2804928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233808" y="1935109"/>
            <a:ext cx="91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0 1 2 3</a:t>
            </a:r>
            <a:endParaRPr lang="zh-CN" altLang="en-US" dirty="0"/>
          </a:p>
        </p:txBody>
      </p:sp>
      <p:cxnSp>
        <p:nvCxnSpPr>
          <p:cNvPr id="52" name="直线箭头连接符 51"/>
          <p:cNvCxnSpPr/>
          <p:nvPr/>
        </p:nvCxnSpPr>
        <p:spPr>
          <a:xfrm flipV="1">
            <a:off x="3529932" y="2409041"/>
            <a:ext cx="297904" cy="18413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3585129" y="3579255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9" name="直线箭头连接符 58"/>
          <p:cNvCxnSpPr/>
          <p:nvPr/>
        </p:nvCxnSpPr>
        <p:spPr>
          <a:xfrm flipV="1">
            <a:off x="5512341" y="2409041"/>
            <a:ext cx="370140" cy="27648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5568292" y="4517148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2826000" y="2307406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2826000" y="2240807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4939855" y="2309828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4933898" y="2227515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4933898" y="2131978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6917941" y="2301138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6913462" y="2211713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6913462" y="2122287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6913462" y="2030697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Problem: coordination + full network connections 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36178"/>
            <a:ext cx="8686800" cy="3771636"/>
          </a:xfrm>
        </p:spPr>
        <p:txBody>
          <a:bodyPr/>
          <a:lstStyle/>
          <a:p>
            <a:r>
              <a:rPr kumimoji="1" lang="en-US" altLang="zh-CN" dirty="0"/>
              <a:t>Node 2 must send to node 0 until node 1 has finished its communication </a:t>
            </a:r>
            <a:endParaRPr kumimoji="1" lang="en-US" altLang="zh-CN" dirty="0"/>
          </a:p>
          <a:p>
            <a:r>
              <a:rPr kumimoji="1" lang="en-US" altLang="zh-CN" dirty="0"/>
              <a:t>All nodes must maintain a network connection to the others (costly at scale)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cxnSp>
        <p:nvCxnSpPr>
          <p:cNvPr id="5" name="直线箭头连接符 4"/>
          <p:cNvCxnSpPr/>
          <p:nvPr/>
        </p:nvCxnSpPr>
        <p:spPr>
          <a:xfrm flipV="1">
            <a:off x="2123728" y="2396966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3"/>
          <p:cNvSpPr txBox="1"/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47616" y="2112149"/>
            <a:ext cx="576064" cy="576064"/>
            <a:chOff x="1935252" y="3577580"/>
            <a:chExt cx="576064" cy="57606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47616" y="2925465"/>
            <a:ext cx="576064" cy="576064"/>
            <a:chOff x="1935252" y="3577580"/>
            <a:chExt cx="576064" cy="57606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3" name="直线连接符 12"/>
          <p:cNvCxnSpPr/>
          <p:nvPr/>
        </p:nvCxnSpPr>
        <p:spPr>
          <a:xfrm>
            <a:off x="197971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195604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47616" y="3867212"/>
            <a:ext cx="576064" cy="576064"/>
            <a:chOff x="1935252" y="3577580"/>
            <a:chExt cx="576064" cy="57606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18" name="直线连接符 17"/>
          <p:cNvCxnSpPr/>
          <p:nvPr/>
        </p:nvCxnSpPr>
        <p:spPr>
          <a:xfrm>
            <a:off x="195604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447616" y="4775717"/>
            <a:ext cx="576064" cy="576064"/>
            <a:chOff x="1935252" y="3577580"/>
            <a:chExt cx="576064" cy="57606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195604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3275856" y="2083526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5268416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7284640" y="204351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331640" y="2308021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356628" y="3185343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356628" y="4140210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365798" y="5080919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2176325" y="2804928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233808" y="1935109"/>
            <a:ext cx="91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0 1 2 3</a:t>
            </a:r>
            <a:endParaRPr lang="zh-CN" altLang="en-US" dirty="0"/>
          </a:p>
        </p:txBody>
      </p:sp>
      <p:cxnSp>
        <p:nvCxnSpPr>
          <p:cNvPr id="52" name="直线箭头连接符 51"/>
          <p:cNvCxnSpPr/>
          <p:nvPr/>
        </p:nvCxnSpPr>
        <p:spPr>
          <a:xfrm flipV="1">
            <a:off x="3529932" y="2409041"/>
            <a:ext cx="297904" cy="18413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3585129" y="3579255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9" name="直线箭头连接符 58"/>
          <p:cNvCxnSpPr/>
          <p:nvPr/>
        </p:nvCxnSpPr>
        <p:spPr>
          <a:xfrm flipV="1">
            <a:off x="5512341" y="2409041"/>
            <a:ext cx="370140" cy="27648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5568292" y="4517148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2826000" y="2307406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2826000" y="2240807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4939855" y="2309828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4933898" y="2227515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4933898" y="2131978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6917941" y="2301138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6913462" y="2211713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6913462" y="2122287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6913462" y="2030697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161575" y="1972646"/>
            <a:ext cx="226921" cy="3460432"/>
          </a:xfrm>
          <a:prstGeom prst="rect">
            <a:avLst/>
          </a:pr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650997" y="5241302"/>
            <a:ext cx="1935790" cy="3789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dirty="0"/>
              <a:t>Coordination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Decentralized approach w/ only peer connections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874973"/>
          </a:xfrm>
        </p:spPr>
        <p:txBody>
          <a:bodyPr/>
          <a:lstStyle/>
          <a:p>
            <a:r>
              <a:rPr kumimoji="1" lang="en-US" altLang="zh-CN" dirty="0"/>
              <a:t>Peer connections: GPU 1 only connects to GPU 0 and 2 (its neighbors)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Question: do the send of GPU to GPU2 needs coordination? 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3"/>
          <p:cNvSpPr txBox="1"/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直线箭头连接符 5"/>
          <p:cNvCxnSpPr/>
          <p:nvPr/>
        </p:nvCxnSpPr>
        <p:spPr>
          <a:xfrm flipV="1">
            <a:off x="2123728" y="2396966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447616" y="2112149"/>
            <a:ext cx="576064" cy="576064"/>
            <a:chOff x="1935252" y="3577580"/>
            <a:chExt cx="576064" cy="57606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47616" y="2925465"/>
            <a:ext cx="576064" cy="576064"/>
            <a:chOff x="1935252" y="3577580"/>
            <a:chExt cx="576064" cy="57606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3" name="直线连接符 12"/>
          <p:cNvCxnSpPr/>
          <p:nvPr/>
        </p:nvCxnSpPr>
        <p:spPr>
          <a:xfrm>
            <a:off x="197971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/>
          <p:nvPr/>
        </p:nvCxnSpPr>
        <p:spPr>
          <a:xfrm>
            <a:off x="195604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47616" y="3867212"/>
            <a:ext cx="576064" cy="576064"/>
            <a:chOff x="1935252" y="3577580"/>
            <a:chExt cx="576064" cy="57606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18" name="直线连接符 17"/>
          <p:cNvCxnSpPr/>
          <p:nvPr/>
        </p:nvCxnSpPr>
        <p:spPr>
          <a:xfrm>
            <a:off x="195604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447616" y="4775717"/>
            <a:ext cx="576064" cy="576064"/>
            <a:chOff x="1935252" y="3577580"/>
            <a:chExt cx="576064" cy="57606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195604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/>
          <p:cNvCxnSpPr/>
          <p:nvPr/>
        </p:nvCxnSpPr>
        <p:spPr>
          <a:xfrm>
            <a:off x="3275856" y="2083526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/>
          <p:cNvCxnSpPr/>
          <p:nvPr/>
        </p:nvCxnSpPr>
        <p:spPr>
          <a:xfrm>
            <a:off x="5268416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7284640" y="204351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331640" y="2308021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356628" y="3185343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356628" y="4140210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365798" y="5080919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176325" y="2804928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233808" y="1935109"/>
            <a:ext cx="91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0 1 2 3</a:t>
            </a:r>
            <a:endParaRPr lang="zh-CN" altLang="en-US" dirty="0"/>
          </a:p>
        </p:txBody>
      </p:sp>
      <p:cxnSp>
        <p:nvCxnSpPr>
          <p:cNvPr id="34" name="直线箭头连接符 33"/>
          <p:cNvCxnSpPr/>
          <p:nvPr/>
        </p:nvCxnSpPr>
        <p:spPr>
          <a:xfrm flipV="1">
            <a:off x="5512341" y="4265425"/>
            <a:ext cx="127951" cy="9085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2826000" y="2307406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2826000" y="2240807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3" name="组合 52"/>
          <p:cNvGrpSpPr/>
          <p:nvPr/>
        </p:nvGrpSpPr>
        <p:grpSpPr>
          <a:xfrm>
            <a:off x="4568046" y="4991994"/>
            <a:ext cx="77957" cy="361450"/>
            <a:chOff x="4933898" y="2131978"/>
            <a:chExt cx="77957" cy="361450"/>
          </a:xfrm>
        </p:grpSpPr>
        <p:sp>
          <p:nvSpPr>
            <p:cNvPr id="38" name="矩形 37"/>
            <p:cNvSpPr/>
            <p:nvPr/>
          </p:nvSpPr>
          <p:spPr>
            <a:xfrm>
              <a:off x="4939855" y="230982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4933898" y="2227515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4933898" y="2131978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5823139" y="4004989"/>
            <a:ext cx="76479" cy="454041"/>
            <a:chOff x="6913462" y="2030697"/>
            <a:chExt cx="76479" cy="454041"/>
          </a:xfrm>
        </p:grpSpPr>
        <p:sp>
          <p:nvSpPr>
            <p:cNvPr id="41" name="矩形 40"/>
            <p:cNvSpPr/>
            <p:nvPr/>
          </p:nvSpPr>
          <p:spPr>
            <a:xfrm>
              <a:off x="6917941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6913462" y="2211713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6913462" y="212228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6913462" y="2030697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45" name="直线箭头连接符 44"/>
          <p:cNvCxnSpPr/>
          <p:nvPr/>
        </p:nvCxnSpPr>
        <p:spPr>
          <a:xfrm>
            <a:off x="3275856" y="2424407"/>
            <a:ext cx="599729" cy="27495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/>
          <p:cNvGrpSpPr/>
          <p:nvPr/>
        </p:nvGrpSpPr>
        <p:grpSpPr>
          <a:xfrm>
            <a:off x="3735992" y="4712260"/>
            <a:ext cx="72000" cy="250199"/>
            <a:chOff x="2978400" y="2393207"/>
            <a:chExt cx="72000" cy="250199"/>
          </a:xfrm>
        </p:grpSpPr>
        <p:sp>
          <p:nvSpPr>
            <p:cNvPr id="48" name="矩形 47"/>
            <p:cNvSpPr/>
            <p:nvPr/>
          </p:nvSpPr>
          <p:spPr>
            <a:xfrm>
              <a:off x="2978400" y="2459806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2978400" y="2393207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512341" y="4559109"/>
            <a:ext cx="77957" cy="361450"/>
            <a:chOff x="4933898" y="2131978"/>
            <a:chExt cx="77957" cy="361450"/>
          </a:xfrm>
        </p:grpSpPr>
        <p:sp>
          <p:nvSpPr>
            <p:cNvPr id="57" name="矩形 56"/>
            <p:cNvSpPr/>
            <p:nvPr/>
          </p:nvSpPr>
          <p:spPr>
            <a:xfrm>
              <a:off x="4939855" y="230982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4933898" y="2227515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4933898" y="2131978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6" grpId="0" animBg="1"/>
      <p:bldP spid="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线箭头连接符 46"/>
          <p:cNvCxnSpPr/>
          <p:nvPr/>
        </p:nvCxnSpPr>
        <p:spPr>
          <a:xfrm flipV="1">
            <a:off x="2123728" y="2396966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Try #3: Ring </a:t>
            </a:r>
            <a:r>
              <a:rPr kumimoji="1" lang="en-US" altLang="zh-CN" err="1"/>
              <a:t>allreduce</a:t>
            </a:r>
            <a:r>
              <a:rPr kumimoji="1" lang="en-US" altLang="zh-CN"/>
              <a:t>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538320" cy="815452"/>
          </a:xfrm>
        </p:spPr>
        <p:txBody>
          <a:bodyPr>
            <a:normAutofit fontScale="92500"/>
          </a:bodyPr>
          <a:lstStyle/>
          <a:p>
            <a:r>
              <a:rPr kumimoji="1" lang="en-US" altLang="zh-CN" dirty="0"/>
              <a:t>Decentralized reduce, each process reduce on a partitioned data (</a:t>
            </a:r>
            <a:r>
              <a:rPr kumimoji="1" lang="en-US" altLang="zh-CN" dirty="0" err="1"/>
              <a:t>prev</a:t>
            </a:r>
            <a:r>
              <a:rPr kumimoji="1" lang="en-US" altLang="zh-CN" dirty="0"/>
              <a:t>/next to it)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i.e., each process send one partition, compute it, &amp; then sends to the next process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3"/>
          <p:cNvSpPr txBox="1"/>
          <p:nvPr/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onsolas" panose="020B0609020204030204" pitchFamily="49" charset="0"/>
                <a:ea typeface="等线" panose="02010600030101010101" charset="-122"/>
                <a:cs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47616" y="2112149"/>
            <a:ext cx="576064" cy="576064"/>
            <a:chOff x="1935252" y="3577580"/>
            <a:chExt cx="576064" cy="57606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47616" y="2925465"/>
            <a:ext cx="576064" cy="576064"/>
            <a:chOff x="1935252" y="3577580"/>
            <a:chExt cx="576064" cy="57606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cxnSp>
        <p:nvCxnSpPr>
          <p:cNvPr id="12" name="直线连接符 11"/>
          <p:cNvCxnSpPr/>
          <p:nvPr/>
        </p:nvCxnSpPr>
        <p:spPr>
          <a:xfrm>
            <a:off x="1979712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1956048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447616" y="3867212"/>
            <a:ext cx="576064" cy="576064"/>
            <a:chOff x="1935252" y="3577580"/>
            <a:chExt cx="576064" cy="576064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cxnSp>
        <p:nvCxnSpPr>
          <p:cNvPr id="19" name="直线连接符 18"/>
          <p:cNvCxnSpPr/>
          <p:nvPr/>
        </p:nvCxnSpPr>
        <p:spPr>
          <a:xfrm>
            <a:off x="1956048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447616" y="4775717"/>
            <a:ext cx="576064" cy="576064"/>
            <a:chOff x="1935252" y="3577580"/>
            <a:chExt cx="576064" cy="576064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3" name="直线连接符 22"/>
          <p:cNvCxnSpPr/>
          <p:nvPr/>
        </p:nvCxnSpPr>
        <p:spPr>
          <a:xfrm>
            <a:off x="1956048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>
            <a:off x="3275856" y="2083526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/>
          <p:cNvCxnSpPr/>
          <p:nvPr/>
        </p:nvCxnSpPr>
        <p:spPr>
          <a:xfrm>
            <a:off x="5268416" y="205394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/>
          <p:cNvCxnSpPr/>
          <p:nvPr/>
        </p:nvCxnSpPr>
        <p:spPr>
          <a:xfrm>
            <a:off x="7284640" y="2043514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>
            <a:off x="1331640" y="2308021"/>
            <a:ext cx="449060" cy="186022"/>
            <a:chOff x="1331640" y="2308021"/>
            <a:chExt cx="449060" cy="186022"/>
          </a:xfrm>
        </p:grpSpPr>
        <p:sp>
          <p:nvSpPr>
            <p:cNvPr id="86" name="矩形 85"/>
            <p:cNvSpPr/>
            <p:nvPr/>
          </p:nvSpPr>
          <p:spPr>
            <a:xfrm>
              <a:off x="1331640" y="2308021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53616" y="2308021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581158" y="2308021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1708700" y="2310443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356628" y="3185343"/>
            <a:ext cx="449060" cy="186022"/>
            <a:chOff x="1865773" y="2475845"/>
            <a:chExt cx="449060" cy="186022"/>
          </a:xfrm>
          <a:solidFill>
            <a:srgbClr val="0432FF"/>
          </a:solidFill>
        </p:grpSpPr>
        <p:sp>
          <p:nvSpPr>
            <p:cNvPr id="29" name="矩形 28"/>
            <p:cNvSpPr/>
            <p:nvPr/>
          </p:nvSpPr>
          <p:spPr>
            <a:xfrm>
              <a:off x="1865773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1987749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2115291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2242833" y="2478267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356628" y="4140210"/>
            <a:ext cx="449060" cy="186022"/>
            <a:chOff x="1865773" y="2475845"/>
            <a:chExt cx="449060" cy="186022"/>
          </a:xfrm>
          <a:solidFill>
            <a:srgbClr val="FAEADD"/>
          </a:solidFill>
        </p:grpSpPr>
        <p:sp>
          <p:nvSpPr>
            <p:cNvPr id="35" name="矩形 34"/>
            <p:cNvSpPr/>
            <p:nvPr/>
          </p:nvSpPr>
          <p:spPr>
            <a:xfrm>
              <a:off x="1865773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987749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2115291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2242833" y="2478267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365798" y="5080919"/>
            <a:ext cx="449060" cy="186022"/>
            <a:chOff x="1865773" y="2475845"/>
            <a:chExt cx="449060" cy="186022"/>
          </a:xfrm>
          <a:solidFill>
            <a:srgbClr val="02FDFF"/>
          </a:solidFill>
        </p:grpSpPr>
        <p:sp>
          <p:nvSpPr>
            <p:cNvPr id="40" name="矩形 39"/>
            <p:cNvSpPr/>
            <p:nvPr/>
          </p:nvSpPr>
          <p:spPr>
            <a:xfrm>
              <a:off x="1865773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1987749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2115291" y="2475845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2242833" y="2478267"/>
              <a:ext cx="72000" cy="183600"/>
            </a:xfrm>
            <a:prstGeom prst="rect">
              <a:avLst/>
            </a:prstGeom>
            <a:grpFill/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5" name="矩形 44"/>
          <p:cNvSpPr/>
          <p:nvPr/>
        </p:nvSpPr>
        <p:spPr>
          <a:xfrm>
            <a:off x="2176325" y="2804928"/>
            <a:ext cx="72000" cy="183600"/>
          </a:xfrm>
          <a:prstGeom prst="rect">
            <a:avLst/>
          </a:prstGeom>
          <a:solidFill>
            <a:srgbClr val="0432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箭头连接符 48"/>
          <p:cNvCxnSpPr/>
          <p:nvPr/>
        </p:nvCxnSpPr>
        <p:spPr>
          <a:xfrm flipV="1">
            <a:off x="2129034" y="3324483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181631" y="3732445"/>
            <a:ext cx="72000" cy="183600"/>
          </a:xfrm>
          <a:prstGeom prst="rect">
            <a:avLst/>
          </a:prstGeom>
          <a:solidFill>
            <a:srgbClr val="FAEADD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6" name="直线箭头连接符 55"/>
          <p:cNvCxnSpPr/>
          <p:nvPr/>
        </p:nvCxnSpPr>
        <p:spPr>
          <a:xfrm flipV="1">
            <a:off x="2143442" y="4266229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2196039" y="4674191"/>
            <a:ext cx="72000" cy="183600"/>
          </a:xfrm>
          <a:prstGeom prst="rect">
            <a:avLst/>
          </a:prstGeom>
          <a:solidFill>
            <a:srgbClr val="02FDFF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8" name="直线箭头连接符 57"/>
          <p:cNvCxnSpPr/>
          <p:nvPr/>
        </p:nvCxnSpPr>
        <p:spPr>
          <a:xfrm>
            <a:off x="2353824" y="2391322"/>
            <a:ext cx="262222" cy="27927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2376000" y="2805910"/>
            <a:ext cx="72000" cy="183600"/>
          </a:xfrm>
          <a:prstGeom prst="rect">
            <a:avLst/>
          </a:prstGeom>
          <a:solidFill>
            <a:srgbClr val="FF5F00"/>
          </a:solidFill>
          <a:ln w="889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1102536" y="1934260"/>
            <a:ext cx="91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0 1 2 3</a:t>
            </a:r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877483" y="2703208"/>
            <a:ext cx="249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1</a:t>
            </a:r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2439844" y="2712067"/>
            <a:ext cx="600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0</a:t>
            </a:r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1876704" y="3639579"/>
            <a:ext cx="600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2</a:t>
            </a:r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1895129" y="4581325"/>
            <a:ext cx="600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3</a:t>
            </a:r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2649059" y="2112149"/>
            <a:ext cx="561696" cy="3274576"/>
            <a:chOff x="2649059" y="2112149"/>
            <a:chExt cx="561696" cy="3274576"/>
          </a:xfrm>
        </p:grpSpPr>
        <p:sp>
          <p:nvSpPr>
            <p:cNvPr id="15" name="矩形 14"/>
            <p:cNvSpPr/>
            <p:nvPr/>
          </p:nvSpPr>
          <p:spPr>
            <a:xfrm>
              <a:off x="2649059" y="2112149"/>
              <a:ext cx="561696" cy="32745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2954269" y="2307406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3081811" y="230982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5" name="矩形 94"/>
            <p:cNvSpPr/>
            <p:nvPr/>
          </p:nvSpPr>
          <p:spPr>
            <a:xfrm>
              <a:off x="2708894" y="3173194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8" name="矩形 97"/>
            <p:cNvSpPr/>
            <p:nvPr/>
          </p:nvSpPr>
          <p:spPr>
            <a:xfrm>
              <a:off x="3085954" y="3175616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矩形 99"/>
            <p:cNvSpPr/>
            <p:nvPr/>
          </p:nvSpPr>
          <p:spPr>
            <a:xfrm>
              <a:off x="2700869" y="4132228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2822845" y="4132228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2695217" y="5071552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2817193" y="5071552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2944735" y="5071552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18" name="组合 117"/>
            <p:cNvGrpSpPr/>
            <p:nvPr/>
          </p:nvGrpSpPr>
          <p:grpSpPr>
            <a:xfrm>
              <a:off x="2826000" y="2240807"/>
              <a:ext cx="72000" cy="250199"/>
              <a:chOff x="2826000" y="2240807"/>
              <a:chExt cx="72000" cy="250199"/>
            </a:xfrm>
          </p:grpSpPr>
          <p:sp>
            <p:nvSpPr>
              <p:cNvPr id="91" name="矩形 90"/>
              <p:cNvSpPr/>
              <p:nvPr/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24" name="组合 123"/>
            <p:cNvGrpSpPr/>
            <p:nvPr/>
          </p:nvGrpSpPr>
          <p:grpSpPr>
            <a:xfrm>
              <a:off x="2958412" y="3077657"/>
              <a:ext cx="72000" cy="279137"/>
              <a:chOff x="2958412" y="3077657"/>
              <a:chExt cx="72000" cy="279137"/>
            </a:xfrm>
          </p:grpSpPr>
          <p:sp>
            <p:nvSpPr>
              <p:cNvPr id="97" name="矩形 96"/>
              <p:cNvSpPr/>
              <p:nvPr/>
            </p:nvSpPr>
            <p:spPr>
              <a:xfrm>
                <a:off x="2958412" y="3173194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2958412" y="307765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59" name="组合 158"/>
            <p:cNvGrpSpPr/>
            <p:nvPr/>
          </p:nvGrpSpPr>
          <p:grpSpPr>
            <a:xfrm>
              <a:off x="3077929" y="4043060"/>
              <a:ext cx="72000" cy="275190"/>
              <a:chOff x="3077929" y="4043060"/>
              <a:chExt cx="72000" cy="275190"/>
            </a:xfrm>
          </p:grpSpPr>
          <p:sp>
            <p:nvSpPr>
              <p:cNvPr id="103" name="矩形 102"/>
              <p:cNvSpPr/>
              <p:nvPr/>
            </p:nvSpPr>
            <p:spPr>
              <a:xfrm>
                <a:off x="3077929" y="4134650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3077929" y="4043060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14" name="矩形 113"/>
            <p:cNvSpPr/>
            <p:nvPr/>
          </p:nvSpPr>
          <p:spPr>
            <a:xfrm>
              <a:off x="2695217" y="4996990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15" name="直线箭头连接符 114"/>
          <p:cNvCxnSpPr/>
          <p:nvPr/>
        </p:nvCxnSpPr>
        <p:spPr>
          <a:xfrm flipV="1">
            <a:off x="3563582" y="2391322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箭头连接符 115"/>
          <p:cNvCxnSpPr/>
          <p:nvPr/>
        </p:nvCxnSpPr>
        <p:spPr>
          <a:xfrm>
            <a:off x="4050181" y="2387830"/>
            <a:ext cx="210776" cy="27927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组合 118"/>
          <p:cNvGrpSpPr/>
          <p:nvPr/>
        </p:nvGrpSpPr>
        <p:grpSpPr>
          <a:xfrm>
            <a:off x="4042665" y="2771628"/>
            <a:ext cx="72000" cy="250199"/>
            <a:chOff x="2826000" y="2240807"/>
            <a:chExt cx="72000" cy="250199"/>
          </a:xfrm>
        </p:grpSpPr>
        <p:sp>
          <p:nvSpPr>
            <p:cNvPr id="120" name="矩形 119"/>
            <p:cNvSpPr/>
            <p:nvPr/>
          </p:nvSpPr>
          <p:spPr>
            <a:xfrm>
              <a:off x="2826000" y="2307406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2826000" y="2240807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2" name="文本框 121"/>
          <p:cNvSpPr txBox="1"/>
          <p:nvPr/>
        </p:nvSpPr>
        <p:spPr>
          <a:xfrm>
            <a:off x="4112819" y="2723887"/>
            <a:ext cx="600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1</a:t>
            </a:r>
            <a:endParaRPr lang="zh-CN" altLang="en-US"/>
          </a:p>
        </p:txBody>
      </p:sp>
      <p:grpSp>
        <p:nvGrpSpPr>
          <p:cNvPr id="125" name="组合 124"/>
          <p:cNvGrpSpPr/>
          <p:nvPr/>
        </p:nvGrpSpPr>
        <p:grpSpPr>
          <a:xfrm>
            <a:off x="3620868" y="2755059"/>
            <a:ext cx="72000" cy="279137"/>
            <a:chOff x="2958412" y="3077657"/>
            <a:chExt cx="72000" cy="279137"/>
          </a:xfrm>
        </p:grpSpPr>
        <p:sp>
          <p:nvSpPr>
            <p:cNvPr id="126" name="矩形 125"/>
            <p:cNvSpPr/>
            <p:nvPr/>
          </p:nvSpPr>
          <p:spPr>
            <a:xfrm>
              <a:off x="2958412" y="3173194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2958412" y="307765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8" name="文本框 127"/>
          <p:cNvSpPr txBox="1"/>
          <p:nvPr/>
        </p:nvSpPr>
        <p:spPr>
          <a:xfrm>
            <a:off x="3301670" y="2712062"/>
            <a:ext cx="249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2</a:t>
            </a:r>
            <a:endParaRPr lang="zh-CN" altLang="en-US"/>
          </a:p>
        </p:txBody>
      </p:sp>
      <p:cxnSp>
        <p:nvCxnSpPr>
          <p:cNvPr id="157" name="直线箭头连接符 156"/>
          <p:cNvCxnSpPr/>
          <p:nvPr/>
        </p:nvCxnSpPr>
        <p:spPr>
          <a:xfrm flipV="1">
            <a:off x="3559686" y="3332601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本框 157"/>
          <p:cNvSpPr txBox="1"/>
          <p:nvPr/>
        </p:nvSpPr>
        <p:spPr>
          <a:xfrm>
            <a:off x="3303895" y="3639579"/>
            <a:ext cx="600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3</a:t>
            </a:r>
            <a:endParaRPr lang="zh-CN" altLang="en-US"/>
          </a:p>
        </p:txBody>
      </p:sp>
      <p:grpSp>
        <p:nvGrpSpPr>
          <p:cNvPr id="160" name="组合 159"/>
          <p:cNvGrpSpPr/>
          <p:nvPr/>
        </p:nvGrpSpPr>
        <p:grpSpPr>
          <a:xfrm>
            <a:off x="3620868" y="3686650"/>
            <a:ext cx="72000" cy="275190"/>
            <a:chOff x="3077929" y="4043060"/>
            <a:chExt cx="72000" cy="275190"/>
          </a:xfrm>
        </p:grpSpPr>
        <p:sp>
          <p:nvSpPr>
            <p:cNvPr id="161" name="矩形 160"/>
            <p:cNvSpPr/>
            <p:nvPr/>
          </p:nvSpPr>
          <p:spPr>
            <a:xfrm>
              <a:off x="3077929" y="4134650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2" name="矩形 161"/>
            <p:cNvSpPr/>
            <p:nvPr/>
          </p:nvSpPr>
          <p:spPr>
            <a:xfrm>
              <a:off x="3077929" y="4043060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66" name="直线箭头连接符 165"/>
          <p:cNvCxnSpPr/>
          <p:nvPr/>
        </p:nvCxnSpPr>
        <p:spPr>
          <a:xfrm flipV="1">
            <a:off x="3595514" y="4253782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组合 168"/>
          <p:cNvGrpSpPr/>
          <p:nvPr/>
        </p:nvGrpSpPr>
        <p:grpSpPr>
          <a:xfrm>
            <a:off x="3654497" y="4681701"/>
            <a:ext cx="72000" cy="258162"/>
            <a:chOff x="2847617" y="5149390"/>
            <a:chExt cx="72000" cy="258162"/>
          </a:xfrm>
        </p:grpSpPr>
        <p:sp>
          <p:nvSpPr>
            <p:cNvPr id="167" name="矩形 166"/>
            <p:cNvSpPr/>
            <p:nvPr/>
          </p:nvSpPr>
          <p:spPr>
            <a:xfrm>
              <a:off x="2847617" y="5223952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8" name="矩形 167"/>
            <p:cNvSpPr/>
            <p:nvPr/>
          </p:nvSpPr>
          <p:spPr>
            <a:xfrm>
              <a:off x="2847617" y="5149390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70" name="文本框 169"/>
          <p:cNvSpPr txBox="1"/>
          <p:nvPr/>
        </p:nvSpPr>
        <p:spPr>
          <a:xfrm>
            <a:off x="3298021" y="4578466"/>
            <a:ext cx="355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0</a:t>
            </a:r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4561731" y="2049362"/>
            <a:ext cx="648072" cy="3274576"/>
            <a:chOff x="4561731" y="2049362"/>
            <a:chExt cx="648072" cy="3274576"/>
          </a:xfrm>
        </p:grpSpPr>
        <p:sp>
          <p:nvSpPr>
            <p:cNvPr id="25" name="矩形 24"/>
            <p:cNvSpPr/>
            <p:nvPr/>
          </p:nvSpPr>
          <p:spPr>
            <a:xfrm>
              <a:off x="4561731" y="2049362"/>
              <a:ext cx="648072" cy="32745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5" name="矩形 134"/>
            <p:cNvSpPr/>
            <p:nvPr/>
          </p:nvSpPr>
          <p:spPr>
            <a:xfrm>
              <a:off x="5067397" y="2312250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9" name="矩形 138"/>
            <p:cNvSpPr/>
            <p:nvPr/>
          </p:nvSpPr>
          <p:spPr>
            <a:xfrm>
              <a:off x="4690337" y="321279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48" name="组合 147"/>
            <p:cNvGrpSpPr/>
            <p:nvPr/>
          </p:nvGrpSpPr>
          <p:grpSpPr>
            <a:xfrm>
              <a:off x="4833416" y="5048541"/>
              <a:ext cx="199542" cy="183600"/>
              <a:chOff x="1987749" y="2475845"/>
              <a:chExt cx="199542" cy="183600"/>
            </a:xfrm>
            <a:solidFill>
              <a:srgbClr val="02FDFF"/>
            </a:solidFill>
          </p:grpSpPr>
          <p:sp>
            <p:nvSpPr>
              <p:cNvPr id="150" name="矩形 149"/>
              <p:cNvSpPr/>
              <p:nvPr/>
            </p:nvSpPr>
            <p:spPr>
              <a:xfrm>
                <a:off x="1987749" y="2475845"/>
                <a:ext cx="72000" cy="183600"/>
              </a:xfrm>
              <a:prstGeom prst="rect">
                <a:avLst/>
              </a:prstGeom>
              <a:grpFill/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1" name="矩形 150"/>
              <p:cNvSpPr/>
              <p:nvPr/>
            </p:nvSpPr>
            <p:spPr>
              <a:xfrm>
                <a:off x="2115291" y="2475845"/>
                <a:ext cx="72000" cy="183600"/>
              </a:xfrm>
              <a:prstGeom prst="rect">
                <a:avLst/>
              </a:prstGeom>
              <a:grpFill/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54" name="组合 253"/>
            <p:cNvGrpSpPr/>
            <p:nvPr/>
          </p:nvGrpSpPr>
          <p:grpSpPr>
            <a:xfrm>
              <a:off x="4933898" y="2131978"/>
              <a:ext cx="77957" cy="361450"/>
              <a:chOff x="4933898" y="2131978"/>
              <a:chExt cx="77957" cy="361450"/>
            </a:xfrm>
          </p:grpSpPr>
          <p:sp>
            <p:nvSpPr>
              <p:cNvPr id="134" name="矩形 133"/>
              <p:cNvSpPr/>
              <p:nvPr/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154" name="组合 153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155" name="矩形 154"/>
                <p:cNvSpPr/>
                <p:nvPr/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56" name="矩形 155"/>
                <p:cNvSpPr/>
                <p:nvPr/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179" name="组合 178"/>
            <p:cNvGrpSpPr/>
            <p:nvPr/>
          </p:nvGrpSpPr>
          <p:grpSpPr>
            <a:xfrm>
              <a:off x="5067397" y="3034196"/>
              <a:ext cx="72000" cy="364616"/>
              <a:chOff x="5067397" y="3034196"/>
              <a:chExt cx="72000" cy="364616"/>
            </a:xfrm>
          </p:grpSpPr>
          <p:sp>
            <p:nvSpPr>
              <p:cNvPr id="140" name="矩形 139"/>
              <p:cNvSpPr/>
              <p:nvPr/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163" name="组合 162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164" name="矩形 163"/>
                <p:cNvSpPr/>
                <p:nvPr/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65" name="矩形 164"/>
                <p:cNvSpPr/>
                <p:nvPr/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144" name="组合 143"/>
            <p:cNvGrpSpPr/>
            <p:nvPr/>
          </p:nvGrpSpPr>
          <p:grpSpPr>
            <a:xfrm>
              <a:off x="4684062" y="4140210"/>
              <a:ext cx="193976" cy="183600"/>
              <a:chOff x="1865773" y="2475845"/>
              <a:chExt cx="193976" cy="183600"/>
            </a:xfrm>
            <a:solidFill>
              <a:srgbClr val="FAEADD"/>
            </a:solidFill>
          </p:grpSpPr>
          <p:sp>
            <p:nvSpPr>
              <p:cNvPr id="145" name="矩形 144"/>
              <p:cNvSpPr/>
              <p:nvPr/>
            </p:nvSpPr>
            <p:spPr>
              <a:xfrm>
                <a:off x="1865773" y="2475845"/>
                <a:ext cx="72000" cy="183600"/>
              </a:xfrm>
              <a:prstGeom prst="rect">
                <a:avLst/>
              </a:prstGeom>
              <a:grpFill/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6" name="矩形 145"/>
              <p:cNvSpPr/>
              <p:nvPr/>
            </p:nvSpPr>
            <p:spPr>
              <a:xfrm>
                <a:off x="1987749" y="2475845"/>
                <a:ext cx="72000" cy="183600"/>
              </a:xfrm>
              <a:prstGeom prst="rect">
                <a:avLst/>
              </a:prstGeom>
              <a:grpFill/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72" name="组合 171"/>
            <p:cNvGrpSpPr/>
            <p:nvPr/>
          </p:nvGrpSpPr>
          <p:grpSpPr>
            <a:xfrm>
              <a:off x="4680600" y="3988881"/>
              <a:ext cx="72000" cy="258162"/>
              <a:chOff x="2847617" y="5149390"/>
              <a:chExt cx="72000" cy="258162"/>
            </a:xfrm>
          </p:grpSpPr>
          <p:sp>
            <p:nvSpPr>
              <p:cNvPr id="173" name="矩形 172"/>
              <p:cNvSpPr/>
              <p:nvPr/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75" name="组合 174"/>
            <p:cNvGrpSpPr/>
            <p:nvPr/>
          </p:nvGrpSpPr>
          <p:grpSpPr>
            <a:xfrm>
              <a:off x="4828397" y="4898346"/>
              <a:ext cx="72000" cy="250199"/>
              <a:chOff x="2826000" y="2240807"/>
              <a:chExt cx="72000" cy="250199"/>
            </a:xfrm>
          </p:grpSpPr>
          <p:sp>
            <p:nvSpPr>
              <p:cNvPr id="176" name="矩形 175"/>
              <p:cNvSpPr/>
              <p:nvPr/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5247169" y="2387830"/>
            <a:ext cx="847359" cy="2792760"/>
            <a:chOff x="5247169" y="2387830"/>
            <a:chExt cx="847359" cy="2792760"/>
          </a:xfrm>
        </p:grpSpPr>
        <p:sp>
          <p:nvSpPr>
            <p:cNvPr id="210" name="矩形 209"/>
            <p:cNvSpPr/>
            <p:nvPr/>
          </p:nvSpPr>
          <p:spPr>
            <a:xfrm>
              <a:off x="5590257" y="3847353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5247169" y="2387830"/>
              <a:ext cx="847359" cy="2792760"/>
              <a:chOff x="5247169" y="2387830"/>
              <a:chExt cx="847359" cy="2792760"/>
            </a:xfrm>
          </p:grpSpPr>
          <p:cxnSp>
            <p:nvCxnSpPr>
              <p:cNvPr id="178" name="直线箭头连接符 177"/>
              <p:cNvCxnSpPr/>
              <p:nvPr/>
            </p:nvCxnSpPr>
            <p:spPr>
              <a:xfrm flipV="1">
                <a:off x="5493768" y="2400003"/>
                <a:ext cx="180825" cy="9178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0" name="组合 179"/>
              <p:cNvGrpSpPr/>
              <p:nvPr/>
            </p:nvGrpSpPr>
            <p:grpSpPr>
              <a:xfrm>
                <a:off x="5536091" y="2707924"/>
                <a:ext cx="72000" cy="364616"/>
                <a:chOff x="5067397" y="3034196"/>
                <a:chExt cx="72000" cy="364616"/>
              </a:xfrm>
            </p:grpSpPr>
            <p:sp>
              <p:nvSpPr>
                <p:cNvPr id="181" name="矩形 180"/>
                <p:cNvSpPr/>
                <p:nvPr/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182" name="组合 181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183" name="矩形 182"/>
                  <p:cNvSpPr/>
                  <p:nvPr/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184" name="矩形 183"/>
                  <p:cNvSpPr/>
                  <p:nvPr/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  <p:sp>
            <p:nvSpPr>
              <p:cNvPr id="185" name="文本框 184"/>
              <p:cNvSpPr txBox="1"/>
              <p:nvPr/>
            </p:nvSpPr>
            <p:spPr>
              <a:xfrm>
                <a:off x="5247169" y="2680477"/>
                <a:ext cx="2722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/>
                  <a:t>3</a:t>
                </a:r>
                <a:endParaRPr lang="zh-CN" altLang="en-US"/>
              </a:p>
            </p:txBody>
          </p:sp>
          <p:cxnSp>
            <p:nvCxnSpPr>
              <p:cNvPr id="197" name="直线箭头连接符 196"/>
              <p:cNvCxnSpPr/>
              <p:nvPr/>
            </p:nvCxnSpPr>
            <p:spPr>
              <a:xfrm flipV="1">
                <a:off x="5547608" y="3336238"/>
                <a:ext cx="180825" cy="9178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2" name="组合 211"/>
              <p:cNvGrpSpPr/>
              <p:nvPr/>
            </p:nvGrpSpPr>
            <p:grpSpPr>
              <a:xfrm>
                <a:off x="5586795" y="3696024"/>
                <a:ext cx="72000" cy="258162"/>
                <a:chOff x="2847617" y="5149390"/>
                <a:chExt cx="72000" cy="258162"/>
              </a:xfrm>
            </p:grpSpPr>
            <p:sp>
              <p:nvSpPr>
                <p:cNvPr id="213" name="矩形 212"/>
                <p:cNvSpPr/>
                <p:nvPr/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14" name="矩形 213"/>
                <p:cNvSpPr/>
                <p:nvPr/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sp>
            <p:nvSpPr>
              <p:cNvPr id="221" name="文本框 220"/>
              <p:cNvSpPr txBox="1"/>
              <p:nvPr/>
            </p:nvSpPr>
            <p:spPr>
              <a:xfrm>
                <a:off x="5304249" y="3646040"/>
                <a:ext cx="2722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/>
                  <a:t>0</a:t>
                </a:r>
                <a:endParaRPr lang="zh-CN" altLang="en-US"/>
              </a:p>
            </p:txBody>
          </p:sp>
          <p:cxnSp>
            <p:nvCxnSpPr>
              <p:cNvPr id="228" name="直线箭头连接符 227"/>
              <p:cNvCxnSpPr/>
              <p:nvPr/>
            </p:nvCxnSpPr>
            <p:spPr>
              <a:xfrm flipV="1">
                <a:off x="5608091" y="4239410"/>
                <a:ext cx="180825" cy="9178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文本框 234"/>
              <p:cNvSpPr txBox="1"/>
              <p:nvPr/>
            </p:nvSpPr>
            <p:spPr>
              <a:xfrm>
                <a:off x="5311883" y="4588835"/>
                <a:ext cx="2722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/>
                  <a:t>1</a:t>
                </a:r>
                <a:endParaRPr lang="zh-CN" altLang="en-US"/>
              </a:p>
            </p:txBody>
          </p:sp>
          <p:grpSp>
            <p:nvGrpSpPr>
              <p:cNvPr id="251" name="组合 250"/>
              <p:cNvGrpSpPr/>
              <p:nvPr/>
            </p:nvGrpSpPr>
            <p:grpSpPr>
              <a:xfrm>
                <a:off x="5606153" y="4625212"/>
                <a:ext cx="77019" cy="333795"/>
                <a:chOff x="6044126" y="4625170"/>
                <a:chExt cx="77019" cy="333795"/>
              </a:xfrm>
            </p:grpSpPr>
            <p:sp>
              <p:nvSpPr>
                <p:cNvPr id="247" name="矩形 246"/>
                <p:cNvSpPr/>
                <p:nvPr/>
              </p:nvSpPr>
              <p:spPr>
                <a:xfrm>
                  <a:off x="6049145" y="4775365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248" name="组合 247"/>
                <p:cNvGrpSpPr/>
                <p:nvPr/>
              </p:nvGrpSpPr>
              <p:grpSpPr>
                <a:xfrm>
                  <a:off x="6044126" y="4625170"/>
                  <a:ext cx="72000" cy="250199"/>
                  <a:chOff x="2826000" y="2240807"/>
                  <a:chExt cx="72000" cy="250199"/>
                </a:xfrm>
              </p:grpSpPr>
              <p:sp>
                <p:nvSpPr>
                  <p:cNvPr id="249" name="矩形 248"/>
                  <p:cNvSpPr/>
                  <p:nvPr/>
                </p:nvSpPr>
                <p:spPr>
                  <a:xfrm>
                    <a:off x="2826000" y="2307406"/>
                    <a:ext cx="72000" cy="183600"/>
                  </a:xfrm>
                  <a:prstGeom prst="rect">
                    <a:avLst/>
                  </a:prstGeom>
                  <a:solidFill>
                    <a:srgbClr val="FF5F00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50" name="矩形 249"/>
                  <p:cNvSpPr/>
                  <p:nvPr/>
                </p:nvSpPr>
                <p:spPr>
                  <a:xfrm>
                    <a:off x="2826000" y="2240807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  <p:cxnSp>
            <p:nvCxnSpPr>
              <p:cNvPr id="252" name="直线箭头连接符 251"/>
              <p:cNvCxnSpPr/>
              <p:nvPr/>
            </p:nvCxnSpPr>
            <p:spPr>
              <a:xfrm>
                <a:off x="5787291" y="2387830"/>
                <a:ext cx="210776" cy="27927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5" name="组合 254"/>
              <p:cNvGrpSpPr/>
              <p:nvPr/>
            </p:nvGrpSpPr>
            <p:grpSpPr>
              <a:xfrm>
                <a:off x="5786231" y="2706598"/>
                <a:ext cx="77957" cy="361450"/>
                <a:chOff x="4933898" y="2131978"/>
                <a:chExt cx="77957" cy="361450"/>
              </a:xfrm>
            </p:grpSpPr>
            <p:sp>
              <p:nvSpPr>
                <p:cNvPr id="256" name="矩形 255"/>
                <p:cNvSpPr/>
                <p:nvPr/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257" name="组合 256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258" name="矩形 257"/>
                  <p:cNvSpPr/>
                  <p:nvPr/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59" name="矩形 258"/>
                  <p:cNvSpPr/>
                  <p:nvPr/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  <p:sp>
            <p:nvSpPr>
              <p:cNvPr id="260" name="文本框 259"/>
              <p:cNvSpPr txBox="1"/>
              <p:nvPr/>
            </p:nvSpPr>
            <p:spPr>
              <a:xfrm>
                <a:off x="5822231" y="2701011"/>
                <a:ext cx="2722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/>
                  <a:t>2</a:t>
                </a:r>
                <a:endParaRPr lang="zh-CN" altLang="en-US"/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6238179" y="1995079"/>
            <a:ext cx="893777" cy="3386284"/>
            <a:chOff x="6238179" y="1995079"/>
            <a:chExt cx="893777" cy="3386284"/>
          </a:xfrm>
        </p:grpSpPr>
        <p:sp>
          <p:nvSpPr>
            <p:cNvPr id="53" name="矩形 52"/>
            <p:cNvSpPr/>
            <p:nvPr/>
          </p:nvSpPr>
          <p:spPr>
            <a:xfrm>
              <a:off x="6238179" y="1995079"/>
              <a:ext cx="893777" cy="33862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271" name="组合 270"/>
            <p:cNvGrpSpPr/>
            <p:nvPr/>
          </p:nvGrpSpPr>
          <p:grpSpPr>
            <a:xfrm>
              <a:off x="6913462" y="2030697"/>
              <a:ext cx="76479" cy="454041"/>
              <a:chOff x="6806464" y="2030697"/>
              <a:chExt cx="76479" cy="454041"/>
            </a:xfrm>
          </p:grpSpPr>
          <p:sp>
            <p:nvSpPr>
              <p:cNvPr id="187" name="矩形 186"/>
              <p:cNvSpPr/>
              <p:nvPr/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192" name="组合 191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193" name="矩形 192"/>
                <p:cNvSpPr/>
                <p:nvPr/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194" name="组合 193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195" name="矩形 194"/>
                  <p:cNvSpPr/>
                  <p:nvPr/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196" name="矩形 195"/>
                  <p:cNvSpPr/>
                  <p:nvPr/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270" name="组合 269"/>
            <p:cNvGrpSpPr/>
            <p:nvPr/>
          </p:nvGrpSpPr>
          <p:grpSpPr>
            <a:xfrm>
              <a:off x="6331728" y="2957438"/>
              <a:ext cx="75462" cy="435712"/>
              <a:chOff x="6178758" y="2957438"/>
              <a:chExt cx="75462" cy="435712"/>
            </a:xfrm>
          </p:grpSpPr>
          <p:sp>
            <p:nvSpPr>
              <p:cNvPr id="222" name="矩形 221"/>
              <p:cNvSpPr/>
              <p:nvPr/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4" name="矩形 223"/>
              <p:cNvSpPr/>
              <p:nvPr/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225" name="组合 224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226" name="矩形 225"/>
                <p:cNvSpPr/>
                <p:nvPr/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27" name="矩形 226"/>
                <p:cNvSpPr/>
                <p:nvPr/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55" name="组合 54"/>
            <p:cNvGrpSpPr/>
            <p:nvPr/>
          </p:nvGrpSpPr>
          <p:grpSpPr>
            <a:xfrm>
              <a:off x="6546798" y="3890262"/>
              <a:ext cx="75537" cy="433548"/>
              <a:chOff x="6546798" y="3890262"/>
              <a:chExt cx="75537" cy="433548"/>
            </a:xfrm>
          </p:grpSpPr>
          <p:sp>
            <p:nvSpPr>
              <p:cNvPr id="241" name="矩形 240"/>
              <p:cNvSpPr/>
              <p:nvPr/>
            </p:nvSpPr>
            <p:spPr>
              <a:xfrm>
                <a:off x="6546798" y="404678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6555354" y="4215154"/>
                <a:ext cx="66981" cy="108656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243" name="组合 242"/>
              <p:cNvGrpSpPr/>
              <p:nvPr/>
            </p:nvGrpSpPr>
            <p:grpSpPr>
              <a:xfrm>
                <a:off x="6550335" y="3890262"/>
                <a:ext cx="72000" cy="250199"/>
                <a:chOff x="2826000" y="2240807"/>
                <a:chExt cx="72000" cy="250199"/>
              </a:xfrm>
            </p:grpSpPr>
            <p:sp>
              <p:nvSpPr>
                <p:cNvPr id="244" name="矩形 243"/>
                <p:cNvSpPr/>
                <p:nvPr/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45" name="矩形 244"/>
                <p:cNvSpPr/>
                <p:nvPr/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59" name="组合 58"/>
            <p:cNvGrpSpPr/>
            <p:nvPr/>
          </p:nvGrpSpPr>
          <p:grpSpPr>
            <a:xfrm>
              <a:off x="6760436" y="4820100"/>
              <a:ext cx="77957" cy="452290"/>
              <a:chOff x="6760436" y="4820100"/>
              <a:chExt cx="77957" cy="452290"/>
            </a:xfrm>
          </p:grpSpPr>
          <p:sp>
            <p:nvSpPr>
              <p:cNvPr id="262" name="矩形 261"/>
              <p:cNvSpPr/>
              <p:nvPr/>
            </p:nvSpPr>
            <p:spPr>
              <a:xfrm>
                <a:off x="6760436" y="5088790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263" name="组合 262"/>
              <p:cNvGrpSpPr/>
              <p:nvPr/>
            </p:nvGrpSpPr>
            <p:grpSpPr>
              <a:xfrm>
                <a:off x="6760436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264" name="矩形 263"/>
                <p:cNvSpPr/>
                <p:nvPr/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265" name="组合 264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266" name="矩形 265"/>
                  <p:cNvSpPr/>
                  <p:nvPr/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67" name="矩形 266"/>
                  <p:cNvSpPr/>
                  <p:nvPr/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28" grpId="0"/>
      <p:bldP spid="158" grpId="0"/>
      <p:bldP spid="1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" name="直线连接符 175"/>
          <p:cNvCxnSpPr/>
          <p:nvPr>
            <p:custDataLst>
              <p:tags r:id="rId1"/>
            </p:custDataLst>
          </p:nvPr>
        </p:nvCxnSpPr>
        <p:spPr>
          <a:xfrm>
            <a:off x="1763688" y="2400181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线连接符 176"/>
          <p:cNvCxnSpPr/>
          <p:nvPr>
            <p:custDataLst>
              <p:tags r:id="rId2"/>
            </p:custDataLst>
          </p:nvPr>
        </p:nvCxnSpPr>
        <p:spPr>
          <a:xfrm>
            <a:off x="1740024" y="3323678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连接符 182"/>
          <p:cNvCxnSpPr/>
          <p:nvPr>
            <p:custDataLst>
              <p:tags r:id="rId3"/>
            </p:custDataLst>
          </p:nvPr>
        </p:nvCxnSpPr>
        <p:spPr>
          <a:xfrm>
            <a:off x="1740024" y="4265425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线连接符 186"/>
          <p:cNvCxnSpPr/>
          <p:nvPr>
            <p:custDataLst>
              <p:tags r:id="rId4"/>
            </p:custDataLst>
          </p:nvPr>
        </p:nvCxnSpPr>
        <p:spPr>
          <a:xfrm>
            <a:off x="1740024" y="5173930"/>
            <a:ext cx="6120680" cy="0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矩形 362"/>
          <p:cNvSpPr/>
          <p:nvPr>
            <p:custDataLst>
              <p:tags r:id="rId5"/>
            </p:custDataLst>
          </p:nvPr>
        </p:nvSpPr>
        <p:spPr>
          <a:xfrm>
            <a:off x="1115616" y="2175212"/>
            <a:ext cx="648072" cy="3274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Ring </a:t>
            </a:r>
            <a:r>
              <a:rPr kumimoji="1" lang="en-US" altLang="zh-CN" err="1"/>
              <a:t>allreduce</a:t>
            </a:r>
            <a:r>
              <a:rPr kumimoji="1" lang="en-US" altLang="zh-CN"/>
              <a:t>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296144"/>
          </a:xfrm>
        </p:spPr>
        <p:txBody>
          <a:bodyPr/>
          <a:lstStyle/>
          <a:p>
            <a:r>
              <a:rPr kumimoji="1" lang="en-US" altLang="zh-CN"/>
              <a:t>After the individual reduce, each process can scatter to collect results </a:t>
            </a:r>
            <a:endParaRPr kumimoji="1" lang="en-US" altLang="zh-CN"/>
          </a:p>
          <a:p>
            <a:pPr lvl="1"/>
            <a:r>
              <a:rPr kumimoji="1" lang="en-US" altLang="zh-CN"/>
              <a:t>Eventually, all the processes will have the same reduced data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170" name="组合 169"/>
          <p:cNvGrpSpPr/>
          <p:nvPr>
            <p:custDataLst>
              <p:tags r:id="rId6"/>
            </p:custDataLst>
          </p:nvPr>
        </p:nvGrpSpPr>
        <p:grpSpPr>
          <a:xfrm>
            <a:off x="539552" y="2112149"/>
            <a:ext cx="576064" cy="576064"/>
            <a:chOff x="1935252" y="3577580"/>
            <a:chExt cx="576064" cy="576064"/>
          </a:xfrm>
        </p:grpSpPr>
        <p:pic>
          <p:nvPicPr>
            <p:cNvPr id="171" name="图片 170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2" name="文本框 171"/>
            <p:cNvSpPr txBox="1"/>
            <p:nvPr>
              <p:custDataLst>
                <p:tags r:id="rId9"/>
              </p:custDataLst>
            </p:nvPr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0</a:t>
              </a:r>
              <a:endParaRPr kumimoji="1" lang="zh-CN" altLang="en-US"/>
            </a:p>
          </p:txBody>
        </p:sp>
      </p:grpSp>
      <p:grpSp>
        <p:nvGrpSpPr>
          <p:cNvPr id="173" name="组合 172"/>
          <p:cNvGrpSpPr/>
          <p:nvPr>
            <p:custDataLst>
              <p:tags r:id="rId10"/>
            </p:custDataLst>
          </p:nvPr>
        </p:nvGrpSpPr>
        <p:grpSpPr>
          <a:xfrm>
            <a:off x="539552" y="2925465"/>
            <a:ext cx="576064" cy="576064"/>
            <a:chOff x="1935252" y="3577580"/>
            <a:chExt cx="576064" cy="576064"/>
          </a:xfrm>
        </p:grpSpPr>
        <p:pic>
          <p:nvPicPr>
            <p:cNvPr id="174" name="图片 17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75" name="文本框 174"/>
            <p:cNvSpPr txBox="1"/>
            <p:nvPr>
              <p:custDataLst>
                <p:tags r:id="rId12"/>
              </p:custDataLst>
            </p:nvPr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1</a:t>
              </a:r>
              <a:endParaRPr kumimoji="1" lang="zh-CN" altLang="en-US"/>
            </a:p>
          </p:txBody>
        </p:sp>
      </p:grpSp>
      <p:grpSp>
        <p:nvGrpSpPr>
          <p:cNvPr id="180" name="组合 179"/>
          <p:cNvGrpSpPr/>
          <p:nvPr>
            <p:custDataLst>
              <p:tags r:id="rId13"/>
            </p:custDataLst>
          </p:nvPr>
        </p:nvGrpSpPr>
        <p:grpSpPr>
          <a:xfrm>
            <a:off x="539552" y="3867212"/>
            <a:ext cx="576064" cy="576064"/>
            <a:chOff x="1935252" y="3577580"/>
            <a:chExt cx="576064" cy="576064"/>
          </a:xfrm>
        </p:grpSpPr>
        <p:pic>
          <p:nvPicPr>
            <p:cNvPr id="181" name="图片 180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82" name="文本框 181"/>
            <p:cNvSpPr txBox="1"/>
            <p:nvPr>
              <p:custDataLst>
                <p:tags r:id="rId15"/>
              </p:custDataLst>
            </p:nvPr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2</a:t>
              </a:r>
              <a:endParaRPr kumimoji="1" lang="zh-CN" altLang="en-US"/>
            </a:p>
          </p:txBody>
        </p:sp>
      </p:grpSp>
      <p:grpSp>
        <p:nvGrpSpPr>
          <p:cNvPr id="184" name="组合 183"/>
          <p:cNvGrpSpPr/>
          <p:nvPr>
            <p:custDataLst>
              <p:tags r:id="rId16"/>
            </p:custDataLst>
          </p:nvPr>
        </p:nvGrpSpPr>
        <p:grpSpPr>
          <a:xfrm>
            <a:off x="539552" y="4775717"/>
            <a:ext cx="576064" cy="576064"/>
            <a:chOff x="1935252" y="3577580"/>
            <a:chExt cx="576064" cy="576064"/>
          </a:xfrm>
        </p:grpSpPr>
        <p:pic>
          <p:nvPicPr>
            <p:cNvPr id="185" name="图片 184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935252" y="3577580"/>
              <a:ext cx="576064" cy="576064"/>
            </a:xfrm>
            <a:prstGeom prst="rect">
              <a:avLst/>
            </a:prstGeom>
          </p:spPr>
        </p:pic>
        <p:sp>
          <p:nvSpPr>
            <p:cNvPr id="186" name="文本框 185"/>
            <p:cNvSpPr txBox="1"/>
            <p:nvPr>
              <p:custDataLst>
                <p:tags r:id="rId18"/>
              </p:custDataLst>
            </p:nvPr>
          </p:nvSpPr>
          <p:spPr>
            <a:xfrm>
              <a:off x="2066831" y="364064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/>
                <a:t>3</a:t>
              </a:r>
              <a:endParaRPr kumimoji="1" lang="zh-CN" altLang="en-US"/>
            </a:p>
          </p:txBody>
        </p:sp>
      </p:grpSp>
      <p:cxnSp>
        <p:nvCxnSpPr>
          <p:cNvPr id="207" name="直线连接符 206"/>
          <p:cNvCxnSpPr/>
          <p:nvPr>
            <p:custDataLst>
              <p:tags r:id="rId19"/>
            </p:custDataLst>
          </p:nvPr>
        </p:nvCxnSpPr>
        <p:spPr>
          <a:xfrm>
            <a:off x="3491880" y="2121273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线连接符 215"/>
          <p:cNvCxnSpPr/>
          <p:nvPr>
            <p:custDataLst>
              <p:tags r:id="rId20"/>
            </p:custDataLst>
          </p:nvPr>
        </p:nvCxnSpPr>
        <p:spPr>
          <a:xfrm>
            <a:off x="5436096" y="2087207"/>
            <a:ext cx="0" cy="329783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线箭头连接符 273"/>
          <p:cNvCxnSpPr/>
          <p:nvPr>
            <p:custDataLst>
              <p:tags r:id="rId21"/>
            </p:custDataLst>
          </p:nvPr>
        </p:nvCxnSpPr>
        <p:spPr>
          <a:xfrm flipV="1">
            <a:off x="1934906" y="2398301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5" name="组合 274"/>
          <p:cNvGrpSpPr/>
          <p:nvPr>
            <p:custDataLst>
              <p:tags r:id="rId22"/>
            </p:custDataLst>
          </p:nvPr>
        </p:nvGrpSpPr>
        <p:grpSpPr>
          <a:xfrm>
            <a:off x="1995003" y="2686598"/>
            <a:ext cx="75462" cy="435712"/>
            <a:chOff x="6178758" y="2957438"/>
            <a:chExt cx="75462" cy="435712"/>
          </a:xfrm>
        </p:grpSpPr>
        <p:sp>
          <p:nvSpPr>
            <p:cNvPr id="276" name="矩形 275"/>
            <p:cNvSpPr/>
            <p:nvPr>
              <p:custDataLst>
                <p:tags r:id="rId23"/>
              </p:custDataLst>
            </p:nvPr>
          </p:nvSpPr>
          <p:spPr>
            <a:xfrm>
              <a:off x="6181516" y="320955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7" name="矩形 276"/>
            <p:cNvSpPr/>
            <p:nvPr>
              <p:custDataLst>
                <p:tags r:id="rId24"/>
              </p:custDataLst>
            </p:nvPr>
          </p:nvSpPr>
          <p:spPr>
            <a:xfrm>
              <a:off x="6182220" y="310876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278" name="组合 277"/>
            <p:cNvGrpSpPr/>
            <p:nvPr/>
          </p:nvGrpSpPr>
          <p:grpSpPr>
            <a:xfrm>
              <a:off x="6178758" y="2957438"/>
              <a:ext cx="72000" cy="258162"/>
              <a:chOff x="2847617" y="5149390"/>
              <a:chExt cx="72000" cy="258162"/>
            </a:xfrm>
          </p:grpSpPr>
          <p:sp>
            <p:nvSpPr>
              <p:cNvPr id="279" name="矩形 278"/>
              <p:cNvSpPr/>
              <p:nvPr>
                <p:custDataLst>
                  <p:tags r:id="rId25"/>
                </p:custDataLst>
              </p:nvPr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0" name="矩形 279"/>
              <p:cNvSpPr/>
              <p:nvPr>
                <p:custDataLst>
                  <p:tags r:id="rId26"/>
                </p:custDataLst>
              </p:nvPr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cxnSp>
        <p:nvCxnSpPr>
          <p:cNvPr id="281" name="直线箭头连接符 280"/>
          <p:cNvCxnSpPr/>
          <p:nvPr>
            <p:custDataLst>
              <p:tags r:id="rId27"/>
            </p:custDataLst>
          </p:nvPr>
        </p:nvCxnSpPr>
        <p:spPr>
          <a:xfrm flipV="1">
            <a:off x="1982811" y="3345012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线箭头连接符 309"/>
          <p:cNvCxnSpPr/>
          <p:nvPr>
            <p:custDataLst>
              <p:tags r:id="rId28"/>
            </p:custDataLst>
          </p:nvPr>
        </p:nvCxnSpPr>
        <p:spPr>
          <a:xfrm flipV="1">
            <a:off x="2064635" y="4273398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5" name="组合 364"/>
          <p:cNvGrpSpPr/>
          <p:nvPr>
            <p:custDataLst>
              <p:tags r:id="rId29"/>
            </p:custDataLst>
          </p:nvPr>
        </p:nvGrpSpPr>
        <p:grpSpPr>
          <a:xfrm>
            <a:off x="1189374" y="2221417"/>
            <a:ext cx="541212" cy="3130364"/>
            <a:chOff x="1189374" y="2221417"/>
            <a:chExt cx="541212" cy="3130364"/>
          </a:xfrm>
        </p:grpSpPr>
        <p:grpSp>
          <p:nvGrpSpPr>
            <p:cNvPr id="255" name="组合 254"/>
            <p:cNvGrpSpPr/>
            <p:nvPr/>
          </p:nvGrpSpPr>
          <p:grpSpPr>
            <a:xfrm>
              <a:off x="1189374" y="2995641"/>
              <a:ext cx="75462" cy="435712"/>
              <a:chOff x="6178758" y="2957438"/>
              <a:chExt cx="75462" cy="435712"/>
            </a:xfrm>
          </p:grpSpPr>
          <p:sp>
            <p:nvSpPr>
              <p:cNvPr id="256" name="矩形 255"/>
              <p:cNvSpPr/>
              <p:nvPr>
                <p:custDataLst>
                  <p:tags r:id="rId30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7" name="矩形 256"/>
              <p:cNvSpPr/>
              <p:nvPr>
                <p:custDataLst>
                  <p:tags r:id="rId31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258" name="组合 257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259" name="矩形 258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60" name="矩形 259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316" name="组合 315"/>
            <p:cNvGrpSpPr/>
            <p:nvPr/>
          </p:nvGrpSpPr>
          <p:grpSpPr>
            <a:xfrm>
              <a:off x="1654107" y="2221417"/>
              <a:ext cx="76479" cy="454041"/>
              <a:chOff x="6806464" y="2030697"/>
              <a:chExt cx="76479" cy="454041"/>
            </a:xfrm>
          </p:grpSpPr>
          <p:sp>
            <p:nvSpPr>
              <p:cNvPr id="317" name="矩形 316"/>
              <p:cNvSpPr/>
              <p:nvPr>
                <p:custDataLst>
                  <p:tags r:id="rId34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18" name="组合 317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319" name="矩形 318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320" name="组合 319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321" name="矩形 320"/>
                  <p:cNvSpPr/>
                  <p:nvPr>
                    <p:custDataLst>
                      <p:tags r:id="rId36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322" name="矩形 321"/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332" name="组合 331"/>
            <p:cNvGrpSpPr/>
            <p:nvPr/>
          </p:nvGrpSpPr>
          <p:grpSpPr>
            <a:xfrm>
              <a:off x="1350800" y="4056624"/>
              <a:ext cx="77019" cy="433548"/>
              <a:chOff x="3790969" y="4956973"/>
              <a:chExt cx="77019" cy="433548"/>
            </a:xfrm>
          </p:grpSpPr>
          <p:sp>
            <p:nvSpPr>
              <p:cNvPr id="327" name="矩形 326"/>
              <p:cNvSpPr/>
              <p:nvPr>
                <p:custDataLst>
                  <p:tags r:id="rId38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8" name="矩形 327"/>
              <p:cNvSpPr/>
              <p:nvPr>
                <p:custDataLst>
                  <p:tags r:id="rId39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29" name="组合 328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330" name="矩形 329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31" name="矩形 330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339" name="组合 338"/>
            <p:cNvGrpSpPr/>
            <p:nvPr/>
          </p:nvGrpSpPr>
          <p:grpSpPr>
            <a:xfrm>
              <a:off x="1551147" y="4908446"/>
              <a:ext cx="77957" cy="443335"/>
              <a:chOff x="6653438" y="4820100"/>
              <a:chExt cx="77957" cy="443335"/>
            </a:xfrm>
          </p:grpSpPr>
          <p:sp>
            <p:nvSpPr>
              <p:cNvPr id="333" name="矩形 332"/>
              <p:cNvSpPr/>
              <p:nvPr>
                <p:custDataLst>
                  <p:tags r:id="rId42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34" name="组合 333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335" name="矩形 334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336" name="组合 335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337" name="矩形 336"/>
                  <p:cNvSpPr/>
                  <p:nvPr>
                    <p:custDataLst>
                      <p:tags r:id="rId44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338" name="矩形 337"/>
                  <p:cNvSpPr/>
                  <p:nvPr>
                    <p:custDataLst>
                      <p:tags r:id="rId45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340" name="组合 339"/>
          <p:cNvGrpSpPr/>
          <p:nvPr>
            <p:custDataLst>
              <p:tags r:id="rId46"/>
            </p:custDataLst>
          </p:nvPr>
        </p:nvGrpSpPr>
        <p:grpSpPr>
          <a:xfrm>
            <a:off x="2008199" y="3611793"/>
            <a:ext cx="77019" cy="433548"/>
            <a:chOff x="3790969" y="4956973"/>
            <a:chExt cx="77019" cy="433548"/>
          </a:xfrm>
        </p:grpSpPr>
        <p:sp>
          <p:nvSpPr>
            <p:cNvPr id="341" name="矩形 340"/>
            <p:cNvSpPr/>
            <p:nvPr>
              <p:custDataLst>
                <p:tags r:id="rId47"/>
              </p:custDataLst>
            </p:nvPr>
          </p:nvSpPr>
          <p:spPr>
            <a:xfrm>
              <a:off x="3795988" y="5206921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2" name="矩形 341"/>
            <p:cNvSpPr/>
            <p:nvPr>
              <p:custDataLst>
                <p:tags r:id="rId48"/>
              </p:custDataLst>
            </p:nvPr>
          </p:nvSpPr>
          <p:spPr>
            <a:xfrm>
              <a:off x="3795988" y="5107168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43" name="组合 342"/>
            <p:cNvGrpSpPr/>
            <p:nvPr/>
          </p:nvGrpSpPr>
          <p:grpSpPr>
            <a:xfrm>
              <a:off x="3790969" y="4956973"/>
              <a:ext cx="72000" cy="250199"/>
              <a:chOff x="2826000" y="2240807"/>
              <a:chExt cx="72000" cy="250199"/>
            </a:xfrm>
          </p:grpSpPr>
          <p:sp>
            <p:nvSpPr>
              <p:cNvPr id="344" name="矩形 343"/>
              <p:cNvSpPr/>
              <p:nvPr>
                <p:custDataLst>
                  <p:tags r:id="rId49"/>
                </p:custDataLst>
              </p:nvPr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45" name="矩形 344"/>
              <p:cNvSpPr/>
              <p:nvPr>
                <p:custDataLst>
                  <p:tags r:id="rId50"/>
                </p:custDataLst>
              </p:nvPr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346" name="组合 345"/>
          <p:cNvGrpSpPr/>
          <p:nvPr>
            <p:custDataLst>
              <p:tags r:id="rId51"/>
            </p:custDataLst>
          </p:nvPr>
        </p:nvGrpSpPr>
        <p:grpSpPr>
          <a:xfrm>
            <a:off x="2052776" y="4540856"/>
            <a:ext cx="77957" cy="443335"/>
            <a:chOff x="6653438" y="4820100"/>
            <a:chExt cx="77957" cy="443335"/>
          </a:xfrm>
        </p:grpSpPr>
        <p:sp>
          <p:nvSpPr>
            <p:cNvPr id="347" name="矩形 346"/>
            <p:cNvSpPr/>
            <p:nvPr>
              <p:custDataLst>
                <p:tags r:id="rId52"/>
              </p:custDataLst>
            </p:nvPr>
          </p:nvSpPr>
          <p:spPr>
            <a:xfrm>
              <a:off x="6653584" y="5079835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48" name="组合 347"/>
            <p:cNvGrpSpPr/>
            <p:nvPr/>
          </p:nvGrpSpPr>
          <p:grpSpPr>
            <a:xfrm>
              <a:off x="6653438" y="4820100"/>
              <a:ext cx="77957" cy="361450"/>
              <a:chOff x="4933898" y="2131978"/>
              <a:chExt cx="77957" cy="361450"/>
            </a:xfrm>
          </p:grpSpPr>
          <p:sp>
            <p:nvSpPr>
              <p:cNvPr id="349" name="矩形 348"/>
              <p:cNvSpPr/>
              <p:nvPr>
                <p:custDataLst>
                  <p:tags r:id="rId53"/>
                </p:custDataLst>
              </p:nvPr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50" name="组合 349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351" name="矩形 350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52" name="矩形 351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cxnSp>
        <p:nvCxnSpPr>
          <p:cNvPr id="353" name="直线箭头连接符 352"/>
          <p:cNvCxnSpPr/>
          <p:nvPr>
            <p:custDataLst>
              <p:tags r:id="rId56"/>
            </p:custDataLst>
          </p:nvPr>
        </p:nvCxnSpPr>
        <p:spPr>
          <a:xfrm>
            <a:off x="2189024" y="2404807"/>
            <a:ext cx="255762" cy="27518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6" name="组合 355"/>
          <p:cNvGrpSpPr/>
          <p:nvPr>
            <p:custDataLst>
              <p:tags r:id="rId57"/>
            </p:custDataLst>
          </p:nvPr>
        </p:nvGrpSpPr>
        <p:grpSpPr>
          <a:xfrm>
            <a:off x="2201880" y="2669304"/>
            <a:ext cx="76479" cy="454041"/>
            <a:chOff x="6806464" y="2030697"/>
            <a:chExt cx="76479" cy="454041"/>
          </a:xfrm>
        </p:grpSpPr>
        <p:sp>
          <p:nvSpPr>
            <p:cNvPr id="357" name="矩形 356"/>
            <p:cNvSpPr/>
            <p:nvPr>
              <p:custDataLst>
                <p:tags r:id="rId58"/>
              </p:custDataLst>
            </p:nvPr>
          </p:nvSpPr>
          <p:spPr>
            <a:xfrm>
              <a:off x="6810943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58" name="组合 357"/>
            <p:cNvGrpSpPr/>
            <p:nvPr/>
          </p:nvGrpSpPr>
          <p:grpSpPr>
            <a:xfrm>
              <a:off x="6806464" y="2030697"/>
              <a:ext cx="72000" cy="364616"/>
              <a:chOff x="5067397" y="3034196"/>
              <a:chExt cx="72000" cy="364616"/>
            </a:xfrm>
          </p:grpSpPr>
          <p:sp>
            <p:nvSpPr>
              <p:cNvPr id="359" name="矩形 358"/>
              <p:cNvSpPr/>
              <p:nvPr>
                <p:custDataLst>
                  <p:tags r:id="rId59"/>
                </p:custDataLst>
              </p:nvPr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60" name="组合 359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361" name="矩形 360"/>
                <p:cNvSpPr/>
                <p:nvPr>
                  <p:custDataLst>
                    <p:tags r:id="rId60"/>
                  </p:custDataLst>
                </p:nvPr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62" name="矩形 361"/>
                <p:cNvSpPr/>
                <p:nvPr>
                  <p:custDataLst>
                    <p:tags r:id="rId61"/>
                  </p:custDataLst>
                </p:nvPr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sp>
        <p:nvSpPr>
          <p:cNvPr id="364" name="矩形 363"/>
          <p:cNvSpPr/>
          <p:nvPr>
            <p:custDataLst>
              <p:tags r:id="rId62"/>
            </p:custDataLst>
          </p:nvPr>
        </p:nvSpPr>
        <p:spPr>
          <a:xfrm>
            <a:off x="2665889" y="2174521"/>
            <a:ext cx="648072" cy="3274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66" name="组合 365"/>
          <p:cNvGrpSpPr/>
          <p:nvPr>
            <p:custDataLst>
              <p:tags r:id="rId63"/>
            </p:custDataLst>
          </p:nvPr>
        </p:nvGrpSpPr>
        <p:grpSpPr>
          <a:xfrm>
            <a:off x="2713794" y="2225397"/>
            <a:ext cx="541212" cy="3130364"/>
            <a:chOff x="1189374" y="2221417"/>
            <a:chExt cx="541212" cy="3130364"/>
          </a:xfrm>
        </p:grpSpPr>
        <p:grpSp>
          <p:nvGrpSpPr>
            <p:cNvPr id="367" name="组合 366"/>
            <p:cNvGrpSpPr/>
            <p:nvPr/>
          </p:nvGrpSpPr>
          <p:grpSpPr>
            <a:xfrm>
              <a:off x="1189374" y="2995641"/>
              <a:ext cx="75462" cy="435712"/>
              <a:chOff x="6178758" y="2957438"/>
              <a:chExt cx="75462" cy="435712"/>
            </a:xfrm>
          </p:grpSpPr>
          <p:sp>
            <p:nvSpPr>
              <p:cNvPr id="388" name="矩形 387"/>
              <p:cNvSpPr/>
              <p:nvPr>
                <p:custDataLst>
                  <p:tags r:id="rId64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9" name="矩形 388"/>
              <p:cNvSpPr/>
              <p:nvPr>
                <p:custDataLst>
                  <p:tags r:id="rId65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90" name="组合 389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391" name="矩形 390"/>
                <p:cNvSpPr/>
                <p:nvPr>
                  <p:custDataLst>
                    <p:tags r:id="rId66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92" name="矩形 391"/>
                <p:cNvSpPr/>
                <p:nvPr>
                  <p:custDataLst>
                    <p:tags r:id="rId67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368" name="组合 367"/>
            <p:cNvGrpSpPr/>
            <p:nvPr/>
          </p:nvGrpSpPr>
          <p:grpSpPr>
            <a:xfrm>
              <a:off x="1654107" y="2221417"/>
              <a:ext cx="76479" cy="454041"/>
              <a:chOff x="6806464" y="2030697"/>
              <a:chExt cx="76479" cy="454041"/>
            </a:xfrm>
          </p:grpSpPr>
          <p:sp>
            <p:nvSpPr>
              <p:cNvPr id="382" name="矩形 381"/>
              <p:cNvSpPr/>
              <p:nvPr>
                <p:custDataLst>
                  <p:tags r:id="rId68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83" name="组合 382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384" name="矩形 383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385" name="组合 384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386" name="矩形 385"/>
                  <p:cNvSpPr/>
                  <p:nvPr>
                    <p:custDataLst>
                      <p:tags r:id="rId70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387" name="矩形 386"/>
                  <p:cNvSpPr/>
                  <p:nvPr>
                    <p:custDataLst>
                      <p:tags r:id="rId71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369" name="组合 368"/>
            <p:cNvGrpSpPr/>
            <p:nvPr/>
          </p:nvGrpSpPr>
          <p:grpSpPr>
            <a:xfrm>
              <a:off x="1350800" y="4056624"/>
              <a:ext cx="77019" cy="433548"/>
              <a:chOff x="3790969" y="4956973"/>
              <a:chExt cx="77019" cy="433548"/>
            </a:xfrm>
          </p:grpSpPr>
          <p:sp>
            <p:nvSpPr>
              <p:cNvPr id="377" name="矩形 376"/>
              <p:cNvSpPr/>
              <p:nvPr>
                <p:custDataLst>
                  <p:tags r:id="rId72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8" name="矩形 377"/>
              <p:cNvSpPr/>
              <p:nvPr>
                <p:custDataLst>
                  <p:tags r:id="rId73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79" name="组合 378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380" name="矩形 379"/>
                <p:cNvSpPr/>
                <p:nvPr>
                  <p:custDataLst>
                    <p:tags r:id="rId74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81" name="矩形 380"/>
                <p:cNvSpPr/>
                <p:nvPr>
                  <p:custDataLst>
                    <p:tags r:id="rId75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370" name="组合 369"/>
            <p:cNvGrpSpPr/>
            <p:nvPr/>
          </p:nvGrpSpPr>
          <p:grpSpPr>
            <a:xfrm>
              <a:off x="1551147" y="4908446"/>
              <a:ext cx="77957" cy="443335"/>
              <a:chOff x="6653438" y="4820100"/>
              <a:chExt cx="77957" cy="443335"/>
            </a:xfrm>
          </p:grpSpPr>
          <p:sp>
            <p:nvSpPr>
              <p:cNvPr id="371" name="矩形 370"/>
              <p:cNvSpPr/>
              <p:nvPr>
                <p:custDataLst>
                  <p:tags r:id="rId76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372" name="组合 371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373" name="矩形 372"/>
                <p:cNvSpPr/>
                <p:nvPr>
                  <p:custDataLst>
                    <p:tags r:id="rId77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374" name="组合 373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375" name="矩形 374"/>
                  <p:cNvSpPr/>
                  <p:nvPr>
                    <p:custDataLst>
                      <p:tags r:id="rId78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376" name="矩形 375"/>
                  <p:cNvSpPr/>
                  <p:nvPr>
                    <p:custDataLst>
                      <p:tags r:id="rId79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393" name="组合 392"/>
          <p:cNvGrpSpPr/>
          <p:nvPr>
            <p:custDataLst>
              <p:tags r:id="rId80"/>
            </p:custDataLst>
          </p:nvPr>
        </p:nvGrpSpPr>
        <p:grpSpPr>
          <a:xfrm>
            <a:off x="2727636" y="2249333"/>
            <a:ext cx="75462" cy="435712"/>
            <a:chOff x="6178758" y="2957438"/>
            <a:chExt cx="75462" cy="435712"/>
          </a:xfrm>
        </p:grpSpPr>
        <p:sp>
          <p:nvSpPr>
            <p:cNvPr id="394" name="矩形 393"/>
            <p:cNvSpPr/>
            <p:nvPr>
              <p:custDataLst>
                <p:tags r:id="rId81"/>
              </p:custDataLst>
            </p:nvPr>
          </p:nvSpPr>
          <p:spPr>
            <a:xfrm>
              <a:off x="6181516" y="320955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5" name="矩形 394"/>
            <p:cNvSpPr/>
            <p:nvPr>
              <p:custDataLst>
                <p:tags r:id="rId82"/>
              </p:custDataLst>
            </p:nvPr>
          </p:nvSpPr>
          <p:spPr>
            <a:xfrm>
              <a:off x="6182220" y="310876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96" name="组合 395"/>
            <p:cNvGrpSpPr/>
            <p:nvPr/>
          </p:nvGrpSpPr>
          <p:grpSpPr>
            <a:xfrm>
              <a:off x="6178758" y="2957438"/>
              <a:ext cx="72000" cy="258162"/>
              <a:chOff x="2847617" y="5149390"/>
              <a:chExt cx="72000" cy="258162"/>
            </a:xfrm>
          </p:grpSpPr>
          <p:sp>
            <p:nvSpPr>
              <p:cNvPr id="397" name="矩形 396"/>
              <p:cNvSpPr/>
              <p:nvPr>
                <p:custDataLst>
                  <p:tags r:id="rId83"/>
                </p:custDataLst>
              </p:nvPr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8" name="矩形 397"/>
              <p:cNvSpPr/>
              <p:nvPr>
                <p:custDataLst>
                  <p:tags r:id="rId84"/>
                </p:custDataLst>
              </p:nvPr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399" name="组合 398"/>
          <p:cNvGrpSpPr/>
          <p:nvPr>
            <p:custDataLst>
              <p:tags r:id="rId85"/>
            </p:custDataLst>
          </p:nvPr>
        </p:nvGrpSpPr>
        <p:grpSpPr>
          <a:xfrm>
            <a:off x="3199283" y="4898108"/>
            <a:ext cx="76479" cy="454041"/>
            <a:chOff x="6806464" y="2030697"/>
            <a:chExt cx="76479" cy="454041"/>
          </a:xfrm>
        </p:grpSpPr>
        <p:sp>
          <p:nvSpPr>
            <p:cNvPr id="400" name="矩形 399"/>
            <p:cNvSpPr/>
            <p:nvPr>
              <p:custDataLst>
                <p:tags r:id="rId86"/>
              </p:custDataLst>
            </p:nvPr>
          </p:nvSpPr>
          <p:spPr>
            <a:xfrm>
              <a:off x="6810943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01" name="组合 400"/>
            <p:cNvGrpSpPr/>
            <p:nvPr/>
          </p:nvGrpSpPr>
          <p:grpSpPr>
            <a:xfrm>
              <a:off x="6806464" y="2030697"/>
              <a:ext cx="72000" cy="364616"/>
              <a:chOff x="5067397" y="3034196"/>
              <a:chExt cx="72000" cy="364616"/>
            </a:xfrm>
          </p:grpSpPr>
          <p:sp>
            <p:nvSpPr>
              <p:cNvPr id="402" name="矩形 401"/>
              <p:cNvSpPr/>
              <p:nvPr>
                <p:custDataLst>
                  <p:tags r:id="rId87"/>
                </p:custDataLst>
              </p:nvPr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03" name="组合 402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404" name="矩形 403"/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05" name="矩形 404"/>
                <p:cNvSpPr/>
                <p:nvPr>
                  <p:custDataLst>
                    <p:tags r:id="rId89"/>
                  </p:custDataLst>
                </p:nvPr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406" name="组合 405"/>
          <p:cNvGrpSpPr/>
          <p:nvPr>
            <p:custDataLst>
              <p:tags r:id="rId90"/>
            </p:custDataLst>
          </p:nvPr>
        </p:nvGrpSpPr>
        <p:grpSpPr>
          <a:xfrm>
            <a:off x="2872710" y="3003694"/>
            <a:ext cx="77019" cy="433548"/>
            <a:chOff x="3790969" y="4956973"/>
            <a:chExt cx="77019" cy="433548"/>
          </a:xfrm>
        </p:grpSpPr>
        <p:sp>
          <p:nvSpPr>
            <p:cNvPr id="407" name="矩形 406"/>
            <p:cNvSpPr/>
            <p:nvPr>
              <p:custDataLst>
                <p:tags r:id="rId91"/>
              </p:custDataLst>
            </p:nvPr>
          </p:nvSpPr>
          <p:spPr>
            <a:xfrm>
              <a:off x="3795988" y="5206921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8" name="矩形 407"/>
            <p:cNvSpPr/>
            <p:nvPr>
              <p:custDataLst>
                <p:tags r:id="rId92"/>
              </p:custDataLst>
            </p:nvPr>
          </p:nvSpPr>
          <p:spPr>
            <a:xfrm>
              <a:off x="3795988" y="5107168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09" name="组合 408"/>
            <p:cNvGrpSpPr/>
            <p:nvPr/>
          </p:nvGrpSpPr>
          <p:grpSpPr>
            <a:xfrm>
              <a:off x="3790969" y="4956973"/>
              <a:ext cx="72000" cy="250199"/>
              <a:chOff x="2826000" y="2240807"/>
              <a:chExt cx="72000" cy="250199"/>
            </a:xfrm>
          </p:grpSpPr>
          <p:sp>
            <p:nvSpPr>
              <p:cNvPr id="410" name="矩形 409"/>
              <p:cNvSpPr/>
              <p:nvPr>
                <p:custDataLst>
                  <p:tags r:id="rId93"/>
                </p:custDataLst>
              </p:nvPr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1" name="矩形 410"/>
              <p:cNvSpPr/>
              <p:nvPr>
                <p:custDataLst>
                  <p:tags r:id="rId94"/>
                </p:custDataLst>
              </p:nvPr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412" name="组合 411"/>
          <p:cNvGrpSpPr/>
          <p:nvPr>
            <p:custDataLst>
              <p:tags r:id="rId95"/>
            </p:custDataLst>
          </p:nvPr>
        </p:nvGrpSpPr>
        <p:grpSpPr>
          <a:xfrm>
            <a:off x="3065837" y="4056624"/>
            <a:ext cx="77957" cy="443335"/>
            <a:chOff x="6653438" y="4820100"/>
            <a:chExt cx="77957" cy="443335"/>
          </a:xfrm>
        </p:grpSpPr>
        <p:sp>
          <p:nvSpPr>
            <p:cNvPr id="413" name="矩形 412"/>
            <p:cNvSpPr/>
            <p:nvPr>
              <p:custDataLst>
                <p:tags r:id="rId96"/>
              </p:custDataLst>
            </p:nvPr>
          </p:nvSpPr>
          <p:spPr>
            <a:xfrm>
              <a:off x="6653584" y="5079835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14" name="组合 413"/>
            <p:cNvGrpSpPr/>
            <p:nvPr/>
          </p:nvGrpSpPr>
          <p:grpSpPr>
            <a:xfrm>
              <a:off x="6653438" y="4820100"/>
              <a:ext cx="77957" cy="361450"/>
              <a:chOff x="4933898" y="2131978"/>
              <a:chExt cx="77957" cy="361450"/>
            </a:xfrm>
          </p:grpSpPr>
          <p:sp>
            <p:nvSpPr>
              <p:cNvPr id="415" name="矩形 414"/>
              <p:cNvSpPr/>
              <p:nvPr>
                <p:custDataLst>
                  <p:tags r:id="rId97"/>
                </p:custDataLst>
              </p:nvPr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16" name="组合 415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417" name="矩形 416"/>
                <p:cNvSpPr/>
                <p:nvPr>
                  <p:custDataLst>
                    <p:tags r:id="rId98"/>
                  </p:custDataLst>
                </p:nvPr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18" name="矩形 417"/>
                <p:cNvSpPr/>
                <p:nvPr>
                  <p:custDataLst>
                    <p:tags r:id="rId99"/>
                  </p:custDataLst>
                </p:nvPr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cxnSp>
        <p:nvCxnSpPr>
          <p:cNvPr id="419" name="直线箭头连接符 418"/>
          <p:cNvCxnSpPr/>
          <p:nvPr>
            <p:custDataLst>
              <p:tags r:id="rId100"/>
            </p:custDataLst>
          </p:nvPr>
        </p:nvCxnSpPr>
        <p:spPr>
          <a:xfrm flipV="1">
            <a:off x="3692602" y="2394461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0" name="组合 419"/>
          <p:cNvGrpSpPr/>
          <p:nvPr>
            <p:custDataLst>
              <p:tags r:id="rId101"/>
            </p:custDataLst>
          </p:nvPr>
        </p:nvGrpSpPr>
        <p:grpSpPr>
          <a:xfrm>
            <a:off x="3718176" y="2651224"/>
            <a:ext cx="77019" cy="433548"/>
            <a:chOff x="3790969" y="4956973"/>
            <a:chExt cx="77019" cy="433548"/>
          </a:xfrm>
        </p:grpSpPr>
        <p:sp>
          <p:nvSpPr>
            <p:cNvPr id="421" name="矩形 420"/>
            <p:cNvSpPr/>
            <p:nvPr>
              <p:custDataLst>
                <p:tags r:id="rId102"/>
              </p:custDataLst>
            </p:nvPr>
          </p:nvSpPr>
          <p:spPr>
            <a:xfrm>
              <a:off x="3795988" y="5206921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2" name="矩形 421"/>
            <p:cNvSpPr/>
            <p:nvPr>
              <p:custDataLst>
                <p:tags r:id="rId103"/>
              </p:custDataLst>
            </p:nvPr>
          </p:nvSpPr>
          <p:spPr>
            <a:xfrm>
              <a:off x="3795988" y="5107168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23" name="组合 422"/>
            <p:cNvGrpSpPr/>
            <p:nvPr/>
          </p:nvGrpSpPr>
          <p:grpSpPr>
            <a:xfrm>
              <a:off x="3790969" y="4956973"/>
              <a:ext cx="72000" cy="250199"/>
              <a:chOff x="2826000" y="2240807"/>
              <a:chExt cx="72000" cy="250199"/>
            </a:xfrm>
          </p:grpSpPr>
          <p:sp>
            <p:nvSpPr>
              <p:cNvPr id="424" name="矩形 423"/>
              <p:cNvSpPr/>
              <p:nvPr>
                <p:custDataLst>
                  <p:tags r:id="rId104"/>
                </p:custDataLst>
              </p:nvPr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25" name="矩形 424"/>
              <p:cNvSpPr/>
              <p:nvPr>
                <p:custDataLst>
                  <p:tags r:id="rId105"/>
                </p:custDataLst>
              </p:nvPr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cxnSp>
        <p:nvCxnSpPr>
          <p:cNvPr id="426" name="直线箭头连接符 425"/>
          <p:cNvCxnSpPr/>
          <p:nvPr>
            <p:custDataLst>
              <p:tags r:id="rId106"/>
            </p:custDataLst>
          </p:nvPr>
        </p:nvCxnSpPr>
        <p:spPr>
          <a:xfrm flipV="1">
            <a:off x="3643157" y="3309474"/>
            <a:ext cx="236404" cy="9533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7" name="组合 426"/>
          <p:cNvGrpSpPr/>
          <p:nvPr>
            <p:custDataLst>
              <p:tags r:id="rId107"/>
            </p:custDataLst>
          </p:nvPr>
        </p:nvGrpSpPr>
        <p:grpSpPr>
          <a:xfrm>
            <a:off x="3712219" y="3609976"/>
            <a:ext cx="77957" cy="443335"/>
            <a:chOff x="6653438" y="4820100"/>
            <a:chExt cx="77957" cy="443335"/>
          </a:xfrm>
        </p:grpSpPr>
        <p:sp>
          <p:nvSpPr>
            <p:cNvPr id="428" name="矩形 427"/>
            <p:cNvSpPr/>
            <p:nvPr>
              <p:custDataLst>
                <p:tags r:id="rId108"/>
              </p:custDataLst>
            </p:nvPr>
          </p:nvSpPr>
          <p:spPr>
            <a:xfrm>
              <a:off x="6653584" y="5079835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29" name="组合 428"/>
            <p:cNvGrpSpPr/>
            <p:nvPr/>
          </p:nvGrpSpPr>
          <p:grpSpPr>
            <a:xfrm>
              <a:off x="6653438" y="4820100"/>
              <a:ext cx="77957" cy="361450"/>
              <a:chOff x="4933898" y="2131978"/>
              <a:chExt cx="77957" cy="361450"/>
            </a:xfrm>
          </p:grpSpPr>
          <p:sp>
            <p:nvSpPr>
              <p:cNvPr id="430" name="矩形 429"/>
              <p:cNvSpPr/>
              <p:nvPr>
                <p:custDataLst>
                  <p:tags r:id="rId109"/>
                </p:custDataLst>
              </p:nvPr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31" name="组合 430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432" name="矩形 431"/>
                <p:cNvSpPr/>
                <p:nvPr>
                  <p:custDataLst>
                    <p:tags r:id="rId110"/>
                  </p:custDataLst>
                </p:nvPr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33" name="矩形 432"/>
                <p:cNvSpPr/>
                <p:nvPr>
                  <p:custDataLst>
                    <p:tags r:id="rId111"/>
                  </p:custDataLst>
                </p:nvPr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cxnSp>
        <p:nvCxnSpPr>
          <p:cNvPr id="436" name="直线箭头连接符 435"/>
          <p:cNvCxnSpPr/>
          <p:nvPr>
            <p:custDataLst>
              <p:tags r:id="rId112"/>
            </p:custDataLst>
          </p:nvPr>
        </p:nvCxnSpPr>
        <p:spPr>
          <a:xfrm flipV="1">
            <a:off x="3669452" y="4240224"/>
            <a:ext cx="236404" cy="9533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7" name="组合 436"/>
          <p:cNvGrpSpPr/>
          <p:nvPr>
            <p:custDataLst>
              <p:tags r:id="rId113"/>
            </p:custDataLst>
          </p:nvPr>
        </p:nvGrpSpPr>
        <p:grpSpPr>
          <a:xfrm>
            <a:off x="3730434" y="4523936"/>
            <a:ext cx="76479" cy="454041"/>
            <a:chOff x="6806464" y="2030697"/>
            <a:chExt cx="76479" cy="454041"/>
          </a:xfrm>
        </p:grpSpPr>
        <p:sp>
          <p:nvSpPr>
            <p:cNvPr id="438" name="矩形 437"/>
            <p:cNvSpPr/>
            <p:nvPr>
              <p:custDataLst>
                <p:tags r:id="rId114"/>
              </p:custDataLst>
            </p:nvPr>
          </p:nvSpPr>
          <p:spPr>
            <a:xfrm>
              <a:off x="6810943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39" name="组合 438"/>
            <p:cNvGrpSpPr/>
            <p:nvPr/>
          </p:nvGrpSpPr>
          <p:grpSpPr>
            <a:xfrm>
              <a:off x="6806464" y="2030697"/>
              <a:ext cx="72000" cy="364616"/>
              <a:chOff x="5067397" y="3034196"/>
              <a:chExt cx="72000" cy="364616"/>
            </a:xfrm>
          </p:grpSpPr>
          <p:sp>
            <p:nvSpPr>
              <p:cNvPr id="440" name="矩形 439"/>
              <p:cNvSpPr/>
              <p:nvPr>
                <p:custDataLst>
                  <p:tags r:id="rId115"/>
                </p:custDataLst>
              </p:nvPr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41" name="组合 440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442" name="矩形 441"/>
                <p:cNvSpPr/>
                <p:nvPr>
                  <p:custDataLst>
                    <p:tags r:id="rId116"/>
                  </p:custDataLst>
                </p:nvPr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43" name="矩形 442"/>
                <p:cNvSpPr/>
                <p:nvPr>
                  <p:custDataLst>
                    <p:tags r:id="rId117"/>
                  </p:custDataLst>
                </p:nvPr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cxnSp>
        <p:nvCxnSpPr>
          <p:cNvPr id="444" name="直线箭头连接符 443"/>
          <p:cNvCxnSpPr/>
          <p:nvPr>
            <p:custDataLst>
              <p:tags r:id="rId118"/>
            </p:custDataLst>
          </p:nvPr>
        </p:nvCxnSpPr>
        <p:spPr>
          <a:xfrm>
            <a:off x="4001802" y="2402433"/>
            <a:ext cx="255762" cy="27518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5" name="组合 444"/>
          <p:cNvGrpSpPr/>
          <p:nvPr>
            <p:custDataLst>
              <p:tags r:id="rId119"/>
            </p:custDataLst>
          </p:nvPr>
        </p:nvGrpSpPr>
        <p:grpSpPr>
          <a:xfrm>
            <a:off x="4004261" y="2643746"/>
            <a:ext cx="75462" cy="435712"/>
            <a:chOff x="6178758" y="2957438"/>
            <a:chExt cx="75462" cy="435712"/>
          </a:xfrm>
        </p:grpSpPr>
        <p:sp>
          <p:nvSpPr>
            <p:cNvPr id="446" name="矩形 445"/>
            <p:cNvSpPr/>
            <p:nvPr>
              <p:custDataLst>
                <p:tags r:id="rId120"/>
              </p:custDataLst>
            </p:nvPr>
          </p:nvSpPr>
          <p:spPr>
            <a:xfrm>
              <a:off x="6181516" y="320955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7" name="矩形 446"/>
            <p:cNvSpPr/>
            <p:nvPr>
              <p:custDataLst>
                <p:tags r:id="rId121"/>
              </p:custDataLst>
            </p:nvPr>
          </p:nvSpPr>
          <p:spPr>
            <a:xfrm>
              <a:off x="6182220" y="310876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48" name="组合 447"/>
            <p:cNvGrpSpPr/>
            <p:nvPr/>
          </p:nvGrpSpPr>
          <p:grpSpPr>
            <a:xfrm>
              <a:off x="6178758" y="2957438"/>
              <a:ext cx="72000" cy="258162"/>
              <a:chOff x="2847617" y="5149390"/>
              <a:chExt cx="72000" cy="258162"/>
            </a:xfrm>
          </p:grpSpPr>
          <p:sp>
            <p:nvSpPr>
              <p:cNvPr id="449" name="矩形 448"/>
              <p:cNvSpPr/>
              <p:nvPr>
                <p:custDataLst>
                  <p:tags r:id="rId122"/>
                </p:custDataLst>
              </p:nvPr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50" name="矩形 449"/>
              <p:cNvSpPr/>
              <p:nvPr>
                <p:custDataLst>
                  <p:tags r:id="rId123"/>
                </p:custDataLst>
              </p:nvPr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451" name="矩形 450"/>
          <p:cNvSpPr/>
          <p:nvPr>
            <p:custDataLst>
              <p:tags r:id="rId124"/>
            </p:custDataLst>
          </p:nvPr>
        </p:nvSpPr>
        <p:spPr>
          <a:xfrm>
            <a:off x="4448944" y="2170777"/>
            <a:ext cx="648072" cy="3274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52" name="组合 451"/>
          <p:cNvGrpSpPr/>
          <p:nvPr>
            <p:custDataLst>
              <p:tags r:id="rId125"/>
            </p:custDataLst>
          </p:nvPr>
        </p:nvGrpSpPr>
        <p:grpSpPr>
          <a:xfrm>
            <a:off x="4496849" y="2221653"/>
            <a:ext cx="541212" cy="3130364"/>
            <a:chOff x="1189374" y="2221417"/>
            <a:chExt cx="541212" cy="3130364"/>
          </a:xfrm>
        </p:grpSpPr>
        <p:grpSp>
          <p:nvGrpSpPr>
            <p:cNvPr id="453" name="组合 452"/>
            <p:cNvGrpSpPr/>
            <p:nvPr/>
          </p:nvGrpSpPr>
          <p:grpSpPr>
            <a:xfrm>
              <a:off x="1189374" y="2995641"/>
              <a:ext cx="75462" cy="435712"/>
              <a:chOff x="6178758" y="2957438"/>
              <a:chExt cx="75462" cy="435712"/>
            </a:xfrm>
          </p:grpSpPr>
          <p:sp>
            <p:nvSpPr>
              <p:cNvPr id="474" name="矩形 473"/>
              <p:cNvSpPr/>
              <p:nvPr>
                <p:custDataLst>
                  <p:tags r:id="rId126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5" name="矩形 474"/>
              <p:cNvSpPr/>
              <p:nvPr>
                <p:custDataLst>
                  <p:tags r:id="rId127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76" name="组合 475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477" name="矩形 476"/>
                <p:cNvSpPr/>
                <p:nvPr>
                  <p:custDataLst>
                    <p:tags r:id="rId128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78" name="矩形 477"/>
                <p:cNvSpPr/>
                <p:nvPr>
                  <p:custDataLst>
                    <p:tags r:id="rId129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454" name="组合 453"/>
            <p:cNvGrpSpPr/>
            <p:nvPr/>
          </p:nvGrpSpPr>
          <p:grpSpPr>
            <a:xfrm>
              <a:off x="1654107" y="2221417"/>
              <a:ext cx="76479" cy="454041"/>
              <a:chOff x="6806464" y="2030697"/>
              <a:chExt cx="76479" cy="454041"/>
            </a:xfrm>
          </p:grpSpPr>
          <p:sp>
            <p:nvSpPr>
              <p:cNvPr id="468" name="矩形 467"/>
              <p:cNvSpPr/>
              <p:nvPr>
                <p:custDataLst>
                  <p:tags r:id="rId130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69" name="组合 468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470" name="矩形 469"/>
                <p:cNvSpPr/>
                <p:nvPr>
                  <p:custDataLst>
                    <p:tags r:id="rId131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471" name="组合 470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472" name="矩形 471"/>
                  <p:cNvSpPr/>
                  <p:nvPr>
                    <p:custDataLst>
                      <p:tags r:id="rId132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473" name="矩形 472"/>
                  <p:cNvSpPr/>
                  <p:nvPr>
                    <p:custDataLst>
                      <p:tags r:id="rId133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455" name="组合 454"/>
            <p:cNvGrpSpPr/>
            <p:nvPr/>
          </p:nvGrpSpPr>
          <p:grpSpPr>
            <a:xfrm>
              <a:off x="1350800" y="4056624"/>
              <a:ext cx="77019" cy="433548"/>
              <a:chOff x="3790969" y="4956973"/>
              <a:chExt cx="77019" cy="433548"/>
            </a:xfrm>
          </p:grpSpPr>
          <p:sp>
            <p:nvSpPr>
              <p:cNvPr id="463" name="矩形 462"/>
              <p:cNvSpPr/>
              <p:nvPr>
                <p:custDataLst>
                  <p:tags r:id="rId134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4" name="矩形 463"/>
              <p:cNvSpPr/>
              <p:nvPr>
                <p:custDataLst>
                  <p:tags r:id="rId135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65" name="组合 464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466" name="矩形 465"/>
                <p:cNvSpPr/>
                <p:nvPr>
                  <p:custDataLst>
                    <p:tags r:id="rId136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67" name="矩形 466"/>
                <p:cNvSpPr/>
                <p:nvPr>
                  <p:custDataLst>
                    <p:tags r:id="rId137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456" name="组合 455"/>
            <p:cNvGrpSpPr/>
            <p:nvPr/>
          </p:nvGrpSpPr>
          <p:grpSpPr>
            <a:xfrm>
              <a:off x="1551147" y="4908446"/>
              <a:ext cx="77957" cy="443335"/>
              <a:chOff x="6653438" y="4820100"/>
              <a:chExt cx="77957" cy="443335"/>
            </a:xfrm>
          </p:grpSpPr>
          <p:sp>
            <p:nvSpPr>
              <p:cNvPr id="457" name="矩形 456"/>
              <p:cNvSpPr/>
              <p:nvPr>
                <p:custDataLst>
                  <p:tags r:id="rId138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58" name="组合 457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459" name="矩形 458"/>
                <p:cNvSpPr/>
                <p:nvPr>
                  <p:custDataLst>
                    <p:tags r:id="rId139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460" name="组合 459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461" name="矩形 460"/>
                  <p:cNvSpPr/>
                  <p:nvPr>
                    <p:custDataLst>
                      <p:tags r:id="rId140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462" name="矩形 461"/>
                  <p:cNvSpPr/>
                  <p:nvPr>
                    <p:custDataLst>
                      <p:tags r:id="rId141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479" name="组合 478"/>
          <p:cNvGrpSpPr/>
          <p:nvPr>
            <p:custDataLst>
              <p:tags r:id="rId142"/>
            </p:custDataLst>
          </p:nvPr>
        </p:nvGrpSpPr>
        <p:grpSpPr>
          <a:xfrm>
            <a:off x="4848892" y="4052880"/>
            <a:ext cx="77957" cy="443335"/>
            <a:chOff x="6653438" y="4820100"/>
            <a:chExt cx="77957" cy="443335"/>
          </a:xfrm>
        </p:grpSpPr>
        <p:sp>
          <p:nvSpPr>
            <p:cNvPr id="480" name="矩形 479"/>
            <p:cNvSpPr/>
            <p:nvPr>
              <p:custDataLst>
                <p:tags r:id="rId143"/>
              </p:custDataLst>
            </p:nvPr>
          </p:nvSpPr>
          <p:spPr>
            <a:xfrm>
              <a:off x="6653584" y="5079835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81" name="组合 480"/>
            <p:cNvGrpSpPr/>
            <p:nvPr/>
          </p:nvGrpSpPr>
          <p:grpSpPr>
            <a:xfrm>
              <a:off x="6653438" y="4820100"/>
              <a:ext cx="77957" cy="361450"/>
              <a:chOff x="4933898" y="2131978"/>
              <a:chExt cx="77957" cy="361450"/>
            </a:xfrm>
          </p:grpSpPr>
          <p:sp>
            <p:nvSpPr>
              <p:cNvPr id="482" name="矩形 481"/>
              <p:cNvSpPr/>
              <p:nvPr>
                <p:custDataLst>
                  <p:tags r:id="rId144"/>
                </p:custDataLst>
              </p:nvPr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83" name="组合 482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484" name="矩形 483"/>
                <p:cNvSpPr/>
                <p:nvPr>
                  <p:custDataLst>
                    <p:tags r:id="rId145"/>
                  </p:custDataLst>
                </p:nvPr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85" name="矩形 484"/>
                <p:cNvSpPr/>
                <p:nvPr>
                  <p:custDataLst>
                    <p:tags r:id="rId146"/>
                  </p:custDataLst>
                </p:nvPr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486" name="组合 485"/>
          <p:cNvGrpSpPr/>
          <p:nvPr>
            <p:custDataLst>
              <p:tags r:id="rId147"/>
            </p:custDataLst>
          </p:nvPr>
        </p:nvGrpSpPr>
        <p:grpSpPr>
          <a:xfrm>
            <a:off x="4490097" y="2254620"/>
            <a:ext cx="75462" cy="435712"/>
            <a:chOff x="6178758" y="2957438"/>
            <a:chExt cx="75462" cy="435712"/>
          </a:xfrm>
        </p:grpSpPr>
        <p:sp>
          <p:nvSpPr>
            <p:cNvPr id="487" name="矩形 486"/>
            <p:cNvSpPr/>
            <p:nvPr>
              <p:custDataLst>
                <p:tags r:id="rId148"/>
              </p:custDataLst>
            </p:nvPr>
          </p:nvSpPr>
          <p:spPr>
            <a:xfrm>
              <a:off x="6181516" y="320955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8" name="矩形 487"/>
            <p:cNvSpPr/>
            <p:nvPr>
              <p:custDataLst>
                <p:tags r:id="rId149"/>
              </p:custDataLst>
            </p:nvPr>
          </p:nvSpPr>
          <p:spPr>
            <a:xfrm>
              <a:off x="6182220" y="310876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89" name="组合 488"/>
            <p:cNvGrpSpPr/>
            <p:nvPr/>
          </p:nvGrpSpPr>
          <p:grpSpPr>
            <a:xfrm>
              <a:off x="6178758" y="2957438"/>
              <a:ext cx="72000" cy="258162"/>
              <a:chOff x="2847617" y="5149390"/>
              <a:chExt cx="72000" cy="258162"/>
            </a:xfrm>
          </p:grpSpPr>
          <p:sp>
            <p:nvSpPr>
              <p:cNvPr id="490" name="矩形 489"/>
              <p:cNvSpPr/>
              <p:nvPr>
                <p:custDataLst>
                  <p:tags r:id="rId150"/>
                </p:custDataLst>
              </p:nvPr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1" name="矩形 490"/>
              <p:cNvSpPr/>
              <p:nvPr>
                <p:custDataLst>
                  <p:tags r:id="rId151"/>
                </p:custDataLst>
              </p:nvPr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492" name="组合 491"/>
          <p:cNvGrpSpPr/>
          <p:nvPr>
            <p:custDataLst>
              <p:tags r:id="rId152"/>
            </p:custDataLst>
          </p:nvPr>
        </p:nvGrpSpPr>
        <p:grpSpPr>
          <a:xfrm>
            <a:off x="4654536" y="2988192"/>
            <a:ext cx="77019" cy="433548"/>
            <a:chOff x="3790969" y="4956973"/>
            <a:chExt cx="77019" cy="433548"/>
          </a:xfrm>
        </p:grpSpPr>
        <p:sp>
          <p:nvSpPr>
            <p:cNvPr id="493" name="矩形 492"/>
            <p:cNvSpPr/>
            <p:nvPr>
              <p:custDataLst>
                <p:tags r:id="rId153"/>
              </p:custDataLst>
            </p:nvPr>
          </p:nvSpPr>
          <p:spPr>
            <a:xfrm>
              <a:off x="3795988" y="5206921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4" name="矩形 493"/>
            <p:cNvSpPr/>
            <p:nvPr>
              <p:custDataLst>
                <p:tags r:id="rId154"/>
              </p:custDataLst>
            </p:nvPr>
          </p:nvSpPr>
          <p:spPr>
            <a:xfrm>
              <a:off x="3795988" y="5107168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95" name="组合 494"/>
            <p:cNvGrpSpPr/>
            <p:nvPr/>
          </p:nvGrpSpPr>
          <p:grpSpPr>
            <a:xfrm>
              <a:off x="3790969" y="4956973"/>
              <a:ext cx="72000" cy="250199"/>
              <a:chOff x="2826000" y="2240807"/>
              <a:chExt cx="72000" cy="250199"/>
            </a:xfrm>
          </p:grpSpPr>
          <p:sp>
            <p:nvSpPr>
              <p:cNvPr id="496" name="矩形 495"/>
              <p:cNvSpPr/>
              <p:nvPr>
                <p:custDataLst>
                  <p:tags r:id="rId155"/>
                </p:custDataLst>
              </p:nvPr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7" name="矩形 496"/>
              <p:cNvSpPr/>
              <p:nvPr>
                <p:custDataLst>
                  <p:tags r:id="rId156"/>
                </p:custDataLst>
              </p:nvPr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498" name="组合 497"/>
          <p:cNvGrpSpPr/>
          <p:nvPr>
            <p:custDataLst>
              <p:tags r:id="rId157"/>
            </p:custDataLst>
          </p:nvPr>
        </p:nvGrpSpPr>
        <p:grpSpPr>
          <a:xfrm>
            <a:off x="4990176" y="4907440"/>
            <a:ext cx="76479" cy="454041"/>
            <a:chOff x="6806464" y="2030697"/>
            <a:chExt cx="76479" cy="454041"/>
          </a:xfrm>
        </p:grpSpPr>
        <p:sp>
          <p:nvSpPr>
            <p:cNvPr id="499" name="矩形 498"/>
            <p:cNvSpPr/>
            <p:nvPr>
              <p:custDataLst>
                <p:tags r:id="rId158"/>
              </p:custDataLst>
            </p:nvPr>
          </p:nvSpPr>
          <p:spPr>
            <a:xfrm>
              <a:off x="6810943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00" name="组合 499"/>
            <p:cNvGrpSpPr/>
            <p:nvPr/>
          </p:nvGrpSpPr>
          <p:grpSpPr>
            <a:xfrm>
              <a:off x="6806464" y="2030697"/>
              <a:ext cx="72000" cy="364616"/>
              <a:chOff x="5067397" y="3034196"/>
              <a:chExt cx="72000" cy="364616"/>
            </a:xfrm>
          </p:grpSpPr>
          <p:sp>
            <p:nvSpPr>
              <p:cNvPr id="501" name="矩形 500"/>
              <p:cNvSpPr/>
              <p:nvPr>
                <p:custDataLst>
                  <p:tags r:id="rId159"/>
                </p:custDataLst>
              </p:nvPr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02" name="组合 501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503" name="矩形 502"/>
                <p:cNvSpPr/>
                <p:nvPr>
                  <p:custDataLst>
                    <p:tags r:id="rId160"/>
                  </p:custDataLst>
                </p:nvPr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04" name="矩形 503"/>
                <p:cNvSpPr/>
                <p:nvPr>
                  <p:custDataLst>
                    <p:tags r:id="rId161"/>
                  </p:custDataLst>
                </p:nvPr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505" name="组合 504"/>
          <p:cNvGrpSpPr/>
          <p:nvPr>
            <p:custDataLst>
              <p:tags r:id="rId162"/>
            </p:custDataLst>
          </p:nvPr>
        </p:nvGrpSpPr>
        <p:grpSpPr>
          <a:xfrm>
            <a:off x="4647030" y="2267236"/>
            <a:ext cx="77019" cy="433548"/>
            <a:chOff x="3790969" y="4956973"/>
            <a:chExt cx="77019" cy="433548"/>
          </a:xfrm>
        </p:grpSpPr>
        <p:sp>
          <p:nvSpPr>
            <p:cNvPr id="506" name="矩形 505"/>
            <p:cNvSpPr/>
            <p:nvPr>
              <p:custDataLst>
                <p:tags r:id="rId163"/>
              </p:custDataLst>
            </p:nvPr>
          </p:nvSpPr>
          <p:spPr>
            <a:xfrm>
              <a:off x="3795988" y="5206921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7" name="矩形 506"/>
            <p:cNvSpPr/>
            <p:nvPr>
              <p:custDataLst>
                <p:tags r:id="rId164"/>
              </p:custDataLst>
            </p:nvPr>
          </p:nvSpPr>
          <p:spPr>
            <a:xfrm>
              <a:off x="3795988" y="5107168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08" name="组合 507"/>
            <p:cNvGrpSpPr/>
            <p:nvPr/>
          </p:nvGrpSpPr>
          <p:grpSpPr>
            <a:xfrm>
              <a:off x="3790969" y="4956973"/>
              <a:ext cx="72000" cy="250199"/>
              <a:chOff x="2826000" y="2240807"/>
              <a:chExt cx="72000" cy="250199"/>
            </a:xfrm>
          </p:grpSpPr>
          <p:sp>
            <p:nvSpPr>
              <p:cNvPr id="509" name="矩形 508"/>
              <p:cNvSpPr/>
              <p:nvPr>
                <p:custDataLst>
                  <p:tags r:id="rId165"/>
                </p:custDataLst>
              </p:nvPr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10" name="矩形 509"/>
              <p:cNvSpPr/>
              <p:nvPr>
                <p:custDataLst>
                  <p:tags r:id="rId166"/>
                </p:custDataLst>
              </p:nvPr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511" name="组合 510"/>
          <p:cNvGrpSpPr/>
          <p:nvPr>
            <p:custDataLst>
              <p:tags r:id="rId167"/>
            </p:custDataLst>
          </p:nvPr>
        </p:nvGrpSpPr>
        <p:grpSpPr>
          <a:xfrm>
            <a:off x="4831309" y="2984722"/>
            <a:ext cx="77957" cy="443335"/>
            <a:chOff x="6653438" y="4820100"/>
            <a:chExt cx="77957" cy="443335"/>
          </a:xfrm>
        </p:grpSpPr>
        <p:sp>
          <p:nvSpPr>
            <p:cNvPr id="512" name="矩形 511"/>
            <p:cNvSpPr/>
            <p:nvPr>
              <p:custDataLst>
                <p:tags r:id="rId168"/>
              </p:custDataLst>
            </p:nvPr>
          </p:nvSpPr>
          <p:spPr>
            <a:xfrm>
              <a:off x="6653584" y="5079835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13" name="组合 512"/>
            <p:cNvGrpSpPr/>
            <p:nvPr/>
          </p:nvGrpSpPr>
          <p:grpSpPr>
            <a:xfrm>
              <a:off x="6653438" y="4820100"/>
              <a:ext cx="77957" cy="361450"/>
              <a:chOff x="4933898" y="2131978"/>
              <a:chExt cx="77957" cy="361450"/>
            </a:xfrm>
          </p:grpSpPr>
          <p:sp>
            <p:nvSpPr>
              <p:cNvPr id="514" name="矩形 513"/>
              <p:cNvSpPr/>
              <p:nvPr>
                <p:custDataLst>
                  <p:tags r:id="rId169"/>
                </p:custDataLst>
              </p:nvPr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15" name="组合 514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516" name="矩形 515"/>
                <p:cNvSpPr/>
                <p:nvPr>
                  <p:custDataLst>
                    <p:tags r:id="rId170"/>
                  </p:custDataLst>
                </p:nvPr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17" name="矩形 516"/>
                <p:cNvSpPr/>
                <p:nvPr>
                  <p:custDataLst>
                    <p:tags r:id="rId171"/>
                  </p:custDataLst>
                </p:nvPr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518" name="组合 517"/>
          <p:cNvGrpSpPr/>
          <p:nvPr>
            <p:custDataLst>
              <p:tags r:id="rId172"/>
            </p:custDataLst>
          </p:nvPr>
        </p:nvGrpSpPr>
        <p:grpSpPr>
          <a:xfrm>
            <a:off x="4997582" y="4045341"/>
            <a:ext cx="76479" cy="454041"/>
            <a:chOff x="6806464" y="2030697"/>
            <a:chExt cx="76479" cy="454041"/>
          </a:xfrm>
        </p:grpSpPr>
        <p:sp>
          <p:nvSpPr>
            <p:cNvPr id="519" name="矩形 518"/>
            <p:cNvSpPr/>
            <p:nvPr>
              <p:custDataLst>
                <p:tags r:id="rId173"/>
              </p:custDataLst>
            </p:nvPr>
          </p:nvSpPr>
          <p:spPr>
            <a:xfrm>
              <a:off x="6810943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20" name="组合 519"/>
            <p:cNvGrpSpPr/>
            <p:nvPr/>
          </p:nvGrpSpPr>
          <p:grpSpPr>
            <a:xfrm>
              <a:off x="6806464" y="2030697"/>
              <a:ext cx="72000" cy="364616"/>
              <a:chOff x="5067397" y="3034196"/>
              <a:chExt cx="72000" cy="364616"/>
            </a:xfrm>
          </p:grpSpPr>
          <p:sp>
            <p:nvSpPr>
              <p:cNvPr id="521" name="矩形 520"/>
              <p:cNvSpPr/>
              <p:nvPr>
                <p:custDataLst>
                  <p:tags r:id="rId174"/>
                </p:custDataLst>
              </p:nvPr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22" name="组合 521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523" name="矩形 522"/>
                <p:cNvSpPr/>
                <p:nvPr>
                  <p:custDataLst>
                    <p:tags r:id="rId175"/>
                  </p:custDataLst>
                </p:nvPr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24" name="矩形 523"/>
                <p:cNvSpPr/>
                <p:nvPr>
                  <p:custDataLst>
                    <p:tags r:id="rId176"/>
                  </p:custDataLst>
                </p:nvPr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525" name="组合 524"/>
          <p:cNvGrpSpPr/>
          <p:nvPr>
            <p:custDataLst>
              <p:tags r:id="rId177"/>
            </p:custDataLst>
          </p:nvPr>
        </p:nvGrpSpPr>
        <p:grpSpPr>
          <a:xfrm>
            <a:off x="4493387" y="4907440"/>
            <a:ext cx="75462" cy="435712"/>
            <a:chOff x="6178758" y="2957438"/>
            <a:chExt cx="75462" cy="435712"/>
          </a:xfrm>
        </p:grpSpPr>
        <p:sp>
          <p:nvSpPr>
            <p:cNvPr id="526" name="矩形 525"/>
            <p:cNvSpPr/>
            <p:nvPr>
              <p:custDataLst>
                <p:tags r:id="rId178"/>
              </p:custDataLst>
            </p:nvPr>
          </p:nvSpPr>
          <p:spPr>
            <a:xfrm>
              <a:off x="6181516" y="320955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7" name="矩形 526"/>
            <p:cNvSpPr/>
            <p:nvPr>
              <p:custDataLst>
                <p:tags r:id="rId179"/>
              </p:custDataLst>
            </p:nvPr>
          </p:nvSpPr>
          <p:spPr>
            <a:xfrm>
              <a:off x="6182220" y="310876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28" name="组合 527"/>
            <p:cNvGrpSpPr/>
            <p:nvPr/>
          </p:nvGrpSpPr>
          <p:grpSpPr>
            <a:xfrm>
              <a:off x="6178758" y="2957438"/>
              <a:ext cx="72000" cy="258162"/>
              <a:chOff x="2847617" y="5149390"/>
              <a:chExt cx="72000" cy="258162"/>
            </a:xfrm>
          </p:grpSpPr>
          <p:sp>
            <p:nvSpPr>
              <p:cNvPr id="529" name="矩形 528"/>
              <p:cNvSpPr/>
              <p:nvPr>
                <p:custDataLst>
                  <p:tags r:id="rId180"/>
                </p:custDataLst>
              </p:nvPr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0" name="矩形 529"/>
              <p:cNvSpPr/>
              <p:nvPr>
                <p:custDataLst>
                  <p:tags r:id="rId181"/>
                </p:custDataLst>
              </p:nvPr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cxnSp>
        <p:nvCxnSpPr>
          <p:cNvPr id="531" name="直线箭头连接符 530"/>
          <p:cNvCxnSpPr/>
          <p:nvPr>
            <p:custDataLst>
              <p:tags r:id="rId182"/>
            </p:custDataLst>
          </p:nvPr>
        </p:nvCxnSpPr>
        <p:spPr>
          <a:xfrm flipV="1">
            <a:off x="5600327" y="2393224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直线箭头连接符 537"/>
          <p:cNvCxnSpPr/>
          <p:nvPr>
            <p:custDataLst>
              <p:tags r:id="rId183"/>
            </p:custDataLst>
          </p:nvPr>
        </p:nvCxnSpPr>
        <p:spPr>
          <a:xfrm flipV="1">
            <a:off x="5615642" y="3323794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直线箭头连接符 538"/>
          <p:cNvCxnSpPr/>
          <p:nvPr>
            <p:custDataLst>
              <p:tags r:id="rId184"/>
            </p:custDataLst>
          </p:nvPr>
        </p:nvCxnSpPr>
        <p:spPr>
          <a:xfrm flipV="1">
            <a:off x="5660715" y="4248534"/>
            <a:ext cx="180825" cy="9178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直线箭头连接符 539"/>
          <p:cNvCxnSpPr/>
          <p:nvPr>
            <p:custDataLst>
              <p:tags r:id="rId185"/>
            </p:custDataLst>
          </p:nvPr>
        </p:nvCxnSpPr>
        <p:spPr>
          <a:xfrm>
            <a:off x="5856838" y="2429668"/>
            <a:ext cx="260455" cy="27026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2" name="组合 531"/>
          <p:cNvGrpSpPr/>
          <p:nvPr>
            <p:custDataLst>
              <p:tags r:id="rId186"/>
            </p:custDataLst>
          </p:nvPr>
        </p:nvGrpSpPr>
        <p:grpSpPr>
          <a:xfrm>
            <a:off x="5868363" y="2660825"/>
            <a:ext cx="77019" cy="433548"/>
            <a:chOff x="3790969" y="4956973"/>
            <a:chExt cx="77019" cy="433548"/>
          </a:xfrm>
        </p:grpSpPr>
        <p:sp>
          <p:nvSpPr>
            <p:cNvPr id="533" name="矩形 532"/>
            <p:cNvSpPr/>
            <p:nvPr>
              <p:custDataLst>
                <p:tags r:id="rId187"/>
              </p:custDataLst>
            </p:nvPr>
          </p:nvSpPr>
          <p:spPr>
            <a:xfrm>
              <a:off x="3795988" y="5206921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4" name="矩形 533"/>
            <p:cNvSpPr/>
            <p:nvPr>
              <p:custDataLst>
                <p:tags r:id="rId188"/>
              </p:custDataLst>
            </p:nvPr>
          </p:nvSpPr>
          <p:spPr>
            <a:xfrm>
              <a:off x="3795988" y="5107168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35" name="组合 534"/>
            <p:cNvGrpSpPr/>
            <p:nvPr/>
          </p:nvGrpSpPr>
          <p:grpSpPr>
            <a:xfrm>
              <a:off x="3790969" y="4956973"/>
              <a:ext cx="72000" cy="250199"/>
              <a:chOff x="2826000" y="2240807"/>
              <a:chExt cx="72000" cy="250199"/>
            </a:xfrm>
          </p:grpSpPr>
          <p:sp>
            <p:nvSpPr>
              <p:cNvPr id="536" name="矩形 535"/>
              <p:cNvSpPr/>
              <p:nvPr>
                <p:custDataLst>
                  <p:tags r:id="rId189"/>
                </p:custDataLst>
              </p:nvPr>
            </p:nvSpPr>
            <p:spPr>
              <a:xfrm>
                <a:off x="2826000" y="2307406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7" name="矩形 536"/>
              <p:cNvSpPr/>
              <p:nvPr>
                <p:custDataLst>
                  <p:tags r:id="rId190"/>
                </p:custDataLst>
              </p:nvPr>
            </p:nvSpPr>
            <p:spPr>
              <a:xfrm>
                <a:off x="2826000" y="2240807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543" name="组合 542"/>
          <p:cNvGrpSpPr/>
          <p:nvPr>
            <p:custDataLst>
              <p:tags r:id="rId191"/>
            </p:custDataLst>
          </p:nvPr>
        </p:nvGrpSpPr>
        <p:grpSpPr>
          <a:xfrm>
            <a:off x="5633554" y="2653258"/>
            <a:ext cx="77957" cy="443335"/>
            <a:chOff x="6653438" y="4820100"/>
            <a:chExt cx="77957" cy="443335"/>
          </a:xfrm>
        </p:grpSpPr>
        <p:sp>
          <p:nvSpPr>
            <p:cNvPr id="544" name="矩形 543"/>
            <p:cNvSpPr/>
            <p:nvPr>
              <p:custDataLst>
                <p:tags r:id="rId192"/>
              </p:custDataLst>
            </p:nvPr>
          </p:nvSpPr>
          <p:spPr>
            <a:xfrm>
              <a:off x="6653584" y="5079835"/>
              <a:ext cx="72000" cy="183600"/>
            </a:xfrm>
            <a:prstGeom prst="rect">
              <a:avLst/>
            </a:prstGeom>
            <a:solidFill>
              <a:srgbClr val="02FD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45" name="组合 544"/>
            <p:cNvGrpSpPr/>
            <p:nvPr/>
          </p:nvGrpSpPr>
          <p:grpSpPr>
            <a:xfrm>
              <a:off x="6653438" y="4820100"/>
              <a:ext cx="77957" cy="361450"/>
              <a:chOff x="4933898" y="2131978"/>
              <a:chExt cx="77957" cy="361450"/>
            </a:xfrm>
          </p:grpSpPr>
          <p:sp>
            <p:nvSpPr>
              <p:cNvPr id="546" name="矩形 545"/>
              <p:cNvSpPr/>
              <p:nvPr>
                <p:custDataLst>
                  <p:tags r:id="rId193"/>
                </p:custDataLst>
              </p:nvPr>
            </p:nvSpPr>
            <p:spPr>
              <a:xfrm>
                <a:off x="4939855" y="230982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47" name="组合 546"/>
              <p:cNvGrpSpPr/>
              <p:nvPr/>
            </p:nvGrpSpPr>
            <p:grpSpPr>
              <a:xfrm>
                <a:off x="4933898" y="2131978"/>
                <a:ext cx="72000" cy="279137"/>
                <a:chOff x="2958412" y="3077657"/>
                <a:chExt cx="72000" cy="279137"/>
              </a:xfrm>
            </p:grpSpPr>
            <p:sp>
              <p:nvSpPr>
                <p:cNvPr id="548" name="矩形 547"/>
                <p:cNvSpPr/>
                <p:nvPr>
                  <p:custDataLst>
                    <p:tags r:id="rId194"/>
                  </p:custDataLst>
                </p:nvPr>
              </p:nvSpPr>
              <p:spPr>
                <a:xfrm>
                  <a:off x="2958412" y="3173194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49" name="矩形 548"/>
                <p:cNvSpPr/>
                <p:nvPr>
                  <p:custDataLst>
                    <p:tags r:id="rId195"/>
                  </p:custDataLst>
                </p:nvPr>
              </p:nvSpPr>
              <p:spPr>
                <a:xfrm>
                  <a:off x="2958412" y="3077657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550" name="组合 549"/>
          <p:cNvGrpSpPr/>
          <p:nvPr>
            <p:custDataLst>
              <p:tags r:id="rId196"/>
            </p:custDataLst>
          </p:nvPr>
        </p:nvGrpSpPr>
        <p:grpSpPr>
          <a:xfrm>
            <a:off x="5640104" y="3556595"/>
            <a:ext cx="76479" cy="454041"/>
            <a:chOff x="6806464" y="2030697"/>
            <a:chExt cx="76479" cy="454041"/>
          </a:xfrm>
        </p:grpSpPr>
        <p:sp>
          <p:nvSpPr>
            <p:cNvPr id="551" name="矩形 550"/>
            <p:cNvSpPr/>
            <p:nvPr>
              <p:custDataLst>
                <p:tags r:id="rId197"/>
              </p:custDataLst>
            </p:nvPr>
          </p:nvSpPr>
          <p:spPr>
            <a:xfrm>
              <a:off x="6810943" y="2301138"/>
              <a:ext cx="72000" cy="183600"/>
            </a:xfrm>
            <a:prstGeom prst="rect">
              <a:avLst/>
            </a:prstGeom>
            <a:solidFill>
              <a:srgbClr val="FF5F00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52" name="组合 551"/>
            <p:cNvGrpSpPr/>
            <p:nvPr/>
          </p:nvGrpSpPr>
          <p:grpSpPr>
            <a:xfrm>
              <a:off x="6806464" y="2030697"/>
              <a:ext cx="72000" cy="364616"/>
              <a:chOff x="5067397" y="3034196"/>
              <a:chExt cx="72000" cy="364616"/>
            </a:xfrm>
          </p:grpSpPr>
          <p:sp>
            <p:nvSpPr>
              <p:cNvPr id="553" name="矩形 552"/>
              <p:cNvSpPr/>
              <p:nvPr>
                <p:custDataLst>
                  <p:tags r:id="rId198"/>
                </p:custDataLst>
              </p:nvPr>
            </p:nvSpPr>
            <p:spPr>
              <a:xfrm>
                <a:off x="5067397" y="3215212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54" name="组合 553"/>
              <p:cNvGrpSpPr/>
              <p:nvPr/>
            </p:nvGrpSpPr>
            <p:grpSpPr>
              <a:xfrm>
                <a:off x="5067397" y="3034196"/>
                <a:ext cx="72000" cy="275190"/>
                <a:chOff x="3077929" y="4043060"/>
                <a:chExt cx="72000" cy="275190"/>
              </a:xfrm>
            </p:grpSpPr>
            <p:sp>
              <p:nvSpPr>
                <p:cNvPr id="555" name="矩形 554"/>
                <p:cNvSpPr/>
                <p:nvPr>
                  <p:custDataLst>
                    <p:tags r:id="rId199"/>
                  </p:custDataLst>
                </p:nvPr>
              </p:nvSpPr>
              <p:spPr>
                <a:xfrm>
                  <a:off x="3077929" y="4134650"/>
                  <a:ext cx="72000" cy="183600"/>
                </a:xfrm>
                <a:prstGeom prst="rect">
                  <a:avLst/>
                </a:prstGeom>
                <a:solidFill>
                  <a:srgbClr val="FAEADD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56" name="矩形 555"/>
                <p:cNvSpPr/>
                <p:nvPr>
                  <p:custDataLst>
                    <p:tags r:id="rId200"/>
                  </p:custDataLst>
                </p:nvPr>
              </p:nvSpPr>
              <p:spPr>
                <a:xfrm>
                  <a:off x="3077929" y="4043060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557" name="组合 556"/>
          <p:cNvGrpSpPr/>
          <p:nvPr>
            <p:custDataLst>
              <p:tags r:id="rId201"/>
            </p:custDataLst>
          </p:nvPr>
        </p:nvGrpSpPr>
        <p:grpSpPr>
          <a:xfrm>
            <a:off x="5667823" y="4554980"/>
            <a:ext cx="75462" cy="435712"/>
            <a:chOff x="6178758" y="2957438"/>
            <a:chExt cx="75462" cy="435712"/>
          </a:xfrm>
        </p:grpSpPr>
        <p:sp>
          <p:nvSpPr>
            <p:cNvPr id="558" name="矩形 557"/>
            <p:cNvSpPr/>
            <p:nvPr>
              <p:custDataLst>
                <p:tags r:id="rId202"/>
              </p:custDataLst>
            </p:nvPr>
          </p:nvSpPr>
          <p:spPr>
            <a:xfrm>
              <a:off x="6181516" y="3209550"/>
              <a:ext cx="72000" cy="183600"/>
            </a:xfrm>
            <a:prstGeom prst="rect">
              <a:avLst/>
            </a:prstGeom>
            <a:solidFill>
              <a:srgbClr val="0432FF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9" name="矩形 558"/>
            <p:cNvSpPr/>
            <p:nvPr>
              <p:custDataLst>
                <p:tags r:id="rId203"/>
              </p:custDataLst>
            </p:nvPr>
          </p:nvSpPr>
          <p:spPr>
            <a:xfrm>
              <a:off x="6182220" y="3108767"/>
              <a:ext cx="72000" cy="183600"/>
            </a:xfrm>
            <a:prstGeom prst="rect">
              <a:avLst/>
            </a:prstGeom>
            <a:solidFill>
              <a:srgbClr val="FAEADD"/>
            </a:solidFill>
            <a:ln w="889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60" name="组合 559"/>
            <p:cNvGrpSpPr/>
            <p:nvPr/>
          </p:nvGrpSpPr>
          <p:grpSpPr>
            <a:xfrm>
              <a:off x="6178758" y="2957438"/>
              <a:ext cx="72000" cy="258162"/>
              <a:chOff x="2847617" y="5149390"/>
              <a:chExt cx="72000" cy="258162"/>
            </a:xfrm>
          </p:grpSpPr>
          <p:sp>
            <p:nvSpPr>
              <p:cNvPr id="561" name="矩形 560"/>
              <p:cNvSpPr/>
              <p:nvPr>
                <p:custDataLst>
                  <p:tags r:id="rId204"/>
                </p:custDataLst>
              </p:nvPr>
            </p:nvSpPr>
            <p:spPr>
              <a:xfrm>
                <a:off x="2847617" y="5223952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62" name="矩形 561"/>
              <p:cNvSpPr/>
              <p:nvPr>
                <p:custDataLst>
                  <p:tags r:id="rId205"/>
                </p:custDataLst>
              </p:nvPr>
            </p:nvSpPr>
            <p:spPr>
              <a:xfrm>
                <a:off x="2847617" y="5149390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563" name="矩形 562"/>
          <p:cNvSpPr/>
          <p:nvPr>
            <p:custDataLst>
              <p:tags r:id="rId206"/>
            </p:custDataLst>
          </p:nvPr>
        </p:nvSpPr>
        <p:spPr>
          <a:xfrm>
            <a:off x="6429498" y="2166650"/>
            <a:ext cx="648072" cy="3274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90" name="组合 589"/>
          <p:cNvGrpSpPr/>
          <p:nvPr>
            <p:custDataLst>
              <p:tags r:id="rId207"/>
            </p:custDataLst>
          </p:nvPr>
        </p:nvGrpSpPr>
        <p:grpSpPr>
          <a:xfrm>
            <a:off x="6471069" y="2231445"/>
            <a:ext cx="579377" cy="461668"/>
            <a:chOff x="6471069" y="2231445"/>
            <a:chExt cx="579377" cy="461668"/>
          </a:xfrm>
        </p:grpSpPr>
        <p:grpSp>
          <p:nvGrpSpPr>
            <p:cNvPr id="564" name="组合 563"/>
            <p:cNvGrpSpPr/>
            <p:nvPr/>
          </p:nvGrpSpPr>
          <p:grpSpPr>
            <a:xfrm>
              <a:off x="6471069" y="2231445"/>
              <a:ext cx="75462" cy="435712"/>
              <a:chOff x="6178758" y="2957438"/>
              <a:chExt cx="75462" cy="435712"/>
            </a:xfrm>
          </p:grpSpPr>
          <p:sp>
            <p:nvSpPr>
              <p:cNvPr id="565" name="矩形 564"/>
              <p:cNvSpPr/>
              <p:nvPr>
                <p:custDataLst>
                  <p:tags r:id="rId208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66" name="矩形 565"/>
              <p:cNvSpPr/>
              <p:nvPr>
                <p:custDataLst>
                  <p:tags r:id="rId209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67" name="组合 566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568" name="矩形 567"/>
                <p:cNvSpPr/>
                <p:nvPr>
                  <p:custDataLst>
                    <p:tags r:id="rId210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69" name="矩形 568"/>
                <p:cNvSpPr/>
                <p:nvPr>
                  <p:custDataLst>
                    <p:tags r:id="rId211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570" name="组合 569"/>
            <p:cNvGrpSpPr/>
            <p:nvPr/>
          </p:nvGrpSpPr>
          <p:grpSpPr>
            <a:xfrm>
              <a:off x="6628002" y="2244061"/>
              <a:ext cx="77019" cy="433548"/>
              <a:chOff x="3790969" y="4956973"/>
              <a:chExt cx="77019" cy="433548"/>
            </a:xfrm>
          </p:grpSpPr>
          <p:sp>
            <p:nvSpPr>
              <p:cNvPr id="571" name="矩形 570"/>
              <p:cNvSpPr/>
              <p:nvPr>
                <p:custDataLst>
                  <p:tags r:id="rId212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72" name="矩形 571"/>
              <p:cNvSpPr/>
              <p:nvPr>
                <p:custDataLst>
                  <p:tags r:id="rId213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73" name="组合 572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574" name="矩形 573"/>
                <p:cNvSpPr/>
                <p:nvPr>
                  <p:custDataLst>
                    <p:tags r:id="rId214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75" name="矩形 574"/>
                <p:cNvSpPr/>
                <p:nvPr>
                  <p:custDataLst>
                    <p:tags r:id="rId215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576" name="组合 575"/>
            <p:cNvGrpSpPr/>
            <p:nvPr/>
          </p:nvGrpSpPr>
          <p:grpSpPr>
            <a:xfrm>
              <a:off x="6804972" y="2238622"/>
              <a:ext cx="77957" cy="443335"/>
              <a:chOff x="6653438" y="4820100"/>
              <a:chExt cx="77957" cy="443335"/>
            </a:xfrm>
          </p:grpSpPr>
          <p:sp>
            <p:nvSpPr>
              <p:cNvPr id="577" name="矩形 576"/>
              <p:cNvSpPr/>
              <p:nvPr>
                <p:custDataLst>
                  <p:tags r:id="rId216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78" name="组合 577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579" name="矩形 578"/>
                <p:cNvSpPr/>
                <p:nvPr>
                  <p:custDataLst>
                    <p:tags r:id="rId217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580" name="组合 579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581" name="矩形 580"/>
                  <p:cNvSpPr/>
                  <p:nvPr>
                    <p:custDataLst>
                      <p:tags r:id="rId218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82" name="矩形 581"/>
                  <p:cNvSpPr/>
                  <p:nvPr>
                    <p:custDataLst>
                      <p:tags r:id="rId219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583" name="组合 582"/>
            <p:cNvGrpSpPr/>
            <p:nvPr/>
          </p:nvGrpSpPr>
          <p:grpSpPr>
            <a:xfrm>
              <a:off x="6973967" y="2239072"/>
              <a:ext cx="76479" cy="454041"/>
              <a:chOff x="6806464" y="2030697"/>
              <a:chExt cx="76479" cy="454041"/>
            </a:xfrm>
          </p:grpSpPr>
          <p:sp>
            <p:nvSpPr>
              <p:cNvPr id="584" name="矩形 583"/>
              <p:cNvSpPr/>
              <p:nvPr>
                <p:custDataLst>
                  <p:tags r:id="rId220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85" name="组合 584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586" name="矩形 585"/>
                <p:cNvSpPr/>
                <p:nvPr>
                  <p:custDataLst>
                    <p:tags r:id="rId221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587" name="组合 586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588" name="矩形 587"/>
                  <p:cNvSpPr/>
                  <p:nvPr>
                    <p:custDataLst>
                      <p:tags r:id="rId222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89" name="矩形 588"/>
                  <p:cNvSpPr/>
                  <p:nvPr>
                    <p:custDataLst>
                      <p:tags r:id="rId223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591" name="组合 590"/>
          <p:cNvGrpSpPr/>
          <p:nvPr>
            <p:custDataLst>
              <p:tags r:id="rId224"/>
            </p:custDataLst>
          </p:nvPr>
        </p:nvGrpSpPr>
        <p:grpSpPr>
          <a:xfrm>
            <a:off x="6458242" y="2975856"/>
            <a:ext cx="579377" cy="461668"/>
            <a:chOff x="6471069" y="2231445"/>
            <a:chExt cx="579377" cy="461668"/>
          </a:xfrm>
        </p:grpSpPr>
        <p:grpSp>
          <p:nvGrpSpPr>
            <p:cNvPr id="592" name="组合 591"/>
            <p:cNvGrpSpPr/>
            <p:nvPr/>
          </p:nvGrpSpPr>
          <p:grpSpPr>
            <a:xfrm>
              <a:off x="6471069" y="2231445"/>
              <a:ext cx="75462" cy="435712"/>
              <a:chOff x="6178758" y="2957438"/>
              <a:chExt cx="75462" cy="435712"/>
            </a:xfrm>
          </p:grpSpPr>
          <p:sp>
            <p:nvSpPr>
              <p:cNvPr id="613" name="矩形 612"/>
              <p:cNvSpPr/>
              <p:nvPr>
                <p:custDataLst>
                  <p:tags r:id="rId225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14" name="矩形 613"/>
              <p:cNvSpPr/>
              <p:nvPr>
                <p:custDataLst>
                  <p:tags r:id="rId226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15" name="组合 614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616" name="矩形 615"/>
                <p:cNvSpPr/>
                <p:nvPr>
                  <p:custDataLst>
                    <p:tags r:id="rId227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17" name="矩形 616"/>
                <p:cNvSpPr/>
                <p:nvPr>
                  <p:custDataLst>
                    <p:tags r:id="rId228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593" name="组合 592"/>
            <p:cNvGrpSpPr/>
            <p:nvPr/>
          </p:nvGrpSpPr>
          <p:grpSpPr>
            <a:xfrm>
              <a:off x="6628002" y="2244061"/>
              <a:ext cx="77019" cy="433548"/>
              <a:chOff x="3790969" y="4956973"/>
              <a:chExt cx="77019" cy="433548"/>
            </a:xfrm>
          </p:grpSpPr>
          <p:sp>
            <p:nvSpPr>
              <p:cNvPr id="608" name="矩形 607"/>
              <p:cNvSpPr/>
              <p:nvPr>
                <p:custDataLst>
                  <p:tags r:id="rId229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09" name="矩形 608"/>
              <p:cNvSpPr/>
              <p:nvPr>
                <p:custDataLst>
                  <p:tags r:id="rId230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10" name="组合 609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611" name="矩形 610"/>
                <p:cNvSpPr/>
                <p:nvPr>
                  <p:custDataLst>
                    <p:tags r:id="rId231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12" name="矩形 611"/>
                <p:cNvSpPr/>
                <p:nvPr>
                  <p:custDataLst>
                    <p:tags r:id="rId232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594" name="组合 593"/>
            <p:cNvGrpSpPr/>
            <p:nvPr/>
          </p:nvGrpSpPr>
          <p:grpSpPr>
            <a:xfrm>
              <a:off x="6804972" y="2238622"/>
              <a:ext cx="77957" cy="443335"/>
              <a:chOff x="6653438" y="4820100"/>
              <a:chExt cx="77957" cy="443335"/>
            </a:xfrm>
          </p:grpSpPr>
          <p:sp>
            <p:nvSpPr>
              <p:cNvPr id="602" name="矩形 601"/>
              <p:cNvSpPr/>
              <p:nvPr>
                <p:custDataLst>
                  <p:tags r:id="rId233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03" name="组合 602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604" name="矩形 603"/>
                <p:cNvSpPr/>
                <p:nvPr>
                  <p:custDataLst>
                    <p:tags r:id="rId234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605" name="组合 604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606" name="矩形 605"/>
                  <p:cNvSpPr/>
                  <p:nvPr>
                    <p:custDataLst>
                      <p:tags r:id="rId235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607" name="矩形 606"/>
                  <p:cNvSpPr/>
                  <p:nvPr>
                    <p:custDataLst>
                      <p:tags r:id="rId236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595" name="组合 594"/>
            <p:cNvGrpSpPr/>
            <p:nvPr/>
          </p:nvGrpSpPr>
          <p:grpSpPr>
            <a:xfrm>
              <a:off x="6973967" y="2239072"/>
              <a:ext cx="76479" cy="454041"/>
              <a:chOff x="6806464" y="2030697"/>
              <a:chExt cx="76479" cy="454041"/>
            </a:xfrm>
          </p:grpSpPr>
          <p:sp>
            <p:nvSpPr>
              <p:cNvPr id="596" name="矩形 595"/>
              <p:cNvSpPr/>
              <p:nvPr>
                <p:custDataLst>
                  <p:tags r:id="rId237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97" name="组合 596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598" name="矩形 597"/>
                <p:cNvSpPr/>
                <p:nvPr>
                  <p:custDataLst>
                    <p:tags r:id="rId238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599" name="组合 598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600" name="矩形 599"/>
                  <p:cNvSpPr/>
                  <p:nvPr>
                    <p:custDataLst>
                      <p:tags r:id="rId239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601" name="矩形 600"/>
                  <p:cNvSpPr/>
                  <p:nvPr>
                    <p:custDataLst>
                      <p:tags r:id="rId240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618" name="组合 617"/>
          <p:cNvGrpSpPr/>
          <p:nvPr>
            <p:custDataLst>
              <p:tags r:id="rId241"/>
            </p:custDataLst>
          </p:nvPr>
        </p:nvGrpSpPr>
        <p:grpSpPr>
          <a:xfrm>
            <a:off x="6461854" y="4052091"/>
            <a:ext cx="579377" cy="461668"/>
            <a:chOff x="6471069" y="2231445"/>
            <a:chExt cx="579377" cy="461668"/>
          </a:xfrm>
        </p:grpSpPr>
        <p:grpSp>
          <p:nvGrpSpPr>
            <p:cNvPr id="619" name="组合 618"/>
            <p:cNvGrpSpPr/>
            <p:nvPr/>
          </p:nvGrpSpPr>
          <p:grpSpPr>
            <a:xfrm>
              <a:off x="6471069" y="2231445"/>
              <a:ext cx="75462" cy="435712"/>
              <a:chOff x="6178758" y="2957438"/>
              <a:chExt cx="75462" cy="435712"/>
            </a:xfrm>
          </p:grpSpPr>
          <p:sp>
            <p:nvSpPr>
              <p:cNvPr id="640" name="矩形 639"/>
              <p:cNvSpPr/>
              <p:nvPr>
                <p:custDataLst>
                  <p:tags r:id="rId242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41" name="矩形 640"/>
              <p:cNvSpPr/>
              <p:nvPr>
                <p:custDataLst>
                  <p:tags r:id="rId243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42" name="组合 641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643" name="矩形 642"/>
                <p:cNvSpPr/>
                <p:nvPr>
                  <p:custDataLst>
                    <p:tags r:id="rId244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44" name="矩形 643"/>
                <p:cNvSpPr/>
                <p:nvPr>
                  <p:custDataLst>
                    <p:tags r:id="rId245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620" name="组合 619"/>
            <p:cNvGrpSpPr/>
            <p:nvPr/>
          </p:nvGrpSpPr>
          <p:grpSpPr>
            <a:xfrm>
              <a:off x="6628002" y="2244061"/>
              <a:ext cx="77019" cy="433548"/>
              <a:chOff x="3790969" y="4956973"/>
              <a:chExt cx="77019" cy="433548"/>
            </a:xfrm>
          </p:grpSpPr>
          <p:sp>
            <p:nvSpPr>
              <p:cNvPr id="635" name="矩形 634"/>
              <p:cNvSpPr/>
              <p:nvPr>
                <p:custDataLst>
                  <p:tags r:id="rId246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36" name="矩形 635"/>
              <p:cNvSpPr/>
              <p:nvPr>
                <p:custDataLst>
                  <p:tags r:id="rId247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37" name="组合 636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638" name="矩形 637"/>
                <p:cNvSpPr/>
                <p:nvPr>
                  <p:custDataLst>
                    <p:tags r:id="rId248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39" name="矩形 638"/>
                <p:cNvSpPr/>
                <p:nvPr>
                  <p:custDataLst>
                    <p:tags r:id="rId249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621" name="组合 620"/>
            <p:cNvGrpSpPr/>
            <p:nvPr/>
          </p:nvGrpSpPr>
          <p:grpSpPr>
            <a:xfrm>
              <a:off x="6804972" y="2238622"/>
              <a:ext cx="77957" cy="443335"/>
              <a:chOff x="6653438" y="4820100"/>
              <a:chExt cx="77957" cy="443335"/>
            </a:xfrm>
          </p:grpSpPr>
          <p:sp>
            <p:nvSpPr>
              <p:cNvPr id="629" name="矩形 628"/>
              <p:cNvSpPr/>
              <p:nvPr>
                <p:custDataLst>
                  <p:tags r:id="rId250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30" name="组合 629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631" name="矩形 630"/>
                <p:cNvSpPr/>
                <p:nvPr>
                  <p:custDataLst>
                    <p:tags r:id="rId251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632" name="组合 631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633" name="矩形 632"/>
                  <p:cNvSpPr/>
                  <p:nvPr>
                    <p:custDataLst>
                      <p:tags r:id="rId252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634" name="矩形 633"/>
                  <p:cNvSpPr/>
                  <p:nvPr>
                    <p:custDataLst>
                      <p:tags r:id="rId253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622" name="组合 621"/>
            <p:cNvGrpSpPr/>
            <p:nvPr/>
          </p:nvGrpSpPr>
          <p:grpSpPr>
            <a:xfrm>
              <a:off x="6973967" y="2239072"/>
              <a:ext cx="76479" cy="454041"/>
              <a:chOff x="6806464" y="2030697"/>
              <a:chExt cx="76479" cy="454041"/>
            </a:xfrm>
          </p:grpSpPr>
          <p:sp>
            <p:nvSpPr>
              <p:cNvPr id="623" name="矩形 622"/>
              <p:cNvSpPr/>
              <p:nvPr>
                <p:custDataLst>
                  <p:tags r:id="rId254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24" name="组合 623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625" name="矩形 624"/>
                <p:cNvSpPr/>
                <p:nvPr>
                  <p:custDataLst>
                    <p:tags r:id="rId255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626" name="组合 625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627" name="矩形 626"/>
                  <p:cNvSpPr/>
                  <p:nvPr>
                    <p:custDataLst>
                      <p:tags r:id="rId256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628" name="矩形 627"/>
                  <p:cNvSpPr/>
                  <p:nvPr>
                    <p:custDataLst>
                      <p:tags r:id="rId257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645" name="组合 644"/>
          <p:cNvGrpSpPr/>
          <p:nvPr>
            <p:custDataLst>
              <p:tags r:id="rId258"/>
            </p:custDataLst>
          </p:nvPr>
        </p:nvGrpSpPr>
        <p:grpSpPr>
          <a:xfrm>
            <a:off x="6453763" y="4898892"/>
            <a:ext cx="579377" cy="461668"/>
            <a:chOff x="6471069" y="2231445"/>
            <a:chExt cx="579377" cy="461668"/>
          </a:xfrm>
        </p:grpSpPr>
        <p:grpSp>
          <p:nvGrpSpPr>
            <p:cNvPr id="646" name="组合 645"/>
            <p:cNvGrpSpPr/>
            <p:nvPr/>
          </p:nvGrpSpPr>
          <p:grpSpPr>
            <a:xfrm>
              <a:off x="6471069" y="2231445"/>
              <a:ext cx="75462" cy="435712"/>
              <a:chOff x="6178758" y="2957438"/>
              <a:chExt cx="75462" cy="435712"/>
            </a:xfrm>
          </p:grpSpPr>
          <p:sp>
            <p:nvSpPr>
              <p:cNvPr id="667" name="矩形 666"/>
              <p:cNvSpPr/>
              <p:nvPr>
                <p:custDataLst>
                  <p:tags r:id="rId259"/>
                </p:custDataLst>
              </p:nvPr>
            </p:nvSpPr>
            <p:spPr>
              <a:xfrm>
                <a:off x="6181516" y="3209550"/>
                <a:ext cx="72000" cy="183600"/>
              </a:xfrm>
              <a:prstGeom prst="rect">
                <a:avLst/>
              </a:prstGeom>
              <a:solidFill>
                <a:srgbClr val="0432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68" name="矩形 667"/>
              <p:cNvSpPr/>
              <p:nvPr>
                <p:custDataLst>
                  <p:tags r:id="rId260"/>
                </p:custDataLst>
              </p:nvPr>
            </p:nvSpPr>
            <p:spPr>
              <a:xfrm>
                <a:off x="6182220" y="3108767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69" name="组合 668"/>
              <p:cNvGrpSpPr/>
              <p:nvPr/>
            </p:nvGrpSpPr>
            <p:grpSpPr>
              <a:xfrm>
                <a:off x="6178758" y="2957438"/>
                <a:ext cx="72000" cy="258162"/>
                <a:chOff x="2847617" y="5149390"/>
                <a:chExt cx="72000" cy="258162"/>
              </a:xfrm>
            </p:grpSpPr>
            <p:sp>
              <p:nvSpPr>
                <p:cNvPr id="670" name="矩形 669"/>
                <p:cNvSpPr/>
                <p:nvPr>
                  <p:custDataLst>
                    <p:tags r:id="rId261"/>
                  </p:custDataLst>
                </p:nvPr>
              </p:nvSpPr>
              <p:spPr>
                <a:xfrm>
                  <a:off x="2847617" y="5223952"/>
                  <a:ext cx="72000" cy="183600"/>
                </a:xfrm>
                <a:prstGeom prst="rect">
                  <a:avLst/>
                </a:prstGeom>
                <a:solidFill>
                  <a:srgbClr val="02FD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71" name="矩形 670"/>
                <p:cNvSpPr/>
                <p:nvPr>
                  <p:custDataLst>
                    <p:tags r:id="rId262"/>
                  </p:custDataLst>
                </p:nvPr>
              </p:nvSpPr>
              <p:spPr>
                <a:xfrm>
                  <a:off x="2847617" y="5149390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647" name="组合 646"/>
            <p:cNvGrpSpPr/>
            <p:nvPr/>
          </p:nvGrpSpPr>
          <p:grpSpPr>
            <a:xfrm>
              <a:off x="6628002" y="2244061"/>
              <a:ext cx="77019" cy="433548"/>
              <a:chOff x="3790969" y="4956973"/>
              <a:chExt cx="77019" cy="433548"/>
            </a:xfrm>
          </p:grpSpPr>
          <p:sp>
            <p:nvSpPr>
              <p:cNvPr id="662" name="矩形 661"/>
              <p:cNvSpPr/>
              <p:nvPr>
                <p:custDataLst>
                  <p:tags r:id="rId263"/>
                </p:custDataLst>
              </p:nvPr>
            </p:nvSpPr>
            <p:spPr>
              <a:xfrm>
                <a:off x="3795988" y="5206921"/>
                <a:ext cx="72000" cy="183600"/>
              </a:xfrm>
              <a:prstGeom prst="rect">
                <a:avLst/>
              </a:prstGeom>
              <a:solidFill>
                <a:srgbClr val="FAEADD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63" name="矩形 662"/>
              <p:cNvSpPr/>
              <p:nvPr>
                <p:custDataLst>
                  <p:tags r:id="rId264"/>
                </p:custDataLst>
              </p:nvPr>
            </p:nvSpPr>
            <p:spPr>
              <a:xfrm>
                <a:off x="3795988" y="5107168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64" name="组合 663"/>
              <p:cNvGrpSpPr/>
              <p:nvPr/>
            </p:nvGrpSpPr>
            <p:grpSpPr>
              <a:xfrm>
                <a:off x="3790969" y="4956973"/>
                <a:ext cx="72000" cy="250199"/>
                <a:chOff x="2826000" y="2240807"/>
                <a:chExt cx="72000" cy="250199"/>
              </a:xfrm>
            </p:grpSpPr>
            <p:sp>
              <p:nvSpPr>
                <p:cNvPr id="665" name="矩形 664"/>
                <p:cNvSpPr/>
                <p:nvPr>
                  <p:custDataLst>
                    <p:tags r:id="rId265"/>
                  </p:custDataLst>
                </p:nvPr>
              </p:nvSpPr>
              <p:spPr>
                <a:xfrm>
                  <a:off x="2826000" y="2307406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666" name="矩形 665"/>
                <p:cNvSpPr/>
                <p:nvPr>
                  <p:custDataLst>
                    <p:tags r:id="rId266"/>
                  </p:custDataLst>
                </p:nvPr>
              </p:nvSpPr>
              <p:spPr>
                <a:xfrm>
                  <a:off x="2826000" y="2240807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648" name="组合 647"/>
            <p:cNvGrpSpPr/>
            <p:nvPr/>
          </p:nvGrpSpPr>
          <p:grpSpPr>
            <a:xfrm>
              <a:off x="6804972" y="2238622"/>
              <a:ext cx="77957" cy="443335"/>
              <a:chOff x="6653438" y="4820100"/>
              <a:chExt cx="77957" cy="443335"/>
            </a:xfrm>
          </p:grpSpPr>
          <p:sp>
            <p:nvSpPr>
              <p:cNvPr id="656" name="矩形 655"/>
              <p:cNvSpPr/>
              <p:nvPr>
                <p:custDataLst>
                  <p:tags r:id="rId267"/>
                </p:custDataLst>
              </p:nvPr>
            </p:nvSpPr>
            <p:spPr>
              <a:xfrm>
                <a:off x="6653584" y="5079835"/>
                <a:ext cx="72000" cy="183600"/>
              </a:xfrm>
              <a:prstGeom prst="rect">
                <a:avLst/>
              </a:prstGeom>
              <a:solidFill>
                <a:srgbClr val="02FDFF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57" name="组合 656"/>
              <p:cNvGrpSpPr/>
              <p:nvPr/>
            </p:nvGrpSpPr>
            <p:grpSpPr>
              <a:xfrm>
                <a:off x="6653438" y="4820100"/>
                <a:ext cx="77957" cy="361450"/>
                <a:chOff x="4933898" y="2131978"/>
                <a:chExt cx="77957" cy="361450"/>
              </a:xfrm>
            </p:grpSpPr>
            <p:sp>
              <p:nvSpPr>
                <p:cNvPr id="658" name="矩形 657"/>
                <p:cNvSpPr/>
                <p:nvPr>
                  <p:custDataLst>
                    <p:tags r:id="rId268"/>
                  </p:custDataLst>
                </p:nvPr>
              </p:nvSpPr>
              <p:spPr>
                <a:xfrm>
                  <a:off x="4939855" y="2309828"/>
                  <a:ext cx="72000" cy="183600"/>
                </a:xfrm>
                <a:prstGeom prst="rect">
                  <a:avLst/>
                </a:prstGeom>
                <a:solidFill>
                  <a:srgbClr val="FF5F00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659" name="组合 658"/>
                <p:cNvGrpSpPr/>
                <p:nvPr/>
              </p:nvGrpSpPr>
              <p:grpSpPr>
                <a:xfrm>
                  <a:off x="4933898" y="2131978"/>
                  <a:ext cx="72000" cy="279137"/>
                  <a:chOff x="2958412" y="3077657"/>
                  <a:chExt cx="72000" cy="279137"/>
                </a:xfrm>
              </p:grpSpPr>
              <p:sp>
                <p:nvSpPr>
                  <p:cNvPr id="660" name="矩形 659"/>
                  <p:cNvSpPr/>
                  <p:nvPr>
                    <p:custDataLst>
                      <p:tags r:id="rId269"/>
                    </p:custDataLst>
                  </p:nvPr>
                </p:nvSpPr>
                <p:spPr>
                  <a:xfrm>
                    <a:off x="2958412" y="3173194"/>
                    <a:ext cx="72000" cy="183600"/>
                  </a:xfrm>
                  <a:prstGeom prst="rect">
                    <a:avLst/>
                  </a:prstGeom>
                  <a:solidFill>
                    <a:srgbClr val="0432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661" name="矩形 660"/>
                  <p:cNvSpPr/>
                  <p:nvPr>
                    <p:custDataLst>
                      <p:tags r:id="rId270"/>
                    </p:custDataLst>
                  </p:nvPr>
                </p:nvSpPr>
                <p:spPr>
                  <a:xfrm>
                    <a:off x="2958412" y="3077657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  <p:grpSp>
          <p:nvGrpSpPr>
            <p:cNvPr id="649" name="组合 648"/>
            <p:cNvGrpSpPr/>
            <p:nvPr/>
          </p:nvGrpSpPr>
          <p:grpSpPr>
            <a:xfrm>
              <a:off x="6973967" y="2239072"/>
              <a:ext cx="76479" cy="454041"/>
              <a:chOff x="6806464" y="2030697"/>
              <a:chExt cx="76479" cy="454041"/>
            </a:xfrm>
          </p:grpSpPr>
          <p:sp>
            <p:nvSpPr>
              <p:cNvPr id="650" name="矩形 649"/>
              <p:cNvSpPr/>
              <p:nvPr>
                <p:custDataLst>
                  <p:tags r:id="rId271"/>
                </p:custDataLst>
              </p:nvPr>
            </p:nvSpPr>
            <p:spPr>
              <a:xfrm>
                <a:off x="6810943" y="2301138"/>
                <a:ext cx="72000" cy="183600"/>
              </a:xfrm>
              <a:prstGeom prst="rect">
                <a:avLst/>
              </a:prstGeom>
              <a:solidFill>
                <a:srgbClr val="FF5F00"/>
              </a:solidFill>
              <a:ln w="8890">
                <a:solidFill>
                  <a:schemeClr val="tx1"/>
                </a:solidFill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651" name="组合 650"/>
              <p:cNvGrpSpPr/>
              <p:nvPr/>
            </p:nvGrpSpPr>
            <p:grpSpPr>
              <a:xfrm>
                <a:off x="6806464" y="2030697"/>
                <a:ext cx="72000" cy="364616"/>
                <a:chOff x="5067397" y="3034196"/>
                <a:chExt cx="72000" cy="364616"/>
              </a:xfrm>
            </p:grpSpPr>
            <p:sp>
              <p:nvSpPr>
                <p:cNvPr id="652" name="矩形 651"/>
                <p:cNvSpPr/>
                <p:nvPr>
                  <p:custDataLst>
                    <p:tags r:id="rId272"/>
                  </p:custDataLst>
                </p:nvPr>
              </p:nvSpPr>
              <p:spPr>
                <a:xfrm>
                  <a:off x="5067397" y="3215212"/>
                  <a:ext cx="72000" cy="183600"/>
                </a:xfrm>
                <a:prstGeom prst="rect">
                  <a:avLst/>
                </a:prstGeom>
                <a:solidFill>
                  <a:srgbClr val="0432FF"/>
                </a:solidFill>
                <a:ln w="8890">
                  <a:solidFill>
                    <a:schemeClr val="tx1"/>
                  </a:solidFill>
                  <a:tailEnd type="arrow" w="lg" len="lg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grpSp>
              <p:nvGrpSpPr>
                <p:cNvPr id="653" name="组合 652"/>
                <p:cNvGrpSpPr/>
                <p:nvPr/>
              </p:nvGrpSpPr>
              <p:grpSpPr>
                <a:xfrm>
                  <a:off x="5067397" y="3034196"/>
                  <a:ext cx="72000" cy="275190"/>
                  <a:chOff x="3077929" y="4043060"/>
                  <a:chExt cx="72000" cy="275190"/>
                </a:xfrm>
              </p:grpSpPr>
              <p:sp>
                <p:nvSpPr>
                  <p:cNvPr id="654" name="矩形 653"/>
                  <p:cNvSpPr/>
                  <p:nvPr>
                    <p:custDataLst>
                      <p:tags r:id="rId273"/>
                    </p:custDataLst>
                  </p:nvPr>
                </p:nvSpPr>
                <p:spPr>
                  <a:xfrm>
                    <a:off x="3077929" y="4134650"/>
                    <a:ext cx="72000" cy="183600"/>
                  </a:xfrm>
                  <a:prstGeom prst="rect">
                    <a:avLst/>
                  </a:prstGeom>
                  <a:solidFill>
                    <a:srgbClr val="FAEADD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655" name="矩形 654"/>
                  <p:cNvSpPr/>
                  <p:nvPr>
                    <p:custDataLst>
                      <p:tags r:id="rId274"/>
                    </p:custDataLst>
                  </p:nvPr>
                </p:nvSpPr>
                <p:spPr>
                  <a:xfrm>
                    <a:off x="3077929" y="4043060"/>
                    <a:ext cx="72000" cy="183600"/>
                  </a:xfrm>
                  <a:prstGeom prst="rect">
                    <a:avLst/>
                  </a:prstGeom>
                  <a:solidFill>
                    <a:srgbClr val="02FDFF"/>
                  </a:solidFill>
                  <a:ln w="8890">
                    <a:solidFill>
                      <a:schemeClr val="tx1"/>
                    </a:solidFill>
                    <a:tailEnd type="arrow" w="lg" len="lg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</p:grpSp>
        </p:grpSp>
      </p:grpSp>
      <p:grpSp>
        <p:nvGrpSpPr>
          <p:cNvPr id="8" name="组合 7"/>
          <p:cNvGrpSpPr/>
          <p:nvPr>
            <p:custDataLst>
              <p:tags r:id="rId275"/>
            </p:custDataLst>
          </p:nvPr>
        </p:nvGrpSpPr>
        <p:grpSpPr>
          <a:xfrm>
            <a:off x="6228184" y="1676820"/>
            <a:ext cx="2833023" cy="1941605"/>
            <a:chOff x="6228184" y="1676820"/>
            <a:chExt cx="2833023" cy="1941605"/>
          </a:xfrm>
        </p:grpSpPr>
        <p:sp>
          <p:nvSpPr>
            <p:cNvPr id="672" name="椭圆 671"/>
            <p:cNvSpPr/>
            <p:nvPr>
              <p:custDataLst>
                <p:tags r:id="rId276"/>
              </p:custDataLst>
            </p:nvPr>
          </p:nvSpPr>
          <p:spPr>
            <a:xfrm>
              <a:off x="6228184" y="2221418"/>
              <a:ext cx="972074" cy="506160"/>
            </a:xfrm>
            <a:prstGeom prst="ellipse">
              <a:avLst/>
            </a:prstGeom>
            <a:noFill/>
            <a:ln w="28575">
              <a:solidFill>
                <a:srgbClr val="FF0000">
                  <a:alpha val="99000"/>
                </a:srgb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3" name="圆角矩形标注 672"/>
            <p:cNvSpPr/>
            <p:nvPr/>
          </p:nvSpPr>
          <p:spPr>
            <a:xfrm>
              <a:off x="7359752" y="1676820"/>
              <a:ext cx="1701455" cy="1941605"/>
            </a:xfrm>
            <a:prstGeom prst="wedgeRoundRectCallout">
              <a:avLst>
                <a:gd name="adj1" fmla="val -65245"/>
                <a:gd name="adj2" fmla="val -16074"/>
                <a:gd name="adj3" fmla="val 16667"/>
              </a:avLst>
            </a:prstGeom>
            <a:solidFill>
              <a:schemeClr val="bg1"/>
            </a:solidFill>
            <a:ln w="6350">
              <a:solidFill>
                <a:schemeClr val="tx1">
                  <a:alpha val="99000"/>
                </a:schemeClr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5" name="文本框 674"/>
            <p:cNvSpPr txBox="1"/>
            <p:nvPr/>
          </p:nvSpPr>
          <p:spPr>
            <a:xfrm>
              <a:off x="7407136" y="1763192"/>
              <a:ext cx="1609220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b="1"/>
                <a:t>Question</a:t>
              </a:r>
              <a:r>
                <a:rPr kumimoji="1" lang="en-US" altLang="zh-CN"/>
                <a:t>: different partition has a different reduce order, does it ok? </a:t>
              </a: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Why ring </a:t>
            </a:r>
            <a:r>
              <a:rPr kumimoji="1" lang="en-US" altLang="zh-CN" err="1"/>
              <a:t>allreduce</a:t>
            </a:r>
            <a:r>
              <a:rPr kumimoji="1" lang="en-US" altLang="zh-CN"/>
              <a:t> can work?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722562"/>
          </a:xfrm>
        </p:spPr>
        <p:txBody>
          <a:bodyPr>
            <a:normAutofit/>
          </a:bodyPr>
          <a:lstStyle/>
          <a:p>
            <a:r>
              <a:rPr kumimoji="1" lang="en-US" altLang="zh-CN"/>
              <a:t>Assumption: reduce op is associative &amp; communicative</a:t>
            </a:r>
            <a:endParaRPr kumimoji="1" lang="en-US" altLang="zh-CN"/>
          </a:p>
          <a:p>
            <a:pPr lvl="1"/>
            <a:r>
              <a:rPr kumimoji="1" lang="en-US" altLang="zh-CN"/>
              <a:t>So we can reorder them to reduce sudden loads at a node  </a:t>
            </a:r>
            <a:endParaRPr kumimoji="1" lang="en-US" altLang="zh-CN"/>
          </a:p>
          <a:p>
            <a:pPr lvl="1"/>
            <a:r>
              <a:rPr kumimoji="1" lang="en-US" altLang="zh-CN"/>
              <a:t>E.g., we don’t need to collect all the data to do the reduce </a:t>
            </a:r>
            <a:endParaRPr kumimoji="1" lang="en-US" altLang="zh-CN"/>
          </a:p>
          <a:p>
            <a:r>
              <a:rPr kumimoji="1" lang="en-US" altLang="zh-CN"/>
              <a:t>Otherwise, we cannot reorder the computation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Analysis of the communication cost of ring </a:t>
            </a:r>
            <a:r>
              <a:rPr kumimoji="1" lang="en-US" altLang="zh-CN" err="1"/>
              <a:t>allreduce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6933456" cy="4356826"/>
          </a:xfrm>
        </p:spPr>
        <p:txBody>
          <a:bodyPr/>
          <a:lstStyle/>
          <a:p>
            <a:r>
              <a:rPr kumimoji="1" lang="en-US" altLang="zh-CN" dirty="0"/>
              <a:t>N: total parameters, P: # processors</a:t>
            </a:r>
            <a:endParaRPr kumimoji="1" lang="en-US" altLang="zh-CN" dirty="0"/>
          </a:p>
          <a:p>
            <a:r>
              <a:rPr kumimoji="1" lang="en-US" altLang="zh-CN" dirty="0"/>
              <a:t>Total communication per-machine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 * (P-1) * N / P: the same as partitioned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O(1) fan-in </a:t>
            </a:r>
            <a:endParaRPr kumimoji="1" lang="en-US" altLang="zh-CN" dirty="0"/>
          </a:p>
          <a:p>
            <a:r>
              <a:rPr kumimoji="1" lang="en-US" altLang="zh-CN" dirty="0"/>
              <a:t>Total communication rounds: O(P)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higher than the parameter server approach (O(1))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trade-off for reducing network contention due to high fan-in</a:t>
            </a:r>
            <a:endParaRPr kumimoji="1" lang="en-US" altLang="zh-CN" dirty="0"/>
          </a:p>
          <a:p>
            <a:r>
              <a:rPr kumimoji="1" lang="en-US" altLang="zh-CN" dirty="0"/>
              <a:t>What are the drawback?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High latency due to extra rounds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9505" y="1618421"/>
            <a:ext cx="3098524" cy="26618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Binary Tree All-Reduce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0429"/>
            <a:ext cx="7886700" cy="353941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ym typeface="Wingdings" panose="05000000000000000000" pitchFamily="2" charset="2"/>
              </a:rPr>
              <a:t>Two overlaid binary reduction trees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Double the fan-in </a:t>
            </a:r>
            <a:r>
              <a:rPr lang="en-US" dirty="0">
                <a:sym typeface="Wingdings" panose="05000000000000000000" pitchFamily="2" charset="2"/>
              </a:rPr>
              <a:t> Log(p) rounds of communication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Currently used on Summit super-computer and latest NCCL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23" y="1885950"/>
            <a:ext cx="3793559" cy="20959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6566" y="5059847"/>
            <a:ext cx="4727576" cy="253916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sz="1050" dirty="0">
                <a:hlinkClick r:id="rId3"/>
              </a:rPr>
              <a:t>https://devblogs.nvidia.com/massively-scale-deep-learning-training-nccl-2-4/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err="1"/>
              <a:t>Allreduce</a:t>
            </a:r>
            <a:r>
              <a:rPr kumimoji="1" lang="en-US" altLang="zh-CN"/>
              <a:t>: put it all together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Trade-off between rounds vs. fan-in performance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P: # processors/machines/GPUs participated in the computation 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N: the size of the data to be reduced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243424" y="2641476"/>
          <a:ext cx="8657152" cy="2208504"/>
        </p:xfrm>
        <a:graphic>
          <a:graphicData uri="http://schemas.openxmlformats.org/drawingml/2006/table">
            <a:tbl>
              <a:tblPr firstRow="1" bandRow="1">
                <a:effectLst>
                  <a:outerShdw blurRad="190500" dist="101600" dir="5400000" sx="101000" sy="101000" algn="ctr" rotWithShape="0">
                    <a:srgbClr val="000000">
                      <a:alpha val="80000"/>
                    </a:srgbClr>
                  </a:outerShdw>
                </a:effectLst>
                <a:tableStyleId>{2D5ABB26-0587-4C30-8999-92F81FD0307C}</a:tableStyleId>
              </a:tblPr>
              <a:tblGrid>
                <a:gridCol w="3246210"/>
                <a:gridCol w="1043779"/>
                <a:gridCol w="2222057"/>
                <a:gridCol w="2145106"/>
              </a:tblGrid>
              <a:tr h="5079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微软雅黑" panose="020B0503020204020204" charset="-122"/>
                          <a:cs typeface="Helvetica Neue" panose="02000503000000020004" pitchFamily="2" charset="0"/>
                        </a:rPr>
                        <a:t>                                                                       </a:t>
                      </a:r>
                      <a:endParaRPr lang="en-GB" sz="1800">
                        <a:solidFill>
                          <a:schemeClr val="bg1"/>
                        </a:solidFill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Round</a:t>
                      </a:r>
                      <a:endParaRPr lang="en-GB" sz="1800" b="1">
                        <a:solidFill>
                          <a:schemeClr val="bg1"/>
                        </a:solidFill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Peak node bandwidth</a:t>
                      </a:r>
                      <a:endParaRPr lang="en-GB" sz="1800" b="1">
                        <a:solidFill>
                          <a:schemeClr val="bg1"/>
                        </a:solidFill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Per-node</a:t>
                      </a:r>
                      <a:endParaRPr lang="en-GB" sz="1800" b="1" dirty="0">
                        <a:solidFill>
                          <a:schemeClr val="bg1"/>
                        </a:solidFill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 algn="ctr"/>
                      <a:r>
                        <a:rPr lang="en-GB" sz="18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fan-in</a:t>
                      </a:r>
                      <a:endParaRPr lang="en-GB" sz="1800" b="1" dirty="0">
                        <a:solidFill>
                          <a:schemeClr val="bg1"/>
                        </a:solidFill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</a:tr>
              <a:tr h="326037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Parameter server (PS)</a:t>
                      </a:r>
                      <a:endParaRPr lang="en-GB" sz="1800" b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O(1)</a:t>
                      </a:r>
                      <a:endParaRPr lang="en-GB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O(N * P)</a:t>
                      </a:r>
                      <a:endParaRPr lang="en-GB" sz="180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effectLst/>
                          <a:latin typeface="+mn-lt"/>
                          <a:ea typeface="微软雅黑" panose="020B0503020204020204" charset="-122"/>
                          <a:cs typeface="Helvetica Neue" panose="02000503000000020004" pitchFamily="2" charset="0"/>
                        </a:rPr>
                        <a:t>O(P)</a:t>
                      </a:r>
                      <a:endParaRPr lang="zh-CN" altLang="en-US" sz="1800" b="0" dirty="0">
                        <a:effectLst/>
                        <a:latin typeface="+mn-lt"/>
                        <a:ea typeface="微软雅黑" panose="020B0503020204020204" charset="-122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</a:tr>
              <a:tr h="32603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dirty="0"/>
                        <a:t>Co-located &amp; sharded PS </a:t>
                      </a:r>
                      <a:endParaRPr lang="en-GB" sz="1800" b="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zh-CN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O(1)</a:t>
                      </a:r>
                      <a:endParaRPr lang="en-GB" altLang="zh-CN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altLang="zh-CN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O(N)</a:t>
                      </a:r>
                      <a:endParaRPr lang="en-GB" altLang="zh-CN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08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dirty="0">
                          <a:effectLst/>
                          <a:latin typeface="+mn-lt"/>
                          <a:ea typeface="微软雅黑" panose="020B0503020204020204" charset="-122"/>
                          <a:cs typeface="Helvetica Neue" panose="02000503000000020004" pitchFamily="2" charset="0"/>
                        </a:rPr>
                        <a:t>O(P)</a:t>
                      </a:r>
                      <a:endParaRPr lang="zh-CN" altLang="en-US" sz="1800" b="0" dirty="0">
                        <a:effectLst/>
                        <a:latin typeface="+mn-lt"/>
                        <a:ea typeface="微软雅黑" panose="020B0503020204020204" charset="-122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</a:tr>
              <a:tr h="458175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Ring </a:t>
                      </a:r>
                      <a:r>
                        <a:rPr lang="en-GB" sz="1800" b="0" dirty="0" err="1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allreduce</a:t>
                      </a:r>
                      <a:endParaRPr lang="en-GB" sz="1800" b="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O(2 * P)</a:t>
                      </a:r>
                      <a:endParaRPr lang="en-GB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O(N)</a:t>
                      </a:r>
                      <a:endParaRPr lang="en-GB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effectLst/>
                          <a:latin typeface="+mn-lt"/>
                          <a:ea typeface="微软雅黑" panose="020B0503020204020204" charset="-122"/>
                          <a:cs typeface="Helvetica Neue" panose="02000503000000020004" pitchFamily="2" charset="0"/>
                        </a:rPr>
                        <a:t>O(1)</a:t>
                      </a:r>
                      <a:endParaRPr lang="zh-CN" altLang="en-US" sz="1800" b="0" dirty="0">
                        <a:effectLst/>
                        <a:latin typeface="+mn-lt"/>
                        <a:ea typeface="微软雅黑" panose="020B0503020204020204" charset="-122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</a:tr>
              <a:tr h="458175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Tree-based</a:t>
                      </a:r>
                      <a:endParaRPr lang="en-GB" sz="1800" b="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O(log(P))</a:t>
                      </a:r>
                      <a:endParaRPr lang="en-GB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+mn-lt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O(N)</a:t>
                      </a:r>
                      <a:endParaRPr lang="en-GB" sz="1800" dirty="0">
                        <a:effectLst/>
                        <a:latin typeface="+mn-lt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effectLst/>
                          <a:latin typeface="+mn-lt"/>
                          <a:ea typeface="微软雅黑" panose="020B0503020204020204" charset="-122"/>
                          <a:cs typeface="Helvetica Neue" panose="02000503000000020004" pitchFamily="2" charset="0"/>
                        </a:rPr>
                        <a:t>O(1)</a:t>
                      </a:r>
                      <a:endParaRPr lang="zh-CN" altLang="en-US" sz="1800" b="0" dirty="0">
                        <a:effectLst/>
                        <a:latin typeface="+mn-lt"/>
                        <a:ea typeface="微软雅黑" panose="020B0503020204020204" charset="-122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More reduce methods exist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Key design goals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Reduce payload sent per-node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Reduce fan-in to avoid contention on network resource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(new) Better suits the underlying hardware (Cloud &amp; HPC)</a:t>
            </a:r>
            <a:endParaRPr kumimoji="1" lang="en-US" altLang="zh-CN" dirty="0"/>
          </a:p>
          <a:p>
            <a:r>
              <a:rPr kumimoji="1" lang="en-US" altLang="zh-CN" dirty="0"/>
              <a:t>Still an active research field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what if the hardware speed between different machines diff?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What if the link speed changes overtime?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Parallelization Opportunities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13"/>
          <p:cNvSpPr txBox="1"/>
          <p:nvPr/>
        </p:nvSpPr>
        <p:spPr>
          <a:xfrm>
            <a:off x="419267" y="1273324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b="1" i="1"/>
              <a:t>Data Parallelism: </a:t>
            </a:r>
            <a:r>
              <a:rPr lang="en-US" sz="2100" i="1"/>
              <a:t>Distribute the processing of data to multiple PEs.</a:t>
            </a:r>
            <a:endParaRPr lang="en-US" sz="2100" i="1"/>
          </a:p>
        </p:txBody>
      </p:sp>
      <p:sp>
        <p:nvSpPr>
          <p:cNvPr id="6" name="TextBox 21"/>
          <p:cNvSpPr txBox="1"/>
          <p:nvPr/>
        </p:nvSpPr>
        <p:spPr>
          <a:xfrm>
            <a:off x="355788" y="2547010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b="1" i="1"/>
              <a:t>Model Parallelism: </a:t>
            </a:r>
            <a:r>
              <a:rPr lang="en-US" sz="2100" i="1"/>
              <a:t>Break the model and distribute processing of every layer to multiple PEs</a:t>
            </a:r>
            <a:endParaRPr lang="en-US" sz="2100" i="1"/>
          </a:p>
        </p:txBody>
      </p:sp>
      <p:sp>
        <p:nvSpPr>
          <p:cNvPr id="7" name="TextBox 22"/>
          <p:cNvSpPr txBox="1"/>
          <p:nvPr/>
        </p:nvSpPr>
        <p:spPr>
          <a:xfrm>
            <a:off x="355788" y="3903221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i="1"/>
              <a:t>For either approach it is also possible to use </a:t>
            </a:r>
            <a:r>
              <a:rPr lang="en-US" sz="2100" b="1" i="1"/>
              <a:t>synchronous</a:t>
            </a:r>
            <a:r>
              <a:rPr lang="en-US" sz="2100" i="1"/>
              <a:t> or </a:t>
            </a:r>
            <a:r>
              <a:rPr lang="en-US" sz="2100" b="1" i="1"/>
              <a:t>asynchronous</a:t>
            </a:r>
            <a:r>
              <a:rPr lang="en-US" sz="2100" i="1"/>
              <a:t> updates</a:t>
            </a:r>
            <a:endParaRPr lang="en-US" sz="2100" i="1"/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6555" y="1343067"/>
            <a:ext cx="3356039" cy="870085"/>
          </a:xfrm>
          <a:prstGeom prst="rect">
            <a:avLst/>
          </a:prstGeom>
        </p:spPr>
      </p:pic>
      <p:sp>
        <p:nvSpPr>
          <p:cNvPr id="9" name="Rectangle 7"/>
          <p:cNvSpPr/>
          <p:nvPr/>
        </p:nvSpPr>
        <p:spPr>
          <a:xfrm>
            <a:off x="6765939" y="1229078"/>
            <a:ext cx="581187" cy="10784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0" name="Group 10"/>
          <p:cNvGrpSpPr/>
          <p:nvPr/>
        </p:nvGrpSpPr>
        <p:grpSpPr>
          <a:xfrm>
            <a:off x="5004048" y="3903221"/>
            <a:ext cx="3356039" cy="870085"/>
            <a:chOff x="6512014" y="5211762"/>
            <a:chExt cx="4474719" cy="1160113"/>
          </a:xfrm>
        </p:grpSpPr>
        <p:pic>
          <p:nvPicPr>
            <p:cNvPr id="11" name="Picture 1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12014" y="5211762"/>
              <a:ext cx="4474719" cy="1160113"/>
            </a:xfrm>
            <a:prstGeom prst="rect">
              <a:avLst/>
            </a:prstGeom>
          </p:spPr>
        </p:pic>
        <p:sp>
          <p:nvSpPr>
            <p:cNvPr id="12" name="Rectangle 18"/>
            <p:cNvSpPr/>
            <p:nvPr/>
          </p:nvSpPr>
          <p:spPr>
            <a:xfrm>
              <a:off x="7067227" y="5589924"/>
              <a:ext cx="387458" cy="40791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3" name="Group 11"/>
          <p:cNvGrpSpPr/>
          <p:nvPr/>
        </p:nvGrpSpPr>
        <p:grpSpPr>
          <a:xfrm>
            <a:off x="5004049" y="2764955"/>
            <a:ext cx="3356039" cy="870085"/>
            <a:chOff x="6512015" y="3694074"/>
            <a:chExt cx="4474719" cy="1160113"/>
          </a:xfrm>
        </p:grpSpPr>
        <p:pic>
          <p:nvPicPr>
            <p:cNvPr id="14" name="Picture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12015" y="3694074"/>
              <a:ext cx="4474719" cy="1160113"/>
            </a:xfrm>
            <a:prstGeom prst="rect">
              <a:avLst/>
            </a:prstGeom>
          </p:spPr>
        </p:pic>
        <p:sp>
          <p:nvSpPr>
            <p:cNvPr id="15" name="Rectangle 24"/>
            <p:cNvSpPr/>
            <p:nvPr/>
          </p:nvSpPr>
          <p:spPr>
            <a:xfrm>
              <a:off x="9636119" y="3694074"/>
              <a:ext cx="1350614" cy="1094402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" name="矩形 2"/>
          <p:cNvSpPr/>
          <p:nvPr/>
        </p:nvSpPr>
        <p:spPr>
          <a:xfrm>
            <a:off x="419267" y="2430247"/>
            <a:ext cx="4269160" cy="1296144"/>
          </a:xfrm>
          <a:prstGeom prst="rect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形状 33"/>
          <p:cNvSpPr/>
          <p:nvPr/>
        </p:nvSpPr>
        <p:spPr>
          <a:xfrm>
            <a:off x="3776595" y="4326673"/>
            <a:ext cx="2837703" cy="623369"/>
          </a:xfrm>
          <a:custGeom>
            <a:avLst/>
            <a:gdLst>
              <a:gd name="connsiteX0" fmla="*/ 148634 w 2837703"/>
              <a:gd name="connsiteY0" fmla="*/ 0 h 623369"/>
              <a:gd name="connsiteX1" fmla="*/ 260146 w 2837703"/>
              <a:gd name="connsiteY1" fmla="*/ 594732 h 623369"/>
              <a:gd name="connsiteX2" fmla="*/ 2549864 w 2837703"/>
              <a:gd name="connsiteY2" fmla="*/ 475786 h 623369"/>
              <a:gd name="connsiteX3" fmla="*/ 2728283 w 2837703"/>
              <a:gd name="connsiteY3" fmla="*/ 7434 h 623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7703" h="623369">
                <a:moveTo>
                  <a:pt x="148634" y="0"/>
                </a:moveTo>
                <a:cubicBezTo>
                  <a:pt x="4287" y="257717"/>
                  <a:pt x="-140059" y="515434"/>
                  <a:pt x="260146" y="594732"/>
                </a:cubicBezTo>
                <a:cubicBezTo>
                  <a:pt x="660351" y="674030"/>
                  <a:pt x="2138508" y="573669"/>
                  <a:pt x="2549864" y="475786"/>
                </a:cubicBezTo>
                <a:cubicBezTo>
                  <a:pt x="2961220" y="377903"/>
                  <a:pt x="2844751" y="192668"/>
                  <a:pt x="2728283" y="7434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Recall: Data Parallelism</a:t>
            </a:r>
            <a:endParaRPr kumimoji="1" lang="zh-CN" altLang="en-US"/>
          </a:p>
        </p:txBody>
      </p:sp>
      <p:pic>
        <p:nvPicPr>
          <p:cNvPr id="2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6623" y="397205"/>
            <a:ext cx="3356039" cy="870085"/>
          </a:xfrm>
          <a:prstGeom prst="rect">
            <a:avLst/>
          </a:prstGeom>
        </p:spPr>
      </p:pic>
      <p:sp>
        <p:nvSpPr>
          <p:cNvPr id="28" name="Rectangle 7"/>
          <p:cNvSpPr/>
          <p:nvPr/>
        </p:nvSpPr>
        <p:spPr>
          <a:xfrm>
            <a:off x="7176520" y="293025"/>
            <a:ext cx="581187" cy="10784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68" name="组合 67"/>
          <p:cNvGrpSpPr/>
          <p:nvPr/>
        </p:nvGrpSpPr>
        <p:grpSpPr>
          <a:xfrm>
            <a:off x="623654" y="2428411"/>
            <a:ext cx="1368152" cy="616380"/>
            <a:chOff x="7884368" y="1584003"/>
            <a:chExt cx="1368152" cy="616380"/>
          </a:xfrm>
        </p:grpSpPr>
        <p:sp>
          <p:nvSpPr>
            <p:cNvPr id="69" name="矩形 68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Forward</a:t>
              </a:r>
              <a:endParaRPr lang="zh-CN" altLang="en-US"/>
            </a:p>
          </p:txBody>
        </p:sp>
      </p:grpSp>
      <p:cxnSp>
        <p:nvCxnSpPr>
          <p:cNvPr id="71" name="直线箭头连接符 70"/>
          <p:cNvCxnSpPr/>
          <p:nvPr/>
        </p:nvCxnSpPr>
        <p:spPr>
          <a:xfrm>
            <a:off x="1307730" y="3044791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/>
          <p:cNvCxnSpPr/>
          <p:nvPr/>
        </p:nvCxnSpPr>
        <p:spPr>
          <a:xfrm>
            <a:off x="449610" y="1943990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/>
          <p:cNvCxnSpPr>
            <a:endCxn id="69" idx="0"/>
          </p:cNvCxnSpPr>
          <p:nvPr/>
        </p:nvCxnSpPr>
        <p:spPr>
          <a:xfrm>
            <a:off x="1245449" y="1982643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组合 79"/>
          <p:cNvGrpSpPr/>
          <p:nvPr/>
        </p:nvGrpSpPr>
        <p:grpSpPr>
          <a:xfrm>
            <a:off x="638894" y="3655156"/>
            <a:ext cx="1463983" cy="616380"/>
            <a:chOff x="7884367" y="1584003"/>
            <a:chExt cx="1463983" cy="616380"/>
          </a:xfrm>
        </p:grpSpPr>
        <p:sp>
          <p:nvSpPr>
            <p:cNvPr id="81" name="矩形 80"/>
            <p:cNvSpPr/>
            <p:nvPr/>
          </p:nvSpPr>
          <p:spPr>
            <a:xfrm>
              <a:off x="7884367" y="1584003"/>
              <a:ext cx="1463983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Backward</a:t>
              </a:r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735693" y="1297750"/>
            <a:ext cx="629816" cy="616380"/>
            <a:chOff x="7884368" y="1584003"/>
            <a:chExt cx="629816" cy="616380"/>
          </a:xfrm>
        </p:grpSpPr>
        <p:sp>
          <p:nvSpPr>
            <p:cNvPr id="84" name="矩形 83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</a:t>
              </a:r>
              <a:endParaRPr lang="zh-CN" altLang="en-US"/>
            </a:p>
          </p:txBody>
        </p:sp>
      </p:grpSp>
      <p:cxnSp>
        <p:nvCxnSpPr>
          <p:cNvPr id="86" name="直线箭头连接符 85"/>
          <p:cNvCxnSpPr>
            <a:stCxn id="84" idx="2"/>
          </p:cNvCxnSpPr>
          <p:nvPr/>
        </p:nvCxnSpPr>
        <p:spPr>
          <a:xfrm flipH="1">
            <a:off x="1621588" y="1914130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/>
          <p:cNvGrpSpPr/>
          <p:nvPr/>
        </p:nvGrpSpPr>
        <p:grpSpPr>
          <a:xfrm>
            <a:off x="258868" y="1301979"/>
            <a:ext cx="576059" cy="616380"/>
            <a:chOff x="638921" y="2203432"/>
            <a:chExt cx="576059" cy="616380"/>
          </a:xfrm>
        </p:grpSpPr>
        <p:sp>
          <p:nvSpPr>
            <p:cNvPr id="90" name="矩形 89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r>
                <a:rPr kumimoji="1"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2928009" y="1301979"/>
            <a:ext cx="576059" cy="616380"/>
            <a:chOff x="921616" y="2207228"/>
            <a:chExt cx="576059" cy="616380"/>
          </a:xfrm>
        </p:grpSpPr>
        <p:sp>
          <p:nvSpPr>
            <p:cNvPr id="93" name="矩形 92"/>
            <p:cNvSpPr/>
            <p:nvPr/>
          </p:nvSpPr>
          <p:spPr>
            <a:xfrm>
              <a:off x="982906" y="2207228"/>
              <a:ext cx="271503" cy="616380"/>
            </a:xfrm>
            <a:prstGeom prst="rect">
              <a:avLst/>
            </a:prstGeom>
            <a:solidFill>
              <a:srgbClr val="FFFC00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921616" y="2317458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r>
                <a:rPr kumimoji="1" lang="en-US" altLang="zh-CN" baseline="-25000"/>
                <a:t>1</a:t>
              </a:r>
              <a:endParaRPr lang="zh-CN" altLang="en-US" baseline="-25000"/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1114987" y="1304198"/>
            <a:ext cx="576059" cy="616380"/>
            <a:chOff x="638921" y="2203432"/>
            <a:chExt cx="576059" cy="616380"/>
          </a:xfrm>
        </p:grpSpPr>
        <p:sp>
          <p:nvSpPr>
            <p:cNvPr id="96" name="矩形 95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r>
                <a:rPr kumimoji="1" lang="en-US" altLang="zh-CN" baseline="-25000"/>
                <a:t>0</a:t>
              </a:r>
              <a:endParaRPr lang="zh-CN" altLang="en-US" baseline="-25000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3396232" y="1301979"/>
            <a:ext cx="576059" cy="616380"/>
            <a:chOff x="921616" y="2207228"/>
            <a:chExt cx="576059" cy="616380"/>
          </a:xfrm>
        </p:grpSpPr>
        <p:sp>
          <p:nvSpPr>
            <p:cNvPr id="99" name="矩形 98"/>
            <p:cNvSpPr/>
            <p:nvPr/>
          </p:nvSpPr>
          <p:spPr>
            <a:xfrm>
              <a:off x="982906" y="2207228"/>
              <a:ext cx="271503" cy="616380"/>
            </a:xfrm>
            <a:prstGeom prst="rect">
              <a:avLst/>
            </a:prstGeom>
            <a:solidFill>
              <a:srgbClr val="FFFC00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921616" y="2317458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r>
                <a:rPr kumimoji="1" lang="en-US" altLang="zh-CN" baseline="-25000"/>
                <a:t>1</a:t>
              </a:r>
              <a:endParaRPr lang="zh-CN" altLang="en-US" baseline="-25000"/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3950564" y="1301979"/>
            <a:ext cx="629816" cy="616380"/>
            <a:chOff x="7884368" y="1584003"/>
            <a:chExt cx="629816" cy="616380"/>
          </a:xfrm>
        </p:grpSpPr>
        <p:sp>
          <p:nvSpPr>
            <p:cNvPr id="106" name="矩形 105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</a:t>
              </a:r>
              <a:endParaRPr lang="zh-CN" altLang="en-US"/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3172142" y="2433836"/>
            <a:ext cx="1368152" cy="616380"/>
            <a:chOff x="7884368" y="1584003"/>
            <a:chExt cx="1368152" cy="616380"/>
          </a:xfrm>
        </p:grpSpPr>
        <p:sp>
          <p:nvSpPr>
            <p:cNvPr id="109" name="矩形 108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Forward</a:t>
              </a:r>
              <a:endParaRPr lang="zh-CN" altLang="en-US"/>
            </a:p>
          </p:txBody>
        </p:sp>
      </p:grpSp>
      <p:cxnSp>
        <p:nvCxnSpPr>
          <p:cNvPr id="111" name="直线箭头连接符 110"/>
          <p:cNvCxnSpPr/>
          <p:nvPr/>
        </p:nvCxnSpPr>
        <p:spPr>
          <a:xfrm>
            <a:off x="3856218" y="3050216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箭头连接符 111"/>
          <p:cNvCxnSpPr/>
          <p:nvPr/>
        </p:nvCxnSpPr>
        <p:spPr>
          <a:xfrm>
            <a:off x="2998098" y="1949415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箭头连接符 112"/>
          <p:cNvCxnSpPr>
            <a:endCxn id="109" idx="0"/>
          </p:cNvCxnSpPr>
          <p:nvPr/>
        </p:nvCxnSpPr>
        <p:spPr>
          <a:xfrm>
            <a:off x="3793937" y="1988068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组合 113"/>
          <p:cNvGrpSpPr/>
          <p:nvPr/>
        </p:nvGrpSpPr>
        <p:grpSpPr>
          <a:xfrm>
            <a:off x="3187382" y="3660581"/>
            <a:ext cx="1463983" cy="616380"/>
            <a:chOff x="7884367" y="1584003"/>
            <a:chExt cx="1463983" cy="616380"/>
          </a:xfrm>
        </p:grpSpPr>
        <p:sp>
          <p:nvSpPr>
            <p:cNvPr id="115" name="矩形 114"/>
            <p:cNvSpPr/>
            <p:nvPr/>
          </p:nvSpPr>
          <p:spPr>
            <a:xfrm>
              <a:off x="7884367" y="1584003"/>
              <a:ext cx="1463983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Backward</a:t>
              </a:r>
              <a:endParaRPr lang="zh-CN" altLang="en-US"/>
            </a:p>
          </p:txBody>
        </p:sp>
      </p:grpSp>
      <p:cxnSp>
        <p:nvCxnSpPr>
          <p:cNvPr id="117" name="直线箭头连接符 116"/>
          <p:cNvCxnSpPr/>
          <p:nvPr/>
        </p:nvCxnSpPr>
        <p:spPr>
          <a:xfrm flipH="1">
            <a:off x="4170076" y="1919555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25" y="4502098"/>
            <a:ext cx="511200" cy="2556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0" name="文本框 119"/>
          <p:cNvSpPr txBox="1"/>
          <p:nvPr/>
        </p:nvSpPr>
        <p:spPr>
          <a:xfrm>
            <a:off x="3966991" y="4496817"/>
            <a:ext cx="402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1</a:t>
            </a:r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796136" y="3661951"/>
            <a:ext cx="1452392" cy="616380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156175" y="3785475"/>
            <a:ext cx="108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Sum</a:t>
            </a:r>
            <a:endParaRPr lang="zh-CN" altLang="en-US"/>
          </a:p>
        </p:txBody>
      </p:sp>
      <p:sp>
        <p:nvSpPr>
          <p:cNvPr id="33" name="任意形状 32"/>
          <p:cNvSpPr/>
          <p:nvPr/>
        </p:nvSpPr>
        <p:spPr>
          <a:xfrm>
            <a:off x="975796" y="4363844"/>
            <a:ext cx="6206258" cy="897392"/>
          </a:xfrm>
          <a:custGeom>
            <a:avLst/>
            <a:gdLst>
              <a:gd name="connsiteX0" fmla="*/ 377219 w 6206258"/>
              <a:gd name="connsiteY0" fmla="*/ 22302 h 897392"/>
              <a:gd name="connsiteX1" fmla="*/ 555638 w 6206258"/>
              <a:gd name="connsiteY1" fmla="*/ 825190 h 897392"/>
              <a:gd name="connsiteX2" fmla="*/ 5685199 w 6206258"/>
              <a:gd name="connsiteY2" fmla="*/ 765717 h 897392"/>
              <a:gd name="connsiteX3" fmla="*/ 5766975 w 6206258"/>
              <a:gd name="connsiteY3" fmla="*/ 0 h 897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06258" h="897392">
                <a:moveTo>
                  <a:pt x="377219" y="22302"/>
                </a:moveTo>
                <a:cubicBezTo>
                  <a:pt x="24097" y="361794"/>
                  <a:pt x="-329025" y="701287"/>
                  <a:pt x="555638" y="825190"/>
                </a:cubicBezTo>
                <a:cubicBezTo>
                  <a:pt x="1440301" y="949093"/>
                  <a:pt x="4816643" y="903249"/>
                  <a:pt x="5685199" y="765717"/>
                </a:cubicBezTo>
                <a:cubicBezTo>
                  <a:pt x="6553755" y="628185"/>
                  <a:pt x="6160365" y="314092"/>
                  <a:pt x="5766975" y="0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86" y="4481268"/>
            <a:ext cx="511200" cy="2556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3" name="文本框 102"/>
          <p:cNvSpPr txBox="1"/>
          <p:nvPr/>
        </p:nvSpPr>
        <p:spPr>
          <a:xfrm>
            <a:off x="1104839" y="4581016"/>
            <a:ext cx="402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0</a:t>
            </a:r>
            <a:endParaRPr lang="zh-CN" altLang="en-US"/>
          </a:p>
        </p:txBody>
      </p:sp>
      <p:cxnSp>
        <p:nvCxnSpPr>
          <p:cNvPr id="36" name="直线箭头连接符 35"/>
          <p:cNvCxnSpPr>
            <a:stCxn id="30" idx="0"/>
          </p:cNvCxnSpPr>
          <p:nvPr/>
        </p:nvCxnSpPr>
        <p:spPr>
          <a:xfrm flipV="1">
            <a:off x="6522332" y="3309667"/>
            <a:ext cx="0" cy="352284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918" y="3139314"/>
            <a:ext cx="511200" cy="255600"/>
          </a:xfrm>
          <a:prstGeom prst="rect">
            <a:avLst/>
          </a:prstGeom>
        </p:spPr>
      </p:pic>
      <p:cxnSp>
        <p:nvCxnSpPr>
          <p:cNvPr id="39" name="直线连接符 38"/>
          <p:cNvCxnSpPr/>
          <p:nvPr/>
        </p:nvCxnSpPr>
        <p:spPr>
          <a:xfrm>
            <a:off x="2627784" y="1109110"/>
            <a:ext cx="0" cy="3820734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5428232" y="1603608"/>
            <a:ext cx="3580780" cy="1008112"/>
          </a:xfrm>
          <a:prstGeom prst="rect">
            <a:avLst/>
          </a:prstGeom>
          <a:solidFill>
            <a:srgbClr val="FAEADC"/>
          </a:solidFill>
          <a:ln w="381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/>
              <a:t>Question</a:t>
            </a:r>
            <a:r>
              <a:rPr kumimoji="1" lang="en-US" altLang="zh-CN" sz="2400" b="0"/>
              <a:t>: What is the assumption of W? </a:t>
            </a:r>
            <a:endParaRPr kumimoji="1" lang="en-US" altLang="zh-CN" b="0"/>
          </a:p>
        </p:txBody>
      </p:sp>
      <p:sp>
        <p:nvSpPr>
          <p:cNvPr id="4" name="椭圆 3"/>
          <p:cNvSpPr/>
          <p:nvPr/>
        </p:nvSpPr>
        <p:spPr>
          <a:xfrm>
            <a:off x="1691046" y="1109110"/>
            <a:ext cx="784423" cy="950734"/>
          </a:xfrm>
          <a:prstGeom prst="ellipse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865387" y="1105533"/>
            <a:ext cx="784423" cy="950734"/>
          </a:xfrm>
          <a:prstGeom prst="ellipse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Drawback of data parallelism: replicated model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Data parallelism assumes the model (parameters) are replicated on all the processes 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Such that they can do the forward &amp; backward pass dependently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What if the model cannot fit onto the device? </a:t>
            </a:r>
            <a:endParaRPr kumimoji="1" lang="en-US" altLang="zh-CN" dirty="0"/>
          </a:p>
          <a:p>
            <a:r>
              <a:rPr kumimoji="1" lang="en-US" altLang="zh-CN" dirty="0"/>
              <a:t>Current trends: models are becoming larger and larger </a:t>
            </a:r>
            <a:endParaRPr kumimoji="1" lang="en-US" altLang="zh-CN" dirty="0"/>
          </a:p>
          <a:p>
            <a:pPr lvl="1"/>
            <a:r>
              <a:rPr kumimoji="1" lang="en-GB" altLang="zh-CN" dirty="0"/>
              <a:t>Scaling law: the larger the model, the better the performance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The model’s increase speed is far larger than the GPU’s HBM performance increase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Model parallelism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1440160"/>
          </a:xfrm>
        </p:spPr>
        <p:txBody>
          <a:bodyPr/>
          <a:lstStyle/>
          <a:p>
            <a:r>
              <a:rPr kumimoji="1" lang="en-US" altLang="zh-CN" dirty="0"/>
              <a:t>Partition the parameters of a model, typically done in two ways: 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FF0000"/>
                </a:solidFill>
              </a:rPr>
              <a:t>Partition on the layer</a:t>
            </a:r>
            <a:r>
              <a:rPr kumimoji="1" lang="en-US" altLang="zh-CN" dirty="0"/>
              <a:t>: pipeline parallelism 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FF0000"/>
                </a:solidFill>
              </a:rPr>
              <a:t>Partition on the W</a:t>
            </a:r>
            <a:r>
              <a:rPr kumimoji="1" lang="en-US" altLang="zh-CN" dirty="0"/>
              <a:t>: tensor parallelism 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944321" y="3958801"/>
            <a:ext cx="1368152" cy="616380"/>
            <a:chOff x="7884368" y="1584003"/>
            <a:chExt cx="1368152" cy="616380"/>
          </a:xfrm>
        </p:grpSpPr>
        <p:sp>
          <p:nvSpPr>
            <p:cNvPr id="6" name="矩形 5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Forward</a:t>
              </a:r>
              <a:endParaRPr lang="zh-CN" altLang="en-US"/>
            </a:p>
          </p:txBody>
        </p:sp>
      </p:grpSp>
      <p:cxnSp>
        <p:nvCxnSpPr>
          <p:cNvPr id="8" name="直线箭头连接符 7"/>
          <p:cNvCxnSpPr/>
          <p:nvPr/>
        </p:nvCxnSpPr>
        <p:spPr>
          <a:xfrm>
            <a:off x="4628397" y="4575181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/>
          <p:cNvCxnSpPr/>
          <p:nvPr/>
        </p:nvCxnSpPr>
        <p:spPr>
          <a:xfrm>
            <a:off x="3770277" y="3474380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/>
          <p:cNvCxnSpPr>
            <a:endCxn id="6" idx="0"/>
          </p:cNvCxnSpPr>
          <p:nvPr/>
        </p:nvCxnSpPr>
        <p:spPr>
          <a:xfrm>
            <a:off x="4566116" y="3513033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5056360" y="2828140"/>
            <a:ext cx="629816" cy="616380"/>
            <a:chOff x="7884368" y="1584003"/>
            <a:chExt cx="629816" cy="616380"/>
          </a:xfrm>
        </p:grpSpPr>
        <p:sp>
          <p:nvSpPr>
            <p:cNvPr id="15" name="矩形 14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029661" y="1700732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</a:t>
              </a:r>
              <a:endParaRPr lang="zh-CN" altLang="en-US"/>
            </a:p>
          </p:txBody>
        </p:sp>
      </p:grpSp>
      <p:cxnSp>
        <p:nvCxnSpPr>
          <p:cNvPr id="17" name="直线箭头连接符 16"/>
          <p:cNvCxnSpPr>
            <a:stCxn id="15" idx="2"/>
          </p:cNvCxnSpPr>
          <p:nvPr/>
        </p:nvCxnSpPr>
        <p:spPr>
          <a:xfrm flipH="1">
            <a:off x="4942255" y="3444520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3579535" y="2832369"/>
            <a:ext cx="576059" cy="616380"/>
            <a:chOff x="638921" y="2203432"/>
            <a:chExt cx="576059" cy="616380"/>
          </a:xfrm>
        </p:grpSpPr>
        <p:sp>
          <p:nvSpPr>
            <p:cNvPr id="19" name="矩形 18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endParaRPr lang="zh-CN" altLang="en-US" baseline="-2500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435654" y="2834588"/>
            <a:ext cx="576059" cy="616380"/>
            <a:chOff x="638921" y="2203432"/>
            <a:chExt cx="576059" cy="616380"/>
          </a:xfrm>
        </p:grpSpPr>
        <p:sp>
          <p:nvSpPr>
            <p:cNvPr id="22" name="矩形 21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endParaRPr lang="zh-CN" altLang="en-US" baseline="-25000"/>
            </a:p>
          </p:txBody>
        </p:sp>
      </p:grpSp>
      <p:sp>
        <p:nvSpPr>
          <p:cNvPr id="24" name="椭圆 23"/>
          <p:cNvSpPr/>
          <p:nvPr/>
        </p:nvSpPr>
        <p:spPr>
          <a:xfrm>
            <a:off x="5011713" y="2639500"/>
            <a:ext cx="784423" cy="950734"/>
          </a:xfrm>
          <a:prstGeom prst="ellipse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5" name="图片 24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52" y="2785492"/>
            <a:ext cx="2860712" cy="2050599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28112" y="3452381"/>
            <a:ext cx="57606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u="sng">
                <a:solidFill>
                  <a:srgbClr val="FF0000"/>
                </a:solidFill>
              </a:rPr>
              <a:t>W1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837911" y="3452381"/>
            <a:ext cx="57606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u="sng">
                <a:solidFill>
                  <a:srgbClr val="FF0000"/>
                </a:solidFill>
              </a:rPr>
              <a:t>W2</a:t>
            </a:r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3845447" y="3824379"/>
            <a:ext cx="1792297" cy="950734"/>
          </a:xfrm>
          <a:prstGeom prst="ellipse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3051128" y="3414163"/>
            <a:ext cx="360392" cy="445768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右箭头 30"/>
          <p:cNvSpPr/>
          <p:nvPr/>
        </p:nvSpPr>
        <p:spPr>
          <a:xfrm>
            <a:off x="5992015" y="3414163"/>
            <a:ext cx="360392" cy="445768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6944158" y="2880657"/>
            <a:ext cx="1368152" cy="616380"/>
            <a:chOff x="7884368" y="1584003"/>
            <a:chExt cx="1368152" cy="616380"/>
          </a:xfrm>
        </p:grpSpPr>
        <p:sp>
          <p:nvSpPr>
            <p:cNvPr id="33" name="矩形 32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Layer #1</a:t>
              </a:r>
              <a:endParaRPr lang="zh-CN" altLang="en-US"/>
            </a:p>
          </p:txBody>
        </p:sp>
      </p:grpSp>
      <p:cxnSp>
        <p:nvCxnSpPr>
          <p:cNvPr id="35" name="直线箭头连接符 34"/>
          <p:cNvCxnSpPr/>
          <p:nvPr/>
        </p:nvCxnSpPr>
        <p:spPr>
          <a:xfrm>
            <a:off x="7628234" y="3497037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/>
          <p:cNvCxnSpPr/>
          <p:nvPr/>
        </p:nvCxnSpPr>
        <p:spPr>
          <a:xfrm>
            <a:off x="6770114" y="2396236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/>
          <p:cNvCxnSpPr>
            <a:endCxn id="33" idx="0"/>
          </p:cNvCxnSpPr>
          <p:nvPr/>
        </p:nvCxnSpPr>
        <p:spPr>
          <a:xfrm>
            <a:off x="7565953" y="2434889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8056197" y="1749996"/>
            <a:ext cx="581384" cy="616380"/>
            <a:chOff x="7884368" y="1584003"/>
            <a:chExt cx="581384" cy="616380"/>
          </a:xfrm>
        </p:grpSpPr>
        <p:sp>
          <p:nvSpPr>
            <p:cNvPr id="39" name="矩形 38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7949303" y="1704750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w1</a:t>
              </a:r>
              <a:endParaRPr lang="zh-CN" altLang="en-US"/>
            </a:p>
          </p:txBody>
        </p:sp>
      </p:grpSp>
      <p:cxnSp>
        <p:nvCxnSpPr>
          <p:cNvPr id="41" name="直线箭头连接符 40"/>
          <p:cNvCxnSpPr>
            <a:stCxn id="39" idx="2"/>
          </p:cNvCxnSpPr>
          <p:nvPr/>
        </p:nvCxnSpPr>
        <p:spPr>
          <a:xfrm flipH="1">
            <a:off x="7942092" y="2366376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6579372" y="1754225"/>
            <a:ext cx="576059" cy="616380"/>
            <a:chOff x="638921" y="2203432"/>
            <a:chExt cx="576059" cy="616380"/>
          </a:xfrm>
        </p:grpSpPr>
        <p:sp>
          <p:nvSpPr>
            <p:cNvPr id="43" name="矩形 42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endParaRPr lang="zh-CN" altLang="en-US" baseline="-2500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435491" y="1756444"/>
            <a:ext cx="576059" cy="616380"/>
            <a:chOff x="638921" y="2203432"/>
            <a:chExt cx="576059" cy="616380"/>
          </a:xfrm>
        </p:grpSpPr>
        <p:sp>
          <p:nvSpPr>
            <p:cNvPr id="46" name="矩形 45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endParaRPr lang="zh-CN" altLang="en-US" baseline="-25000"/>
            </a:p>
          </p:txBody>
        </p:sp>
      </p:grpSp>
      <p:sp>
        <p:nvSpPr>
          <p:cNvPr id="52" name="矩形 51"/>
          <p:cNvSpPr/>
          <p:nvPr/>
        </p:nvSpPr>
        <p:spPr>
          <a:xfrm>
            <a:off x="6941858" y="4014116"/>
            <a:ext cx="1259632" cy="616380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7038720" y="4144435"/>
            <a:ext cx="1271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Layer #2</a:t>
            </a:r>
            <a:endParaRPr lang="zh-CN" altLang="en-US"/>
          </a:p>
        </p:txBody>
      </p:sp>
      <p:cxnSp>
        <p:nvCxnSpPr>
          <p:cNvPr id="54" name="直线箭头连接符 53"/>
          <p:cNvCxnSpPr/>
          <p:nvPr/>
        </p:nvCxnSpPr>
        <p:spPr>
          <a:xfrm>
            <a:off x="7639855" y="4630496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组合 56"/>
          <p:cNvGrpSpPr/>
          <p:nvPr/>
        </p:nvGrpSpPr>
        <p:grpSpPr>
          <a:xfrm>
            <a:off x="8531049" y="3521229"/>
            <a:ext cx="581384" cy="616380"/>
            <a:chOff x="7884368" y="1584003"/>
            <a:chExt cx="581384" cy="616380"/>
          </a:xfrm>
        </p:grpSpPr>
        <p:sp>
          <p:nvSpPr>
            <p:cNvPr id="58" name="矩形 57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7949303" y="1704750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w2</a:t>
              </a:r>
              <a:endParaRPr lang="zh-CN" altLang="en-US"/>
            </a:p>
          </p:txBody>
        </p:sp>
      </p:grpSp>
      <p:cxnSp>
        <p:nvCxnSpPr>
          <p:cNvPr id="60" name="直线箭头连接符 59"/>
          <p:cNvCxnSpPr>
            <a:stCxn id="58" idx="1"/>
          </p:cNvCxnSpPr>
          <p:nvPr/>
        </p:nvCxnSpPr>
        <p:spPr>
          <a:xfrm flipH="1">
            <a:off x="8201490" y="3829419"/>
            <a:ext cx="329559" cy="32731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Pipeline parallelism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39" y="1129308"/>
            <a:ext cx="5623029" cy="1874845"/>
          </a:xfrm>
        </p:spPr>
        <p:txBody>
          <a:bodyPr>
            <a:normAutofit/>
          </a:bodyPr>
          <a:lstStyle/>
          <a:p>
            <a:r>
              <a:rPr kumimoji="1" lang="en-US" altLang="zh-CN"/>
              <a:t>Partition the computation layer-by-layer, each partition is deployed on a device </a:t>
            </a:r>
            <a:endParaRPr kumimoji="1" lang="en-US" altLang="zh-CN"/>
          </a:p>
          <a:p>
            <a:pPr lvl="1"/>
            <a:r>
              <a:rPr kumimoji="1" lang="en-US" altLang="zh-CN"/>
              <a:t>Note that different layers can be grouped together </a:t>
            </a:r>
            <a:endParaRPr kumimoji="1" lang="en-US" altLang="zh-CN"/>
          </a:p>
          <a:p>
            <a:pPr lvl="1"/>
            <a:r>
              <a:rPr kumimoji="1" lang="en-US" altLang="zh-CN"/>
              <a:t>The strategy is out of the scope of this course</a:t>
            </a:r>
            <a:endParaRPr kumimoji="1" lang="en-US" altLang="zh-CN"/>
          </a:p>
          <a:p>
            <a:pPr marL="74295" lvl="1" indent="0">
              <a:buNone/>
            </a:pP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43046" y="464889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17241" y="3089016"/>
            <a:ext cx="2860712" cy="2050599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200711" y="2738149"/>
            <a:ext cx="1368152" cy="616380"/>
            <a:chOff x="7884368" y="1584003"/>
            <a:chExt cx="1368152" cy="616380"/>
          </a:xfrm>
        </p:grpSpPr>
        <p:sp>
          <p:nvSpPr>
            <p:cNvPr id="9" name="矩形 8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Layer #1</a:t>
              </a:r>
              <a:endParaRPr lang="zh-CN" altLang="en-US"/>
            </a:p>
          </p:txBody>
        </p:sp>
      </p:grpSp>
      <p:cxnSp>
        <p:nvCxnSpPr>
          <p:cNvPr id="11" name="直线箭头连接符 10"/>
          <p:cNvCxnSpPr/>
          <p:nvPr/>
        </p:nvCxnSpPr>
        <p:spPr>
          <a:xfrm>
            <a:off x="6884787" y="3354529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/>
          <p:cNvCxnSpPr/>
          <p:nvPr/>
        </p:nvCxnSpPr>
        <p:spPr>
          <a:xfrm>
            <a:off x="6026667" y="2253728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>
            <a:endCxn id="9" idx="0"/>
          </p:cNvCxnSpPr>
          <p:nvPr/>
        </p:nvCxnSpPr>
        <p:spPr>
          <a:xfrm>
            <a:off x="6822506" y="2292381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7312750" y="1607488"/>
            <a:ext cx="581384" cy="616380"/>
            <a:chOff x="7884368" y="1584003"/>
            <a:chExt cx="581384" cy="616380"/>
          </a:xfrm>
        </p:grpSpPr>
        <p:sp>
          <p:nvSpPr>
            <p:cNvPr id="15" name="矩形 14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949303" y="1704750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w1</a:t>
              </a:r>
              <a:endParaRPr lang="zh-CN" altLang="en-US"/>
            </a:p>
          </p:txBody>
        </p:sp>
      </p:grpSp>
      <p:cxnSp>
        <p:nvCxnSpPr>
          <p:cNvPr id="17" name="直线箭头连接符 16"/>
          <p:cNvCxnSpPr>
            <a:stCxn id="15" idx="2"/>
          </p:cNvCxnSpPr>
          <p:nvPr/>
        </p:nvCxnSpPr>
        <p:spPr>
          <a:xfrm flipH="1">
            <a:off x="7198645" y="2223868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5835925" y="1611717"/>
            <a:ext cx="576059" cy="616380"/>
            <a:chOff x="638921" y="2203432"/>
            <a:chExt cx="576059" cy="616380"/>
          </a:xfrm>
        </p:grpSpPr>
        <p:sp>
          <p:nvSpPr>
            <p:cNvPr id="19" name="矩形 18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endParaRPr lang="zh-CN" altLang="en-US" baseline="-2500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692044" y="1613936"/>
            <a:ext cx="576059" cy="616380"/>
            <a:chOff x="638921" y="2203432"/>
            <a:chExt cx="576059" cy="616380"/>
          </a:xfrm>
        </p:grpSpPr>
        <p:sp>
          <p:nvSpPr>
            <p:cNvPr id="22" name="矩形 21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endParaRPr lang="zh-CN" altLang="en-US" baseline="-25000"/>
            </a:p>
          </p:txBody>
        </p:sp>
      </p:grpSp>
      <p:sp>
        <p:nvSpPr>
          <p:cNvPr id="24" name="矩形 23"/>
          <p:cNvSpPr/>
          <p:nvPr/>
        </p:nvSpPr>
        <p:spPr>
          <a:xfrm>
            <a:off x="6198411" y="3871608"/>
            <a:ext cx="1259632" cy="616380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295273" y="4001927"/>
            <a:ext cx="1271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Layer #2</a:t>
            </a:r>
            <a:endParaRPr lang="zh-CN" altLang="en-US"/>
          </a:p>
        </p:txBody>
      </p:sp>
      <p:cxnSp>
        <p:nvCxnSpPr>
          <p:cNvPr id="26" name="直线箭头连接符 25"/>
          <p:cNvCxnSpPr/>
          <p:nvPr/>
        </p:nvCxnSpPr>
        <p:spPr>
          <a:xfrm>
            <a:off x="6896408" y="4487988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7787602" y="3378721"/>
            <a:ext cx="581384" cy="616380"/>
            <a:chOff x="7884368" y="1584003"/>
            <a:chExt cx="581384" cy="616380"/>
          </a:xfrm>
        </p:grpSpPr>
        <p:sp>
          <p:nvSpPr>
            <p:cNvPr id="28" name="矩形 27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949303" y="1704750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w2</a:t>
              </a:r>
              <a:endParaRPr lang="zh-CN" altLang="en-US"/>
            </a:p>
          </p:txBody>
        </p:sp>
      </p:grpSp>
      <p:cxnSp>
        <p:nvCxnSpPr>
          <p:cNvPr id="30" name="直线箭头连接符 29"/>
          <p:cNvCxnSpPr>
            <a:stCxn id="28" idx="1"/>
          </p:cNvCxnSpPr>
          <p:nvPr/>
        </p:nvCxnSpPr>
        <p:spPr>
          <a:xfrm flipH="1">
            <a:off x="7458043" y="3686911"/>
            <a:ext cx="329559" cy="32731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305823" y="5250998"/>
            <a:ext cx="1775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The model 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3747121" y="4464910"/>
            <a:ext cx="17754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The partitioned computation graph </a:t>
            </a:r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>
            <a:off x="3106512" y="4607203"/>
            <a:ext cx="385368" cy="491750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6" name="直线连接符 35"/>
          <p:cNvCxnSpPr/>
          <p:nvPr/>
        </p:nvCxnSpPr>
        <p:spPr>
          <a:xfrm flipH="1">
            <a:off x="1251967" y="4029098"/>
            <a:ext cx="2047229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/>
          <p:cNvCxnSpPr/>
          <p:nvPr/>
        </p:nvCxnSpPr>
        <p:spPr>
          <a:xfrm flipH="1">
            <a:off x="5634835" y="3489643"/>
            <a:ext cx="310556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右箭头 41"/>
          <p:cNvSpPr/>
          <p:nvPr/>
        </p:nvSpPr>
        <p:spPr>
          <a:xfrm rot="19326461">
            <a:off x="7996570" y="2441795"/>
            <a:ext cx="385368" cy="491750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299" y="2114885"/>
            <a:ext cx="616380" cy="61638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4" name="右箭头 43"/>
          <p:cNvSpPr/>
          <p:nvPr/>
        </p:nvSpPr>
        <p:spPr>
          <a:xfrm>
            <a:off x="7886182" y="4219465"/>
            <a:ext cx="385368" cy="491750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816" y="4240205"/>
            <a:ext cx="616380" cy="61638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Pipeline parallelism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 rotWithShape="1">
          <a:blip r:embed="rId1"/>
          <a:srcRect r="52632" b="64637"/>
          <a:stretch>
            <a:fillRect/>
          </a:stretch>
        </p:blipFill>
        <p:spPr>
          <a:xfrm>
            <a:off x="3377935" y="1252470"/>
            <a:ext cx="2958823" cy="1605030"/>
          </a:xfrm>
          <a:prstGeom prst="rect">
            <a:avLst/>
          </a:prstGeom>
        </p:spPr>
      </p:pic>
      <p:pic>
        <p:nvPicPr>
          <p:cNvPr id="6" name="Picture 4"/>
          <p:cNvPicPr>
            <a:picLocks noChangeAspect="1"/>
          </p:cNvPicPr>
          <p:nvPr/>
        </p:nvPicPr>
        <p:blipFill rotWithShape="1">
          <a:blip r:embed="rId2"/>
          <a:srcRect l="-1" t="9139" r="82992" b="52674"/>
          <a:stretch>
            <a:fillRect/>
          </a:stretch>
        </p:blipFill>
        <p:spPr>
          <a:xfrm>
            <a:off x="386184" y="1427097"/>
            <a:ext cx="327472" cy="1628842"/>
          </a:xfrm>
          <a:prstGeom prst="rect">
            <a:avLst/>
          </a:prstGeom>
        </p:spPr>
      </p:pic>
      <p:pic>
        <p:nvPicPr>
          <p:cNvPr id="7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544" y="1307016"/>
            <a:ext cx="909325" cy="1605031"/>
          </a:xfrm>
          <a:prstGeom prst="rect">
            <a:avLst/>
          </a:prstGeom>
        </p:spPr>
      </p:pic>
      <p:pic>
        <p:nvPicPr>
          <p:cNvPr id="8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010" y="1622094"/>
            <a:ext cx="174392" cy="236399"/>
          </a:xfrm>
          <a:prstGeom prst="rect">
            <a:avLst/>
          </a:prstGeom>
        </p:spPr>
      </p:pic>
      <p:pic>
        <p:nvPicPr>
          <p:cNvPr id="9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8721" y="1304478"/>
            <a:ext cx="909326" cy="410590"/>
          </a:xfrm>
          <a:prstGeom prst="rect">
            <a:avLst/>
          </a:prstGeom>
        </p:spPr>
      </p:pic>
      <p:pic>
        <p:nvPicPr>
          <p:cNvPr id="10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8722" y="1713381"/>
            <a:ext cx="909326" cy="410590"/>
          </a:xfrm>
          <a:prstGeom prst="rect">
            <a:avLst/>
          </a:prstGeom>
        </p:spPr>
      </p:pic>
      <p:pic>
        <p:nvPicPr>
          <p:cNvPr id="11" name="Picture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8722" y="2111091"/>
            <a:ext cx="909326" cy="410590"/>
          </a:xfrm>
          <a:prstGeom prst="rect">
            <a:avLst/>
          </a:prstGeom>
        </p:spPr>
      </p:pic>
      <p:pic>
        <p:nvPicPr>
          <p:cNvPr id="12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8722" y="2513565"/>
            <a:ext cx="909326" cy="410590"/>
          </a:xfrm>
          <a:prstGeom prst="rect">
            <a:avLst/>
          </a:prstGeom>
        </p:spPr>
      </p:pic>
      <p:pic>
        <p:nvPicPr>
          <p:cNvPr id="13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343" y="2021350"/>
            <a:ext cx="174392" cy="236399"/>
          </a:xfrm>
          <a:prstGeom prst="rect">
            <a:avLst/>
          </a:prstGeom>
        </p:spPr>
      </p:pic>
      <p:pic>
        <p:nvPicPr>
          <p:cNvPr id="14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010" y="2421871"/>
            <a:ext cx="174392" cy="236399"/>
          </a:xfrm>
          <a:prstGeom prst="rect">
            <a:avLst/>
          </a:prstGeom>
        </p:spPr>
      </p:pic>
      <p:pic>
        <p:nvPicPr>
          <p:cNvPr id="15" name="Picture 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7624" y="2423251"/>
            <a:ext cx="174390" cy="236399"/>
          </a:xfrm>
          <a:prstGeom prst="rect">
            <a:avLst/>
          </a:prstGeom>
        </p:spPr>
      </p:pic>
      <p:pic>
        <p:nvPicPr>
          <p:cNvPr id="16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5136" y="2027860"/>
            <a:ext cx="174390" cy="236399"/>
          </a:xfrm>
          <a:prstGeom prst="rect">
            <a:avLst/>
          </a:prstGeom>
        </p:spPr>
      </p:pic>
      <p:pic>
        <p:nvPicPr>
          <p:cNvPr id="17" name="Picture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5136" y="1620433"/>
            <a:ext cx="174390" cy="236399"/>
          </a:xfrm>
          <a:prstGeom prst="rect">
            <a:avLst/>
          </a:prstGeom>
        </p:spPr>
      </p:pic>
      <p:cxnSp>
        <p:nvCxnSpPr>
          <p:cNvPr id="18" name="Straight Arrow Connector 43"/>
          <p:cNvCxnSpPr/>
          <p:nvPr/>
        </p:nvCxnSpPr>
        <p:spPr>
          <a:xfrm>
            <a:off x="3715940" y="1707799"/>
            <a:ext cx="135015" cy="87398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44"/>
          <p:cNvCxnSpPr/>
          <p:nvPr/>
        </p:nvCxnSpPr>
        <p:spPr>
          <a:xfrm>
            <a:off x="4073753" y="2065832"/>
            <a:ext cx="135015" cy="87398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45"/>
          <p:cNvCxnSpPr/>
          <p:nvPr/>
        </p:nvCxnSpPr>
        <p:spPr>
          <a:xfrm>
            <a:off x="4451254" y="2434282"/>
            <a:ext cx="135015" cy="87398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49"/>
          <p:cNvCxnSpPr/>
          <p:nvPr/>
        </p:nvCxnSpPr>
        <p:spPr>
          <a:xfrm flipV="1">
            <a:off x="5553835" y="2050092"/>
            <a:ext cx="119916" cy="89457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50"/>
          <p:cNvCxnSpPr/>
          <p:nvPr/>
        </p:nvCxnSpPr>
        <p:spPr>
          <a:xfrm flipV="1">
            <a:off x="5179646" y="2409828"/>
            <a:ext cx="119916" cy="89457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51"/>
          <p:cNvCxnSpPr/>
          <p:nvPr/>
        </p:nvCxnSpPr>
        <p:spPr>
          <a:xfrm flipV="1">
            <a:off x="5907296" y="1679435"/>
            <a:ext cx="119916" cy="89457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56"/>
          <p:cNvCxnSpPr/>
          <p:nvPr/>
        </p:nvCxnSpPr>
        <p:spPr>
          <a:xfrm>
            <a:off x="3426618" y="1241754"/>
            <a:ext cx="1159651" cy="10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58"/>
          <p:cNvSpPr txBox="1"/>
          <p:nvPr/>
        </p:nvSpPr>
        <p:spPr>
          <a:xfrm>
            <a:off x="3603465" y="948343"/>
            <a:ext cx="1479412" cy="3231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500"/>
              <a:t>Time</a:t>
            </a:r>
            <a:endParaRPr lang="en-US" sz="1500"/>
          </a:p>
        </p:txBody>
      </p:sp>
      <p:sp>
        <p:nvSpPr>
          <p:cNvPr id="26" name="Freeform 60"/>
          <p:cNvSpPr/>
          <p:nvPr/>
        </p:nvSpPr>
        <p:spPr>
          <a:xfrm>
            <a:off x="3774278" y="1365250"/>
            <a:ext cx="2171700" cy="1092200"/>
          </a:xfrm>
          <a:custGeom>
            <a:avLst/>
            <a:gdLst>
              <a:gd name="connsiteX0" fmla="*/ 0 w 2895600"/>
              <a:gd name="connsiteY0" fmla="*/ 0 h 1456267"/>
              <a:gd name="connsiteX1" fmla="*/ 0 w 2895600"/>
              <a:gd name="connsiteY1" fmla="*/ 499534 h 1456267"/>
              <a:gd name="connsiteX2" fmla="*/ 482600 w 2895600"/>
              <a:gd name="connsiteY2" fmla="*/ 499534 h 1456267"/>
              <a:gd name="connsiteX3" fmla="*/ 482600 w 2895600"/>
              <a:gd name="connsiteY3" fmla="*/ 973667 h 1456267"/>
              <a:gd name="connsiteX4" fmla="*/ 965200 w 2895600"/>
              <a:gd name="connsiteY4" fmla="*/ 973667 h 1456267"/>
              <a:gd name="connsiteX5" fmla="*/ 965200 w 2895600"/>
              <a:gd name="connsiteY5" fmla="*/ 1456267 h 1456267"/>
              <a:gd name="connsiteX6" fmla="*/ 1938867 w 2895600"/>
              <a:gd name="connsiteY6" fmla="*/ 1456267 h 1456267"/>
              <a:gd name="connsiteX7" fmla="*/ 1938867 w 2895600"/>
              <a:gd name="connsiteY7" fmla="*/ 956734 h 1456267"/>
              <a:gd name="connsiteX8" fmla="*/ 2413000 w 2895600"/>
              <a:gd name="connsiteY8" fmla="*/ 956734 h 1456267"/>
              <a:gd name="connsiteX9" fmla="*/ 2413000 w 2895600"/>
              <a:gd name="connsiteY9" fmla="*/ 482600 h 1456267"/>
              <a:gd name="connsiteX10" fmla="*/ 2895600 w 2895600"/>
              <a:gd name="connsiteY10" fmla="*/ 491067 h 1456267"/>
              <a:gd name="connsiteX11" fmla="*/ 2895600 w 2895600"/>
              <a:gd name="connsiteY11" fmla="*/ 0 h 1456267"/>
              <a:gd name="connsiteX12" fmla="*/ 0 w 2895600"/>
              <a:gd name="connsiteY12" fmla="*/ 0 h 145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95600" h="1456267">
                <a:moveTo>
                  <a:pt x="0" y="0"/>
                </a:moveTo>
                <a:lnTo>
                  <a:pt x="0" y="499534"/>
                </a:lnTo>
                <a:lnTo>
                  <a:pt x="482600" y="499534"/>
                </a:lnTo>
                <a:lnTo>
                  <a:pt x="482600" y="973667"/>
                </a:lnTo>
                <a:lnTo>
                  <a:pt x="965200" y="973667"/>
                </a:lnTo>
                <a:lnTo>
                  <a:pt x="965200" y="1456267"/>
                </a:lnTo>
                <a:lnTo>
                  <a:pt x="1938867" y="1456267"/>
                </a:lnTo>
                <a:lnTo>
                  <a:pt x="1938867" y="956734"/>
                </a:lnTo>
                <a:lnTo>
                  <a:pt x="2413000" y="956734"/>
                </a:lnTo>
                <a:lnTo>
                  <a:pt x="2413000" y="482600"/>
                </a:lnTo>
                <a:lnTo>
                  <a:pt x="2895600" y="491067"/>
                </a:lnTo>
                <a:lnTo>
                  <a:pt x="289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27" name="Straight Arrow Connector 62"/>
          <p:cNvCxnSpPr/>
          <p:nvPr/>
        </p:nvCxnSpPr>
        <p:spPr>
          <a:xfrm flipV="1">
            <a:off x="5299562" y="948343"/>
            <a:ext cx="1449099" cy="35613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63"/>
          <p:cNvSpPr txBox="1"/>
          <p:nvPr/>
        </p:nvSpPr>
        <p:spPr>
          <a:xfrm>
            <a:off x="6746644" y="664894"/>
            <a:ext cx="2577884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Bubble where processes are idle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31" name="Picture 6"/>
          <p:cNvPicPr>
            <a:picLocks noChangeAspect="1"/>
          </p:cNvPicPr>
          <p:nvPr/>
        </p:nvPicPr>
        <p:blipFill rotWithShape="1">
          <a:blip r:embed="rId10"/>
          <a:srcRect b="56090"/>
          <a:stretch>
            <a:fillRect/>
          </a:stretch>
        </p:blipFill>
        <p:spPr>
          <a:xfrm>
            <a:off x="5580954" y="3525881"/>
            <a:ext cx="3482577" cy="886650"/>
          </a:xfrm>
          <a:prstGeom prst="rect">
            <a:avLst/>
          </a:prstGeom>
        </p:spPr>
      </p:pic>
      <p:sp>
        <p:nvSpPr>
          <p:cNvPr id="35" name="内容占位符 2"/>
          <p:cNvSpPr txBox="1"/>
          <p:nvPr/>
        </p:nvSpPr>
        <p:spPr>
          <a:xfrm>
            <a:off x="1848527" y="4983271"/>
            <a:ext cx="4176464" cy="519868"/>
          </a:xfrm>
          <a:prstGeom prst="rect">
            <a:avLst/>
          </a:prstGeom>
          <a:solidFill>
            <a:srgbClr val="FAEADC"/>
          </a:solidFill>
          <a:ln w="381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/>
              <a:t>How to reduce bubble? </a:t>
            </a:r>
            <a:endParaRPr kumimoji="1" lang="en-US" altLang="zh-CN" b="0"/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/>
      <p:bldP spid="3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Technique: micro-batching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By breaking the batch size into smaller pieces to reduce the idle time of the processes</a:t>
            </a:r>
            <a:endParaRPr lang="en-US" altLang="zh-CN" dirty="0"/>
          </a:p>
          <a:p>
            <a:pPr lvl="1"/>
            <a:r>
              <a:rPr lang="en-US" altLang="zh-CN" dirty="0"/>
              <a:t>Reduces bubble size in an easy way to implement</a:t>
            </a:r>
            <a:endParaRPr lang="en-US" altLang="zh-CN" dirty="0"/>
          </a:p>
          <a:p>
            <a:r>
              <a:rPr lang="en-US" altLang="zh-CN" dirty="0"/>
              <a:t>Question: to what extent can micro-batching improves performance?</a:t>
            </a:r>
            <a:endParaRPr lang="en-US" altLang="zh-CN" dirty="0"/>
          </a:p>
          <a:p>
            <a:pPr lvl="1"/>
            <a:r>
              <a:rPr lang="en-US" altLang="zh-CN" dirty="0"/>
              <a:t>The bubble size depends on the #stages </a:t>
            </a:r>
            <a:endParaRPr lang="en-US" altLang="zh-CN" dirty="0"/>
          </a:p>
          <a:p>
            <a:pPr lvl="1"/>
            <a:r>
              <a:rPr lang="en-US" altLang="zh-CN" dirty="0"/>
              <a:t>The ratio bubble overhead depends on the overall pipeline numbers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97"/>
          <p:cNvPicPr>
            <a:picLocks noChangeAspect="1"/>
          </p:cNvPicPr>
          <p:nvPr/>
        </p:nvPicPr>
        <p:blipFill rotWithShape="1">
          <a:blip r:embed="rId1"/>
          <a:srcRect l="11950" t="22338" r="21210" b="57471"/>
          <a:stretch>
            <a:fillRect/>
          </a:stretch>
        </p:blipFill>
        <p:spPr>
          <a:xfrm>
            <a:off x="1547664" y="4047411"/>
            <a:ext cx="8568952" cy="145209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Pipeline parallelism &amp; the number of micro-batch </a:t>
            </a:r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2840" y="1129308"/>
                <a:ext cx="8229600" cy="4356826"/>
              </a:xfrm>
            </p:spPr>
            <p:txBody>
              <a:bodyPr/>
              <a:lstStyle/>
              <a:p>
                <a:r>
                  <a:rPr kumimoji="1" lang="en-US" altLang="zh-CN"/>
                  <a:t>Question: what is the bubble size ? </a:t>
                </a:r>
                <a:endParaRPr kumimoji="1" lang="en-US" altLang="zh-CN"/>
              </a:p>
              <a:p>
                <a:pPr lvl="1"/>
                <a:r>
                  <a:rPr kumimoji="1" lang="en-US" altLang="zh-CN"/>
                  <a:t>p – 1 (p == #devices)</a:t>
                </a:r>
                <a:endParaRPr kumimoji="1" lang="en-US" altLang="zh-CN"/>
              </a:p>
              <a:p>
                <a:r>
                  <a:rPr kumimoji="1" lang="en-US" altLang="zh-CN"/>
                  <a:t>Question: what is the overhead? </a:t>
                </a:r>
                <a:endParaRPr kumimoji="1" lang="en-US" altLang="zh-CN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kumimoji="1" lang="en-US" altLang="zh-CN" b="0" i="1" baseline="-2500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en-US" altLang="zh-CN" b="0" baseline="-25000"/>
                  <a:t> </a:t>
                </a:r>
                <a:r>
                  <a:rPr kumimoji="1" lang="en-US" altLang="zh-CN" b="0"/>
                  <a:t>: time of a forward of a micro-batch (m) </a:t>
                </a:r>
                <a:endParaRPr kumimoji="1" lang="en-US" altLang="zh-CN" b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kumimoji="1" lang="en-US" altLang="zh-CN" b="0" i="0" baseline="-2500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kumimoji="1" lang="en-US" altLang="zh-CN" b="0" baseline="-25000"/>
                  <a:t> </a:t>
                </a:r>
                <a:r>
                  <a:rPr kumimoji="1" lang="en-US" altLang="zh-CN" b="0"/>
                  <a:t>: time of a </a:t>
                </a:r>
                <a:r>
                  <a:rPr kumimoji="1" lang="en-US" altLang="zh-CN"/>
                  <a:t>backward of a micro-batch (m) </a:t>
                </a:r>
                <a:endParaRPr kumimoji="1" lang="en-US" altLang="zh-CN" b="0"/>
              </a:p>
              <a:p>
                <a:pPr lvl="1"/>
                <a:r>
                  <a:rPr kumimoji="1" lang="en-US" altLang="zh-CN" b="0"/>
                  <a:t>Ideal process time: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 ∗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𝑡𝑓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𝑡𝑏</m:t>
                        </m:r>
                      </m:e>
                    </m:d>
                  </m:oMath>
                </a14:m>
                <a:r>
                  <a:rPr kumimoji="1" lang="en-US" altLang="zh-CN" b="0"/>
                  <a:t> </a:t>
                </a:r>
                <a:endParaRPr kumimoji="1" lang="en-US" altLang="zh-CN" b="0"/>
              </a:p>
              <a:p>
                <a:pPr lvl="1"/>
                <a:r>
                  <a:rPr kumimoji="1" lang="en-US" altLang="zh-CN"/>
                  <a:t>Wasted time of bubble: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𝑡𝑓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𝑡𝑏</m:t>
                        </m:r>
                      </m:e>
                    </m:d>
                  </m:oMath>
                </a14:m>
                <a:endParaRPr kumimoji="1" lang="en-US" altLang="zh-CN"/>
              </a:p>
              <a:p>
                <a:pPr lvl="1"/>
                <a:r>
                  <a:rPr kumimoji="1" lang="en-US" altLang="zh-CN"/>
                  <a:t>Bubble time fraction: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kumimoji="1" lang="en-US" altLang="zh-CN"/>
              </a:p>
              <a:p>
                <a:endParaRPr kumimoji="1" lang="en-US" altLang="zh-CN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2840" y="1129308"/>
                <a:ext cx="8229600" cy="4356826"/>
              </a:xfrm>
              <a:blipFill rotWithShape="1">
                <a:blip r:embed="rId1"/>
                <a:stretch>
                  <a:fillRect l="-7" t="-6" r="7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Pipeline parallelism &amp; the number of micro-batch </a:t>
            </a:r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/>
                  <a:t>Question: what is the overhead of pipeline parallelism? </a:t>
                </a:r>
                <a:endParaRPr kumimoji="1" lang="en-US" altLang="zh-CN"/>
              </a:p>
              <a:p>
                <a:pPr lvl="1"/>
                <a:r>
                  <a:rPr kumimoji="1" lang="en-US" altLang="zh-CN"/>
                  <a:t>Bubble time fraction: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kumimoji="1" lang="en-US" altLang="zh-CN"/>
                  <a:t> </a:t>
                </a:r>
                <a:endParaRPr kumimoji="1" lang="en-US" altLang="zh-CN"/>
              </a:p>
              <a:p>
                <a:r>
                  <a:rPr kumimoji="1" lang="en-US" altLang="zh-CN"/>
                  <a:t>Optimization directions </a:t>
                </a:r>
                <a:endParaRPr kumimoji="1" lang="en-US" altLang="zh-CN"/>
              </a:p>
              <a:p>
                <a:pPr lvl="1"/>
                <a:r>
                  <a:rPr kumimoji="1" lang="en-US" altLang="zh-CN"/>
                  <a:t>1. increase m (e.g., increase the batch size)</a:t>
                </a:r>
                <a:endParaRPr kumimoji="1" lang="en-US" altLang="zh-CN"/>
              </a:p>
              <a:p>
                <a:pPr lvl="1"/>
                <a:r>
                  <a:rPr kumimoji="1" lang="en-US" altLang="zh-CN"/>
                  <a:t>2. reduce p (reduce the #partitions) </a:t>
                </a:r>
                <a:endParaRPr kumimoji="1" lang="zh-CN" altLang="en-US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with Large Batch Training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82" y="1869384"/>
            <a:ext cx="3178478" cy="2543709"/>
          </a:xfrm>
          <a:prstGeom prst="rect">
            <a:avLst/>
          </a:prstGeom>
        </p:spPr>
      </p:pic>
      <p:sp>
        <p:nvSpPr>
          <p:cNvPr id="5" name="Text Placeholder 2"/>
          <p:cNvSpPr txBox="1"/>
          <p:nvPr/>
        </p:nvSpPr>
        <p:spPr>
          <a:xfrm>
            <a:off x="219349" y="1084966"/>
            <a:ext cx="8001000" cy="894731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10000"/>
          </a:bodyPr>
          <a:lstStyle>
            <a:lvl1pPr marL="457200" indent="-443230" algn="l" defTabSz="914400" rtl="0" eaLnBrk="1" latinLnBrk="0" hangingPunct="1">
              <a:lnSpc>
                <a:spcPct val="90000"/>
              </a:lnSpc>
              <a:spcBef>
                <a:spcPts val="22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  <a:defRPr sz="2800" b="0" i="0" kern="1200">
                <a:solidFill>
                  <a:schemeClr val="tx1"/>
                </a:solidFill>
                <a:uFillTx/>
                <a:latin typeface="+mn-lt"/>
                <a:ea typeface="Helvetica Neue Light" charset="0"/>
                <a:cs typeface="Helvetica Neue Light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b="0" i="0" kern="1200">
                <a:solidFill>
                  <a:schemeClr val="tx1"/>
                </a:solidFill>
                <a:uFillTx/>
                <a:latin typeface="+mn-lt"/>
                <a:ea typeface="Helvetica Neue Light" charset="0"/>
                <a:cs typeface="Helvetica Neue Light" charset="0"/>
              </a:defRPr>
            </a:lvl2pPr>
            <a:lvl3pPr marL="1373505" indent="-311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 b="0" i="0" kern="1200">
                <a:solidFill>
                  <a:schemeClr val="tx1"/>
                </a:solidFill>
                <a:uFillTx/>
                <a:latin typeface="+mn-lt"/>
                <a:ea typeface="Helvetica Neue Light" charset="0"/>
                <a:cs typeface="Helvetica Neue Light" charset="0"/>
              </a:defRPr>
            </a:lvl3pPr>
            <a:lvl4pPr marL="1830705" indent="-23685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b="0" i="0" kern="1200">
                <a:solidFill>
                  <a:schemeClr val="tx1"/>
                </a:solidFill>
                <a:uFillTx/>
                <a:latin typeface="+mn-lt"/>
                <a:ea typeface="Helvetica Neue Light" charset="0"/>
                <a:cs typeface="Helvetica Neue Light" charset="0"/>
              </a:defRPr>
            </a:lvl4pPr>
            <a:lvl5pPr marL="2287905" indent="-2349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b="0" i="0" kern="1200">
                <a:solidFill>
                  <a:schemeClr val="tx1"/>
                </a:solidFill>
                <a:uFillTx/>
                <a:latin typeface="+mn-lt"/>
                <a:ea typeface="Helvetica Neue Light" charset="0"/>
                <a:cs typeface="Helvetica Neue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9pPr>
          </a:lstStyle>
          <a:p>
            <a:pPr marL="13970" indent="0">
              <a:buClrTx/>
              <a:buNone/>
            </a:pPr>
            <a:r>
              <a:rPr lang="en-US" sz="2100"/>
              <a:t>Larger Batch leads to </a:t>
            </a:r>
            <a:r>
              <a:rPr lang="en-US" sz="2100">
                <a:solidFill>
                  <a:srgbClr val="FF0000"/>
                </a:solidFill>
              </a:rPr>
              <a:t>sub-optimal generalization</a:t>
            </a:r>
            <a:endParaRPr lang="en-US" sz="2100">
              <a:solidFill>
                <a:srgbClr val="FF0000"/>
              </a:solidFill>
            </a:endParaRPr>
          </a:p>
          <a:p>
            <a:pPr marL="13970" indent="0">
              <a:buClrTx/>
              <a:buNone/>
            </a:pPr>
            <a:r>
              <a:rPr lang="en-US" sz="2100" kern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A common belief is that large batch training gets attracted to </a:t>
            </a:r>
            <a:r>
              <a:rPr lang="en-US" sz="2100" kern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“sharp </a:t>
            </a:r>
            <a:r>
              <a:rPr lang="en-US" sz="2100" kern="0" err="1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minimas</a:t>
            </a:r>
            <a:r>
              <a:rPr lang="en-US" sz="2100" kern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2100" kern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  <a:p>
            <a:pPr lvl="1">
              <a:buClrTx/>
            </a:pPr>
            <a:endParaRPr lang="en-US" sz="180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6"/>
          <a:stretch>
            <a:fillRect/>
          </a:stretch>
        </p:blipFill>
        <p:spPr>
          <a:xfrm>
            <a:off x="3596306" y="2155462"/>
            <a:ext cx="3427871" cy="19715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001" y="3143850"/>
            <a:ext cx="1890985" cy="14192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001" y="1825741"/>
            <a:ext cx="1890985" cy="14192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157889"/>
            <a:ext cx="9102836" cy="553998"/>
          </a:xfrm>
          <a:prstGeom prst="rect">
            <a:avLst/>
          </a:prstGeom>
          <a:ln w="9525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hangingPunct="0">
              <a:buClrTx/>
              <a:defRPr/>
            </a:pPr>
            <a:r>
              <a:rPr lang="en-US" sz="1000" err="1"/>
              <a:t>Keskar</a:t>
            </a:r>
            <a:r>
              <a:rPr lang="en-US" sz="1000"/>
              <a:t> et al., On Large-Batch Training for Deep Learning: Generalization Gap and Sharp Minima, ICLR’16.</a:t>
            </a:r>
            <a:endParaRPr lang="en-US" sz="1000"/>
          </a:p>
          <a:p>
            <a:pPr defTabSz="685800" hangingPunct="0"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Z. Yao, A. </a:t>
            </a:r>
            <a:r>
              <a:rPr lang="en-US" sz="1000" err="1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Gholami</a:t>
            </a:r>
            <a:r>
              <a:rPr lang="en-US" sz="100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, Q. Lei, K. </a:t>
            </a:r>
            <a:r>
              <a:rPr lang="en-US" sz="1000" err="1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Keutzer</a:t>
            </a:r>
            <a:r>
              <a:rPr lang="en-US" sz="100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, M. Mahoney. Hessian-based Analysis of Large Batch Training and Robustness to Adversaries, </a:t>
            </a:r>
            <a:r>
              <a:rPr lang="en-US" sz="1000"/>
              <a:t>NeurIPS’18.</a:t>
            </a:r>
            <a:endParaRPr lang="en-US" sz="1000"/>
          </a:p>
          <a:p>
            <a:pPr hangingPunct="0">
              <a:buClrTx/>
              <a:defRPr/>
            </a:pPr>
            <a:r>
              <a:rPr lang="en-US" sz="1000"/>
              <a:t>Ginsburg, Boris, Igor </a:t>
            </a:r>
            <a:r>
              <a:rPr lang="en-US" sz="1000" err="1"/>
              <a:t>Gitman</a:t>
            </a:r>
            <a:r>
              <a:rPr lang="en-US" sz="1000"/>
              <a:t>, and Yang You. "Large Batch Training of Convolutional Networks with LARS." arXiv:1708.03888, 2018.</a:t>
            </a:r>
            <a:endParaRPr lang="en-US" sz="1000"/>
          </a:p>
        </p:txBody>
      </p:sp>
      <p:sp>
        <p:nvSpPr>
          <p:cNvPr id="3" name="内容占位符 2"/>
          <p:cNvSpPr txBox="1"/>
          <p:nvPr/>
        </p:nvSpPr>
        <p:spPr>
          <a:xfrm>
            <a:off x="219349" y="4588858"/>
            <a:ext cx="8540741" cy="429125"/>
          </a:xfrm>
          <a:prstGeom prst="rect">
            <a:avLst/>
          </a:prstGeom>
          <a:solidFill>
            <a:srgbClr val="FAEADC"/>
          </a:solidFill>
          <a:ln w="381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/>
              <a:t>Key takeaway: </a:t>
            </a:r>
            <a:r>
              <a:rPr kumimoji="1" lang="en-US" altLang="zh-CN" sz="2400" b="0"/>
              <a:t>improving system should consider application properties </a:t>
            </a:r>
            <a:endParaRPr kumimoji="1" lang="en-US" altLang="zh-CN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Can we reduce the number of pipeline stages (p)?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4917232" cy="4356826"/>
          </a:xfrm>
        </p:spPr>
        <p:txBody>
          <a:bodyPr>
            <a:normAutofit/>
          </a:bodyPr>
          <a:lstStyle/>
          <a:p>
            <a:r>
              <a:rPr kumimoji="1" lang="en-US" altLang="zh-CN"/>
              <a:t>Typically, also challenging because AI models are really really large </a:t>
            </a:r>
            <a:endParaRPr kumimoji="1" lang="en-US" altLang="zh-CN"/>
          </a:p>
          <a:p>
            <a:r>
              <a:rPr kumimoji="1" lang="en-US" altLang="zh-CN"/>
              <a:t>Example: GPT-4 </a:t>
            </a:r>
            <a:endParaRPr kumimoji="1" lang="en-US" altLang="zh-CN"/>
          </a:p>
          <a:p>
            <a:pPr lvl="1"/>
            <a:r>
              <a:rPr kumimoji="1" lang="en-US" altLang="zh-CN"/>
              <a:t>Setup: 1.8 trillion parameters </a:t>
            </a:r>
            <a:endParaRPr kumimoji="1" lang="en-US" altLang="zh-CN"/>
          </a:p>
          <a:p>
            <a:pPr lvl="1"/>
            <a:r>
              <a:rPr kumimoji="1" lang="en-US" altLang="zh-CN"/>
              <a:t>120 layers </a:t>
            </a:r>
            <a:endParaRPr kumimoji="1" lang="en-US" altLang="zh-CN"/>
          </a:p>
          <a:p>
            <a:pPr lvl="1"/>
            <a:r>
              <a:rPr kumimoji="1" lang="en-US" altLang="zh-CN"/>
              <a:t>Assuming 4B for each parameter, we have 60 GB per-layer </a:t>
            </a:r>
            <a:endParaRPr kumimoji="1" lang="en-US" altLang="zh-CN"/>
          </a:p>
          <a:p>
            <a:r>
              <a:rPr kumimoji="1" lang="en-US" altLang="zh-CN"/>
              <a:t>What are the memory capacity of GPU? </a:t>
            </a:r>
            <a:endParaRPr kumimoji="1" lang="en-US" altLang="zh-CN"/>
          </a:p>
          <a:p>
            <a:pPr lvl="1"/>
            <a:r>
              <a:rPr kumimoji="1" lang="en-US" altLang="zh-CN"/>
              <a:t>80GB for H100, 140GB for H200 </a:t>
            </a:r>
            <a:endParaRPr kumimoji="1" lang="en-US" altLang="zh-CN"/>
          </a:p>
          <a:p>
            <a:pPr lvl="1"/>
            <a:r>
              <a:rPr kumimoji="1" lang="en-US" altLang="zh-CN"/>
              <a:t>Note that we also need to store activations &amp; input data ( &amp; optimization state) 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0072" y="1921396"/>
            <a:ext cx="3610744" cy="16055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Tensor parallelism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4240284" cy="4032448"/>
          </a:xfrm>
        </p:spPr>
        <p:txBody>
          <a:bodyPr/>
          <a:lstStyle/>
          <a:p>
            <a:r>
              <a:rPr kumimoji="1" lang="en-US" altLang="zh-CN" dirty="0"/>
              <a:t>Partition the parameters of a layer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Each partition is deployed on a separate GPU </a:t>
            </a:r>
            <a:endParaRPr kumimoji="1" lang="en-US" altLang="zh-CN" dirty="0"/>
          </a:p>
          <a:p>
            <a:r>
              <a:rPr kumimoji="1" lang="en-US" altLang="zh-CN" dirty="0"/>
              <a:t>Pros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Support pipeline parallelism with a large layer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Fit the hardware architecture of modern servers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909386" y="1876528"/>
            <a:ext cx="1368152" cy="616380"/>
            <a:chOff x="7884368" y="1584003"/>
            <a:chExt cx="1368152" cy="616380"/>
          </a:xfrm>
        </p:grpSpPr>
        <p:sp>
          <p:nvSpPr>
            <p:cNvPr id="7" name="矩形 6"/>
            <p:cNvSpPr/>
            <p:nvPr/>
          </p:nvSpPr>
          <p:spPr>
            <a:xfrm>
              <a:off x="7884368" y="1584003"/>
              <a:ext cx="1259632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981230" y="1714322"/>
              <a:ext cx="1271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Layer #1</a:t>
              </a:r>
              <a:endParaRPr lang="zh-CN" altLang="en-US"/>
            </a:p>
          </p:txBody>
        </p:sp>
      </p:grpSp>
      <p:cxnSp>
        <p:nvCxnSpPr>
          <p:cNvPr id="9" name="直线箭头连接符 8"/>
          <p:cNvCxnSpPr/>
          <p:nvPr/>
        </p:nvCxnSpPr>
        <p:spPr>
          <a:xfrm>
            <a:off x="6593462" y="2492908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/>
          <p:cNvCxnSpPr/>
          <p:nvPr/>
        </p:nvCxnSpPr>
        <p:spPr>
          <a:xfrm>
            <a:off x="5735342" y="1392107"/>
            <a:ext cx="387554" cy="523074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>
            <a:endCxn id="7" idx="0"/>
          </p:cNvCxnSpPr>
          <p:nvPr/>
        </p:nvCxnSpPr>
        <p:spPr>
          <a:xfrm>
            <a:off x="6531181" y="1430760"/>
            <a:ext cx="8021" cy="445768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7021425" y="745867"/>
            <a:ext cx="581384" cy="616380"/>
            <a:chOff x="7884368" y="1584003"/>
            <a:chExt cx="581384" cy="616380"/>
          </a:xfrm>
        </p:grpSpPr>
        <p:sp>
          <p:nvSpPr>
            <p:cNvPr id="13" name="矩形 12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949303" y="1704750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w1</a:t>
              </a:r>
              <a:endParaRPr lang="zh-CN" altLang="en-US"/>
            </a:p>
          </p:txBody>
        </p:sp>
      </p:grpSp>
      <p:cxnSp>
        <p:nvCxnSpPr>
          <p:cNvPr id="15" name="直线箭头连接符 14"/>
          <p:cNvCxnSpPr>
            <a:stCxn id="13" idx="2"/>
          </p:cNvCxnSpPr>
          <p:nvPr/>
        </p:nvCxnSpPr>
        <p:spPr>
          <a:xfrm flipH="1">
            <a:off x="6907320" y="1362247"/>
            <a:ext cx="404797" cy="480046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5544600" y="750096"/>
            <a:ext cx="576059" cy="616380"/>
            <a:chOff x="638921" y="2203432"/>
            <a:chExt cx="576059" cy="616380"/>
          </a:xfrm>
        </p:grpSpPr>
        <p:sp>
          <p:nvSpPr>
            <p:cNvPr id="17" name="矩形 16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X</a:t>
              </a:r>
              <a:endParaRPr lang="zh-CN" altLang="en-US" baseline="-2500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400719" y="752315"/>
            <a:ext cx="576059" cy="616380"/>
            <a:chOff x="638921" y="2203432"/>
            <a:chExt cx="576059" cy="616380"/>
          </a:xfrm>
        </p:grpSpPr>
        <p:sp>
          <p:nvSpPr>
            <p:cNvPr id="20" name="矩形 19"/>
            <p:cNvSpPr/>
            <p:nvPr/>
          </p:nvSpPr>
          <p:spPr>
            <a:xfrm>
              <a:off x="683568" y="2203432"/>
              <a:ext cx="292471" cy="616380"/>
            </a:xfrm>
            <a:prstGeom prst="rect">
              <a:avLst/>
            </a:prstGeom>
            <a:solidFill>
              <a:srgbClr val="CDCCFE"/>
            </a:solidFill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38921" y="2303622"/>
              <a:ext cx="5760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Y</a:t>
              </a:r>
              <a:endParaRPr lang="zh-CN" altLang="en-US" baseline="-25000"/>
            </a:p>
          </p:txBody>
        </p:sp>
      </p:grpSp>
      <p:sp>
        <p:nvSpPr>
          <p:cNvPr id="22" name="矩形 21"/>
          <p:cNvSpPr/>
          <p:nvPr/>
        </p:nvSpPr>
        <p:spPr>
          <a:xfrm>
            <a:off x="5907086" y="3009987"/>
            <a:ext cx="1259632" cy="616380"/>
          </a:xfrm>
          <a:prstGeom prst="rect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003948" y="3140306"/>
            <a:ext cx="1271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/>
              <a:t>Layer #2</a:t>
            </a:r>
            <a:endParaRPr lang="zh-CN" altLang="en-US"/>
          </a:p>
        </p:txBody>
      </p:sp>
      <p:cxnSp>
        <p:nvCxnSpPr>
          <p:cNvPr id="24" name="直线箭头连接符 23"/>
          <p:cNvCxnSpPr/>
          <p:nvPr/>
        </p:nvCxnSpPr>
        <p:spPr>
          <a:xfrm>
            <a:off x="6605083" y="3626367"/>
            <a:ext cx="0" cy="529752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7496277" y="2517100"/>
            <a:ext cx="581384" cy="616380"/>
            <a:chOff x="7884368" y="1584003"/>
            <a:chExt cx="581384" cy="616380"/>
          </a:xfrm>
        </p:grpSpPr>
        <p:sp>
          <p:nvSpPr>
            <p:cNvPr id="26" name="矩形 25"/>
            <p:cNvSpPr/>
            <p:nvPr/>
          </p:nvSpPr>
          <p:spPr>
            <a:xfrm>
              <a:off x="7884368" y="1584003"/>
              <a:ext cx="581384" cy="616380"/>
            </a:xfrm>
            <a:prstGeom prst="rect">
              <a:avLst/>
            </a:prstGeom>
            <a:ln w="28575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949303" y="1704750"/>
              <a:ext cx="484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/>
                <a:t>w2</a:t>
              </a:r>
              <a:endParaRPr lang="zh-CN" altLang="en-US"/>
            </a:p>
          </p:txBody>
        </p:sp>
      </p:grpSp>
      <p:cxnSp>
        <p:nvCxnSpPr>
          <p:cNvPr id="28" name="直线箭头连接符 27"/>
          <p:cNvCxnSpPr>
            <a:stCxn id="26" idx="1"/>
          </p:cNvCxnSpPr>
          <p:nvPr/>
        </p:nvCxnSpPr>
        <p:spPr>
          <a:xfrm flipH="1">
            <a:off x="7166718" y="2825290"/>
            <a:ext cx="329559" cy="32731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/>
          <p:cNvCxnSpPr/>
          <p:nvPr/>
        </p:nvCxnSpPr>
        <p:spPr>
          <a:xfrm flipH="1">
            <a:off x="7312117" y="2847639"/>
            <a:ext cx="912890" cy="986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右箭头 29"/>
          <p:cNvSpPr/>
          <p:nvPr/>
        </p:nvSpPr>
        <p:spPr>
          <a:xfrm rot="19326461">
            <a:off x="7729251" y="443820"/>
            <a:ext cx="385368" cy="491750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8980" y="116910"/>
            <a:ext cx="616380" cy="61638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2" name="右箭头 31"/>
          <p:cNvSpPr/>
          <p:nvPr/>
        </p:nvSpPr>
        <p:spPr>
          <a:xfrm>
            <a:off x="7747997" y="1158464"/>
            <a:ext cx="385368" cy="491750"/>
          </a:xfrm>
          <a:prstGeom prst="rightArrow">
            <a:avLst/>
          </a:prstGeom>
          <a:noFill/>
          <a:ln w="12700">
            <a:solidFill>
              <a:schemeClr val="tx1">
                <a:alpha val="99000"/>
              </a:scheme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5007" y="1189401"/>
            <a:ext cx="616380" cy="616380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34" name="直线连接符 33"/>
          <p:cNvCxnSpPr/>
          <p:nvPr/>
        </p:nvCxnSpPr>
        <p:spPr>
          <a:xfrm flipH="1" flipV="1">
            <a:off x="6809921" y="1004694"/>
            <a:ext cx="977048" cy="1085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383" y="4354489"/>
            <a:ext cx="4469870" cy="84651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Parallelism: Forward Pass</a:t>
            </a:r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611702" y="1513160"/>
            <a:ext cx="1532455" cy="822960"/>
          </a:xfrm>
          <a:prstGeom prst="rect">
            <a:avLst/>
          </a:prstGeom>
          <a:solidFill>
            <a:srgbClr val="4472C4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prstClr val="white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prstClr val="white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1611702" y="2336120"/>
            <a:ext cx="1532455" cy="82296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3884555" y="1513159"/>
            <a:ext cx="810062" cy="1645919"/>
          </a:xfrm>
          <a:prstGeom prst="rect">
            <a:avLst/>
          </a:prstGeom>
          <a:solidFill>
            <a:srgbClr val="FFC000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3272892" y="21860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b="1">
                <a:solidFill>
                  <a:prstClr val="black"/>
                </a:solidFill>
                <a:latin typeface="Calibri" panose="020F0502020204030204"/>
              </a:rPr>
              <a:t>*</a:t>
            </a:r>
            <a:endParaRPr lang="en-US" b="1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38" name="Straight Connector 137"/>
          <p:cNvCxnSpPr/>
          <p:nvPr/>
        </p:nvCxnSpPr>
        <p:spPr>
          <a:xfrm>
            <a:off x="1512405" y="1513160"/>
            <a:ext cx="1009" cy="846043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39" name="TextBox 138"/>
          <p:cNvSpPr txBox="1"/>
          <p:nvPr/>
        </p:nvSpPr>
        <p:spPr>
          <a:xfrm>
            <a:off x="1119713" y="1808020"/>
            <a:ext cx="4603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/P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40" name="Straight Connector 139"/>
          <p:cNvCxnSpPr/>
          <p:nvPr/>
        </p:nvCxnSpPr>
        <p:spPr>
          <a:xfrm flipV="1">
            <a:off x="1635926" y="1417641"/>
            <a:ext cx="1440884" cy="1226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41" name="TextBox 140"/>
          <p:cNvSpPr txBox="1"/>
          <p:nvPr/>
        </p:nvSpPr>
        <p:spPr>
          <a:xfrm>
            <a:off x="2208518" y="1081306"/>
            <a:ext cx="3032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42" name="Straight Connector 141"/>
          <p:cNvCxnSpPr/>
          <p:nvPr/>
        </p:nvCxnSpPr>
        <p:spPr>
          <a:xfrm>
            <a:off x="3884555" y="1428049"/>
            <a:ext cx="810062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43" name="TextBox 142"/>
          <p:cNvSpPr txBox="1"/>
          <p:nvPr/>
        </p:nvSpPr>
        <p:spPr>
          <a:xfrm>
            <a:off x="4173448" y="1164321"/>
            <a:ext cx="279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B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099955" y="3244188"/>
            <a:ext cx="4734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W</a:t>
            </a:r>
            <a:endParaRPr lang="en-US" sz="2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046426" y="3251561"/>
            <a:ext cx="4734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X</a:t>
            </a:r>
            <a:endParaRPr lang="en-US" sz="21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47" name="Straight Connector 146"/>
          <p:cNvCxnSpPr/>
          <p:nvPr/>
        </p:nvCxnSpPr>
        <p:spPr>
          <a:xfrm>
            <a:off x="3768728" y="1534513"/>
            <a:ext cx="0" cy="1641968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48" name="TextBox 147"/>
          <p:cNvSpPr txBox="1"/>
          <p:nvPr/>
        </p:nvSpPr>
        <p:spPr>
          <a:xfrm>
            <a:off x="3486636" y="2186077"/>
            <a:ext cx="3032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49" name="Straight Arrow Connector 148"/>
          <p:cNvCxnSpPr/>
          <p:nvPr/>
        </p:nvCxnSpPr>
        <p:spPr>
          <a:xfrm flipH="1">
            <a:off x="4918294" y="2336120"/>
            <a:ext cx="450587" cy="0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headEnd type="triangle" w="lg" len="lg"/>
            <a:tailEnd type="none"/>
          </a:ln>
          <a:effectLst/>
        </p:spPr>
      </p:cxnSp>
      <p:sp>
        <p:nvSpPr>
          <p:cNvPr id="150" name="Rectangle 149"/>
          <p:cNvSpPr/>
          <p:nvPr/>
        </p:nvSpPr>
        <p:spPr>
          <a:xfrm>
            <a:off x="5527572" y="1500390"/>
            <a:ext cx="808247" cy="822960"/>
          </a:xfrm>
          <a:prstGeom prst="rect">
            <a:avLst/>
          </a:prstGeom>
          <a:solidFill>
            <a:srgbClr val="FFC000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5523737" y="2323350"/>
            <a:ext cx="809054" cy="82296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2" name="Straight Connector 151"/>
          <p:cNvCxnSpPr/>
          <p:nvPr/>
        </p:nvCxnSpPr>
        <p:spPr>
          <a:xfrm>
            <a:off x="6436532" y="1540110"/>
            <a:ext cx="0" cy="753082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53" name="TextBox 152"/>
          <p:cNvSpPr txBox="1"/>
          <p:nvPr/>
        </p:nvSpPr>
        <p:spPr>
          <a:xfrm>
            <a:off x="6536236" y="1752808"/>
            <a:ext cx="4603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/P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5828294" y="1101256"/>
            <a:ext cx="279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B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5" name="Straight Connector 154"/>
          <p:cNvCxnSpPr/>
          <p:nvPr/>
        </p:nvCxnSpPr>
        <p:spPr>
          <a:xfrm>
            <a:off x="5523737" y="1402379"/>
            <a:ext cx="809054" cy="15261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56" name="TextBox 155"/>
          <p:cNvSpPr txBox="1"/>
          <p:nvPr/>
        </p:nvSpPr>
        <p:spPr>
          <a:xfrm>
            <a:off x="5561329" y="3221217"/>
            <a:ext cx="68263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sz="2100" baseline="30000">
                <a:solidFill>
                  <a:prstClr val="black"/>
                </a:solidFill>
                <a:latin typeface="Calibri" panose="020F0502020204030204"/>
              </a:rPr>
              <a:t>local</a:t>
            </a:r>
            <a:endParaRPr lang="en-US" sz="2100" baseline="30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58" name="Group 157"/>
          <p:cNvGrpSpPr/>
          <p:nvPr/>
        </p:nvGrpSpPr>
        <p:grpSpPr>
          <a:xfrm>
            <a:off x="6646829" y="1490187"/>
            <a:ext cx="1309547" cy="2146528"/>
            <a:chOff x="8385163" y="2016444"/>
            <a:chExt cx="1746062" cy="2862036"/>
          </a:xfrm>
        </p:grpSpPr>
        <p:sp>
          <p:nvSpPr>
            <p:cNvPr id="136" name="Rectangle 135"/>
            <p:cNvSpPr/>
            <p:nvPr/>
          </p:nvSpPr>
          <p:spPr>
            <a:xfrm>
              <a:off x="9086816" y="2016444"/>
              <a:ext cx="1044409" cy="2194560"/>
            </a:xfrm>
            <a:prstGeom prst="rect">
              <a:avLst/>
            </a:prstGeom>
            <a:solidFill>
              <a:srgbClr val="FFC000">
                <a:alpha val="45000"/>
              </a:srgb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ysClr val="windowText" lastClr="000000"/>
                  </a:solidFill>
                  <a:latin typeface="Calibri" panose="020F0502020204030204"/>
                </a:rPr>
                <a:t>P</a:t>
              </a:r>
              <a:r>
                <a:rPr lang="en-US" sz="1350" baseline="-25000">
                  <a:solidFill>
                    <a:sysClr val="windowText" lastClr="000000"/>
                  </a:solidFill>
                  <a:latin typeface="Calibri" panose="020F0502020204030204"/>
                </a:rPr>
                <a:t>0</a:t>
              </a:r>
              <a:endParaRPr lang="en-US" sz="1350" baseline="-25000">
                <a:solidFill>
                  <a:sysClr val="windowText" lastClr="000000"/>
                </a:solidFill>
                <a:latin typeface="Calibri" panose="020F0502020204030204"/>
              </a:endParaRPr>
            </a:p>
            <a:p>
              <a:pPr algn="ctr" defTabSz="685800">
                <a:defRPr/>
              </a:pPr>
              <a:r>
                <a:rPr lang="en-US" sz="1350">
                  <a:solidFill>
                    <a:sysClr val="windowText" lastClr="000000"/>
                  </a:solidFill>
                  <a:latin typeface="Calibri" panose="020F0502020204030204"/>
                </a:rPr>
                <a:t>P</a:t>
              </a:r>
              <a:r>
                <a:rPr lang="en-US" sz="1350" baseline="-25000">
                  <a:solidFill>
                    <a:sysClr val="windowText" lastClr="000000"/>
                  </a:solidFill>
                  <a:latin typeface="Calibri" panose="020F0502020204030204"/>
                </a:rPr>
                <a:t>1</a:t>
              </a:r>
              <a:endParaRPr lang="en-US" sz="1350" baseline="-2500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9293391" y="4324483"/>
              <a:ext cx="631260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en-US" sz="2100">
                  <a:solidFill>
                    <a:prstClr val="black"/>
                  </a:solidFill>
                  <a:latin typeface="Calibri" panose="020F0502020204030204"/>
                </a:rPr>
                <a:t>Y</a:t>
              </a:r>
              <a:endParaRPr lang="en-US" sz="2100" baseline="30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157" name="Straight Arrow Connector 156"/>
            <p:cNvCxnSpPr/>
            <p:nvPr/>
          </p:nvCxnSpPr>
          <p:spPr>
            <a:xfrm flipH="1">
              <a:off x="8385163" y="3151256"/>
              <a:ext cx="600782" cy="0"/>
            </a:xfrm>
            <a:prstGeom prst="straightConnector1">
              <a:avLst/>
            </a:prstGeom>
            <a:noFill/>
            <a:ln w="31750" cap="flat" cmpd="sng" algn="ctr">
              <a:solidFill>
                <a:sysClr val="windowText" lastClr="000000"/>
              </a:solidFill>
              <a:prstDash val="solid"/>
              <a:miter lim="800000"/>
              <a:headEnd type="triangle" w="lg" len="lg"/>
              <a:tailEnd type="none"/>
            </a:ln>
            <a:effectLst/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60"/>
              <p:cNvSpPr txBox="1"/>
              <p:nvPr/>
            </p:nvSpPr>
            <p:spPr>
              <a:xfrm>
                <a:off x="56687" y="4047649"/>
                <a:ext cx="9082268" cy="1047787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dirty="0"/>
                  <a:t>Requires an all gather communication so that all processes get each others activation data</a:t>
                </a:r>
                <a:endParaRPr lang="en-US" dirty="0"/>
              </a:p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dirty="0"/>
                  <a:t>Suppose with a simple forward, each node needs to send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×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dirty="0"/>
                  <a:t> ~=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61" name="TextBox 1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7" y="4047649"/>
                <a:ext cx="9082268" cy="1047787"/>
              </a:xfrm>
              <a:prstGeom prst="rect">
                <a:avLst/>
              </a:prstGeom>
              <a:blipFill rotWithShape="1">
                <a:blip r:embed="rId1"/>
                <a:stretch>
                  <a:fillRect l="-2" t="-15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82" y="1448306"/>
            <a:ext cx="576064" cy="57606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82" y="2690798"/>
            <a:ext cx="576064" cy="5760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Parallelism: Backward Pass (∇W)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3021260" y="1592179"/>
            <a:ext cx="1501902" cy="774950"/>
          </a:xfrm>
          <a:prstGeom prst="rect">
            <a:avLst/>
          </a:prstGeom>
          <a:solidFill>
            <a:srgbClr val="FFC000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500" kern="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500" kern="0" baseline="-25000">
                <a:solidFill>
                  <a:sysClr val="windowText" lastClr="000000"/>
                </a:solidFill>
                <a:latin typeface="Calibri" panose="020F0502020204030204"/>
              </a:rPr>
              <a:t>0,</a:t>
            </a:r>
            <a:r>
              <a:rPr lang="en-US" sz="1500" kern="0">
                <a:solidFill>
                  <a:sysClr val="windowText" lastClr="000000"/>
                </a:solidFill>
                <a:latin typeface="Calibri" panose="020F0502020204030204"/>
              </a:rPr>
              <a:t> P</a:t>
            </a:r>
            <a:r>
              <a:rPr lang="en-US" sz="1500" kern="0" baseline="-25000">
                <a:solidFill>
                  <a:sysClr val="windowText" lastClr="000000"/>
                </a:solidFill>
                <a:latin typeface="Calibri" panose="020F0502020204030204"/>
              </a:rPr>
              <a:t>1</a:t>
            </a:r>
            <a:endParaRPr lang="en-US" sz="1500" kern="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669056" y="2069846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b="1" kern="0">
                <a:solidFill>
                  <a:sysClr val="windowText" lastClr="000000"/>
                </a:solidFill>
              </a:rPr>
              <a:t>*</a:t>
            </a:r>
            <a:endParaRPr lang="en-US" b="1" kern="0">
              <a:solidFill>
                <a:sysClr val="windowText" lastClr="00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32490" y="2580063"/>
            <a:ext cx="47122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2100" kern="0">
                <a:solidFill>
                  <a:sysClr val="windowText" lastClr="000000"/>
                </a:solidFill>
              </a:rPr>
              <a:t>X</a:t>
            </a:r>
            <a:r>
              <a:rPr lang="en-US" sz="2100" kern="0" baseline="30000">
                <a:solidFill>
                  <a:sysClr val="windowText" lastClr="000000"/>
                </a:solidFill>
              </a:rPr>
              <a:t>T</a:t>
            </a:r>
            <a:endParaRPr lang="en-US" sz="2100" kern="0" baseline="30000">
              <a:solidFill>
                <a:sysClr val="windowText" lastClr="00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46419" y="3425136"/>
            <a:ext cx="47122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2100" kern="0">
                <a:solidFill>
                  <a:sysClr val="windowText" lastClr="000000"/>
                </a:solidFill>
              </a:rPr>
              <a:t>∇</a:t>
            </a:r>
            <a:r>
              <a:rPr lang="en-US" sz="2100" kern="0" baseline="-25000">
                <a:solidFill>
                  <a:sysClr val="windowText" lastClr="000000"/>
                </a:solidFill>
              </a:rPr>
              <a:t>Y</a:t>
            </a:r>
            <a:endParaRPr lang="en-US" sz="2100" kern="0" baseline="-25000">
              <a:solidFill>
                <a:sysClr val="windowText" lastClr="000000"/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4715304" y="2439178"/>
            <a:ext cx="548637" cy="0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headEnd type="triangle" w="lg" len="lg"/>
            <a:tailEnd type="none"/>
          </a:ln>
          <a:effectLst/>
        </p:spPr>
      </p:cxnSp>
      <p:sp>
        <p:nvSpPr>
          <p:cNvPr id="50" name="Rectangle 49"/>
          <p:cNvSpPr/>
          <p:nvPr/>
        </p:nvSpPr>
        <p:spPr>
          <a:xfrm>
            <a:off x="5646025" y="1593135"/>
            <a:ext cx="1532455" cy="822960"/>
          </a:xfrm>
          <a:prstGeom prst="rect">
            <a:avLst/>
          </a:prstGeom>
          <a:solidFill>
            <a:srgbClr val="4472C4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>
                <a:solidFill>
                  <a:prstClr val="white"/>
                </a:solidFill>
                <a:latin typeface="Calibri" panose="020F0502020204030204"/>
              </a:rPr>
              <a:t>P</a:t>
            </a:r>
            <a:r>
              <a:rPr lang="en-US" sz="1350" kern="0" baseline="-25000">
                <a:solidFill>
                  <a:prstClr val="white"/>
                </a:solidFill>
                <a:latin typeface="Calibri" panose="020F0502020204030204"/>
              </a:rPr>
              <a:t>0</a:t>
            </a:r>
            <a:endParaRPr lang="en-US" sz="1350" kern="0" baseline="-250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646025" y="2416095"/>
            <a:ext cx="1532455" cy="82296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sz="1350" kern="0" baseline="-25000">
                <a:solidFill>
                  <a:prstClr val="black"/>
                </a:solidFill>
                <a:latin typeface="Calibri" panose="020F0502020204030204"/>
              </a:rPr>
              <a:t>1</a:t>
            </a:r>
            <a:endParaRPr lang="en-US" sz="1350" kern="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>
            <a:off x="5546728" y="1593135"/>
            <a:ext cx="1009" cy="846043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5154037" y="1887996"/>
            <a:ext cx="47000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kern="0">
                <a:solidFill>
                  <a:sysClr val="windowText" lastClr="000000"/>
                </a:solidFill>
              </a:rPr>
              <a:t>d</a:t>
            </a:r>
            <a:r>
              <a:rPr lang="en-US" sz="1350" kern="0" baseline="-25000">
                <a:solidFill>
                  <a:sysClr val="windowText" lastClr="000000"/>
                </a:solidFill>
              </a:rPr>
              <a:t>i</a:t>
            </a:r>
            <a:r>
              <a:rPr lang="en-US" sz="1350" kern="0">
                <a:solidFill>
                  <a:sysClr val="windowText" lastClr="000000"/>
                </a:solidFill>
              </a:rPr>
              <a:t>/P</a:t>
            </a:r>
            <a:endParaRPr lang="en-US" sz="1350" kern="0" baseline="-25000">
              <a:solidFill>
                <a:sysClr val="windowText" lastClr="00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116876" y="3425136"/>
            <a:ext cx="6156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2100" kern="0" dirty="0">
                <a:solidFill>
                  <a:sysClr val="windowText" lastClr="000000"/>
                </a:solidFill>
              </a:rPr>
              <a:t>∇</a:t>
            </a:r>
            <a:r>
              <a:rPr lang="en-US" sz="2100" kern="0" baseline="-25000" dirty="0">
                <a:solidFill>
                  <a:sysClr val="windowText" lastClr="000000"/>
                </a:solidFill>
              </a:rPr>
              <a:t>W</a:t>
            </a:r>
            <a:endParaRPr lang="en-US" sz="2100" kern="0" baseline="-25000" dirty="0">
              <a:solidFill>
                <a:sysClr val="windowText" lastClr="00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0754" y="4161949"/>
            <a:ext cx="6322322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/>
              <a:t>No communication needed as every processor only needs the gradient of its own parameters</a:t>
            </a:r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840" y="1586030"/>
            <a:ext cx="576064" cy="57606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840" y="2828522"/>
            <a:ext cx="576064" cy="576064"/>
          </a:xfrm>
          <a:prstGeom prst="rect">
            <a:avLst/>
          </a:prstGeom>
        </p:spPr>
      </p:pic>
      <p:sp>
        <p:nvSpPr>
          <p:cNvPr id="6" name="Rectangle 149"/>
          <p:cNvSpPr/>
          <p:nvPr/>
        </p:nvSpPr>
        <p:spPr>
          <a:xfrm>
            <a:off x="1583656" y="1617638"/>
            <a:ext cx="808247" cy="822960"/>
          </a:xfrm>
          <a:prstGeom prst="rect">
            <a:avLst/>
          </a:prstGeom>
          <a:solidFill>
            <a:srgbClr val="FFC000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7" name="Rectangle 150"/>
          <p:cNvSpPr/>
          <p:nvPr/>
        </p:nvSpPr>
        <p:spPr>
          <a:xfrm>
            <a:off x="1579821" y="2440598"/>
            <a:ext cx="809054" cy="82296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Pass (∇X)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954824" y="1618907"/>
            <a:ext cx="729825" cy="1645919"/>
          </a:xfrm>
          <a:prstGeom prst="rect">
            <a:avLst/>
          </a:prstGeom>
          <a:solidFill>
            <a:srgbClr val="4472C4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prstClr val="white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prstClr val="white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684649" y="1618907"/>
            <a:ext cx="802629" cy="164592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227676" y="1618907"/>
            <a:ext cx="810062" cy="1645919"/>
          </a:xfrm>
          <a:prstGeom prst="rect">
            <a:avLst/>
          </a:prstGeom>
          <a:solidFill>
            <a:srgbClr val="FFC000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616013" y="2291825"/>
            <a:ext cx="25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n-US" b="1">
                <a:solidFill>
                  <a:prstClr val="black"/>
                </a:solidFill>
                <a:latin typeface="Calibri" panose="020F0502020204030204"/>
              </a:rPr>
              <a:t>*</a:t>
            </a:r>
            <a:endParaRPr lang="en-US" b="1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855526" y="1618908"/>
            <a:ext cx="1009" cy="846043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62835" y="1913768"/>
            <a:ext cx="4126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/P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7" name="Straight Connector 56"/>
          <p:cNvCxnSpPr/>
          <p:nvPr/>
        </p:nvCxnSpPr>
        <p:spPr>
          <a:xfrm flipV="1">
            <a:off x="979047" y="1523389"/>
            <a:ext cx="1440884" cy="1226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1551639" y="1187054"/>
            <a:ext cx="25632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>
            <a:off x="3227676" y="1533797"/>
            <a:ext cx="810062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3516569" y="1270069"/>
            <a:ext cx="2322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B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43077" y="3349936"/>
            <a:ext cx="4734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defRPr/>
            </a:pP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sz="2100" baseline="30000">
                <a:solidFill>
                  <a:prstClr val="black"/>
                </a:solidFill>
                <a:latin typeface="Calibri" panose="020F0502020204030204"/>
              </a:rPr>
              <a:t>T</a:t>
            </a:r>
            <a:endParaRPr lang="en-US" sz="2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389547" y="3357309"/>
            <a:ext cx="4734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defRPr/>
            </a:pP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∇</a:t>
            </a:r>
            <a:r>
              <a:rPr lang="en-US" sz="2100" baseline="-25000">
                <a:solidFill>
                  <a:prstClr val="black"/>
                </a:solidFill>
                <a:latin typeface="Calibri" panose="020F0502020204030204"/>
              </a:rPr>
              <a:t>Y</a:t>
            </a:r>
            <a:endParaRPr lang="en-US" sz="210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3111849" y="1640261"/>
            <a:ext cx="0" cy="1641968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2829758" y="2291825"/>
            <a:ext cx="25632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350" baseline="-25000">
                <a:solidFill>
                  <a:prstClr val="black"/>
                </a:solidFill>
                <a:latin typeface="Calibri" panose="020F0502020204030204"/>
              </a:rPr>
              <a:t>i</a:t>
            </a:r>
            <a:endParaRPr lang="en-US" sz="1350" baseline="-250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66" name="Straight Arrow Connector 65"/>
          <p:cNvCxnSpPr/>
          <p:nvPr/>
        </p:nvCxnSpPr>
        <p:spPr>
          <a:xfrm flipH="1">
            <a:off x="4261415" y="1640261"/>
            <a:ext cx="419022" cy="80160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headEnd type="triangle" w="lg" len="lg"/>
            <a:tailEnd type="none"/>
          </a:ln>
          <a:effectLst/>
        </p:spPr>
      </p:cxnSp>
      <p:sp>
        <p:nvSpPr>
          <p:cNvPr id="68" name="Rectangle 67"/>
          <p:cNvSpPr/>
          <p:nvPr/>
        </p:nvSpPr>
        <p:spPr>
          <a:xfrm>
            <a:off x="4885311" y="299441"/>
            <a:ext cx="783307" cy="1645920"/>
          </a:xfrm>
          <a:prstGeom prst="rect">
            <a:avLst/>
          </a:prstGeom>
          <a:solidFill>
            <a:srgbClr val="FFC000">
              <a:alpha val="4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0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885311" y="2370028"/>
            <a:ext cx="783307" cy="164592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  <a:p>
            <a:pPr algn="ctr" defTabSz="685800">
              <a:defRPr/>
            </a:pPr>
            <a:r>
              <a:rPr lang="en-US" sz="1350">
                <a:solidFill>
                  <a:sysClr val="windowText" lastClr="000000"/>
                </a:solidFill>
                <a:latin typeface="Calibri" panose="020F0502020204030204"/>
              </a:rPr>
              <a:t>P</a:t>
            </a:r>
            <a:r>
              <a:rPr lang="en-US" sz="1350" baseline="-25000">
                <a:solidFill>
                  <a:sysClr val="windowText" lastClr="000000"/>
                </a:solidFill>
                <a:latin typeface="Calibri" panose="020F0502020204030204"/>
              </a:rPr>
              <a:t>1</a:t>
            </a:r>
            <a:endParaRPr lang="en-US" sz="1350" baseline="-250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cxnSp>
        <p:nvCxnSpPr>
          <p:cNvPr id="70" name="Straight Arrow Connector 69"/>
          <p:cNvCxnSpPr/>
          <p:nvPr/>
        </p:nvCxnSpPr>
        <p:spPr>
          <a:xfrm flipH="1" flipV="1">
            <a:off x="4261415" y="2430325"/>
            <a:ext cx="444267" cy="666817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headEnd type="triangle" w="lg" len="lg"/>
            <a:tailEnd type="none"/>
          </a:ln>
          <a:effectLst/>
        </p:spPr>
      </p:cxnSp>
      <p:sp>
        <p:nvSpPr>
          <p:cNvPr id="71" name="TextBox 70"/>
          <p:cNvSpPr txBox="1"/>
          <p:nvPr/>
        </p:nvSpPr>
        <p:spPr>
          <a:xfrm>
            <a:off x="4898022" y="4135736"/>
            <a:ext cx="8801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defRPr/>
            </a:pP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∇</a:t>
            </a:r>
            <a:r>
              <a:rPr lang="en-US" sz="2100" baseline="-2500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sz="210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100" baseline="30000">
                <a:solidFill>
                  <a:prstClr val="black"/>
                </a:solidFill>
                <a:latin typeface="Calibri" panose="020F0502020204030204"/>
              </a:rPr>
              <a:t>local</a:t>
            </a:r>
            <a:endParaRPr lang="en-US" sz="2100" baseline="30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088240" y="1547068"/>
            <a:ext cx="1951203" cy="2146528"/>
            <a:chOff x="7781924" y="1854306"/>
            <a:chExt cx="2601604" cy="2862036"/>
          </a:xfrm>
        </p:grpSpPr>
        <p:sp>
          <p:nvSpPr>
            <p:cNvPr id="41" name="Rectangle 40"/>
            <p:cNvSpPr/>
            <p:nvPr/>
          </p:nvSpPr>
          <p:spPr>
            <a:xfrm>
              <a:off x="9339119" y="1854306"/>
              <a:ext cx="1044409" cy="2194560"/>
            </a:xfrm>
            <a:prstGeom prst="rect">
              <a:avLst/>
            </a:prstGeom>
            <a:solidFill>
              <a:srgbClr val="FFC000">
                <a:alpha val="45000"/>
              </a:srgb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ysClr val="windowText" lastClr="000000"/>
                  </a:solidFill>
                  <a:latin typeface="Calibri" panose="020F0502020204030204"/>
                </a:rPr>
                <a:t>P</a:t>
              </a:r>
              <a:r>
                <a:rPr lang="en-US" sz="1350" baseline="-25000">
                  <a:solidFill>
                    <a:sysClr val="windowText" lastClr="000000"/>
                  </a:solidFill>
                  <a:latin typeface="Calibri" panose="020F0502020204030204"/>
                </a:rPr>
                <a:t>0</a:t>
              </a:r>
              <a:endParaRPr lang="en-US" sz="1350" baseline="-25000">
                <a:solidFill>
                  <a:sysClr val="windowText" lastClr="000000"/>
                </a:solidFill>
                <a:latin typeface="Calibri" panose="020F0502020204030204"/>
              </a:endParaRPr>
            </a:p>
            <a:p>
              <a:pPr algn="ctr" defTabSz="685800">
                <a:defRPr/>
              </a:pPr>
              <a:r>
                <a:rPr lang="en-US" sz="1350">
                  <a:solidFill>
                    <a:sysClr val="windowText" lastClr="000000"/>
                  </a:solidFill>
                  <a:latin typeface="Calibri" panose="020F0502020204030204"/>
                </a:rPr>
                <a:t>P</a:t>
              </a:r>
              <a:r>
                <a:rPr lang="en-US" sz="1350" baseline="-25000">
                  <a:solidFill>
                    <a:sysClr val="windowText" lastClr="000000"/>
                  </a:solidFill>
                  <a:latin typeface="Calibri" panose="020F0502020204030204"/>
                </a:rPr>
                <a:t>1</a:t>
              </a:r>
              <a:endParaRPr lang="en-US" sz="1350" baseline="-25000">
                <a:solidFill>
                  <a:sysClr val="windowText" lastClr="000000"/>
                </a:solidFill>
                <a:latin typeface="Calibri" panose="020F0502020204030204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545693" y="4162345"/>
              <a:ext cx="631260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defRPr/>
              </a:pP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</a:rPr>
                <a:t>∇</a:t>
              </a:r>
              <a:r>
                <a:rPr lang="en-US" sz="2100" baseline="-25000" dirty="0">
                  <a:solidFill>
                    <a:prstClr val="black"/>
                  </a:solidFill>
                  <a:latin typeface="Calibri" panose="020F0502020204030204"/>
                </a:rPr>
                <a:t>X</a:t>
              </a:r>
              <a:endParaRPr lang="en-US" sz="2100" baseline="-25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67" name="Straight Arrow Connector 66"/>
            <p:cNvCxnSpPr/>
            <p:nvPr/>
          </p:nvCxnSpPr>
          <p:spPr>
            <a:xfrm flipH="1">
              <a:off x="8637466" y="2989118"/>
              <a:ext cx="600782" cy="0"/>
            </a:xfrm>
            <a:prstGeom prst="straightConnector1">
              <a:avLst/>
            </a:prstGeom>
            <a:noFill/>
            <a:ln w="31750" cap="flat" cmpd="sng" algn="ctr">
              <a:solidFill>
                <a:sysClr val="windowText" lastClr="000000"/>
              </a:solidFill>
              <a:prstDash val="solid"/>
              <a:miter lim="800000"/>
              <a:headEnd type="triangle" w="lg" len="lg"/>
              <a:tailEnd type="none"/>
            </a:ln>
            <a:effectLst/>
          </p:spPr>
        </p:cxnSp>
        <p:sp>
          <p:nvSpPr>
            <p:cNvPr id="72" name="Plus 71"/>
            <p:cNvSpPr/>
            <p:nvPr/>
          </p:nvSpPr>
          <p:spPr>
            <a:xfrm>
              <a:off x="7781924" y="2712572"/>
              <a:ext cx="526943" cy="515300"/>
            </a:xfrm>
            <a:prstGeom prst="mathPlu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>
                  <a:shade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en-US" sz="1350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/>
              <p:cNvSpPr txBox="1"/>
              <p:nvPr/>
            </p:nvSpPr>
            <p:spPr>
              <a:xfrm>
                <a:off x="5717" y="4540226"/>
                <a:ext cx="8033726" cy="785536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dirty="0"/>
                  <a:t>Aggregating input gradient requires an </a:t>
                </a:r>
                <a:r>
                  <a:rPr lang="en-US" dirty="0" err="1">
                    <a:solidFill>
                      <a:srgbClr val="FF0000"/>
                    </a:solidFill>
                  </a:rPr>
                  <a:t>allreduce</a:t>
                </a:r>
                <a:r>
                  <a:rPr lang="en-US" dirty="0"/>
                  <a:t> operation</a:t>
                </a:r>
                <a:endParaRPr lang="en-US" dirty="0"/>
              </a:p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dirty="0"/>
                  <a:t>Cost (using ring):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(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en-US" dirty="0"/>
                  <a:t> 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" y="4540226"/>
                <a:ext cx="8033726" cy="785536"/>
              </a:xfrm>
              <a:prstGeom prst="rect">
                <a:avLst/>
              </a:prstGeom>
              <a:blipFill rotWithShape="1">
                <a:blip r:embed="rId1"/>
                <a:stretch>
                  <a:fillRect t="-78" r="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840" y="228866"/>
            <a:ext cx="9093696" cy="900442"/>
          </a:xfrm>
        </p:spPr>
        <p:txBody>
          <a:bodyPr/>
          <a:lstStyle/>
          <a:p>
            <a:r>
              <a:rPr kumimoji="1" lang="en-US" altLang="zh-CN" dirty="0"/>
              <a:t>Tensor parallelism: communication analysis (per-node)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35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733656" cy="4356826"/>
          </a:xfrm>
        </p:spPr>
        <p:txBody>
          <a:bodyPr/>
          <a:lstStyle/>
          <a:p>
            <a:r>
              <a:rPr kumimoji="1" lang="en-US" altLang="zh-CN" dirty="0"/>
              <a:t>Suppose we have </a:t>
            </a:r>
            <a:r>
              <a:rPr kumimoji="1" lang="en-US" altLang="zh-CN" b="0" dirty="0">
                <a:latin typeface="Century Gothic" panose="020B0502020202020204" pitchFamily="34" charset="0"/>
              </a:rPr>
              <a:t>N </a:t>
            </a:r>
            <a:r>
              <a:rPr kumimoji="1" lang="en-US" altLang="zh-CN" b="0" dirty="0" err="1">
                <a:latin typeface="Century Gothic" panose="020B0502020202020204" pitchFamily="34" charset="0"/>
              </a:rPr>
              <a:t>Ws</a:t>
            </a:r>
            <a:r>
              <a:rPr kumimoji="1" lang="en-US" altLang="zh-CN" dirty="0"/>
              <a:t>, each with </a:t>
            </a:r>
            <a:r>
              <a:rPr kumimoji="1" lang="en-US" altLang="zh-CN" b="0" dirty="0">
                <a:latin typeface="Century Gothic" panose="020B0502020202020204" pitchFamily="34" charset="0"/>
              </a:rPr>
              <a:t>Di X Di</a:t>
            </a:r>
            <a:r>
              <a:rPr kumimoji="1" lang="en-US" altLang="zh-CN" i="1" dirty="0">
                <a:latin typeface="Cambria Math" panose="02040503050406030204" pitchFamily="18" charset="0"/>
              </a:rPr>
              <a:t>, </a:t>
            </a:r>
            <a:r>
              <a:rPr kumimoji="1" lang="en-US" altLang="zh-CN" dirty="0"/>
              <a:t>and X is </a:t>
            </a:r>
            <a:r>
              <a:rPr kumimoji="1" lang="en-US" altLang="zh-CN" b="0" dirty="0">
                <a:latin typeface="Century Gothic" panose="020B0502020202020204" pitchFamily="34" charset="0"/>
              </a:rPr>
              <a:t>Di X B</a:t>
            </a:r>
            <a:r>
              <a:rPr kumimoji="1" lang="en-US" altLang="zh-CN" dirty="0"/>
              <a:t>, we will partition </a:t>
            </a:r>
            <a:r>
              <a:rPr kumimoji="1" lang="en-US" altLang="zh-CN" b="0" dirty="0" err="1">
                <a:latin typeface="Century Gothic" panose="020B0502020202020204" pitchFamily="34" charset="0"/>
              </a:rPr>
              <a:t>Ws</a:t>
            </a:r>
            <a:r>
              <a:rPr kumimoji="1" lang="en-US" altLang="zh-CN" dirty="0"/>
              <a:t> with </a:t>
            </a:r>
            <a:r>
              <a:rPr kumimoji="1" lang="en-US" altLang="zh-CN" b="0" dirty="0">
                <a:latin typeface="Century Gothic" panose="020B0502020202020204" pitchFamily="34" charset="0"/>
              </a:rPr>
              <a:t>P</a:t>
            </a:r>
            <a:r>
              <a:rPr kumimoji="1" lang="en-US" altLang="zh-CN" dirty="0"/>
              <a:t> partitions</a:t>
            </a:r>
            <a:endParaRPr kumimoji="1" lang="en-US" altLang="zh-CN" dirty="0"/>
          </a:p>
          <a:p>
            <a:r>
              <a:rPr kumimoji="1" lang="en-US" altLang="zh-CN" dirty="0"/>
              <a:t>Forward pass of tensor parallelism:</a:t>
            </a:r>
            <a:endParaRPr kumimoji="1" lang="en-US" altLang="zh-CN" dirty="0"/>
          </a:p>
          <a:p>
            <a:pPr lvl="1"/>
            <a:r>
              <a:rPr kumimoji="1" lang="en-US" altLang="zh-CN" dirty="0">
                <a:latin typeface="Century Gothic" panose="020B0502020202020204" pitchFamily="34" charset="0"/>
              </a:rPr>
              <a:t>N</a:t>
            </a:r>
            <a:r>
              <a:rPr kumimoji="1" lang="en-US" altLang="zh-CN" b="0" dirty="0">
                <a:latin typeface="Century Gothic" panose="020B0502020202020204" pitchFamily="34" charset="0"/>
              </a:rPr>
              <a:t> X </a:t>
            </a:r>
            <a:r>
              <a:rPr kumimoji="1" lang="zh-CN" altLang="en-US" b="0" dirty="0">
                <a:latin typeface="Century Gothic" panose="020B0502020202020204" pitchFamily="34" charset="0"/>
              </a:rPr>
              <a:t>（</a:t>
            </a:r>
            <a:r>
              <a:rPr kumimoji="1" lang="en-US" altLang="zh-CN" b="0" dirty="0">
                <a:latin typeface="Century Gothic" panose="020B0502020202020204" pitchFamily="34" charset="0"/>
              </a:rPr>
              <a:t>B X Di X (P -1) / P</a:t>
            </a:r>
            <a:r>
              <a:rPr kumimoji="1" lang="zh-CN" altLang="en-US" b="0" dirty="0">
                <a:latin typeface="Century Gothic" panose="020B0502020202020204" pitchFamily="34" charset="0"/>
              </a:rPr>
              <a:t>）</a:t>
            </a:r>
            <a:r>
              <a:rPr kumimoji="1" lang="en-US" altLang="zh-CN" b="0" dirty="0">
                <a:latin typeface="Century Gothic" panose="020B0502020202020204" pitchFamily="34" charset="0"/>
              </a:rPr>
              <a:t> = N X B X Di </a:t>
            </a:r>
            <a:endParaRPr kumimoji="1" lang="en-US" altLang="zh-CN" b="0" dirty="0">
              <a:latin typeface="Century Gothic" panose="020B0502020202020204" pitchFamily="34" charset="0"/>
            </a:endParaRPr>
          </a:p>
          <a:p>
            <a:r>
              <a:rPr kumimoji="1" lang="en-US" altLang="zh-CN" dirty="0"/>
              <a:t>Forward pass of pipeline parallelism:</a:t>
            </a:r>
            <a:endParaRPr kumimoji="1" lang="en-US" altLang="zh-CN" dirty="0"/>
          </a:p>
          <a:p>
            <a:pPr lvl="1"/>
            <a:r>
              <a:rPr kumimoji="1" lang="en-US" altLang="zh-CN" dirty="0">
                <a:latin typeface="Century Gothic" panose="020B0502020202020204" pitchFamily="34" charset="0"/>
              </a:rPr>
              <a:t>B X Di </a:t>
            </a:r>
            <a:endParaRPr kumimoji="1" lang="en-US" altLang="zh-CN" dirty="0">
              <a:latin typeface="Century Gothic" panose="020B0502020202020204" pitchFamily="34" charset="0"/>
            </a:endParaRPr>
          </a:p>
          <a:p>
            <a:r>
              <a:rPr kumimoji="1" lang="en-US" altLang="zh-CN" dirty="0"/>
              <a:t>In general, tensor parallelism has a higher communication cost!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Even we don’t consider the backward pass, which requires a 2X for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</a:t>
            </a:r>
            <a:endParaRPr kumimoji="1"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1187624" y="2281436"/>
            <a:ext cx="2232248" cy="504056"/>
          </a:xfrm>
          <a:prstGeom prst="rect">
            <a:avLst/>
          </a:pr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69668" y="1939230"/>
            <a:ext cx="213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Forward of one W</a:t>
            </a:r>
            <a:endParaRPr lang="zh-CN" altLang="en-US" dirty="0"/>
          </a:p>
        </p:txBody>
      </p:sp>
      <p:sp>
        <p:nvSpPr>
          <p:cNvPr id="7" name="任意形状 6"/>
          <p:cNvSpPr/>
          <p:nvPr/>
        </p:nvSpPr>
        <p:spPr>
          <a:xfrm>
            <a:off x="3242930" y="2126512"/>
            <a:ext cx="1329070" cy="329609"/>
          </a:xfrm>
          <a:custGeom>
            <a:avLst/>
            <a:gdLst>
              <a:gd name="connsiteX0" fmla="*/ 1329070 w 1329070"/>
              <a:gd name="connsiteY0" fmla="*/ 0 h 329609"/>
              <a:gd name="connsiteX1" fmla="*/ 0 w 1329070"/>
              <a:gd name="connsiteY1" fmla="*/ 329609 h 32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29070" h="329609">
                <a:moveTo>
                  <a:pt x="1329070" y="0"/>
                </a:moveTo>
                <a:lnTo>
                  <a:pt x="0" y="329609"/>
                </a:ln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Summary: model parallelism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4471925"/>
          </a:xfrm>
        </p:spPr>
        <p:txBody>
          <a:bodyPr/>
          <a:lstStyle/>
          <a:p>
            <a:r>
              <a:rPr kumimoji="1" lang="en-US" altLang="zh-CN" dirty="0"/>
              <a:t>Two forms: pipeline parallelism + tensor parallelism </a:t>
            </a:r>
            <a:endParaRPr kumimoji="1" lang="en-US" altLang="zh-CN" dirty="0"/>
          </a:p>
          <a:p>
            <a:r>
              <a:rPr kumimoji="1" lang="en-US" altLang="zh-CN" dirty="0"/>
              <a:t>Pipeline parallelism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Partition the computation graph by layers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Pros: reduced communication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Cons: bubbles  </a:t>
            </a:r>
            <a:endParaRPr kumimoji="1" lang="en-US" altLang="zh-CN" dirty="0"/>
          </a:p>
          <a:p>
            <a:r>
              <a:rPr kumimoji="1" lang="en-US" altLang="zh-CN" dirty="0"/>
              <a:t>Tensor parallelism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Partition the parameters of a layer (or a set of layers)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Pros: better support for large models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Cons: high communication cost </a:t>
            </a:r>
            <a:endParaRPr kumimoji="1" lang="en-US" altLang="zh-CN" dirty="0"/>
          </a:p>
          <a:p>
            <a:r>
              <a:rPr kumimoji="1" lang="en-US" altLang="zh-CN" dirty="0"/>
              <a:t>More exists, e.g., sequence parallelism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Put it altogether: </a:t>
            </a:r>
            <a:r>
              <a:rPr kumimoji="1" lang="en-US" altLang="zh-CN"/>
              <a:t>3D parallelism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146" name="Picture 2" descr="3D parallelism in DeepSpe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58" y="1129570"/>
            <a:ext cx="7088764" cy="425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Parallelization Opportunities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13"/>
          <p:cNvSpPr txBox="1"/>
          <p:nvPr/>
        </p:nvSpPr>
        <p:spPr>
          <a:xfrm>
            <a:off x="419267" y="1273324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b="1" i="1"/>
              <a:t>Data Parallelism: </a:t>
            </a:r>
            <a:r>
              <a:rPr lang="en-US" sz="2100" i="1"/>
              <a:t>Distribute the processing of data to multiple PEs.</a:t>
            </a:r>
            <a:endParaRPr lang="en-US" sz="2100" i="1"/>
          </a:p>
        </p:txBody>
      </p:sp>
      <p:sp>
        <p:nvSpPr>
          <p:cNvPr id="6" name="TextBox 21"/>
          <p:cNvSpPr txBox="1"/>
          <p:nvPr/>
        </p:nvSpPr>
        <p:spPr>
          <a:xfrm>
            <a:off x="355788" y="2547010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b="1" i="1"/>
              <a:t>Model Parallelism: </a:t>
            </a:r>
            <a:r>
              <a:rPr lang="en-US" sz="2100" i="1"/>
              <a:t>Break the model and distribute processing of every layer to multiple PEs</a:t>
            </a:r>
            <a:endParaRPr lang="en-US" sz="2100" i="1"/>
          </a:p>
        </p:txBody>
      </p:sp>
      <p:sp>
        <p:nvSpPr>
          <p:cNvPr id="7" name="TextBox 22"/>
          <p:cNvSpPr txBox="1"/>
          <p:nvPr/>
        </p:nvSpPr>
        <p:spPr>
          <a:xfrm>
            <a:off x="355788" y="3903221"/>
            <a:ext cx="4157663" cy="10618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100" i="1"/>
              <a:t>For either approach it is also possible to use </a:t>
            </a:r>
            <a:r>
              <a:rPr lang="en-US" sz="2100" b="1" i="1"/>
              <a:t>synchronous</a:t>
            </a:r>
            <a:r>
              <a:rPr lang="en-US" sz="2100" i="1"/>
              <a:t> or </a:t>
            </a:r>
            <a:r>
              <a:rPr lang="en-US" sz="2100" b="1" i="1"/>
              <a:t>asynchronous</a:t>
            </a:r>
            <a:r>
              <a:rPr lang="en-US" sz="2100" i="1"/>
              <a:t> updates</a:t>
            </a:r>
            <a:endParaRPr lang="en-US" sz="2100" i="1"/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6555" y="1343067"/>
            <a:ext cx="3356039" cy="870085"/>
          </a:xfrm>
          <a:prstGeom prst="rect">
            <a:avLst/>
          </a:prstGeom>
        </p:spPr>
      </p:pic>
      <p:sp>
        <p:nvSpPr>
          <p:cNvPr id="9" name="Rectangle 7"/>
          <p:cNvSpPr/>
          <p:nvPr/>
        </p:nvSpPr>
        <p:spPr>
          <a:xfrm>
            <a:off x="6765939" y="1229078"/>
            <a:ext cx="581187" cy="10784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0" name="Group 10"/>
          <p:cNvGrpSpPr/>
          <p:nvPr/>
        </p:nvGrpSpPr>
        <p:grpSpPr>
          <a:xfrm>
            <a:off x="5004048" y="3903221"/>
            <a:ext cx="3356039" cy="870085"/>
            <a:chOff x="6512014" y="5211762"/>
            <a:chExt cx="4474719" cy="1160113"/>
          </a:xfrm>
        </p:grpSpPr>
        <p:pic>
          <p:nvPicPr>
            <p:cNvPr id="11" name="Picture 1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12014" y="5211762"/>
              <a:ext cx="4474719" cy="1160113"/>
            </a:xfrm>
            <a:prstGeom prst="rect">
              <a:avLst/>
            </a:prstGeom>
          </p:spPr>
        </p:pic>
        <p:sp>
          <p:nvSpPr>
            <p:cNvPr id="12" name="Rectangle 18"/>
            <p:cNvSpPr/>
            <p:nvPr/>
          </p:nvSpPr>
          <p:spPr>
            <a:xfrm>
              <a:off x="7067227" y="5589924"/>
              <a:ext cx="387458" cy="40791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3" name="Group 11"/>
          <p:cNvGrpSpPr/>
          <p:nvPr/>
        </p:nvGrpSpPr>
        <p:grpSpPr>
          <a:xfrm>
            <a:off x="5004049" y="2764955"/>
            <a:ext cx="3356039" cy="870085"/>
            <a:chOff x="6512015" y="3694074"/>
            <a:chExt cx="4474719" cy="1160113"/>
          </a:xfrm>
        </p:grpSpPr>
        <p:pic>
          <p:nvPicPr>
            <p:cNvPr id="14" name="Picture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12015" y="3694074"/>
              <a:ext cx="4474719" cy="1160113"/>
            </a:xfrm>
            <a:prstGeom prst="rect">
              <a:avLst/>
            </a:prstGeom>
          </p:spPr>
        </p:pic>
        <p:sp>
          <p:nvSpPr>
            <p:cNvPr id="15" name="Rectangle 24"/>
            <p:cNvSpPr/>
            <p:nvPr/>
          </p:nvSpPr>
          <p:spPr>
            <a:xfrm>
              <a:off x="9636119" y="3694074"/>
              <a:ext cx="1350614" cy="1094402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" name="矩形 2"/>
          <p:cNvSpPr/>
          <p:nvPr/>
        </p:nvSpPr>
        <p:spPr>
          <a:xfrm>
            <a:off x="302840" y="3793604"/>
            <a:ext cx="4269160" cy="1296144"/>
          </a:xfrm>
          <a:prstGeom prst="rect">
            <a:avLst/>
          </a:prstGeom>
          <a:noFill/>
          <a:ln w="28575">
            <a:solidFill>
              <a:srgbClr val="FF0000">
                <a:alpha val="99000"/>
              </a:srgbClr>
            </a:solidFill>
            <a:prstDash val="solid"/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Recall: BSP for data parallel execution 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Group 53"/>
          <p:cNvGrpSpPr/>
          <p:nvPr/>
        </p:nvGrpSpPr>
        <p:grpSpPr>
          <a:xfrm>
            <a:off x="1466788" y="2370684"/>
            <a:ext cx="6042909" cy="2222332"/>
            <a:chOff x="431717" y="2253734"/>
            <a:chExt cx="8057211" cy="2963109"/>
          </a:xfrm>
        </p:grpSpPr>
        <p:grpSp>
          <p:nvGrpSpPr>
            <p:cNvPr id="6" name="Group 14"/>
            <p:cNvGrpSpPr/>
            <p:nvPr/>
          </p:nvGrpSpPr>
          <p:grpSpPr>
            <a:xfrm>
              <a:off x="431717" y="2253734"/>
              <a:ext cx="8035618" cy="492443"/>
              <a:chOff x="117782" y="2253734"/>
              <a:chExt cx="8035618" cy="492443"/>
            </a:xfrm>
          </p:grpSpPr>
          <p:cxnSp>
            <p:nvCxnSpPr>
              <p:cNvPr id="13" name="Straight Arrow Connector 4"/>
              <p:cNvCxnSpPr/>
              <p:nvPr/>
            </p:nvCxnSpPr>
            <p:spPr>
              <a:xfrm>
                <a:off x="1752600" y="2484566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5"/>
              <p:cNvSpPr txBox="1"/>
              <p:nvPr/>
            </p:nvSpPr>
            <p:spPr>
              <a:xfrm>
                <a:off x="117782" y="2253734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1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</p:grpSp>
        <p:grpSp>
          <p:nvGrpSpPr>
            <p:cNvPr id="7" name="Group 13"/>
            <p:cNvGrpSpPr/>
            <p:nvPr/>
          </p:nvGrpSpPr>
          <p:grpSpPr>
            <a:xfrm>
              <a:off x="431717" y="3489067"/>
              <a:ext cx="8035618" cy="492443"/>
              <a:chOff x="117782" y="3184267"/>
              <a:chExt cx="8035618" cy="492443"/>
            </a:xfrm>
          </p:grpSpPr>
          <p:sp>
            <p:nvSpPr>
              <p:cNvPr id="11" name="TextBox 6"/>
              <p:cNvSpPr txBox="1"/>
              <p:nvPr/>
            </p:nvSpPr>
            <p:spPr>
              <a:xfrm>
                <a:off x="117782" y="3184267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2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cxnSp>
            <p:nvCxnSpPr>
              <p:cNvPr id="12" name="Straight Arrow Connector 9"/>
              <p:cNvCxnSpPr/>
              <p:nvPr/>
            </p:nvCxnSpPr>
            <p:spPr>
              <a:xfrm>
                <a:off x="1752600" y="3415099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12"/>
            <p:cNvGrpSpPr/>
            <p:nvPr/>
          </p:nvGrpSpPr>
          <p:grpSpPr>
            <a:xfrm>
              <a:off x="453310" y="4724400"/>
              <a:ext cx="8035618" cy="492443"/>
              <a:chOff x="117782" y="4114800"/>
              <a:chExt cx="8035618" cy="492443"/>
            </a:xfrm>
          </p:grpSpPr>
          <p:sp>
            <p:nvSpPr>
              <p:cNvPr id="9" name="TextBox 7"/>
              <p:cNvSpPr txBox="1"/>
              <p:nvPr/>
            </p:nvSpPr>
            <p:spPr>
              <a:xfrm>
                <a:off x="117782" y="4114800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3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cxnSp>
            <p:nvCxnSpPr>
              <p:cNvPr id="10" name="Straight Arrow Connector 10"/>
              <p:cNvCxnSpPr/>
              <p:nvPr/>
            </p:nvCxnSpPr>
            <p:spPr>
              <a:xfrm>
                <a:off x="1752600" y="4345632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54"/>
          <p:cNvGrpSpPr/>
          <p:nvPr/>
        </p:nvGrpSpPr>
        <p:grpSpPr>
          <a:xfrm>
            <a:off x="2794742" y="2370683"/>
            <a:ext cx="2035617" cy="2199248"/>
            <a:chOff x="2202323" y="2253734"/>
            <a:chExt cx="2714156" cy="2932330"/>
          </a:xfrm>
        </p:grpSpPr>
        <p:sp>
          <p:nvSpPr>
            <p:cNvPr id="16" name="Rectangle 15"/>
            <p:cNvSpPr/>
            <p:nvPr/>
          </p:nvSpPr>
          <p:spPr>
            <a:xfrm>
              <a:off x="2202323" y="2253734"/>
              <a:ext cx="1113956" cy="461665"/>
            </a:xfrm>
            <a:prstGeom prst="rect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Iteration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202323" y="3489066"/>
              <a:ext cx="2714156" cy="461665"/>
            </a:xfrm>
            <a:prstGeom prst="rect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Iteration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202324" y="4724399"/>
              <a:ext cx="1723556" cy="461665"/>
            </a:xfrm>
            <a:prstGeom prst="rect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Iteration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</p:grpSp>
      <p:grpSp>
        <p:nvGrpSpPr>
          <p:cNvPr id="19" name="Group 21"/>
          <p:cNvGrpSpPr/>
          <p:nvPr/>
        </p:nvGrpSpPr>
        <p:grpSpPr>
          <a:xfrm>
            <a:off x="4542182" y="2076182"/>
            <a:ext cx="646908" cy="3157582"/>
            <a:chOff x="5542720" y="1905000"/>
            <a:chExt cx="862544" cy="4210108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5943600" y="1905000"/>
              <a:ext cx="0" cy="3886200"/>
            </a:xfrm>
            <a:prstGeom prst="line">
              <a:avLst/>
            </a:prstGeom>
            <a:ln>
              <a:prstDash val="sysDash"/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542720" y="5714999"/>
              <a:ext cx="86254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Barrier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</p:grpSp>
      <p:grpSp>
        <p:nvGrpSpPr>
          <p:cNvPr id="22" name="Group 25"/>
          <p:cNvGrpSpPr/>
          <p:nvPr/>
        </p:nvGrpSpPr>
        <p:grpSpPr>
          <a:xfrm>
            <a:off x="4857750" y="2543809"/>
            <a:ext cx="1200150" cy="1856794"/>
            <a:chOff x="4953000" y="2484566"/>
            <a:chExt cx="1600200" cy="2475725"/>
          </a:xfrm>
        </p:grpSpPr>
        <p:cxnSp>
          <p:nvCxnSpPr>
            <p:cNvPr id="23" name="Straight Arrow Connector 26"/>
            <p:cNvCxnSpPr/>
            <p:nvPr/>
          </p:nvCxnSpPr>
          <p:spPr>
            <a:xfrm>
              <a:off x="4953000" y="2484566"/>
              <a:ext cx="457200" cy="123533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7"/>
            <p:cNvCxnSpPr/>
            <p:nvPr/>
          </p:nvCxnSpPr>
          <p:spPr>
            <a:xfrm flipV="1">
              <a:off x="5105400" y="3719899"/>
              <a:ext cx="457200" cy="123533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30"/>
            <p:cNvCxnSpPr/>
            <p:nvPr/>
          </p:nvCxnSpPr>
          <p:spPr>
            <a:xfrm flipV="1">
              <a:off x="5943600" y="2489625"/>
              <a:ext cx="609600" cy="246560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33"/>
            <p:cNvCxnSpPr/>
            <p:nvPr/>
          </p:nvCxnSpPr>
          <p:spPr>
            <a:xfrm>
              <a:off x="5334000" y="2489625"/>
              <a:ext cx="838200" cy="2470666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35"/>
            <p:cNvCxnSpPr/>
            <p:nvPr/>
          </p:nvCxnSpPr>
          <p:spPr>
            <a:xfrm flipV="1">
              <a:off x="5867400" y="2489625"/>
              <a:ext cx="341241" cy="1235334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36"/>
            <p:cNvCxnSpPr/>
            <p:nvPr/>
          </p:nvCxnSpPr>
          <p:spPr>
            <a:xfrm>
              <a:off x="5105400" y="3719899"/>
              <a:ext cx="457200" cy="123533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37"/>
          <p:cNvSpPr txBox="1"/>
          <p:nvPr/>
        </p:nvSpPr>
        <p:spPr>
          <a:xfrm>
            <a:off x="3429001" y="1889284"/>
            <a:ext cx="9092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Compute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30" name="TextBox 38"/>
          <p:cNvSpPr txBox="1"/>
          <p:nvPr/>
        </p:nvSpPr>
        <p:spPr>
          <a:xfrm>
            <a:off x="4842841" y="1889284"/>
            <a:ext cx="12573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Communicate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grpSp>
        <p:nvGrpSpPr>
          <p:cNvPr id="31" name="Group 55"/>
          <p:cNvGrpSpPr/>
          <p:nvPr/>
        </p:nvGrpSpPr>
        <p:grpSpPr>
          <a:xfrm>
            <a:off x="6100153" y="2374477"/>
            <a:ext cx="1292667" cy="2192994"/>
            <a:chOff x="6609537" y="2258792"/>
            <a:chExt cx="1723556" cy="2923992"/>
          </a:xfrm>
        </p:grpSpPr>
        <p:sp>
          <p:nvSpPr>
            <p:cNvPr id="32" name="Rectangle 47"/>
            <p:cNvSpPr/>
            <p:nvPr/>
          </p:nvSpPr>
          <p:spPr>
            <a:xfrm>
              <a:off x="6628820" y="2258792"/>
              <a:ext cx="1675096" cy="461665"/>
            </a:xfrm>
            <a:prstGeom prst="rect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Iteration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  <p:sp>
          <p:nvSpPr>
            <p:cNvPr id="33" name="Rectangle 48"/>
            <p:cNvSpPr/>
            <p:nvPr/>
          </p:nvSpPr>
          <p:spPr>
            <a:xfrm>
              <a:off x="6628804" y="3489066"/>
              <a:ext cx="1113956" cy="461665"/>
            </a:xfrm>
            <a:prstGeom prst="rect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Iteration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  <p:sp>
          <p:nvSpPr>
            <p:cNvPr id="34" name="Rectangle 49"/>
            <p:cNvSpPr/>
            <p:nvPr/>
          </p:nvSpPr>
          <p:spPr>
            <a:xfrm>
              <a:off x="6609537" y="4721119"/>
              <a:ext cx="1723556" cy="461665"/>
            </a:xfrm>
            <a:prstGeom prst="rect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Iteration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</p:grpSp>
      <p:sp>
        <p:nvSpPr>
          <p:cNvPr id="35" name="TextBox 50"/>
          <p:cNvSpPr txBox="1"/>
          <p:nvPr/>
        </p:nvSpPr>
        <p:spPr>
          <a:xfrm>
            <a:off x="6457951" y="1889284"/>
            <a:ext cx="9092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Compute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36" name="Rectangle 51"/>
          <p:cNvSpPr/>
          <p:nvPr/>
        </p:nvSpPr>
        <p:spPr>
          <a:xfrm>
            <a:off x="3630209" y="2411358"/>
            <a:ext cx="1200150" cy="26489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FFFFFF"/>
                </a:solidFill>
                <a:latin typeface="Gill Sans Light"/>
                <a:cs typeface="Gill Sans Light"/>
                <a:sym typeface="Arial" panose="020B0604020202020204"/>
              </a:rPr>
              <a:t>Waste</a:t>
            </a:r>
            <a:endParaRPr lang="en-US" sz="1350">
              <a:solidFill>
                <a:srgbClr val="FFFFFF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37" name="Rectangle 52"/>
          <p:cNvSpPr/>
          <p:nvPr/>
        </p:nvSpPr>
        <p:spPr>
          <a:xfrm>
            <a:off x="4087411" y="4264358"/>
            <a:ext cx="742949" cy="26489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FFFFFF"/>
                </a:solidFill>
                <a:latin typeface="Gill Sans Light"/>
                <a:cs typeface="Gill Sans Light"/>
                <a:sym typeface="Arial" panose="020B0604020202020204"/>
              </a:rPr>
              <a:t>Waste</a:t>
            </a:r>
            <a:endParaRPr lang="en-US" sz="1350">
              <a:solidFill>
                <a:srgbClr val="FFFFFF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grpSp>
        <p:nvGrpSpPr>
          <p:cNvPr id="38" name="Group 22"/>
          <p:cNvGrpSpPr/>
          <p:nvPr/>
        </p:nvGrpSpPr>
        <p:grpSpPr>
          <a:xfrm>
            <a:off x="5799482" y="2076182"/>
            <a:ext cx="646908" cy="3157582"/>
            <a:chOff x="5542720" y="1905000"/>
            <a:chExt cx="862544" cy="4210108"/>
          </a:xfrm>
        </p:grpSpPr>
        <p:cxnSp>
          <p:nvCxnSpPr>
            <p:cNvPr id="39" name="Straight Connector 23"/>
            <p:cNvCxnSpPr/>
            <p:nvPr/>
          </p:nvCxnSpPr>
          <p:spPr>
            <a:xfrm>
              <a:off x="5943600" y="1905000"/>
              <a:ext cx="0" cy="3886200"/>
            </a:xfrm>
            <a:prstGeom prst="line">
              <a:avLst/>
            </a:prstGeom>
            <a:ln>
              <a:prstDash val="sysDash"/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0" name="TextBox 24"/>
            <p:cNvSpPr txBox="1"/>
            <p:nvPr/>
          </p:nvSpPr>
          <p:spPr>
            <a:xfrm>
              <a:off x="5542720" y="5714999"/>
              <a:ext cx="86254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rPr>
                <a:t>Barrier</a:t>
              </a:r>
              <a:endPara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endParaRPr>
            </a:p>
          </p:txBody>
        </p:sp>
      </p:grpSp>
      <p:sp>
        <p:nvSpPr>
          <p:cNvPr id="41" name="Rectangle 56"/>
          <p:cNvSpPr/>
          <p:nvPr/>
        </p:nvSpPr>
        <p:spPr>
          <a:xfrm>
            <a:off x="6972300" y="3341654"/>
            <a:ext cx="806951" cy="229608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900">
                <a:solidFill>
                  <a:srgbClr val="FFFFFF"/>
                </a:solidFill>
                <a:latin typeface="Gill Sans Light"/>
                <a:cs typeface="Gill Sans Light"/>
                <a:sym typeface="Arial" panose="020B0604020202020204"/>
              </a:rPr>
              <a:t>Waste</a:t>
            </a:r>
            <a:endParaRPr lang="en-US" sz="900">
              <a:solidFill>
                <a:srgbClr val="FFFFFF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grpSp>
        <p:nvGrpSpPr>
          <p:cNvPr id="42" name="Group 8"/>
          <p:cNvGrpSpPr/>
          <p:nvPr/>
        </p:nvGrpSpPr>
        <p:grpSpPr>
          <a:xfrm>
            <a:off x="1543050" y="2794933"/>
            <a:ext cx="1028700" cy="2286000"/>
            <a:chOff x="533400" y="2819400"/>
            <a:chExt cx="1371600" cy="3048000"/>
          </a:xfrm>
        </p:grpSpPr>
        <p:grpSp>
          <p:nvGrpSpPr>
            <p:cNvPr id="43" name="Group 3"/>
            <p:cNvGrpSpPr/>
            <p:nvPr/>
          </p:nvGrpSpPr>
          <p:grpSpPr>
            <a:xfrm>
              <a:off x="533400" y="2819400"/>
              <a:ext cx="1371600" cy="533400"/>
              <a:chOff x="1143000" y="2895600"/>
              <a:chExt cx="1371600" cy="533400"/>
            </a:xfrm>
          </p:grpSpPr>
          <p:sp>
            <p:nvSpPr>
              <p:cNvPr id="50" name="Rounded Rectangle 39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51" name="Right Arrow 2"/>
              <p:cNvSpPr/>
              <p:nvPr/>
            </p:nvSpPr>
            <p:spPr>
              <a:xfrm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  <p:grpSp>
          <p:nvGrpSpPr>
            <p:cNvPr id="44" name="Group 41"/>
            <p:cNvGrpSpPr/>
            <p:nvPr/>
          </p:nvGrpSpPr>
          <p:grpSpPr>
            <a:xfrm>
              <a:off x="533400" y="4038600"/>
              <a:ext cx="1371600" cy="533400"/>
              <a:chOff x="1143000" y="2895600"/>
              <a:chExt cx="1371600" cy="533400"/>
            </a:xfrm>
          </p:grpSpPr>
          <p:sp>
            <p:nvSpPr>
              <p:cNvPr id="48" name="Rounded Rectangle 42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49" name="Right Arrow 43"/>
              <p:cNvSpPr/>
              <p:nvPr/>
            </p:nvSpPr>
            <p:spPr>
              <a:xfrm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533400" y="5334000"/>
              <a:ext cx="1371600" cy="533400"/>
              <a:chOff x="1143000" y="2895600"/>
              <a:chExt cx="1371600" cy="533400"/>
            </a:xfrm>
          </p:grpSpPr>
          <p:sp>
            <p:nvSpPr>
              <p:cNvPr id="46" name="Rounded Rectangle 45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47" name="Right Arrow 46"/>
              <p:cNvSpPr/>
              <p:nvPr/>
            </p:nvSpPr>
            <p:spPr>
              <a:xfrm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</p:grpSp>
      <p:grpSp>
        <p:nvGrpSpPr>
          <p:cNvPr id="52" name="Group 18"/>
          <p:cNvGrpSpPr/>
          <p:nvPr/>
        </p:nvGrpSpPr>
        <p:grpSpPr>
          <a:xfrm>
            <a:off x="3028950" y="2794933"/>
            <a:ext cx="1828800" cy="2286000"/>
            <a:chOff x="2514600" y="2819400"/>
            <a:chExt cx="2438400" cy="3048000"/>
          </a:xfrm>
        </p:grpSpPr>
        <p:grpSp>
          <p:nvGrpSpPr>
            <p:cNvPr id="53" name="Group 57"/>
            <p:cNvGrpSpPr/>
            <p:nvPr/>
          </p:nvGrpSpPr>
          <p:grpSpPr>
            <a:xfrm>
              <a:off x="2514600" y="2819400"/>
              <a:ext cx="1371600" cy="533400"/>
              <a:chOff x="1143000" y="2895600"/>
              <a:chExt cx="1371600" cy="533400"/>
            </a:xfrm>
          </p:grpSpPr>
          <p:sp>
            <p:nvSpPr>
              <p:cNvPr id="60" name="Rounded Rectangle 58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r>
                  <a:rPr lang="en-US" sz="2100" baseline="300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1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61" name="Right Arrow 59"/>
              <p:cNvSpPr/>
              <p:nvPr/>
            </p:nvSpPr>
            <p:spPr>
              <a:xfrm rot="19187059"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  <p:grpSp>
          <p:nvGrpSpPr>
            <p:cNvPr id="54" name="Group 60"/>
            <p:cNvGrpSpPr/>
            <p:nvPr/>
          </p:nvGrpSpPr>
          <p:grpSpPr>
            <a:xfrm>
              <a:off x="3581400" y="4038600"/>
              <a:ext cx="1371600" cy="533400"/>
              <a:chOff x="1143000" y="2895600"/>
              <a:chExt cx="1371600" cy="533400"/>
            </a:xfrm>
          </p:grpSpPr>
          <p:sp>
            <p:nvSpPr>
              <p:cNvPr id="58" name="Rounded Rectangle 61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r>
                  <a:rPr lang="en-US" sz="2100" baseline="300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2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59" name="Right Arrow 62"/>
              <p:cNvSpPr/>
              <p:nvPr/>
            </p:nvSpPr>
            <p:spPr>
              <a:xfrm rot="2958776"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  <p:grpSp>
          <p:nvGrpSpPr>
            <p:cNvPr id="55" name="Group 63"/>
            <p:cNvGrpSpPr/>
            <p:nvPr/>
          </p:nvGrpSpPr>
          <p:grpSpPr>
            <a:xfrm>
              <a:off x="3124200" y="5334000"/>
              <a:ext cx="1371600" cy="533400"/>
              <a:chOff x="1143000" y="2895600"/>
              <a:chExt cx="1371600" cy="533400"/>
            </a:xfrm>
          </p:grpSpPr>
          <p:sp>
            <p:nvSpPr>
              <p:cNvPr id="56" name="Rounded Rectangle 64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r>
                  <a:rPr lang="en-US" sz="2100" baseline="300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3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57" name="Right Arrow 65"/>
              <p:cNvSpPr/>
              <p:nvPr/>
            </p:nvSpPr>
            <p:spPr>
              <a:xfrm rot="20556231"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</p:grpSp>
      <p:grpSp>
        <p:nvGrpSpPr>
          <p:cNvPr id="62" name="Group 75"/>
          <p:cNvGrpSpPr/>
          <p:nvPr/>
        </p:nvGrpSpPr>
        <p:grpSpPr>
          <a:xfrm>
            <a:off x="6100141" y="2736363"/>
            <a:ext cx="1028700" cy="2286000"/>
            <a:chOff x="533400" y="2819400"/>
            <a:chExt cx="1371600" cy="3048000"/>
          </a:xfrm>
        </p:grpSpPr>
        <p:grpSp>
          <p:nvGrpSpPr>
            <p:cNvPr id="63" name="Group 76"/>
            <p:cNvGrpSpPr/>
            <p:nvPr/>
          </p:nvGrpSpPr>
          <p:grpSpPr>
            <a:xfrm>
              <a:off x="533400" y="2819400"/>
              <a:ext cx="1371600" cy="533400"/>
              <a:chOff x="1143000" y="2895600"/>
              <a:chExt cx="1371600" cy="533400"/>
            </a:xfrm>
          </p:grpSpPr>
          <p:sp>
            <p:nvSpPr>
              <p:cNvPr id="70" name="Rounded Rectangle 83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71" name="Right Arrow 84"/>
              <p:cNvSpPr/>
              <p:nvPr/>
            </p:nvSpPr>
            <p:spPr>
              <a:xfrm rot="20266155"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  <p:grpSp>
          <p:nvGrpSpPr>
            <p:cNvPr id="64" name="Group 77"/>
            <p:cNvGrpSpPr/>
            <p:nvPr/>
          </p:nvGrpSpPr>
          <p:grpSpPr>
            <a:xfrm>
              <a:off x="533400" y="4038600"/>
              <a:ext cx="1371600" cy="533400"/>
              <a:chOff x="1143000" y="2895600"/>
              <a:chExt cx="1371600" cy="533400"/>
            </a:xfrm>
          </p:grpSpPr>
          <p:sp>
            <p:nvSpPr>
              <p:cNvPr id="68" name="Rounded Rectangle 81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69" name="Right Arrow 82"/>
              <p:cNvSpPr/>
              <p:nvPr/>
            </p:nvSpPr>
            <p:spPr>
              <a:xfrm rot="20111223"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  <p:grpSp>
          <p:nvGrpSpPr>
            <p:cNvPr id="65" name="Group 78"/>
            <p:cNvGrpSpPr/>
            <p:nvPr/>
          </p:nvGrpSpPr>
          <p:grpSpPr>
            <a:xfrm>
              <a:off x="533400" y="5334000"/>
              <a:ext cx="1371600" cy="533400"/>
              <a:chOff x="1143000" y="2895600"/>
              <a:chExt cx="1371600" cy="533400"/>
            </a:xfrm>
          </p:grpSpPr>
          <p:sp>
            <p:nvSpPr>
              <p:cNvPr id="66" name="Rounded Rectangle 79"/>
              <p:cNvSpPr/>
              <p:nvPr/>
            </p:nvSpPr>
            <p:spPr>
              <a:xfrm>
                <a:off x="1143000" y="2895600"/>
                <a:ext cx="1371600" cy="533400"/>
              </a:xfrm>
              <a:prstGeom prst="roundRect">
                <a:avLst/>
              </a:prstGeom>
              <a:ln>
                <a:headEnd type="none" w="med" len="med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tIns="0" bIns="102870" rtlCol="0" anchor="ctr"/>
              <a:lstStyle/>
              <a:p>
                <a:pPr defTabSz="685800">
                  <a:defRPr/>
                </a:pPr>
                <a:r>
                  <a:rPr lang="en-US" sz="2100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w</a:t>
                </a:r>
                <a:endParaRPr lang="en-US" sz="2100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sp>
            <p:nvSpPr>
              <p:cNvPr id="67" name="Right Arrow 80"/>
              <p:cNvSpPr/>
              <p:nvPr/>
            </p:nvSpPr>
            <p:spPr>
              <a:xfrm rot="19836594">
                <a:off x="1865292" y="3048000"/>
                <a:ext cx="445671" cy="304800"/>
              </a:xfrm>
              <a:prstGeom prst="rightArrow">
                <a:avLst/>
              </a:prstGeom>
              <a:ln>
                <a:headEnd type="none" w="med" len="med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Century Gothic" panose="020B0502020202020204"/>
                  <a:sym typeface="Arial" panose="020B0604020202020204"/>
                </a:endParaRPr>
              </a:p>
            </p:txBody>
          </p:sp>
        </p:grpSp>
      </p:grpSp>
      <p:sp>
        <p:nvSpPr>
          <p:cNvPr id="72" name="TextBox 37"/>
          <p:cNvSpPr txBox="1"/>
          <p:nvPr/>
        </p:nvSpPr>
        <p:spPr>
          <a:xfrm>
            <a:off x="5010129" y="4460730"/>
            <a:ext cx="9396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 b="1" err="1">
                <a:solidFill>
                  <a:srgbClr val="C00000"/>
                </a:solidFill>
                <a:latin typeface="Gill Sans Light"/>
                <a:cs typeface="Gill Sans Light"/>
                <a:sym typeface="Arial" panose="020B0604020202020204"/>
              </a:rPr>
              <a:t>Allreduce</a:t>
            </a:r>
            <a:endParaRPr lang="en-US" sz="1500" b="1">
              <a:solidFill>
                <a:srgbClr val="C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7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3771636"/>
          </a:xfrm>
        </p:spPr>
        <p:txBody>
          <a:bodyPr/>
          <a:lstStyle/>
          <a:p>
            <a:r>
              <a:rPr lang="en-US" altLang="zh-CN">
                <a:sym typeface="Wingdings" panose="05000000000000000000" pitchFamily="2" charset="2"/>
              </a:rPr>
              <a:t>Problem: may have idle time at each process </a:t>
            </a:r>
            <a:endParaRPr lang="en-US" altLang="zh-CN">
              <a:sym typeface="Wingdings" panose="05000000000000000000" pitchFamily="2" charset="2"/>
            </a:endParaRPr>
          </a:p>
          <a:p>
            <a:endParaRPr kumimoji="1"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5" grpId="0"/>
      <p:bldP spid="36" grpId="0" animBg="1"/>
      <p:bldP spid="37" grpId="0" animBg="1"/>
      <p:bldP spid="41" grpId="0" animBg="1"/>
      <p:bldP spid="7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Asynchronous Execution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Key idea: each process does not wait for others</a:t>
            </a:r>
            <a:endParaRPr kumimoji="1" lang="en-US" altLang="zh-CN"/>
          </a:p>
          <a:p>
            <a:pPr lvl="1"/>
            <a:r>
              <a:rPr kumimoji="1" lang="en-US" altLang="zh-CN"/>
              <a:t>Update the gradients upon receive a messages, no iteration barrier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Group 3"/>
          <p:cNvGrpSpPr/>
          <p:nvPr/>
        </p:nvGrpSpPr>
        <p:grpSpPr>
          <a:xfrm>
            <a:off x="1475656" y="2857500"/>
            <a:ext cx="6042909" cy="2222332"/>
            <a:chOff x="431717" y="2253734"/>
            <a:chExt cx="8057211" cy="2963109"/>
          </a:xfrm>
        </p:grpSpPr>
        <p:grpSp>
          <p:nvGrpSpPr>
            <p:cNvPr id="6" name="Group 4"/>
            <p:cNvGrpSpPr/>
            <p:nvPr/>
          </p:nvGrpSpPr>
          <p:grpSpPr>
            <a:xfrm>
              <a:off x="431717" y="2253734"/>
              <a:ext cx="8035618" cy="492443"/>
              <a:chOff x="117782" y="2253734"/>
              <a:chExt cx="8035618" cy="492443"/>
            </a:xfrm>
          </p:grpSpPr>
          <p:cxnSp>
            <p:nvCxnSpPr>
              <p:cNvPr id="13" name="Straight Arrow Connector 11"/>
              <p:cNvCxnSpPr/>
              <p:nvPr/>
            </p:nvCxnSpPr>
            <p:spPr>
              <a:xfrm>
                <a:off x="1752600" y="2484566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2"/>
              <p:cNvSpPr txBox="1"/>
              <p:nvPr/>
            </p:nvSpPr>
            <p:spPr>
              <a:xfrm>
                <a:off x="117782" y="2253734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1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</p:grpSp>
        <p:grpSp>
          <p:nvGrpSpPr>
            <p:cNvPr id="7" name="Group 5"/>
            <p:cNvGrpSpPr/>
            <p:nvPr/>
          </p:nvGrpSpPr>
          <p:grpSpPr>
            <a:xfrm>
              <a:off x="431717" y="3489067"/>
              <a:ext cx="8035618" cy="492443"/>
              <a:chOff x="117782" y="3184267"/>
              <a:chExt cx="8035618" cy="492443"/>
            </a:xfrm>
          </p:grpSpPr>
          <p:sp>
            <p:nvSpPr>
              <p:cNvPr id="11" name="TextBox 9"/>
              <p:cNvSpPr txBox="1"/>
              <p:nvPr/>
            </p:nvSpPr>
            <p:spPr>
              <a:xfrm>
                <a:off x="117782" y="3184267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2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cxnSp>
            <p:nvCxnSpPr>
              <p:cNvPr id="12" name="Straight Arrow Connector 10"/>
              <p:cNvCxnSpPr/>
              <p:nvPr/>
            </p:nvCxnSpPr>
            <p:spPr>
              <a:xfrm>
                <a:off x="1752600" y="3415099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6"/>
            <p:cNvGrpSpPr/>
            <p:nvPr/>
          </p:nvGrpSpPr>
          <p:grpSpPr>
            <a:xfrm>
              <a:off x="453310" y="4724400"/>
              <a:ext cx="8035618" cy="492443"/>
              <a:chOff x="117782" y="4114800"/>
              <a:chExt cx="8035618" cy="492443"/>
            </a:xfrm>
          </p:grpSpPr>
          <p:sp>
            <p:nvSpPr>
              <p:cNvPr id="9" name="TextBox 7"/>
              <p:cNvSpPr txBox="1"/>
              <p:nvPr/>
            </p:nvSpPr>
            <p:spPr>
              <a:xfrm>
                <a:off x="117782" y="4114800"/>
                <a:ext cx="149228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defTabSz="685800">
                  <a:defRPr/>
                </a:pPr>
                <a:r>
                  <a:rPr lang="en-US">
                    <a:solidFill>
                      <a:srgbClr val="000000"/>
                    </a:solidFill>
                    <a:latin typeface="Gill Sans Light"/>
                    <a:cs typeface="Gill Sans Light"/>
                    <a:sym typeface="Arial" panose="020B0604020202020204"/>
                  </a:rPr>
                  <a:t>Machine 3</a:t>
                </a:r>
                <a:endParaRPr lang="en-US">
                  <a:solidFill>
                    <a:srgbClr val="000000"/>
                  </a:solidFill>
                  <a:latin typeface="Gill Sans Light"/>
                  <a:cs typeface="Gill Sans Light"/>
                  <a:sym typeface="Arial" panose="020B0604020202020204"/>
                </a:endParaRPr>
              </a:p>
            </p:txBody>
          </p:sp>
          <p:cxnSp>
            <p:nvCxnSpPr>
              <p:cNvPr id="10" name="Straight Arrow Connector 8"/>
              <p:cNvCxnSpPr/>
              <p:nvPr/>
            </p:nvCxnSpPr>
            <p:spPr>
              <a:xfrm>
                <a:off x="1752600" y="4345632"/>
                <a:ext cx="64008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Rectangle 13"/>
          <p:cNvSpPr/>
          <p:nvPr/>
        </p:nvSpPr>
        <p:spPr>
          <a:xfrm>
            <a:off x="2803610" y="2859397"/>
            <a:ext cx="835467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16" name="Rectangle 14"/>
          <p:cNvSpPr/>
          <p:nvPr/>
        </p:nvSpPr>
        <p:spPr>
          <a:xfrm>
            <a:off x="2803610" y="3788376"/>
            <a:ext cx="2035617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17" name="Rectangle 15"/>
          <p:cNvSpPr/>
          <p:nvPr/>
        </p:nvSpPr>
        <p:spPr>
          <a:xfrm>
            <a:off x="2803611" y="4710499"/>
            <a:ext cx="1292667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18" name="TextBox 16"/>
          <p:cNvSpPr txBox="1"/>
          <p:nvPr/>
        </p:nvSpPr>
        <p:spPr>
          <a:xfrm>
            <a:off x="3437869" y="2376100"/>
            <a:ext cx="9092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Compute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4851709" y="2376100"/>
            <a:ext cx="12573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Communicate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20" name="Rectangle 18"/>
          <p:cNvSpPr/>
          <p:nvPr/>
        </p:nvSpPr>
        <p:spPr>
          <a:xfrm>
            <a:off x="3666468" y="2859397"/>
            <a:ext cx="1256322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21" name="Rectangle 19"/>
          <p:cNvSpPr/>
          <p:nvPr/>
        </p:nvSpPr>
        <p:spPr>
          <a:xfrm>
            <a:off x="4866618" y="3788376"/>
            <a:ext cx="835467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22" name="Rectangle 20"/>
          <p:cNvSpPr/>
          <p:nvPr/>
        </p:nvSpPr>
        <p:spPr>
          <a:xfrm>
            <a:off x="4111187" y="4708039"/>
            <a:ext cx="1292667" cy="346249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35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Iteration</a:t>
            </a:r>
            <a:endParaRPr lang="en-US" sz="135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6466819" y="2376100"/>
            <a:ext cx="9092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500">
                <a:solidFill>
                  <a:srgbClr val="000000"/>
                </a:solidFill>
                <a:latin typeface="Gill Sans Light"/>
                <a:cs typeface="Gill Sans Light"/>
                <a:sym typeface="Arial" panose="020B0604020202020204"/>
              </a:rPr>
              <a:t>Compute</a:t>
            </a:r>
            <a:endParaRPr lang="en-US" sz="1500">
              <a:solidFill>
                <a:srgbClr val="000000"/>
              </a:solidFill>
              <a:latin typeface="Gill Sans Light"/>
              <a:cs typeface="Gill Sans Light"/>
              <a:sym typeface="Arial" panose="020B0604020202020204"/>
            </a:endParaRPr>
          </a:p>
        </p:txBody>
      </p:sp>
      <p:cxnSp>
        <p:nvCxnSpPr>
          <p:cNvPr id="24" name="!!Straight Arrow Connector 26"/>
          <p:cNvCxnSpPr/>
          <p:nvPr/>
        </p:nvCxnSpPr>
        <p:spPr>
          <a:xfrm>
            <a:off x="3219200" y="3030625"/>
            <a:ext cx="342900" cy="9265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!!Straight Arrow Connector 27"/>
          <p:cNvCxnSpPr/>
          <p:nvPr/>
        </p:nvCxnSpPr>
        <p:spPr>
          <a:xfrm flipV="1">
            <a:off x="3830406" y="3957124"/>
            <a:ext cx="342900" cy="9265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!!Straight Arrow Connector 30"/>
          <p:cNvCxnSpPr/>
          <p:nvPr/>
        </p:nvCxnSpPr>
        <p:spPr>
          <a:xfrm flipV="1">
            <a:off x="3588111" y="3034418"/>
            <a:ext cx="457200" cy="184920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!!Straight Arrow Connector 33"/>
          <p:cNvCxnSpPr/>
          <p:nvPr/>
        </p:nvCxnSpPr>
        <p:spPr>
          <a:xfrm>
            <a:off x="4382027" y="3040193"/>
            <a:ext cx="628650" cy="18530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!!Straight Arrow Connector 35"/>
          <p:cNvCxnSpPr/>
          <p:nvPr/>
        </p:nvCxnSpPr>
        <p:spPr>
          <a:xfrm flipV="1">
            <a:off x="3903083" y="3019502"/>
            <a:ext cx="255931" cy="92650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!!Straight Arrow Connector 36"/>
          <p:cNvCxnSpPr/>
          <p:nvPr/>
        </p:nvCxnSpPr>
        <p:spPr>
          <a:xfrm>
            <a:off x="4470270" y="4045875"/>
            <a:ext cx="342900" cy="9265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Async vs. Sync execution 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840" y="1129308"/>
            <a:ext cx="8229600" cy="4585692"/>
          </a:xfrm>
        </p:spPr>
        <p:txBody>
          <a:bodyPr>
            <a:normAutofit/>
          </a:bodyPr>
          <a:lstStyle/>
          <a:p>
            <a:r>
              <a:rPr kumimoji="1" lang="en-US" altLang="zh-CN"/>
              <a:t>Async</a:t>
            </a:r>
            <a:endParaRPr kumimoji="1" lang="en-US" altLang="zh-CN"/>
          </a:p>
          <a:p>
            <a:pPr lvl="1"/>
            <a:r>
              <a:rPr kumimoji="1" lang="en-US" altLang="zh-CN"/>
              <a:t>Pros: efficiency </a:t>
            </a:r>
            <a:endParaRPr kumimoji="1" lang="en-US" altLang="zh-CN"/>
          </a:p>
          <a:p>
            <a:pPr lvl="1"/>
            <a:r>
              <a:rPr kumimoji="1" lang="en-US" altLang="zh-CN"/>
              <a:t>Cons: trade accuracy for performance </a:t>
            </a:r>
            <a:endParaRPr kumimoji="1" lang="en-US" altLang="zh-CN"/>
          </a:p>
          <a:p>
            <a:r>
              <a:rPr kumimoji="1" lang="en-US" altLang="zh-CN"/>
              <a:t>Sync</a:t>
            </a:r>
            <a:endParaRPr kumimoji="1" lang="en-US" altLang="zh-CN"/>
          </a:p>
          <a:p>
            <a:pPr lvl="1"/>
            <a:r>
              <a:rPr kumimoji="1" lang="en-US" altLang="zh-CN"/>
              <a:t>Pros: Preserve the SGD training property</a:t>
            </a:r>
            <a:endParaRPr kumimoji="1" lang="en-US" altLang="zh-CN"/>
          </a:p>
          <a:p>
            <a:pPr lvl="1"/>
            <a:r>
              <a:rPr kumimoji="1" lang="en-US" altLang="zh-CN"/>
              <a:t>Cons: poor performance </a:t>
            </a:r>
            <a:endParaRPr kumimoji="1" lang="en-US" altLang="zh-CN"/>
          </a:p>
          <a:p>
            <a:r>
              <a:rPr kumimoji="1" lang="en-US" altLang="zh-CN"/>
              <a:t>Which is better? </a:t>
            </a:r>
            <a:endParaRPr kumimoji="1" lang="en-US" altLang="zh-CN"/>
          </a:p>
          <a:p>
            <a:pPr lvl="1"/>
            <a:r>
              <a:rPr kumimoji="1" lang="en-US" altLang="zh-CN"/>
              <a:t>Hard to tell. But, as a system designer, preserving the algorithms property is </a:t>
            </a:r>
            <a:r>
              <a:rPr kumimoji="1" lang="en-US" altLang="zh-CN" b="1">
                <a:solidFill>
                  <a:srgbClr val="C00000"/>
                </a:solidFill>
              </a:rPr>
              <a:t>very important</a:t>
            </a:r>
            <a:r>
              <a:rPr kumimoji="1" lang="en-US" altLang="zh-CN"/>
              <a:t>. Any design that alter the training property should be justified </a:t>
            </a:r>
            <a:endParaRPr kumimoji="1" lang="en-US" altLang="zh-CN"/>
          </a:p>
          <a:p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>
          <a:xfrm>
            <a:off x="4788024" y="134355"/>
            <a:ext cx="4176464" cy="1620522"/>
          </a:xfrm>
          <a:prstGeom prst="rect">
            <a:avLst/>
          </a:prstGeom>
          <a:solidFill>
            <a:srgbClr val="FAEADC"/>
          </a:solidFill>
          <a:ln w="381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/>
              <a:t>Common</a:t>
            </a:r>
            <a:r>
              <a:rPr kumimoji="1" lang="en-US" altLang="zh-CN" sz="2400" b="0"/>
              <a:t>: nearly all training currently adopts a synchronous approach </a:t>
            </a:r>
            <a:endParaRPr kumimoji="1" lang="en-US" altLang="zh-CN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3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4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5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6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7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8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9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0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1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2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3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4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5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6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7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8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19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0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1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2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3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4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5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6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7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8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69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0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1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2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3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4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ags/tag275.xml><?xml version="1.0" encoding="utf-8"?>
<p:tagLst xmlns:p="http://schemas.openxmlformats.org/presentationml/2006/main">
  <p:tag name="KSO_WM_DIAGRAM_VIRTUALLY_FRAME" val="{&quot;height&quot;:309.00889763779526,&quot;left&quot;:42.484409448818894,&quot;top&quot;:132.0330708661417,&quot;width&quot;:670.9964566929134}"/>
</p:tagLst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>
          <a:solidFill>
            <a:schemeClr val="tx1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0</TotalTime>
  <Words>9979</Words>
  <Application>WPS 演示</Application>
  <PresentationFormat>全屏显示(16:10)</PresentationFormat>
  <Paragraphs>800</Paragraphs>
  <Slides>38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宋体</vt:lpstr>
      <vt:lpstr>Wingdings</vt:lpstr>
      <vt:lpstr>等线</vt:lpstr>
      <vt:lpstr>微软雅黑 Light</vt:lpstr>
      <vt:lpstr>PingFang SC Bold</vt:lpstr>
      <vt:lpstr>PingFang SC</vt:lpstr>
      <vt:lpstr>微软雅黑</vt:lpstr>
      <vt:lpstr>Calibri</vt:lpstr>
      <vt:lpstr>Arial</vt:lpstr>
      <vt:lpstr>Consolas</vt:lpstr>
      <vt:lpstr>Arial Unicode MS</vt:lpstr>
      <vt:lpstr>Helvetica Neue</vt:lpstr>
      <vt:lpstr>Cambria Math</vt:lpstr>
      <vt:lpstr>Helvetica Neue Light</vt:lpstr>
      <vt:lpstr>Century Gothic</vt:lpstr>
      <vt:lpstr>Gill Sans Light</vt:lpstr>
      <vt:lpstr>Segoe Print</vt:lpstr>
      <vt:lpstr>Century Gothic</vt:lpstr>
      <vt:lpstr>1_Office 主题​​</vt:lpstr>
      <vt:lpstr>Distributed Computing frameworks MapReduce, computation graph &amp; Distributed training</vt:lpstr>
      <vt:lpstr>Review: Key communication operator: allreduce </vt:lpstr>
      <vt:lpstr>Review: System requirements for AllReduce</vt:lpstr>
      <vt:lpstr>Review: De-centralized approach for allreduce </vt:lpstr>
      <vt:lpstr>Analysis of the naïve decentralized reduce</vt:lpstr>
      <vt:lpstr>Question: can de-centralized approach using sharding?</vt:lpstr>
      <vt:lpstr>Question: can de-centralized approach using sharding?</vt:lpstr>
      <vt:lpstr>Problem: coordination + full network connections  </vt:lpstr>
      <vt:lpstr>Decentralized approach w/ only peer connections</vt:lpstr>
      <vt:lpstr>Try #3: Ring allreduce </vt:lpstr>
      <vt:lpstr>Ring allreduce </vt:lpstr>
      <vt:lpstr>Why ring allreduce can work? </vt:lpstr>
      <vt:lpstr>Analysis of the communication cost of ring allreduce</vt:lpstr>
      <vt:lpstr>Double Binary Tree All-Reduce</vt:lpstr>
      <vt:lpstr>Allreduce: put it all together</vt:lpstr>
      <vt:lpstr>More reduce methods exist </vt:lpstr>
      <vt:lpstr>Parallelization Opportunities</vt:lpstr>
      <vt:lpstr>Recall: Data Parallelism</vt:lpstr>
      <vt:lpstr>Drawback of data parallelism: replicated model </vt:lpstr>
      <vt:lpstr>Model parallelism </vt:lpstr>
      <vt:lpstr>Pipeline parallelism </vt:lpstr>
      <vt:lpstr>Pipeline parallelism</vt:lpstr>
      <vt:lpstr>Technique: micro-batching </vt:lpstr>
      <vt:lpstr>Pipeline parallelism &amp; the number of micro-batch </vt:lpstr>
      <vt:lpstr>Pipeline parallelism &amp; the number of micro-batch </vt:lpstr>
      <vt:lpstr>Problems with Large Batch Training</vt:lpstr>
      <vt:lpstr>Can we reduce the number of pipeline stages (p)? </vt:lpstr>
      <vt:lpstr>Tensor parallelism</vt:lpstr>
      <vt:lpstr>Model Parallelism: Forward Pass</vt:lpstr>
      <vt:lpstr>Model Parallelism: Backward Pass (∇W)</vt:lpstr>
      <vt:lpstr>Backward Pass (∇X)</vt:lpstr>
      <vt:lpstr>Tensor parallelism: communication analysis (per-node)</vt:lpstr>
      <vt:lpstr>Summary: model parallelism </vt:lpstr>
      <vt:lpstr>Put it altogether: 3D parallelism </vt:lpstr>
      <vt:lpstr>Parallelization Opportunities</vt:lpstr>
      <vt:lpstr>Recall: BSP for data parallel execution </vt:lpstr>
      <vt:lpstr>Asynchronous Execution</vt:lpstr>
      <vt:lpstr>Async vs. Sync execution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。</cp:lastModifiedBy>
  <cp:revision>2362</cp:revision>
  <cp:lastPrinted>2020-03-02T13:38:00Z</cp:lastPrinted>
  <dcterms:created xsi:type="dcterms:W3CDTF">2017-11-24T09:35:00Z</dcterms:created>
  <dcterms:modified xsi:type="dcterms:W3CDTF">2025-01-15T09:44:52Z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2E5F0DE8678D4DC7A47EF9E8B9D0489C_12</vt:lpwstr>
  </property>
  <property fmtid="{D5CDD505-2E9C-101B-9397-08002B2CF9AE}" pid="3" name="KSOProductBuildVer">
    <vt:lpwstr>2052-12.1.0.19770</vt:lpwstr>
  </property>
</Properties>
</file>